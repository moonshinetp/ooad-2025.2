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16E7964-577C-4660-9F6A-7138A95530C7}">
  <a:tblStyle styleId="{916E7964-577C-4660-9F6A-7138A95530C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84" Type="http://schemas.openxmlformats.org/officeDocument/2006/relationships/slide" Target="slides/slide77.xml"/><Relationship Id="rId83" Type="http://schemas.openxmlformats.org/officeDocument/2006/relationships/slide" Target="slides/slide76.xml"/><Relationship Id="rId42" Type="http://schemas.openxmlformats.org/officeDocument/2006/relationships/slide" Target="slides/slide35.xml"/><Relationship Id="rId86" Type="http://schemas.openxmlformats.org/officeDocument/2006/relationships/slide" Target="slides/slide79.xml"/><Relationship Id="rId41" Type="http://schemas.openxmlformats.org/officeDocument/2006/relationships/slide" Target="slides/slide34.xml"/><Relationship Id="rId85" Type="http://schemas.openxmlformats.org/officeDocument/2006/relationships/slide" Target="slides/slide78.xml"/><Relationship Id="rId44" Type="http://schemas.openxmlformats.org/officeDocument/2006/relationships/slide" Target="slides/slide37.xml"/><Relationship Id="rId88" Type="http://schemas.openxmlformats.org/officeDocument/2006/relationships/slide" Target="slides/slide81.xml"/><Relationship Id="rId43" Type="http://schemas.openxmlformats.org/officeDocument/2006/relationships/slide" Target="slides/slide36.xml"/><Relationship Id="rId87" Type="http://schemas.openxmlformats.org/officeDocument/2006/relationships/slide" Target="slides/slide80.xml"/><Relationship Id="rId46" Type="http://schemas.openxmlformats.org/officeDocument/2006/relationships/slide" Target="slides/slide39.xml"/><Relationship Id="rId45" Type="http://schemas.openxmlformats.org/officeDocument/2006/relationships/slide" Target="slides/slide38.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31" Type="http://schemas.openxmlformats.org/officeDocument/2006/relationships/slide" Target="slides/slide24.xml"/><Relationship Id="rId75" Type="http://schemas.openxmlformats.org/officeDocument/2006/relationships/slide" Target="slides/slide68.xml"/><Relationship Id="rId30" Type="http://schemas.openxmlformats.org/officeDocument/2006/relationships/slide" Target="slides/slide23.xml"/><Relationship Id="rId74" Type="http://schemas.openxmlformats.org/officeDocument/2006/relationships/slide" Target="slides/slide67.xml"/><Relationship Id="rId33" Type="http://schemas.openxmlformats.org/officeDocument/2006/relationships/slide" Target="slides/slide26.xml"/><Relationship Id="rId77" Type="http://schemas.openxmlformats.org/officeDocument/2006/relationships/slide" Target="slides/slide70.xml"/><Relationship Id="rId32" Type="http://schemas.openxmlformats.org/officeDocument/2006/relationships/slide" Target="slides/slide25.xml"/><Relationship Id="rId76" Type="http://schemas.openxmlformats.org/officeDocument/2006/relationships/slide" Target="slides/slide69.xml"/><Relationship Id="rId35" Type="http://schemas.openxmlformats.org/officeDocument/2006/relationships/slide" Target="slides/slide28.xml"/><Relationship Id="rId79" Type="http://schemas.openxmlformats.org/officeDocument/2006/relationships/slide" Target="slides/slide72.xml"/><Relationship Id="rId34" Type="http://schemas.openxmlformats.org/officeDocument/2006/relationships/slide" Target="slides/slide27.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8352da1549_0_5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8352da1549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8352da1549_0_11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8352da1549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8352da1549_0_16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8352da1549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ee14f273af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ee14f273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8352da1549_0_21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8352da1549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23e6be4d7e_0_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23e6be4d7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8352da1549_0_22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8352da1549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23e6be4d7e_0_1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23e6be4d7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244ac5501e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244ac550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8352da1549_0_26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8352da1549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8352da1549_0_26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8352da1549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8352da1549_0_28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8352da1549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1b0e893463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1b0e8934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8352da1549_0_25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8352da1549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8352da1549_0_22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8352da1549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1b0e893463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1b0e89346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1b0e893463_0_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1b0e89346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c7807bce5d_0_7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c7807bce5d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c7807bce5d_0_2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c7807bce5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23e6be4d7e_0_1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123e6be4d7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11b5bae8112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11b5bae811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8ef3956934_3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8ef3956934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4c18519643_0_8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4c18519643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225f17349e5_0_7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225f17349e5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8352da1549_0_38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8352da1549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25f17349e5_0_12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225f17349e5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8352da1549_0_40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8352da1549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225f17349e5_0_6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225f17349e5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8352da1549_0_40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8352da1549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24e1d80e7e2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24e1d80e7e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24e1d80e7e2_0_2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24e1d80e7e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8352da1549_0_43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8352da1549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8352da1549_0_43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8352da1549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8352da1549_0_42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8352da1549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226a6c90a5e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226a6c90a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226a6c90a5e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226a6c90a5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226a6c90a5e_0_3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226a6c90a5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8352da1549_0_45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8352da1549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33ce284a547_0_5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33ce284a547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13c6b45f803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13c6b45f80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24c18519643_0_11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g24c18519643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38ef3956934_3_1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38ef3956934_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24e1d80e7e2_0_14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24e1d80e7e2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2c49a262029_0_30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2c49a262029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2c49a262029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2c49a26202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2c49a262029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06" name="Google Shape;906;g2c49a26202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2c49a262029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2c49a26202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2c49a262029_0_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2c49a26202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2c49a262029_0_3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35" name="Google Shape;935;g2c49a26202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2c49a262029_0_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42" name="Google Shape;942;g2c49a26202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2c49a262029_0_4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52" name="Google Shape;952;g2c49a262029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2c49a262029_0_5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2c49a26202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2c49a262029_0_5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66" name="Google Shape;966;g2c49a262029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2c49a262029_0_7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g2c49a262029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2c49a262029_0_9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05" name="Google Shape;1005;g2c49a262029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2c49a262029_0_1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2c49a262029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2c49a262029_0_12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38" name="Google Shape;1038;g2c49a262029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2c49a262029_0_16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80" name="Google Shape;1080;g2c49a262029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26cdffc7ca7_0_5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12" name="Google Shape;1112;g26cdffc7ca7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2c49a262029_0_23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44" name="Google Shape;1144;g2c49a262029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2c49a262029_0_31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76" name="Google Shape;1176;g2c49a262029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8352da1549_0_35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84" name="Google Shape;1184;g8352da1549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1243be750d8_0_1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91" name="Google Shape;1191;g1243be750d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g8352da1549_0_36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98" name="Google Shape;1198;g8352da1549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7965246c681cc340_46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06" name="Google Shape;1206;g7965246c681cc34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2c49a262029_0_32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13" name="Google Shape;1213;g2c49a262029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8352da1549_0_46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21" name="Google Shape;1221;g8352da1549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13c6b45f803_0_3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46" name="Google Shape;1246;g13c6b45f803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g8352da1549_0_47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93" name="Google Shape;1293;g8352da1549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g7965246c681cc340_11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26" name="Google Shape;1326;g7965246c681cc34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g26cdffc7ca7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70" name="Google Shape;1370;g26cdffc7c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g7965246c681cc340_20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25" name="Google Shape;1425;g7965246c681cc34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9" name="Shape 1489"/>
        <p:cNvGrpSpPr/>
        <p:nvPr/>
      </p:nvGrpSpPr>
      <p:grpSpPr>
        <a:xfrm>
          <a:off x="0" y="0"/>
          <a:ext cx="0" cy="0"/>
          <a:chOff x="0" y="0"/>
          <a:chExt cx="0" cy="0"/>
        </a:xfrm>
      </p:grpSpPr>
      <p:sp>
        <p:nvSpPr>
          <p:cNvPr id="1490" name="Google Shape;1490;g8352da1549_0_50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91" name="Google Shape;1491;g8352da1549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7" name="Shape 1537"/>
        <p:cNvGrpSpPr/>
        <p:nvPr/>
      </p:nvGrpSpPr>
      <p:grpSpPr>
        <a:xfrm>
          <a:off x="0" y="0"/>
          <a:ext cx="0" cy="0"/>
          <a:chOff x="0" y="0"/>
          <a:chExt cx="0" cy="0"/>
        </a:xfrm>
      </p:grpSpPr>
      <p:sp>
        <p:nvSpPr>
          <p:cNvPr id="1538" name="Google Shape;1538;g7965246c681cc340_33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39" name="Google Shape;1539;g7965246c681cc34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7" name="Shape 1577"/>
        <p:cNvGrpSpPr/>
        <p:nvPr/>
      </p:nvGrpSpPr>
      <p:grpSpPr>
        <a:xfrm>
          <a:off x="0" y="0"/>
          <a:ext cx="0" cy="0"/>
          <a:chOff x="0" y="0"/>
          <a:chExt cx="0" cy="0"/>
        </a:xfrm>
      </p:grpSpPr>
      <p:sp>
        <p:nvSpPr>
          <p:cNvPr id="1578" name="Google Shape;1578;g7965246c681cc340_43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79" name="Google Shape;1579;g7965246c681cc34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8" name="Shape 1598"/>
        <p:cNvGrpSpPr/>
        <p:nvPr/>
      </p:nvGrpSpPr>
      <p:grpSpPr>
        <a:xfrm>
          <a:off x="0" y="0"/>
          <a:ext cx="0" cy="0"/>
          <a:chOff x="0" y="0"/>
          <a:chExt cx="0" cy="0"/>
        </a:xfrm>
      </p:grpSpPr>
      <p:sp>
        <p:nvSpPr>
          <p:cNvPr id="1599" name="Google Shape;1599;g2c7807bce5d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00" name="Google Shape;1600;g2c7807bce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6" name="Shape 1626"/>
        <p:cNvGrpSpPr/>
        <p:nvPr/>
      </p:nvGrpSpPr>
      <p:grpSpPr>
        <a:xfrm>
          <a:off x="0" y="0"/>
          <a:ext cx="0" cy="0"/>
          <a:chOff x="0" y="0"/>
          <a:chExt cx="0" cy="0"/>
        </a:xfrm>
      </p:grpSpPr>
      <p:sp>
        <p:nvSpPr>
          <p:cNvPr id="1627" name="Google Shape;1627;g26cdffc7ca7_0_8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28" name="Google Shape;1628;g26cdffc7ca7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4" name="Shape 1634"/>
        <p:cNvGrpSpPr/>
        <p:nvPr/>
      </p:nvGrpSpPr>
      <p:grpSpPr>
        <a:xfrm>
          <a:off x="0" y="0"/>
          <a:ext cx="0" cy="0"/>
          <a:chOff x="0" y="0"/>
          <a:chExt cx="0" cy="0"/>
        </a:xfrm>
      </p:grpSpPr>
      <p:sp>
        <p:nvSpPr>
          <p:cNvPr id="1635" name="Google Shape;1635;g2c788fe204b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36" name="Google Shape;1636;g2c788fe20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2" name="Shape 1642"/>
        <p:cNvGrpSpPr/>
        <p:nvPr/>
      </p:nvGrpSpPr>
      <p:grpSpPr>
        <a:xfrm>
          <a:off x="0" y="0"/>
          <a:ext cx="0" cy="0"/>
          <a:chOff x="0" y="0"/>
          <a:chExt cx="0" cy="0"/>
        </a:xfrm>
      </p:grpSpPr>
      <p:sp>
        <p:nvSpPr>
          <p:cNvPr id="1643" name="Google Shape;1643;g2c788fe204b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44" name="Google Shape;1644;g2c788fe204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4" name="Shape 1654"/>
        <p:cNvGrpSpPr/>
        <p:nvPr/>
      </p:nvGrpSpPr>
      <p:grpSpPr>
        <a:xfrm>
          <a:off x="0" y="0"/>
          <a:ext cx="0" cy="0"/>
          <a:chOff x="0" y="0"/>
          <a:chExt cx="0" cy="0"/>
        </a:xfrm>
      </p:grpSpPr>
      <p:sp>
        <p:nvSpPr>
          <p:cNvPr id="1655" name="Google Shape;1655;g2c788fe204b_0_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56" name="Google Shape;1656;g2c788fe204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1" name="Shape 1691"/>
        <p:cNvGrpSpPr/>
        <p:nvPr/>
      </p:nvGrpSpPr>
      <p:grpSpPr>
        <a:xfrm>
          <a:off x="0" y="0"/>
          <a:ext cx="0" cy="0"/>
          <a:chOff x="0" y="0"/>
          <a:chExt cx="0" cy="0"/>
        </a:xfrm>
      </p:grpSpPr>
      <p:sp>
        <p:nvSpPr>
          <p:cNvPr id="1692" name="Google Shape;1692;g2c788fe204b_0_5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93" name="Google Shape;1693;g2c788fe204b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4" name="Shape 1724"/>
        <p:cNvGrpSpPr/>
        <p:nvPr/>
      </p:nvGrpSpPr>
      <p:grpSpPr>
        <a:xfrm>
          <a:off x="0" y="0"/>
          <a:ext cx="0" cy="0"/>
          <a:chOff x="0" y="0"/>
          <a:chExt cx="0" cy="0"/>
        </a:xfrm>
      </p:grpSpPr>
      <p:sp>
        <p:nvSpPr>
          <p:cNvPr id="1725" name="Google Shape;1725;g12411ff317e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26" name="Google Shape;1726;g12411ff31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200"/>
              <a:buNone/>
              <a:defRPr/>
            </a:lvl1pPr>
            <a:lvl2pPr lvl="1" rtl="0" algn="ctr">
              <a:spcBef>
                <a:spcPts val="0"/>
              </a:spcBef>
              <a:spcAft>
                <a:spcPts val="0"/>
              </a:spcAft>
              <a:buSzPts val="3200"/>
              <a:buNone/>
              <a:defRPr/>
            </a:lvl2pPr>
            <a:lvl3pPr lvl="2" rtl="0" algn="ctr">
              <a:spcBef>
                <a:spcPts val="0"/>
              </a:spcBef>
              <a:spcAft>
                <a:spcPts val="0"/>
              </a:spcAft>
              <a:buSzPts val="3200"/>
              <a:buNone/>
              <a:defRPr/>
            </a:lvl3pPr>
            <a:lvl4pPr lvl="3" rtl="0" algn="ctr">
              <a:spcBef>
                <a:spcPts val="0"/>
              </a:spcBef>
              <a:spcAft>
                <a:spcPts val="0"/>
              </a:spcAft>
              <a:buSzPts val="3200"/>
              <a:buNone/>
              <a:defRPr/>
            </a:lvl4pPr>
            <a:lvl5pPr lvl="4" rtl="0" algn="ctr">
              <a:spcBef>
                <a:spcPts val="0"/>
              </a:spcBef>
              <a:spcAft>
                <a:spcPts val="0"/>
              </a:spcAft>
              <a:buSzPts val="3200"/>
              <a:buNone/>
              <a:defRPr/>
            </a:lvl5pPr>
            <a:lvl6pPr lvl="5" rtl="0" algn="ctr">
              <a:spcBef>
                <a:spcPts val="0"/>
              </a:spcBef>
              <a:spcAft>
                <a:spcPts val="0"/>
              </a:spcAft>
              <a:buSzPts val="3200"/>
              <a:buNone/>
              <a:defRPr/>
            </a:lvl6pPr>
            <a:lvl7pPr lvl="6" rtl="0" algn="ctr">
              <a:spcBef>
                <a:spcPts val="0"/>
              </a:spcBef>
              <a:spcAft>
                <a:spcPts val="0"/>
              </a:spcAft>
              <a:buSzPts val="3200"/>
              <a:buNone/>
              <a:defRPr/>
            </a:lvl7pPr>
            <a:lvl8pPr lvl="7" rtl="0" algn="ctr">
              <a:spcBef>
                <a:spcPts val="0"/>
              </a:spcBef>
              <a:spcAft>
                <a:spcPts val="0"/>
              </a:spcAft>
              <a:buSzPts val="3200"/>
              <a:buNone/>
              <a:defRPr/>
            </a:lvl8pPr>
            <a:lvl9pPr lvl="8" rtl="0" algn="ctr">
              <a:spcBef>
                <a:spcPts val="0"/>
              </a:spcBef>
              <a:spcAft>
                <a:spcPts val="0"/>
              </a:spcAft>
              <a:buSzPts val="3200"/>
              <a:buNone/>
              <a:defRPr/>
            </a:lvl9pPr>
          </a:lstStyle>
          <a:p/>
        </p:txBody>
      </p:sp>
      <p:sp>
        <p:nvSpPr>
          <p:cNvPr id="60" name="Google Shape;60;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b="1"/>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63" name="Google Shape;63;p16"/>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lvl1pPr indent="-381000" lvl="0" marL="457200" rtl="0">
              <a:spcBef>
                <a:spcPts val="0"/>
              </a:spcBef>
              <a:spcAft>
                <a:spcPts val="0"/>
              </a:spcAft>
              <a:buSzPts val="2400"/>
              <a:buChar char="●"/>
              <a:defRPr sz="2400"/>
            </a:lvl1pPr>
            <a:lvl2pPr indent="-368300" lvl="1" marL="914400" rtl="0">
              <a:spcBef>
                <a:spcPts val="0"/>
              </a:spcBef>
              <a:spcAft>
                <a:spcPts val="0"/>
              </a:spcAft>
              <a:buSzPts val="2200"/>
              <a:buChar char="○"/>
              <a:defRPr/>
            </a:lvl2pPr>
            <a:lvl3pPr indent="-342900" lvl="2" marL="1371600" rtl="0">
              <a:spcBef>
                <a:spcPts val="0"/>
              </a:spcBef>
              <a:spcAft>
                <a:spcPts val="0"/>
              </a:spcAft>
              <a:buSzPts val="1800"/>
              <a:buChar char="■"/>
              <a:defRPr/>
            </a:lvl3pPr>
            <a:lvl4pPr indent="-317500" lvl="3" marL="1828800" rtl="0">
              <a:spcBef>
                <a:spcPts val="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4" name="Google Shape;64;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67" name="Google Shape;67;p17"/>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8" name="Google Shape;68;p17"/>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9" name="Google Shape;69;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72" name="Google Shape;72;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5" name="Google Shape;75;p19"/>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6" name="Google Shape;76;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9" name="Google Shape;79;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3" name="Google Shape;83;p21"/>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93700" lvl="0" marL="457200" rtl="0">
              <a:spcBef>
                <a:spcPts val="0"/>
              </a:spcBef>
              <a:spcAft>
                <a:spcPts val="0"/>
              </a:spcAft>
              <a:buSzPts val="2600"/>
              <a:buChar char="●"/>
              <a:defRPr/>
            </a:lvl1pPr>
            <a:lvl2pPr indent="-368300" lvl="1" marL="914400" rtl="0">
              <a:spcBef>
                <a:spcPts val="0"/>
              </a:spcBef>
              <a:spcAft>
                <a:spcPts val="0"/>
              </a:spcAft>
              <a:buSzPts val="2200"/>
              <a:buChar char="○"/>
              <a:defRPr/>
            </a:lvl2pPr>
            <a:lvl3pPr indent="-342900" lvl="2" marL="1371600" rtl="0">
              <a:spcBef>
                <a:spcPts val="0"/>
              </a:spcBef>
              <a:spcAft>
                <a:spcPts val="0"/>
              </a:spcAft>
              <a:buSzPts val="1800"/>
              <a:buChar char="■"/>
              <a:defRPr/>
            </a:lvl3pPr>
            <a:lvl4pPr indent="-317500" lvl="3" marL="1828800" rtl="0">
              <a:spcBef>
                <a:spcPts val="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85" name="Google Shape;85;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2600"/>
              <a:buNone/>
              <a:defRPr/>
            </a:lvl1pPr>
          </a:lstStyle>
          <a:p/>
        </p:txBody>
      </p:sp>
      <p:sp>
        <p:nvSpPr>
          <p:cNvPr id="88" name="Google Shape;88;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93700" lvl="0" marL="457200" rtl="0" algn="ctr">
              <a:spcBef>
                <a:spcPts val="0"/>
              </a:spcBef>
              <a:spcAft>
                <a:spcPts val="0"/>
              </a:spcAft>
              <a:buSzPts val="2600"/>
              <a:buChar char="●"/>
              <a:defRPr/>
            </a:lvl1pPr>
            <a:lvl2pPr indent="-368300" lvl="1" marL="914400" rtl="0" algn="ctr">
              <a:spcBef>
                <a:spcPts val="0"/>
              </a:spcBef>
              <a:spcAft>
                <a:spcPts val="0"/>
              </a:spcAft>
              <a:buSzPts val="2200"/>
              <a:buChar char="○"/>
              <a:defRPr/>
            </a:lvl2pPr>
            <a:lvl3pPr indent="-342900" lvl="2" marL="1371600" rtl="0" algn="ctr">
              <a:spcBef>
                <a:spcPts val="0"/>
              </a:spcBef>
              <a:spcAft>
                <a:spcPts val="0"/>
              </a:spcAft>
              <a:buSzPts val="1800"/>
              <a:buChar char="■"/>
              <a:defRPr/>
            </a:lvl3pPr>
            <a:lvl4pPr indent="-317500" lvl="3" marL="1828800" rtl="0" algn="ctr">
              <a:spcBef>
                <a:spcPts val="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92" name="Google Shape;92;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187200"/>
            <a:ext cx="8520600" cy="7635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200"/>
              <a:buFont typeface="Times New Roman"/>
              <a:buNone/>
              <a:defRPr b="1" sz="3200">
                <a:solidFill>
                  <a:schemeClr val="dk1"/>
                </a:solidFill>
                <a:latin typeface="Times New Roman"/>
                <a:ea typeface="Times New Roman"/>
                <a:cs typeface="Times New Roman"/>
                <a:sym typeface="Times New Roman"/>
              </a:defRPr>
            </a:lvl1pPr>
            <a:lvl2pPr lvl="1" rtl="0">
              <a:spcBef>
                <a:spcPts val="0"/>
              </a:spcBef>
              <a:spcAft>
                <a:spcPts val="0"/>
              </a:spcAft>
              <a:buClr>
                <a:schemeClr val="dk1"/>
              </a:buClr>
              <a:buSzPts val="3200"/>
              <a:buFont typeface="Times New Roman"/>
              <a:buNone/>
              <a:defRPr sz="3200">
                <a:solidFill>
                  <a:schemeClr val="dk1"/>
                </a:solidFill>
                <a:latin typeface="Times New Roman"/>
                <a:ea typeface="Times New Roman"/>
                <a:cs typeface="Times New Roman"/>
                <a:sym typeface="Times New Roman"/>
              </a:defRPr>
            </a:lvl2pPr>
            <a:lvl3pPr lvl="2" rtl="0">
              <a:spcBef>
                <a:spcPts val="0"/>
              </a:spcBef>
              <a:spcAft>
                <a:spcPts val="0"/>
              </a:spcAft>
              <a:buClr>
                <a:schemeClr val="dk1"/>
              </a:buClr>
              <a:buSzPts val="3200"/>
              <a:buFont typeface="Times New Roman"/>
              <a:buNone/>
              <a:defRPr sz="3200">
                <a:solidFill>
                  <a:schemeClr val="dk1"/>
                </a:solidFill>
                <a:latin typeface="Times New Roman"/>
                <a:ea typeface="Times New Roman"/>
                <a:cs typeface="Times New Roman"/>
                <a:sym typeface="Times New Roman"/>
              </a:defRPr>
            </a:lvl3pPr>
            <a:lvl4pPr lvl="3" rtl="0">
              <a:spcBef>
                <a:spcPts val="0"/>
              </a:spcBef>
              <a:spcAft>
                <a:spcPts val="0"/>
              </a:spcAft>
              <a:buClr>
                <a:schemeClr val="dk1"/>
              </a:buClr>
              <a:buSzPts val="3200"/>
              <a:buFont typeface="Times New Roman"/>
              <a:buNone/>
              <a:defRPr sz="3200">
                <a:solidFill>
                  <a:schemeClr val="dk1"/>
                </a:solidFill>
                <a:latin typeface="Times New Roman"/>
                <a:ea typeface="Times New Roman"/>
                <a:cs typeface="Times New Roman"/>
                <a:sym typeface="Times New Roman"/>
              </a:defRPr>
            </a:lvl4pPr>
            <a:lvl5pPr lvl="4" rtl="0">
              <a:spcBef>
                <a:spcPts val="0"/>
              </a:spcBef>
              <a:spcAft>
                <a:spcPts val="0"/>
              </a:spcAft>
              <a:buClr>
                <a:schemeClr val="dk1"/>
              </a:buClr>
              <a:buSzPts val="3200"/>
              <a:buFont typeface="Times New Roman"/>
              <a:buNone/>
              <a:defRPr sz="3200">
                <a:solidFill>
                  <a:schemeClr val="dk1"/>
                </a:solidFill>
                <a:latin typeface="Times New Roman"/>
                <a:ea typeface="Times New Roman"/>
                <a:cs typeface="Times New Roman"/>
                <a:sym typeface="Times New Roman"/>
              </a:defRPr>
            </a:lvl5pPr>
            <a:lvl6pPr lvl="5" rtl="0">
              <a:spcBef>
                <a:spcPts val="0"/>
              </a:spcBef>
              <a:spcAft>
                <a:spcPts val="0"/>
              </a:spcAft>
              <a:buClr>
                <a:schemeClr val="dk1"/>
              </a:buClr>
              <a:buSzPts val="3200"/>
              <a:buFont typeface="Times New Roman"/>
              <a:buNone/>
              <a:defRPr sz="3200">
                <a:solidFill>
                  <a:schemeClr val="dk1"/>
                </a:solidFill>
                <a:latin typeface="Times New Roman"/>
                <a:ea typeface="Times New Roman"/>
                <a:cs typeface="Times New Roman"/>
                <a:sym typeface="Times New Roman"/>
              </a:defRPr>
            </a:lvl6pPr>
            <a:lvl7pPr lvl="6" rtl="0">
              <a:spcBef>
                <a:spcPts val="0"/>
              </a:spcBef>
              <a:spcAft>
                <a:spcPts val="0"/>
              </a:spcAft>
              <a:buClr>
                <a:schemeClr val="dk1"/>
              </a:buClr>
              <a:buSzPts val="3200"/>
              <a:buFont typeface="Times New Roman"/>
              <a:buNone/>
              <a:defRPr sz="3200">
                <a:solidFill>
                  <a:schemeClr val="dk1"/>
                </a:solidFill>
                <a:latin typeface="Times New Roman"/>
                <a:ea typeface="Times New Roman"/>
                <a:cs typeface="Times New Roman"/>
                <a:sym typeface="Times New Roman"/>
              </a:defRPr>
            </a:lvl7pPr>
            <a:lvl8pPr lvl="7" rtl="0">
              <a:spcBef>
                <a:spcPts val="0"/>
              </a:spcBef>
              <a:spcAft>
                <a:spcPts val="0"/>
              </a:spcAft>
              <a:buClr>
                <a:schemeClr val="dk1"/>
              </a:buClr>
              <a:buSzPts val="3200"/>
              <a:buFont typeface="Times New Roman"/>
              <a:buNone/>
              <a:defRPr sz="3200">
                <a:solidFill>
                  <a:schemeClr val="dk1"/>
                </a:solidFill>
                <a:latin typeface="Times New Roman"/>
                <a:ea typeface="Times New Roman"/>
                <a:cs typeface="Times New Roman"/>
                <a:sym typeface="Times New Roman"/>
              </a:defRPr>
            </a:lvl8pPr>
            <a:lvl9pPr lvl="8" rtl="0">
              <a:spcBef>
                <a:spcPts val="0"/>
              </a:spcBef>
              <a:spcAft>
                <a:spcPts val="0"/>
              </a:spcAft>
              <a:buClr>
                <a:schemeClr val="dk1"/>
              </a:buClr>
              <a:buSzPts val="3200"/>
              <a:buFont typeface="Times New Roman"/>
              <a:buNone/>
              <a:defRPr sz="3200">
                <a:solidFill>
                  <a:schemeClr val="dk1"/>
                </a:solidFill>
                <a:latin typeface="Times New Roman"/>
                <a:ea typeface="Times New Roman"/>
                <a:cs typeface="Times New Roman"/>
                <a:sym typeface="Times New Roman"/>
              </a:defRPr>
            </a:lvl9pPr>
          </a:lstStyle>
          <a:p/>
        </p:txBody>
      </p:sp>
      <p:sp>
        <p:nvSpPr>
          <p:cNvPr id="52" name="Google Shape;52;p13"/>
          <p:cNvSpPr txBox="1"/>
          <p:nvPr>
            <p:ph idx="1" type="body"/>
          </p:nvPr>
        </p:nvSpPr>
        <p:spPr>
          <a:xfrm>
            <a:off x="311700" y="950700"/>
            <a:ext cx="8520600" cy="5330700"/>
          </a:xfrm>
          <a:prstGeom prst="rect">
            <a:avLst/>
          </a:prstGeom>
          <a:noFill/>
          <a:ln>
            <a:noFill/>
          </a:ln>
        </p:spPr>
        <p:txBody>
          <a:bodyPr anchorCtr="0" anchor="t" bIns="91425" lIns="91425" spcFirstLastPara="1" rIns="91425" wrap="square" tIns="91425">
            <a:noAutofit/>
          </a:bodyPr>
          <a:lstStyle>
            <a:lvl1pPr indent="-393700" lvl="0" marL="457200" rtl="0">
              <a:lnSpc>
                <a:spcPct val="115000"/>
              </a:lnSpc>
              <a:spcBef>
                <a:spcPts val="0"/>
              </a:spcBef>
              <a:spcAft>
                <a:spcPts val="0"/>
              </a:spcAft>
              <a:buClr>
                <a:schemeClr val="dk2"/>
              </a:buClr>
              <a:buSzPts val="2600"/>
              <a:buFont typeface="Times New Roman"/>
              <a:buChar char="●"/>
              <a:defRPr sz="2600">
                <a:solidFill>
                  <a:schemeClr val="dk2"/>
                </a:solidFill>
                <a:latin typeface="Times New Roman"/>
                <a:ea typeface="Times New Roman"/>
                <a:cs typeface="Times New Roman"/>
                <a:sym typeface="Times New Roman"/>
              </a:defRPr>
            </a:lvl1pPr>
            <a:lvl2pPr indent="-368300" lvl="1" marL="914400" rtl="0">
              <a:lnSpc>
                <a:spcPct val="115000"/>
              </a:lnSpc>
              <a:spcBef>
                <a:spcPts val="0"/>
              </a:spcBef>
              <a:spcAft>
                <a:spcPts val="0"/>
              </a:spcAft>
              <a:buClr>
                <a:schemeClr val="dk2"/>
              </a:buClr>
              <a:buSzPts val="2200"/>
              <a:buFont typeface="Times New Roman"/>
              <a:buChar char="○"/>
              <a:defRPr sz="2200">
                <a:solidFill>
                  <a:schemeClr val="dk2"/>
                </a:solidFill>
                <a:latin typeface="Times New Roman"/>
                <a:ea typeface="Times New Roman"/>
                <a:cs typeface="Times New Roman"/>
                <a:sym typeface="Times New Roman"/>
              </a:defRPr>
            </a:lvl2pPr>
            <a:lvl3pPr indent="-342900" lvl="2" marL="1371600" rtl="0">
              <a:lnSpc>
                <a:spcPct val="115000"/>
              </a:lnSpc>
              <a:spcBef>
                <a:spcPts val="0"/>
              </a:spcBef>
              <a:spcAft>
                <a:spcPts val="0"/>
              </a:spcAft>
              <a:buClr>
                <a:schemeClr val="dk2"/>
              </a:buClr>
              <a:buSzPts val="1800"/>
              <a:buFont typeface="Times New Roman"/>
              <a:buChar char="■"/>
              <a:defRPr sz="1800">
                <a:solidFill>
                  <a:schemeClr val="dk2"/>
                </a:solidFill>
                <a:latin typeface="Times New Roman"/>
                <a:ea typeface="Times New Roman"/>
                <a:cs typeface="Times New Roman"/>
                <a:sym typeface="Times New Roman"/>
              </a:defRPr>
            </a:lvl3pPr>
            <a:lvl4pPr indent="-317500" lvl="3" marL="1828800" rtl="0">
              <a:lnSpc>
                <a:spcPct val="115000"/>
              </a:lnSpc>
              <a:spcBef>
                <a:spcPts val="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4pPr>
            <a:lvl5pPr indent="-317500" lvl="4" marL="2286000" rtl="0">
              <a:lnSpc>
                <a:spcPct val="115000"/>
              </a:lnSpc>
              <a:spcBef>
                <a:spcPts val="160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5pPr>
            <a:lvl6pPr indent="-317500" lvl="5" marL="2743200" rtl="0">
              <a:lnSpc>
                <a:spcPct val="115000"/>
              </a:lnSpc>
              <a:spcBef>
                <a:spcPts val="160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6pPr>
            <a:lvl7pPr indent="-317500" lvl="6" marL="3200400" rtl="0">
              <a:lnSpc>
                <a:spcPct val="115000"/>
              </a:lnSpc>
              <a:spcBef>
                <a:spcPts val="160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7pPr>
            <a:lvl8pPr indent="-317500" lvl="7" marL="3657600" rtl="0">
              <a:lnSpc>
                <a:spcPct val="115000"/>
              </a:lnSpc>
              <a:spcBef>
                <a:spcPts val="160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8pPr>
            <a:lvl9pPr indent="-317500" lvl="8" marL="4114800" rtl="0">
              <a:lnSpc>
                <a:spcPct val="115000"/>
              </a:lnSpc>
              <a:spcBef>
                <a:spcPts val="1600"/>
              </a:spcBef>
              <a:spcAft>
                <a:spcPts val="160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9pPr>
          </a:lstStyle>
          <a:p/>
        </p:txBody>
      </p:sp>
      <p:sp>
        <p:nvSpPr>
          <p:cNvPr id="53" name="Google Shape;53;p1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hyperlink" Target="https://www.omg.org/spec/OCL/2.4/PDF" TargetMode="External"/><Relationship Id="rId4" Type="http://schemas.openxmlformats.org/officeDocument/2006/relationships/hyperlink" Target="https://www.omg.org/spec/UML/2.4.1"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8.xml"/><Relationship Id="rId3"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9.xml"/><Relationship Id="rId3"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ctrTitle"/>
          </p:nvPr>
        </p:nvSpPr>
        <p:spPr>
          <a:xfrm>
            <a:off x="311700" y="548467"/>
            <a:ext cx="8520600" cy="3181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4200"/>
              <a:t>Phân tích </a:t>
            </a:r>
            <a:r>
              <a:rPr lang="en-GB" sz="4200"/>
              <a:t>và </a:t>
            </a:r>
            <a:r>
              <a:rPr lang="en-GB" sz="4200"/>
              <a:t>thiết kế Hệ thống</a:t>
            </a:r>
            <a:endParaRPr sz="4200"/>
          </a:p>
        </p:txBody>
      </p:sp>
      <p:sp>
        <p:nvSpPr>
          <p:cNvPr id="100" name="Google Shape;100;p25"/>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GB"/>
              <a:t>G</a:t>
            </a:r>
            <a:r>
              <a:rPr lang="en-GB"/>
              <a:t>iảng viên: </a:t>
            </a:r>
            <a:r>
              <a:rPr lang="en-GB"/>
              <a:t>Nguyễn Bá Ngọc</a:t>
            </a:r>
            <a:endParaRPr/>
          </a:p>
        </p:txBody>
      </p:sp>
      <p:sp>
        <p:nvSpPr>
          <p:cNvPr id="101" name="Google Shape;101;p25"/>
          <p:cNvSpPr txBox="1"/>
          <p:nvPr/>
        </p:nvSpPr>
        <p:spPr>
          <a:xfrm>
            <a:off x="125" y="5969400"/>
            <a:ext cx="91440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800">
                <a:latin typeface="Times New Roman"/>
                <a:ea typeface="Times New Roman"/>
                <a:cs typeface="Times New Roman"/>
                <a:sym typeface="Times New Roman"/>
              </a:rPr>
              <a:t>Hà Nội-2021</a:t>
            </a:r>
            <a:endParaRPr sz="2800">
              <a:latin typeface="Times New Roman"/>
              <a:ea typeface="Times New Roman"/>
              <a:cs typeface="Times New Roman"/>
              <a:sym typeface="Times New Roman"/>
            </a:endParaRPr>
          </a:p>
        </p:txBody>
      </p:sp>
      <p:sp>
        <p:nvSpPr>
          <p:cNvPr id="102" name="Google Shape;102;p25"/>
          <p:cNvSpPr txBox="1"/>
          <p:nvPr/>
        </p:nvSpPr>
        <p:spPr>
          <a:xfrm>
            <a:off x="491750" y="4667633"/>
            <a:ext cx="2658600" cy="100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600">
                <a:latin typeface="Times New Roman"/>
                <a:ea typeface="Times New Roman"/>
                <a:cs typeface="Times New Roman"/>
                <a:sym typeface="Times New Roman"/>
              </a:rPr>
              <a:t>Chương 3</a:t>
            </a:r>
            <a:endParaRPr sz="36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6"/>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Chương 3</a:t>
            </a:r>
            <a:endParaRPr/>
          </a:p>
          <a:p>
            <a:pPr indent="0" lvl="0" marL="0" rtl="0" algn="ctr">
              <a:spcBef>
                <a:spcPts val="0"/>
              </a:spcBef>
              <a:spcAft>
                <a:spcPts val="0"/>
              </a:spcAft>
              <a:buNone/>
            </a:pPr>
            <a:r>
              <a:rPr lang="en-GB"/>
              <a:t>         Mô hình hóa c</a:t>
            </a:r>
            <a:r>
              <a:rPr lang="en-GB"/>
              <a:t>ấu trúc</a:t>
            </a:r>
            <a:endParaRPr/>
          </a:p>
        </p:txBody>
      </p:sp>
      <p:sp>
        <p:nvSpPr>
          <p:cNvPr id="108" name="Google Shape;108;p2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7"/>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114" name="Google Shape;114;p27"/>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Các khái niệm</a:t>
            </a:r>
            <a:endParaRPr/>
          </a:p>
          <a:p>
            <a:pPr indent="-381000" lvl="0" marL="457200" rtl="0" algn="l">
              <a:spcBef>
                <a:spcPts val="0"/>
              </a:spcBef>
              <a:spcAft>
                <a:spcPts val="0"/>
              </a:spcAft>
              <a:buSzPts val="2400"/>
              <a:buChar char="●"/>
            </a:pPr>
            <a:r>
              <a:rPr lang="en-GB"/>
              <a:t>Các kỹ thuật</a:t>
            </a:r>
            <a:endParaRPr/>
          </a:p>
          <a:p>
            <a:pPr indent="-381000" lvl="0" marL="457200" rtl="0" algn="l">
              <a:spcBef>
                <a:spcPts val="0"/>
              </a:spcBef>
              <a:spcAft>
                <a:spcPts val="0"/>
              </a:spcAft>
              <a:buSzPts val="2400"/>
              <a:buChar char="●"/>
            </a:pPr>
            <a:r>
              <a:rPr lang="en-GB"/>
              <a:t>Các sơ đồ</a:t>
            </a:r>
            <a:endParaRPr/>
          </a:p>
          <a:p>
            <a:pPr indent="-381000" lvl="0" marL="457200" rtl="0" algn="l">
              <a:spcBef>
                <a:spcPts val="0"/>
              </a:spcBef>
              <a:spcAft>
                <a:spcPts val="0"/>
              </a:spcAft>
              <a:buSzPts val="2400"/>
              <a:buChar char="●"/>
            </a:pPr>
            <a:r>
              <a:rPr lang="en-GB"/>
              <a:t>Mô tả ràng buộc với OCL</a:t>
            </a:r>
            <a:endParaRPr/>
          </a:p>
          <a:p>
            <a:pPr indent="-381000" lvl="0" marL="457200" rtl="0" algn="l">
              <a:spcBef>
                <a:spcPts val="0"/>
              </a:spcBef>
              <a:spcAft>
                <a:spcPts val="0"/>
              </a:spcAft>
              <a:buSzPts val="2400"/>
              <a:buChar char="●"/>
            </a:pPr>
            <a:r>
              <a:rPr lang="en-GB"/>
              <a:t>Đặc tả lớp với thẻ CRC</a:t>
            </a:r>
            <a:endParaRPr/>
          </a:p>
          <a:p>
            <a:pPr indent="-381000" lvl="0" marL="457200" rtl="0" algn="l">
              <a:spcBef>
                <a:spcPts val="0"/>
              </a:spcBef>
              <a:spcAft>
                <a:spcPts val="0"/>
              </a:spcAft>
              <a:buSzPts val="2400"/>
              <a:buChar char="●"/>
            </a:pPr>
            <a:r>
              <a:rPr lang="en-GB"/>
              <a:t>Mẫu phân tích</a:t>
            </a:r>
            <a:endParaRPr/>
          </a:p>
          <a:p>
            <a:pPr indent="-381000" lvl="0" marL="457200" rtl="0" algn="l">
              <a:spcBef>
                <a:spcPts val="0"/>
              </a:spcBef>
              <a:spcAft>
                <a:spcPts val="0"/>
              </a:spcAft>
              <a:buSzPts val="2400"/>
              <a:buChar char="●"/>
            </a:pPr>
            <a:r>
              <a:rPr lang="en-GB"/>
              <a:t>Bài tập</a:t>
            </a:r>
            <a:endParaRPr/>
          </a:p>
        </p:txBody>
      </p:sp>
      <p:sp>
        <p:nvSpPr>
          <p:cNvPr id="115" name="Google Shape;115;p2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8"/>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121" name="Google Shape;121;p28"/>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Các khái niệm</a:t>
            </a:r>
            <a:endParaRPr/>
          </a:p>
          <a:p>
            <a:pPr indent="-381000" lvl="0" marL="457200" rtl="0" algn="l">
              <a:spcBef>
                <a:spcPts val="0"/>
              </a:spcBef>
              <a:spcAft>
                <a:spcPts val="0"/>
              </a:spcAft>
              <a:buSzPts val="2400"/>
              <a:buChar char="●"/>
            </a:pPr>
            <a:r>
              <a:rPr lang="en-GB"/>
              <a:t>Các kỹ thuật</a:t>
            </a:r>
            <a:endParaRPr/>
          </a:p>
          <a:p>
            <a:pPr indent="-381000" lvl="0" marL="457200" rtl="0" algn="l">
              <a:spcBef>
                <a:spcPts val="0"/>
              </a:spcBef>
              <a:spcAft>
                <a:spcPts val="0"/>
              </a:spcAft>
              <a:buSzPts val="2400"/>
              <a:buChar char="●"/>
            </a:pPr>
            <a:r>
              <a:rPr lang="en-GB"/>
              <a:t>Các sơ đồ</a:t>
            </a:r>
            <a:endParaRPr/>
          </a:p>
          <a:p>
            <a:pPr indent="-381000" lvl="0" marL="457200" rtl="0" algn="l">
              <a:spcBef>
                <a:spcPts val="0"/>
              </a:spcBef>
              <a:spcAft>
                <a:spcPts val="0"/>
              </a:spcAft>
              <a:buSzPts val="2400"/>
              <a:buChar char="●"/>
            </a:pPr>
            <a:r>
              <a:rPr lang="en-GB"/>
              <a:t>Mô tả ràng buộc với OCL</a:t>
            </a:r>
            <a:endParaRPr/>
          </a:p>
          <a:p>
            <a:pPr indent="-381000" lvl="0" marL="457200" rtl="0" algn="l">
              <a:spcBef>
                <a:spcPts val="0"/>
              </a:spcBef>
              <a:spcAft>
                <a:spcPts val="0"/>
              </a:spcAft>
              <a:buSzPts val="2400"/>
              <a:buChar char="●"/>
            </a:pPr>
            <a:r>
              <a:rPr lang="en-GB"/>
              <a:t>Đặc tả lớp với thẻ CRC</a:t>
            </a:r>
            <a:endParaRPr/>
          </a:p>
          <a:p>
            <a:pPr indent="-381000" lvl="0" marL="457200" rtl="0" algn="l">
              <a:spcBef>
                <a:spcPts val="0"/>
              </a:spcBef>
              <a:spcAft>
                <a:spcPts val="0"/>
              </a:spcAft>
              <a:buSzPts val="2400"/>
              <a:buChar char="●"/>
            </a:pPr>
            <a:r>
              <a:rPr lang="en-GB"/>
              <a:t>Mẫu phân tích</a:t>
            </a:r>
            <a:endParaRPr/>
          </a:p>
          <a:p>
            <a:pPr indent="-381000" lvl="0" marL="457200" rtl="0" algn="l">
              <a:spcBef>
                <a:spcPts val="0"/>
              </a:spcBef>
              <a:spcAft>
                <a:spcPts val="0"/>
              </a:spcAft>
              <a:buSzPts val="2400"/>
              <a:buChar char="●"/>
            </a:pPr>
            <a:r>
              <a:rPr lang="en-GB"/>
              <a:t>Bài tập</a:t>
            </a:r>
            <a:endParaRPr/>
          </a:p>
        </p:txBody>
      </p:sp>
      <p:sp>
        <p:nvSpPr>
          <p:cNvPr id="122" name="Google Shape;122;p2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3" name="Google Shape;123;p28"/>
          <p:cNvSpPr/>
          <p:nvPr/>
        </p:nvSpPr>
        <p:spPr>
          <a:xfrm>
            <a:off x="366525" y="800208"/>
            <a:ext cx="53148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9"/>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a:t>Lĩnh</a:t>
            </a:r>
            <a:r>
              <a:rPr lang="en-GB"/>
              <a:t> vực vấn đề</a:t>
            </a:r>
            <a:endParaRPr/>
          </a:p>
        </p:txBody>
      </p:sp>
      <p:sp>
        <p:nvSpPr>
          <p:cNvPr id="129" name="Google Shape;129;p29"/>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Lĩnh vực vấn đề </a:t>
            </a:r>
            <a:r>
              <a:rPr i="1" lang="en-GB"/>
              <a:t>(</a:t>
            </a:r>
            <a:r>
              <a:rPr i="1" lang="en-GB"/>
              <a:t>Problem domain</a:t>
            </a:r>
            <a:r>
              <a:rPr i="1" lang="en-GB" sz="2200"/>
              <a:t>) - </a:t>
            </a:r>
            <a:r>
              <a:rPr lang="en-GB"/>
              <a:t>Vùng nhu cầu nghiệp vụ của người dùng trong</a:t>
            </a:r>
            <a:r>
              <a:rPr lang="en-GB"/>
              <a:t> phạm vi hệ thống</a:t>
            </a:r>
            <a:endParaRPr/>
          </a:p>
          <a:p>
            <a:pPr indent="-368300" lvl="1" marL="914400" rtl="0" algn="just">
              <a:spcBef>
                <a:spcPts val="0"/>
              </a:spcBef>
              <a:spcAft>
                <a:spcPts val="0"/>
              </a:spcAft>
              <a:buSzPts val="2200"/>
              <a:buChar char="○"/>
            </a:pPr>
            <a:r>
              <a:rPr lang="en-GB"/>
              <a:t>Bao gồm tất cả thông tin, các thứ như hóa đơn, sản phẩm v.v.. </a:t>
            </a:r>
            <a:endParaRPr/>
          </a:p>
          <a:p>
            <a:pPr indent="-368300" lvl="1" marL="914400" rtl="0" algn="just">
              <a:spcBef>
                <a:spcPts val="0"/>
              </a:spcBef>
              <a:spcAft>
                <a:spcPts val="0"/>
              </a:spcAft>
              <a:buSzPts val="2200"/>
              <a:buChar char="○"/>
            </a:pPr>
            <a:r>
              <a:rPr lang="en-GB"/>
              <a:t>.. người dùng gặp khi tác nghiệp.</a:t>
            </a:r>
            <a:endParaRPr sz="2200"/>
          </a:p>
        </p:txBody>
      </p:sp>
      <p:sp>
        <p:nvSpPr>
          <p:cNvPr id="130" name="Google Shape;130;p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0"/>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a:t>Lớp lĩnh vực</a:t>
            </a:r>
            <a:endParaRPr/>
          </a:p>
        </p:txBody>
      </p:sp>
      <p:sp>
        <p:nvSpPr>
          <p:cNvPr id="136" name="Google Shape;136;p30"/>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Lớp lĩnh vực </a:t>
            </a:r>
            <a:r>
              <a:rPr i="1" lang="en-GB"/>
              <a:t>(domain class) </a:t>
            </a:r>
            <a:r>
              <a:rPr lang="en-GB"/>
              <a:t>mô tả các đối tượng của lĩnh vực vấn đề, các thứ mà người dùng gặp khi thực hiện các hoạt động nghiệp vụ</a:t>
            </a:r>
            <a:endParaRPr/>
          </a:p>
          <a:p>
            <a:pPr indent="-368300" lvl="1" marL="914400" rtl="0" algn="just">
              <a:spcBef>
                <a:spcPts val="0"/>
              </a:spcBef>
              <a:spcAft>
                <a:spcPts val="0"/>
              </a:spcAft>
              <a:buSzPts val="2200"/>
              <a:buChar char="○"/>
            </a:pPr>
            <a:r>
              <a:rPr lang="en-GB"/>
              <a:t>Ví dụ trong nghiệp vụ bán hàng: sản phẩm, hóa đơn, thông tin khách hàng, khoản thanh toán, v.v.</a:t>
            </a:r>
            <a:endParaRPr/>
          </a:p>
          <a:p>
            <a:pPr indent="-342900" lvl="2" marL="1371600" rtl="0" algn="just">
              <a:spcBef>
                <a:spcPts val="0"/>
              </a:spcBef>
              <a:spcAft>
                <a:spcPts val="0"/>
              </a:spcAft>
              <a:buSzPts val="1800"/>
              <a:buChar char="■"/>
            </a:pPr>
            <a:r>
              <a:rPr i="1" lang="en-GB"/>
              <a:t>C</a:t>
            </a:r>
            <a:r>
              <a:rPr lang="en-GB"/>
              <a:t>ác thành phần giao diện đồ họa, các thành phần điều khiển không phải các lớp lĩnh vực.</a:t>
            </a:r>
            <a:endParaRPr/>
          </a:p>
          <a:p>
            <a:pPr indent="-368300" lvl="1" marL="914400" rtl="0" algn="just">
              <a:spcBef>
                <a:spcPts val="0"/>
              </a:spcBef>
              <a:spcAft>
                <a:spcPts val="0"/>
              </a:spcAft>
              <a:buSzPts val="2200"/>
              <a:buChar char="○"/>
            </a:pPr>
            <a:r>
              <a:rPr i="1" lang="en-GB"/>
              <a:t>Có khác biệt so với lớp trong ngôn ngữ lập trình. </a:t>
            </a:r>
            <a:endParaRPr/>
          </a:p>
          <a:p>
            <a:pPr indent="-368300" lvl="1" marL="914400" rtl="0" algn="just">
              <a:spcBef>
                <a:spcPts val="0"/>
              </a:spcBef>
              <a:spcAft>
                <a:spcPts val="0"/>
              </a:spcAft>
              <a:buSzPts val="2200"/>
              <a:buChar char="○"/>
            </a:pPr>
            <a:r>
              <a:rPr lang="en-GB"/>
              <a:t>Chứa các dữ liệu cần được ghi nhớ và xử lý bởi hệ thống</a:t>
            </a:r>
            <a:endParaRPr i="1"/>
          </a:p>
          <a:p>
            <a:pPr indent="-381000" lvl="0" marL="457200" rtl="0" algn="l">
              <a:spcBef>
                <a:spcPts val="0"/>
              </a:spcBef>
              <a:spcAft>
                <a:spcPts val="0"/>
              </a:spcAft>
              <a:buSzPts val="2400"/>
              <a:buChar char="●"/>
            </a:pPr>
            <a:r>
              <a:rPr i="1" lang="en-GB"/>
              <a:t>(Các lớp lĩnh vực hợp thành 1 tầng kiến trúc hệ thống)</a:t>
            </a:r>
            <a:endParaRPr i="1"/>
          </a:p>
          <a:p>
            <a:pPr indent="0" lvl="0" marL="0" rtl="0" algn="ctr">
              <a:spcBef>
                <a:spcPts val="1000"/>
              </a:spcBef>
              <a:spcAft>
                <a:spcPts val="0"/>
              </a:spcAft>
              <a:buNone/>
            </a:pPr>
            <a:r>
              <a:t/>
            </a:r>
            <a:endParaRPr i="1">
              <a:solidFill>
                <a:srgbClr val="1155CC"/>
              </a:solidFill>
            </a:endParaRPr>
          </a:p>
          <a:p>
            <a:pPr indent="0" lvl="0" marL="0" rtl="0" algn="ctr">
              <a:spcBef>
                <a:spcPts val="1000"/>
              </a:spcBef>
              <a:spcAft>
                <a:spcPts val="0"/>
              </a:spcAft>
              <a:buNone/>
            </a:pPr>
            <a:r>
              <a:rPr i="1" lang="en-GB" sz="2800">
                <a:solidFill>
                  <a:srgbClr val="1155CC"/>
                </a:solidFill>
              </a:rPr>
              <a:t>Làm sao để xác định các lớp lĩnh vực?</a:t>
            </a:r>
            <a:endParaRPr i="1" sz="2800">
              <a:solidFill>
                <a:srgbClr val="1155CC"/>
              </a:solidFill>
            </a:endParaRPr>
          </a:p>
        </p:txBody>
      </p:sp>
      <p:sp>
        <p:nvSpPr>
          <p:cNvPr id="137" name="Google Shape;137;p3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1"/>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bài toán</a:t>
            </a:r>
            <a:endParaRPr baseline="-25000"/>
          </a:p>
        </p:txBody>
      </p:sp>
      <p:sp>
        <p:nvSpPr>
          <p:cNvPr id="143" name="Google Shape;143;p31"/>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Xác định các thành phần dữ liệu cần lưu trữ?</a:t>
            </a:r>
            <a:endParaRPr/>
          </a:p>
          <a:p>
            <a:pPr indent="-381000" lvl="0" marL="457200" rtl="0" algn="just">
              <a:spcBef>
                <a:spcPts val="0"/>
              </a:spcBef>
              <a:spcAft>
                <a:spcPts val="0"/>
              </a:spcAft>
              <a:buSzPts val="2400"/>
              <a:buChar char="●"/>
            </a:pPr>
            <a:r>
              <a:rPr lang="en-GB"/>
              <a:t>Kết hợp các thành phần và xác định các đối tượng?</a:t>
            </a:r>
            <a:endParaRPr/>
          </a:p>
          <a:p>
            <a:pPr indent="-381000" lvl="0" marL="457200" rtl="0" algn="just">
              <a:spcBef>
                <a:spcPts val="0"/>
              </a:spcBef>
              <a:spcAft>
                <a:spcPts val="0"/>
              </a:spcAft>
              <a:buSzPts val="2400"/>
              <a:buChar char="●"/>
            </a:pPr>
            <a:r>
              <a:rPr lang="en-GB"/>
              <a:t>Xác định các thuộc tính và các lớp lĩnh vực?</a:t>
            </a:r>
            <a:endParaRPr/>
          </a:p>
          <a:p>
            <a:pPr indent="-381000" lvl="0" marL="457200" rtl="0" algn="just">
              <a:spcBef>
                <a:spcPts val="0"/>
              </a:spcBef>
              <a:spcAft>
                <a:spcPts val="0"/>
              </a:spcAft>
              <a:buSzPts val="2400"/>
              <a:buChar char="●"/>
            </a:pPr>
            <a:r>
              <a:rPr lang="en-GB"/>
              <a:t>Xác định các mối quan hệ giữa các đối tượng?</a:t>
            </a:r>
            <a:endParaRPr/>
          </a:p>
          <a:p>
            <a:pPr indent="-381000" lvl="0" marL="457200" rtl="0" algn="just">
              <a:spcBef>
                <a:spcPts val="0"/>
              </a:spcBef>
              <a:spcAft>
                <a:spcPts val="0"/>
              </a:spcAft>
              <a:buSzPts val="2400"/>
              <a:buChar char="●"/>
            </a:pPr>
            <a:r>
              <a:rPr lang="en-GB"/>
              <a:t>===&gt;Xây dựng mô hình cấu trúc?</a:t>
            </a:r>
            <a:endParaRPr/>
          </a:p>
        </p:txBody>
      </p:sp>
      <p:sp>
        <p:nvSpPr>
          <p:cNvPr id="144" name="Google Shape;144;p3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2"/>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150" name="Google Shape;150;p32"/>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Các khái niệm</a:t>
            </a:r>
            <a:endParaRPr/>
          </a:p>
          <a:p>
            <a:pPr indent="-381000" lvl="0" marL="457200" rtl="0" algn="l">
              <a:spcBef>
                <a:spcPts val="0"/>
              </a:spcBef>
              <a:spcAft>
                <a:spcPts val="0"/>
              </a:spcAft>
              <a:buSzPts val="2400"/>
              <a:buChar char="●"/>
            </a:pPr>
            <a:r>
              <a:rPr lang="en-GB"/>
              <a:t>Các kỹ thuật</a:t>
            </a:r>
            <a:endParaRPr/>
          </a:p>
          <a:p>
            <a:pPr indent="-381000" lvl="0" marL="457200" rtl="0" algn="l">
              <a:spcBef>
                <a:spcPts val="0"/>
              </a:spcBef>
              <a:spcAft>
                <a:spcPts val="0"/>
              </a:spcAft>
              <a:buSzPts val="2400"/>
              <a:buChar char="●"/>
            </a:pPr>
            <a:r>
              <a:rPr lang="en-GB"/>
              <a:t>Các sơ đồ</a:t>
            </a:r>
            <a:endParaRPr/>
          </a:p>
          <a:p>
            <a:pPr indent="-381000" lvl="0" marL="457200" rtl="0" algn="l">
              <a:spcBef>
                <a:spcPts val="0"/>
              </a:spcBef>
              <a:spcAft>
                <a:spcPts val="0"/>
              </a:spcAft>
              <a:buSzPts val="2400"/>
              <a:buChar char="●"/>
            </a:pPr>
            <a:r>
              <a:rPr lang="en-GB"/>
              <a:t>Mô tả ràng buộc với OCL</a:t>
            </a:r>
            <a:endParaRPr/>
          </a:p>
          <a:p>
            <a:pPr indent="-381000" lvl="0" marL="457200" rtl="0" algn="l">
              <a:spcBef>
                <a:spcPts val="0"/>
              </a:spcBef>
              <a:spcAft>
                <a:spcPts val="0"/>
              </a:spcAft>
              <a:buSzPts val="2400"/>
              <a:buChar char="●"/>
            </a:pPr>
            <a:r>
              <a:rPr lang="en-GB"/>
              <a:t>Đặc tả lớp với thẻ CRC</a:t>
            </a:r>
            <a:endParaRPr/>
          </a:p>
          <a:p>
            <a:pPr indent="-381000" lvl="0" marL="457200" rtl="0" algn="l">
              <a:spcBef>
                <a:spcPts val="0"/>
              </a:spcBef>
              <a:spcAft>
                <a:spcPts val="0"/>
              </a:spcAft>
              <a:buSzPts val="2400"/>
              <a:buChar char="●"/>
            </a:pPr>
            <a:r>
              <a:rPr lang="en-GB"/>
              <a:t>Mẫu phân tích</a:t>
            </a:r>
            <a:endParaRPr/>
          </a:p>
          <a:p>
            <a:pPr indent="-381000" lvl="0" marL="457200" rtl="0" algn="l">
              <a:spcBef>
                <a:spcPts val="0"/>
              </a:spcBef>
              <a:spcAft>
                <a:spcPts val="0"/>
              </a:spcAft>
              <a:buSzPts val="2400"/>
              <a:buChar char="●"/>
            </a:pPr>
            <a:r>
              <a:rPr lang="en-GB"/>
              <a:t>Bài tập</a:t>
            </a:r>
            <a:endParaRPr/>
          </a:p>
        </p:txBody>
      </p:sp>
      <p:sp>
        <p:nvSpPr>
          <p:cNvPr id="151" name="Google Shape;151;p3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52" name="Google Shape;152;p32"/>
          <p:cNvSpPr/>
          <p:nvPr/>
        </p:nvSpPr>
        <p:spPr>
          <a:xfrm>
            <a:off x="366525" y="1221131"/>
            <a:ext cx="64743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3"/>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kỹ thuật</a:t>
            </a:r>
            <a:endParaRPr baseline="-25000"/>
          </a:p>
        </p:txBody>
      </p:sp>
      <p:sp>
        <p:nvSpPr>
          <p:cNvPr id="158" name="Google Shape;158;p33"/>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Kỹ thuật danh từ (Noun): </a:t>
            </a:r>
            <a:r>
              <a:rPr lang="en-GB"/>
              <a:t>Tìm, phân loại, và thiết lập danh sách danh từ có trong các nguồn như thảo luận hoặc tài liệu. S</a:t>
            </a:r>
            <a:r>
              <a:rPr lang="en-GB"/>
              <a:t>au đó </a:t>
            </a:r>
            <a:r>
              <a:rPr lang="en-GB"/>
              <a:t>phân tích và </a:t>
            </a:r>
            <a:r>
              <a:rPr lang="en-GB"/>
              <a:t>xác định </a:t>
            </a:r>
            <a:r>
              <a:rPr lang="en-GB"/>
              <a:t>các </a:t>
            </a:r>
            <a:r>
              <a:rPr lang="en-GB"/>
              <a:t>lớp lĩnh vực </a:t>
            </a:r>
            <a:r>
              <a:rPr lang="en-GB"/>
              <a:t>và</a:t>
            </a:r>
            <a:r>
              <a:rPr lang="en-GB"/>
              <a:t> thuộc tính, loại bỏ những thứ không cần ghi nhớ/chỉ giữ lại những thứ cần ghi nhớ.</a:t>
            </a:r>
            <a:endParaRPr/>
          </a:p>
          <a:p>
            <a:pPr indent="-381000" lvl="0" marL="457200" rtl="0" algn="just">
              <a:spcBef>
                <a:spcPts val="0"/>
              </a:spcBef>
              <a:spcAft>
                <a:spcPts val="0"/>
              </a:spcAft>
              <a:buSzPts val="2400"/>
              <a:buChar char="●"/>
            </a:pPr>
            <a:r>
              <a:rPr lang="en-GB"/>
              <a:t>Tổng hợp kiến thức (BrainStorming): Tất cả mọi người cùng tham gia đóng góp </a:t>
            </a:r>
            <a:r>
              <a:rPr lang="en-GB"/>
              <a:t>hiểu biết</a:t>
            </a:r>
            <a:r>
              <a:rPr lang="en-GB"/>
              <a:t>, biên soạn danh sách các mục dữ liệu quan trọng. </a:t>
            </a:r>
            <a:endParaRPr/>
          </a:p>
          <a:p>
            <a:pPr indent="-368300" lvl="1" marL="914400" rtl="0" algn="just">
              <a:spcBef>
                <a:spcPts val="0"/>
              </a:spcBef>
              <a:spcAft>
                <a:spcPts val="0"/>
              </a:spcAft>
              <a:buSzPts val="2200"/>
              <a:buChar char="○"/>
            </a:pPr>
            <a:r>
              <a:rPr lang="en-GB"/>
              <a:t>Thông tin có thể được tổng hợp và phân loại theo danh mục và được sử dụng làm cơ sở xác định các lớp lĩnh vực.</a:t>
            </a:r>
            <a:endParaRPr/>
          </a:p>
        </p:txBody>
      </p:sp>
      <p:sp>
        <p:nvSpPr>
          <p:cNvPr id="159" name="Google Shape;159;p3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4"/>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Kỹ thuật danh từ</a:t>
            </a:r>
            <a:endParaRPr/>
          </a:p>
        </p:txBody>
      </p:sp>
      <p:sp>
        <p:nvSpPr>
          <p:cNvPr id="165" name="Google Shape;165;p34"/>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Thường dẫn đến 1 danh sách dài với nhiều danh từ, bao gồm cả những thứ không cần lưu trong hệ thống.</a:t>
            </a:r>
            <a:endParaRPr/>
          </a:p>
          <a:p>
            <a:pPr indent="-368300" lvl="1" marL="914400" rtl="0" algn="l">
              <a:spcBef>
                <a:spcPts val="0"/>
              </a:spcBef>
              <a:spcAft>
                <a:spcPts val="0"/>
              </a:spcAft>
              <a:buSzPts val="2200"/>
              <a:buChar char="○"/>
            </a:pPr>
            <a:r>
              <a:rPr lang="en-GB"/>
              <a:t>Danh từ có thể là tên của thuộc tính, đối tượng, lớp và cả những thứ khác</a:t>
            </a:r>
            <a:endParaRPr/>
          </a:p>
          <a:p>
            <a:pPr indent="-381000" lvl="0" marL="457200" rtl="0" algn="l">
              <a:spcBef>
                <a:spcPts val="0"/>
              </a:spcBef>
              <a:spcAft>
                <a:spcPts val="0"/>
              </a:spcAft>
              <a:buSzPts val="2400"/>
              <a:buChar char="●"/>
            </a:pPr>
            <a:r>
              <a:rPr lang="en-GB"/>
              <a:t>Có thể đem lại kết quả ban đầu </a:t>
            </a:r>
            <a:r>
              <a:rPr lang="en-GB"/>
              <a:t>đáng kể</a:t>
            </a:r>
            <a:r>
              <a:rPr lang="en-GB"/>
              <a:t>, kết quả thu được có thể tiếp tục được mở rộng, ví dụ dựa trên kinh nghiệm, hiểu biết về lĩnh vực vấn đề.</a:t>
            </a:r>
            <a:endParaRPr/>
          </a:p>
        </p:txBody>
      </p:sp>
      <p:sp>
        <p:nvSpPr>
          <p:cNvPr id="166" name="Google Shape;166;p3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5"/>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bước áp dụng kỹ thuật danh từ</a:t>
            </a:r>
            <a:endParaRPr/>
          </a:p>
        </p:txBody>
      </p:sp>
      <p:sp>
        <p:nvSpPr>
          <p:cNvPr id="172" name="Google Shape;172;p35"/>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AutoNum type="arabicPeriod"/>
            </a:pPr>
            <a:r>
              <a:rPr lang="en-GB" sz="2400"/>
              <a:t>S</a:t>
            </a:r>
            <a:r>
              <a:rPr lang="en-GB" sz="2400"/>
              <a:t>ử dụng các mô hình chức năng (đặc tả ca sử dụng, </a:t>
            </a:r>
            <a:r>
              <a:rPr lang="en-GB"/>
              <a:t>sơ đồ</a:t>
            </a:r>
            <a:r>
              <a:rPr lang="en-GB" sz="2400"/>
              <a:t> ca sử dụng v.v.. ), và các tài liệu khác về hệ thống (bao gồm các thông tin nhập và xuất), xác định </a:t>
            </a:r>
            <a:r>
              <a:rPr lang="en-GB" sz="2400"/>
              <a:t>tất cả </a:t>
            </a:r>
            <a:r>
              <a:rPr lang="en-GB" sz="2400"/>
              <a:t>các danh từ và lập danh mục danh từ.</a:t>
            </a:r>
            <a:endParaRPr sz="2400"/>
          </a:p>
          <a:p>
            <a:pPr indent="-381000" lvl="0" marL="457200" rtl="0" algn="just">
              <a:spcBef>
                <a:spcPts val="0"/>
              </a:spcBef>
              <a:spcAft>
                <a:spcPts val="0"/>
              </a:spcAft>
              <a:buSzPts val="2400"/>
              <a:buAutoNum type="arabicPeriod"/>
            </a:pPr>
            <a:r>
              <a:rPr lang="en-GB" sz="2400"/>
              <a:t>Sử dụng các nguồn thông tin khác hiện có: Các biểu mẫu, các báo cáo hiện có v.v..</a:t>
            </a:r>
            <a:r>
              <a:rPr lang="en-GB"/>
              <a:t>,</a:t>
            </a:r>
            <a:r>
              <a:rPr lang="en-GB" sz="2400"/>
              <a:t> để mở rộng danh mục.</a:t>
            </a:r>
            <a:endParaRPr sz="2400"/>
          </a:p>
          <a:p>
            <a:pPr indent="-381000" lvl="0" marL="457200" rtl="0" algn="just">
              <a:spcBef>
                <a:spcPts val="0"/>
              </a:spcBef>
              <a:spcAft>
                <a:spcPts val="0"/>
              </a:spcAft>
              <a:buSzPts val="2400"/>
              <a:buAutoNum type="arabicPeriod"/>
            </a:pPr>
            <a:r>
              <a:rPr lang="en-GB" sz="2400"/>
              <a:t>Kiểm tra các danh từ đã tìm được.</a:t>
            </a:r>
            <a:endParaRPr sz="2400"/>
          </a:p>
          <a:p>
            <a:pPr indent="-381000" lvl="0" marL="457200" rtl="0" algn="just">
              <a:spcBef>
                <a:spcPts val="0"/>
              </a:spcBef>
              <a:spcAft>
                <a:spcPts val="0"/>
              </a:spcAft>
              <a:buSzPts val="2400"/>
              <a:buAutoNum type="arabicPeriod"/>
            </a:pPr>
            <a:r>
              <a:rPr lang="en-GB" sz="2400"/>
              <a:t>Kiểm tra danh mục và ghi chú phân loại từng danh từ cần được thêm vào, có thể </a:t>
            </a:r>
            <a:r>
              <a:rPr lang="en-GB"/>
              <a:t>giữ, </a:t>
            </a:r>
            <a:r>
              <a:rPr lang="en-GB" sz="2400"/>
              <a:t>loại bỏ hoặc </a:t>
            </a:r>
            <a:r>
              <a:rPr lang="en-GB"/>
              <a:t>cân nhắc thêm</a:t>
            </a:r>
            <a:r>
              <a:rPr lang="en-GB" sz="2400"/>
              <a:t> v.v..</a:t>
            </a:r>
            <a:endParaRPr sz="2400"/>
          </a:p>
          <a:p>
            <a:pPr indent="-381000" lvl="0" marL="457200" rtl="0" algn="just">
              <a:spcBef>
                <a:spcPts val="0"/>
              </a:spcBef>
              <a:spcAft>
                <a:spcPts val="0"/>
              </a:spcAft>
              <a:buSzPts val="2400"/>
              <a:buAutoNum type="arabicPeriod"/>
            </a:pPr>
            <a:r>
              <a:rPr lang="en-GB" sz="2400"/>
              <a:t>Cùng kiểm tra danh sách với người dùng, các bên liên quan, và các thành viên thực hiện dự án và sau đó lập danh sách các thứ trong lĩnh vực nghiệp vụ.</a:t>
            </a:r>
            <a:endParaRPr sz="2400"/>
          </a:p>
        </p:txBody>
      </p:sp>
      <p:sp>
        <p:nvSpPr>
          <p:cNvPr id="173" name="Google Shape;173;p3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6"/>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Các câu hỏi có thể được sử dụng để thực hiện bước 3</a:t>
            </a:r>
            <a:endParaRPr i="1"/>
          </a:p>
          <a:p>
            <a:pPr indent="-381000" lvl="0" marL="457200" rtl="0" algn="l">
              <a:spcBef>
                <a:spcPts val="0"/>
              </a:spcBef>
              <a:spcAft>
                <a:spcPts val="0"/>
              </a:spcAft>
              <a:buSzPts val="2400"/>
              <a:buChar char="●"/>
            </a:pPr>
            <a:r>
              <a:rPr lang="en-GB"/>
              <a:t>Đ</a:t>
            </a:r>
            <a:r>
              <a:rPr lang="en-GB"/>
              <a:t>ể quyết định giữ 1 danh từ </a:t>
            </a:r>
            <a:endParaRPr/>
          </a:p>
          <a:p>
            <a:pPr indent="-368300" lvl="1" marL="914400" rtl="0" algn="l">
              <a:spcBef>
                <a:spcPts val="0"/>
              </a:spcBef>
              <a:spcAft>
                <a:spcPts val="0"/>
              </a:spcAft>
              <a:buSzPts val="2200"/>
              <a:buChar char="○"/>
            </a:pPr>
            <a:r>
              <a:rPr lang="en-GB"/>
              <a:t>Nó có nằm trong phạm vi của hệ thống đang được phát triển?</a:t>
            </a:r>
            <a:endParaRPr/>
          </a:p>
          <a:p>
            <a:pPr indent="-368300" lvl="1" marL="914400" rtl="0" algn="l">
              <a:spcBef>
                <a:spcPts val="0"/>
              </a:spcBef>
              <a:spcAft>
                <a:spcPts val="0"/>
              </a:spcAft>
              <a:buSzPts val="2200"/>
              <a:buChar char="○"/>
            </a:pPr>
            <a:r>
              <a:rPr lang="en-GB"/>
              <a:t>Hệ thống có cần ghi nhớ nhiều hơn 1 thứ tương tự?</a:t>
            </a:r>
            <a:endParaRPr/>
          </a:p>
          <a:p>
            <a:pPr indent="-381000" lvl="0" marL="457200" rtl="0" algn="l">
              <a:spcBef>
                <a:spcPts val="0"/>
              </a:spcBef>
              <a:spcAft>
                <a:spcPts val="0"/>
              </a:spcAft>
              <a:buSzPts val="2400"/>
              <a:buChar char="●"/>
            </a:pPr>
            <a:r>
              <a:rPr lang="en-GB"/>
              <a:t>Để quyết định loại 1 danh từ </a:t>
            </a:r>
            <a:endParaRPr/>
          </a:p>
          <a:p>
            <a:pPr indent="-368300" lvl="1" marL="914400" rtl="0" algn="l">
              <a:spcBef>
                <a:spcPts val="0"/>
              </a:spcBef>
              <a:spcAft>
                <a:spcPts val="0"/>
              </a:spcAft>
              <a:buSzPts val="2200"/>
              <a:buChar char="○"/>
            </a:pPr>
            <a:r>
              <a:rPr lang="en-GB"/>
              <a:t>Nó có phải 1 từ đồng nghĩa với 1 thứ khác đã </a:t>
            </a:r>
            <a:r>
              <a:rPr lang="en-GB"/>
              <a:t>được </a:t>
            </a:r>
            <a:r>
              <a:rPr lang="en-GB"/>
              <a:t>xác định?</a:t>
            </a:r>
            <a:endParaRPr/>
          </a:p>
          <a:p>
            <a:pPr indent="-368300" lvl="1" marL="914400" rtl="0" algn="l">
              <a:spcBef>
                <a:spcPts val="0"/>
              </a:spcBef>
              <a:spcAft>
                <a:spcPts val="0"/>
              </a:spcAft>
              <a:buSzPts val="2200"/>
              <a:buChar char="○"/>
            </a:pPr>
            <a:r>
              <a:rPr lang="en-GB"/>
              <a:t>Chỉ là đầu ra của 1 tiến trình xử lý dựa trên những dữ liệu khác đã được xác định?</a:t>
            </a:r>
            <a:endParaRPr/>
          </a:p>
          <a:p>
            <a:pPr indent="-381000" lvl="0" marL="457200" rtl="0" algn="l">
              <a:spcBef>
                <a:spcPts val="0"/>
              </a:spcBef>
              <a:spcAft>
                <a:spcPts val="0"/>
              </a:spcAft>
              <a:buSzPts val="2400"/>
              <a:buChar char="●"/>
            </a:pPr>
            <a:r>
              <a:rPr lang="en-GB"/>
              <a:t>Để xác định thuộc tính và đối tượng</a:t>
            </a:r>
            <a:endParaRPr/>
          </a:p>
          <a:p>
            <a:pPr indent="-368300" lvl="1" marL="914400" rtl="0" algn="l">
              <a:spcBef>
                <a:spcPts val="0"/>
              </a:spcBef>
              <a:spcAft>
                <a:spcPts val="0"/>
              </a:spcAft>
              <a:buSzPts val="2200"/>
              <a:buChar char="○"/>
            </a:pPr>
            <a:r>
              <a:rPr lang="en-GB"/>
              <a:t>Nó có phải thành phần của thứ </a:t>
            </a:r>
            <a:r>
              <a:rPr lang="en-GB"/>
              <a:t>khác </a:t>
            </a:r>
            <a:r>
              <a:rPr lang="en-GB"/>
              <a:t>đã được xác định?</a:t>
            </a:r>
            <a:endParaRPr/>
          </a:p>
          <a:p>
            <a:pPr indent="-368300" lvl="1" marL="914400" rtl="0" algn="l">
              <a:spcBef>
                <a:spcPts val="0"/>
              </a:spcBef>
              <a:spcAft>
                <a:spcPts val="0"/>
              </a:spcAft>
              <a:buSzPts val="2200"/>
              <a:buChar char="○"/>
            </a:pPr>
            <a:r>
              <a:rPr lang="en-GB"/>
              <a:t>Nó có phải thứ người dùng cần để ghi nhận các biến đổi khi tác nghiệp?</a:t>
            </a:r>
            <a:endParaRPr/>
          </a:p>
        </p:txBody>
      </p:sp>
      <p:sp>
        <p:nvSpPr>
          <p:cNvPr id="179" name="Google Shape;179;p36"/>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Một số câu hỏi hỗ trợ phân loại danh từ</a:t>
            </a:r>
            <a:endParaRPr baseline="-25000"/>
          </a:p>
        </p:txBody>
      </p:sp>
      <p:sp>
        <p:nvSpPr>
          <p:cNvPr id="180" name="Google Shape;180;p3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86" name="Google Shape;186;p37"/>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3.1. Các danh từ</a:t>
            </a:r>
            <a:endParaRPr/>
          </a:p>
        </p:txBody>
      </p:sp>
      <p:graphicFrame>
        <p:nvGraphicFramePr>
          <p:cNvPr id="187" name="Google Shape;187;p37"/>
          <p:cNvGraphicFramePr/>
          <p:nvPr/>
        </p:nvGraphicFramePr>
        <p:xfrm>
          <a:off x="471875" y="975875"/>
          <a:ext cx="3000000" cy="3000000"/>
        </p:xfrm>
        <a:graphic>
          <a:graphicData uri="http://schemas.openxmlformats.org/drawingml/2006/table">
            <a:tbl>
              <a:tblPr>
                <a:noFill/>
                <a:tableStyleId>{916E7964-577C-4660-9F6A-7138A95530C7}</a:tableStyleId>
              </a:tblPr>
              <a:tblGrid>
                <a:gridCol w="4214675"/>
                <a:gridCol w="3226575"/>
              </a:tblGrid>
              <a:tr h="243100">
                <a:tc>
                  <a:txBody>
                    <a:bodyPr/>
                    <a:lstStyle/>
                    <a:p>
                      <a:pPr indent="0" lvl="0" marL="0" rtl="0" algn="l">
                        <a:spcBef>
                          <a:spcPts val="0"/>
                        </a:spcBef>
                        <a:spcAft>
                          <a:spcPts val="0"/>
                        </a:spcAft>
                        <a:buNone/>
                      </a:pPr>
                      <a:r>
                        <a:rPr b="1" lang="en-GB" sz="2000">
                          <a:latin typeface="Times New Roman"/>
                          <a:ea typeface="Times New Roman"/>
                          <a:cs typeface="Times New Roman"/>
                          <a:sym typeface="Times New Roman"/>
                        </a:rPr>
                        <a:t>Các danh từ đã được phát hiện</a:t>
                      </a:r>
                      <a:endParaRPr b="1" sz="2000">
                        <a:latin typeface="Times New Roman"/>
                        <a:ea typeface="Times New Roman"/>
                        <a:cs typeface="Times New Roman"/>
                        <a:sym typeface="Times New Roman"/>
                      </a:endParaRPr>
                    </a:p>
                  </a:txBody>
                  <a:tcPr marT="18000" marB="18000" marR="91425" marL="91425"/>
                </a:tc>
                <a:tc>
                  <a:txBody>
                    <a:bodyPr/>
                    <a:lstStyle/>
                    <a:p>
                      <a:pPr indent="0" lvl="0" marL="0" rtl="0" algn="l">
                        <a:spcBef>
                          <a:spcPts val="0"/>
                        </a:spcBef>
                        <a:spcAft>
                          <a:spcPts val="0"/>
                        </a:spcAft>
                        <a:buNone/>
                      </a:pPr>
                      <a:r>
                        <a:rPr b="1" lang="en-GB" sz="2000">
                          <a:latin typeface="Times New Roman"/>
                          <a:ea typeface="Times New Roman"/>
                          <a:cs typeface="Times New Roman"/>
                          <a:sym typeface="Times New Roman"/>
                        </a:rPr>
                        <a:t>Ghi chú</a:t>
                      </a:r>
                      <a:endParaRPr b="1" sz="2000">
                        <a:latin typeface="Times New Roman"/>
                        <a:ea typeface="Times New Roman"/>
                        <a:cs typeface="Times New Roman"/>
                        <a:sym typeface="Times New Roman"/>
                      </a:endParaRPr>
                    </a:p>
                  </a:txBody>
                  <a:tcPr marT="18000" marB="18000" marR="91425" marL="91425"/>
                </a:tc>
              </a:tr>
              <a:tr h="243100">
                <a:tc>
                  <a:txBody>
                    <a:bodyPr/>
                    <a:lstStyle/>
                    <a:p>
                      <a:pPr indent="0" lvl="0" marL="0" rtl="0" algn="l">
                        <a:spcBef>
                          <a:spcPts val="0"/>
                        </a:spcBef>
                        <a:spcAft>
                          <a:spcPts val="0"/>
                        </a:spcAft>
                        <a:buNone/>
                      </a:pPr>
                      <a:r>
                        <a:rPr lang="en-GB" sz="2000">
                          <a:solidFill>
                            <a:srgbClr val="666666"/>
                          </a:solidFill>
                          <a:latin typeface="Times New Roman"/>
                          <a:ea typeface="Times New Roman"/>
                          <a:cs typeface="Times New Roman"/>
                          <a:sym typeface="Times New Roman"/>
                        </a:rPr>
                        <a:t>Khoản thanh toán</a:t>
                      </a:r>
                      <a:endParaRPr sz="2000">
                        <a:solidFill>
                          <a:srgbClr val="666666"/>
                        </a:solidFill>
                        <a:latin typeface="Times New Roman"/>
                        <a:ea typeface="Times New Roman"/>
                        <a:cs typeface="Times New Roman"/>
                        <a:sym typeface="Times New Roman"/>
                      </a:endParaRPr>
                    </a:p>
                  </a:txBody>
                  <a:tcPr marT="18000" marB="18000" marR="91425" marL="91425"/>
                </a:tc>
                <a:tc>
                  <a:txBody>
                    <a:bodyPr/>
                    <a:lstStyle/>
                    <a:p>
                      <a:pPr indent="0" lvl="0" marL="0" rtl="0" algn="l">
                        <a:spcBef>
                          <a:spcPts val="0"/>
                        </a:spcBef>
                        <a:spcAft>
                          <a:spcPts val="0"/>
                        </a:spcAft>
                        <a:buNone/>
                      </a:pPr>
                      <a:r>
                        <a:t/>
                      </a:r>
                      <a:endParaRPr sz="2000">
                        <a:solidFill>
                          <a:srgbClr val="B45F06"/>
                        </a:solidFill>
                        <a:latin typeface="Times New Roman"/>
                        <a:ea typeface="Times New Roman"/>
                        <a:cs typeface="Times New Roman"/>
                        <a:sym typeface="Times New Roman"/>
                      </a:endParaRPr>
                    </a:p>
                  </a:txBody>
                  <a:tcPr marT="18000" marB="18000" marR="91425" marL="91425"/>
                </a:tc>
              </a:tr>
              <a:tr h="243100">
                <a:tc>
                  <a:txBody>
                    <a:bodyPr/>
                    <a:lstStyle/>
                    <a:p>
                      <a:pPr indent="0" lvl="0" marL="0" rtl="0" algn="l">
                        <a:spcBef>
                          <a:spcPts val="0"/>
                        </a:spcBef>
                        <a:spcAft>
                          <a:spcPts val="0"/>
                        </a:spcAft>
                        <a:buNone/>
                      </a:pPr>
                      <a:r>
                        <a:rPr lang="en-GB" sz="2000">
                          <a:solidFill>
                            <a:srgbClr val="666666"/>
                          </a:solidFill>
                          <a:latin typeface="Times New Roman"/>
                          <a:ea typeface="Times New Roman"/>
                          <a:cs typeface="Times New Roman"/>
                          <a:sym typeface="Times New Roman"/>
                        </a:rPr>
                        <a:t>Đơn hàng</a:t>
                      </a:r>
                      <a:endParaRPr sz="2000">
                        <a:solidFill>
                          <a:srgbClr val="666666"/>
                        </a:solidFill>
                        <a:latin typeface="Times New Roman"/>
                        <a:ea typeface="Times New Roman"/>
                        <a:cs typeface="Times New Roman"/>
                        <a:sym typeface="Times New Roman"/>
                      </a:endParaRPr>
                    </a:p>
                  </a:txBody>
                  <a:tcPr marT="18000" marB="18000" marR="91425" marL="91425"/>
                </a:tc>
                <a:tc>
                  <a:txBody>
                    <a:bodyPr/>
                    <a:lstStyle/>
                    <a:p>
                      <a:pPr indent="0" lvl="0" marL="0" rtl="0" algn="l">
                        <a:spcBef>
                          <a:spcPts val="0"/>
                        </a:spcBef>
                        <a:spcAft>
                          <a:spcPts val="0"/>
                        </a:spcAft>
                        <a:buNone/>
                      </a:pPr>
                      <a:r>
                        <a:t/>
                      </a:r>
                      <a:endParaRPr sz="2000">
                        <a:latin typeface="Times New Roman"/>
                        <a:ea typeface="Times New Roman"/>
                        <a:cs typeface="Times New Roman"/>
                        <a:sym typeface="Times New Roman"/>
                      </a:endParaRPr>
                    </a:p>
                  </a:txBody>
                  <a:tcPr marT="18000" marB="18000" marR="91425" marL="91425"/>
                </a:tc>
              </a:tr>
              <a:tr h="243100">
                <a:tc>
                  <a:txBody>
                    <a:bodyPr/>
                    <a:lstStyle/>
                    <a:p>
                      <a:pPr indent="0" lvl="0" marL="0" rtl="0" algn="l">
                        <a:spcBef>
                          <a:spcPts val="0"/>
                        </a:spcBef>
                        <a:spcAft>
                          <a:spcPts val="0"/>
                        </a:spcAft>
                        <a:buNone/>
                      </a:pPr>
                      <a:r>
                        <a:rPr lang="en-GB" sz="2000">
                          <a:solidFill>
                            <a:srgbClr val="666666"/>
                          </a:solidFill>
                          <a:latin typeface="Times New Roman"/>
                          <a:ea typeface="Times New Roman"/>
                          <a:cs typeface="Times New Roman"/>
                          <a:sym typeface="Times New Roman"/>
                        </a:rPr>
                        <a:t>Ngân hàng</a:t>
                      </a:r>
                      <a:endParaRPr sz="2000">
                        <a:solidFill>
                          <a:srgbClr val="666666"/>
                        </a:solidFill>
                        <a:latin typeface="Times New Roman"/>
                        <a:ea typeface="Times New Roman"/>
                        <a:cs typeface="Times New Roman"/>
                        <a:sym typeface="Times New Roman"/>
                      </a:endParaRPr>
                    </a:p>
                  </a:txBody>
                  <a:tcPr marT="18000" marB="18000" marR="91425" marL="91425"/>
                </a:tc>
                <a:tc>
                  <a:txBody>
                    <a:bodyPr/>
                    <a:lstStyle/>
                    <a:p>
                      <a:pPr indent="0" lvl="0" marL="0" rtl="0" algn="l">
                        <a:spcBef>
                          <a:spcPts val="0"/>
                        </a:spcBef>
                        <a:spcAft>
                          <a:spcPts val="0"/>
                        </a:spcAft>
                        <a:buClr>
                          <a:schemeClr val="dk1"/>
                        </a:buClr>
                        <a:buSzPts val="1100"/>
                        <a:buFont typeface="Arial"/>
                        <a:buNone/>
                      </a:pPr>
                      <a:r>
                        <a:rPr lang="en-GB" sz="2000">
                          <a:solidFill>
                            <a:srgbClr val="B45F06"/>
                          </a:solidFill>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txBody>
                  <a:tcPr marT="18000" marB="18000" marR="91425" marL="91425"/>
                </a:tc>
              </a:tr>
              <a:tr h="243100">
                <a:tc>
                  <a:txBody>
                    <a:bodyPr/>
                    <a:lstStyle/>
                    <a:p>
                      <a:pPr indent="0" lvl="0" marL="0" rtl="0" algn="l">
                        <a:spcBef>
                          <a:spcPts val="0"/>
                        </a:spcBef>
                        <a:spcAft>
                          <a:spcPts val="0"/>
                        </a:spcAft>
                        <a:buNone/>
                      </a:pPr>
                      <a:r>
                        <a:rPr lang="en-GB" sz="2000">
                          <a:solidFill>
                            <a:srgbClr val="666666"/>
                          </a:solidFill>
                          <a:latin typeface="Times New Roman"/>
                          <a:ea typeface="Times New Roman"/>
                          <a:cs typeface="Times New Roman"/>
                          <a:sym typeface="Times New Roman"/>
                        </a:rPr>
                        <a:t>Danh mục</a:t>
                      </a:r>
                      <a:endParaRPr sz="2000">
                        <a:solidFill>
                          <a:srgbClr val="666666"/>
                        </a:solidFill>
                        <a:latin typeface="Times New Roman"/>
                        <a:ea typeface="Times New Roman"/>
                        <a:cs typeface="Times New Roman"/>
                        <a:sym typeface="Times New Roman"/>
                      </a:endParaRPr>
                    </a:p>
                  </a:txBody>
                  <a:tcPr marT="18000" marB="18000" marR="91425" marL="91425"/>
                </a:tc>
                <a:tc>
                  <a:txBody>
                    <a:bodyPr/>
                    <a:lstStyle/>
                    <a:p>
                      <a:pPr indent="0" lvl="0" marL="0" rtl="0" algn="l">
                        <a:spcBef>
                          <a:spcPts val="0"/>
                        </a:spcBef>
                        <a:spcAft>
                          <a:spcPts val="0"/>
                        </a:spcAft>
                        <a:buNone/>
                      </a:pPr>
                      <a:r>
                        <a:t/>
                      </a:r>
                      <a:endParaRPr sz="2000">
                        <a:latin typeface="Times New Roman"/>
                        <a:ea typeface="Times New Roman"/>
                        <a:cs typeface="Times New Roman"/>
                        <a:sym typeface="Times New Roman"/>
                      </a:endParaRPr>
                    </a:p>
                  </a:txBody>
                  <a:tcPr marT="18000" marB="18000" marR="91425" marL="91425"/>
                </a:tc>
              </a:tr>
              <a:tr h="243100">
                <a:tc>
                  <a:txBody>
                    <a:bodyPr/>
                    <a:lstStyle/>
                    <a:p>
                      <a:pPr indent="0" lvl="0" marL="0" rtl="0" algn="l">
                        <a:spcBef>
                          <a:spcPts val="0"/>
                        </a:spcBef>
                        <a:spcAft>
                          <a:spcPts val="0"/>
                        </a:spcAft>
                        <a:buNone/>
                      </a:pPr>
                      <a:r>
                        <a:rPr lang="en-GB" sz="2000">
                          <a:solidFill>
                            <a:srgbClr val="666666"/>
                          </a:solidFill>
                          <a:latin typeface="Times New Roman"/>
                          <a:ea typeface="Times New Roman"/>
                          <a:cs typeface="Times New Roman"/>
                          <a:sym typeface="Times New Roman"/>
                        </a:rPr>
                        <a:t>Sản phẩm</a:t>
                      </a:r>
                      <a:endParaRPr sz="2000">
                        <a:solidFill>
                          <a:srgbClr val="666666"/>
                        </a:solidFill>
                        <a:latin typeface="Times New Roman"/>
                        <a:ea typeface="Times New Roman"/>
                        <a:cs typeface="Times New Roman"/>
                        <a:sym typeface="Times New Roman"/>
                      </a:endParaRPr>
                    </a:p>
                  </a:txBody>
                  <a:tcPr marT="18000" marB="18000" marR="91425" marL="91425"/>
                </a:tc>
                <a:tc>
                  <a:txBody>
                    <a:bodyPr/>
                    <a:lstStyle/>
                    <a:p>
                      <a:pPr indent="0" lvl="0" marL="0" rtl="0" algn="l">
                        <a:spcBef>
                          <a:spcPts val="0"/>
                        </a:spcBef>
                        <a:spcAft>
                          <a:spcPts val="0"/>
                        </a:spcAft>
                        <a:buNone/>
                      </a:pPr>
                      <a:r>
                        <a:t/>
                      </a:r>
                      <a:endParaRPr sz="2000">
                        <a:latin typeface="Times New Roman"/>
                        <a:ea typeface="Times New Roman"/>
                        <a:cs typeface="Times New Roman"/>
                        <a:sym typeface="Times New Roman"/>
                      </a:endParaRPr>
                    </a:p>
                  </a:txBody>
                  <a:tcPr marT="18000" marB="18000" marR="91425" marL="91425"/>
                </a:tc>
              </a:tr>
              <a:tr h="243100">
                <a:tc>
                  <a:txBody>
                    <a:bodyPr/>
                    <a:lstStyle/>
                    <a:p>
                      <a:pPr indent="0" lvl="0" marL="0" rtl="0" algn="l">
                        <a:spcBef>
                          <a:spcPts val="0"/>
                        </a:spcBef>
                        <a:spcAft>
                          <a:spcPts val="0"/>
                        </a:spcAft>
                        <a:buNone/>
                      </a:pPr>
                      <a:r>
                        <a:rPr lang="en-GB" sz="2000">
                          <a:solidFill>
                            <a:srgbClr val="666666"/>
                          </a:solidFill>
                          <a:latin typeface="Times New Roman"/>
                          <a:ea typeface="Times New Roman"/>
                          <a:cs typeface="Times New Roman"/>
                          <a:sym typeface="Times New Roman"/>
                        </a:rPr>
                        <a:t>Yêu cầu hoàn trả</a:t>
                      </a:r>
                      <a:endParaRPr sz="2000">
                        <a:solidFill>
                          <a:srgbClr val="666666"/>
                        </a:solidFill>
                        <a:latin typeface="Times New Roman"/>
                        <a:ea typeface="Times New Roman"/>
                        <a:cs typeface="Times New Roman"/>
                        <a:sym typeface="Times New Roman"/>
                      </a:endParaRPr>
                    </a:p>
                  </a:txBody>
                  <a:tcPr marT="18000" marB="18000" marR="91425" marL="91425"/>
                </a:tc>
                <a:tc>
                  <a:txBody>
                    <a:bodyPr/>
                    <a:lstStyle/>
                    <a:p>
                      <a:pPr indent="0" lvl="0" marL="0" rtl="0" algn="l">
                        <a:spcBef>
                          <a:spcPts val="0"/>
                        </a:spcBef>
                        <a:spcAft>
                          <a:spcPts val="0"/>
                        </a:spcAft>
                        <a:buNone/>
                      </a:pPr>
                      <a:r>
                        <a:t/>
                      </a:r>
                      <a:endParaRPr sz="2000">
                        <a:latin typeface="Times New Roman"/>
                        <a:ea typeface="Times New Roman"/>
                        <a:cs typeface="Times New Roman"/>
                        <a:sym typeface="Times New Roman"/>
                      </a:endParaRPr>
                    </a:p>
                  </a:txBody>
                  <a:tcPr marT="18000" marB="18000" marR="91425" marL="91425"/>
                </a:tc>
              </a:tr>
              <a:tr h="243100">
                <a:tc>
                  <a:txBody>
                    <a:bodyPr/>
                    <a:lstStyle/>
                    <a:p>
                      <a:pPr indent="0" lvl="0" marL="0" rtl="0" algn="l">
                        <a:spcBef>
                          <a:spcPts val="0"/>
                        </a:spcBef>
                        <a:spcAft>
                          <a:spcPts val="0"/>
                        </a:spcAft>
                        <a:buNone/>
                      </a:pPr>
                      <a:r>
                        <a:rPr lang="en-GB" sz="2000">
                          <a:solidFill>
                            <a:srgbClr val="666666"/>
                          </a:solidFill>
                          <a:latin typeface="Times New Roman"/>
                          <a:ea typeface="Times New Roman"/>
                          <a:cs typeface="Times New Roman"/>
                          <a:sym typeface="Times New Roman"/>
                        </a:rPr>
                        <a:t>Giá bán</a:t>
                      </a:r>
                      <a:endParaRPr sz="2000">
                        <a:solidFill>
                          <a:srgbClr val="666666"/>
                        </a:solidFill>
                        <a:latin typeface="Times New Roman"/>
                        <a:ea typeface="Times New Roman"/>
                        <a:cs typeface="Times New Roman"/>
                        <a:sym typeface="Times New Roman"/>
                      </a:endParaRPr>
                    </a:p>
                  </a:txBody>
                  <a:tcPr marT="18000" marB="18000" marR="91425" marL="91425"/>
                </a:tc>
                <a:tc>
                  <a:txBody>
                    <a:bodyPr/>
                    <a:lstStyle/>
                    <a:p>
                      <a:pPr indent="0" lvl="0" marL="0" rtl="0" algn="l">
                        <a:spcBef>
                          <a:spcPts val="0"/>
                        </a:spcBef>
                        <a:spcAft>
                          <a:spcPts val="0"/>
                        </a:spcAft>
                        <a:buNone/>
                      </a:pPr>
                      <a:r>
                        <a:t/>
                      </a:r>
                      <a:endParaRPr sz="2000">
                        <a:latin typeface="Times New Roman"/>
                        <a:ea typeface="Times New Roman"/>
                        <a:cs typeface="Times New Roman"/>
                        <a:sym typeface="Times New Roman"/>
                      </a:endParaRPr>
                    </a:p>
                  </a:txBody>
                  <a:tcPr marT="18000" marB="18000" marR="91425" marL="91425"/>
                </a:tc>
              </a:tr>
              <a:tr h="243100">
                <a:tc>
                  <a:txBody>
                    <a:bodyPr/>
                    <a:lstStyle/>
                    <a:p>
                      <a:pPr indent="0" lvl="0" marL="0" rtl="0" algn="l">
                        <a:spcBef>
                          <a:spcPts val="0"/>
                        </a:spcBef>
                        <a:spcAft>
                          <a:spcPts val="0"/>
                        </a:spcAft>
                        <a:buNone/>
                      </a:pPr>
                      <a:r>
                        <a:rPr lang="en-GB" sz="2000">
                          <a:solidFill>
                            <a:srgbClr val="666666"/>
                          </a:solidFill>
                          <a:latin typeface="Times New Roman"/>
                          <a:ea typeface="Times New Roman"/>
                          <a:cs typeface="Times New Roman"/>
                          <a:sym typeface="Times New Roman"/>
                        </a:rPr>
                        <a:t>Thông tin xác nhận</a:t>
                      </a:r>
                      <a:endParaRPr sz="2000">
                        <a:solidFill>
                          <a:srgbClr val="666666"/>
                        </a:solidFill>
                        <a:latin typeface="Times New Roman"/>
                        <a:ea typeface="Times New Roman"/>
                        <a:cs typeface="Times New Roman"/>
                        <a:sym typeface="Times New Roman"/>
                      </a:endParaRPr>
                    </a:p>
                  </a:txBody>
                  <a:tcPr marT="18000" marB="18000" marR="91425" marL="91425"/>
                </a:tc>
                <a:tc>
                  <a:txBody>
                    <a:bodyPr/>
                    <a:lstStyle/>
                    <a:p>
                      <a:pPr indent="0" lvl="0" marL="0" rtl="0" algn="l">
                        <a:spcBef>
                          <a:spcPts val="0"/>
                        </a:spcBef>
                        <a:spcAft>
                          <a:spcPts val="0"/>
                        </a:spcAft>
                        <a:buNone/>
                      </a:pPr>
                      <a:r>
                        <a:t/>
                      </a:r>
                      <a:endParaRPr sz="2000">
                        <a:latin typeface="Times New Roman"/>
                        <a:ea typeface="Times New Roman"/>
                        <a:cs typeface="Times New Roman"/>
                        <a:sym typeface="Times New Roman"/>
                      </a:endParaRPr>
                    </a:p>
                  </a:txBody>
                  <a:tcPr marT="18000" marB="18000" marR="91425" marL="91425"/>
                </a:tc>
              </a:tr>
              <a:tr h="243100">
                <a:tc>
                  <a:txBody>
                    <a:bodyPr/>
                    <a:lstStyle/>
                    <a:p>
                      <a:pPr indent="0" lvl="0" marL="0" rtl="0" algn="l">
                        <a:spcBef>
                          <a:spcPts val="0"/>
                        </a:spcBef>
                        <a:spcAft>
                          <a:spcPts val="0"/>
                        </a:spcAft>
                        <a:buNone/>
                      </a:pPr>
                      <a:r>
                        <a:rPr lang="en-GB" sz="2000">
                          <a:solidFill>
                            <a:srgbClr val="666666"/>
                          </a:solidFill>
                          <a:latin typeface="Times New Roman"/>
                          <a:ea typeface="Times New Roman"/>
                          <a:cs typeface="Times New Roman"/>
                          <a:sym typeface="Times New Roman"/>
                        </a:rPr>
                        <a:t>Thông tin thẻ tín dụng</a:t>
                      </a:r>
                      <a:endParaRPr sz="2000">
                        <a:solidFill>
                          <a:srgbClr val="666666"/>
                        </a:solidFill>
                        <a:latin typeface="Times New Roman"/>
                        <a:ea typeface="Times New Roman"/>
                        <a:cs typeface="Times New Roman"/>
                        <a:sym typeface="Times New Roman"/>
                      </a:endParaRPr>
                    </a:p>
                  </a:txBody>
                  <a:tcPr marT="18000" marB="18000" marR="91425" marL="91425"/>
                </a:tc>
                <a:tc>
                  <a:txBody>
                    <a:bodyPr/>
                    <a:lstStyle/>
                    <a:p>
                      <a:pPr indent="0" lvl="0" marL="0" rtl="0" algn="l">
                        <a:spcBef>
                          <a:spcPts val="0"/>
                        </a:spcBef>
                        <a:spcAft>
                          <a:spcPts val="0"/>
                        </a:spcAft>
                        <a:buNone/>
                      </a:pPr>
                      <a:r>
                        <a:t/>
                      </a:r>
                      <a:endParaRPr sz="2000">
                        <a:latin typeface="Times New Roman"/>
                        <a:ea typeface="Times New Roman"/>
                        <a:cs typeface="Times New Roman"/>
                        <a:sym typeface="Times New Roman"/>
                      </a:endParaRPr>
                    </a:p>
                  </a:txBody>
                  <a:tcPr marT="18000" marB="18000" marR="91425" marL="91425"/>
                </a:tc>
              </a:tr>
              <a:tr h="243100">
                <a:tc>
                  <a:txBody>
                    <a:bodyPr/>
                    <a:lstStyle/>
                    <a:p>
                      <a:pPr indent="0" lvl="0" marL="0" rtl="0" algn="l">
                        <a:spcBef>
                          <a:spcPts val="0"/>
                        </a:spcBef>
                        <a:spcAft>
                          <a:spcPts val="0"/>
                        </a:spcAft>
                        <a:buNone/>
                      </a:pPr>
                      <a:r>
                        <a:rPr lang="en-GB" sz="2000">
                          <a:solidFill>
                            <a:srgbClr val="666666"/>
                          </a:solidFill>
                          <a:latin typeface="Times New Roman"/>
                          <a:ea typeface="Times New Roman"/>
                          <a:cs typeface="Times New Roman"/>
                          <a:sym typeface="Times New Roman"/>
                        </a:rPr>
                        <a:t>Khách hàng</a:t>
                      </a:r>
                      <a:endParaRPr sz="2000">
                        <a:solidFill>
                          <a:srgbClr val="666666"/>
                        </a:solidFill>
                        <a:latin typeface="Times New Roman"/>
                        <a:ea typeface="Times New Roman"/>
                        <a:cs typeface="Times New Roman"/>
                        <a:sym typeface="Times New Roman"/>
                      </a:endParaRPr>
                    </a:p>
                  </a:txBody>
                  <a:tcPr marT="18000" marB="18000" marR="91425" marL="91425"/>
                </a:tc>
                <a:tc>
                  <a:txBody>
                    <a:bodyPr/>
                    <a:lstStyle/>
                    <a:p>
                      <a:pPr indent="0" lvl="0" marL="0" rtl="0" algn="l">
                        <a:spcBef>
                          <a:spcPts val="0"/>
                        </a:spcBef>
                        <a:spcAft>
                          <a:spcPts val="0"/>
                        </a:spcAft>
                        <a:buNone/>
                      </a:pPr>
                      <a:r>
                        <a:t/>
                      </a:r>
                      <a:endParaRPr sz="2000">
                        <a:latin typeface="Times New Roman"/>
                        <a:ea typeface="Times New Roman"/>
                        <a:cs typeface="Times New Roman"/>
                        <a:sym typeface="Times New Roman"/>
                      </a:endParaRPr>
                    </a:p>
                  </a:txBody>
                  <a:tcPr marT="18000" marB="18000" marR="91425" marL="91425"/>
                </a:tc>
              </a:tr>
              <a:tr h="243100">
                <a:tc>
                  <a:txBody>
                    <a:bodyPr/>
                    <a:lstStyle/>
                    <a:p>
                      <a:pPr indent="0" lvl="0" marL="0" rtl="0" algn="l">
                        <a:spcBef>
                          <a:spcPts val="0"/>
                        </a:spcBef>
                        <a:spcAft>
                          <a:spcPts val="0"/>
                        </a:spcAft>
                        <a:buNone/>
                      </a:pPr>
                      <a:r>
                        <a:rPr lang="en-GB" sz="2000">
                          <a:solidFill>
                            <a:srgbClr val="666666"/>
                          </a:solidFill>
                          <a:latin typeface="Times New Roman"/>
                          <a:ea typeface="Times New Roman"/>
                          <a:cs typeface="Times New Roman"/>
                          <a:sym typeface="Times New Roman"/>
                        </a:rPr>
                        <a:t>Thông tin quản lý</a:t>
                      </a:r>
                      <a:endParaRPr sz="2000">
                        <a:solidFill>
                          <a:srgbClr val="666666"/>
                        </a:solidFill>
                        <a:latin typeface="Times New Roman"/>
                        <a:ea typeface="Times New Roman"/>
                        <a:cs typeface="Times New Roman"/>
                        <a:sym typeface="Times New Roman"/>
                      </a:endParaRPr>
                    </a:p>
                  </a:txBody>
                  <a:tcPr marT="18000" marB="18000" marR="91425" marL="91425"/>
                </a:tc>
                <a:tc>
                  <a:txBody>
                    <a:bodyPr/>
                    <a:lstStyle/>
                    <a:p>
                      <a:pPr indent="0" lvl="0" marL="0" rtl="0" algn="l">
                        <a:spcBef>
                          <a:spcPts val="0"/>
                        </a:spcBef>
                        <a:spcAft>
                          <a:spcPts val="0"/>
                        </a:spcAft>
                        <a:buNone/>
                      </a:pPr>
                      <a:r>
                        <a:t/>
                      </a:r>
                      <a:endParaRPr sz="2000">
                        <a:latin typeface="Times New Roman"/>
                        <a:ea typeface="Times New Roman"/>
                        <a:cs typeface="Times New Roman"/>
                        <a:sym typeface="Times New Roman"/>
                      </a:endParaRPr>
                    </a:p>
                  </a:txBody>
                  <a:tcPr marT="18000" marB="18000" marR="91425" marL="91425"/>
                </a:tc>
              </a:tr>
              <a:tr h="243100">
                <a:tc>
                  <a:txBody>
                    <a:bodyPr/>
                    <a:lstStyle/>
                    <a:p>
                      <a:pPr indent="0" lvl="0" marL="0" rtl="0" algn="l">
                        <a:spcBef>
                          <a:spcPts val="0"/>
                        </a:spcBef>
                        <a:spcAft>
                          <a:spcPts val="0"/>
                        </a:spcAft>
                        <a:buNone/>
                      </a:pPr>
                      <a:r>
                        <a:rPr lang="en-GB" sz="2000">
                          <a:solidFill>
                            <a:srgbClr val="666666"/>
                          </a:solidFill>
                          <a:latin typeface="Times New Roman"/>
                          <a:ea typeface="Times New Roman"/>
                          <a:cs typeface="Times New Roman"/>
                          <a:sym typeface="Times New Roman"/>
                        </a:rPr>
                        <a:t>Thông tin quảng cáo</a:t>
                      </a:r>
                      <a:endParaRPr sz="2000">
                        <a:solidFill>
                          <a:srgbClr val="666666"/>
                        </a:solidFill>
                        <a:latin typeface="Times New Roman"/>
                        <a:ea typeface="Times New Roman"/>
                        <a:cs typeface="Times New Roman"/>
                        <a:sym typeface="Times New Roman"/>
                      </a:endParaRPr>
                    </a:p>
                  </a:txBody>
                  <a:tcPr marT="18000" marB="18000" marR="91425" marL="91425"/>
                </a:tc>
                <a:tc>
                  <a:txBody>
                    <a:bodyPr/>
                    <a:lstStyle/>
                    <a:p>
                      <a:pPr indent="0" lvl="0" marL="0" rtl="0" algn="l">
                        <a:spcBef>
                          <a:spcPts val="0"/>
                        </a:spcBef>
                        <a:spcAft>
                          <a:spcPts val="0"/>
                        </a:spcAft>
                        <a:buNone/>
                      </a:pPr>
                      <a:r>
                        <a:t/>
                      </a:r>
                      <a:endParaRPr sz="2000">
                        <a:latin typeface="Times New Roman"/>
                        <a:ea typeface="Times New Roman"/>
                        <a:cs typeface="Times New Roman"/>
                        <a:sym typeface="Times New Roman"/>
                      </a:endParaRPr>
                    </a:p>
                  </a:txBody>
                  <a:tcPr marT="18000" marB="18000" marR="91425" marL="91425"/>
                </a:tc>
              </a:tr>
              <a:tr h="243100">
                <a:tc>
                  <a:txBody>
                    <a:bodyPr/>
                    <a:lstStyle/>
                    <a:p>
                      <a:pPr indent="0" lvl="0" marL="0" rtl="0" algn="l">
                        <a:spcBef>
                          <a:spcPts val="0"/>
                        </a:spcBef>
                        <a:spcAft>
                          <a:spcPts val="0"/>
                        </a:spcAft>
                        <a:buNone/>
                      </a:pPr>
                      <a:r>
                        <a:rPr lang="en-GB" sz="2000">
                          <a:solidFill>
                            <a:srgbClr val="666666"/>
                          </a:solidFill>
                          <a:latin typeface="Times New Roman"/>
                          <a:ea typeface="Times New Roman"/>
                          <a:cs typeface="Times New Roman"/>
                          <a:sym typeface="Times New Roman"/>
                        </a:rPr>
                        <a:t>Bản báo cáo doanh thu</a:t>
                      </a:r>
                      <a:endParaRPr sz="2000">
                        <a:solidFill>
                          <a:srgbClr val="666666"/>
                        </a:solidFill>
                        <a:latin typeface="Times New Roman"/>
                        <a:ea typeface="Times New Roman"/>
                        <a:cs typeface="Times New Roman"/>
                        <a:sym typeface="Times New Roman"/>
                      </a:endParaRPr>
                    </a:p>
                  </a:txBody>
                  <a:tcPr marT="18000" marB="18000" marR="91425" marL="91425"/>
                </a:tc>
                <a:tc>
                  <a:txBody>
                    <a:bodyPr/>
                    <a:lstStyle/>
                    <a:p>
                      <a:pPr indent="0" lvl="0" marL="0" rtl="0" algn="l">
                        <a:spcBef>
                          <a:spcPts val="0"/>
                        </a:spcBef>
                        <a:spcAft>
                          <a:spcPts val="0"/>
                        </a:spcAft>
                        <a:buNone/>
                      </a:pPr>
                      <a:r>
                        <a:t/>
                      </a:r>
                      <a:endParaRPr sz="2000">
                        <a:latin typeface="Times New Roman"/>
                        <a:ea typeface="Times New Roman"/>
                        <a:cs typeface="Times New Roman"/>
                        <a:sym typeface="Times New Roman"/>
                      </a:endParaRPr>
                    </a:p>
                  </a:txBody>
                  <a:tcPr marT="18000" marB="18000" marR="91425" marL="91425"/>
                </a:tc>
              </a:tr>
            </a:tbl>
          </a:graphicData>
        </a:graphic>
      </p:graphicFrame>
      <p:sp>
        <p:nvSpPr>
          <p:cNvPr id="188" name="Google Shape;188;p37"/>
          <p:cNvSpPr txBox="1"/>
          <p:nvPr/>
        </p:nvSpPr>
        <p:spPr>
          <a:xfrm>
            <a:off x="377775" y="5802627"/>
            <a:ext cx="80946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600">
                <a:solidFill>
                  <a:srgbClr val="E69138"/>
                </a:solidFill>
                <a:latin typeface="Times New Roman"/>
                <a:ea typeface="Times New Roman"/>
                <a:cs typeface="Times New Roman"/>
                <a:sym typeface="Times New Roman"/>
              </a:rPr>
              <a:t>Thử phân loại và điền vào ghi chú: Đối tượng, thuộc tính, ngoài phạm vi, … </a:t>
            </a:r>
            <a:endParaRPr i="1" sz="2600">
              <a:solidFill>
                <a:srgbClr val="E69138"/>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8"/>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bước tổng hợp kiến thức</a:t>
            </a:r>
            <a:endParaRPr/>
          </a:p>
        </p:txBody>
      </p:sp>
      <p:sp>
        <p:nvSpPr>
          <p:cNvPr id="194" name="Google Shape;194;p38"/>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AutoNum type="arabicPeriod"/>
            </a:pPr>
            <a:r>
              <a:rPr lang="en-GB" sz="2400"/>
              <a:t>L</a:t>
            </a:r>
            <a:r>
              <a:rPr lang="en-GB" sz="2400"/>
              <a:t>ựa chọn người dùng và 1 tập ca sử dụng liên quan</a:t>
            </a:r>
            <a:endParaRPr sz="2400"/>
          </a:p>
          <a:p>
            <a:pPr indent="-381000" lvl="0" marL="457200" rtl="0" algn="just">
              <a:spcBef>
                <a:spcPts val="0"/>
              </a:spcBef>
              <a:spcAft>
                <a:spcPts val="0"/>
              </a:spcAft>
              <a:buSzPts val="2400"/>
              <a:buAutoNum type="arabicPeriod"/>
            </a:pPr>
            <a:r>
              <a:rPr lang="en-GB" sz="2400"/>
              <a:t>Phỏng vấn người dùng và xác định các thứ liên quan đến ca sử dụng và thông tin về chúng cần được quản lý bởi hệ thống.</a:t>
            </a:r>
            <a:endParaRPr sz="2400"/>
          </a:p>
          <a:p>
            <a:pPr indent="-381000" lvl="0" marL="457200" rtl="0" algn="just">
              <a:spcBef>
                <a:spcPts val="0"/>
              </a:spcBef>
              <a:spcAft>
                <a:spcPts val="0"/>
              </a:spcAft>
              <a:buSzPts val="2400"/>
              <a:buAutoNum type="arabicPeriod"/>
            </a:pPr>
            <a:r>
              <a:rPr lang="en-GB" sz="2400"/>
              <a:t>Sử dụng các danh mục để quản lý và đưa ra các câu hỏi: Bạn có lưu thông tin về những thứ quan trọng nào? Các hoạt động có được gắn với địa điểm nào không? Vai trò nào của người dùng cần được ghi nhớ?</a:t>
            </a:r>
            <a:endParaRPr sz="2400"/>
          </a:p>
          <a:p>
            <a:pPr indent="-381000" lvl="0" marL="457200" rtl="0" algn="just">
              <a:spcBef>
                <a:spcPts val="0"/>
              </a:spcBef>
              <a:spcAft>
                <a:spcPts val="0"/>
              </a:spcAft>
              <a:buSzPts val="2400"/>
              <a:buAutoNum type="arabicPeriod"/>
            </a:pPr>
            <a:r>
              <a:rPr lang="en-GB" sz="2400"/>
              <a:t>Tiếp tục tổng hợp kiến thức từ tất cả các nhóm người dùng và những người liên quan để mở rộng kết quả.</a:t>
            </a:r>
            <a:endParaRPr sz="2400"/>
          </a:p>
          <a:p>
            <a:pPr indent="-381000" lvl="0" marL="457200" rtl="0" algn="just">
              <a:spcBef>
                <a:spcPts val="0"/>
              </a:spcBef>
              <a:spcAft>
                <a:spcPts val="0"/>
              </a:spcAft>
              <a:buSzPts val="2400"/>
              <a:buAutoNum type="arabicPeriod"/>
            </a:pPr>
            <a:r>
              <a:rPr lang="en-GB" sz="2400"/>
              <a:t>Hợp nhất các kết quả, loại trùng lặp, và lập danh sách các thứ.</a:t>
            </a:r>
            <a:endParaRPr sz="2400"/>
          </a:p>
        </p:txBody>
      </p:sp>
      <p:sp>
        <p:nvSpPr>
          <p:cNvPr id="195" name="Google Shape;195;p3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9"/>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3.2. Danh mục phân loại</a:t>
            </a:r>
            <a:endParaRPr/>
          </a:p>
        </p:txBody>
      </p:sp>
      <p:sp>
        <p:nvSpPr>
          <p:cNvPr id="201" name="Google Shape;201;p39"/>
          <p:cNvSpPr/>
          <p:nvPr/>
        </p:nvSpPr>
        <p:spPr>
          <a:xfrm>
            <a:off x="153325" y="1528750"/>
            <a:ext cx="8837400" cy="4334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02" name="Google Shape;202;p39"/>
          <p:cNvSpPr/>
          <p:nvPr/>
        </p:nvSpPr>
        <p:spPr>
          <a:xfrm>
            <a:off x="3819300" y="1946633"/>
            <a:ext cx="1505400" cy="929100"/>
          </a:xfrm>
          <a:prstGeom prst="rect">
            <a:avLst/>
          </a:prstGeom>
          <a:solidFill>
            <a:srgbClr val="F6B2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C</a:t>
            </a:r>
            <a:r>
              <a:rPr lang="en-GB" sz="1600"/>
              <a:t>ác thứ</a:t>
            </a:r>
            <a:endParaRPr sz="1600"/>
          </a:p>
        </p:txBody>
      </p:sp>
      <p:sp>
        <p:nvSpPr>
          <p:cNvPr id="203" name="Google Shape;203;p39"/>
          <p:cNvSpPr/>
          <p:nvPr/>
        </p:nvSpPr>
        <p:spPr>
          <a:xfrm>
            <a:off x="319675" y="3256833"/>
            <a:ext cx="1311900" cy="929100"/>
          </a:xfrm>
          <a:prstGeom prst="rect">
            <a:avLst/>
          </a:prstGeom>
          <a:solidFill>
            <a:srgbClr val="F6B2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Các </a:t>
            </a:r>
            <a:r>
              <a:rPr lang="en-GB" sz="1600"/>
              <a:t>thứ</a:t>
            </a:r>
            <a:r>
              <a:rPr lang="en-GB" sz="1600"/>
              <a:t> </a:t>
            </a:r>
            <a:r>
              <a:rPr lang="en-GB" sz="1600"/>
              <a:t>thường gặp</a:t>
            </a:r>
            <a:endParaRPr sz="1600"/>
          </a:p>
        </p:txBody>
      </p:sp>
      <p:sp>
        <p:nvSpPr>
          <p:cNvPr id="204" name="Google Shape;204;p39"/>
          <p:cNvSpPr/>
          <p:nvPr/>
        </p:nvSpPr>
        <p:spPr>
          <a:xfrm>
            <a:off x="1763012" y="3256833"/>
            <a:ext cx="1311900" cy="929100"/>
          </a:xfrm>
          <a:prstGeom prst="rect">
            <a:avLst/>
          </a:prstGeom>
          <a:solidFill>
            <a:srgbClr val="F6B2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C</a:t>
            </a:r>
            <a:r>
              <a:rPr lang="en-GB" sz="1600"/>
              <a:t>ác vai trò</a:t>
            </a:r>
            <a:endParaRPr sz="1600"/>
          </a:p>
        </p:txBody>
      </p:sp>
      <p:sp>
        <p:nvSpPr>
          <p:cNvPr id="205" name="Google Shape;205;p39"/>
          <p:cNvSpPr/>
          <p:nvPr/>
        </p:nvSpPr>
        <p:spPr>
          <a:xfrm>
            <a:off x="3206349" y="3256833"/>
            <a:ext cx="1311900" cy="929100"/>
          </a:xfrm>
          <a:prstGeom prst="rect">
            <a:avLst/>
          </a:prstGeom>
          <a:solidFill>
            <a:srgbClr val="F6B2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C</a:t>
            </a:r>
            <a:r>
              <a:rPr lang="en-GB" sz="1600"/>
              <a:t>ác đơn vị trong tổ chức</a:t>
            </a:r>
            <a:endParaRPr sz="1600"/>
          </a:p>
        </p:txBody>
      </p:sp>
      <p:sp>
        <p:nvSpPr>
          <p:cNvPr id="206" name="Google Shape;206;p39"/>
          <p:cNvSpPr/>
          <p:nvPr/>
        </p:nvSpPr>
        <p:spPr>
          <a:xfrm>
            <a:off x="4649700" y="3256833"/>
            <a:ext cx="1311900" cy="929100"/>
          </a:xfrm>
          <a:prstGeom prst="rect">
            <a:avLst/>
          </a:prstGeom>
          <a:solidFill>
            <a:srgbClr val="F6B2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C</a:t>
            </a:r>
            <a:r>
              <a:rPr lang="en-GB" sz="1600"/>
              <a:t>ác thiết bị</a:t>
            </a:r>
            <a:endParaRPr sz="1600"/>
          </a:p>
        </p:txBody>
      </p:sp>
      <p:sp>
        <p:nvSpPr>
          <p:cNvPr id="207" name="Google Shape;207;p39"/>
          <p:cNvSpPr/>
          <p:nvPr/>
        </p:nvSpPr>
        <p:spPr>
          <a:xfrm>
            <a:off x="6093037" y="3256833"/>
            <a:ext cx="1311900" cy="929100"/>
          </a:xfrm>
          <a:prstGeom prst="rect">
            <a:avLst/>
          </a:prstGeom>
          <a:solidFill>
            <a:srgbClr val="F6B2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C</a:t>
            </a:r>
            <a:r>
              <a:rPr lang="en-GB" sz="1600"/>
              <a:t>ác địa điểm</a:t>
            </a:r>
            <a:endParaRPr sz="1600"/>
          </a:p>
        </p:txBody>
      </p:sp>
      <p:sp>
        <p:nvSpPr>
          <p:cNvPr id="208" name="Google Shape;208;p39"/>
          <p:cNvSpPr/>
          <p:nvPr/>
        </p:nvSpPr>
        <p:spPr>
          <a:xfrm>
            <a:off x="7536374" y="3256833"/>
            <a:ext cx="1311900" cy="929100"/>
          </a:xfrm>
          <a:prstGeom prst="rect">
            <a:avLst/>
          </a:prstGeom>
          <a:solidFill>
            <a:srgbClr val="F6B2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C</a:t>
            </a:r>
            <a:r>
              <a:rPr lang="en-GB" sz="1600"/>
              <a:t>ác sự việc, sự kiện, công việc</a:t>
            </a:r>
            <a:endParaRPr sz="1600"/>
          </a:p>
        </p:txBody>
      </p:sp>
      <p:sp>
        <p:nvSpPr>
          <p:cNvPr id="209" name="Google Shape;209;p39"/>
          <p:cNvSpPr txBox="1"/>
          <p:nvPr/>
        </p:nvSpPr>
        <p:spPr>
          <a:xfrm>
            <a:off x="350900" y="4186033"/>
            <a:ext cx="1307400" cy="153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t>máy vi tính</a:t>
            </a:r>
            <a:endParaRPr sz="1600"/>
          </a:p>
          <a:p>
            <a:pPr indent="0" lvl="0" marL="0" rtl="0" algn="l">
              <a:spcBef>
                <a:spcPts val="0"/>
              </a:spcBef>
              <a:spcAft>
                <a:spcPts val="0"/>
              </a:spcAft>
              <a:buNone/>
            </a:pPr>
            <a:r>
              <a:rPr lang="en-GB" sz="1600"/>
              <a:t>sách</a:t>
            </a:r>
            <a:endParaRPr sz="1600"/>
          </a:p>
          <a:p>
            <a:pPr indent="0" lvl="0" marL="0" rtl="0" algn="l">
              <a:spcBef>
                <a:spcPts val="0"/>
              </a:spcBef>
              <a:spcAft>
                <a:spcPts val="0"/>
              </a:spcAft>
              <a:buNone/>
            </a:pPr>
            <a:r>
              <a:rPr lang="en-GB" sz="1600"/>
              <a:t>tài liệu</a:t>
            </a:r>
            <a:endParaRPr sz="1600"/>
          </a:p>
        </p:txBody>
      </p:sp>
      <p:sp>
        <p:nvSpPr>
          <p:cNvPr id="210" name="Google Shape;210;p39"/>
          <p:cNvSpPr txBox="1"/>
          <p:nvPr/>
        </p:nvSpPr>
        <p:spPr>
          <a:xfrm>
            <a:off x="1793570" y="4186033"/>
            <a:ext cx="1307400" cy="153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t>nh</a:t>
            </a:r>
            <a:r>
              <a:rPr lang="en-GB" sz="1600"/>
              <a:t>ân viên</a:t>
            </a:r>
            <a:endParaRPr sz="1600"/>
          </a:p>
          <a:p>
            <a:pPr indent="0" lvl="0" marL="0" rtl="0" algn="l">
              <a:spcBef>
                <a:spcPts val="0"/>
              </a:spcBef>
              <a:spcAft>
                <a:spcPts val="0"/>
              </a:spcAft>
              <a:buNone/>
            </a:pPr>
            <a:r>
              <a:rPr lang="en-GB" sz="1600"/>
              <a:t>khách hàng</a:t>
            </a:r>
            <a:endParaRPr sz="1600"/>
          </a:p>
          <a:p>
            <a:pPr indent="0" lvl="0" marL="0" rtl="0" algn="l">
              <a:spcBef>
                <a:spcPts val="0"/>
              </a:spcBef>
              <a:spcAft>
                <a:spcPts val="0"/>
              </a:spcAft>
              <a:buNone/>
            </a:pPr>
            <a:r>
              <a:rPr lang="en-GB" sz="1600"/>
              <a:t>bác sĩ</a:t>
            </a:r>
            <a:endParaRPr sz="1600"/>
          </a:p>
          <a:p>
            <a:pPr indent="0" lvl="0" marL="0" rtl="0" algn="l">
              <a:spcBef>
                <a:spcPts val="0"/>
              </a:spcBef>
              <a:spcAft>
                <a:spcPts val="0"/>
              </a:spcAft>
              <a:buNone/>
            </a:pPr>
            <a:r>
              <a:rPr lang="en-GB" sz="1600"/>
              <a:t>bệnh nhân</a:t>
            </a:r>
            <a:endParaRPr sz="1600"/>
          </a:p>
          <a:p>
            <a:pPr indent="0" lvl="0" marL="0" rtl="0" algn="l">
              <a:spcBef>
                <a:spcPts val="0"/>
              </a:spcBef>
              <a:spcAft>
                <a:spcPts val="0"/>
              </a:spcAft>
              <a:buNone/>
            </a:pPr>
            <a:r>
              <a:rPr lang="en-GB" sz="1600"/>
              <a:t>quản trị viên</a:t>
            </a:r>
            <a:endParaRPr sz="1600"/>
          </a:p>
        </p:txBody>
      </p:sp>
      <p:sp>
        <p:nvSpPr>
          <p:cNvPr id="211" name="Google Shape;211;p39"/>
          <p:cNvSpPr txBox="1"/>
          <p:nvPr/>
        </p:nvSpPr>
        <p:spPr>
          <a:xfrm>
            <a:off x="3236240" y="4186033"/>
            <a:ext cx="1307400" cy="153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t>b</a:t>
            </a:r>
            <a:r>
              <a:rPr lang="en-GB" sz="1600"/>
              <a:t>ộ phận</a:t>
            </a:r>
            <a:endParaRPr sz="1600"/>
          </a:p>
          <a:p>
            <a:pPr indent="0" lvl="0" marL="0" rtl="0" algn="l">
              <a:spcBef>
                <a:spcPts val="0"/>
              </a:spcBef>
              <a:spcAft>
                <a:spcPts val="0"/>
              </a:spcAft>
              <a:buNone/>
            </a:pPr>
            <a:r>
              <a:rPr lang="en-GB" sz="1600"/>
              <a:t>phòng</a:t>
            </a:r>
            <a:endParaRPr sz="1600"/>
          </a:p>
          <a:p>
            <a:pPr indent="0" lvl="0" marL="0" rtl="0" algn="l">
              <a:spcBef>
                <a:spcPts val="0"/>
              </a:spcBef>
              <a:spcAft>
                <a:spcPts val="0"/>
              </a:spcAft>
              <a:buNone/>
            </a:pPr>
            <a:r>
              <a:rPr lang="en-GB" sz="1600"/>
              <a:t>nhóm</a:t>
            </a:r>
            <a:endParaRPr sz="1600"/>
          </a:p>
        </p:txBody>
      </p:sp>
      <p:sp>
        <p:nvSpPr>
          <p:cNvPr id="212" name="Google Shape;212;p39"/>
          <p:cNvSpPr txBox="1"/>
          <p:nvPr/>
        </p:nvSpPr>
        <p:spPr>
          <a:xfrm>
            <a:off x="4602700" y="4186025"/>
            <a:ext cx="1442700" cy="18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t>c</a:t>
            </a:r>
            <a:r>
              <a:rPr lang="en-GB" sz="1600"/>
              <a:t>ảm biến</a:t>
            </a:r>
            <a:endParaRPr sz="1600"/>
          </a:p>
          <a:p>
            <a:pPr indent="0" lvl="0" marL="0" rtl="0" algn="l">
              <a:spcBef>
                <a:spcPts val="0"/>
              </a:spcBef>
              <a:spcAft>
                <a:spcPts val="0"/>
              </a:spcAft>
              <a:buNone/>
            </a:pPr>
            <a:r>
              <a:rPr lang="en-GB" sz="1600"/>
              <a:t>bộ đếm giờ</a:t>
            </a:r>
            <a:endParaRPr sz="1600"/>
          </a:p>
          <a:p>
            <a:pPr indent="0" lvl="0" marL="0" rtl="0" algn="l">
              <a:spcBef>
                <a:spcPts val="0"/>
              </a:spcBef>
              <a:spcAft>
                <a:spcPts val="0"/>
              </a:spcAft>
              <a:buNone/>
            </a:pPr>
            <a:r>
              <a:rPr lang="en-GB" sz="1600"/>
              <a:t>bộ điều khiển</a:t>
            </a:r>
            <a:endParaRPr sz="1600"/>
          </a:p>
          <a:p>
            <a:pPr indent="0" lvl="0" marL="0" rtl="0" algn="l">
              <a:spcBef>
                <a:spcPts val="0"/>
              </a:spcBef>
              <a:spcAft>
                <a:spcPts val="0"/>
              </a:spcAft>
              <a:buNone/>
            </a:pPr>
            <a:r>
              <a:rPr lang="en-GB" sz="1600"/>
              <a:t>máy in</a:t>
            </a:r>
            <a:endParaRPr sz="1600"/>
          </a:p>
          <a:p>
            <a:pPr indent="0" lvl="0" marL="0" rtl="0" algn="l">
              <a:spcBef>
                <a:spcPts val="0"/>
              </a:spcBef>
              <a:spcAft>
                <a:spcPts val="0"/>
              </a:spcAft>
              <a:buNone/>
            </a:pPr>
            <a:r>
              <a:rPr lang="en-GB" sz="1600"/>
              <a:t>dây chuyền</a:t>
            </a:r>
            <a:endParaRPr sz="1600"/>
          </a:p>
          <a:p>
            <a:pPr indent="0" lvl="0" marL="0" rtl="0" algn="l">
              <a:spcBef>
                <a:spcPts val="0"/>
              </a:spcBef>
              <a:spcAft>
                <a:spcPts val="0"/>
              </a:spcAft>
              <a:buNone/>
            </a:pPr>
            <a:r>
              <a:t/>
            </a:r>
            <a:endParaRPr sz="1600"/>
          </a:p>
        </p:txBody>
      </p:sp>
      <p:sp>
        <p:nvSpPr>
          <p:cNvPr id="213" name="Google Shape;213;p39"/>
          <p:cNvSpPr txBox="1"/>
          <p:nvPr/>
        </p:nvSpPr>
        <p:spPr>
          <a:xfrm>
            <a:off x="6121580" y="4186033"/>
            <a:ext cx="1307400" cy="153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t>kho b</a:t>
            </a:r>
            <a:r>
              <a:rPr lang="en-GB" sz="1600"/>
              <a:t>ãi</a:t>
            </a:r>
            <a:endParaRPr sz="1600"/>
          </a:p>
          <a:p>
            <a:pPr indent="0" lvl="0" marL="0" rtl="0" algn="l">
              <a:spcBef>
                <a:spcPts val="0"/>
              </a:spcBef>
              <a:spcAft>
                <a:spcPts val="0"/>
              </a:spcAft>
              <a:buNone/>
            </a:pPr>
            <a:r>
              <a:rPr lang="en-GB" sz="1600"/>
              <a:t>v</a:t>
            </a:r>
            <a:r>
              <a:rPr lang="en-GB" sz="1600"/>
              <a:t>ăn phòng</a:t>
            </a:r>
            <a:endParaRPr sz="1600"/>
          </a:p>
          <a:p>
            <a:pPr indent="0" lvl="0" marL="0" rtl="0" algn="l">
              <a:spcBef>
                <a:spcPts val="0"/>
              </a:spcBef>
              <a:spcAft>
                <a:spcPts val="0"/>
              </a:spcAft>
              <a:buNone/>
            </a:pPr>
            <a:r>
              <a:rPr lang="en-GB" sz="1600"/>
              <a:t>nhà máy</a:t>
            </a:r>
            <a:endParaRPr sz="1600"/>
          </a:p>
          <a:p>
            <a:pPr indent="0" lvl="0" marL="0" rtl="0" algn="l">
              <a:spcBef>
                <a:spcPts val="0"/>
              </a:spcBef>
              <a:spcAft>
                <a:spcPts val="0"/>
              </a:spcAft>
              <a:buNone/>
            </a:pPr>
            <a:r>
              <a:rPr lang="en-GB" sz="1600"/>
              <a:t>gian hàng</a:t>
            </a:r>
            <a:endParaRPr sz="1600"/>
          </a:p>
        </p:txBody>
      </p:sp>
      <p:sp>
        <p:nvSpPr>
          <p:cNvPr id="214" name="Google Shape;214;p39"/>
          <p:cNvSpPr txBox="1"/>
          <p:nvPr/>
        </p:nvSpPr>
        <p:spPr>
          <a:xfrm>
            <a:off x="7505150" y="4186025"/>
            <a:ext cx="1366500" cy="153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t>ký hợp đồng</a:t>
            </a:r>
            <a:endParaRPr sz="1600"/>
          </a:p>
          <a:p>
            <a:pPr indent="0" lvl="0" marL="0" rtl="0" algn="l">
              <a:spcBef>
                <a:spcPts val="0"/>
              </a:spcBef>
              <a:spcAft>
                <a:spcPts val="0"/>
              </a:spcAft>
              <a:buNone/>
            </a:pPr>
            <a:r>
              <a:rPr lang="en-GB" sz="1600"/>
              <a:t>thanh toán</a:t>
            </a:r>
            <a:endParaRPr sz="1600"/>
          </a:p>
          <a:p>
            <a:pPr indent="0" lvl="0" marL="0" rtl="0" algn="l">
              <a:spcBef>
                <a:spcPts val="0"/>
              </a:spcBef>
              <a:spcAft>
                <a:spcPts val="0"/>
              </a:spcAft>
              <a:buNone/>
            </a:pPr>
            <a:r>
              <a:rPr lang="en-GB" sz="1600"/>
              <a:t>đặt hàng</a:t>
            </a:r>
            <a:endParaRPr sz="1600"/>
          </a:p>
          <a:p>
            <a:pPr indent="0" lvl="0" marL="0" rtl="0" algn="l">
              <a:spcBef>
                <a:spcPts val="0"/>
              </a:spcBef>
              <a:spcAft>
                <a:spcPts val="0"/>
              </a:spcAft>
              <a:buNone/>
            </a:pPr>
            <a:r>
              <a:rPr lang="en-GB" sz="1600"/>
              <a:t>yêu cầu</a:t>
            </a:r>
            <a:endParaRPr sz="1600"/>
          </a:p>
        </p:txBody>
      </p:sp>
      <p:sp>
        <p:nvSpPr>
          <p:cNvPr id="215" name="Google Shape;215;p39"/>
          <p:cNvSpPr/>
          <p:nvPr/>
        </p:nvSpPr>
        <p:spPr>
          <a:xfrm rot="8852964">
            <a:off x="2557109" y="2407507"/>
            <a:ext cx="1088576" cy="694885"/>
          </a:xfrm>
          <a:prstGeom prst="rightArrow">
            <a:avLst>
              <a:gd fmla="val 50000" name="adj1"/>
              <a:gd fmla="val 50000" name="adj2"/>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9"/>
          <p:cNvSpPr/>
          <p:nvPr/>
        </p:nvSpPr>
        <p:spPr>
          <a:xfrm rot="1541366">
            <a:off x="5573589" y="2373810"/>
            <a:ext cx="1062301" cy="706419"/>
          </a:xfrm>
          <a:prstGeom prst="rightArrow">
            <a:avLst>
              <a:gd fmla="val 50000" name="adj1"/>
              <a:gd fmla="val 50000" name="adj2"/>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23" name="Google Shape;223;p40"/>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3.3. Các thuộc tính và giá trị</a:t>
            </a:r>
            <a:endParaRPr/>
          </a:p>
        </p:txBody>
      </p:sp>
      <p:graphicFrame>
        <p:nvGraphicFramePr>
          <p:cNvPr id="224" name="Google Shape;224;p40"/>
          <p:cNvGraphicFramePr/>
          <p:nvPr/>
        </p:nvGraphicFramePr>
        <p:xfrm>
          <a:off x="311700" y="1538275"/>
          <a:ext cx="3000000" cy="3000000"/>
        </p:xfrm>
        <a:graphic>
          <a:graphicData uri="http://schemas.openxmlformats.org/drawingml/2006/table">
            <a:tbl>
              <a:tblPr>
                <a:noFill/>
                <a:tableStyleId>{916E7964-577C-4660-9F6A-7138A95530C7}</a:tableStyleId>
              </a:tblPr>
              <a:tblGrid>
                <a:gridCol w="3873550"/>
                <a:gridCol w="1680675"/>
                <a:gridCol w="1439150"/>
                <a:gridCol w="1475375"/>
              </a:tblGrid>
              <a:tr h="731500">
                <a:tc>
                  <a:txBody>
                    <a:bodyPr/>
                    <a:lstStyle/>
                    <a:p>
                      <a:pPr indent="0" lvl="0" marL="0" rtl="0" algn="l">
                        <a:spcBef>
                          <a:spcPts val="0"/>
                        </a:spcBef>
                        <a:spcAft>
                          <a:spcPts val="0"/>
                        </a:spcAft>
                        <a:buNone/>
                      </a:pPr>
                      <a:r>
                        <a:rPr b="1" lang="en-GB" sz="1800"/>
                        <a:t>Tất cả khách hàng đều có các thuộc tính</a:t>
                      </a:r>
                      <a:endParaRPr b="1" sz="1800"/>
                    </a:p>
                  </a:txBody>
                  <a:tcPr marT="91425" marB="91425" marR="91425" marL="91425"/>
                </a:tc>
                <a:tc gridSpan="3">
                  <a:txBody>
                    <a:bodyPr/>
                    <a:lstStyle/>
                    <a:p>
                      <a:pPr indent="0" lvl="0" marL="0" rtl="0" algn="ctr">
                        <a:spcBef>
                          <a:spcPts val="0"/>
                        </a:spcBef>
                        <a:spcAft>
                          <a:spcPts val="0"/>
                        </a:spcAft>
                        <a:buNone/>
                      </a:pPr>
                      <a:r>
                        <a:rPr b="1" lang="en-GB" sz="1800"/>
                        <a:t>Giá trị của thuộc tính</a:t>
                      </a:r>
                      <a:endParaRPr b="1" sz="1800"/>
                    </a:p>
                  </a:txBody>
                  <a:tcPr marT="91425" marB="91425" marR="91425" marL="91425"/>
                </a:tc>
                <a:tc hMerge="1"/>
                <a:tc hMerge="1"/>
              </a:tr>
              <a:tr h="457175">
                <a:tc>
                  <a:txBody>
                    <a:bodyPr/>
                    <a:lstStyle/>
                    <a:p>
                      <a:pPr indent="0" lvl="0" marL="0" rtl="0" algn="l">
                        <a:spcBef>
                          <a:spcPts val="0"/>
                        </a:spcBef>
                        <a:spcAft>
                          <a:spcPts val="0"/>
                        </a:spcAft>
                        <a:buNone/>
                      </a:pPr>
                      <a:r>
                        <a:rPr lang="en-GB" sz="1800"/>
                        <a:t>ID</a:t>
                      </a:r>
                      <a:endParaRPr sz="1800"/>
                    </a:p>
                  </a:txBody>
                  <a:tcPr marT="91425" marB="91425" marR="91425" marL="91425"/>
                </a:tc>
                <a:tc>
                  <a:txBody>
                    <a:bodyPr/>
                    <a:lstStyle/>
                    <a:p>
                      <a:pPr indent="0" lvl="0" marL="0" rtl="0" algn="l">
                        <a:spcBef>
                          <a:spcPts val="0"/>
                        </a:spcBef>
                        <a:spcAft>
                          <a:spcPts val="0"/>
                        </a:spcAft>
                        <a:buNone/>
                      </a:pPr>
                      <a:r>
                        <a:rPr lang="en-GB" sz="1800"/>
                        <a:t>101</a:t>
                      </a:r>
                      <a:endParaRPr sz="1800"/>
                    </a:p>
                  </a:txBody>
                  <a:tcPr marT="91425" marB="91425" marR="91425" marL="91425"/>
                </a:tc>
                <a:tc>
                  <a:txBody>
                    <a:bodyPr/>
                    <a:lstStyle/>
                    <a:p>
                      <a:pPr indent="0" lvl="0" marL="0" rtl="0" algn="l">
                        <a:spcBef>
                          <a:spcPts val="0"/>
                        </a:spcBef>
                        <a:spcAft>
                          <a:spcPts val="0"/>
                        </a:spcAft>
                        <a:buNone/>
                      </a:pPr>
                      <a:r>
                        <a:rPr lang="en-GB" sz="1800"/>
                        <a:t>102</a:t>
                      </a:r>
                      <a:endParaRPr sz="1800"/>
                    </a:p>
                  </a:txBody>
                  <a:tcPr marT="91425" marB="91425" marR="91425" marL="91425"/>
                </a:tc>
                <a:tc>
                  <a:txBody>
                    <a:bodyPr/>
                    <a:lstStyle/>
                    <a:p>
                      <a:pPr indent="0" lvl="0" marL="0" rtl="0" algn="l">
                        <a:spcBef>
                          <a:spcPts val="0"/>
                        </a:spcBef>
                        <a:spcAft>
                          <a:spcPts val="0"/>
                        </a:spcAft>
                        <a:buNone/>
                      </a:pPr>
                      <a:r>
                        <a:rPr lang="en-GB" sz="1800"/>
                        <a:t>103</a:t>
                      </a:r>
                      <a:endParaRPr sz="1800"/>
                    </a:p>
                  </a:txBody>
                  <a:tcPr marT="91425" marB="91425" marR="91425" marL="91425"/>
                </a:tc>
              </a:tr>
              <a:tr h="457175">
                <a:tc>
                  <a:txBody>
                    <a:bodyPr/>
                    <a:lstStyle/>
                    <a:p>
                      <a:pPr indent="0" lvl="0" marL="0" rtl="0" algn="l">
                        <a:spcBef>
                          <a:spcPts val="0"/>
                        </a:spcBef>
                        <a:spcAft>
                          <a:spcPts val="0"/>
                        </a:spcAft>
                        <a:buNone/>
                      </a:pPr>
                      <a:r>
                        <a:rPr lang="en-GB" sz="1800"/>
                        <a:t>Họ-đệm</a:t>
                      </a:r>
                      <a:endParaRPr sz="1800"/>
                    </a:p>
                  </a:txBody>
                  <a:tcPr marT="91425" marB="91425" marR="91425" marL="91425"/>
                </a:tc>
                <a:tc>
                  <a:txBody>
                    <a:bodyPr/>
                    <a:lstStyle/>
                    <a:p>
                      <a:pPr indent="0" lvl="0" marL="0" rtl="0" algn="l">
                        <a:spcBef>
                          <a:spcPts val="0"/>
                        </a:spcBef>
                        <a:spcAft>
                          <a:spcPts val="0"/>
                        </a:spcAft>
                        <a:buNone/>
                      </a:pPr>
                      <a:r>
                        <a:rPr lang="en-GB" sz="1800"/>
                        <a:t>Nguyễn Văn</a:t>
                      </a:r>
                      <a:endParaRPr sz="1800"/>
                    </a:p>
                  </a:txBody>
                  <a:tcPr marT="91425" marB="91425" marR="91425" marL="91425"/>
                </a:tc>
                <a:tc>
                  <a:txBody>
                    <a:bodyPr/>
                    <a:lstStyle/>
                    <a:p>
                      <a:pPr indent="0" lvl="0" marL="0" rtl="0" algn="l">
                        <a:spcBef>
                          <a:spcPts val="0"/>
                        </a:spcBef>
                        <a:spcAft>
                          <a:spcPts val="0"/>
                        </a:spcAft>
                        <a:buNone/>
                      </a:pPr>
                      <a:r>
                        <a:rPr lang="en-GB" sz="1800"/>
                        <a:t>Trần Thị</a:t>
                      </a:r>
                      <a:endParaRPr sz="1800"/>
                    </a:p>
                  </a:txBody>
                  <a:tcPr marT="91425" marB="91425" marR="91425" marL="91425"/>
                </a:tc>
                <a:tc>
                  <a:txBody>
                    <a:bodyPr/>
                    <a:lstStyle/>
                    <a:p>
                      <a:pPr indent="0" lvl="0" marL="0" rtl="0" algn="l">
                        <a:spcBef>
                          <a:spcPts val="0"/>
                        </a:spcBef>
                        <a:spcAft>
                          <a:spcPts val="0"/>
                        </a:spcAft>
                        <a:buNone/>
                      </a:pPr>
                      <a:r>
                        <a:rPr lang="en-GB" sz="1800"/>
                        <a:t>Vũ Văn </a:t>
                      </a:r>
                      <a:endParaRPr sz="1800"/>
                    </a:p>
                  </a:txBody>
                  <a:tcPr marT="91425" marB="91425" marR="91425" marL="91425"/>
                </a:tc>
              </a:tr>
              <a:tr h="457175">
                <a:tc>
                  <a:txBody>
                    <a:bodyPr/>
                    <a:lstStyle/>
                    <a:p>
                      <a:pPr indent="0" lvl="0" marL="0" rtl="0" algn="l">
                        <a:spcBef>
                          <a:spcPts val="0"/>
                        </a:spcBef>
                        <a:spcAft>
                          <a:spcPts val="0"/>
                        </a:spcAft>
                        <a:buNone/>
                      </a:pPr>
                      <a:r>
                        <a:rPr lang="en-GB" sz="1800"/>
                        <a:t>Tên</a:t>
                      </a:r>
                      <a:endParaRPr sz="1800"/>
                    </a:p>
                  </a:txBody>
                  <a:tcPr marT="91425" marB="91425" marR="91425" marL="91425"/>
                </a:tc>
                <a:tc>
                  <a:txBody>
                    <a:bodyPr/>
                    <a:lstStyle/>
                    <a:p>
                      <a:pPr indent="0" lvl="0" marL="0" rtl="0" algn="l">
                        <a:spcBef>
                          <a:spcPts val="0"/>
                        </a:spcBef>
                        <a:spcAft>
                          <a:spcPts val="0"/>
                        </a:spcAft>
                        <a:buNone/>
                      </a:pPr>
                      <a:r>
                        <a:rPr lang="en-GB" sz="1800"/>
                        <a:t>A</a:t>
                      </a:r>
                      <a:endParaRPr sz="1800"/>
                    </a:p>
                  </a:txBody>
                  <a:tcPr marT="91425" marB="91425" marR="91425" marL="91425"/>
                </a:tc>
                <a:tc>
                  <a:txBody>
                    <a:bodyPr/>
                    <a:lstStyle/>
                    <a:p>
                      <a:pPr indent="0" lvl="0" marL="0" rtl="0" algn="l">
                        <a:spcBef>
                          <a:spcPts val="0"/>
                        </a:spcBef>
                        <a:spcAft>
                          <a:spcPts val="0"/>
                        </a:spcAft>
                        <a:buNone/>
                      </a:pPr>
                      <a:r>
                        <a:rPr lang="en-GB" sz="1800"/>
                        <a:t>C</a:t>
                      </a:r>
                      <a:endParaRPr sz="1800"/>
                    </a:p>
                  </a:txBody>
                  <a:tcPr marT="91425" marB="91425" marR="91425" marL="91425"/>
                </a:tc>
                <a:tc>
                  <a:txBody>
                    <a:bodyPr/>
                    <a:lstStyle/>
                    <a:p>
                      <a:pPr indent="0" lvl="0" marL="0" rtl="0" algn="l">
                        <a:spcBef>
                          <a:spcPts val="0"/>
                        </a:spcBef>
                        <a:spcAft>
                          <a:spcPts val="0"/>
                        </a:spcAft>
                        <a:buNone/>
                      </a:pPr>
                      <a:r>
                        <a:rPr lang="en-GB" sz="1800"/>
                        <a:t>D</a:t>
                      </a:r>
                      <a:endParaRPr sz="1800"/>
                    </a:p>
                  </a:txBody>
                  <a:tcPr marT="91425" marB="91425" marR="91425" marL="91425"/>
                </a:tc>
              </a:tr>
              <a:tr h="457175">
                <a:tc>
                  <a:txBody>
                    <a:bodyPr/>
                    <a:lstStyle/>
                    <a:p>
                      <a:pPr indent="0" lvl="0" marL="0" rtl="0" algn="l">
                        <a:spcBef>
                          <a:spcPts val="0"/>
                        </a:spcBef>
                        <a:spcAft>
                          <a:spcPts val="0"/>
                        </a:spcAft>
                        <a:buNone/>
                      </a:pPr>
                      <a:r>
                        <a:rPr lang="en-GB" sz="1800"/>
                        <a:t>SĐT</a:t>
                      </a:r>
                      <a:endParaRPr sz="1800"/>
                    </a:p>
                  </a:txBody>
                  <a:tcPr marT="91425" marB="91425" marR="91425" marL="91425"/>
                </a:tc>
                <a:tc>
                  <a:txBody>
                    <a:bodyPr/>
                    <a:lstStyle/>
                    <a:p>
                      <a:pPr indent="0" lvl="0" marL="0" rtl="0" algn="l">
                        <a:spcBef>
                          <a:spcPts val="0"/>
                        </a:spcBef>
                        <a:spcAft>
                          <a:spcPts val="0"/>
                        </a:spcAft>
                        <a:buNone/>
                      </a:pPr>
                      <a:r>
                        <a:rPr lang="en-GB" sz="1800"/>
                        <a:t>098888888</a:t>
                      </a:r>
                      <a:endParaRPr sz="1800"/>
                    </a:p>
                  </a:txBody>
                  <a:tcPr marT="91425" marB="91425" marR="91425" marL="91425"/>
                </a:tc>
                <a:tc>
                  <a:txBody>
                    <a:bodyPr/>
                    <a:lstStyle/>
                    <a:p>
                      <a:pPr indent="0" lvl="0" marL="0" rtl="0" algn="l">
                        <a:spcBef>
                          <a:spcPts val="0"/>
                        </a:spcBef>
                        <a:spcAft>
                          <a:spcPts val="0"/>
                        </a:spcAft>
                        <a:buNone/>
                      </a:pPr>
                      <a:r>
                        <a:rPr lang="en-GB" sz="1800"/>
                        <a:t>096777777</a:t>
                      </a:r>
                      <a:endParaRPr sz="1800"/>
                    </a:p>
                  </a:txBody>
                  <a:tcPr marT="91425" marB="91425" marR="91425" marL="91425"/>
                </a:tc>
                <a:tc>
                  <a:txBody>
                    <a:bodyPr/>
                    <a:lstStyle/>
                    <a:p>
                      <a:pPr indent="0" lvl="0" marL="0" rtl="0" algn="l">
                        <a:spcBef>
                          <a:spcPts val="0"/>
                        </a:spcBef>
                        <a:spcAft>
                          <a:spcPts val="0"/>
                        </a:spcAft>
                        <a:buNone/>
                      </a:pPr>
                      <a:r>
                        <a:rPr lang="en-GB" sz="1800"/>
                        <a:t>09733333</a:t>
                      </a:r>
                      <a:endParaRPr sz="1800"/>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30" name="Google Shape;230;p41"/>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3.4. L</a:t>
            </a:r>
            <a:r>
              <a:rPr lang="en-GB"/>
              <a:t>iên kết các đối tượng</a:t>
            </a:r>
            <a:endParaRPr/>
          </a:p>
        </p:txBody>
      </p:sp>
      <p:cxnSp>
        <p:nvCxnSpPr>
          <p:cNvPr id="231" name="Google Shape;231;p41"/>
          <p:cNvCxnSpPr>
            <a:stCxn id="232" idx="3"/>
            <a:endCxn id="233" idx="1"/>
          </p:cNvCxnSpPr>
          <p:nvPr/>
        </p:nvCxnSpPr>
        <p:spPr>
          <a:xfrm>
            <a:off x="2251987" y="1765325"/>
            <a:ext cx="1348800" cy="0"/>
          </a:xfrm>
          <a:prstGeom prst="straightConnector1">
            <a:avLst/>
          </a:prstGeom>
          <a:noFill/>
          <a:ln cap="flat" cmpd="sng" w="9525">
            <a:solidFill>
              <a:schemeClr val="dk2"/>
            </a:solidFill>
            <a:prstDash val="solid"/>
            <a:round/>
            <a:headEnd len="med" w="med" type="none"/>
            <a:tailEnd len="med" w="med" type="none"/>
          </a:ln>
        </p:spPr>
      </p:cxnSp>
      <p:cxnSp>
        <p:nvCxnSpPr>
          <p:cNvPr id="234" name="Google Shape;234;p41"/>
          <p:cNvCxnSpPr>
            <a:stCxn id="233" idx="3"/>
            <a:endCxn id="235" idx="1"/>
          </p:cNvCxnSpPr>
          <p:nvPr/>
        </p:nvCxnSpPr>
        <p:spPr>
          <a:xfrm flipH="1" rot="10800000">
            <a:off x="5457225" y="1763525"/>
            <a:ext cx="1459200" cy="1800"/>
          </a:xfrm>
          <a:prstGeom prst="straightConnector1">
            <a:avLst/>
          </a:prstGeom>
          <a:noFill/>
          <a:ln cap="flat" cmpd="sng" w="9525">
            <a:solidFill>
              <a:schemeClr val="dk2"/>
            </a:solidFill>
            <a:prstDash val="solid"/>
            <a:round/>
            <a:headEnd len="med" w="med" type="none"/>
            <a:tailEnd len="med" w="med" type="none"/>
          </a:ln>
        </p:spPr>
      </p:cxnSp>
      <p:cxnSp>
        <p:nvCxnSpPr>
          <p:cNvPr id="236" name="Google Shape;236;p41"/>
          <p:cNvCxnSpPr>
            <a:stCxn id="232" idx="2"/>
            <a:endCxn id="237" idx="0"/>
          </p:cNvCxnSpPr>
          <p:nvPr/>
        </p:nvCxnSpPr>
        <p:spPr>
          <a:xfrm>
            <a:off x="1323781" y="2144891"/>
            <a:ext cx="190800" cy="1732200"/>
          </a:xfrm>
          <a:prstGeom prst="straightConnector1">
            <a:avLst/>
          </a:prstGeom>
          <a:noFill/>
          <a:ln cap="flat" cmpd="sng" w="9525">
            <a:solidFill>
              <a:schemeClr val="dk2"/>
            </a:solidFill>
            <a:prstDash val="solid"/>
            <a:round/>
            <a:headEnd len="med" w="med" type="none"/>
            <a:tailEnd len="med" w="med" type="none"/>
          </a:ln>
        </p:spPr>
      </p:cxnSp>
      <p:cxnSp>
        <p:nvCxnSpPr>
          <p:cNvPr id="238" name="Google Shape;238;p41"/>
          <p:cNvCxnSpPr/>
          <p:nvPr/>
        </p:nvCxnSpPr>
        <p:spPr>
          <a:xfrm>
            <a:off x="1728700" y="2050300"/>
            <a:ext cx="1962900" cy="1809000"/>
          </a:xfrm>
          <a:prstGeom prst="straightConnector1">
            <a:avLst/>
          </a:prstGeom>
          <a:noFill/>
          <a:ln cap="flat" cmpd="sng" w="9525">
            <a:solidFill>
              <a:schemeClr val="dk2"/>
            </a:solidFill>
            <a:prstDash val="solid"/>
            <a:round/>
            <a:headEnd len="med" w="med" type="none"/>
            <a:tailEnd len="med" w="med" type="none"/>
          </a:ln>
        </p:spPr>
      </p:cxnSp>
      <p:sp>
        <p:nvSpPr>
          <p:cNvPr id="239" name="Google Shape;239;p41"/>
          <p:cNvSpPr txBox="1"/>
          <p:nvPr/>
        </p:nvSpPr>
        <p:spPr>
          <a:xfrm>
            <a:off x="2310225" y="1040675"/>
            <a:ext cx="1046100" cy="76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t>Được tạo bởi</a:t>
            </a:r>
            <a:endParaRPr b="1" sz="1800"/>
          </a:p>
        </p:txBody>
      </p:sp>
      <p:sp>
        <p:nvSpPr>
          <p:cNvPr id="240" name="Google Shape;240;p41"/>
          <p:cNvSpPr txBox="1"/>
          <p:nvPr/>
        </p:nvSpPr>
        <p:spPr>
          <a:xfrm>
            <a:off x="5473125" y="1040675"/>
            <a:ext cx="996600" cy="76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t>Làm việc ở</a:t>
            </a:r>
            <a:endParaRPr b="1" sz="1800"/>
          </a:p>
        </p:txBody>
      </p:sp>
      <p:sp>
        <p:nvSpPr>
          <p:cNvPr id="241" name="Google Shape;241;p41"/>
          <p:cNvSpPr txBox="1"/>
          <p:nvPr/>
        </p:nvSpPr>
        <p:spPr>
          <a:xfrm>
            <a:off x="1458225" y="2623063"/>
            <a:ext cx="933300" cy="65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t>Có chứa</a:t>
            </a:r>
            <a:endParaRPr b="1" sz="1800"/>
          </a:p>
        </p:txBody>
      </p:sp>
      <p:sp>
        <p:nvSpPr>
          <p:cNvPr id="242" name="Google Shape;242;p41"/>
          <p:cNvSpPr txBox="1"/>
          <p:nvPr/>
        </p:nvSpPr>
        <p:spPr>
          <a:xfrm>
            <a:off x="2785300" y="2653213"/>
            <a:ext cx="996600" cy="59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t>Có chứa</a:t>
            </a:r>
            <a:endParaRPr b="1" sz="1800"/>
          </a:p>
        </p:txBody>
      </p:sp>
      <p:sp>
        <p:nvSpPr>
          <p:cNvPr id="243" name="Google Shape;243;p41"/>
          <p:cNvSpPr txBox="1"/>
          <p:nvPr/>
        </p:nvSpPr>
        <p:spPr>
          <a:xfrm>
            <a:off x="556600" y="4951225"/>
            <a:ext cx="8275800" cy="7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chemeClr val="dk2"/>
                </a:solidFill>
                <a:latin typeface="Times New Roman"/>
                <a:ea typeface="Times New Roman"/>
                <a:cs typeface="Times New Roman"/>
                <a:sym typeface="Times New Roman"/>
              </a:rPr>
              <a:t>!Lưu ý:</a:t>
            </a:r>
            <a:r>
              <a:rPr lang="en-GB" sz="2400">
                <a:solidFill>
                  <a:schemeClr val="dk2"/>
                </a:solidFill>
                <a:latin typeface="Times New Roman"/>
                <a:ea typeface="Times New Roman"/>
                <a:cs typeface="Times New Roman"/>
                <a:sym typeface="Times New Roman"/>
              </a:rPr>
              <a:t> Ví dụ này là 1 phác thảo tự do cho ý tưởng, không phải 1 </a:t>
            </a:r>
            <a:r>
              <a:rPr lang="en-GB" sz="2400">
                <a:solidFill>
                  <a:schemeClr val="dk2"/>
                </a:solidFill>
                <a:latin typeface="Times New Roman"/>
                <a:ea typeface="Times New Roman"/>
                <a:cs typeface="Times New Roman"/>
                <a:sym typeface="Times New Roman"/>
              </a:rPr>
              <a:t>sơ đồ</a:t>
            </a:r>
            <a:r>
              <a:rPr lang="en-GB" sz="2400">
                <a:solidFill>
                  <a:schemeClr val="dk2"/>
                </a:solidFill>
                <a:latin typeface="Times New Roman"/>
                <a:ea typeface="Times New Roman"/>
                <a:cs typeface="Times New Roman"/>
                <a:sym typeface="Times New Roman"/>
              </a:rPr>
              <a:t> UML</a:t>
            </a:r>
            <a:endParaRPr sz="2400">
              <a:solidFill>
                <a:schemeClr val="dk2"/>
              </a:solidFill>
              <a:latin typeface="Times New Roman"/>
              <a:ea typeface="Times New Roman"/>
              <a:cs typeface="Times New Roman"/>
              <a:sym typeface="Times New Roman"/>
            </a:endParaRPr>
          </a:p>
        </p:txBody>
      </p:sp>
      <p:sp>
        <p:nvSpPr>
          <p:cNvPr id="232" name="Google Shape;232;p41"/>
          <p:cNvSpPr/>
          <p:nvPr/>
        </p:nvSpPr>
        <p:spPr>
          <a:xfrm>
            <a:off x="395575" y="1327925"/>
            <a:ext cx="1856412" cy="874800"/>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1"/>
                </a:solidFill>
              </a:rPr>
              <a:t>Đơn hàng 1102</a:t>
            </a:r>
            <a:endParaRPr>
              <a:latin typeface="Times New Roman"/>
              <a:ea typeface="Times New Roman"/>
              <a:cs typeface="Times New Roman"/>
              <a:sym typeface="Times New Roman"/>
            </a:endParaRPr>
          </a:p>
        </p:txBody>
      </p:sp>
      <p:sp>
        <p:nvSpPr>
          <p:cNvPr id="233" name="Google Shape;233;p41"/>
          <p:cNvSpPr/>
          <p:nvPr/>
        </p:nvSpPr>
        <p:spPr>
          <a:xfrm>
            <a:off x="3600813" y="1327925"/>
            <a:ext cx="1856412" cy="874800"/>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solidFill>
                  <a:schemeClr val="dk1"/>
                </a:solidFill>
              </a:rPr>
              <a:t>Nguyễn Văn A</a:t>
            </a:r>
            <a:endParaRPr sz="1800">
              <a:solidFill>
                <a:schemeClr val="dk1"/>
              </a:solidFill>
            </a:endParaRPr>
          </a:p>
        </p:txBody>
      </p:sp>
      <p:sp>
        <p:nvSpPr>
          <p:cNvPr id="235" name="Google Shape;235;p41"/>
          <p:cNvSpPr/>
          <p:nvPr/>
        </p:nvSpPr>
        <p:spPr>
          <a:xfrm>
            <a:off x="6916500" y="1326222"/>
            <a:ext cx="1915812" cy="874800"/>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1"/>
                </a:solidFill>
              </a:rPr>
              <a:t>Bộ phận bán hàng</a:t>
            </a:r>
            <a:endParaRPr sz="1800">
              <a:solidFill>
                <a:schemeClr val="dk1"/>
              </a:solidFill>
            </a:endParaRPr>
          </a:p>
        </p:txBody>
      </p:sp>
      <p:sp>
        <p:nvSpPr>
          <p:cNvPr id="237" name="Google Shape;237;p41"/>
          <p:cNvSpPr/>
          <p:nvPr/>
        </p:nvSpPr>
        <p:spPr>
          <a:xfrm>
            <a:off x="556600" y="3877050"/>
            <a:ext cx="1915812" cy="874800"/>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1"/>
                </a:solidFill>
              </a:rPr>
              <a:t>Đĩa cứng mã số 333</a:t>
            </a:r>
            <a:endParaRPr sz="1800">
              <a:solidFill>
                <a:schemeClr val="dk1"/>
              </a:solidFill>
            </a:endParaRPr>
          </a:p>
        </p:txBody>
      </p:sp>
      <p:sp>
        <p:nvSpPr>
          <p:cNvPr id="244" name="Google Shape;244;p41"/>
          <p:cNvSpPr/>
          <p:nvPr/>
        </p:nvSpPr>
        <p:spPr>
          <a:xfrm>
            <a:off x="3017100" y="3853925"/>
            <a:ext cx="1915812" cy="874800"/>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solidFill>
                  <a:schemeClr val="dk1"/>
                </a:solidFill>
              </a:rPr>
              <a:t>RAM mã số 222</a:t>
            </a:r>
            <a:endParaRPr sz="18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50" name="Google Shape;250;p42"/>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3.4. </a:t>
            </a:r>
            <a:r>
              <a:rPr lang="en-GB"/>
              <a:t>Liên kết các đối tượng</a:t>
            </a:r>
            <a:r>
              <a:rPr baseline="-25000" lang="en-GB"/>
              <a:t>(</a:t>
            </a:r>
            <a:r>
              <a:rPr baseline="-25000" lang="en-GB"/>
              <a:t>2)</a:t>
            </a:r>
            <a:endParaRPr baseline="-25000"/>
          </a:p>
        </p:txBody>
      </p:sp>
      <p:sp>
        <p:nvSpPr>
          <p:cNvPr id="251" name="Google Shape;251;p42"/>
          <p:cNvSpPr/>
          <p:nvPr/>
        </p:nvSpPr>
        <p:spPr>
          <a:xfrm>
            <a:off x="536800" y="1881397"/>
            <a:ext cx="1775100" cy="49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id = </a:t>
            </a:r>
            <a:r>
              <a:rPr lang="en-GB" sz="1800"/>
              <a:t>1102</a:t>
            </a:r>
            <a:endParaRPr sz="1800"/>
          </a:p>
        </p:txBody>
      </p:sp>
      <p:sp>
        <p:nvSpPr>
          <p:cNvPr id="252" name="Google Shape;252;p42"/>
          <p:cNvSpPr/>
          <p:nvPr/>
        </p:nvSpPr>
        <p:spPr>
          <a:xfrm>
            <a:off x="536800" y="3627575"/>
            <a:ext cx="20472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id = 333</a:t>
            </a:r>
            <a:br>
              <a:rPr lang="en-GB" sz="1800"/>
            </a:br>
            <a:r>
              <a:rPr lang="en-GB" sz="1800"/>
              <a:t>tên = “</a:t>
            </a:r>
            <a:r>
              <a:rPr lang="en-GB" sz="1800"/>
              <a:t>Đĩa cứng”</a:t>
            </a:r>
            <a:endParaRPr sz="1800"/>
          </a:p>
        </p:txBody>
      </p:sp>
      <p:sp>
        <p:nvSpPr>
          <p:cNvPr id="253" name="Google Shape;253;p42"/>
          <p:cNvSpPr/>
          <p:nvPr/>
        </p:nvSpPr>
        <p:spPr>
          <a:xfrm>
            <a:off x="2899000" y="3627575"/>
            <a:ext cx="19191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id = 222</a:t>
            </a:r>
            <a:endParaRPr sz="1800"/>
          </a:p>
          <a:p>
            <a:pPr indent="0" lvl="0" marL="0" rtl="0" algn="l">
              <a:spcBef>
                <a:spcPts val="0"/>
              </a:spcBef>
              <a:spcAft>
                <a:spcPts val="0"/>
              </a:spcAft>
              <a:buNone/>
            </a:pPr>
            <a:r>
              <a:rPr lang="en-GB" sz="1800"/>
              <a:t>tên = </a:t>
            </a:r>
            <a:r>
              <a:rPr lang="en-GB" sz="1800"/>
              <a:t>RAM</a:t>
            </a:r>
            <a:endParaRPr sz="1800"/>
          </a:p>
        </p:txBody>
      </p:sp>
      <p:sp>
        <p:nvSpPr>
          <p:cNvPr id="254" name="Google Shape;254;p42"/>
          <p:cNvSpPr/>
          <p:nvPr/>
        </p:nvSpPr>
        <p:spPr>
          <a:xfrm>
            <a:off x="3377875" y="1388100"/>
            <a:ext cx="1859700" cy="49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u="sng"/>
              <a:t>:Nhân viên</a:t>
            </a:r>
            <a:endParaRPr sz="1800" u="sng"/>
          </a:p>
        </p:txBody>
      </p:sp>
      <p:cxnSp>
        <p:nvCxnSpPr>
          <p:cNvPr id="255" name="Google Shape;255;p42"/>
          <p:cNvCxnSpPr>
            <a:stCxn id="256" idx="3"/>
            <a:endCxn id="254" idx="1"/>
          </p:cNvCxnSpPr>
          <p:nvPr/>
        </p:nvCxnSpPr>
        <p:spPr>
          <a:xfrm>
            <a:off x="2311900" y="1633869"/>
            <a:ext cx="1065900" cy="300"/>
          </a:xfrm>
          <a:prstGeom prst="straightConnector1">
            <a:avLst/>
          </a:prstGeom>
          <a:noFill/>
          <a:ln cap="flat" cmpd="sng" w="9525">
            <a:solidFill>
              <a:schemeClr val="dk2"/>
            </a:solidFill>
            <a:prstDash val="solid"/>
            <a:round/>
            <a:headEnd len="med" w="med" type="none"/>
            <a:tailEnd len="med" w="med" type="none"/>
          </a:ln>
        </p:spPr>
      </p:cxnSp>
      <p:cxnSp>
        <p:nvCxnSpPr>
          <p:cNvPr id="257" name="Google Shape;257;p42"/>
          <p:cNvCxnSpPr>
            <a:stCxn id="254" idx="3"/>
            <a:endCxn id="258" idx="1"/>
          </p:cNvCxnSpPr>
          <p:nvPr/>
        </p:nvCxnSpPr>
        <p:spPr>
          <a:xfrm flipH="1" rot="10800000">
            <a:off x="5237575" y="1620900"/>
            <a:ext cx="1085400" cy="13200"/>
          </a:xfrm>
          <a:prstGeom prst="straightConnector1">
            <a:avLst/>
          </a:prstGeom>
          <a:noFill/>
          <a:ln cap="flat" cmpd="sng" w="9525">
            <a:solidFill>
              <a:schemeClr val="dk2"/>
            </a:solidFill>
            <a:prstDash val="solid"/>
            <a:round/>
            <a:headEnd len="med" w="med" type="none"/>
            <a:tailEnd len="med" w="med" type="none"/>
          </a:ln>
        </p:spPr>
      </p:cxnSp>
      <p:cxnSp>
        <p:nvCxnSpPr>
          <p:cNvPr id="259" name="Google Shape;259;p42"/>
          <p:cNvCxnSpPr>
            <a:stCxn id="251" idx="2"/>
            <a:endCxn id="260" idx="0"/>
          </p:cNvCxnSpPr>
          <p:nvPr/>
        </p:nvCxnSpPr>
        <p:spPr>
          <a:xfrm>
            <a:off x="1424350" y="2373397"/>
            <a:ext cx="136200" cy="767100"/>
          </a:xfrm>
          <a:prstGeom prst="straightConnector1">
            <a:avLst/>
          </a:prstGeom>
          <a:noFill/>
          <a:ln cap="flat" cmpd="sng" w="9525">
            <a:solidFill>
              <a:schemeClr val="dk2"/>
            </a:solidFill>
            <a:prstDash val="solid"/>
            <a:round/>
            <a:headEnd len="med" w="med" type="none"/>
            <a:tailEnd len="med" w="med" type="none"/>
          </a:ln>
        </p:spPr>
      </p:cxnSp>
      <p:cxnSp>
        <p:nvCxnSpPr>
          <p:cNvPr id="261" name="Google Shape;261;p42"/>
          <p:cNvCxnSpPr>
            <a:endCxn id="262" idx="0"/>
          </p:cNvCxnSpPr>
          <p:nvPr/>
        </p:nvCxnSpPr>
        <p:spPr>
          <a:xfrm>
            <a:off x="2150650" y="2370075"/>
            <a:ext cx="1707900" cy="770400"/>
          </a:xfrm>
          <a:prstGeom prst="straightConnector1">
            <a:avLst/>
          </a:prstGeom>
          <a:noFill/>
          <a:ln cap="flat" cmpd="sng" w="9525">
            <a:solidFill>
              <a:schemeClr val="dk2"/>
            </a:solidFill>
            <a:prstDash val="solid"/>
            <a:round/>
            <a:headEnd len="med" w="med" type="none"/>
            <a:tailEnd len="med" w="med" type="none"/>
          </a:ln>
        </p:spPr>
      </p:cxnSp>
      <p:sp>
        <p:nvSpPr>
          <p:cNvPr id="263" name="Google Shape;263;p42"/>
          <p:cNvSpPr txBox="1"/>
          <p:nvPr/>
        </p:nvSpPr>
        <p:spPr>
          <a:xfrm>
            <a:off x="2386425" y="964475"/>
            <a:ext cx="1046100" cy="7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Được tạo bởi</a:t>
            </a:r>
            <a:endParaRPr sz="1800"/>
          </a:p>
        </p:txBody>
      </p:sp>
      <p:sp>
        <p:nvSpPr>
          <p:cNvPr id="264" name="Google Shape;264;p42"/>
          <p:cNvSpPr txBox="1"/>
          <p:nvPr/>
        </p:nvSpPr>
        <p:spPr>
          <a:xfrm>
            <a:off x="5320725" y="964475"/>
            <a:ext cx="818400" cy="7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Làm việc ở</a:t>
            </a:r>
            <a:endParaRPr sz="1800"/>
          </a:p>
        </p:txBody>
      </p:sp>
      <p:sp>
        <p:nvSpPr>
          <p:cNvPr id="265" name="Google Shape;265;p42"/>
          <p:cNvSpPr txBox="1"/>
          <p:nvPr/>
        </p:nvSpPr>
        <p:spPr>
          <a:xfrm>
            <a:off x="443925" y="2564675"/>
            <a:ext cx="1085400" cy="43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Có chứa</a:t>
            </a:r>
            <a:endParaRPr sz="1800"/>
          </a:p>
        </p:txBody>
      </p:sp>
      <p:sp>
        <p:nvSpPr>
          <p:cNvPr id="266" name="Google Shape;266;p42"/>
          <p:cNvSpPr txBox="1"/>
          <p:nvPr/>
        </p:nvSpPr>
        <p:spPr>
          <a:xfrm>
            <a:off x="3110925" y="2564675"/>
            <a:ext cx="1304100" cy="43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Có chứa</a:t>
            </a:r>
            <a:endParaRPr sz="1800"/>
          </a:p>
        </p:txBody>
      </p:sp>
      <p:sp>
        <p:nvSpPr>
          <p:cNvPr id="256" name="Google Shape;256;p42"/>
          <p:cNvSpPr/>
          <p:nvPr/>
        </p:nvSpPr>
        <p:spPr>
          <a:xfrm>
            <a:off x="536800" y="1387869"/>
            <a:ext cx="1775100" cy="49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u="sng"/>
              <a:t>dh:Đơn hàng</a:t>
            </a:r>
            <a:endParaRPr sz="1800" u="sng"/>
          </a:p>
        </p:txBody>
      </p:sp>
      <p:sp>
        <p:nvSpPr>
          <p:cNvPr id="267" name="Google Shape;267;p42"/>
          <p:cNvSpPr/>
          <p:nvPr/>
        </p:nvSpPr>
        <p:spPr>
          <a:xfrm>
            <a:off x="3377875" y="1885172"/>
            <a:ext cx="1859700" cy="52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họ_tên = “</a:t>
            </a:r>
            <a:r>
              <a:rPr lang="en-GB" sz="1800">
                <a:solidFill>
                  <a:schemeClr val="dk1"/>
                </a:solidFill>
              </a:rPr>
              <a:t>Nguyễn Văn A”</a:t>
            </a:r>
            <a:endParaRPr sz="1800"/>
          </a:p>
        </p:txBody>
      </p:sp>
      <p:sp>
        <p:nvSpPr>
          <p:cNvPr id="268" name="Google Shape;268;p42"/>
          <p:cNvSpPr/>
          <p:nvPr/>
        </p:nvSpPr>
        <p:spPr>
          <a:xfrm>
            <a:off x="6329425" y="1871431"/>
            <a:ext cx="1716600" cy="65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tên = “Bộ phận bán hàng”</a:t>
            </a:r>
            <a:endParaRPr sz="1800"/>
          </a:p>
        </p:txBody>
      </p:sp>
      <p:sp>
        <p:nvSpPr>
          <p:cNvPr id="258" name="Google Shape;258;p42"/>
          <p:cNvSpPr/>
          <p:nvPr/>
        </p:nvSpPr>
        <p:spPr>
          <a:xfrm>
            <a:off x="6323099" y="1374803"/>
            <a:ext cx="1716600" cy="49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u="sng"/>
              <a:t>:Phòng ban</a:t>
            </a:r>
            <a:endParaRPr sz="1800" u="sng"/>
          </a:p>
        </p:txBody>
      </p:sp>
      <p:sp>
        <p:nvSpPr>
          <p:cNvPr id="260" name="Google Shape;260;p42"/>
          <p:cNvSpPr/>
          <p:nvPr/>
        </p:nvSpPr>
        <p:spPr>
          <a:xfrm>
            <a:off x="536800" y="3140475"/>
            <a:ext cx="2047200" cy="49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u="sng"/>
              <a:t>sp1</a:t>
            </a:r>
            <a:r>
              <a:rPr lang="en-GB" sz="1800" u="sng"/>
              <a:t>:</a:t>
            </a:r>
            <a:r>
              <a:rPr lang="en-GB" sz="1800" u="sng"/>
              <a:t>Mặt hàng</a:t>
            </a:r>
            <a:endParaRPr sz="1800" u="sng"/>
          </a:p>
        </p:txBody>
      </p:sp>
      <p:sp>
        <p:nvSpPr>
          <p:cNvPr id="262" name="Google Shape;262;p42"/>
          <p:cNvSpPr/>
          <p:nvPr/>
        </p:nvSpPr>
        <p:spPr>
          <a:xfrm>
            <a:off x="2899000" y="3140475"/>
            <a:ext cx="1919100" cy="49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u="sng"/>
              <a:t>sp2</a:t>
            </a:r>
            <a:r>
              <a:rPr lang="en-GB" sz="1800" u="sng"/>
              <a:t>:</a:t>
            </a:r>
            <a:r>
              <a:rPr lang="en-GB" sz="1800" u="sng"/>
              <a:t>Mặt hàng</a:t>
            </a:r>
            <a:endParaRPr sz="1800" u="sng"/>
          </a:p>
        </p:txBody>
      </p:sp>
      <p:sp>
        <p:nvSpPr>
          <p:cNvPr id="269" name="Google Shape;269;p42"/>
          <p:cNvSpPr/>
          <p:nvPr/>
        </p:nvSpPr>
        <p:spPr>
          <a:xfrm>
            <a:off x="1908400" y="5391950"/>
            <a:ext cx="1859700" cy="52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tên = “</a:t>
            </a:r>
            <a:r>
              <a:rPr lang="en-GB" sz="1800"/>
              <a:t>Linh kiện”</a:t>
            </a:r>
            <a:endParaRPr sz="1800"/>
          </a:p>
        </p:txBody>
      </p:sp>
      <p:sp>
        <p:nvSpPr>
          <p:cNvPr id="270" name="Google Shape;270;p42"/>
          <p:cNvSpPr/>
          <p:nvPr/>
        </p:nvSpPr>
        <p:spPr>
          <a:xfrm>
            <a:off x="1908400" y="4960975"/>
            <a:ext cx="1859700" cy="43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u="sng"/>
              <a:t>:</a:t>
            </a:r>
            <a:r>
              <a:rPr lang="en-GB" sz="1800" u="sng"/>
              <a:t>Danh mục</a:t>
            </a:r>
            <a:endParaRPr sz="1800" u="sng"/>
          </a:p>
        </p:txBody>
      </p:sp>
      <p:cxnSp>
        <p:nvCxnSpPr>
          <p:cNvPr id="271" name="Google Shape;271;p42"/>
          <p:cNvCxnSpPr>
            <a:stCxn id="252" idx="2"/>
          </p:cNvCxnSpPr>
          <p:nvPr/>
        </p:nvCxnSpPr>
        <p:spPr>
          <a:xfrm>
            <a:off x="1560400" y="4391075"/>
            <a:ext cx="894900" cy="560100"/>
          </a:xfrm>
          <a:prstGeom prst="straightConnector1">
            <a:avLst/>
          </a:prstGeom>
          <a:noFill/>
          <a:ln cap="flat" cmpd="sng" w="9525">
            <a:solidFill>
              <a:schemeClr val="dk2"/>
            </a:solidFill>
            <a:prstDash val="solid"/>
            <a:round/>
            <a:headEnd len="med" w="med" type="none"/>
            <a:tailEnd len="med" w="med" type="none"/>
          </a:ln>
        </p:spPr>
      </p:cxnSp>
      <p:cxnSp>
        <p:nvCxnSpPr>
          <p:cNvPr id="272" name="Google Shape;272;p42"/>
          <p:cNvCxnSpPr>
            <a:stCxn id="253" idx="2"/>
          </p:cNvCxnSpPr>
          <p:nvPr/>
        </p:nvCxnSpPr>
        <p:spPr>
          <a:xfrm flipH="1">
            <a:off x="3453250" y="4391075"/>
            <a:ext cx="405300" cy="573600"/>
          </a:xfrm>
          <a:prstGeom prst="straightConnector1">
            <a:avLst/>
          </a:prstGeom>
          <a:noFill/>
          <a:ln cap="flat" cmpd="sng" w="9525">
            <a:solidFill>
              <a:schemeClr val="dk2"/>
            </a:solidFill>
            <a:prstDash val="solid"/>
            <a:round/>
            <a:headEnd len="med" w="med" type="none"/>
            <a:tailEnd len="med" w="med" type="none"/>
          </a:ln>
        </p:spPr>
      </p:cxnSp>
      <p:sp>
        <p:nvSpPr>
          <p:cNvPr id="273" name="Google Shape;273;p42"/>
          <p:cNvSpPr txBox="1"/>
          <p:nvPr/>
        </p:nvSpPr>
        <p:spPr>
          <a:xfrm>
            <a:off x="2033469" y="4509081"/>
            <a:ext cx="906300" cy="3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Thuộc</a:t>
            </a:r>
            <a:endParaRPr sz="1800">
              <a:solidFill>
                <a:schemeClr val="dk2"/>
              </a:solidFill>
              <a:latin typeface="Times New Roman"/>
              <a:ea typeface="Times New Roman"/>
              <a:cs typeface="Times New Roman"/>
              <a:sym typeface="Times New Roman"/>
            </a:endParaRPr>
          </a:p>
        </p:txBody>
      </p:sp>
      <p:sp>
        <p:nvSpPr>
          <p:cNvPr id="274" name="Google Shape;274;p42"/>
          <p:cNvSpPr txBox="1"/>
          <p:nvPr/>
        </p:nvSpPr>
        <p:spPr>
          <a:xfrm>
            <a:off x="3481269" y="4509081"/>
            <a:ext cx="906300" cy="3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Thuộc</a:t>
            </a:r>
            <a:endParaRPr sz="1800">
              <a:solidFill>
                <a:schemeClr val="dk2"/>
              </a:solidFill>
              <a:latin typeface="Times New Roman"/>
              <a:ea typeface="Times New Roman"/>
              <a:cs typeface="Times New Roman"/>
              <a:sym typeface="Times New Roman"/>
            </a:endParaRPr>
          </a:p>
        </p:txBody>
      </p:sp>
      <p:sp>
        <p:nvSpPr>
          <p:cNvPr id="275" name="Google Shape;275;p42"/>
          <p:cNvSpPr txBox="1"/>
          <p:nvPr/>
        </p:nvSpPr>
        <p:spPr>
          <a:xfrm>
            <a:off x="528075" y="6018025"/>
            <a:ext cx="7602300" cy="58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2400">
                <a:solidFill>
                  <a:schemeClr val="dk2"/>
                </a:solidFill>
                <a:latin typeface="Times New Roman"/>
                <a:ea typeface="Times New Roman"/>
                <a:cs typeface="Times New Roman"/>
                <a:sym typeface="Times New Roman"/>
              </a:rPr>
              <a:t>Sơ đồ đối tượng - </a:t>
            </a:r>
            <a:r>
              <a:rPr i="1" lang="en-GB" sz="2400">
                <a:solidFill>
                  <a:schemeClr val="dk2"/>
                </a:solidFill>
                <a:latin typeface="Times New Roman"/>
                <a:ea typeface="Times New Roman"/>
                <a:cs typeface="Times New Roman"/>
                <a:sym typeface="Times New Roman"/>
              </a:rPr>
              <a:t>Sơ đồ UML</a:t>
            </a:r>
            <a:endParaRPr sz="2400">
              <a:solidFill>
                <a:schemeClr val="dk2"/>
              </a:solidFill>
              <a:latin typeface="Times New Roman"/>
              <a:ea typeface="Times New Roman"/>
              <a:cs typeface="Times New Roman"/>
              <a:sym typeface="Times New Roman"/>
            </a:endParaRPr>
          </a:p>
        </p:txBody>
      </p:sp>
      <p:sp>
        <p:nvSpPr>
          <p:cNvPr id="276" name="Google Shape;276;p42"/>
          <p:cNvSpPr/>
          <p:nvPr/>
        </p:nvSpPr>
        <p:spPr>
          <a:xfrm>
            <a:off x="5737300" y="3386275"/>
            <a:ext cx="2601600" cy="866700"/>
          </a:xfrm>
          <a:prstGeom prst="wedgeRoundRectCallout">
            <a:avLst>
              <a:gd fmla="val -51042" name="adj1"/>
              <a:gd fmla="val -68668" name="adj2"/>
              <a:gd fmla="val 0" name="adj3"/>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GB" sz="1600">
                <a:latin typeface="Times New Roman"/>
                <a:ea typeface="Times New Roman"/>
                <a:cs typeface="Times New Roman"/>
                <a:sym typeface="Times New Roman"/>
              </a:rPr>
              <a:t>Tên đối tượng (có thể bỏ qua), dấu :, tên lớp - gạch chận - quy chuẩn UML</a:t>
            </a:r>
            <a:endParaRPr i="1" sz="1600">
              <a:latin typeface="Times New Roman"/>
              <a:ea typeface="Times New Roman"/>
              <a:cs typeface="Times New Roman"/>
              <a:sym typeface="Times New Roman"/>
            </a:endParaRPr>
          </a:p>
        </p:txBody>
      </p:sp>
      <p:cxnSp>
        <p:nvCxnSpPr>
          <p:cNvPr id="277" name="Google Shape;277;p42"/>
          <p:cNvCxnSpPr>
            <a:stCxn id="276" idx="4"/>
          </p:cNvCxnSpPr>
          <p:nvPr/>
        </p:nvCxnSpPr>
        <p:spPr>
          <a:xfrm flipH="1">
            <a:off x="4634091" y="3224479"/>
            <a:ext cx="1076100" cy="1419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83" name="Google Shape;283;p43"/>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3.4. Các mối liên hệ</a:t>
            </a:r>
            <a:r>
              <a:rPr baseline="-25000" lang="en-GB"/>
              <a:t>(3</a:t>
            </a:r>
            <a:r>
              <a:rPr baseline="-25000" lang="en-GB"/>
              <a:t>)</a:t>
            </a:r>
            <a:endParaRPr baseline="-25000"/>
          </a:p>
        </p:txBody>
      </p:sp>
      <p:sp>
        <p:nvSpPr>
          <p:cNvPr id="284" name="Google Shape;284;p43"/>
          <p:cNvSpPr/>
          <p:nvPr/>
        </p:nvSpPr>
        <p:spPr>
          <a:xfrm>
            <a:off x="2051950" y="1443750"/>
            <a:ext cx="1238700" cy="443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Đơn hàng</a:t>
            </a:r>
            <a:endParaRPr b="1" sz="1600"/>
          </a:p>
        </p:txBody>
      </p:sp>
      <p:sp>
        <p:nvSpPr>
          <p:cNvPr id="285" name="Google Shape;285;p43"/>
          <p:cNvSpPr/>
          <p:nvPr/>
        </p:nvSpPr>
        <p:spPr>
          <a:xfrm>
            <a:off x="4337979" y="1443750"/>
            <a:ext cx="1238700" cy="443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Nhân viên</a:t>
            </a:r>
            <a:endParaRPr b="1" sz="1600"/>
          </a:p>
        </p:txBody>
      </p:sp>
      <p:sp>
        <p:nvSpPr>
          <p:cNvPr id="286" name="Google Shape;286;p43"/>
          <p:cNvSpPr/>
          <p:nvPr/>
        </p:nvSpPr>
        <p:spPr>
          <a:xfrm>
            <a:off x="6951926" y="1443750"/>
            <a:ext cx="1368000" cy="443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Phòng Ban</a:t>
            </a:r>
            <a:endParaRPr b="1" sz="1600"/>
          </a:p>
        </p:txBody>
      </p:sp>
      <p:sp>
        <p:nvSpPr>
          <p:cNvPr id="287" name="Google Shape;287;p43"/>
          <p:cNvSpPr/>
          <p:nvPr/>
        </p:nvSpPr>
        <p:spPr>
          <a:xfrm>
            <a:off x="832750" y="3043950"/>
            <a:ext cx="1238700" cy="443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Mặt hàng</a:t>
            </a:r>
            <a:endParaRPr b="1" sz="1800"/>
          </a:p>
        </p:txBody>
      </p:sp>
      <p:sp>
        <p:nvSpPr>
          <p:cNvPr id="288" name="Google Shape;288;p43"/>
          <p:cNvSpPr/>
          <p:nvPr/>
        </p:nvSpPr>
        <p:spPr>
          <a:xfrm>
            <a:off x="3042550" y="3043950"/>
            <a:ext cx="1238700" cy="443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Danh mục</a:t>
            </a:r>
            <a:endParaRPr b="1" sz="1600"/>
          </a:p>
        </p:txBody>
      </p:sp>
      <p:cxnSp>
        <p:nvCxnSpPr>
          <p:cNvPr id="289" name="Google Shape;289;p43"/>
          <p:cNvCxnSpPr>
            <a:stCxn id="285" idx="3"/>
            <a:endCxn id="286" idx="1"/>
          </p:cNvCxnSpPr>
          <p:nvPr/>
        </p:nvCxnSpPr>
        <p:spPr>
          <a:xfrm>
            <a:off x="5576679" y="1665450"/>
            <a:ext cx="1375200" cy="0"/>
          </a:xfrm>
          <a:prstGeom prst="straightConnector1">
            <a:avLst/>
          </a:prstGeom>
          <a:noFill/>
          <a:ln cap="flat" cmpd="sng" w="9525">
            <a:solidFill>
              <a:schemeClr val="dk2"/>
            </a:solidFill>
            <a:prstDash val="solid"/>
            <a:round/>
            <a:headEnd len="med" w="med" type="none"/>
            <a:tailEnd len="med" w="med" type="none"/>
          </a:ln>
        </p:spPr>
      </p:cxnSp>
      <p:cxnSp>
        <p:nvCxnSpPr>
          <p:cNvPr id="290" name="Google Shape;290;p43"/>
          <p:cNvCxnSpPr>
            <a:stCxn id="284" idx="3"/>
            <a:endCxn id="285" idx="1"/>
          </p:cNvCxnSpPr>
          <p:nvPr/>
        </p:nvCxnSpPr>
        <p:spPr>
          <a:xfrm>
            <a:off x="3290650" y="1665450"/>
            <a:ext cx="1047300" cy="0"/>
          </a:xfrm>
          <a:prstGeom prst="straightConnector1">
            <a:avLst/>
          </a:prstGeom>
          <a:noFill/>
          <a:ln cap="flat" cmpd="sng" w="9525">
            <a:solidFill>
              <a:schemeClr val="dk2"/>
            </a:solidFill>
            <a:prstDash val="solid"/>
            <a:round/>
            <a:headEnd len="med" w="med" type="none"/>
            <a:tailEnd len="med" w="med" type="none"/>
          </a:ln>
        </p:spPr>
      </p:cxnSp>
      <p:cxnSp>
        <p:nvCxnSpPr>
          <p:cNvPr id="291" name="Google Shape;291;p43"/>
          <p:cNvCxnSpPr>
            <a:stCxn id="287" idx="0"/>
            <a:endCxn id="284" idx="1"/>
          </p:cNvCxnSpPr>
          <p:nvPr/>
        </p:nvCxnSpPr>
        <p:spPr>
          <a:xfrm rot="-5400000">
            <a:off x="1062850" y="2054700"/>
            <a:ext cx="1378500" cy="600000"/>
          </a:xfrm>
          <a:prstGeom prst="bentConnector2">
            <a:avLst/>
          </a:prstGeom>
          <a:noFill/>
          <a:ln cap="flat" cmpd="sng" w="9525">
            <a:solidFill>
              <a:schemeClr val="dk2"/>
            </a:solidFill>
            <a:prstDash val="solid"/>
            <a:round/>
            <a:headEnd len="med" w="med" type="none"/>
            <a:tailEnd len="med" w="med" type="none"/>
          </a:ln>
        </p:spPr>
      </p:cxnSp>
      <p:cxnSp>
        <p:nvCxnSpPr>
          <p:cNvPr id="292" name="Google Shape;292;p43"/>
          <p:cNvCxnSpPr>
            <a:stCxn id="287" idx="3"/>
            <a:endCxn id="288" idx="1"/>
          </p:cNvCxnSpPr>
          <p:nvPr/>
        </p:nvCxnSpPr>
        <p:spPr>
          <a:xfrm>
            <a:off x="2071450" y="3265650"/>
            <a:ext cx="971100" cy="0"/>
          </a:xfrm>
          <a:prstGeom prst="straightConnector1">
            <a:avLst/>
          </a:prstGeom>
          <a:noFill/>
          <a:ln cap="flat" cmpd="sng" w="9525">
            <a:solidFill>
              <a:schemeClr val="dk2"/>
            </a:solidFill>
            <a:prstDash val="solid"/>
            <a:round/>
            <a:headEnd len="med" w="med" type="none"/>
            <a:tailEnd len="med" w="med" type="none"/>
          </a:ln>
        </p:spPr>
      </p:cxnSp>
      <p:sp>
        <p:nvSpPr>
          <p:cNvPr id="293" name="Google Shape;293;p43"/>
          <p:cNvSpPr txBox="1"/>
          <p:nvPr/>
        </p:nvSpPr>
        <p:spPr>
          <a:xfrm>
            <a:off x="5641447" y="1282103"/>
            <a:ext cx="1238700" cy="3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434343"/>
                </a:solidFill>
                <a:latin typeface="Times New Roman"/>
                <a:ea typeface="Times New Roman"/>
                <a:cs typeface="Times New Roman"/>
                <a:sym typeface="Times New Roman"/>
              </a:rPr>
              <a:t>Làm việc ở </a:t>
            </a:r>
            <a:endParaRPr sz="1800">
              <a:solidFill>
                <a:srgbClr val="434343"/>
              </a:solidFill>
              <a:latin typeface="Times New Roman"/>
              <a:ea typeface="Times New Roman"/>
              <a:cs typeface="Times New Roman"/>
              <a:sym typeface="Times New Roman"/>
            </a:endParaRPr>
          </a:p>
        </p:txBody>
      </p:sp>
      <p:sp>
        <p:nvSpPr>
          <p:cNvPr id="294" name="Google Shape;294;p43"/>
          <p:cNvSpPr txBox="1"/>
          <p:nvPr/>
        </p:nvSpPr>
        <p:spPr>
          <a:xfrm>
            <a:off x="5538669" y="1586900"/>
            <a:ext cx="418200" cy="3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a:t>
            </a:r>
            <a:endParaRPr sz="1800">
              <a:solidFill>
                <a:schemeClr val="dk2"/>
              </a:solidFill>
              <a:latin typeface="Times New Roman"/>
              <a:ea typeface="Times New Roman"/>
              <a:cs typeface="Times New Roman"/>
              <a:sym typeface="Times New Roman"/>
            </a:endParaRPr>
          </a:p>
        </p:txBody>
      </p:sp>
      <p:sp>
        <p:nvSpPr>
          <p:cNvPr id="295" name="Google Shape;295;p43"/>
          <p:cNvSpPr txBox="1"/>
          <p:nvPr/>
        </p:nvSpPr>
        <p:spPr>
          <a:xfrm>
            <a:off x="6681669" y="1586900"/>
            <a:ext cx="418200" cy="3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1</a:t>
            </a:r>
            <a:endParaRPr sz="1800">
              <a:solidFill>
                <a:schemeClr val="dk2"/>
              </a:solidFill>
              <a:latin typeface="Times New Roman"/>
              <a:ea typeface="Times New Roman"/>
              <a:cs typeface="Times New Roman"/>
              <a:sym typeface="Times New Roman"/>
            </a:endParaRPr>
          </a:p>
        </p:txBody>
      </p:sp>
      <p:sp>
        <p:nvSpPr>
          <p:cNvPr id="296" name="Google Shape;296;p43"/>
          <p:cNvSpPr txBox="1"/>
          <p:nvPr/>
        </p:nvSpPr>
        <p:spPr>
          <a:xfrm>
            <a:off x="3252669" y="1586900"/>
            <a:ext cx="418200" cy="3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a:t>
            </a:r>
            <a:endParaRPr sz="1800">
              <a:solidFill>
                <a:schemeClr val="dk2"/>
              </a:solidFill>
              <a:latin typeface="Times New Roman"/>
              <a:ea typeface="Times New Roman"/>
              <a:cs typeface="Times New Roman"/>
              <a:sym typeface="Times New Roman"/>
            </a:endParaRPr>
          </a:p>
        </p:txBody>
      </p:sp>
      <p:sp>
        <p:nvSpPr>
          <p:cNvPr id="297" name="Google Shape;297;p43"/>
          <p:cNvSpPr txBox="1"/>
          <p:nvPr/>
        </p:nvSpPr>
        <p:spPr>
          <a:xfrm>
            <a:off x="4041250" y="1586900"/>
            <a:ext cx="418200" cy="3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1</a:t>
            </a:r>
            <a:endParaRPr sz="1800">
              <a:solidFill>
                <a:schemeClr val="dk2"/>
              </a:solidFill>
              <a:latin typeface="Times New Roman"/>
              <a:ea typeface="Times New Roman"/>
              <a:cs typeface="Times New Roman"/>
              <a:sym typeface="Times New Roman"/>
            </a:endParaRPr>
          </a:p>
        </p:txBody>
      </p:sp>
      <p:sp>
        <p:nvSpPr>
          <p:cNvPr id="298" name="Google Shape;298;p43"/>
          <p:cNvSpPr txBox="1"/>
          <p:nvPr/>
        </p:nvSpPr>
        <p:spPr>
          <a:xfrm>
            <a:off x="3507849" y="1282100"/>
            <a:ext cx="762000" cy="3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434343"/>
                </a:solidFill>
                <a:latin typeface="Times New Roman"/>
                <a:ea typeface="Times New Roman"/>
                <a:cs typeface="Times New Roman"/>
                <a:sym typeface="Times New Roman"/>
              </a:rPr>
              <a:t>Tạo</a:t>
            </a:r>
            <a:endParaRPr sz="1800">
              <a:solidFill>
                <a:srgbClr val="434343"/>
              </a:solidFill>
              <a:latin typeface="Times New Roman"/>
              <a:ea typeface="Times New Roman"/>
              <a:cs typeface="Times New Roman"/>
              <a:sym typeface="Times New Roman"/>
            </a:endParaRPr>
          </a:p>
        </p:txBody>
      </p:sp>
      <p:sp>
        <p:nvSpPr>
          <p:cNvPr id="299" name="Google Shape;299;p43"/>
          <p:cNvSpPr txBox="1"/>
          <p:nvPr/>
        </p:nvSpPr>
        <p:spPr>
          <a:xfrm>
            <a:off x="1195269" y="2729900"/>
            <a:ext cx="418200" cy="3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a:t>
            </a:r>
            <a:endParaRPr sz="1800">
              <a:solidFill>
                <a:schemeClr val="dk2"/>
              </a:solidFill>
              <a:latin typeface="Times New Roman"/>
              <a:ea typeface="Times New Roman"/>
              <a:cs typeface="Times New Roman"/>
              <a:sym typeface="Times New Roman"/>
            </a:endParaRPr>
          </a:p>
        </p:txBody>
      </p:sp>
      <p:sp>
        <p:nvSpPr>
          <p:cNvPr id="300" name="Google Shape;300;p43"/>
          <p:cNvSpPr txBox="1"/>
          <p:nvPr/>
        </p:nvSpPr>
        <p:spPr>
          <a:xfrm>
            <a:off x="1755250" y="1282100"/>
            <a:ext cx="418200" cy="3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a:t>
            </a:r>
            <a:endParaRPr sz="1800">
              <a:solidFill>
                <a:schemeClr val="dk2"/>
              </a:solidFill>
              <a:latin typeface="Times New Roman"/>
              <a:ea typeface="Times New Roman"/>
              <a:cs typeface="Times New Roman"/>
              <a:sym typeface="Times New Roman"/>
            </a:endParaRPr>
          </a:p>
        </p:txBody>
      </p:sp>
      <p:sp>
        <p:nvSpPr>
          <p:cNvPr id="301" name="Google Shape;301;p43"/>
          <p:cNvSpPr txBox="1"/>
          <p:nvPr/>
        </p:nvSpPr>
        <p:spPr>
          <a:xfrm>
            <a:off x="2033469" y="3187100"/>
            <a:ext cx="418200" cy="3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a:t>
            </a:r>
            <a:endParaRPr sz="1800">
              <a:solidFill>
                <a:schemeClr val="dk2"/>
              </a:solidFill>
              <a:latin typeface="Times New Roman"/>
              <a:ea typeface="Times New Roman"/>
              <a:cs typeface="Times New Roman"/>
              <a:sym typeface="Times New Roman"/>
            </a:endParaRPr>
          </a:p>
        </p:txBody>
      </p:sp>
      <p:sp>
        <p:nvSpPr>
          <p:cNvPr id="302" name="Google Shape;302;p43"/>
          <p:cNvSpPr txBox="1"/>
          <p:nvPr/>
        </p:nvSpPr>
        <p:spPr>
          <a:xfrm>
            <a:off x="2745850" y="3187100"/>
            <a:ext cx="418200" cy="3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a:t>
            </a:r>
            <a:endParaRPr sz="1800">
              <a:solidFill>
                <a:schemeClr val="dk2"/>
              </a:solidFill>
              <a:latin typeface="Times New Roman"/>
              <a:ea typeface="Times New Roman"/>
              <a:cs typeface="Times New Roman"/>
              <a:sym typeface="Times New Roman"/>
            </a:endParaRPr>
          </a:p>
        </p:txBody>
      </p:sp>
      <p:sp>
        <p:nvSpPr>
          <p:cNvPr id="303" name="Google Shape;303;p43"/>
          <p:cNvSpPr txBox="1"/>
          <p:nvPr/>
        </p:nvSpPr>
        <p:spPr>
          <a:xfrm>
            <a:off x="764649" y="1663100"/>
            <a:ext cx="762000" cy="3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434343"/>
                </a:solidFill>
                <a:latin typeface="Times New Roman"/>
                <a:ea typeface="Times New Roman"/>
                <a:cs typeface="Times New Roman"/>
                <a:sym typeface="Times New Roman"/>
              </a:rPr>
              <a:t>Chứa</a:t>
            </a:r>
            <a:endParaRPr sz="1800">
              <a:solidFill>
                <a:srgbClr val="434343"/>
              </a:solidFill>
              <a:latin typeface="Times New Roman"/>
              <a:ea typeface="Times New Roman"/>
              <a:cs typeface="Times New Roman"/>
              <a:sym typeface="Times New Roman"/>
            </a:endParaRPr>
          </a:p>
        </p:txBody>
      </p:sp>
      <p:sp>
        <p:nvSpPr>
          <p:cNvPr id="304" name="Google Shape;304;p43"/>
          <p:cNvSpPr txBox="1"/>
          <p:nvPr/>
        </p:nvSpPr>
        <p:spPr>
          <a:xfrm>
            <a:off x="2185869" y="2908881"/>
            <a:ext cx="906300" cy="3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434343"/>
                </a:solidFill>
                <a:latin typeface="Times New Roman"/>
                <a:ea typeface="Times New Roman"/>
                <a:cs typeface="Times New Roman"/>
                <a:sym typeface="Times New Roman"/>
              </a:rPr>
              <a:t>Thuộc</a:t>
            </a:r>
            <a:endParaRPr sz="1800">
              <a:solidFill>
                <a:srgbClr val="434343"/>
              </a:solidFill>
              <a:latin typeface="Times New Roman"/>
              <a:ea typeface="Times New Roman"/>
              <a:cs typeface="Times New Roman"/>
              <a:sym typeface="Times New Roman"/>
            </a:endParaRPr>
          </a:p>
        </p:txBody>
      </p:sp>
      <p:sp>
        <p:nvSpPr>
          <p:cNvPr id="305" name="Google Shape;305;p43"/>
          <p:cNvSpPr txBox="1"/>
          <p:nvPr/>
        </p:nvSpPr>
        <p:spPr>
          <a:xfrm>
            <a:off x="940025" y="5132638"/>
            <a:ext cx="7602300" cy="58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chemeClr val="dk2"/>
                </a:solidFill>
                <a:latin typeface="Times New Roman"/>
                <a:ea typeface="Times New Roman"/>
                <a:cs typeface="Times New Roman"/>
                <a:sym typeface="Times New Roman"/>
              </a:rPr>
              <a:t>Sơ đồ</a:t>
            </a:r>
            <a:r>
              <a:rPr i="1" lang="en-GB" sz="2400">
                <a:solidFill>
                  <a:schemeClr val="dk2"/>
                </a:solidFill>
                <a:latin typeface="Times New Roman"/>
                <a:ea typeface="Times New Roman"/>
                <a:cs typeface="Times New Roman"/>
                <a:sym typeface="Times New Roman"/>
              </a:rPr>
              <a:t> </a:t>
            </a:r>
            <a:r>
              <a:rPr i="1" lang="en-GB" sz="2400">
                <a:solidFill>
                  <a:schemeClr val="dk2"/>
                </a:solidFill>
                <a:latin typeface="Times New Roman"/>
                <a:ea typeface="Times New Roman"/>
                <a:cs typeface="Times New Roman"/>
                <a:sym typeface="Times New Roman"/>
              </a:rPr>
              <a:t>lớp - Sơ đồ UML</a:t>
            </a:r>
            <a:endParaRPr sz="2400">
              <a:solidFill>
                <a:schemeClr val="dk2"/>
              </a:solidFill>
              <a:latin typeface="Times New Roman"/>
              <a:ea typeface="Times New Roman"/>
              <a:cs typeface="Times New Roman"/>
              <a:sym typeface="Times New Roman"/>
            </a:endParaRPr>
          </a:p>
        </p:txBody>
      </p:sp>
      <p:sp>
        <p:nvSpPr>
          <p:cNvPr id="306" name="Google Shape;306;p43"/>
          <p:cNvSpPr/>
          <p:nvPr/>
        </p:nvSpPr>
        <p:spPr>
          <a:xfrm>
            <a:off x="3052297" y="3487859"/>
            <a:ext cx="1238700" cy="443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tên</a:t>
            </a:r>
            <a:endParaRPr sz="1800"/>
          </a:p>
        </p:txBody>
      </p:sp>
      <p:sp>
        <p:nvSpPr>
          <p:cNvPr id="307" name="Google Shape;307;p43"/>
          <p:cNvSpPr/>
          <p:nvPr/>
        </p:nvSpPr>
        <p:spPr>
          <a:xfrm>
            <a:off x="829200" y="3487844"/>
            <a:ext cx="1238700" cy="763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id</a:t>
            </a:r>
            <a:endParaRPr sz="1800"/>
          </a:p>
          <a:p>
            <a:pPr indent="0" lvl="0" marL="0" rtl="0" algn="l">
              <a:spcBef>
                <a:spcPts val="0"/>
              </a:spcBef>
              <a:spcAft>
                <a:spcPts val="0"/>
              </a:spcAft>
              <a:buNone/>
            </a:pPr>
            <a:r>
              <a:rPr lang="en-GB" sz="1800"/>
              <a:t>tên</a:t>
            </a:r>
            <a:endParaRPr sz="1800"/>
          </a:p>
        </p:txBody>
      </p:sp>
      <p:sp>
        <p:nvSpPr>
          <p:cNvPr id="308" name="Google Shape;308;p43"/>
          <p:cNvSpPr/>
          <p:nvPr/>
        </p:nvSpPr>
        <p:spPr>
          <a:xfrm>
            <a:off x="2048406" y="1887659"/>
            <a:ext cx="1238700" cy="443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id</a:t>
            </a:r>
            <a:endParaRPr sz="1800"/>
          </a:p>
        </p:txBody>
      </p:sp>
      <p:sp>
        <p:nvSpPr>
          <p:cNvPr id="309" name="Google Shape;309;p43"/>
          <p:cNvSpPr/>
          <p:nvPr/>
        </p:nvSpPr>
        <p:spPr>
          <a:xfrm>
            <a:off x="4334406" y="1887659"/>
            <a:ext cx="1238700" cy="443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họ_</a:t>
            </a:r>
            <a:r>
              <a:rPr lang="en-GB" sz="1800"/>
              <a:t>tên</a:t>
            </a:r>
            <a:endParaRPr sz="1800"/>
          </a:p>
        </p:txBody>
      </p:sp>
      <p:sp>
        <p:nvSpPr>
          <p:cNvPr id="310" name="Google Shape;310;p43"/>
          <p:cNvSpPr/>
          <p:nvPr/>
        </p:nvSpPr>
        <p:spPr>
          <a:xfrm>
            <a:off x="6951773" y="1887650"/>
            <a:ext cx="1375200" cy="443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tên</a:t>
            </a:r>
            <a:endParaRPr sz="1800"/>
          </a:p>
        </p:txBody>
      </p:sp>
      <p:sp>
        <p:nvSpPr>
          <p:cNvPr id="311" name="Google Shape;311;p43"/>
          <p:cNvSpPr/>
          <p:nvPr/>
        </p:nvSpPr>
        <p:spPr>
          <a:xfrm>
            <a:off x="5332825" y="3384875"/>
            <a:ext cx="2895900" cy="1213500"/>
          </a:xfrm>
          <a:prstGeom prst="wedgeRoundRectCallout">
            <a:avLst>
              <a:gd fmla="val -43969" name="adj1"/>
              <a:gd fmla="val -87880" name="adj2"/>
              <a:gd fmla="val 0" name="adj3"/>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GB" sz="1600">
                <a:latin typeface="Times New Roman"/>
                <a:ea typeface="Times New Roman"/>
                <a:cs typeface="Times New Roman"/>
                <a:sym typeface="Times New Roman"/>
              </a:rPr>
              <a:t>Trong giai đoạn phân tích - cần ưu tiên hiểu lĩnh vực, không nhất thiết phải duy trì quy tắc đặt tên trong lập trình.</a:t>
            </a:r>
            <a:endParaRPr i="1" sz="1600">
              <a:latin typeface="Times New Roman"/>
              <a:ea typeface="Times New Roman"/>
              <a:cs typeface="Times New Roman"/>
              <a:sym typeface="Times New Roman"/>
            </a:endParaRPr>
          </a:p>
        </p:txBody>
      </p:sp>
      <p:cxnSp>
        <p:nvCxnSpPr>
          <p:cNvPr id="312" name="Google Shape;312;p43"/>
          <p:cNvCxnSpPr>
            <a:stCxn id="311" idx="4"/>
          </p:cNvCxnSpPr>
          <p:nvPr/>
        </p:nvCxnSpPr>
        <p:spPr>
          <a:xfrm flipH="1">
            <a:off x="4128377" y="2925201"/>
            <a:ext cx="1379100" cy="1932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4"/>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318" name="Google Shape;318;p44"/>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Các khái niệm</a:t>
            </a:r>
            <a:endParaRPr/>
          </a:p>
          <a:p>
            <a:pPr indent="-381000" lvl="0" marL="457200" rtl="0" algn="l">
              <a:spcBef>
                <a:spcPts val="0"/>
              </a:spcBef>
              <a:spcAft>
                <a:spcPts val="0"/>
              </a:spcAft>
              <a:buSzPts val="2400"/>
              <a:buChar char="●"/>
            </a:pPr>
            <a:r>
              <a:rPr lang="en-GB"/>
              <a:t>Các kỹ thuật</a:t>
            </a:r>
            <a:endParaRPr/>
          </a:p>
          <a:p>
            <a:pPr indent="-381000" lvl="0" marL="457200" rtl="0" algn="l">
              <a:spcBef>
                <a:spcPts val="0"/>
              </a:spcBef>
              <a:spcAft>
                <a:spcPts val="0"/>
              </a:spcAft>
              <a:buSzPts val="2400"/>
              <a:buChar char="●"/>
            </a:pPr>
            <a:r>
              <a:rPr lang="en-GB"/>
              <a:t>Các sơ đồ</a:t>
            </a:r>
            <a:endParaRPr/>
          </a:p>
          <a:p>
            <a:pPr indent="-381000" lvl="0" marL="457200" rtl="0" algn="l">
              <a:spcBef>
                <a:spcPts val="0"/>
              </a:spcBef>
              <a:spcAft>
                <a:spcPts val="0"/>
              </a:spcAft>
              <a:buSzPts val="2400"/>
              <a:buChar char="●"/>
            </a:pPr>
            <a:r>
              <a:rPr lang="en-GB"/>
              <a:t>Mô tả ràng buộc với OCL</a:t>
            </a:r>
            <a:endParaRPr/>
          </a:p>
          <a:p>
            <a:pPr indent="-381000" lvl="0" marL="457200" rtl="0" algn="l">
              <a:spcBef>
                <a:spcPts val="0"/>
              </a:spcBef>
              <a:spcAft>
                <a:spcPts val="0"/>
              </a:spcAft>
              <a:buSzPts val="2400"/>
              <a:buChar char="●"/>
            </a:pPr>
            <a:r>
              <a:rPr lang="en-GB"/>
              <a:t>Đặc tả lớp với thẻ CRC</a:t>
            </a:r>
            <a:endParaRPr/>
          </a:p>
          <a:p>
            <a:pPr indent="-381000" lvl="0" marL="457200" rtl="0" algn="l">
              <a:spcBef>
                <a:spcPts val="0"/>
              </a:spcBef>
              <a:spcAft>
                <a:spcPts val="0"/>
              </a:spcAft>
              <a:buSzPts val="2400"/>
              <a:buChar char="●"/>
            </a:pPr>
            <a:r>
              <a:rPr lang="en-GB"/>
              <a:t>Mẫu phân tích</a:t>
            </a:r>
            <a:endParaRPr/>
          </a:p>
          <a:p>
            <a:pPr indent="-381000" lvl="0" marL="457200" rtl="0" algn="l">
              <a:spcBef>
                <a:spcPts val="0"/>
              </a:spcBef>
              <a:spcAft>
                <a:spcPts val="0"/>
              </a:spcAft>
              <a:buSzPts val="2400"/>
              <a:buChar char="●"/>
            </a:pPr>
            <a:r>
              <a:rPr lang="en-GB"/>
              <a:t>Bài tập</a:t>
            </a:r>
            <a:endParaRPr/>
          </a:p>
        </p:txBody>
      </p:sp>
      <p:sp>
        <p:nvSpPr>
          <p:cNvPr id="319" name="Google Shape;319;p4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20" name="Google Shape;320;p44"/>
          <p:cNvSpPr/>
          <p:nvPr/>
        </p:nvSpPr>
        <p:spPr>
          <a:xfrm>
            <a:off x="214125" y="1631650"/>
            <a:ext cx="46662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5"/>
          <p:cNvSpPr/>
          <p:nvPr/>
        </p:nvSpPr>
        <p:spPr>
          <a:xfrm>
            <a:off x="4581175" y="4176075"/>
            <a:ext cx="4395000" cy="2127000"/>
          </a:xfrm>
          <a:prstGeom prst="rect">
            <a:avLst/>
          </a:prstGeom>
          <a:solidFill>
            <a:srgbClr val="CFE2F3"/>
          </a:solidFill>
          <a:ln cap="flat" cmpd="sng" w="952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45"/>
          <p:cNvSpPr/>
          <p:nvPr/>
        </p:nvSpPr>
        <p:spPr>
          <a:xfrm>
            <a:off x="1621850" y="4176075"/>
            <a:ext cx="2465400" cy="2127000"/>
          </a:xfrm>
          <a:prstGeom prst="rect">
            <a:avLst/>
          </a:prstGeom>
          <a:solidFill>
            <a:srgbClr val="CFE2F3"/>
          </a:solidFill>
          <a:ln cap="flat" cmpd="sng" w="952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45"/>
          <p:cNvSpPr/>
          <p:nvPr/>
        </p:nvSpPr>
        <p:spPr>
          <a:xfrm>
            <a:off x="326425" y="4176075"/>
            <a:ext cx="1248000" cy="2127000"/>
          </a:xfrm>
          <a:prstGeom prst="rect">
            <a:avLst/>
          </a:prstGeom>
          <a:solidFill>
            <a:srgbClr val="CFE2F3"/>
          </a:solidFill>
          <a:ln cap="flat" cmpd="sng" w="952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45"/>
          <p:cNvSpPr/>
          <p:nvPr/>
        </p:nvSpPr>
        <p:spPr>
          <a:xfrm>
            <a:off x="7235400" y="1354009"/>
            <a:ext cx="1740600" cy="2352900"/>
          </a:xfrm>
          <a:prstGeom prst="rect">
            <a:avLst/>
          </a:prstGeom>
          <a:solidFill>
            <a:srgbClr val="CFE2F3"/>
          </a:solidFill>
          <a:ln cap="flat" cmpd="sng" w="952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5"/>
          <p:cNvSpPr/>
          <p:nvPr/>
        </p:nvSpPr>
        <p:spPr>
          <a:xfrm>
            <a:off x="5101450" y="1344650"/>
            <a:ext cx="1971000" cy="2352900"/>
          </a:xfrm>
          <a:prstGeom prst="rect">
            <a:avLst/>
          </a:prstGeom>
          <a:solidFill>
            <a:srgbClr val="CFE2F3"/>
          </a:solidFill>
          <a:ln cap="flat" cmpd="sng" w="952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45"/>
          <p:cNvSpPr/>
          <p:nvPr/>
        </p:nvSpPr>
        <p:spPr>
          <a:xfrm>
            <a:off x="307325" y="1344650"/>
            <a:ext cx="4651500" cy="2352900"/>
          </a:xfrm>
          <a:prstGeom prst="rect">
            <a:avLst/>
          </a:prstGeom>
          <a:solidFill>
            <a:srgbClr val="CFE2F3"/>
          </a:solidFill>
          <a:ln cap="flat" cmpd="sng" w="952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5"/>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a:t>
            </a:r>
            <a:r>
              <a:rPr lang="en-GB"/>
              <a:t> lớp: Các thành phần thường gặp</a:t>
            </a:r>
            <a:endParaRPr/>
          </a:p>
        </p:txBody>
      </p:sp>
      <p:sp>
        <p:nvSpPr>
          <p:cNvPr id="332" name="Google Shape;332;p4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33" name="Google Shape;333;p45"/>
          <p:cNvSpPr/>
          <p:nvPr/>
        </p:nvSpPr>
        <p:spPr>
          <a:xfrm>
            <a:off x="509225" y="1787950"/>
            <a:ext cx="1479900" cy="29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Tên Lớp</a:t>
            </a:r>
            <a:endParaRPr b="1" sz="1600"/>
          </a:p>
        </p:txBody>
      </p:sp>
      <p:sp>
        <p:nvSpPr>
          <p:cNvPr id="334" name="Google Shape;334;p45"/>
          <p:cNvSpPr txBox="1"/>
          <p:nvPr/>
        </p:nvSpPr>
        <p:spPr>
          <a:xfrm>
            <a:off x="476250" y="2665280"/>
            <a:ext cx="1206900" cy="37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1600">
                <a:latin typeface="Times New Roman"/>
                <a:ea typeface="Times New Roman"/>
                <a:cs typeface="Times New Roman"/>
                <a:sym typeface="Times New Roman"/>
              </a:rPr>
              <a:t>Đầy đủ</a:t>
            </a:r>
            <a:endParaRPr i="1" sz="1600">
              <a:latin typeface="Times New Roman"/>
              <a:ea typeface="Times New Roman"/>
              <a:cs typeface="Times New Roman"/>
              <a:sym typeface="Times New Roman"/>
            </a:endParaRPr>
          </a:p>
        </p:txBody>
      </p:sp>
      <p:sp>
        <p:nvSpPr>
          <p:cNvPr id="335" name="Google Shape;335;p45"/>
          <p:cNvSpPr txBox="1"/>
          <p:nvPr/>
        </p:nvSpPr>
        <p:spPr>
          <a:xfrm>
            <a:off x="3600452" y="2071759"/>
            <a:ext cx="1158600" cy="37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1600">
                <a:latin typeface="Times New Roman"/>
                <a:ea typeface="Times New Roman"/>
                <a:cs typeface="Times New Roman"/>
                <a:sym typeface="Times New Roman"/>
              </a:rPr>
              <a:t>Tối giản</a:t>
            </a:r>
            <a:endParaRPr i="1" sz="1600">
              <a:latin typeface="Times New Roman"/>
              <a:ea typeface="Times New Roman"/>
              <a:cs typeface="Times New Roman"/>
              <a:sym typeface="Times New Roman"/>
            </a:endParaRPr>
          </a:p>
        </p:txBody>
      </p:sp>
      <p:sp>
        <p:nvSpPr>
          <p:cNvPr id="336" name="Google Shape;336;p45"/>
          <p:cNvSpPr txBox="1"/>
          <p:nvPr/>
        </p:nvSpPr>
        <p:spPr>
          <a:xfrm>
            <a:off x="2000250" y="2986159"/>
            <a:ext cx="1179600" cy="37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1600">
                <a:latin typeface="Times New Roman"/>
                <a:ea typeface="Times New Roman"/>
                <a:cs typeface="Times New Roman"/>
                <a:sym typeface="Times New Roman"/>
              </a:rPr>
              <a:t>Giản lược</a:t>
            </a:r>
            <a:endParaRPr i="1" sz="1600">
              <a:latin typeface="Times New Roman"/>
              <a:ea typeface="Times New Roman"/>
              <a:cs typeface="Times New Roman"/>
              <a:sym typeface="Times New Roman"/>
            </a:endParaRPr>
          </a:p>
        </p:txBody>
      </p:sp>
      <p:sp>
        <p:nvSpPr>
          <p:cNvPr id="337" name="Google Shape;337;p45"/>
          <p:cNvSpPr txBox="1"/>
          <p:nvPr/>
        </p:nvSpPr>
        <p:spPr>
          <a:xfrm>
            <a:off x="350650" y="1379259"/>
            <a:ext cx="4750800" cy="37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Các thành phần của lớp: Tên, thuộc tính, phương thức</a:t>
            </a:r>
            <a:endParaRPr sz="1600">
              <a:latin typeface="Times New Roman"/>
              <a:ea typeface="Times New Roman"/>
              <a:cs typeface="Times New Roman"/>
              <a:sym typeface="Times New Roman"/>
            </a:endParaRPr>
          </a:p>
        </p:txBody>
      </p:sp>
      <p:sp>
        <p:nvSpPr>
          <p:cNvPr id="338" name="Google Shape;338;p45"/>
          <p:cNvSpPr txBox="1"/>
          <p:nvPr/>
        </p:nvSpPr>
        <p:spPr>
          <a:xfrm>
            <a:off x="5101526" y="1366750"/>
            <a:ext cx="1971000" cy="212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Giới hạn truy cập:</a:t>
            </a:r>
            <a:endParaRPr sz="1600">
              <a:latin typeface="Times New Roman"/>
              <a:ea typeface="Times New Roman"/>
              <a:cs typeface="Times New Roman"/>
              <a:sym typeface="Times New Roman"/>
            </a:endParaRPr>
          </a:p>
          <a:p>
            <a:pPr indent="0" lvl="0" marL="179999" rtl="0" algn="l">
              <a:spcBef>
                <a:spcPts val="0"/>
              </a:spcBef>
              <a:spcAft>
                <a:spcPts val="0"/>
              </a:spcAft>
              <a:buNone/>
            </a:pPr>
            <a:r>
              <a:rPr lang="en-GB" sz="1600">
                <a:latin typeface="Times New Roman"/>
                <a:ea typeface="Times New Roman"/>
                <a:cs typeface="Times New Roman"/>
                <a:sym typeface="Times New Roman"/>
              </a:rPr>
              <a:t>  +: Công khai </a:t>
            </a:r>
            <a:endParaRPr sz="1600">
              <a:latin typeface="Times New Roman"/>
              <a:ea typeface="Times New Roman"/>
              <a:cs typeface="Times New Roman"/>
              <a:sym typeface="Times New Roman"/>
            </a:endParaRPr>
          </a:p>
          <a:p>
            <a:pPr indent="0" lvl="0" marL="179999" rtl="0" algn="l">
              <a:spcBef>
                <a:spcPts val="0"/>
              </a:spcBef>
              <a:spcAft>
                <a:spcPts val="0"/>
              </a:spcAft>
              <a:buNone/>
            </a:pPr>
            <a:r>
              <a:rPr lang="en-GB" sz="1600">
                <a:latin typeface="Times New Roman"/>
                <a:ea typeface="Times New Roman"/>
                <a:cs typeface="Times New Roman"/>
                <a:sym typeface="Times New Roman"/>
              </a:rPr>
              <a:t>  - : Riêng tư</a:t>
            </a:r>
            <a:endParaRPr sz="1600">
              <a:latin typeface="Times New Roman"/>
              <a:ea typeface="Times New Roman"/>
              <a:cs typeface="Times New Roman"/>
              <a:sym typeface="Times New Roman"/>
            </a:endParaRPr>
          </a:p>
          <a:p>
            <a:pPr indent="0" lvl="0" marL="179999" rtl="0" algn="l">
              <a:spcBef>
                <a:spcPts val="0"/>
              </a:spcBef>
              <a:spcAft>
                <a:spcPts val="0"/>
              </a:spcAft>
              <a:buNone/>
            </a:pPr>
            <a:r>
              <a:rPr lang="en-GB" sz="1600">
                <a:latin typeface="Times New Roman"/>
                <a:ea typeface="Times New Roman"/>
                <a:cs typeface="Times New Roman"/>
                <a:sym typeface="Times New Roman"/>
              </a:rPr>
              <a:t>  # : Bảo vệ</a:t>
            </a:r>
            <a:endParaRPr sz="1600">
              <a:latin typeface="Times New Roman"/>
              <a:ea typeface="Times New Roman"/>
              <a:cs typeface="Times New Roman"/>
              <a:sym typeface="Times New Roman"/>
            </a:endParaRPr>
          </a:p>
        </p:txBody>
      </p:sp>
      <p:sp>
        <p:nvSpPr>
          <p:cNvPr id="339" name="Google Shape;339;p45"/>
          <p:cNvSpPr/>
          <p:nvPr/>
        </p:nvSpPr>
        <p:spPr>
          <a:xfrm>
            <a:off x="7444950" y="1747750"/>
            <a:ext cx="1165500" cy="18762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t>C</a:t>
            </a:r>
            <a:endParaRPr b="1" sz="1600"/>
          </a:p>
          <a:p>
            <a:pPr indent="0" lvl="0" marL="0" rtl="0" algn="l">
              <a:spcBef>
                <a:spcPts val="0"/>
              </a:spcBef>
              <a:spcAft>
                <a:spcPts val="0"/>
              </a:spcAft>
              <a:buNone/>
            </a:pPr>
            <a:r>
              <a:rPr lang="en-GB" sz="1600"/>
              <a:t>+ a1</a:t>
            </a:r>
            <a:endParaRPr sz="1600"/>
          </a:p>
          <a:p>
            <a:pPr indent="0" lvl="0" marL="0" rtl="0" algn="l">
              <a:spcBef>
                <a:spcPts val="0"/>
              </a:spcBef>
              <a:spcAft>
                <a:spcPts val="0"/>
              </a:spcAft>
              <a:buNone/>
            </a:pPr>
            <a:r>
              <a:rPr lang="en-GB" sz="1600"/>
              <a:t>- a2</a:t>
            </a:r>
            <a:endParaRPr sz="1600"/>
          </a:p>
          <a:p>
            <a:pPr indent="0" lvl="0" marL="0" rtl="0" algn="l">
              <a:spcBef>
                <a:spcPts val="0"/>
              </a:spcBef>
              <a:spcAft>
                <a:spcPts val="0"/>
              </a:spcAft>
              <a:buNone/>
            </a:pPr>
            <a:r>
              <a:rPr lang="en-GB" sz="1600"/>
              <a:t># a3</a:t>
            </a:r>
            <a:endParaRPr sz="1600"/>
          </a:p>
          <a:p>
            <a:pPr indent="0" lvl="0" marL="0" rtl="0" algn="l">
              <a:spcBef>
                <a:spcPts val="0"/>
              </a:spcBef>
              <a:spcAft>
                <a:spcPts val="0"/>
              </a:spcAft>
              <a:buNone/>
            </a:pPr>
            <a:r>
              <a:rPr lang="en-GB" sz="1600"/>
              <a:t>+ op1 ()</a:t>
            </a:r>
            <a:endParaRPr sz="1600"/>
          </a:p>
          <a:p>
            <a:pPr indent="0" lvl="0" marL="0" rtl="0" algn="l">
              <a:spcBef>
                <a:spcPts val="0"/>
              </a:spcBef>
              <a:spcAft>
                <a:spcPts val="0"/>
              </a:spcAft>
              <a:buNone/>
            </a:pPr>
            <a:r>
              <a:rPr lang="en-GB" sz="1600"/>
              <a:t> - op2 ()</a:t>
            </a:r>
            <a:endParaRPr sz="1600"/>
          </a:p>
          <a:p>
            <a:pPr indent="0" lvl="0" marL="0" rtl="0" algn="l">
              <a:spcBef>
                <a:spcPts val="0"/>
              </a:spcBef>
              <a:spcAft>
                <a:spcPts val="0"/>
              </a:spcAft>
              <a:buNone/>
            </a:pPr>
            <a:r>
              <a:rPr lang="en-GB" sz="1600"/>
              <a:t> # op3()</a:t>
            </a:r>
            <a:endParaRPr sz="1600"/>
          </a:p>
        </p:txBody>
      </p:sp>
      <p:cxnSp>
        <p:nvCxnSpPr>
          <p:cNvPr id="340" name="Google Shape;340;p45"/>
          <p:cNvCxnSpPr/>
          <p:nvPr/>
        </p:nvCxnSpPr>
        <p:spPr>
          <a:xfrm>
            <a:off x="7451898" y="2086525"/>
            <a:ext cx="1158600" cy="16200"/>
          </a:xfrm>
          <a:prstGeom prst="straightConnector1">
            <a:avLst/>
          </a:prstGeom>
          <a:noFill/>
          <a:ln cap="flat" cmpd="sng" w="9525">
            <a:solidFill>
              <a:schemeClr val="dk2"/>
            </a:solidFill>
            <a:prstDash val="solid"/>
            <a:round/>
            <a:headEnd len="med" w="med" type="none"/>
            <a:tailEnd len="med" w="med" type="none"/>
          </a:ln>
        </p:spPr>
      </p:cxnSp>
      <p:cxnSp>
        <p:nvCxnSpPr>
          <p:cNvPr id="341" name="Google Shape;341;p45"/>
          <p:cNvCxnSpPr/>
          <p:nvPr/>
        </p:nvCxnSpPr>
        <p:spPr>
          <a:xfrm>
            <a:off x="7451898" y="2844212"/>
            <a:ext cx="1158600" cy="16200"/>
          </a:xfrm>
          <a:prstGeom prst="straightConnector1">
            <a:avLst/>
          </a:prstGeom>
          <a:noFill/>
          <a:ln cap="flat" cmpd="sng" w="9525">
            <a:solidFill>
              <a:schemeClr val="dk2"/>
            </a:solidFill>
            <a:prstDash val="solid"/>
            <a:round/>
            <a:headEnd len="med" w="med" type="none"/>
            <a:tailEnd len="med" w="med" type="none"/>
          </a:ln>
        </p:spPr>
      </p:cxnSp>
      <p:sp>
        <p:nvSpPr>
          <p:cNvPr id="342" name="Google Shape;342;p45"/>
          <p:cNvSpPr/>
          <p:nvPr/>
        </p:nvSpPr>
        <p:spPr>
          <a:xfrm>
            <a:off x="532413" y="4262350"/>
            <a:ext cx="7407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A</a:t>
            </a:r>
            <a:endParaRPr b="1" sz="1600"/>
          </a:p>
        </p:txBody>
      </p:sp>
      <p:sp>
        <p:nvSpPr>
          <p:cNvPr id="343" name="Google Shape;343;p45"/>
          <p:cNvSpPr/>
          <p:nvPr/>
        </p:nvSpPr>
        <p:spPr>
          <a:xfrm>
            <a:off x="532413" y="5329150"/>
            <a:ext cx="7407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B</a:t>
            </a:r>
            <a:endParaRPr b="1" sz="1600"/>
          </a:p>
        </p:txBody>
      </p:sp>
      <p:sp>
        <p:nvSpPr>
          <p:cNvPr id="344" name="Google Shape;344;p45"/>
          <p:cNvSpPr/>
          <p:nvPr/>
        </p:nvSpPr>
        <p:spPr>
          <a:xfrm>
            <a:off x="1806524" y="5321100"/>
            <a:ext cx="6321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D</a:t>
            </a:r>
            <a:endParaRPr b="1" sz="1600"/>
          </a:p>
        </p:txBody>
      </p:sp>
      <p:sp>
        <p:nvSpPr>
          <p:cNvPr id="345" name="Google Shape;345;p45"/>
          <p:cNvSpPr/>
          <p:nvPr/>
        </p:nvSpPr>
        <p:spPr>
          <a:xfrm>
            <a:off x="1838620" y="4281655"/>
            <a:ext cx="5682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C</a:t>
            </a:r>
            <a:endParaRPr b="1" sz="1600"/>
          </a:p>
        </p:txBody>
      </p:sp>
      <p:sp>
        <p:nvSpPr>
          <p:cNvPr id="346" name="Google Shape;346;p45"/>
          <p:cNvSpPr/>
          <p:nvPr/>
        </p:nvSpPr>
        <p:spPr>
          <a:xfrm>
            <a:off x="5049575" y="4261100"/>
            <a:ext cx="5991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G</a:t>
            </a:r>
            <a:endParaRPr b="1" sz="1600"/>
          </a:p>
        </p:txBody>
      </p:sp>
      <p:sp>
        <p:nvSpPr>
          <p:cNvPr id="347" name="Google Shape;347;p45"/>
          <p:cNvSpPr/>
          <p:nvPr/>
        </p:nvSpPr>
        <p:spPr>
          <a:xfrm>
            <a:off x="5053244" y="5327900"/>
            <a:ext cx="5991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H</a:t>
            </a:r>
            <a:endParaRPr b="1" sz="1600"/>
          </a:p>
        </p:txBody>
      </p:sp>
      <p:cxnSp>
        <p:nvCxnSpPr>
          <p:cNvPr id="348" name="Google Shape;348;p45"/>
          <p:cNvCxnSpPr>
            <a:stCxn id="346" idx="2"/>
            <a:endCxn id="347" idx="0"/>
          </p:cNvCxnSpPr>
          <p:nvPr/>
        </p:nvCxnSpPr>
        <p:spPr>
          <a:xfrm>
            <a:off x="5349125" y="4668200"/>
            <a:ext cx="3600" cy="659700"/>
          </a:xfrm>
          <a:prstGeom prst="straightConnector1">
            <a:avLst/>
          </a:prstGeom>
          <a:noFill/>
          <a:ln cap="flat" cmpd="sng" w="9525">
            <a:solidFill>
              <a:schemeClr val="dk2"/>
            </a:solidFill>
            <a:prstDash val="solid"/>
            <a:round/>
            <a:headEnd len="med" w="med" type="none"/>
            <a:tailEnd len="med" w="med" type="none"/>
          </a:ln>
        </p:spPr>
      </p:cxnSp>
      <p:sp>
        <p:nvSpPr>
          <p:cNvPr id="349" name="Google Shape;349;p45"/>
          <p:cNvSpPr txBox="1"/>
          <p:nvPr/>
        </p:nvSpPr>
        <p:spPr>
          <a:xfrm>
            <a:off x="4767150" y="4798398"/>
            <a:ext cx="632100" cy="35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Nhãn</a:t>
            </a:r>
            <a:endParaRPr sz="1600">
              <a:latin typeface="Times New Roman"/>
              <a:ea typeface="Times New Roman"/>
              <a:cs typeface="Times New Roman"/>
              <a:sym typeface="Times New Roman"/>
            </a:endParaRPr>
          </a:p>
        </p:txBody>
      </p:sp>
      <p:sp>
        <p:nvSpPr>
          <p:cNvPr id="350" name="Google Shape;350;p45"/>
          <p:cNvSpPr txBox="1"/>
          <p:nvPr/>
        </p:nvSpPr>
        <p:spPr>
          <a:xfrm>
            <a:off x="5330400" y="4557087"/>
            <a:ext cx="548700" cy="29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
        <p:nvSpPr>
          <p:cNvPr id="351" name="Google Shape;351;p45"/>
          <p:cNvSpPr txBox="1"/>
          <p:nvPr/>
        </p:nvSpPr>
        <p:spPr>
          <a:xfrm>
            <a:off x="5330400" y="5014287"/>
            <a:ext cx="548700" cy="29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
        <p:nvSpPr>
          <p:cNvPr id="352" name="Google Shape;352;p45"/>
          <p:cNvSpPr/>
          <p:nvPr/>
        </p:nvSpPr>
        <p:spPr>
          <a:xfrm>
            <a:off x="6534695" y="4261100"/>
            <a:ext cx="5991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G</a:t>
            </a:r>
            <a:endParaRPr sz="1600"/>
          </a:p>
        </p:txBody>
      </p:sp>
      <p:sp>
        <p:nvSpPr>
          <p:cNvPr id="353" name="Google Shape;353;p45"/>
          <p:cNvSpPr/>
          <p:nvPr/>
        </p:nvSpPr>
        <p:spPr>
          <a:xfrm>
            <a:off x="6534704" y="5329150"/>
            <a:ext cx="5991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H</a:t>
            </a:r>
            <a:endParaRPr b="1" sz="1600"/>
          </a:p>
        </p:txBody>
      </p:sp>
      <p:sp>
        <p:nvSpPr>
          <p:cNvPr id="354" name="Google Shape;354;p45"/>
          <p:cNvSpPr txBox="1"/>
          <p:nvPr/>
        </p:nvSpPr>
        <p:spPr>
          <a:xfrm>
            <a:off x="6852725" y="4543200"/>
            <a:ext cx="548700" cy="29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Times New Roman"/>
                <a:ea typeface="Times New Roman"/>
                <a:cs typeface="Times New Roman"/>
                <a:sym typeface="Times New Roman"/>
              </a:rPr>
              <a:t>…</a:t>
            </a:r>
            <a:endParaRPr b="1">
              <a:latin typeface="Times New Roman"/>
              <a:ea typeface="Times New Roman"/>
              <a:cs typeface="Times New Roman"/>
              <a:sym typeface="Times New Roman"/>
            </a:endParaRPr>
          </a:p>
        </p:txBody>
      </p:sp>
      <p:sp>
        <p:nvSpPr>
          <p:cNvPr id="355" name="Google Shape;355;p45"/>
          <p:cNvSpPr txBox="1"/>
          <p:nvPr/>
        </p:nvSpPr>
        <p:spPr>
          <a:xfrm>
            <a:off x="6854400" y="4938075"/>
            <a:ext cx="444000" cy="29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cxnSp>
        <p:nvCxnSpPr>
          <p:cNvPr id="356" name="Google Shape;356;p45"/>
          <p:cNvCxnSpPr>
            <a:stCxn id="352" idx="2"/>
            <a:endCxn id="353" idx="0"/>
          </p:cNvCxnSpPr>
          <p:nvPr/>
        </p:nvCxnSpPr>
        <p:spPr>
          <a:xfrm>
            <a:off x="6834245" y="4668200"/>
            <a:ext cx="0" cy="660900"/>
          </a:xfrm>
          <a:prstGeom prst="straightConnector1">
            <a:avLst/>
          </a:prstGeom>
          <a:noFill/>
          <a:ln cap="flat" cmpd="sng" w="9525">
            <a:solidFill>
              <a:schemeClr val="dk2"/>
            </a:solidFill>
            <a:prstDash val="solid"/>
            <a:round/>
            <a:headEnd len="med" w="med" type="none"/>
            <a:tailEnd len="med" w="med" type="none"/>
          </a:ln>
        </p:spPr>
      </p:cxnSp>
      <p:sp>
        <p:nvSpPr>
          <p:cNvPr id="357" name="Google Shape;357;p45"/>
          <p:cNvSpPr/>
          <p:nvPr/>
        </p:nvSpPr>
        <p:spPr>
          <a:xfrm>
            <a:off x="7650195" y="4774579"/>
            <a:ext cx="5991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I</a:t>
            </a:r>
            <a:endParaRPr b="1" sz="1600"/>
          </a:p>
        </p:txBody>
      </p:sp>
      <p:cxnSp>
        <p:nvCxnSpPr>
          <p:cNvPr id="358" name="Google Shape;358;p45"/>
          <p:cNvCxnSpPr/>
          <p:nvPr/>
        </p:nvCxnSpPr>
        <p:spPr>
          <a:xfrm flipH="1">
            <a:off x="6831300" y="4976025"/>
            <a:ext cx="826800" cy="8700"/>
          </a:xfrm>
          <a:prstGeom prst="straightConnector1">
            <a:avLst/>
          </a:prstGeom>
          <a:noFill/>
          <a:ln cap="flat" cmpd="sng" w="9525">
            <a:solidFill>
              <a:schemeClr val="dk2"/>
            </a:solidFill>
            <a:prstDash val="dot"/>
            <a:round/>
            <a:headEnd len="med" w="med" type="none"/>
            <a:tailEnd len="med" w="med" type="none"/>
          </a:ln>
        </p:spPr>
      </p:cxnSp>
      <p:sp>
        <p:nvSpPr>
          <p:cNvPr id="359" name="Google Shape;359;p45"/>
          <p:cNvSpPr txBox="1"/>
          <p:nvPr/>
        </p:nvSpPr>
        <p:spPr>
          <a:xfrm>
            <a:off x="509501" y="5723825"/>
            <a:ext cx="914400" cy="35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Kế thừa</a:t>
            </a:r>
            <a:endParaRPr sz="1600">
              <a:latin typeface="Times New Roman"/>
              <a:ea typeface="Times New Roman"/>
              <a:cs typeface="Times New Roman"/>
              <a:sym typeface="Times New Roman"/>
            </a:endParaRPr>
          </a:p>
        </p:txBody>
      </p:sp>
      <p:sp>
        <p:nvSpPr>
          <p:cNvPr id="360" name="Google Shape;360;p45"/>
          <p:cNvSpPr txBox="1"/>
          <p:nvPr/>
        </p:nvSpPr>
        <p:spPr>
          <a:xfrm>
            <a:off x="7477291" y="4444525"/>
            <a:ext cx="1158600" cy="35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latin typeface="Times New Roman"/>
                <a:ea typeface="Times New Roman"/>
                <a:cs typeface="Times New Roman"/>
                <a:sym typeface="Times New Roman"/>
              </a:rPr>
              <a:t>Lớp liên kết</a:t>
            </a:r>
            <a:endParaRPr i="1" sz="1600">
              <a:latin typeface="Times New Roman"/>
              <a:ea typeface="Times New Roman"/>
              <a:cs typeface="Times New Roman"/>
              <a:sym typeface="Times New Roman"/>
            </a:endParaRPr>
          </a:p>
        </p:txBody>
      </p:sp>
      <p:sp>
        <p:nvSpPr>
          <p:cNvPr id="361" name="Google Shape;361;p45"/>
          <p:cNvSpPr txBox="1"/>
          <p:nvPr/>
        </p:nvSpPr>
        <p:spPr>
          <a:xfrm>
            <a:off x="6477350" y="5687500"/>
            <a:ext cx="914400" cy="35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Liên </a:t>
            </a:r>
            <a:r>
              <a:rPr lang="en-GB" sz="1600">
                <a:latin typeface="Times New Roman"/>
                <a:ea typeface="Times New Roman"/>
                <a:cs typeface="Times New Roman"/>
                <a:sym typeface="Times New Roman"/>
              </a:rPr>
              <a:t>kết</a:t>
            </a:r>
            <a:endParaRPr sz="1600">
              <a:latin typeface="Times New Roman"/>
              <a:ea typeface="Times New Roman"/>
              <a:cs typeface="Times New Roman"/>
              <a:sym typeface="Times New Roman"/>
            </a:endParaRPr>
          </a:p>
        </p:txBody>
      </p:sp>
      <p:sp>
        <p:nvSpPr>
          <p:cNvPr id="362" name="Google Shape;362;p45"/>
          <p:cNvSpPr txBox="1"/>
          <p:nvPr/>
        </p:nvSpPr>
        <p:spPr>
          <a:xfrm>
            <a:off x="7314275" y="1347100"/>
            <a:ext cx="1597200" cy="40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latin typeface="Times New Roman"/>
                <a:ea typeface="Times New Roman"/>
                <a:cs typeface="Times New Roman"/>
                <a:sym typeface="Times New Roman"/>
              </a:rPr>
              <a:t>Ví dụ lớp</a:t>
            </a:r>
            <a:endParaRPr i="1" sz="1600">
              <a:latin typeface="Times New Roman"/>
              <a:ea typeface="Times New Roman"/>
              <a:cs typeface="Times New Roman"/>
              <a:sym typeface="Times New Roman"/>
            </a:endParaRPr>
          </a:p>
        </p:txBody>
      </p:sp>
      <p:sp>
        <p:nvSpPr>
          <p:cNvPr id="363" name="Google Shape;363;p45"/>
          <p:cNvSpPr txBox="1"/>
          <p:nvPr/>
        </p:nvSpPr>
        <p:spPr>
          <a:xfrm>
            <a:off x="310550" y="3759500"/>
            <a:ext cx="1270500" cy="37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New Roman"/>
                <a:ea typeface="Times New Roman"/>
                <a:cs typeface="Times New Roman"/>
                <a:sym typeface="Times New Roman"/>
              </a:rPr>
              <a:t>Quan hệ</a:t>
            </a:r>
            <a:endParaRPr b="1" sz="1800">
              <a:latin typeface="Times New Roman"/>
              <a:ea typeface="Times New Roman"/>
              <a:cs typeface="Times New Roman"/>
              <a:sym typeface="Times New Roman"/>
            </a:endParaRPr>
          </a:p>
        </p:txBody>
      </p:sp>
      <p:sp>
        <p:nvSpPr>
          <p:cNvPr id="364" name="Google Shape;364;p45"/>
          <p:cNvSpPr txBox="1"/>
          <p:nvPr/>
        </p:nvSpPr>
        <p:spPr>
          <a:xfrm>
            <a:off x="310550" y="940100"/>
            <a:ext cx="4750800" cy="37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New Roman"/>
                <a:ea typeface="Times New Roman"/>
                <a:cs typeface="Times New Roman"/>
                <a:sym typeface="Times New Roman"/>
              </a:rPr>
              <a:t>Lớp</a:t>
            </a:r>
            <a:endParaRPr b="1" sz="1800">
              <a:latin typeface="Times New Roman"/>
              <a:ea typeface="Times New Roman"/>
              <a:cs typeface="Times New Roman"/>
              <a:sym typeface="Times New Roman"/>
            </a:endParaRPr>
          </a:p>
        </p:txBody>
      </p:sp>
      <p:sp>
        <p:nvSpPr>
          <p:cNvPr id="365" name="Google Shape;365;p45"/>
          <p:cNvSpPr txBox="1"/>
          <p:nvPr/>
        </p:nvSpPr>
        <p:spPr>
          <a:xfrm>
            <a:off x="434500" y="3307460"/>
            <a:ext cx="4395000" cy="35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1600">
                <a:latin typeface="Times New Roman"/>
                <a:ea typeface="Times New Roman"/>
                <a:cs typeface="Times New Roman"/>
                <a:sym typeface="Times New Roman"/>
              </a:rPr>
              <a:t>(</a:t>
            </a:r>
            <a:r>
              <a:rPr i="1" lang="en-GB" sz="1600">
                <a:latin typeface="Times New Roman"/>
                <a:ea typeface="Times New Roman"/>
                <a:cs typeface="Times New Roman"/>
                <a:sym typeface="Times New Roman"/>
              </a:rPr>
              <a:t>Có thể lược </a:t>
            </a:r>
            <a:r>
              <a:rPr i="1" lang="en-GB" sz="1600">
                <a:latin typeface="Times New Roman"/>
                <a:ea typeface="Times New Roman"/>
                <a:cs typeface="Times New Roman"/>
                <a:sym typeface="Times New Roman"/>
              </a:rPr>
              <a:t>bỏ </a:t>
            </a:r>
            <a:r>
              <a:rPr i="1" lang="en-GB" sz="1600">
                <a:latin typeface="Times New Roman"/>
                <a:ea typeface="Times New Roman"/>
                <a:cs typeface="Times New Roman"/>
                <a:sym typeface="Times New Roman"/>
              </a:rPr>
              <a:t>thuộc tính và/hoặc phương thức)</a:t>
            </a:r>
            <a:endParaRPr i="1" sz="1600">
              <a:latin typeface="Times New Roman"/>
              <a:ea typeface="Times New Roman"/>
              <a:cs typeface="Times New Roman"/>
              <a:sym typeface="Times New Roman"/>
            </a:endParaRPr>
          </a:p>
        </p:txBody>
      </p:sp>
      <p:sp>
        <p:nvSpPr>
          <p:cNvPr id="366" name="Google Shape;366;p45"/>
          <p:cNvSpPr txBox="1"/>
          <p:nvPr/>
        </p:nvSpPr>
        <p:spPr>
          <a:xfrm>
            <a:off x="2102039" y="4962195"/>
            <a:ext cx="368100" cy="29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
        <p:nvSpPr>
          <p:cNvPr id="367" name="Google Shape;367;p45"/>
          <p:cNvSpPr txBox="1"/>
          <p:nvPr/>
        </p:nvSpPr>
        <p:spPr>
          <a:xfrm>
            <a:off x="1453600" y="5719828"/>
            <a:ext cx="1270500" cy="52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Hợp thành</a:t>
            </a:r>
            <a:endParaRPr sz="1600">
              <a:latin typeface="Times New Roman"/>
              <a:ea typeface="Times New Roman"/>
              <a:cs typeface="Times New Roman"/>
              <a:sym typeface="Times New Roman"/>
            </a:endParaRPr>
          </a:p>
        </p:txBody>
      </p:sp>
      <p:sp>
        <p:nvSpPr>
          <p:cNvPr id="368" name="Google Shape;368;p45"/>
          <p:cNvSpPr/>
          <p:nvPr/>
        </p:nvSpPr>
        <p:spPr>
          <a:xfrm>
            <a:off x="509225" y="2084701"/>
            <a:ext cx="1479900" cy="29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600"/>
              <a:t>thuộc tính</a:t>
            </a:r>
            <a:endParaRPr sz="1600"/>
          </a:p>
        </p:txBody>
      </p:sp>
      <p:sp>
        <p:nvSpPr>
          <p:cNvPr id="369" name="Google Shape;369;p45"/>
          <p:cNvSpPr/>
          <p:nvPr/>
        </p:nvSpPr>
        <p:spPr>
          <a:xfrm>
            <a:off x="509225" y="2381451"/>
            <a:ext cx="1479900" cy="29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600"/>
              <a:t>phương thức</a:t>
            </a:r>
            <a:endParaRPr sz="1600"/>
          </a:p>
        </p:txBody>
      </p:sp>
      <p:sp>
        <p:nvSpPr>
          <p:cNvPr id="370" name="Google Shape;370;p45"/>
          <p:cNvSpPr/>
          <p:nvPr/>
        </p:nvSpPr>
        <p:spPr>
          <a:xfrm>
            <a:off x="2065375" y="1787950"/>
            <a:ext cx="1479900" cy="29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Tên </a:t>
            </a:r>
            <a:r>
              <a:rPr b="1" lang="en-GB" sz="1600"/>
              <a:t>L</a:t>
            </a:r>
            <a:r>
              <a:rPr b="1" lang="en-GB" sz="1600"/>
              <a:t>ớp</a:t>
            </a:r>
            <a:endParaRPr b="1" sz="1600"/>
          </a:p>
        </p:txBody>
      </p:sp>
      <p:sp>
        <p:nvSpPr>
          <p:cNvPr id="371" name="Google Shape;371;p45"/>
          <p:cNvSpPr/>
          <p:nvPr/>
        </p:nvSpPr>
        <p:spPr>
          <a:xfrm>
            <a:off x="2065375" y="2084706"/>
            <a:ext cx="1479900" cy="29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600"/>
              <a:t>t</a:t>
            </a:r>
            <a:r>
              <a:rPr lang="en-GB" sz="1600"/>
              <a:t>huộc tính</a:t>
            </a:r>
            <a:endParaRPr sz="1600"/>
          </a:p>
        </p:txBody>
      </p:sp>
      <p:sp>
        <p:nvSpPr>
          <p:cNvPr id="372" name="Google Shape;372;p45"/>
          <p:cNvSpPr/>
          <p:nvPr/>
        </p:nvSpPr>
        <p:spPr>
          <a:xfrm>
            <a:off x="3648125" y="1787950"/>
            <a:ext cx="1179600" cy="29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Tên </a:t>
            </a:r>
            <a:r>
              <a:rPr b="1" lang="en-GB" sz="1600"/>
              <a:t>L</a:t>
            </a:r>
            <a:r>
              <a:rPr b="1" lang="en-GB" sz="1600"/>
              <a:t>ớp</a:t>
            </a:r>
            <a:endParaRPr b="1" sz="1600"/>
          </a:p>
        </p:txBody>
      </p:sp>
      <p:sp>
        <p:nvSpPr>
          <p:cNvPr id="373" name="Google Shape;373;p45"/>
          <p:cNvSpPr/>
          <p:nvPr/>
        </p:nvSpPr>
        <p:spPr>
          <a:xfrm>
            <a:off x="2065375" y="2441593"/>
            <a:ext cx="1479900" cy="29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Tên lớp</a:t>
            </a:r>
            <a:endParaRPr b="1" sz="1600"/>
          </a:p>
        </p:txBody>
      </p:sp>
      <p:sp>
        <p:nvSpPr>
          <p:cNvPr id="374" name="Google Shape;374;p45"/>
          <p:cNvSpPr/>
          <p:nvPr/>
        </p:nvSpPr>
        <p:spPr>
          <a:xfrm>
            <a:off x="2065375" y="2738350"/>
            <a:ext cx="1479900" cy="29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600">
                <a:solidFill>
                  <a:schemeClr val="dk1"/>
                </a:solidFill>
              </a:rPr>
              <a:t>p</a:t>
            </a:r>
            <a:r>
              <a:rPr lang="en-GB" sz="1600">
                <a:solidFill>
                  <a:schemeClr val="dk1"/>
                </a:solidFill>
              </a:rPr>
              <a:t>hương thức</a:t>
            </a:r>
            <a:endParaRPr sz="1600"/>
          </a:p>
        </p:txBody>
      </p:sp>
      <p:sp>
        <p:nvSpPr>
          <p:cNvPr id="375" name="Google Shape;375;p45"/>
          <p:cNvSpPr txBox="1"/>
          <p:nvPr/>
        </p:nvSpPr>
        <p:spPr>
          <a:xfrm>
            <a:off x="434500" y="6279250"/>
            <a:ext cx="8286900" cy="35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rgbClr val="666666"/>
                </a:solidFill>
                <a:latin typeface="Times New Roman"/>
                <a:ea typeface="Times New Roman"/>
                <a:cs typeface="Times New Roman"/>
                <a:sym typeface="Times New Roman"/>
              </a:rPr>
              <a:t>(</a:t>
            </a:r>
            <a:r>
              <a:rPr i="1" lang="en-GB" sz="1800">
                <a:solidFill>
                  <a:srgbClr val="666666"/>
                </a:solidFill>
                <a:latin typeface="Times New Roman"/>
                <a:ea typeface="Times New Roman"/>
                <a:cs typeface="Times New Roman"/>
                <a:sym typeface="Times New Roman"/>
              </a:rPr>
              <a:t>ở vị trí … là cơ số -  ràng buộc số lượng đối tượng ở mỗi đầu của mối quan hệ</a:t>
            </a:r>
            <a:r>
              <a:rPr i="1" lang="en-GB" sz="1800">
                <a:solidFill>
                  <a:srgbClr val="666666"/>
                </a:solidFill>
                <a:latin typeface="Times New Roman"/>
                <a:ea typeface="Times New Roman"/>
                <a:cs typeface="Times New Roman"/>
                <a:sym typeface="Times New Roman"/>
              </a:rPr>
              <a:t>)</a:t>
            </a:r>
            <a:endParaRPr i="1" sz="1800">
              <a:solidFill>
                <a:srgbClr val="666666"/>
              </a:solidFill>
              <a:latin typeface="Times New Roman"/>
              <a:ea typeface="Times New Roman"/>
              <a:cs typeface="Times New Roman"/>
              <a:sym typeface="Times New Roman"/>
            </a:endParaRPr>
          </a:p>
        </p:txBody>
      </p:sp>
      <p:sp>
        <p:nvSpPr>
          <p:cNvPr id="376" name="Google Shape;376;p45"/>
          <p:cNvSpPr/>
          <p:nvPr/>
        </p:nvSpPr>
        <p:spPr>
          <a:xfrm>
            <a:off x="800094" y="4660094"/>
            <a:ext cx="214200" cy="1626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377" name="Google Shape;377;p45"/>
          <p:cNvCxnSpPr>
            <a:stCxn id="376" idx="3"/>
            <a:endCxn id="343" idx="0"/>
          </p:cNvCxnSpPr>
          <p:nvPr/>
        </p:nvCxnSpPr>
        <p:spPr>
          <a:xfrm flipH="1">
            <a:off x="902694" y="4822694"/>
            <a:ext cx="4500" cy="506400"/>
          </a:xfrm>
          <a:prstGeom prst="straightConnector1">
            <a:avLst/>
          </a:prstGeom>
          <a:noFill/>
          <a:ln cap="flat" cmpd="sng" w="9525">
            <a:solidFill>
              <a:schemeClr val="dk2"/>
            </a:solidFill>
            <a:prstDash val="solid"/>
            <a:round/>
            <a:headEnd len="med" w="med" type="none"/>
            <a:tailEnd len="med" w="med" type="none"/>
          </a:ln>
        </p:spPr>
      </p:cxnSp>
      <p:sp>
        <p:nvSpPr>
          <p:cNvPr id="378" name="Google Shape;378;p45"/>
          <p:cNvSpPr/>
          <p:nvPr/>
        </p:nvSpPr>
        <p:spPr>
          <a:xfrm>
            <a:off x="2019294" y="4683917"/>
            <a:ext cx="214200" cy="198300"/>
          </a:xfrm>
          <a:prstGeom prst="diamond">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379" name="Google Shape;379;p45"/>
          <p:cNvCxnSpPr>
            <a:stCxn id="378" idx="2"/>
          </p:cNvCxnSpPr>
          <p:nvPr/>
        </p:nvCxnSpPr>
        <p:spPr>
          <a:xfrm>
            <a:off x="2126394" y="4882217"/>
            <a:ext cx="3300" cy="438900"/>
          </a:xfrm>
          <a:prstGeom prst="straightConnector1">
            <a:avLst/>
          </a:prstGeom>
          <a:noFill/>
          <a:ln cap="flat" cmpd="sng" w="9525">
            <a:solidFill>
              <a:schemeClr val="dk2"/>
            </a:solidFill>
            <a:prstDash val="solid"/>
            <a:round/>
            <a:headEnd len="med" w="med" type="none"/>
            <a:tailEnd len="med" w="med" type="none"/>
          </a:ln>
        </p:spPr>
      </p:cxnSp>
      <p:sp>
        <p:nvSpPr>
          <p:cNvPr id="380" name="Google Shape;380;p45"/>
          <p:cNvSpPr/>
          <p:nvPr/>
        </p:nvSpPr>
        <p:spPr>
          <a:xfrm>
            <a:off x="3016246" y="5321110"/>
            <a:ext cx="6321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F</a:t>
            </a:r>
            <a:endParaRPr b="1" sz="1600"/>
          </a:p>
        </p:txBody>
      </p:sp>
      <p:sp>
        <p:nvSpPr>
          <p:cNvPr id="381" name="Google Shape;381;p45"/>
          <p:cNvSpPr/>
          <p:nvPr/>
        </p:nvSpPr>
        <p:spPr>
          <a:xfrm>
            <a:off x="3038923" y="4262350"/>
            <a:ext cx="5682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E</a:t>
            </a:r>
            <a:endParaRPr b="1" sz="1600"/>
          </a:p>
        </p:txBody>
      </p:sp>
      <p:sp>
        <p:nvSpPr>
          <p:cNvPr id="382" name="Google Shape;382;p45"/>
          <p:cNvSpPr txBox="1"/>
          <p:nvPr/>
        </p:nvSpPr>
        <p:spPr>
          <a:xfrm>
            <a:off x="3312872" y="4970234"/>
            <a:ext cx="368100" cy="29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
        <p:nvSpPr>
          <p:cNvPr id="383" name="Google Shape;383;p45"/>
          <p:cNvSpPr txBox="1"/>
          <p:nvPr/>
        </p:nvSpPr>
        <p:spPr>
          <a:xfrm>
            <a:off x="2902350" y="5723828"/>
            <a:ext cx="10257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Kết tập</a:t>
            </a:r>
            <a:endParaRPr sz="1600">
              <a:latin typeface="Times New Roman"/>
              <a:ea typeface="Times New Roman"/>
              <a:cs typeface="Times New Roman"/>
              <a:sym typeface="Times New Roman"/>
            </a:endParaRPr>
          </a:p>
        </p:txBody>
      </p:sp>
      <p:sp>
        <p:nvSpPr>
          <p:cNvPr id="384" name="Google Shape;384;p45"/>
          <p:cNvSpPr/>
          <p:nvPr/>
        </p:nvSpPr>
        <p:spPr>
          <a:xfrm>
            <a:off x="3221825" y="4683917"/>
            <a:ext cx="214200" cy="198300"/>
          </a:xfrm>
          <a:prstGeom prst="diamond">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385" name="Google Shape;385;p45"/>
          <p:cNvCxnSpPr>
            <a:stCxn id="384" idx="2"/>
            <a:endCxn id="380" idx="0"/>
          </p:cNvCxnSpPr>
          <p:nvPr/>
        </p:nvCxnSpPr>
        <p:spPr>
          <a:xfrm>
            <a:off x="3328925" y="4882217"/>
            <a:ext cx="3300" cy="4389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6"/>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Phong c</a:t>
            </a:r>
            <a:r>
              <a:rPr lang="en-GB"/>
              <a:t>ách</a:t>
            </a:r>
            <a:endParaRPr/>
          </a:p>
        </p:txBody>
      </p:sp>
      <p:sp>
        <p:nvSpPr>
          <p:cNvPr id="391" name="Google Shape;391;p4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92" name="Google Shape;392;p46"/>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Tên lớp: Căn giữa, in đậm.</a:t>
            </a:r>
            <a:endParaRPr/>
          </a:p>
          <a:p>
            <a:pPr indent="-381000" lvl="0" marL="457200" rtl="0" algn="l">
              <a:spcBef>
                <a:spcPts val="0"/>
              </a:spcBef>
              <a:spcAft>
                <a:spcPts val="0"/>
              </a:spcAft>
              <a:buSzPts val="2400"/>
              <a:buChar char="●"/>
            </a:pPr>
            <a:r>
              <a:rPr lang="en-GB"/>
              <a:t>Tên thuộc tính và tên phương thức: Căn lề trái, in thường.</a:t>
            </a:r>
            <a:endParaRPr/>
          </a:p>
          <a:p>
            <a:pPr indent="-381000" lvl="0" marL="457200" rtl="0" algn="l">
              <a:spcBef>
                <a:spcPts val="0"/>
              </a:spcBef>
              <a:spcAft>
                <a:spcPts val="0"/>
              </a:spcAft>
              <a:buSzPts val="2400"/>
              <a:buChar char="●"/>
            </a:pPr>
            <a:r>
              <a:rPr lang="en-GB"/>
              <a:t>Tên lớp trừu tượng và phương thức trừu tượng: in nghiêng</a:t>
            </a:r>
            <a:endParaRPr/>
          </a:p>
          <a:p>
            <a:pPr indent="-381000" lvl="0" marL="457200" rtl="0" algn="l">
              <a:spcBef>
                <a:spcPts val="0"/>
              </a:spcBef>
              <a:spcAft>
                <a:spcPts val="0"/>
              </a:spcAft>
              <a:buSzPts val="2400"/>
              <a:buChar char="●"/>
            </a:pPr>
            <a:r>
              <a:rPr lang="en-GB"/>
              <a:t>…(UML 2.0, mục 11.3.2)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7"/>
          <p:cNvSpPr/>
          <p:nvPr/>
        </p:nvSpPr>
        <p:spPr>
          <a:xfrm>
            <a:off x="1221700" y="4437825"/>
            <a:ext cx="7419300" cy="18210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47"/>
          <p:cNvSpPr/>
          <p:nvPr/>
        </p:nvSpPr>
        <p:spPr>
          <a:xfrm>
            <a:off x="1221700" y="2701300"/>
            <a:ext cx="7419300" cy="17880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47"/>
          <p:cNvSpPr/>
          <p:nvPr/>
        </p:nvSpPr>
        <p:spPr>
          <a:xfrm>
            <a:off x="1221700" y="1060900"/>
            <a:ext cx="7419300" cy="1628700"/>
          </a:xfrm>
          <a:prstGeom prst="rect">
            <a:avLst/>
          </a:prstGeom>
          <a:solidFill>
            <a:srgbClr val="6FA8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47"/>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mối quan hệ</a:t>
            </a:r>
            <a:endParaRPr/>
          </a:p>
        </p:txBody>
      </p:sp>
      <p:sp>
        <p:nvSpPr>
          <p:cNvPr id="401" name="Google Shape;401;p4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02" name="Google Shape;402;p47"/>
          <p:cNvSpPr txBox="1"/>
          <p:nvPr/>
        </p:nvSpPr>
        <p:spPr>
          <a:xfrm>
            <a:off x="1271500" y="2334700"/>
            <a:ext cx="1240200" cy="35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Kế thừa</a:t>
            </a:r>
            <a:endParaRPr sz="1800">
              <a:latin typeface="Times New Roman"/>
              <a:ea typeface="Times New Roman"/>
              <a:cs typeface="Times New Roman"/>
              <a:sym typeface="Times New Roman"/>
            </a:endParaRPr>
          </a:p>
        </p:txBody>
      </p:sp>
      <p:sp>
        <p:nvSpPr>
          <p:cNvPr id="403" name="Google Shape;403;p47"/>
          <p:cNvSpPr txBox="1"/>
          <p:nvPr/>
        </p:nvSpPr>
        <p:spPr>
          <a:xfrm>
            <a:off x="5382548" y="4083500"/>
            <a:ext cx="869100" cy="35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Kết </a:t>
            </a:r>
            <a:r>
              <a:rPr lang="en-GB" sz="1800">
                <a:latin typeface="Times New Roman"/>
                <a:ea typeface="Times New Roman"/>
                <a:cs typeface="Times New Roman"/>
                <a:sym typeface="Times New Roman"/>
              </a:rPr>
              <a:t>tập</a:t>
            </a:r>
            <a:endParaRPr sz="1800">
              <a:latin typeface="Times New Roman"/>
              <a:ea typeface="Times New Roman"/>
              <a:cs typeface="Times New Roman"/>
              <a:sym typeface="Times New Roman"/>
            </a:endParaRPr>
          </a:p>
        </p:txBody>
      </p:sp>
      <p:sp>
        <p:nvSpPr>
          <p:cNvPr id="404" name="Google Shape;404;p47"/>
          <p:cNvSpPr txBox="1"/>
          <p:nvPr/>
        </p:nvSpPr>
        <p:spPr>
          <a:xfrm>
            <a:off x="2808450" y="1002425"/>
            <a:ext cx="5796900" cy="40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latin typeface="Times New Roman"/>
                <a:ea typeface="Times New Roman"/>
                <a:cs typeface="Times New Roman"/>
                <a:sym typeface="Times New Roman"/>
              </a:rPr>
              <a:t>Lớp trên/Lớp cha</a:t>
            </a:r>
            <a:r>
              <a:rPr i="1" lang="en-GB" sz="1800">
                <a:latin typeface="Times New Roman"/>
                <a:ea typeface="Times New Roman"/>
                <a:cs typeface="Times New Roman"/>
                <a:sym typeface="Times New Roman"/>
              </a:rPr>
              <a:t> - </a:t>
            </a:r>
            <a:r>
              <a:rPr i="1" lang="en-GB" sz="1800">
                <a:solidFill>
                  <a:schemeClr val="dk1"/>
                </a:solidFill>
                <a:latin typeface="Times New Roman"/>
                <a:ea typeface="Times New Roman"/>
                <a:cs typeface="Times New Roman"/>
                <a:sym typeface="Times New Roman"/>
              </a:rPr>
              <a:t>Lớp cơ sở /</a:t>
            </a:r>
            <a:r>
              <a:rPr i="1" lang="en-GB" sz="1800">
                <a:latin typeface="Times New Roman"/>
                <a:ea typeface="Times New Roman"/>
                <a:cs typeface="Times New Roman"/>
                <a:sym typeface="Times New Roman"/>
              </a:rPr>
              <a:t>K</a:t>
            </a:r>
            <a:r>
              <a:rPr i="1" lang="en-GB" sz="1800">
                <a:latin typeface="Times New Roman"/>
                <a:ea typeface="Times New Roman"/>
                <a:cs typeface="Times New Roman"/>
                <a:sym typeface="Times New Roman"/>
              </a:rPr>
              <a:t>hái quát hơn</a:t>
            </a:r>
            <a:endParaRPr i="1" sz="1800">
              <a:latin typeface="Times New Roman"/>
              <a:ea typeface="Times New Roman"/>
              <a:cs typeface="Times New Roman"/>
              <a:sym typeface="Times New Roman"/>
            </a:endParaRPr>
          </a:p>
        </p:txBody>
      </p:sp>
      <p:sp>
        <p:nvSpPr>
          <p:cNvPr id="405" name="Google Shape;405;p47"/>
          <p:cNvSpPr txBox="1"/>
          <p:nvPr/>
        </p:nvSpPr>
        <p:spPr>
          <a:xfrm>
            <a:off x="3037050" y="1416800"/>
            <a:ext cx="5604000" cy="42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latin typeface="Times New Roman"/>
                <a:ea typeface="Times New Roman"/>
                <a:cs typeface="Times New Roman"/>
                <a:sym typeface="Times New Roman"/>
              </a:rPr>
              <a:t>Lớp dưới/Lớp con </a:t>
            </a:r>
            <a:r>
              <a:rPr i="1" lang="en-GB" sz="1800">
                <a:latin typeface="Times New Roman"/>
                <a:ea typeface="Times New Roman"/>
                <a:cs typeface="Times New Roman"/>
                <a:sym typeface="Times New Roman"/>
              </a:rPr>
              <a:t>- </a:t>
            </a:r>
            <a:r>
              <a:rPr i="1" lang="en-GB" sz="1800">
                <a:solidFill>
                  <a:schemeClr val="dk1"/>
                </a:solidFill>
                <a:latin typeface="Times New Roman"/>
                <a:ea typeface="Times New Roman"/>
                <a:cs typeface="Times New Roman"/>
                <a:sym typeface="Times New Roman"/>
              </a:rPr>
              <a:t>Lớp suy diễn/</a:t>
            </a:r>
            <a:r>
              <a:rPr i="1" lang="en-GB" sz="1800">
                <a:latin typeface="Times New Roman"/>
                <a:ea typeface="Times New Roman"/>
                <a:cs typeface="Times New Roman"/>
                <a:sym typeface="Times New Roman"/>
              </a:rPr>
              <a:t>Chi tiết hơn</a:t>
            </a:r>
            <a:endParaRPr i="1" sz="1800">
              <a:latin typeface="Times New Roman"/>
              <a:ea typeface="Times New Roman"/>
              <a:cs typeface="Times New Roman"/>
              <a:sym typeface="Times New Roman"/>
            </a:endParaRPr>
          </a:p>
        </p:txBody>
      </p:sp>
      <p:cxnSp>
        <p:nvCxnSpPr>
          <p:cNvPr id="406" name="Google Shape;406;p47"/>
          <p:cNvCxnSpPr>
            <a:stCxn id="407" idx="3"/>
            <a:endCxn id="404" idx="1"/>
          </p:cNvCxnSpPr>
          <p:nvPr/>
        </p:nvCxnSpPr>
        <p:spPr>
          <a:xfrm flipH="1" rot="10800000">
            <a:off x="2111250" y="1205975"/>
            <a:ext cx="697200" cy="135600"/>
          </a:xfrm>
          <a:prstGeom prst="straightConnector1">
            <a:avLst/>
          </a:prstGeom>
          <a:noFill/>
          <a:ln cap="flat" cmpd="sng" w="9525">
            <a:solidFill>
              <a:schemeClr val="dk2"/>
            </a:solidFill>
            <a:prstDash val="dot"/>
            <a:round/>
            <a:headEnd len="med" w="med" type="none"/>
            <a:tailEnd len="med" w="med" type="none"/>
          </a:ln>
        </p:spPr>
      </p:cxnSp>
      <p:cxnSp>
        <p:nvCxnSpPr>
          <p:cNvPr id="408" name="Google Shape;408;p47"/>
          <p:cNvCxnSpPr>
            <a:stCxn id="409" idx="3"/>
            <a:endCxn id="405" idx="1"/>
          </p:cNvCxnSpPr>
          <p:nvPr/>
        </p:nvCxnSpPr>
        <p:spPr>
          <a:xfrm flipH="1" rot="10800000">
            <a:off x="2111250" y="1628300"/>
            <a:ext cx="925800" cy="551700"/>
          </a:xfrm>
          <a:prstGeom prst="straightConnector1">
            <a:avLst/>
          </a:prstGeom>
          <a:noFill/>
          <a:ln cap="flat" cmpd="sng" w="9525">
            <a:solidFill>
              <a:schemeClr val="dk2"/>
            </a:solidFill>
            <a:prstDash val="dot"/>
            <a:round/>
            <a:headEnd len="med" w="med" type="none"/>
            <a:tailEnd len="med" w="med" type="none"/>
          </a:ln>
        </p:spPr>
      </p:cxnSp>
      <p:sp>
        <p:nvSpPr>
          <p:cNvPr id="410" name="Google Shape;410;p47"/>
          <p:cNvSpPr txBox="1"/>
          <p:nvPr/>
        </p:nvSpPr>
        <p:spPr>
          <a:xfrm>
            <a:off x="2732250" y="1874000"/>
            <a:ext cx="6038100" cy="40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Diễn đạt thông thường: B là A</a:t>
            </a:r>
            <a:endParaRPr sz="1800">
              <a:latin typeface="Times New Roman"/>
              <a:ea typeface="Times New Roman"/>
              <a:cs typeface="Times New Roman"/>
              <a:sym typeface="Times New Roman"/>
            </a:endParaRPr>
          </a:p>
        </p:txBody>
      </p:sp>
      <p:sp>
        <p:nvSpPr>
          <p:cNvPr id="411" name="Google Shape;411;p47"/>
          <p:cNvSpPr txBox="1"/>
          <p:nvPr/>
        </p:nvSpPr>
        <p:spPr>
          <a:xfrm>
            <a:off x="6251600" y="3117575"/>
            <a:ext cx="2220900" cy="8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latin typeface="Times New Roman"/>
                <a:ea typeface="Times New Roman"/>
                <a:cs typeface="Times New Roman"/>
                <a:sym typeface="Times New Roman"/>
              </a:rPr>
              <a:t>F là bộ phận lô-gic của E</a:t>
            </a:r>
            <a:endParaRPr i="1" sz="1800">
              <a:latin typeface="Times New Roman"/>
              <a:ea typeface="Times New Roman"/>
              <a:cs typeface="Times New Roman"/>
              <a:sym typeface="Times New Roman"/>
            </a:endParaRPr>
          </a:p>
        </p:txBody>
      </p:sp>
      <p:sp>
        <p:nvSpPr>
          <p:cNvPr id="412" name="Google Shape;412;p47"/>
          <p:cNvSpPr/>
          <p:nvPr/>
        </p:nvSpPr>
        <p:spPr>
          <a:xfrm>
            <a:off x="1468175" y="4565900"/>
            <a:ext cx="5991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G</a:t>
            </a:r>
            <a:endParaRPr b="1" sz="1800"/>
          </a:p>
        </p:txBody>
      </p:sp>
      <p:sp>
        <p:nvSpPr>
          <p:cNvPr id="413" name="Google Shape;413;p47"/>
          <p:cNvSpPr/>
          <p:nvPr/>
        </p:nvSpPr>
        <p:spPr>
          <a:xfrm>
            <a:off x="1471844" y="5480300"/>
            <a:ext cx="5991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H</a:t>
            </a:r>
            <a:endParaRPr b="1" sz="1800"/>
          </a:p>
        </p:txBody>
      </p:sp>
      <p:cxnSp>
        <p:nvCxnSpPr>
          <p:cNvPr id="414" name="Google Shape;414;p47"/>
          <p:cNvCxnSpPr>
            <a:stCxn id="412" idx="2"/>
            <a:endCxn id="413" idx="0"/>
          </p:cNvCxnSpPr>
          <p:nvPr/>
        </p:nvCxnSpPr>
        <p:spPr>
          <a:xfrm>
            <a:off x="1767725" y="4973000"/>
            <a:ext cx="3600" cy="507300"/>
          </a:xfrm>
          <a:prstGeom prst="straightConnector1">
            <a:avLst/>
          </a:prstGeom>
          <a:noFill/>
          <a:ln cap="flat" cmpd="sng" w="9525">
            <a:solidFill>
              <a:schemeClr val="dk2"/>
            </a:solidFill>
            <a:prstDash val="solid"/>
            <a:round/>
            <a:headEnd len="med" w="med" type="none"/>
            <a:tailEnd len="med" w="med" type="none"/>
          </a:ln>
        </p:spPr>
      </p:cxnSp>
      <p:sp>
        <p:nvSpPr>
          <p:cNvPr id="415" name="Google Shape;415;p47"/>
          <p:cNvSpPr txBox="1"/>
          <p:nvPr/>
        </p:nvSpPr>
        <p:spPr>
          <a:xfrm>
            <a:off x="1749000" y="4861887"/>
            <a:ext cx="548700" cy="29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
        <p:nvSpPr>
          <p:cNvPr id="416" name="Google Shape;416;p47"/>
          <p:cNvSpPr txBox="1"/>
          <p:nvPr/>
        </p:nvSpPr>
        <p:spPr>
          <a:xfrm>
            <a:off x="1749000" y="5166687"/>
            <a:ext cx="548700" cy="29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
        <p:nvSpPr>
          <p:cNvPr id="417" name="Google Shape;417;p47"/>
          <p:cNvSpPr txBox="1"/>
          <p:nvPr/>
        </p:nvSpPr>
        <p:spPr>
          <a:xfrm>
            <a:off x="1347702" y="5836100"/>
            <a:ext cx="1240200" cy="35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Liên kết</a:t>
            </a:r>
            <a:endParaRPr sz="1800">
              <a:latin typeface="Times New Roman"/>
              <a:ea typeface="Times New Roman"/>
              <a:cs typeface="Times New Roman"/>
              <a:sym typeface="Times New Roman"/>
            </a:endParaRPr>
          </a:p>
        </p:txBody>
      </p:sp>
      <p:sp>
        <p:nvSpPr>
          <p:cNvPr id="418" name="Google Shape;418;p47"/>
          <p:cNvSpPr txBox="1"/>
          <p:nvPr/>
        </p:nvSpPr>
        <p:spPr>
          <a:xfrm>
            <a:off x="3326425" y="4810700"/>
            <a:ext cx="5022900" cy="7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latin typeface="Times New Roman"/>
                <a:ea typeface="Times New Roman"/>
                <a:cs typeface="Times New Roman"/>
                <a:sym typeface="Times New Roman"/>
              </a:rPr>
              <a:t>G và H có liên quan, mối quan hệ được mô tả băng nhãn liên kết, ví dụ G được tạo bởi H.</a:t>
            </a:r>
            <a:endParaRPr i="1" sz="1800">
              <a:latin typeface="Times New Roman"/>
              <a:ea typeface="Times New Roman"/>
              <a:cs typeface="Times New Roman"/>
              <a:sym typeface="Times New Roman"/>
            </a:endParaRPr>
          </a:p>
        </p:txBody>
      </p:sp>
      <p:sp>
        <p:nvSpPr>
          <p:cNvPr id="419" name="Google Shape;419;p47"/>
          <p:cNvSpPr/>
          <p:nvPr/>
        </p:nvSpPr>
        <p:spPr>
          <a:xfrm>
            <a:off x="884375" y="1053225"/>
            <a:ext cx="216900" cy="52818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47"/>
          <p:cNvSpPr txBox="1"/>
          <p:nvPr/>
        </p:nvSpPr>
        <p:spPr>
          <a:xfrm rot="5400000">
            <a:off x="-86650" y="2462600"/>
            <a:ext cx="1622400" cy="5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latin typeface="Times New Roman"/>
                <a:ea typeface="Times New Roman"/>
                <a:cs typeface="Times New Roman"/>
                <a:sym typeface="Times New Roman"/>
              </a:rPr>
              <a:t>Nới lỏng dần</a:t>
            </a:r>
            <a:endParaRPr i="1" sz="1800">
              <a:latin typeface="Times New Roman"/>
              <a:ea typeface="Times New Roman"/>
              <a:cs typeface="Times New Roman"/>
              <a:sym typeface="Times New Roman"/>
            </a:endParaRPr>
          </a:p>
        </p:txBody>
      </p:sp>
      <p:sp>
        <p:nvSpPr>
          <p:cNvPr id="421" name="Google Shape;421;p47"/>
          <p:cNvSpPr txBox="1"/>
          <p:nvPr/>
        </p:nvSpPr>
        <p:spPr>
          <a:xfrm>
            <a:off x="1165187" y="4047375"/>
            <a:ext cx="12402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Hợp thành</a:t>
            </a:r>
            <a:endParaRPr sz="1800">
              <a:latin typeface="Times New Roman"/>
              <a:ea typeface="Times New Roman"/>
              <a:cs typeface="Times New Roman"/>
              <a:sym typeface="Times New Roman"/>
            </a:endParaRPr>
          </a:p>
        </p:txBody>
      </p:sp>
      <p:sp>
        <p:nvSpPr>
          <p:cNvPr id="422" name="Google Shape;422;p47"/>
          <p:cNvSpPr txBox="1"/>
          <p:nvPr/>
        </p:nvSpPr>
        <p:spPr>
          <a:xfrm>
            <a:off x="2427450" y="3117575"/>
            <a:ext cx="2325300" cy="8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latin typeface="Times New Roman"/>
                <a:ea typeface="Times New Roman"/>
                <a:cs typeface="Times New Roman"/>
                <a:sym typeface="Times New Roman"/>
              </a:rPr>
              <a:t>D</a:t>
            </a:r>
            <a:r>
              <a:rPr i="1" lang="en-GB" sz="1800">
                <a:latin typeface="Times New Roman"/>
                <a:ea typeface="Times New Roman"/>
                <a:cs typeface="Times New Roman"/>
                <a:sym typeface="Times New Roman"/>
              </a:rPr>
              <a:t> l</a:t>
            </a:r>
            <a:r>
              <a:rPr i="1" lang="en-GB" sz="1800">
                <a:latin typeface="Times New Roman"/>
                <a:ea typeface="Times New Roman"/>
                <a:cs typeface="Times New Roman"/>
                <a:sym typeface="Times New Roman"/>
              </a:rPr>
              <a:t>à bộ phận vật lý của</a:t>
            </a:r>
            <a:r>
              <a:rPr i="1" lang="en-GB" sz="1800">
                <a:latin typeface="Times New Roman"/>
                <a:ea typeface="Times New Roman"/>
                <a:cs typeface="Times New Roman"/>
                <a:sym typeface="Times New Roman"/>
              </a:rPr>
              <a:t> C</a:t>
            </a:r>
            <a:endParaRPr i="1" sz="1800">
              <a:latin typeface="Times New Roman"/>
              <a:ea typeface="Times New Roman"/>
              <a:cs typeface="Times New Roman"/>
              <a:sym typeface="Times New Roman"/>
            </a:endParaRPr>
          </a:p>
        </p:txBody>
      </p:sp>
      <p:sp>
        <p:nvSpPr>
          <p:cNvPr id="423" name="Google Shape;423;p47"/>
          <p:cNvSpPr txBox="1"/>
          <p:nvPr/>
        </p:nvSpPr>
        <p:spPr>
          <a:xfrm>
            <a:off x="2042325" y="4852900"/>
            <a:ext cx="1163400" cy="6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rgbClr val="434343"/>
                </a:solidFill>
                <a:latin typeface="Times New Roman"/>
                <a:ea typeface="Times New Roman"/>
                <a:cs typeface="Times New Roman"/>
                <a:sym typeface="Times New Roman"/>
              </a:rPr>
              <a:t>Được tạo bởi ↓</a:t>
            </a:r>
            <a:endParaRPr i="1" sz="1800">
              <a:solidFill>
                <a:srgbClr val="434343"/>
              </a:solidFill>
              <a:latin typeface="Times New Roman"/>
              <a:ea typeface="Times New Roman"/>
              <a:cs typeface="Times New Roman"/>
              <a:sym typeface="Times New Roman"/>
            </a:endParaRPr>
          </a:p>
        </p:txBody>
      </p:sp>
      <p:sp>
        <p:nvSpPr>
          <p:cNvPr id="424" name="Google Shape;424;p47"/>
          <p:cNvSpPr/>
          <p:nvPr/>
        </p:nvSpPr>
        <p:spPr>
          <a:xfrm>
            <a:off x="1331185" y="1138150"/>
            <a:ext cx="7407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A</a:t>
            </a:r>
            <a:endParaRPr b="1" sz="1600"/>
          </a:p>
        </p:txBody>
      </p:sp>
      <p:sp>
        <p:nvSpPr>
          <p:cNvPr id="425" name="Google Shape;425;p47"/>
          <p:cNvSpPr/>
          <p:nvPr/>
        </p:nvSpPr>
        <p:spPr>
          <a:xfrm>
            <a:off x="1331185" y="1976350"/>
            <a:ext cx="7407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B</a:t>
            </a:r>
            <a:endParaRPr b="1" sz="1600"/>
          </a:p>
        </p:txBody>
      </p:sp>
      <p:sp>
        <p:nvSpPr>
          <p:cNvPr id="426" name="Google Shape;426;p47"/>
          <p:cNvSpPr/>
          <p:nvPr/>
        </p:nvSpPr>
        <p:spPr>
          <a:xfrm>
            <a:off x="1598866" y="1535894"/>
            <a:ext cx="214200" cy="1626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27" name="Google Shape;427;p47"/>
          <p:cNvCxnSpPr>
            <a:stCxn id="426" idx="3"/>
            <a:endCxn id="425" idx="0"/>
          </p:cNvCxnSpPr>
          <p:nvPr/>
        </p:nvCxnSpPr>
        <p:spPr>
          <a:xfrm flipH="1">
            <a:off x="1701466" y="1698494"/>
            <a:ext cx="4500" cy="277800"/>
          </a:xfrm>
          <a:prstGeom prst="straightConnector1">
            <a:avLst/>
          </a:prstGeom>
          <a:noFill/>
          <a:ln cap="flat" cmpd="sng" w="9525">
            <a:solidFill>
              <a:schemeClr val="dk2"/>
            </a:solidFill>
            <a:prstDash val="solid"/>
            <a:round/>
            <a:headEnd len="med" w="med" type="none"/>
            <a:tailEnd len="med" w="med" type="none"/>
          </a:ln>
        </p:spPr>
      </p:cxnSp>
      <p:sp>
        <p:nvSpPr>
          <p:cNvPr id="428" name="Google Shape;428;p47"/>
          <p:cNvSpPr/>
          <p:nvPr/>
        </p:nvSpPr>
        <p:spPr>
          <a:xfrm>
            <a:off x="5454646" y="3720910"/>
            <a:ext cx="6321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F</a:t>
            </a:r>
            <a:endParaRPr b="1" sz="1600"/>
          </a:p>
        </p:txBody>
      </p:sp>
      <p:sp>
        <p:nvSpPr>
          <p:cNvPr id="429" name="Google Shape;429;p47"/>
          <p:cNvSpPr/>
          <p:nvPr/>
        </p:nvSpPr>
        <p:spPr>
          <a:xfrm>
            <a:off x="5477323" y="2890750"/>
            <a:ext cx="5682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E</a:t>
            </a:r>
            <a:endParaRPr b="1" sz="1600"/>
          </a:p>
        </p:txBody>
      </p:sp>
      <p:sp>
        <p:nvSpPr>
          <p:cNvPr id="430" name="Google Shape;430;p47"/>
          <p:cNvSpPr txBox="1"/>
          <p:nvPr/>
        </p:nvSpPr>
        <p:spPr>
          <a:xfrm>
            <a:off x="5751272" y="3370034"/>
            <a:ext cx="368100" cy="29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
        <p:nvSpPr>
          <p:cNvPr id="431" name="Google Shape;431;p47"/>
          <p:cNvSpPr/>
          <p:nvPr/>
        </p:nvSpPr>
        <p:spPr>
          <a:xfrm>
            <a:off x="5660225" y="3312317"/>
            <a:ext cx="214200" cy="198300"/>
          </a:xfrm>
          <a:prstGeom prst="diamond">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32" name="Google Shape;432;p47"/>
          <p:cNvCxnSpPr>
            <a:stCxn id="431" idx="2"/>
            <a:endCxn id="428" idx="0"/>
          </p:cNvCxnSpPr>
          <p:nvPr/>
        </p:nvCxnSpPr>
        <p:spPr>
          <a:xfrm>
            <a:off x="5767325" y="3510617"/>
            <a:ext cx="3300" cy="210300"/>
          </a:xfrm>
          <a:prstGeom prst="straightConnector1">
            <a:avLst/>
          </a:prstGeom>
          <a:noFill/>
          <a:ln cap="flat" cmpd="sng" w="9525">
            <a:solidFill>
              <a:schemeClr val="dk2"/>
            </a:solidFill>
            <a:prstDash val="solid"/>
            <a:round/>
            <a:headEnd len="med" w="med" type="none"/>
            <a:tailEnd len="med" w="med" type="none"/>
          </a:ln>
        </p:spPr>
      </p:cxnSp>
      <p:sp>
        <p:nvSpPr>
          <p:cNvPr id="433" name="Google Shape;433;p47"/>
          <p:cNvSpPr/>
          <p:nvPr/>
        </p:nvSpPr>
        <p:spPr>
          <a:xfrm>
            <a:off x="1395289" y="3720900"/>
            <a:ext cx="6321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D</a:t>
            </a:r>
            <a:endParaRPr b="1" sz="1600"/>
          </a:p>
        </p:txBody>
      </p:sp>
      <p:sp>
        <p:nvSpPr>
          <p:cNvPr id="434" name="Google Shape;434;p47"/>
          <p:cNvSpPr/>
          <p:nvPr/>
        </p:nvSpPr>
        <p:spPr>
          <a:xfrm>
            <a:off x="1427385" y="2833855"/>
            <a:ext cx="5682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C</a:t>
            </a:r>
            <a:endParaRPr b="1" sz="1600"/>
          </a:p>
        </p:txBody>
      </p:sp>
      <p:sp>
        <p:nvSpPr>
          <p:cNvPr id="435" name="Google Shape;435;p47"/>
          <p:cNvSpPr txBox="1"/>
          <p:nvPr/>
        </p:nvSpPr>
        <p:spPr>
          <a:xfrm>
            <a:off x="1690804" y="3361995"/>
            <a:ext cx="368100" cy="29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
        <p:nvSpPr>
          <p:cNvPr id="436" name="Google Shape;436;p47"/>
          <p:cNvSpPr/>
          <p:nvPr/>
        </p:nvSpPr>
        <p:spPr>
          <a:xfrm>
            <a:off x="1608059" y="3236117"/>
            <a:ext cx="214200" cy="198300"/>
          </a:xfrm>
          <a:prstGeom prst="diamond">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37" name="Google Shape;437;p47"/>
          <p:cNvCxnSpPr>
            <a:stCxn id="436" idx="2"/>
            <a:endCxn id="433" idx="0"/>
          </p:cNvCxnSpPr>
          <p:nvPr/>
        </p:nvCxnSpPr>
        <p:spPr>
          <a:xfrm flipH="1">
            <a:off x="1711259" y="3434417"/>
            <a:ext cx="3900" cy="286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8"/>
          <p:cNvSpPr/>
          <p:nvPr/>
        </p:nvSpPr>
        <p:spPr>
          <a:xfrm>
            <a:off x="7183805" y="996950"/>
            <a:ext cx="1511400" cy="1760700"/>
          </a:xfrm>
          <a:prstGeom prst="rect">
            <a:avLst/>
          </a:prstGeom>
          <a:solidFill>
            <a:srgbClr val="6FA8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48"/>
          <p:cNvSpPr txBox="1"/>
          <p:nvPr>
            <p:ph idx="4294967295" type="body"/>
          </p:nvPr>
        </p:nvSpPr>
        <p:spPr>
          <a:xfrm>
            <a:off x="311700" y="910800"/>
            <a:ext cx="6801600" cy="57945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sz="2400"/>
              <a:t>Hướng m</a:t>
            </a:r>
            <a:r>
              <a:rPr lang="en-GB" sz="2400"/>
              <a:t>ũi tên đi từ lớp dưới đến lớp trên.</a:t>
            </a:r>
            <a:endParaRPr sz="2400"/>
          </a:p>
          <a:p>
            <a:pPr indent="-381000" lvl="0" marL="457200" rtl="0" algn="l">
              <a:spcBef>
                <a:spcPts val="0"/>
              </a:spcBef>
              <a:spcAft>
                <a:spcPts val="0"/>
              </a:spcAft>
              <a:buSzPts val="2400"/>
              <a:buChar char="●"/>
            </a:pPr>
            <a:r>
              <a:rPr lang="en-GB" sz="2400"/>
              <a:t>Cho phép tái sử dụng lớp trên, bổ xung thành phần mới và có thể định nghĩa lại phương thức.</a:t>
            </a:r>
            <a:endParaRPr sz="2400"/>
          </a:p>
          <a:p>
            <a:pPr indent="-368300" lvl="1" marL="914400" rtl="0" algn="l">
              <a:spcBef>
                <a:spcPts val="0"/>
              </a:spcBef>
              <a:spcAft>
                <a:spcPts val="0"/>
              </a:spcAft>
              <a:buSzPts val="2200"/>
              <a:buChar char="○"/>
            </a:pPr>
            <a:r>
              <a:rPr lang="en-GB"/>
              <a:t>Trong các triển khai, B thường sở hữu 1 đối tượng kiểu A.</a:t>
            </a:r>
            <a:endParaRPr/>
          </a:p>
          <a:p>
            <a:pPr indent="-368300" lvl="1" marL="914400" rtl="0" algn="l">
              <a:spcBef>
                <a:spcPts val="0"/>
              </a:spcBef>
              <a:spcAft>
                <a:spcPts val="0"/>
              </a:spcAft>
              <a:buSzPts val="2200"/>
              <a:buChar char="○"/>
            </a:pPr>
            <a:r>
              <a:rPr lang="en-GB"/>
              <a:t>B có các giao diện như A, nhưng hành vi có thể không tương thích (do có thể định nghĩa lại, dù không mong đợi).</a:t>
            </a:r>
            <a:endParaRPr/>
          </a:p>
        </p:txBody>
      </p:sp>
      <p:sp>
        <p:nvSpPr>
          <p:cNvPr id="444" name="Google Shape;444;p48"/>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Quan hệ kế thừa</a:t>
            </a:r>
            <a:endParaRPr/>
          </a:p>
        </p:txBody>
      </p:sp>
      <p:sp>
        <p:nvSpPr>
          <p:cNvPr id="445" name="Google Shape;445;p4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46" name="Google Shape;446;p48"/>
          <p:cNvSpPr txBox="1"/>
          <p:nvPr/>
        </p:nvSpPr>
        <p:spPr>
          <a:xfrm>
            <a:off x="7297050" y="2286500"/>
            <a:ext cx="1323000" cy="40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latin typeface="Times New Roman"/>
                <a:ea typeface="Times New Roman"/>
                <a:cs typeface="Times New Roman"/>
                <a:sym typeface="Times New Roman"/>
              </a:rPr>
              <a:t>B kế thừa A</a:t>
            </a:r>
            <a:endParaRPr i="1" sz="1800">
              <a:latin typeface="Times New Roman"/>
              <a:ea typeface="Times New Roman"/>
              <a:cs typeface="Times New Roman"/>
              <a:sym typeface="Times New Roman"/>
            </a:endParaRPr>
          </a:p>
        </p:txBody>
      </p:sp>
      <p:sp>
        <p:nvSpPr>
          <p:cNvPr id="447" name="Google Shape;447;p48"/>
          <p:cNvSpPr/>
          <p:nvPr/>
        </p:nvSpPr>
        <p:spPr>
          <a:xfrm>
            <a:off x="7542813" y="1061950"/>
            <a:ext cx="7407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A</a:t>
            </a:r>
            <a:endParaRPr b="1" sz="1600"/>
          </a:p>
        </p:txBody>
      </p:sp>
      <p:sp>
        <p:nvSpPr>
          <p:cNvPr id="448" name="Google Shape;448;p48"/>
          <p:cNvSpPr/>
          <p:nvPr/>
        </p:nvSpPr>
        <p:spPr>
          <a:xfrm>
            <a:off x="7542813" y="1900150"/>
            <a:ext cx="7407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B</a:t>
            </a:r>
            <a:endParaRPr b="1" sz="1600"/>
          </a:p>
        </p:txBody>
      </p:sp>
      <p:sp>
        <p:nvSpPr>
          <p:cNvPr id="449" name="Google Shape;449;p48"/>
          <p:cNvSpPr/>
          <p:nvPr/>
        </p:nvSpPr>
        <p:spPr>
          <a:xfrm>
            <a:off x="7810494" y="1459694"/>
            <a:ext cx="214200" cy="1626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50" name="Google Shape;450;p48"/>
          <p:cNvCxnSpPr>
            <a:stCxn id="449" idx="3"/>
            <a:endCxn id="448" idx="0"/>
          </p:cNvCxnSpPr>
          <p:nvPr/>
        </p:nvCxnSpPr>
        <p:spPr>
          <a:xfrm flipH="1">
            <a:off x="7913094" y="1622294"/>
            <a:ext cx="4500" cy="2778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9"/>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3.5. </a:t>
            </a:r>
            <a:r>
              <a:rPr lang="en-GB"/>
              <a:t>Q</a:t>
            </a:r>
            <a:r>
              <a:rPr lang="en-GB"/>
              <a:t>uan hệ kế thừa</a:t>
            </a:r>
            <a:endParaRPr/>
          </a:p>
        </p:txBody>
      </p:sp>
      <p:sp>
        <p:nvSpPr>
          <p:cNvPr id="456" name="Google Shape;456;p4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cxnSp>
        <p:nvCxnSpPr>
          <p:cNvPr id="457" name="Google Shape;457;p49"/>
          <p:cNvCxnSpPr/>
          <p:nvPr/>
        </p:nvCxnSpPr>
        <p:spPr>
          <a:xfrm>
            <a:off x="3786650" y="1956375"/>
            <a:ext cx="574800" cy="171600"/>
          </a:xfrm>
          <a:prstGeom prst="straightConnector1">
            <a:avLst/>
          </a:prstGeom>
          <a:noFill/>
          <a:ln cap="flat" cmpd="sng" w="19050">
            <a:solidFill>
              <a:schemeClr val="dk2"/>
            </a:solidFill>
            <a:prstDash val="dash"/>
            <a:round/>
            <a:headEnd len="med" w="med" type="none"/>
            <a:tailEnd len="med" w="med" type="none"/>
          </a:ln>
        </p:spPr>
      </p:cxnSp>
      <p:cxnSp>
        <p:nvCxnSpPr>
          <p:cNvPr id="458" name="Google Shape;458;p49"/>
          <p:cNvCxnSpPr/>
          <p:nvPr/>
        </p:nvCxnSpPr>
        <p:spPr>
          <a:xfrm>
            <a:off x="3194325" y="2388575"/>
            <a:ext cx="274800" cy="64800"/>
          </a:xfrm>
          <a:prstGeom prst="straightConnector1">
            <a:avLst/>
          </a:prstGeom>
          <a:noFill/>
          <a:ln cap="flat" cmpd="sng" w="19050">
            <a:solidFill>
              <a:schemeClr val="dk2"/>
            </a:solidFill>
            <a:prstDash val="dash"/>
            <a:round/>
            <a:headEnd len="med" w="med" type="none"/>
            <a:tailEnd len="med" w="med" type="none"/>
          </a:ln>
        </p:spPr>
      </p:cxnSp>
      <p:sp>
        <p:nvSpPr>
          <p:cNvPr id="459" name="Google Shape;459;p49"/>
          <p:cNvSpPr/>
          <p:nvPr/>
        </p:nvSpPr>
        <p:spPr>
          <a:xfrm>
            <a:off x="3959450" y="1351775"/>
            <a:ext cx="13026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SanPham</a:t>
            </a:r>
            <a:endParaRPr b="1" sz="1800"/>
          </a:p>
        </p:txBody>
      </p:sp>
      <p:sp>
        <p:nvSpPr>
          <p:cNvPr id="460" name="Google Shape;460;p49"/>
          <p:cNvSpPr/>
          <p:nvPr/>
        </p:nvSpPr>
        <p:spPr>
          <a:xfrm>
            <a:off x="2816450" y="2570975"/>
            <a:ext cx="13026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HangHoa</a:t>
            </a:r>
            <a:endParaRPr b="1" sz="1800"/>
          </a:p>
        </p:txBody>
      </p:sp>
      <p:sp>
        <p:nvSpPr>
          <p:cNvPr id="461" name="Google Shape;461;p49"/>
          <p:cNvSpPr/>
          <p:nvPr/>
        </p:nvSpPr>
        <p:spPr>
          <a:xfrm>
            <a:off x="5026250" y="2570975"/>
            <a:ext cx="13026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DichVu</a:t>
            </a:r>
            <a:endParaRPr b="1" sz="1800"/>
          </a:p>
        </p:txBody>
      </p:sp>
      <p:sp>
        <p:nvSpPr>
          <p:cNvPr id="462" name="Google Shape;462;p49"/>
          <p:cNvSpPr/>
          <p:nvPr/>
        </p:nvSpPr>
        <p:spPr>
          <a:xfrm flipH="1" rot="10800000">
            <a:off x="3219070" y="1810050"/>
            <a:ext cx="574800" cy="2814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9"/>
          <p:cNvSpPr txBox="1"/>
          <p:nvPr/>
        </p:nvSpPr>
        <p:spPr>
          <a:xfrm>
            <a:off x="3344220" y="1726171"/>
            <a:ext cx="357900" cy="2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p:txBody>
      </p:sp>
      <p:sp>
        <p:nvSpPr>
          <p:cNvPr id="464" name="Google Shape;464;p49"/>
          <p:cNvSpPr/>
          <p:nvPr/>
        </p:nvSpPr>
        <p:spPr>
          <a:xfrm flipH="1" rot="10800000">
            <a:off x="2625550" y="2191050"/>
            <a:ext cx="574800" cy="2814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49"/>
          <p:cNvSpPr txBox="1"/>
          <p:nvPr/>
        </p:nvSpPr>
        <p:spPr>
          <a:xfrm>
            <a:off x="2664050" y="2107171"/>
            <a:ext cx="574800" cy="28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0..1</a:t>
            </a:r>
            <a:endParaRPr sz="1800">
              <a:latin typeface="Times New Roman"/>
              <a:ea typeface="Times New Roman"/>
              <a:cs typeface="Times New Roman"/>
              <a:sym typeface="Times New Roman"/>
            </a:endParaRPr>
          </a:p>
        </p:txBody>
      </p:sp>
      <p:sp>
        <p:nvSpPr>
          <p:cNvPr id="466" name="Google Shape;466;p49"/>
          <p:cNvSpPr txBox="1"/>
          <p:nvPr/>
        </p:nvSpPr>
        <p:spPr>
          <a:xfrm>
            <a:off x="1292450" y="3590850"/>
            <a:ext cx="6663300" cy="926400"/>
          </a:xfrm>
          <a:prstGeom prst="rect">
            <a:avLst/>
          </a:prstGeom>
          <a:noFill/>
          <a:ln>
            <a:noFill/>
          </a:ln>
        </p:spPr>
        <p:txBody>
          <a:bodyPr anchorCtr="0" anchor="t" bIns="91425" lIns="54000" spcFirstLastPara="1" rIns="54000" wrap="square" tIns="91425">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Hàng hóa và Dịch Vụ là các loại Sản Phẩm / HangHoa và DichVu kế thừa SanPham</a:t>
            </a:r>
            <a:endParaRPr i="1" sz="2200">
              <a:latin typeface="Times New Roman"/>
              <a:ea typeface="Times New Roman"/>
              <a:cs typeface="Times New Roman"/>
              <a:sym typeface="Times New Roman"/>
            </a:endParaRPr>
          </a:p>
        </p:txBody>
      </p:sp>
      <p:sp>
        <p:nvSpPr>
          <p:cNvPr id="467" name="Google Shape;467;p49"/>
          <p:cNvSpPr/>
          <p:nvPr/>
        </p:nvSpPr>
        <p:spPr>
          <a:xfrm>
            <a:off x="4295775" y="1871650"/>
            <a:ext cx="190500" cy="171600"/>
          </a:xfrm>
          <a:prstGeom prst="triangle">
            <a:avLst>
              <a:gd fmla="val 50000"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468" name="Google Shape;468;p49"/>
          <p:cNvSpPr/>
          <p:nvPr/>
        </p:nvSpPr>
        <p:spPr>
          <a:xfrm>
            <a:off x="4676775" y="1871650"/>
            <a:ext cx="190500" cy="171600"/>
          </a:xfrm>
          <a:prstGeom prst="triangle">
            <a:avLst>
              <a:gd fmla="val 50000"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69" name="Google Shape;469;p49"/>
          <p:cNvCxnSpPr>
            <a:stCxn id="460" idx="0"/>
            <a:endCxn id="467" idx="3"/>
          </p:cNvCxnSpPr>
          <p:nvPr/>
        </p:nvCxnSpPr>
        <p:spPr>
          <a:xfrm rot="-5400000">
            <a:off x="3665600" y="1845425"/>
            <a:ext cx="527700" cy="923400"/>
          </a:xfrm>
          <a:prstGeom prst="bentConnector3">
            <a:avLst>
              <a:gd fmla="val 50002" name="adj1"/>
            </a:avLst>
          </a:prstGeom>
          <a:noFill/>
          <a:ln cap="flat" cmpd="sng" w="9525">
            <a:solidFill>
              <a:schemeClr val="dk2"/>
            </a:solidFill>
            <a:prstDash val="solid"/>
            <a:round/>
            <a:headEnd len="med" w="med" type="none"/>
            <a:tailEnd len="med" w="med" type="none"/>
          </a:ln>
        </p:spPr>
      </p:cxnSp>
      <p:cxnSp>
        <p:nvCxnSpPr>
          <p:cNvPr id="470" name="Google Shape;470;p49"/>
          <p:cNvCxnSpPr>
            <a:stCxn id="461" idx="0"/>
            <a:endCxn id="468" idx="3"/>
          </p:cNvCxnSpPr>
          <p:nvPr/>
        </p:nvCxnSpPr>
        <p:spPr>
          <a:xfrm flipH="1" rot="5400000">
            <a:off x="4961000" y="1854425"/>
            <a:ext cx="527700" cy="905400"/>
          </a:xfrm>
          <a:prstGeom prst="bentConnector3">
            <a:avLst>
              <a:gd fmla="val 50002" name="adj1"/>
            </a:avLst>
          </a:prstGeom>
          <a:noFill/>
          <a:ln cap="flat" cmpd="sng" w="9525">
            <a:solidFill>
              <a:schemeClr val="dk2"/>
            </a:solidFill>
            <a:prstDash val="solid"/>
            <a:round/>
            <a:headEnd len="med" w="med" type="none"/>
            <a:tailEnd len="med" w="med" type="none"/>
          </a:ln>
        </p:spPr>
      </p:cxnSp>
      <p:sp>
        <p:nvSpPr>
          <p:cNvPr id="471" name="Google Shape;471;p49"/>
          <p:cNvSpPr txBox="1"/>
          <p:nvPr/>
        </p:nvSpPr>
        <p:spPr>
          <a:xfrm>
            <a:off x="954875" y="1545425"/>
            <a:ext cx="25269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200">
                <a:solidFill>
                  <a:schemeClr val="dk2"/>
                </a:solidFill>
                <a:latin typeface="Times New Roman"/>
                <a:ea typeface="Times New Roman"/>
                <a:cs typeface="Times New Roman"/>
                <a:sym typeface="Times New Roman"/>
              </a:rPr>
              <a:t>Cơ số mặc định</a:t>
            </a:r>
            <a:endParaRPr i="1" sz="2200">
              <a:solidFill>
                <a:schemeClr val="dk2"/>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0"/>
          <p:cNvSpPr/>
          <p:nvPr/>
        </p:nvSpPr>
        <p:spPr>
          <a:xfrm>
            <a:off x="6901425" y="1003650"/>
            <a:ext cx="1742100" cy="38430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50"/>
          <p:cNvSpPr txBox="1"/>
          <p:nvPr>
            <p:ph idx="4294967295" type="body"/>
          </p:nvPr>
        </p:nvSpPr>
        <p:spPr>
          <a:xfrm>
            <a:off x="311700" y="910800"/>
            <a:ext cx="6522300" cy="57945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sz="2400"/>
              <a:t>Mũi tên đi từ bộ phận tới tổng thể. </a:t>
            </a:r>
            <a:endParaRPr sz="2400"/>
          </a:p>
          <a:p>
            <a:pPr indent="-381000" lvl="0" marL="457200" rtl="0" algn="l">
              <a:spcBef>
                <a:spcPts val="0"/>
              </a:spcBef>
              <a:spcAft>
                <a:spcPts val="0"/>
              </a:spcAft>
              <a:buSzPts val="2400"/>
              <a:buChar char="●"/>
            </a:pPr>
            <a:r>
              <a:rPr lang="en-GB" sz="2400"/>
              <a:t>Gắn kết </a:t>
            </a:r>
            <a:r>
              <a:rPr lang="en-GB" sz="2400"/>
              <a:t>cái</a:t>
            </a:r>
            <a:r>
              <a:rPr lang="en-GB" sz="2400"/>
              <a:t> bộ phận với cái tổng thể.</a:t>
            </a:r>
            <a:endParaRPr sz="2400"/>
          </a:p>
          <a:p>
            <a:pPr indent="-381000" lvl="0" marL="457200" rtl="0" algn="l">
              <a:spcBef>
                <a:spcPts val="0"/>
              </a:spcBef>
              <a:spcAft>
                <a:spcPts val="0"/>
              </a:spcAft>
              <a:buSzPts val="2400"/>
              <a:buChar char="●"/>
            </a:pPr>
            <a:r>
              <a:rPr lang="en-GB" sz="2400"/>
              <a:t>Được chia thành 2 mức</a:t>
            </a:r>
            <a:endParaRPr sz="2400"/>
          </a:p>
          <a:p>
            <a:pPr indent="-368300" lvl="1" marL="914400" rtl="0" algn="l">
              <a:spcBef>
                <a:spcPts val="0"/>
              </a:spcBef>
              <a:spcAft>
                <a:spcPts val="0"/>
              </a:spcAft>
              <a:buSzPts val="2200"/>
              <a:buChar char="○"/>
            </a:pPr>
            <a:r>
              <a:rPr lang="en-GB"/>
              <a:t>Hợp thành - chặt hơn:</a:t>
            </a:r>
            <a:endParaRPr/>
          </a:p>
          <a:p>
            <a:pPr indent="-342900" lvl="2" marL="1371600" rtl="0" algn="l">
              <a:spcBef>
                <a:spcPts val="0"/>
              </a:spcBef>
              <a:spcAft>
                <a:spcPts val="0"/>
              </a:spcAft>
              <a:buSzPts val="1800"/>
              <a:buChar char="■"/>
            </a:pPr>
            <a:r>
              <a:rPr lang="en-GB"/>
              <a:t>Tổng thể sở hữu bộ phận</a:t>
            </a:r>
            <a:endParaRPr/>
          </a:p>
          <a:p>
            <a:pPr indent="-342900" lvl="2" marL="1371600" rtl="0" algn="l">
              <a:spcBef>
                <a:spcPts val="0"/>
              </a:spcBef>
              <a:spcAft>
                <a:spcPts val="0"/>
              </a:spcAft>
              <a:buSzPts val="1800"/>
              <a:buChar char="■"/>
            </a:pPr>
            <a:r>
              <a:rPr lang="en-GB"/>
              <a:t>Đối tượng bộ phận bị hủy khi hủy đối tượng tổng thể.</a:t>
            </a:r>
            <a:endParaRPr/>
          </a:p>
          <a:p>
            <a:pPr indent="-342900" lvl="2" marL="1371600" rtl="0" algn="l">
              <a:spcBef>
                <a:spcPts val="0"/>
              </a:spcBef>
              <a:spcAft>
                <a:spcPts val="0"/>
              </a:spcAft>
              <a:buSzPts val="1800"/>
              <a:buChar char="■"/>
            </a:pPr>
            <a:r>
              <a:rPr lang="en-GB"/>
              <a:t>Mỗi bộ phận chỉ có thể thuộc 1 tổng thể.</a:t>
            </a:r>
            <a:endParaRPr/>
          </a:p>
          <a:p>
            <a:pPr indent="-342900" lvl="2" marL="1371600" rtl="0" algn="l">
              <a:spcBef>
                <a:spcPts val="0"/>
              </a:spcBef>
              <a:spcAft>
                <a:spcPts val="0"/>
              </a:spcAft>
              <a:buSzPts val="1800"/>
              <a:buChar char="■"/>
            </a:pPr>
            <a:r>
              <a:rPr lang="en-GB"/>
              <a:t>Ý nghĩa: D là bộ phận vật lý của C.</a:t>
            </a:r>
            <a:endParaRPr/>
          </a:p>
          <a:p>
            <a:pPr indent="-368300" lvl="1" marL="914400" rtl="0" algn="l">
              <a:spcBef>
                <a:spcPts val="0"/>
              </a:spcBef>
              <a:spcAft>
                <a:spcPts val="0"/>
              </a:spcAft>
              <a:buSzPts val="2200"/>
              <a:buChar char="○"/>
            </a:pPr>
            <a:r>
              <a:rPr lang="en-GB"/>
              <a:t>Kết tập - lỏng hơn: </a:t>
            </a:r>
            <a:endParaRPr/>
          </a:p>
          <a:p>
            <a:pPr indent="-342900" lvl="2" marL="1371600" rtl="0" algn="l">
              <a:spcBef>
                <a:spcPts val="0"/>
              </a:spcBef>
              <a:spcAft>
                <a:spcPts val="0"/>
              </a:spcAft>
              <a:buSzPts val="1800"/>
              <a:buChar char="■"/>
            </a:pPr>
            <a:r>
              <a:rPr lang="en-GB"/>
              <a:t>Tổng thể không sở hữu bộ phận. </a:t>
            </a:r>
            <a:endParaRPr/>
          </a:p>
          <a:p>
            <a:pPr indent="-342900" lvl="2" marL="1371600" rtl="0" algn="l">
              <a:spcBef>
                <a:spcPts val="0"/>
              </a:spcBef>
              <a:spcAft>
                <a:spcPts val="0"/>
              </a:spcAft>
              <a:buSzPts val="1800"/>
              <a:buChar char="■"/>
            </a:pPr>
            <a:r>
              <a:rPr lang="en-GB"/>
              <a:t>Bộ phận vẫn có thể tồn tại sau khi hủy cái tổng thể.</a:t>
            </a:r>
            <a:endParaRPr/>
          </a:p>
          <a:p>
            <a:pPr indent="-342900" lvl="2" marL="1371600" rtl="0" algn="l">
              <a:spcBef>
                <a:spcPts val="0"/>
              </a:spcBef>
              <a:spcAft>
                <a:spcPts val="0"/>
              </a:spcAft>
              <a:buSzPts val="1800"/>
              <a:buChar char="■"/>
            </a:pPr>
            <a:r>
              <a:rPr lang="en-GB"/>
              <a:t>Mỗi bộ phận có thể thuộc nhiều tổng thể - chia sẻ </a:t>
            </a:r>
            <a:endParaRPr/>
          </a:p>
          <a:p>
            <a:pPr indent="-342900" lvl="2" marL="1371600" rtl="0" algn="l">
              <a:spcBef>
                <a:spcPts val="0"/>
              </a:spcBef>
              <a:spcAft>
                <a:spcPts val="0"/>
              </a:spcAft>
              <a:buSzPts val="1800"/>
              <a:buChar char="■"/>
            </a:pPr>
            <a:r>
              <a:rPr lang="en-GB"/>
              <a:t>Ý nghĩa: F là bộ phận lô-gic của E.</a:t>
            </a:r>
            <a:endParaRPr/>
          </a:p>
        </p:txBody>
      </p:sp>
      <p:sp>
        <p:nvSpPr>
          <p:cNvPr id="478" name="Google Shape;478;p50"/>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quan hệ bộ phận-tổng thể</a:t>
            </a:r>
            <a:endParaRPr/>
          </a:p>
        </p:txBody>
      </p:sp>
      <p:sp>
        <p:nvSpPr>
          <p:cNvPr id="479" name="Google Shape;479;p5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80" name="Google Shape;480;p50"/>
          <p:cNvSpPr txBox="1"/>
          <p:nvPr/>
        </p:nvSpPr>
        <p:spPr>
          <a:xfrm>
            <a:off x="7138313" y="2354350"/>
            <a:ext cx="1289100" cy="42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Hợp thành</a:t>
            </a:r>
            <a:endParaRPr sz="2000">
              <a:solidFill>
                <a:schemeClr val="dk1"/>
              </a:solidFill>
              <a:latin typeface="Times New Roman"/>
              <a:ea typeface="Times New Roman"/>
              <a:cs typeface="Times New Roman"/>
              <a:sym typeface="Times New Roman"/>
            </a:endParaRPr>
          </a:p>
        </p:txBody>
      </p:sp>
      <p:sp>
        <p:nvSpPr>
          <p:cNvPr id="481" name="Google Shape;481;p50"/>
          <p:cNvSpPr txBox="1"/>
          <p:nvPr/>
        </p:nvSpPr>
        <p:spPr>
          <a:xfrm>
            <a:off x="7312567" y="4317750"/>
            <a:ext cx="1031400" cy="40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Kết tập</a:t>
            </a:r>
            <a:endParaRPr sz="2000">
              <a:solidFill>
                <a:schemeClr val="dk1"/>
              </a:solidFill>
              <a:latin typeface="Times New Roman"/>
              <a:ea typeface="Times New Roman"/>
              <a:cs typeface="Times New Roman"/>
              <a:sym typeface="Times New Roman"/>
            </a:endParaRPr>
          </a:p>
        </p:txBody>
      </p:sp>
      <p:sp>
        <p:nvSpPr>
          <p:cNvPr id="482" name="Google Shape;482;p50"/>
          <p:cNvSpPr/>
          <p:nvPr/>
        </p:nvSpPr>
        <p:spPr>
          <a:xfrm>
            <a:off x="665000" y="2773825"/>
            <a:ext cx="250450" cy="226600"/>
          </a:xfrm>
          <a:prstGeom prst="flowChartDecision">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83" name="Google Shape;483;p50"/>
          <p:cNvCxnSpPr>
            <a:stCxn id="482" idx="2"/>
          </p:cNvCxnSpPr>
          <p:nvPr/>
        </p:nvCxnSpPr>
        <p:spPr>
          <a:xfrm>
            <a:off x="790225" y="3000425"/>
            <a:ext cx="0" cy="787200"/>
          </a:xfrm>
          <a:prstGeom prst="straightConnector1">
            <a:avLst/>
          </a:prstGeom>
          <a:noFill/>
          <a:ln cap="flat" cmpd="sng" w="9525">
            <a:solidFill>
              <a:schemeClr val="dk2"/>
            </a:solidFill>
            <a:prstDash val="solid"/>
            <a:round/>
            <a:headEnd len="med" w="med" type="none"/>
            <a:tailEnd len="med" w="med" type="none"/>
          </a:ln>
        </p:spPr>
      </p:cxnSp>
      <p:sp>
        <p:nvSpPr>
          <p:cNvPr id="484" name="Google Shape;484;p50"/>
          <p:cNvSpPr/>
          <p:nvPr/>
        </p:nvSpPr>
        <p:spPr>
          <a:xfrm>
            <a:off x="665000" y="4374025"/>
            <a:ext cx="250450" cy="22660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85" name="Google Shape;485;p50"/>
          <p:cNvCxnSpPr>
            <a:stCxn id="484" idx="2"/>
          </p:cNvCxnSpPr>
          <p:nvPr/>
        </p:nvCxnSpPr>
        <p:spPr>
          <a:xfrm>
            <a:off x="790225" y="4600625"/>
            <a:ext cx="0" cy="787200"/>
          </a:xfrm>
          <a:prstGeom prst="straightConnector1">
            <a:avLst/>
          </a:prstGeom>
          <a:noFill/>
          <a:ln cap="flat" cmpd="sng" w="9525">
            <a:solidFill>
              <a:schemeClr val="dk2"/>
            </a:solidFill>
            <a:prstDash val="solid"/>
            <a:round/>
            <a:headEnd len="med" w="med" type="none"/>
            <a:tailEnd len="med" w="med" type="none"/>
          </a:ln>
        </p:spPr>
      </p:cxnSp>
      <p:sp>
        <p:nvSpPr>
          <p:cNvPr id="486" name="Google Shape;486;p50"/>
          <p:cNvSpPr/>
          <p:nvPr/>
        </p:nvSpPr>
        <p:spPr>
          <a:xfrm>
            <a:off x="7445324" y="1968300"/>
            <a:ext cx="6321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D</a:t>
            </a:r>
            <a:endParaRPr b="1" sz="1600"/>
          </a:p>
        </p:txBody>
      </p:sp>
      <p:sp>
        <p:nvSpPr>
          <p:cNvPr id="487" name="Google Shape;487;p50"/>
          <p:cNvSpPr/>
          <p:nvPr/>
        </p:nvSpPr>
        <p:spPr>
          <a:xfrm>
            <a:off x="7477420" y="1081255"/>
            <a:ext cx="5682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C</a:t>
            </a:r>
            <a:endParaRPr b="1" sz="1600"/>
          </a:p>
        </p:txBody>
      </p:sp>
      <p:sp>
        <p:nvSpPr>
          <p:cNvPr id="488" name="Google Shape;488;p50"/>
          <p:cNvSpPr txBox="1"/>
          <p:nvPr/>
        </p:nvSpPr>
        <p:spPr>
          <a:xfrm>
            <a:off x="7740839" y="1609395"/>
            <a:ext cx="368100" cy="29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
        <p:nvSpPr>
          <p:cNvPr id="489" name="Google Shape;489;p50"/>
          <p:cNvSpPr/>
          <p:nvPr/>
        </p:nvSpPr>
        <p:spPr>
          <a:xfrm>
            <a:off x="7658094" y="1483517"/>
            <a:ext cx="214200" cy="198300"/>
          </a:xfrm>
          <a:prstGeom prst="diamond">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90" name="Google Shape;490;p50"/>
          <p:cNvCxnSpPr>
            <a:stCxn id="489" idx="2"/>
            <a:endCxn id="486" idx="0"/>
          </p:cNvCxnSpPr>
          <p:nvPr/>
        </p:nvCxnSpPr>
        <p:spPr>
          <a:xfrm flipH="1">
            <a:off x="7761294" y="1681817"/>
            <a:ext cx="3900" cy="286500"/>
          </a:xfrm>
          <a:prstGeom prst="straightConnector1">
            <a:avLst/>
          </a:prstGeom>
          <a:noFill/>
          <a:ln cap="flat" cmpd="sng" w="9525">
            <a:solidFill>
              <a:schemeClr val="dk2"/>
            </a:solidFill>
            <a:prstDash val="solid"/>
            <a:round/>
            <a:headEnd len="med" w="med" type="none"/>
            <a:tailEnd len="med" w="med" type="none"/>
          </a:ln>
        </p:spPr>
      </p:cxnSp>
      <p:sp>
        <p:nvSpPr>
          <p:cNvPr id="491" name="Google Shape;491;p50"/>
          <p:cNvSpPr/>
          <p:nvPr/>
        </p:nvSpPr>
        <p:spPr>
          <a:xfrm>
            <a:off x="7435846" y="3949510"/>
            <a:ext cx="6321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F</a:t>
            </a:r>
            <a:endParaRPr b="1" sz="1600"/>
          </a:p>
        </p:txBody>
      </p:sp>
      <p:sp>
        <p:nvSpPr>
          <p:cNvPr id="492" name="Google Shape;492;p50"/>
          <p:cNvSpPr/>
          <p:nvPr/>
        </p:nvSpPr>
        <p:spPr>
          <a:xfrm>
            <a:off x="7458523" y="3119350"/>
            <a:ext cx="5682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E</a:t>
            </a:r>
            <a:endParaRPr b="1" sz="1600"/>
          </a:p>
        </p:txBody>
      </p:sp>
      <p:sp>
        <p:nvSpPr>
          <p:cNvPr id="493" name="Google Shape;493;p50"/>
          <p:cNvSpPr txBox="1"/>
          <p:nvPr/>
        </p:nvSpPr>
        <p:spPr>
          <a:xfrm>
            <a:off x="7732472" y="3598634"/>
            <a:ext cx="368100" cy="29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
        <p:nvSpPr>
          <p:cNvPr id="494" name="Google Shape;494;p50"/>
          <p:cNvSpPr/>
          <p:nvPr/>
        </p:nvSpPr>
        <p:spPr>
          <a:xfrm>
            <a:off x="7641425" y="3540917"/>
            <a:ext cx="214200" cy="198300"/>
          </a:xfrm>
          <a:prstGeom prst="diamond">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95" name="Google Shape;495;p50"/>
          <p:cNvCxnSpPr>
            <a:stCxn id="494" idx="2"/>
            <a:endCxn id="491" idx="0"/>
          </p:cNvCxnSpPr>
          <p:nvPr/>
        </p:nvCxnSpPr>
        <p:spPr>
          <a:xfrm>
            <a:off x="7748525" y="3739217"/>
            <a:ext cx="3300" cy="2103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1"/>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3.6. Biểu diễn quan hệ bộ phận-tổng thể</a:t>
            </a:r>
            <a:endParaRPr/>
          </a:p>
        </p:txBody>
      </p:sp>
      <p:sp>
        <p:nvSpPr>
          <p:cNvPr id="501" name="Google Shape;501;p5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02" name="Google Shape;502;p51"/>
          <p:cNvSpPr txBox="1"/>
          <p:nvPr/>
        </p:nvSpPr>
        <p:spPr>
          <a:xfrm>
            <a:off x="4754600" y="1532625"/>
            <a:ext cx="4122000" cy="1203900"/>
          </a:xfrm>
          <a:prstGeom prst="rect">
            <a:avLst/>
          </a:prstGeom>
          <a:noFill/>
          <a:ln>
            <a:noFill/>
          </a:ln>
        </p:spPr>
        <p:txBody>
          <a:bodyPr anchorCtr="0" anchor="t" bIns="91425" lIns="54000" spcFirstLastPara="1" rIns="54000" wrap="square" tIns="91425">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Mỗi câu hỏi có thể thuộc </a:t>
            </a:r>
            <a:r>
              <a:rPr i="1" lang="en-GB" sz="2200">
                <a:latin typeface="Times New Roman"/>
                <a:ea typeface="Times New Roman"/>
                <a:cs typeface="Times New Roman"/>
                <a:sym typeface="Times New Roman"/>
              </a:rPr>
              <a:t>1 hoặc </a:t>
            </a:r>
            <a:r>
              <a:rPr i="1" lang="en-GB" sz="2200">
                <a:latin typeface="Times New Roman"/>
                <a:ea typeface="Times New Roman"/>
                <a:cs typeface="Times New Roman"/>
                <a:sym typeface="Times New Roman"/>
              </a:rPr>
              <a:t>nhiều đề thi, và cũng có thể không thuộc đề thi nào.</a:t>
            </a:r>
            <a:endParaRPr i="1" sz="2200">
              <a:latin typeface="Times New Roman"/>
              <a:ea typeface="Times New Roman"/>
              <a:cs typeface="Times New Roman"/>
              <a:sym typeface="Times New Roman"/>
            </a:endParaRPr>
          </a:p>
        </p:txBody>
      </p:sp>
      <p:sp>
        <p:nvSpPr>
          <p:cNvPr id="503" name="Google Shape;503;p51"/>
          <p:cNvSpPr txBox="1"/>
          <p:nvPr/>
        </p:nvSpPr>
        <p:spPr>
          <a:xfrm>
            <a:off x="4830800" y="3742425"/>
            <a:ext cx="4045800" cy="92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Mỗi </a:t>
            </a:r>
            <a:r>
              <a:rPr i="1" lang="en-GB" sz="2200">
                <a:latin typeface="Times New Roman"/>
                <a:ea typeface="Times New Roman"/>
                <a:cs typeface="Times New Roman"/>
                <a:sym typeface="Times New Roman"/>
              </a:rPr>
              <a:t>phòng phải thuộc đúng 1 tòa nhà</a:t>
            </a:r>
            <a:r>
              <a:rPr i="1" lang="en-GB" sz="2200">
                <a:latin typeface="Times New Roman"/>
                <a:ea typeface="Times New Roman"/>
                <a:cs typeface="Times New Roman"/>
                <a:sym typeface="Times New Roman"/>
              </a:rPr>
              <a:t>.</a:t>
            </a:r>
            <a:endParaRPr i="1" sz="2200">
              <a:latin typeface="Times New Roman"/>
              <a:ea typeface="Times New Roman"/>
              <a:cs typeface="Times New Roman"/>
              <a:sym typeface="Times New Roman"/>
            </a:endParaRPr>
          </a:p>
        </p:txBody>
      </p:sp>
      <p:sp>
        <p:nvSpPr>
          <p:cNvPr id="504" name="Google Shape;504;p51"/>
          <p:cNvSpPr txBox="1"/>
          <p:nvPr/>
        </p:nvSpPr>
        <p:spPr>
          <a:xfrm>
            <a:off x="405450" y="5387200"/>
            <a:ext cx="8427000" cy="70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2600">
                <a:solidFill>
                  <a:srgbClr val="1155CC"/>
                </a:solidFill>
                <a:latin typeface="Times New Roman"/>
                <a:ea typeface="Times New Roman"/>
                <a:cs typeface="Times New Roman"/>
                <a:sym typeface="Times New Roman"/>
              </a:rPr>
              <a:t>Các đầu mũi tên kim cương - c</a:t>
            </a:r>
            <a:r>
              <a:rPr i="1" lang="en-GB" sz="2600">
                <a:solidFill>
                  <a:srgbClr val="1155CC"/>
                </a:solidFill>
                <a:latin typeface="Times New Roman"/>
                <a:ea typeface="Times New Roman"/>
                <a:cs typeface="Times New Roman"/>
                <a:sym typeface="Times New Roman"/>
              </a:rPr>
              <a:t>ú pháp hoa mỹ</a:t>
            </a:r>
            <a:endParaRPr i="1" sz="2600">
              <a:solidFill>
                <a:srgbClr val="1155CC"/>
              </a:solidFill>
              <a:latin typeface="Times New Roman"/>
              <a:ea typeface="Times New Roman"/>
              <a:cs typeface="Times New Roman"/>
              <a:sym typeface="Times New Roman"/>
            </a:endParaRPr>
          </a:p>
        </p:txBody>
      </p:sp>
      <p:sp>
        <p:nvSpPr>
          <p:cNvPr id="505" name="Google Shape;505;p51"/>
          <p:cNvSpPr/>
          <p:nvPr/>
        </p:nvSpPr>
        <p:spPr>
          <a:xfrm>
            <a:off x="426125" y="1542950"/>
            <a:ext cx="1326600" cy="546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800"/>
              <a:t>Câu Hỏi</a:t>
            </a:r>
            <a:endParaRPr b="1" sz="1800"/>
          </a:p>
        </p:txBody>
      </p:sp>
      <p:sp>
        <p:nvSpPr>
          <p:cNvPr id="506" name="Google Shape;506;p51"/>
          <p:cNvSpPr/>
          <p:nvPr/>
        </p:nvSpPr>
        <p:spPr>
          <a:xfrm>
            <a:off x="3450300" y="1542950"/>
            <a:ext cx="1197900" cy="546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800"/>
              <a:t>Đề Thi</a:t>
            </a:r>
            <a:endParaRPr b="1" sz="1800"/>
          </a:p>
        </p:txBody>
      </p:sp>
      <p:cxnSp>
        <p:nvCxnSpPr>
          <p:cNvPr id="507" name="Google Shape;507;p51"/>
          <p:cNvCxnSpPr>
            <a:stCxn id="505" idx="3"/>
            <a:endCxn id="506" idx="1"/>
          </p:cNvCxnSpPr>
          <p:nvPr/>
        </p:nvCxnSpPr>
        <p:spPr>
          <a:xfrm>
            <a:off x="1752725" y="1816250"/>
            <a:ext cx="1697700" cy="0"/>
          </a:xfrm>
          <a:prstGeom prst="straightConnector1">
            <a:avLst/>
          </a:prstGeom>
          <a:noFill/>
          <a:ln cap="flat" cmpd="sng" w="9525">
            <a:solidFill>
              <a:schemeClr val="dk2"/>
            </a:solidFill>
            <a:prstDash val="solid"/>
            <a:round/>
            <a:headEnd len="med" w="med" type="none"/>
            <a:tailEnd len="med" w="med" type="none"/>
          </a:ln>
        </p:spPr>
      </p:cxnSp>
      <p:sp>
        <p:nvSpPr>
          <p:cNvPr id="508" name="Google Shape;508;p51"/>
          <p:cNvSpPr txBox="1"/>
          <p:nvPr/>
        </p:nvSpPr>
        <p:spPr>
          <a:xfrm>
            <a:off x="1760615" y="1470580"/>
            <a:ext cx="1621500" cy="424800"/>
          </a:xfrm>
          <a:prstGeom prst="rect">
            <a:avLst/>
          </a:prstGeom>
          <a:noFill/>
          <a:ln>
            <a:noFill/>
          </a:ln>
        </p:spPr>
        <p:txBody>
          <a:bodyPr anchorCtr="0" anchor="t" bIns="91425" lIns="18000" spcFirstLastPara="1" rIns="18000"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thuộc</a:t>
            </a:r>
            <a:r>
              <a:rPr lang="en-GB" sz="1600">
                <a:latin typeface="Times New Roman"/>
                <a:ea typeface="Times New Roman"/>
                <a:cs typeface="Times New Roman"/>
                <a:sym typeface="Times New Roman"/>
              </a:rPr>
              <a:t> &gt;</a:t>
            </a:r>
            <a:endParaRPr sz="1600">
              <a:latin typeface="Times New Roman"/>
              <a:ea typeface="Times New Roman"/>
              <a:cs typeface="Times New Roman"/>
              <a:sym typeface="Times New Roman"/>
            </a:endParaRPr>
          </a:p>
        </p:txBody>
      </p:sp>
      <p:sp>
        <p:nvSpPr>
          <p:cNvPr id="509" name="Google Shape;509;p51"/>
          <p:cNvSpPr txBox="1"/>
          <p:nvPr/>
        </p:nvSpPr>
        <p:spPr>
          <a:xfrm>
            <a:off x="1760376" y="1723300"/>
            <a:ext cx="627600" cy="424800"/>
          </a:xfrm>
          <a:prstGeom prst="rect">
            <a:avLst/>
          </a:prstGeom>
          <a:noFill/>
          <a:ln>
            <a:noFill/>
          </a:ln>
        </p:spPr>
        <p:txBody>
          <a:bodyPr anchorCtr="0" anchor="t" bIns="91425" lIns="54000" spcFirstLastPara="1" rIns="54000"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1</a:t>
            </a: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
        <p:nvSpPr>
          <p:cNvPr id="510" name="Google Shape;510;p51"/>
          <p:cNvSpPr txBox="1"/>
          <p:nvPr/>
        </p:nvSpPr>
        <p:spPr>
          <a:xfrm>
            <a:off x="2858349" y="1723300"/>
            <a:ext cx="515700" cy="424800"/>
          </a:xfrm>
          <a:prstGeom prst="rect">
            <a:avLst/>
          </a:prstGeom>
          <a:noFill/>
          <a:ln>
            <a:noFill/>
          </a:ln>
        </p:spPr>
        <p:txBody>
          <a:bodyPr anchorCtr="0" anchor="t" bIns="91425" lIns="54000" spcFirstLastPara="1" rIns="54000"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0</a:t>
            </a: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
        <p:nvSpPr>
          <p:cNvPr id="511" name="Google Shape;511;p51"/>
          <p:cNvSpPr/>
          <p:nvPr/>
        </p:nvSpPr>
        <p:spPr>
          <a:xfrm>
            <a:off x="426125" y="2228750"/>
            <a:ext cx="1326600" cy="546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800"/>
              <a:t>Câu Hỏi</a:t>
            </a:r>
            <a:endParaRPr b="1" sz="1800"/>
          </a:p>
        </p:txBody>
      </p:sp>
      <p:sp>
        <p:nvSpPr>
          <p:cNvPr id="512" name="Google Shape;512;p51"/>
          <p:cNvSpPr/>
          <p:nvPr/>
        </p:nvSpPr>
        <p:spPr>
          <a:xfrm>
            <a:off x="3450300" y="2228750"/>
            <a:ext cx="1197900" cy="546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800"/>
              <a:t>Đề Thi</a:t>
            </a:r>
            <a:endParaRPr b="1" sz="1800"/>
          </a:p>
        </p:txBody>
      </p:sp>
      <p:cxnSp>
        <p:nvCxnSpPr>
          <p:cNvPr id="513" name="Google Shape;513;p51"/>
          <p:cNvCxnSpPr>
            <a:stCxn id="511" idx="3"/>
            <a:endCxn id="514" idx="1"/>
          </p:cNvCxnSpPr>
          <p:nvPr/>
        </p:nvCxnSpPr>
        <p:spPr>
          <a:xfrm flipH="1" rot="10800000">
            <a:off x="1752725" y="2499650"/>
            <a:ext cx="1447200" cy="2400"/>
          </a:xfrm>
          <a:prstGeom prst="straightConnector1">
            <a:avLst/>
          </a:prstGeom>
          <a:noFill/>
          <a:ln cap="flat" cmpd="sng" w="9525">
            <a:solidFill>
              <a:schemeClr val="dk2"/>
            </a:solidFill>
            <a:prstDash val="solid"/>
            <a:round/>
            <a:headEnd len="med" w="med" type="none"/>
            <a:tailEnd len="med" w="med" type="none"/>
          </a:ln>
        </p:spPr>
      </p:cxnSp>
      <p:sp>
        <p:nvSpPr>
          <p:cNvPr id="515" name="Google Shape;515;p51"/>
          <p:cNvSpPr txBox="1"/>
          <p:nvPr/>
        </p:nvSpPr>
        <p:spPr>
          <a:xfrm>
            <a:off x="1760376" y="2409100"/>
            <a:ext cx="627600" cy="424800"/>
          </a:xfrm>
          <a:prstGeom prst="rect">
            <a:avLst/>
          </a:prstGeom>
          <a:noFill/>
          <a:ln>
            <a:noFill/>
          </a:ln>
        </p:spPr>
        <p:txBody>
          <a:bodyPr anchorCtr="0" anchor="t" bIns="91425" lIns="54000" spcFirstLastPara="1" rIns="54000"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p:txBody>
      </p:sp>
      <p:sp>
        <p:nvSpPr>
          <p:cNvPr id="516" name="Google Shape;516;p51"/>
          <p:cNvSpPr txBox="1"/>
          <p:nvPr/>
        </p:nvSpPr>
        <p:spPr>
          <a:xfrm>
            <a:off x="2858349" y="2409100"/>
            <a:ext cx="515700" cy="424800"/>
          </a:xfrm>
          <a:prstGeom prst="rect">
            <a:avLst/>
          </a:prstGeom>
          <a:noFill/>
          <a:ln>
            <a:noFill/>
          </a:ln>
        </p:spPr>
        <p:txBody>
          <a:bodyPr anchorCtr="0" anchor="t" bIns="91425" lIns="54000" spcFirstLastPara="1" rIns="54000"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0..*</a:t>
            </a:r>
            <a:endParaRPr sz="1800">
              <a:latin typeface="Times New Roman"/>
              <a:ea typeface="Times New Roman"/>
              <a:cs typeface="Times New Roman"/>
              <a:sym typeface="Times New Roman"/>
            </a:endParaRPr>
          </a:p>
        </p:txBody>
      </p:sp>
      <p:sp>
        <p:nvSpPr>
          <p:cNvPr id="514" name="Google Shape;514;p51"/>
          <p:cNvSpPr/>
          <p:nvPr/>
        </p:nvSpPr>
        <p:spPr>
          <a:xfrm>
            <a:off x="3200000" y="2415250"/>
            <a:ext cx="250425" cy="16882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51"/>
          <p:cNvSpPr/>
          <p:nvPr/>
        </p:nvSpPr>
        <p:spPr>
          <a:xfrm>
            <a:off x="426125" y="4514750"/>
            <a:ext cx="1326600" cy="546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800"/>
              <a:t>Phòng</a:t>
            </a:r>
            <a:endParaRPr b="1" sz="1800"/>
          </a:p>
        </p:txBody>
      </p:sp>
      <p:sp>
        <p:nvSpPr>
          <p:cNvPr id="518" name="Google Shape;518;p51"/>
          <p:cNvSpPr/>
          <p:nvPr/>
        </p:nvSpPr>
        <p:spPr>
          <a:xfrm>
            <a:off x="3450300" y="4514750"/>
            <a:ext cx="1197900" cy="546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800"/>
              <a:t>Tòa Nhà</a:t>
            </a:r>
            <a:endParaRPr b="1" sz="1800"/>
          </a:p>
        </p:txBody>
      </p:sp>
      <p:cxnSp>
        <p:nvCxnSpPr>
          <p:cNvPr id="519" name="Google Shape;519;p51"/>
          <p:cNvCxnSpPr>
            <a:stCxn id="517" idx="3"/>
            <a:endCxn id="520" idx="1"/>
          </p:cNvCxnSpPr>
          <p:nvPr/>
        </p:nvCxnSpPr>
        <p:spPr>
          <a:xfrm flipH="1" rot="10800000">
            <a:off x="1752725" y="4785650"/>
            <a:ext cx="1447200" cy="2400"/>
          </a:xfrm>
          <a:prstGeom prst="straightConnector1">
            <a:avLst/>
          </a:prstGeom>
          <a:noFill/>
          <a:ln cap="flat" cmpd="sng" w="9525">
            <a:solidFill>
              <a:schemeClr val="dk2"/>
            </a:solidFill>
            <a:prstDash val="solid"/>
            <a:round/>
            <a:headEnd len="med" w="med" type="none"/>
            <a:tailEnd len="med" w="med" type="none"/>
          </a:ln>
        </p:spPr>
      </p:cxnSp>
      <p:sp>
        <p:nvSpPr>
          <p:cNvPr id="521" name="Google Shape;521;p51"/>
          <p:cNvSpPr txBox="1"/>
          <p:nvPr/>
        </p:nvSpPr>
        <p:spPr>
          <a:xfrm>
            <a:off x="1760376" y="4695100"/>
            <a:ext cx="627600" cy="424800"/>
          </a:xfrm>
          <a:prstGeom prst="rect">
            <a:avLst/>
          </a:prstGeom>
          <a:noFill/>
          <a:ln>
            <a:noFill/>
          </a:ln>
        </p:spPr>
        <p:txBody>
          <a:bodyPr anchorCtr="0" anchor="t" bIns="91425" lIns="54000" spcFirstLastPara="1" rIns="54000"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p:txBody>
      </p:sp>
      <p:sp>
        <p:nvSpPr>
          <p:cNvPr id="522" name="Google Shape;522;p51"/>
          <p:cNvSpPr txBox="1"/>
          <p:nvPr/>
        </p:nvSpPr>
        <p:spPr>
          <a:xfrm>
            <a:off x="3034875" y="4695100"/>
            <a:ext cx="415500" cy="424800"/>
          </a:xfrm>
          <a:prstGeom prst="rect">
            <a:avLst/>
          </a:prstGeom>
          <a:noFill/>
          <a:ln>
            <a:noFill/>
          </a:ln>
        </p:spPr>
        <p:txBody>
          <a:bodyPr anchorCtr="0" anchor="t" bIns="91425" lIns="54000" spcFirstLastPara="1" rIns="54000"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p:txBody>
      </p:sp>
      <p:sp>
        <p:nvSpPr>
          <p:cNvPr id="520" name="Google Shape;520;p51"/>
          <p:cNvSpPr/>
          <p:nvPr/>
        </p:nvSpPr>
        <p:spPr>
          <a:xfrm>
            <a:off x="3200000" y="4701250"/>
            <a:ext cx="250425" cy="168825"/>
          </a:xfrm>
          <a:prstGeom prst="flowChartDecision">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51"/>
          <p:cNvSpPr/>
          <p:nvPr/>
        </p:nvSpPr>
        <p:spPr>
          <a:xfrm>
            <a:off x="426125" y="3752750"/>
            <a:ext cx="1326600" cy="546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800"/>
              <a:t>Phòng</a:t>
            </a:r>
            <a:endParaRPr b="1" sz="1800"/>
          </a:p>
        </p:txBody>
      </p:sp>
      <p:sp>
        <p:nvSpPr>
          <p:cNvPr id="524" name="Google Shape;524;p51"/>
          <p:cNvSpPr/>
          <p:nvPr/>
        </p:nvSpPr>
        <p:spPr>
          <a:xfrm>
            <a:off x="3450300" y="3752750"/>
            <a:ext cx="1197900" cy="546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800"/>
              <a:t>Tòa Nhà</a:t>
            </a:r>
            <a:endParaRPr b="1" sz="1800"/>
          </a:p>
        </p:txBody>
      </p:sp>
      <p:cxnSp>
        <p:nvCxnSpPr>
          <p:cNvPr id="525" name="Google Shape;525;p51"/>
          <p:cNvCxnSpPr>
            <a:stCxn id="523" idx="3"/>
            <a:endCxn id="524" idx="1"/>
          </p:cNvCxnSpPr>
          <p:nvPr/>
        </p:nvCxnSpPr>
        <p:spPr>
          <a:xfrm>
            <a:off x="1752725" y="4026050"/>
            <a:ext cx="1697700" cy="0"/>
          </a:xfrm>
          <a:prstGeom prst="straightConnector1">
            <a:avLst/>
          </a:prstGeom>
          <a:noFill/>
          <a:ln cap="flat" cmpd="sng" w="9525">
            <a:solidFill>
              <a:schemeClr val="dk2"/>
            </a:solidFill>
            <a:prstDash val="solid"/>
            <a:round/>
            <a:headEnd len="med" w="med" type="none"/>
            <a:tailEnd len="med" w="med" type="none"/>
          </a:ln>
        </p:spPr>
      </p:cxnSp>
      <p:sp>
        <p:nvSpPr>
          <p:cNvPr id="526" name="Google Shape;526;p51"/>
          <p:cNvSpPr txBox="1"/>
          <p:nvPr/>
        </p:nvSpPr>
        <p:spPr>
          <a:xfrm>
            <a:off x="1760376" y="3933100"/>
            <a:ext cx="627600" cy="424800"/>
          </a:xfrm>
          <a:prstGeom prst="rect">
            <a:avLst/>
          </a:prstGeom>
          <a:noFill/>
          <a:ln>
            <a:noFill/>
          </a:ln>
        </p:spPr>
        <p:txBody>
          <a:bodyPr anchorCtr="0" anchor="t" bIns="91425" lIns="54000" spcFirstLastPara="1" rIns="54000"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p:txBody>
      </p:sp>
      <p:sp>
        <p:nvSpPr>
          <p:cNvPr id="527" name="Google Shape;527;p51"/>
          <p:cNvSpPr txBox="1"/>
          <p:nvPr/>
        </p:nvSpPr>
        <p:spPr>
          <a:xfrm>
            <a:off x="1836815" y="3680380"/>
            <a:ext cx="1621500" cy="424800"/>
          </a:xfrm>
          <a:prstGeom prst="rect">
            <a:avLst/>
          </a:prstGeom>
          <a:noFill/>
          <a:ln>
            <a:noFill/>
          </a:ln>
        </p:spPr>
        <p:txBody>
          <a:bodyPr anchorCtr="0" anchor="t" bIns="91425" lIns="18000" spcFirstLastPara="1" rIns="18000"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thuộc </a:t>
            </a:r>
            <a:r>
              <a:rPr lang="en-GB" sz="1600">
                <a:latin typeface="Times New Roman"/>
                <a:ea typeface="Times New Roman"/>
                <a:cs typeface="Times New Roman"/>
                <a:sym typeface="Times New Roman"/>
              </a:rPr>
              <a:t>&gt;</a:t>
            </a:r>
            <a:endParaRPr sz="1600">
              <a:latin typeface="Times New Roman"/>
              <a:ea typeface="Times New Roman"/>
              <a:cs typeface="Times New Roman"/>
              <a:sym typeface="Times New Roman"/>
            </a:endParaRPr>
          </a:p>
        </p:txBody>
      </p:sp>
      <p:sp>
        <p:nvSpPr>
          <p:cNvPr id="528" name="Google Shape;528;p51"/>
          <p:cNvSpPr txBox="1"/>
          <p:nvPr/>
        </p:nvSpPr>
        <p:spPr>
          <a:xfrm>
            <a:off x="3187275" y="3933100"/>
            <a:ext cx="415500" cy="424800"/>
          </a:xfrm>
          <a:prstGeom prst="rect">
            <a:avLst/>
          </a:prstGeom>
          <a:noFill/>
          <a:ln>
            <a:noFill/>
          </a:ln>
        </p:spPr>
        <p:txBody>
          <a:bodyPr anchorCtr="0" anchor="t" bIns="91425" lIns="54000" spcFirstLastPara="1" rIns="54000"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52"/>
          <p:cNvSpPr/>
          <p:nvPr/>
        </p:nvSpPr>
        <p:spPr>
          <a:xfrm>
            <a:off x="7273000" y="1012850"/>
            <a:ext cx="1559400" cy="20412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52"/>
          <p:cNvSpPr txBox="1"/>
          <p:nvPr>
            <p:ph idx="4294967295" type="body"/>
          </p:nvPr>
        </p:nvSpPr>
        <p:spPr>
          <a:xfrm>
            <a:off x="311700" y="902775"/>
            <a:ext cx="7020600" cy="5705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sz="2400"/>
              <a:t>Loại quan hệ lỏng nhất, ý</a:t>
            </a:r>
            <a:r>
              <a:rPr lang="en-GB" sz="2400"/>
              <a:t> nghĩa phụ thuộc vào trường hợp cụ thể.</a:t>
            </a:r>
            <a:endParaRPr sz="2400"/>
          </a:p>
          <a:p>
            <a:pPr indent="-381000" lvl="0" marL="457200" rtl="0" algn="l">
              <a:spcBef>
                <a:spcPts val="0"/>
              </a:spcBef>
              <a:spcAft>
                <a:spcPts val="0"/>
              </a:spcAft>
              <a:buSzPts val="2400"/>
              <a:buChar char="●"/>
            </a:pPr>
            <a:r>
              <a:rPr lang="en-GB" sz="2400"/>
              <a:t>Được biểu diễn bằng đ</a:t>
            </a:r>
            <a:r>
              <a:rPr lang="en-GB" sz="2400"/>
              <a:t>ường nét liền kết nối 2 lớp cùng với tên quan hệ và các tô điểm đầu liên kết:</a:t>
            </a:r>
            <a:endParaRPr sz="2400"/>
          </a:p>
          <a:p>
            <a:pPr indent="-368300" lvl="1" marL="914400" rtl="0" algn="l">
              <a:spcBef>
                <a:spcPts val="0"/>
              </a:spcBef>
              <a:spcAft>
                <a:spcPts val="0"/>
              </a:spcAft>
              <a:buSzPts val="2200"/>
              <a:buChar char="○"/>
            </a:pPr>
            <a:r>
              <a:rPr lang="en-GB"/>
              <a:t>Tên quan hệ - Có thể khác nhau theo mỗi chiều - Có thể bổ xung ký tự ghi chú hướng đọc</a:t>
            </a:r>
            <a:endParaRPr/>
          </a:p>
          <a:p>
            <a:pPr indent="-368300" lvl="1" marL="914400" rtl="0" algn="l">
              <a:spcBef>
                <a:spcPts val="0"/>
              </a:spcBef>
              <a:spcAft>
                <a:spcPts val="0"/>
              </a:spcAft>
              <a:buSzPts val="2200"/>
              <a:buChar char="○"/>
            </a:pPr>
            <a:r>
              <a:rPr lang="en-GB"/>
              <a:t>Các tô điểm, mô tả đầu liên kết:</a:t>
            </a:r>
            <a:endParaRPr/>
          </a:p>
          <a:p>
            <a:pPr indent="-342900" lvl="2" marL="1371600" rtl="0" algn="l">
              <a:spcBef>
                <a:spcPts val="0"/>
              </a:spcBef>
              <a:spcAft>
                <a:spcPts val="0"/>
              </a:spcAft>
              <a:buSzPts val="1800"/>
              <a:buChar char="■"/>
            </a:pPr>
            <a:r>
              <a:rPr lang="en-GB"/>
              <a:t>Vai trò của đối tượng ở mỗi đầu</a:t>
            </a:r>
            <a:endParaRPr/>
          </a:p>
          <a:p>
            <a:pPr indent="-342900" lvl="2" marL="1371600" rtl="0" algn="l">
              <a:spcBef>
                <a:spcPts val="0"/>
              </a:spcBef>
              <a:spcAft>
                <a:spcPts val="0"/>
              </a:spcAft>
              <a:buSzPts val="1800"/>
              <a:buChar char="■"/>
            </a:pPr>
            <a:r>
              <a:rPr lang="en-GB"/>
              <a:t>Giới hạn hướng duyệt</a:t>
            </a:r>
            <a:endParaRPr/>
          </a:p>
          <a:p>
            <a:pPr indent="-342900" lvl="2" marL="1371600" rtl="0" algn="l">
              <a:spcBef>
                <a:spcPts val="0"/>
              </a:spcBef>
              <a:spcAft>
                <a:spcPts val="0"/>
              </a:spcAft>
              <a:buSzPts val="1800"/>
              <a:buChar char="■"/>
            </a:pPr>
            <a:r>
              <a:rPr lang="en-GB"/>
              <a:t>C</a:t>
            </a:r>
            <a:r>
              <a:rPr lang="en-GB"/>
              <a:t>ơ số - </a:t>
            </a:r>
            <a:r>
              <a:rPr lang="en-GB"/>
              <a:t>số lượng đối tượng tham gia liên kết</a:t>
            </a:r>
            <a:endParaRPr/>
          </a:p>
          <a:p>
            <a:pPr indent="-342900" lvl="2" marL="1371600" rtl="0" algn="l">
              <a:spcBef>
                <a:spcPts val="0"/>
              </a:spcBef>
              <a:spcAft>
                <a:spcPts val="0"/>
              </a:spcAft>
              <a:buSzPts val="1800"/>
              <a:buChar char="■"/>
            </a:pPr>
            <a:r>
              <a:rPr lang="en-GB"/>
              <a:t>Ràng buộc lưu trữ - các đối tượng được lưu như tập hợp, hay danh sách, v.v..</a:t>
            </a:r>
            <a:endParaRPr/>
          </a:p>
        </p:txBody>
      </p:sp>
      <p:sp>
        <p:nvSpPr>
          <p:cNvPr id="535" name="Google Shape;535;p52"/>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Quan hệ liên kết</a:t>
            </a:r>
            <a:endParaRPr baseline="-25000"/>
          </a:p>
        </p:txBody>
      </p:sp>
      <p:sp>
        <p:nvSpPr>
          <p:cNvPr id="536" name="Google Shape;536;p5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37" name="Google Shape;537;p52"/>
          <p:cNvSpPr/>
          <p:nvPr/>
        </p:nvSpPr>
        <p:spPr>
          <a:xfrm>
            <a:off x="7569432" y="1104300"/>
            <a:ext cx="5991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G</a:t>
            </a:r>
            <a:endParaRPr b="1" sz="1800"/>
          </a:p>
        </p:txBody>
      </p:sp>
      <p:sp>
        <p:nvSpPr>
          <p:cNvPr id="538" name="Google Shape;538;p52"/>
          <p:cNvSpPr/>
          <p:nvPr/>
        </p:nvSpPr>
        <p:spPr>
          <a:xfrm>
            <a:off x="7573101" y="2395614"/>
            <a:ext cx="599100" cy="4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H</a:t>
            </a:r>
            <a:endParaRPr b="1" sz="1800"/>
          </a:p>
        </p:txBody>
      </p:sp>
      <p:cxnSp>
        <p:nvCxnSpPr>
          <p:cNvPr id="539" name="Google Shape;539;p52"/>
          <p:cNvCxnSpPr>
            <a:stCxn id="537" idx="2"/>
            <a:endCxn id="538" idx="0"/>
          </p:cNvCxnSpPr>
          <p:nvPr/>
        </p:nvCxnSpPr>
        <p:spPr>
          <a:xfrm>
            <a:off x="7868982" y="1511400"/>
            <a:ext cx="3600" cy="884100"/>
          </a:xfrm>
          <a:prstGeom prst="straightConnector1">
            <a:avLst/>
          </a:prstGeom>
          <a:noFill/>
          <a:ln cap="flat" cmpd="sng" w="9525">
            <a:solidFill>
              <a:schemeClr val="dk2"/>
            </a:solidFill>
            <a:prstDash val="solid"/>
            <a:round/>
            <a:headEnd len="med" w="med" type="none"/>
            <a:tailEnd len="med" w="med" type="none"/>
          </a:ln>
        </p:spPr>
      </p:cxnSp>
      <p:sp>
        <p:nvSpPr>
          <p:cNvPr id="540" name="Google Shape;540;p52"/>
          <p:cNvSpPr txBox="1"/>
          <p:nvPr/>
        </p:nvSpPr>
        <p:spPr>
          <a:xfrm>
            <a:off x="7850257" y="1400287"/>
            <a:ext cx="548700" cy="29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
        <p:nvSpPr>
          <p:cNvPr id="541" name="Google Shape;541;p52"/>
          <p:cNvSpPr txBox="1"/>
          <p:nvPr/>
        </p:nvSpPr>
        <p:spPr>
          <a:xfrm>
            <a:off x="7850257" y="2054422"/>
            <a:ext cx="548700" cy="29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
        <p:nvSpPr>
          <p:cNvPr id="542" name="Google Shape;542;p52"/>
          <p:cNvSpPr txBox="1"/>
          <p:nvPr/>
        </p:nvSpPr>
        <p:spPr>
          <a:xfrm>
            <a:off x="7939751" y="1775450"/>
            <a:ext cx="950700" cy="44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1800">
                <a:latin typeface="Times New Roman"/>
                <a:ea typeface="Times New Roman"/>
                <a:cs typeface="Times New Roman"/>
                <a:sym typeface="Times New Roman"/>
              </a:rPr>
              <a:t>Nhãn</a:t>
            </a:r>
            <a:endParaRPr i="1" sz="1800">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53"/>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3.7. Quan hệ liên kết</a:t>
            </a:r>
            <a:endParaRPr/>
          </a:p>
        </p:txBody>
      </p:sp>
      <p:sp>
        <p:nvSpPr>
          <p:cNvPr id="548" name="Google Shape;548;p5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49" name="Google Shape;549;p53"/>
          <p:cNvSpPr txBox="1"/>
          <p:nvPr/>
        </p:nvSpPr>
        <p:spPr>
          <a:xfrm>
            <a:off x="4872950" y="1046675"/>
            <a:ext cx="3959400" cy="82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200">
                <a:solidFill>
                  <a:srgbClr val="666666"/>
                </a:solidFill>
                <a:latin typeface="Times New Roman"/>
                <a:ea typeface="Times New Roman"/>
                <a:cs typeface="Times New Roman"/>
                <a:sym typeface="Times New Roman"/>
              </a:rPr>
              <a:t>Mỗi trưởng phòng quản lý đúng 1 phòng.</a:t>
            </a:r>
            <a:endParaRPr i="1" sz="2200">
              <a:solidFill>
                <a:srgbClr val="666666"/>
              </a:solidFill>
              <a:latin typeface="Times New Roman"/>
              <a:ea typeface="Times New Roman"/>
              <a:cs typeface="Times New Roman"/>
              <a:sym typeface="Times New Roman"/>
            </a:endParaRPr>
          </a:p>
        </p:txBody>
      </p:sp>
      <p:sp>
        <p:nvSpPr>
          <p:cNvPr id="550" name="Google Shape;550;p53"/>
          <p:cNvSpPr txBox="1"/>
          <p:nvPr/>
        </p:nvSpPr>
        <p:spPr>
          <a:xfrm>
            <a:off x="4872950" y="2613800"/>
            <a:ext cx="4045800" cy="82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200">
                <a:solidFill>
                  <a:srgbClr val="666666"/>
                </a:solidFill>
                <a:latin typeface="Times New Roman"/>
                <a:ea typeface="Times New Roman"/>
                <a:cs typeface="Times New Roman"/>
                <a:sym typeface="Times New Roman"/>
              </a:rPr>
              <a:t>Mỗi học phần sử dụng ít nhất 1 sách tham khảo.</a:t>
            </a:r>
            <a:endParaRPr i="1" sz="2200">
              <a:solidFill>
                <a:srgbClr val="666666"/>
              </a:solidFill>
              <a:latin typeface="Times New Roman"/>
              <a:ea typeface="Times New Roman"/>
              <a:cs typeface="Times New Roman"/>
              <a:sym typeface="Times New Roman"/>
            </a:endParaRPr>
          </a:p>
        </p:txBody>
      </p:sp>
      <p:sp>
        <p:nvSpPr>
          <p:cNvPr id="551" name="Google Shape;551;p53"/>
          <p:cNvSpPr txBox="1"/>
          <p:nvPr/>
        </p:nvSpPr>
        <p:spPr>
          <a:xfrm>
            <a:off x="4829750" y="4591835"/>
            <a:ext cx="4045800" cy="82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200">
                <a:solidFill>
                  <a:srgbClr val="666666"/>
                </a:solidFill>
                <a:latin typeface="Times New Roman"/>
                <a:ea typeface="Times New Roman"/>
                <a:cs typeface="Times New Roman"/>
                <a:sym typeface="Times New Roman"/>
              </a:rPr>
              <a:t>Mỗi đơn hàng </a:t>
            </a:r>
            <a:r>
              <a:rPr i="1" lang="en-GB" sz="2200">
                <a:solidFill>
                  <a:srgbClr val="666666"/>
                </a:solidFill>
                <a:latin typeface="Times New Roman"/>
                <a:ea typeface="Times New Roman"/>
                <a:cs typeface="Times New Roman"/>
                <a:sym typeface="Times New Roman"/>
              </a:rPr>
              <a:t>được tạo bởi đúng 1 khách hàng</a:t>
            </a:r>
            <a:r>
              <a:rPr i="1" lang="en-GB" sz="2200">
                <a:solidFill>
                  <a:srgbClr val="666666"/>
                </a:solidFill>
                <a:latin typeface="Times New Roman"/>
                <a:ea typeface="Times New Roman"/>
                <a:cs typeface="Times New Roman"/>
                <a:sym typeface="Times New Roman"/>
              </a:rPr>
              <a:t>.</a:t>
            </a:r>
            <a:endParaRPr i="1" sz="2200">
              <a:solidFill>
                <a:srgbClr val="666666"/>
              </a:solidFill>
              <a:latin typeface="Times New Roman"/>
              <a:ea typeface="Times New Roman"/>
              <a:cs typeface="Times New Roman"/>
              <a:sym typeface="Times New Roman"/>
            </a:endParaRPr>
          </a:p>
        </p:txBody>
      </p:sp>
      <p:sp>
        <p:nvSpPr>
          <p:cNvPr id="552" name="Google Shape;552;p53"/>
          <p:cNvSpPr/>
          <p:nvPr/>
        </p:nvSpPr>
        <p:spPr>
          <a:xfrm>
            <a:off x="426125" y="1238150"/>
            <a:ext cx="948600" cy="546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800"/>
              <a:t>Phong</a:t>
            </a:r>
            <a:endParaRPr b="1" sz="1800"/>
          </a:p>
        </p:txBody>
      </p:sp>
      <p:sp>
        <p:nvSpPr>
          <p:cNvPr id="553" name="Google Shape;553;p53"/>
          <p:cNvSpPr/>
          <p:nvPr/>
        </p:nvSpPr>
        <p:spPr>
          <a:xfrm>
            <a:off x="3006900" y="1238150"/>
            <a:ext cx="1686000" cy="546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800"/>
              <a:t>TruongPhong</a:t>
            </a:r>
            <a:endParaRPr b="1" sz="1800"/>
          </a:p>
        </p:txBody>
      </p:sp>
      <p:cxnSp>
        <p:nvCxnSpPr>
          <p:cNvPr id="554" name="Google Shape;554;p53"/>
          <p:cNvCxnSpPr>
            <a:stCxn id="552" idx="3"/>
            <a:endCxn id="553" idx="1"/>
          </p:cNvCxnSpPr>
          <p:nvPr/>
        </p:nvCxnSpPr>
        <p:spPr>
          <a:xfrm>
            <a:off x="1374725" y="1511450"/>
            <a:ext cx="1632300" cy="0"/>
          </a:xfrm>
          <a:prstGeom prst="straightConnector1">
            <a:avLst/>
          </a:prstGeom>
          <a:noFill/>
          <a:ln cap="flat" cmpd="sng" w="9525">
            <a:solidFill>
              <a:schemeClr val="dk2"/>
            </a:solidFill>
            <a:prstDash val="solid"/>
            <a:round/>
            <a:headEnd len="med" w="med" type="none"/>
            <a:tailEnd len="med" w="med" type="none"/>
          </a:ln>
        </p:spPr>
      </p:cxnSp>
      <p:sp>
        <p:nvSpPr>
          <p:cNvPr id="555" name="Google Shape;555;p53"/>
          <p:cNvSpPr txBox="1"/>
          <p:nvPr/>
        </p:nvSpPr>
        <p:spPr>
          <a:xfrm>
            <a:off x="1632090" y="1113700"/>
            <a:ext cx="11979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&lt; Quản lý</a:t>
            </a:r>
            <a:endParaRPr sz="1800">
              <a:latin typeface="Times New Roman"/>
              <a:ea typeface="Times New Roman"/>
              <a:cs typeface="Times New Roman"/>
              <a:sym typeface="Times New Roman"/>
            </a:endParaRPr>
          </a:p>
        </p:txBody>
      </p:sp>
      <p:sp>
        <p:nvSpPr>
          <p:cNvPr id="556" name="Google Shape;556;p53"/>
          <p:cNvSpPr txBox="1"/>
          <p:nvPr/>
        </p:nvSpPr>
        <p:spPr>
          <a:xfrm>
            <a:off x="1327293" y="1418500"/>
            <a:ext cx="4254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p:txBody>
      </p:sp>
      <p:sp>
        <p:nvSpPr>
          <p:cNvPr id="557" name="Google Shape;557;p53"/>
          <p:cNvSpPr txBox="1"/>
          <p:nvPr/>
        </p:nvSpPr>
        <p:spPr>
          <a:xfrm>
            <a:off x="2714973" y="1418500"/>
            <a:ext cx="4254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p:txBody>
      </p:sp>
      <p:sp>
        <p:nvSpPr>
          <p:cNvPr id="558" name="Google Shape;558;p53"/>
          <p:cNvSpPr/>
          <p:nvPr/>
        </p:nvSpPr>
        <p:spPr>
          <a:xfrm>
            <a:off x="311700" y="4743350"/>
            <a:ext cx="1440900" cy="546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800"/>
              <a:t>KhachHang</a:t>
            </a:r>
            <a:endParaRPr b="1" sz="1800"/>
          </a:p>
        </p:txBody>
      </p:sp>
      <p:sp>
        <p:nvSpPr>
          <p:cNvPr id="559" name="Google Shape;559;p53"/>
          <p:cNvSpPr/>
          <p:nvPr/>
        </p:nvSpPr>
        <p:spPr>
          <a:xfrm>
            <a:off x="3374100" y="4743350"/>
            <a:ext cx="1197900" cy="546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800"/>
              <a:t>DonHang</a:t>
            </a:r>
            <a:endParaRPr b="1" sz="1800"/>
          </a:p>
        </p:txBody>
      </p:sp>
      <p:cxnSp>
        <p:nvCxnSpPr>
          <p:cNvPr id="560" name="Google Shape;560;p53"/>
          <p:cNvCxnSpPr>
            <a:stCxn id="558" idx="3"/>
            <a:endCxn id="559" idx="1"/>
          </p:cNvCxnSpPr>
          <p:nvPr/>
        </p:nvCxnSpPr>
        <p:spPr>
          <a:xfrm>
            <a:off x="1752600" y="5016650"/>
            <a:ext cx="1621500" cy="0"/>
          </a:xfrm>
          <a:prstGeom prst="straightConnector1">
            <a:avLst/>
          </a:prstGeom>
          <a:noFill/>
          <a:ln cap="flat" cmpd="sng" w="9525">
            <a:solidFill>
              <a:schemeClr val="dk2"/>
            </a:solidFill>
            <a:prstDash val="solid"/>
            <a:round/>
            <a:headEnd len="med" w="med" type="none"/>
            <a:tailEnd len="med" w="med" type="none"/>
          </a:ln>
        </p:spPr>
      </p:cxnSp>
      <p:sp>
        <p:nvSpPr>
          <p:cNvPr id="561" name="Google Shape;561;p53"/>
          <p:cNvSpPr txBox="1"/>
          <p:nvPr/>
        </p:nvSpPr>
        <p:spPr>
          <a:xfrm>
            <a:off x="1760615" y="4618900"/>
            <a:ext cx="16215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&lt; </a:t>
            </a:r>
            <a:r>
              <a:rPr lang="en-GB" sz="1800">
                <a:latin typeface="Times New Roman"/>
                <a:ea typeface="Times New Roman"/>
                <a:cs typeface="Times New Roman"/>
                <a:sym typeface="Times New Roman"/>
              </a:rPr>
              <a:t>Được tạo bởi</a:t>
            </a:r>
            <a:endParaRPr sz="1800">
              <a:latin typeface="Times New Roman"/>
              <a:ea typeface="Times New Roman"/>
              <a:cs typeface="Times New Roman"/>
              <a:sym typeface="Times New Roman"/>
            </a:endParaRPr>
          </a:p>
        </p:txBody>
      </p:sp>
      <p:sp>
        <p:nvSpPr>
          <p:cNvPr id="562" name="Google Shape;562;p53"/>
          <p:cNvSpPr txBox="1"/>
          <p:nvPr/>
        </p:nvSpPr>
        <p:spPr>
          <a:xfrm>
            <a:off x="1760374" y="4923700"/>
            <a:ext cx="425400" cy="424800"/>
          </a:xfrm>
          <a:prstGeom prst="rect">
            <a:avLst/>
          </a:prstGeom>
          <a:noFill/>
          <a:ln>
            <a:noFill/>
          </a:ln>
        </p:spPr>
        <p:txBody>
          <a:bodyPr anchorCtr="0" anchor="t" bIns="91425" lIns="54000" spcFirstLastPara="1" rIns="54000"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p:txBody>
      </p:sp>
      <p:sp>
        <p:nvSpPr>
          <p:cNvPr id="563" name="Google Shape;563;p53"/>
          <p:cNvSpPr txBox="1"/>
          <p:nvPr/>
        </p:nvSpPr>
        <p:spPr>
          <a:xfrm>
            <a:off x="2858349" y="4923700"/>
            <a:ext cx="515700" cy="424800"/>
          </a:xfrm>
          <a:prstGeom prst="rect">
            <a:avLst/>
          </a:prstGeom>
          <a:noFill/>
          <a:ln>
            <a:noFill/>
          </a:ln>
        </p:spPr>
        <p:txBody>
          <a:bodyPr anchorCtr="0" anchor="t" bIns="91425" lIns="54000" spcFirstLastPara="1" rIns="54000"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0..*</a:t>
            </a:r>
            <a:endParaRPr sz="1800">
              <a:latin typeface="Times New Roman"/>
              <a:ea typeface="Times New Roman"/>
              <a:cs typeface="Times New Roman"/>
              <a:sym typeface="Times New Roman"/>
            </a:endParaRPr>
          </a:p>
        </p:txBody>
      </p:sp>
      <p:sp>
        <p:nvSpPr>
          <p:cNvPr id="564" name="Google Shape;564;p53"/>
          <p:cNvSpPr/>
          <p:nvPr/>
        </p:nvSpPr>
        <p:spPr>
          <a:xfrm>
            <a:off x="426125" y="2762150"/>
            <a:ext cx="1326600" cy="546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800"/>
              <a:t>HocPhan</a:t>
            </a:r>
            <a:endParaRPr b="1" sz="1800"/>
          </a:p>
        </p:txBody>
      </p:sp>
      <p:sp>
        <p:nvSpPr>
          <p:cNvPr id="565" name="Google Shape;565;p53"/>
          <p:cNvSpPr/>
          <p:nvPr/>
        </p:nvSpPr>
        <p:spPr>
          <a:xfrm>
            <a:off x="3374100" y="2762150"/>
            <a:ext cx="1197900" cy="546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800"/>
              <a:t>SachTK</a:t>
            </a:r>
            <a:endParaRPr b="1" sz="1800"/>
          </a:p>
        </p:txBody>
      </p:sp>
      <p:cxnSp>
        <p:nvCxnSpPr>
          <p:cNvPr id="566" name="Google Shape;566;p53"/>
          <p:cNvCxnSpPr>
            <a:stCxn id="564" idx="3"/>
            <a:endCxn id="565" idx="1"/>
          </p:cNvCxnSpPr>
          <p:nvPr/>
        </p:nvCxnSpPr>
        <p:spPr>
          <a:xfrm>
            <a:off x="1752725" y="3035450"/>
            <a:ext cx="1621500" cy="0"/>
          </a:xfrm>
          <a:prstGeom prst="straightConnector1">
            <a:avLst/>
          </a:prstGeom>
          <a:noFill/>
          <a:ln cap="flat" cmpd="sng" w="9525">
            <a:solidFill>
              <a:schemeClr val="dk2"/>
            </a:solidFill>
            <a:prstDash val="solid"/>
            <a:round/>
            <a:headEnd len="med" w="med" type="none"/>
            <a:tailEnd len="med" w="med" type="none"/>
          </a:ln>
        </p:spPr>
      </p:cxnSp>
      <p:sp>
        <p:nvSpPr>
          <p:cNvPr id="567" name="Google Shape;567;p53"/>
          <p:cNvSpPr txBox="1"/>
          <p:nvPr/>
        </p:nvSpPr>
        <p:spPr>
          <a:xfrm>
            <a:off x="1760615" y="2637700"/>
            <a:ext cx="1621500" cy="42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Sử dụng &gt;</a:t>
            </a:r>
            <a:endParaRPr sz="1800">
              <a:latin typeface="Times New Roman"/>
              <a:ea typeface="Times New Roman"/>
              <a:cs typeface="Times New Roman"/>
              <a:sym typeface="Times New Roman"/>
            </a:endParaRPr>
          </a:p>
        </p:txBody>
      </p:sp>
      <p:sp>
        <p:nvSpPr>
          <p:cNvPr id="568" name="Google Shape;568;p53"/>
          <p:cNvSpPr txBox="1"/>
          <p:nvPr/>
        </p:nvSpPr>
        <p:spPr>
          <a:xfrm>
            <a:off x="1760376" y="2942500"/>
            <a:ext cx="627600" cy="424800"/>
          </a:xfrm>
          <a:prstGeom prst="rect">
            <a:avLst/>
          </a:prstGeom>
          <a:noFill/>
          <a:ln>
            <a:noFill/>
          </a:ln>
        </p:spPr>
        <p:txBody>
          <a:bodyPr anchorCtr="0" anchor="t" bIns="91425" lIns="54000" spcFirstLastPara="1" rIns="54000"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0</a:t>
            </a: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
        <p:nvSpPr>
          <p:cNvPr id="569" name="Google Shape;569;p53"/>
          <p:cNvSpPr txBox="1"/>
          <p:nvPr/>
        </p:nvSpPr>
        <p:spPr>
          <a:xfrm>
            <a:off x="2858349" y="2942500"/>
            <a:ext cx="515700" cy="424800"/>
          </a:xfrm>
          <a:prstGeom prst="rect">
            <a:avLst/>
          </a:prstGeom>
          <a:noFill/>
          <a:ln>
            <a:noFill/>
          </a:ln>
        </p:spPr>
        <p:txBody>
          <a:bodyPr anchorCtr="0" anchor="t" bIns="91425" lIns="54000" spcFirstLastPara="1" rIns="54000"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1</a:t>
            </a: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54"/>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3.8. Các tô điểm cho đầu liên kết</a:t>
            </a:r>
            <a:endParaRPr/>
          </a:p>
        </p:txBody>
      </p:sp>
      <p:sp>
        <p:nvSpPr>
          <p:cNvPr id="575" name="Google Shape;575;p5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76" name="Google Shape;576;p54"/>
          <p:cNvSpPr/>
          <p:nvPr/>
        </p:nvSpPr>
        <p:spPr>
          <a:xfrm>
            <a:off x="2509650" y="912600"/>
            <a:ext cx="990000" cy="56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400"/>
              <a:t>A</a:t>
            </a:r>
            <a:endParaRPr sz="2400"/>
          </a:p>
        </p:txBody>
      </p:sp>
      <p:sp>
        <p:nvSpPr>
          <p:cNvPr id="577" name="Google Shape;577;p54"/>
          <p:cNvSpPr/>
          <p:nvPr/>
        </p:nvSpPr>
        <p:spPr>
          <a:xfrm>
            <a:off x="5329050" y="888788"/>
            <a:ext cx="990000" cy="56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400"/>
              <a:t>B</a:t>
            </a:r>
            <a:endParaRPr sz="2400"/>
          </a:p>
        </p:txBody>
      </p:sp>
      <p:sp>
        <p:nvSpPr>
          <p:cNvPr id="578" name="Google Shape;578;p54"/>
          <p:cNvSpPr/>
          <p:nvPr/>
        </p:nvSpPr>
        <p:spPr>
          <a:xfrm>
            <a:off x="2509650" y="1910344"/>
            <a:ext cx="990000" cy="56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400"/>
              <a:t>C</a:t>
            </a:r>
            <a:endParaRPr sz="2400"/>
          </a:p>
        </p:txBody>
      </p:sp>
      <p:sp>
        <p:nvSpPr>
          <p:cNvPr id="579" name="Google Shape;579;p54"/>
          <p:cNvSpPr/>
          <p:nvPr/>
        </p:nvSpPr>
        <p:spPr>
          <a:xfrm>
            <a:off x="5329050" y="1910344"/>
            <a:ext cx="990000" cy="56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400"/>
              <a:t>D</a:t>
            </a:r>
            <a:endParaRPr sz="2400"/>
          </a:p>
        </p:txBody>
      </p:sp>
      <p:cxnSp>
        <p:nvCxnSpPr>
          <p:cNvPr id="580" name="Google Shape;580;p54"/>
          <p:cNvCxnSpPr>
            <a:endCxn id="577" idx="1"/>
          </p:cNvCxnSpPr>
          <p:nvPr/>
        </p:nvCxnSpPr>
        <p:spPr>
          <a:xfrm>
            <a:off x="3502350" y="1172888"/>
            <a:ext cx="1826700" cy="0"/>
          </a:xfrm>
          <a:prstGeom prst="straightConnector1">
            <a:avLst/>
          </a:prstGeom>
          <a:noFill/>
          <a:ln cap="flat" cmpd="sng" w="9525">
            <a:solidFill>
              <a:schemeClr val="dk2"/>
            </a:solidFill>
            <a:prstDash val="solid"/>
            <a:round/>
            <a:headEnd len="med" w="med" type="none"/>
            <a:tailEnd len="med" w="med" type="triangle"/>
          </a:ln>
        </p:spPr>
      </p:cxnSp>
      <p:cxnSp>
        <p:nvCxnSpPr>
          <p:cNvPr id="581" name="Google Shape;581;p54"/>
          <p:cNvCxnSpPr>
            <a:stCxn id="578" idx="3"/>
            <a:endCxn id="579" idx="1"/>
          </p:cNvCxnSpPr>
          <p:nvPr/>
        </p:nvCxnSpPr>
        <p:spPr>
          <a:xfrm>
            <a:off x="3499650" y="2194444"/>
            <a:ext cx="1829400" cy="0"/>
          </a:xfrm>
          <a:prstGeom prst="straightConnector1">
            <a:avLst/>
          </a:prstGeom>
          <a:noFill/>
          <a:ln cap="flat" cmpd="sng" w="9525">
            <a:solidFill>
              <a:schemeClr val="dk2"/>
            </a:solidFill>
            <a:prstDash val="solid"/>
            <a:round/>
            <a:headEnd len="med" w="med" type="none"/>
            <a:tailEnd len="med" w="med" type="none"/>
          </a:ln>
        </p:spPr>
      </p:cxnSp>
      <p:sp>
        <p:nvSpPr>
          <p:cNvPr id="582" name="Google Shape;582;p54"/>
          <p:cNvSpPr/>
          <p:nvPr/>
        </p:nvSpPr>
        <p:spPr>
          <a:xfrm>
            <a:off x="2891079" y="1488825"/>
            <a:ext cx="210900" cy="129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3" name="Google Shape;583;p54"/>
          <p:cNvCxnSpPr>
            <a:stCxn id="578" idx="0"/>
            <a:endCxn id="582" idx="3"/>
          </p:cNvCxnSpPr>
          <p:nvPr/>
        </p:nvCxnSpPr>
        <p:spPr>
          <a:xfrm rot="10800000">
            <a:off x="2996550" y="1618744"/>
            <a:ext cx="8100" cy="291600"/>
          </a:xfrm>
          <a:prstGeom prst="straightConnector1">
            <a:avLst/>
          </a:prstGeom>
          <a:noFill/>
          <a:ln cap="flat" cmpd="sng" w="9525">
            <a:solidFill>
              <a:schemeClr val="dk2"/>
            </a:solidFill>
            <a:prstDash val="solid"/>
            <a:round/>
            <a:headEnd len="med" w="med" type="none"/>
            <a:tailEnd len="med" w="med" type="none"/>
          </a:ln>
        </p:spPr>
      </p:cxnSp>
      <p:sp>
        <p:nvSpPr>
          <p:cNvPr id="584" name="Google Shape;584;p54"/>
          <p:cNvSpPr/>
          <p:nvPr/>
        </p:nvSpPr>
        <p:spPr>
          <a:xfrm>
            <a:off x="5710479" y="1488825"/>
            <a:ext cx="210900" cy="129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5" name="Google Shape;585;p54"/>
          <p:cNvCxnSpPr>
            <a:stCxn id="579" idx="0"/>
            <a:endCxn id="584" idx="3"/>
          </p:cNvCxnSpPr>
          <p:nvPr/>
        </p:nvCxnSpPr>
        <p:spPr>
          <a:xfrm rot="10800000">
            <a:off x="5815950" y="1618744"/>
            <a:ext cx="8100" cy="291600"/>
          </a:xfrm>
          <a:prstGeom prst="straightConnector1">
            <a:avLst/>
          </a:prstGeom>
          <a:noFill/>
          <a:ln cap="flat" cmpd="sng" w="9525">
            <a:solidFill>
              <a:schemeClr val="dk2"/>
            </a:solidFill>
            <a:prstDash val="solid"/>
            <a:round/>
            <a:headEnd len="med" w="med" type="none"/>
            <a:tailEnd len="med" w="med" type="none"/>
          </a:ln>
        </p:spPr>
      </p:cxnSp>
      <p:sp>
        <p:nvSpPr>
          <p:cNvPr id="586" name="Google Shape;586;p54"/>
          <p:cNvSpPr txBox="1"/>
          <p:nvPr/>
        </p:nvSpPr>
        <p:spPr>
          <a:xfrm>
            <a:off x="3524125" y="825125"/>
            <a:ext cx="3735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a</a:t>
            </a:r>
            <a:endParaRPr sz="1600">
              <a:latin typeface="Times New Roman"/>
              <a:ea typeface="Times New Roman"/>
              <a:cs typeface="Times New Roman"/>
              <a:sym typeface="Times New Roman"/>
            </a:endParaRPr>
          </a:p>
        </p:txBody>
      </p:sp>
      <p:sp>
        <p:nvSpPr>
          <p:cNvPr id="587" name="Google Shape;587;p54"/>
          <p:cNvSpPr txBox="1"/>
          <p:nvPr/>
        </p:nvSpPr>
        <p:spPr>
          <a:xfrm>
            <a:off x="5048125" y="825125"/>
            <a:ext cx="3735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b</a:t>
            </a:r>
            <a:endParaRPr sz="1600">
              <a:latin typeface="Times New Roman"/>
              <a:ea typeface="Times New Roman"/>
              <a:cs typeface="Times New Roman"/>
              <a:sym typeface="Times New Roman"/>
            </a:endParaRPr>
          </a:p>
        </p:txBody>
      </p:sp>
      <p:sp>
        <p:nvSpPr>
          <p:cNvPr id="588" name="Google Shape;588;p54"/>
          <p:cNvSpPr txBox="1"/>
          <p:nvPr/>
        </p:nvSpPr>
        <p:spPr>
          <a:xfrm>
            <a:off x="5048125" y="1822869"/>
            <a:ext cx="3735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d</a:t>
            </a:r>
            <a:endParaRPr sz="1600">
              <a:latin typeface="Times New Roman"/>
              <a:ea typeface="Times New Roman"/>
              <a:cs typeface="Times New Roman"/>
              <a:sym typeface="Times New Roman"/>
            </a:endParaRPr>
          </a:p>
        </p:txBody>
      </p:sp>
      <p:sp>
        <p:nvSpPr>
          <p:cNvPr id="589" name="Google Shape;589;p54"/>
          <p:cNvSpPr txBox="1"/>
          <p:nvPr/>
        </p:nvSpPr>
        <p:spPr>
          <a:xfrm>
            <a:off x="3447925" y="1129925"/>
            <a:ext cx="5487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0..1</a:t>
            </a:r>
            <a:endParaRPr sz="1600">
              <a:latin typeface="Times New Roman"/>
              <a:ea typeface="Times New Roman"/>
              <a:cs typeface="Times New Roman"/>
              <a:sym typeface="Times New Roman"/>
            </a:endParaRPr>
          </a:p>
        </p:txBody>
      </p:sp>
      <p:sp>
        <p:nvSpPr>
          <p:cNvPr id="590" name="Google Shape;590;p54"/>
          <p:cNvSpPr txBox="1"/>
          <p:nvPr/>
        </p:nvSpPr>
        <p:spPr>
          <a:xfrm>
            <a:off x="5037450" y="1097113"/>
            <a:ext cx="210900" cy="291600"/>
          </a:xfrm>
          <a:prstGeom prst="rect">
            <a:avLst/>
          </a:prstGeom>
          <a:noFill/>
          <a:ln>
            <a:noFill/>
          </a:ln>
        </p:spPr>
        <p:txBody>
          <a:bodyPr anchorCtr="0" anchor="t" bIns="91425" lIns="18000" spcFirstLastPara="1" rIns="18000" wrap="square" tIns="91425">
            <a:noAutofit/>
          </a:bodyPr>
          <a:lstStyle/>
          <a:p>
            <a:pPr indent="0" lvl="0" marL="0" rtl="0" algn="r">
              <a:spcBef>
                <a:spcPts val="0"/>
              </a:spcBef>
              <a:spcAft>
                <a:spcPts val="0"/>
              </a:spcAft>
              <a:buNone/>
            </a:pPr>
            <a:r>
              <a:rPr lang="en-GB" sz="1600">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p:txBody>
      </p:sp>
      <p:sp>
        <p:nvSpPr>
          <p:cNvPr id="591" name="Google Shape;591;p54"/>
          <p:cNvSpPr txBox="1"/>
          <p:nvPr/>
        </p:nvSpPr>
        <p:spPr>
          <a:xfrm>
            <a:off x="4812500" y="2127675"/>
            <a:ext cx="435600" cy="381300"/>
          </a:xfrm>
          <a:prstGeom prst="rect">
            <a:avLst/>
          </a:prstGeom>
          <a:noFill/>
          <a:ln>
            <a:noFill/>
          </a:ln>
        </p:spPr>
        <p:txBody>
          <a:bodyPr anchorCtr="0" anchor="t" bIns="91425" lIns="18000" spcFirstLastPara="1" rIns="18000" wrap="square" tIns="91425">
            <a:noAutofit/>
          </a:bodyPr>
          <a:lstStyle/>
          <a:p>
            <a:pPr indent="0" lvl="0" marL="0" rtl="0" algn="r">
              <a:spcBef>
                <a:spcPts val="0"/>
              </a:spcBef>
              <a:spcAft>
                <a:spcPts val="0"/>
              </a:spcAft>
              <a:buNone/>
            </a:pPr>
            <a:r>
              <a:rPr lang="en-GB" sz="1600">
                <a:latin typeface="Times New Roman"/>
                <a:ea typeface="Times New Roman"/>
                <a:cs typeface="Times New Roman"/>
                <a:sym typeface="Times New Roman"/>
              </a:rPr>
              <a:t>0..1</a:t>
            </a:r>
            <a:endParaRPr sz="1600">
              <a:latin typeface="Times New Roman"/>
              <a:ea typeface="Times New Roman"/>
              <a:cs typeface="Times New Roman"/>
              <a:sym typeface="Times New Roman"/>
            </a:endParaRPr>
          </a:p>
        </p:txBody>
      </p:sp>
      <p:sp>
        <p:nvSpPr>
          <p:cNvPr id="592" name="Google Shape;592;p54"/>
          <p:cNvSpPr txBox="1"/>
          <p:nvPr/>
        </p:nvSpPr>
        <p:spPr>
          <a:xfrm>
            <a:off x="3447925" y="2127669"/>
            <a:ext cx="5487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1</a:t>
            </a:r>
            <a:endParaRPr sz="1600">
              <a:latin typeface="Times New Roman"/>
              <a:ea typeface="Times New Roman"/>
              <a:cs typeface="Times New Roman"/>
              <a:sym typeface="Times New Roman"/>
            </a:endParaRPr>
          </a:p>
        </p:txBody>
      </p:sp>
      <p:sp>
        <p:nvSpPr>
          <p:cNvPr id="593" name="Google Shape;593;p54"/>
          <p:cNvSpPr txBox="1"/>
          <p:nvPr/>
        </p:nvSpPr>
        <p:spPr>
          <a:xfrm>
            <a:off x="357400" y="2652375"/>
            <a:ext cx="8520600" cy="3879300"/>
          </a:xfrm>
          <a:prstGeom prst="rect">
            <a:avLst/>
          </a:prstGeom>
          <a:noFill/>
          <a:ln>
            <a:noFill/>
          </a:ln>
        </p:spPr>
        <p:txBody>
          <a:bodyPr anchorCtr="0" anchor="t" bIns="91425" lIns="91425" spcFirstLastPara="1" rIns="91425" wrap="square" tIns="91425">
            <a:noAutofit/>
          </a:bodyPr>
          <a:lstStyle/>
          <a:p>
            <a:pPr indent="-381000" lvl="0" marL="457200" rtl="0" algn="l">
              <a:spcBef>
                <a:spcPts val="0"/>
              </a:spcBef>
              <a:spcAft>
                <a:spcPts val="0"/>
              </a:spcAft>
              <a:buClr>
                <a:srgbClr val="666666"/>
              </a:buClr>
              <a:buSzPts val="2400"/>
              <a:buFont typeface="Times New Roman"/>
              <a:buChar char="●"/>
            </a:pPr>
            <a:r>
              <a:rPr lang="en-GB" sz="2400">
                <a:solidFill>
                  <a:srgbClr val="666666"/>
                </a:solidFill>
                <a:latin typeface="Times New Roman"/>
                <a:ea typeface="Times New Roman"/>
                <a:cs typeface="Times New Roman"/>
                <a:sym typeface="Times New Roman"/>
              </a:rPr>
              <a:t>Ý nghĩa của các thành phần tô điểm liên kết:</a:t>
            </a:r>
            <a:endParaRPr sz="2400">
              <a:solidFill>
                <a:srgbClr val="666666"/>
              </a:solidFill>
              <a:latin typeface="Times New Roman"/>
              <a:ea typeface="Times New Roman"/>
              <a:cs typeface="Times New Roman"/>
              <a:sym typeface="Times New Roman"/>
            </a:endParaRPr>
          </a:p>
          <a:p>
            <a:pPr indent="-368300" lvl="1" marL="914400" rtl="0" algn="l">
              <a:spcBef>
                <a:spcPts val="0"/>
              </a:spcBef>
              <a:spcAft>
                <a:spcPts val="0"/>
              </a:spcAft>
              <a:buClr>
                <a:srgbClr val="666666"/>
              </a:buClr>
              <a:buSzPts val="2200"/>
              <a:buFont typeface="Times New Roman"/>
              <a:buChar char="○"/>
            </a:pPr>
            <a:r>
              <a:rPr lang="en-GB" sz="2200">
                <a:solidFill>
                  <a:srgbClr val="666666"/>
                </a:solidFill>
                <a:latin typeface="Times New Roman"/>
                <a:ea typeface="Times New Roman"/>
                <a:cs typeface="Times New Roman"/>
                <a:sym typeface="Times New Roman"/>
              </a:rPr>
              <a:t>a, b, d là các tên/vai trò của các đầu liên kết.</a:t>
            </a:r>
            <a:endParaRPr sz="2200">
              <a:solidFill>
                <a:srgbClr val="666666"/>
              </a:solidFill>
              <a:latin typeface="Times New Roman"/>
              <a:ea typeface="Times New Roman"/>
              <a:cs typeface="Times New Roman"/>
              <a:sym typeface="Times New Roman"/>
            </a:endParaRPr>
          </a:p>
          <a:p>
            <a:pPr indent="-368300" lvl="1" marL="914400" rtl="0" algn="l">
              <a:spcBef>
                <a:spcPts val="0"/>
              </a:spcBef>
              <a:spcAft>
                <a:spcPts val="0"/>
              </a:spcAft>
              <a:buClr>
                <a:srgbClr val="666666"/>
              </a:buClr>
              <a:buSzPts val="2200"/>
              <a:buFont typeface="Times New Roman"/>
              <a:buChar char="○"/>
            </a:pPr>
            <a:r>
              <a:rPr lang="en-GB" sz="2200">
                <a:solidFill>
                  <a:srgbClr val="666666"/>
                </a:solidFill>
                <a:latin typeface="Times New Roman"/>
                <a:ea typeface="Times New Roman"/>
                <a:cs typeface="Times New Roman"/>
                <a:sym typeface="Times New Roman"/>
              </a:rPr>
              <a:t>Các cơ số 0..1 đối với a, * đối với b, 1 ở đầu lớp C (không đặt tên), và 0..1 đối với d cho biết số lượng đối tượng có thể tham gia vào mối quan hệ với đối tượng ở đầu bên kia.</a:t>
            </a:r>
            <a:endParaRPr sz="2200">
              <a:solidFill>
                <a:srgbClr val="666666"/>
              </a:solidFill>
              <a:latin typeface="Times New Roman"/>
              <a:ea typeface="Times New Roman"/>
              <a:cs typeface="Times New Roman"/>
              <a:sym typeface="Times New Roman"/>
            </a:endParaRPr>
          </a:p>
          <a:p>
            <a:pPr indent="-368300" lvl="1" marL="914400" rtl="0" algn="l">
              <a:spcBef>
                <a:spcPts val="0"/>
              </a:spcBef>
              <a:spcAft>
                <a:spcPts val="0"/>
              </a:spcAft>
              <a:buClr>
                <a:srgbClr val="666666"/>
              </a:buClr>
              <a:buSzPts val="2200"/>
              <a:buFont typeface="Times New Roman"/>
              <a:buChar char="○"/>
            </a:pPr>
            <a:r>
              <a:rPr lang="en-GB" sz="2200">
                <a:solidFill>
                  <a:srgbClr val="666666"/>
                </a:solidFill>
                <a:latin typeface="Times New Roman"/>
                <a:ea typeface="Times New Roman"/>
                <a:cs typeface="Times New Roman"/>
                <a:sym typeface="Times New Roman"/>
              </a:rPr>
              <a:t>Đầu b là 1 tập có thứ tự.</a:t>
            </a:r>
            <a:endParaRPr sz="2200">
              <a:solidFill>
                <a:srgbClr val="666666"/>
              </a:solidFill>
              <a:latin typeface="Times New Roman"/>
              <a:ea typeface="Times New Roman"/>
              <a:cs typeface="Times New Roman"/>
              <a:sym typeface="Times New Roman"/>
            </a:endParaRPr>
          </a:p>
          <a:p>
            <a:pPr indent="-368300" lvl="1" marL="914400" rtl="0" algn="l">
              <a:spcBef>
                <a:spcPts val="0"/>
              </a:spcBef>
              <a:spcAft>
                <a:spcPts val="0"/>
              </a:spcAft>
              <a:buClr>
                <a:srgbClr val="666666"/>
              </a:buClr>
              <a:buSzPts val="2200"/>
              <a:buFont typeface="Times New Roman"/>
              <a:buChar char="○"/>
            </a:pPr>
            <a:r>
              <a:rPr lang="en-GB" sz="2200">
                <a:solidFill>
                  <a:srgbClr val="666666"/>
                </a:solidFill>
                <a:latin typeface="Times New Roman"/>
                <a:ea typeface="Times New Roman"/>
                <a:cs typeface="Times New Roman"/>
                <a:sym typeface="Times New Roman"/>
              </a:rPr>
              <a:t>Đầu d là tập con của đầu b, tương đương với:</a:t>
            </a:r>
            <a:endParaRPr sz="2200">
              <a:solidFill>
                <a:srgbClr val="666666"/>
              </a:solidFill>
              <a:latin typeface="Times New Roman"/>
              <a:ea typeface="Times New Roman"/>
              <a:cs typeface="Times New Roman"/>
              <a:sym typeface="Times New Roman"/>
            </a:endParaRPr>
          </a:p>
          <a:p>
            <a:pPr indent="0" lvl="0" marL="914400" rtl="0" algn="l">
              <a:spcBef>
                <a:spcPts val="0"/>
              </a:spcBef>
              <a:spcAft>
                <a:spcPts val="0"/>
              </a:spcAft>
              <a:buNone/>
            </a:pPr>
            <a:r>
              <a:rPr b="1" lang="en-GB" sz="2200">
                <a:solidFill>
                  <a:srgbClr val="666666"/>
                </a:solidFill>
                <a:latin typeface="Times New Roman"/>
                <a:ea typeface="Times New Roman"/>
                <a:cs typeface="Times New Roman"/>
                <a:sym typeface="Times New Roman"/>
              </a:rPr>
              <a:t>context</a:t>
            </a:r>
            <a:r>
              <a:rPr lang="en-GB" sz="2200">
                <a:solidFill>
                  <a:srgbClr val="666666"/>
                </a:solidFill>
                <a:latin typeface="Times New Roman"/>
                <a:ea typeface="Times New Roman"/>
                <a:cs typeface="Times New Roman"/>
                <a:sym typeface="Times New Roman"/>
              </a:rPr>
              <a:t> C </a:t>
            </a:r>
            <a:r>
              <a:rPr b="1" lang="en-GB" sz="2200">
                <a:solidFill>
                  <a:srgbClr val="666666"/>
                </a:solidFill>
                <a:latin typeface="Times New Roman"/>
                <a:ea typeface="Times New Roman"/>
                <a:cs typeface="Times New Roman"/>
                <a:sym typeface="Times New Roman"/>
              </a:rPr>
              <a:t>inv</a:t>
            </a:r>
            <a:r>
              <a:rPr lang="en-GB" sz="2200">
                <a:solidFill>
                  <a:srgbClr val="666666"/>
                </a:solidFill>
                <a:latin typeface="Times New Roman"/>
                <a:ea typeface="Times New Roman"/>
                <a:cs typeface="Times New Roman"/>
                <a:sym typeface="Times New Roman"/>
              </a:rPr>
              <a:t>: b-&gt;includesAll(d)</a:t>
            </a:r>
            <a:endParaRPr sz="2200">
              <a:solidFill>
                <a:srgbClr val="666666"/>
              </a:solidFill>
              <a:latin typeface="Times New Roman"/>
              <a:ea typeface="Times New Roman"/>
              <a:cs typeface="Times New Roman"/>
              <a:sym typeface="Times New Roman"/>
            </a:endParaRPr>
          </a:p>
          <a:p>
            <a:pPr indent="-368300" lvl="1" marL="914400" rtl="0" algn="l">
              <a:spcBef>
                <a:spcPts val="0"/>
              </a:spcBef>
              <a:spcAft>
                <a:spcPts val="0"/>
              </a:spcAft>
              <a:buClr>
                <a:srgbClr val="666666"/>
              </a:buClr>
              <a:buSzPts val="2200"/>
              <a:buFont typeface="Times New Roman"/>
              <a:buChar char="○"/>
            </a:pPr>
            <a:r>
              <a:rPr lang="en-GB" sz="2200">
                <a:solidFill>
                  <a:srgbClr val="666666"/>
                </a:solidFill>
                <a:latin typeface="Times New Roman"/>
                <a:ea typeface="Times New Roman"/>
                <a:cs typeface="Times New Roman"/>
                <a:sym typeface="Times New Roman"/>
              </a:rPr>
              <a:t>x - đối tượng lớp B không truy cập được đối tác của nó ở phía A; mũi tên - đối tượng lớp A có thể truy cập các đối tác của nó ở phía B; đường nét liền giữa C-D - hướng duyệt chưa xác định.</a:t>
            </a:r>
            <a:endParaRPr sz="2200">
              <a:solidFill>
                <a:srgbClr val="666666"/>
              </a:solidFill>
              <a:latin typeface="Times New Roman"/>
              <a:ea typeface="Times New Roman"/>
              <a:cs typeface="Times New Roman"/>
              <a:sym typeface="Times New Roman"/>
            </a:endParaRPr>
          </a:p>
        </p:txBody>
      </p:sp>
      <p:sp>
        <p:nvSpPr>
          <p:cNvPr id="594" name="Google Shape;594;p54"/>
          <p:cNvSpPr txBox="1"/>
          <p:nvPr/>
        </p:nvSpPr>
        <p:spPr>
          <a:xfrm>
            <a:off x="3436025" y="942053"/>
            <a:ext cx="4356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x</a:t>
            </a:r>
            <a:endParaRPr sz="1600">
              <a:latin typeface="Times New Roman"/>
              <a:ea typeface="Times New Roman"/>
              <a:cs typeface="Times New Roman"/>
              <a:sym typeface="Times New Roman"/>
            </a:endParaRPr>
          </a:p>
        </p:txBody>
      </p:sp>
      <p:sp>
        <p:nvSpPr>
          <p:cNvPr id="595" name="Google Shape;595;p54"/>
          <p:cNvSpPr txBox="1"/>
          <p:nvPr/>
        </p:nvSpPr>
        <p:spPr>
          <a:xfrm>
            <a:off x="4377625" y="1254013"/>
            <a:ext cx="946800" cy="291600"/>
          </a:xfrm>
          <a:prstGeom prst="rect">
            <a:avLst/>
          </a:prstGeom>
          <a:noFill/>
          <a:ln>
            <a:noFill/>
          </a:ln>
        </p:spPr>
        <p:txBody>
          <a:bodyPr anchorCtr="0" anchor="t" bIns="91425" lIns="18000" spcFirstLastPara="1" rIns="18000" wrap="square" tIns="91425">
            <a:noAutofit/>
          </a:bodyPr>
          <a:lstStyle/>
          <a:p>
            <a:pPr indent="0" lvl="0" marL="0" rtl="0" algn="r">
              <a:spcBef>
                <a:spcPts val="0"/>
              </a:spcBef>
              <a:spcAft>
                <a:spcPts val="0"/>
              </a:spcAft>
              <a:buNone/>
            </a:pPr>
            <a:r>
              <a:rPr lang="en-GB" sz="1600">
                <a:latin typeface="Times New Roman"/>
                <a:ea typeface="Times New Roman"/>
                <a:cs typeface="Times New Roman"/>
                <a:sym typeface="Times New Roman"/>
              </a:rPr>
              <a:t>{ordered}</a:t>
            </a:r>
            <a:endParaRPr sz="1600">
              <a:latin typeface="Times New Roman"/>
              <a:ea typeface="Times New Roman"/>
              <a:cs typeface="Times New Roman"/>
              <a:sym typeface="Times New Roman"/>
            </a:endParaRPr>
          </a:p>
        </p:txBody>
      </p:sp>
      <p:sp>
        <p:nvSpPr>
          <p:cNvPr id="596" name="Google Shape;596;p54"/>
          <p:cNvSpPr txBox="1"/>
          <p:nvPr/>
        </p:nvSpPr>
        <p:spPr>
          <a:xfrm>
            <a:off x="4193375" y="2356275"/>
            <a:ext cx="1131000" cy="381300"/>
          </a:xfrm>
          <a:prstGeom prst="rect">
            <a:avLst/>
          </a:prstGeom>
          <a:noFill/>
          <a:ln>
            <a:noFill/>
          </a:ln>
        </p:spPr>
        <p:txBody>
          <a:bodyPr anchorCtr="0" anchor="t" bIns="91425" lIns="18000" spcFirstLastPara="1" rIns="18000" wrap="square" tIns="91425">
            <a:noAutofit/>
          </a:bodyPr>
          <a:lstStyle/>
          <a:p>
            <a:pPr indent="0" lvl="0" marL="0" rtl="0" algn="r">
              <a:spcBef>
                <a:spcPts val="0"/>
              </a:spcBef>
              <a:spcAft>
                <a:spcPts val="0"/>
              </a:spcAft>
              <a:buNone/>
            </a:pPr>
            <a:r>
              <a:rPr lang="en-GB" sz="1600">
                <a:latin typeface="Times New Roman"/>
                <a:ea typeface="Times New Roman"/>
                <a:cs typeface="Times New Roman"/>
                <a:sym typeface="Times New Roman"/>
              </a:rPr>
              <a:t>{subsets b}</a:t>
            </a:r>
            <a:endParaRPr sz="1600">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55"/>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3.9. </a:t>
            </a:r>
            <a:r>
              <a:rPr lang="en-GB"/>
              <a:t>Khả năng truy cập</a:t>
            </a:r>
            <a:endParaRPr/>
          </a:p>
        </p:txBody>
      </p:sp>
      <p:sp>
        <p:nvSpPr>
          <p:cNvPr id="602" name="Google Shape;602;p5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03" name="Google Shape;603;p55"/>
          <p:cNvSpPr/>
          <p:nvPr/>
        </p:nvSpPr>
        <p:spPr>
          <a:xfrm>
            <a:off x="528450" y="1217400"/>
            <a:ext cx="990000" cy="56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A</a:t>
            </a:r>
            <a:endParaRPr sz="2200"/>
          </a:p>
        </p:txBody>
      </p:sp>
      <p:sp>
        <p:nvSpPr>
          <p:cNvPr id="604" name="Google Shape;604;p55"/>
          <p:cNvSpPr/>
          <p:nvPr/>
        </p:nvSpPr>
        <p:spPr>
          <a:xfrm>
            <a:off x="2966850" y="1217400"/>
            <a:ext cx="990000" cy="56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B</a:t>
            </a:r>
            <a:endParaRPr sz="2200"/>
          </a:p>
        </p:txBody>
      </p:sp>
      <p:cxnSp>
        <p:nvCxnSpPr>
          <p:cNvPr id="605" name="Google Shape;605;p55"/>
          <p:cNvCxnSpPr>
            <a:endCxn id="604" idx="1"/>
          </p:cNvCxnSpPr>
          <p:nvPr/>
        </p:nvCxnSpPr>
        <p:spPr>
          <a:xfrm>
            <a:off x="1518450" y="1501500"/>
            <a:ext cx="1448400" cy="0"/>
          </a:xfrm>
          <a:prstGeom prst="straightConnector1">
            <a:avLst/>
          </a:prstGeom>
          <a:noFill/>
          <a:ln cap="flat" cmpd="sng" w="9525">
            <a:solidFill>
              <a:schemeClr val="dk2"/>
            </a:solidFill>
            <a:prstDash val="solid"/>
            <a:round/>
            <a:headEnd len="med" w="med" type="stealth"/>
            <a:tailEnd len="med" w="med" type="stealth"/>
          </a:ln>
        </p:spPr>
      </p:cxnSp>
      <p:sp>
        <p:nvSpPr>
          <p:cNvPr id="606" name="Google Shape;606;p55"/>
          <p:cNvSpPr txBox="1"/>
          <p:nvPr/>
        </p:nvSpPr>
        <p:spPr>
          <a:xfrm>
            <a:off x="1542925" y="1129925"/>
            <a:ext cx="3735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a</a:t>
            </a:r>
            <a:endParaRPr sz="1600">
              <a:latin typeface="Times New Roman"/>
              <a:ea typeface="Times New Roman"/>
              <a:cs typeface="Times New Roman"/>
              <a:sym typeface="Times New Roman"/>
            </a:endParaRPr>
          </a:p>
        </p:txBody>
      </p:sp>
      <p:sp>
        <p:nvSpPr>
          <p:cNvPr id="607" name="Google Shape;607;p55"/>
          <p:cNvSpPr txBox="1"/>
          <p:nvPr/>
        </p:nvSpPr>
        <p:spPr>
          <a:xfrm>
            <a:off x="2685925" y="1129925"/>
            <a:ext cx="3735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b</a:t>
            </a:r>
            <a:endParaRPr sz="1600">
              <a:latin typeface="Times New Roman"/>
              <a:ea typeface="Times New Roman"/>
              <a:cs typeface="Times New Roman"/>
              <a:sym typeface="Times New Roman"/>
            </a:endParaRPr>
          </a:p>
        </p:txBody>
      </p:sp>
      <p:sp>
        <p:nvSpPr>
          <p:cNvPr id="608" name="Google Shape;608;p55"/>
          <p:cNvSpPr txBox="1"/>
          <p:nvPr/>
        </p:nvSpPr>
        <p:spPr>
          <a:xfrm>
            <a:off x="1466725" y="1434725"/>
            <a:ext cx="5487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1..2</a:t>
            </a:r>
            <a:endParaRPr sz="1600">
              <a:latin typeface="Times New Roman"/>
              <a:ea typeface="Times New Roman"/>
              <a:cs typeface="Times New Roman"/>
              <a:sym typeface="Times New Roman"/>
            </a:endParaRPr>
          </a:p>
        </p:txBody>
      </p:sp>
      <p:sp>
        <p:nvSpPr>
          <p:cNvPr id="609" name="Google Shape;609;p55"/>
          <p:cNvSpPr txBox="1"/>
          <p:nvPr/>
        </p:nvSpPr>
        <p:spPr>
          <a:xfrm>
            <a:off x="2533525" y="1434725"/>
            <a:ext cx="5487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3</a:t>
            </a:r>
            <a:r>
              <a:rPr lang="en-GB" sz="1600">
                <a:latin typeface="Times New Roman"/>
                <a:ea typeface="Times New Roman"/>
                <a:cs typeface="Times New Roman"/>
                <a:sym typeface="Times New Roman"/>
              </a:rPr>
              <a:t>..5</a:t>
            </a:r>
            <a:endParaRPr sz="1600">
              <a:latin typeface="Times New Roman"/>
              <a:ea typeface="Times New Roman"/>
              <a:cs typeface="Times New Roman"/>
              <a:sym typeface="Times New Roman"/>
            </a:endParaRPr>
          </a:p>
        </p:txBody>
      </p:sp>
      <p:sp>
        <p:nvSpPr>
          <p:cNvPr id="610" name="Google Shape;610;p55"/>
          <p:cNvSpPr/>
          <p:nvPr/>
        </p:nvSpPr>
        <p:spPr>
          <a:xfrm>
            <a:off x="528450" y="1979400"/>
            <a:ext cx="990000" cy="56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C</a:t>
            </a:r>
            <a:endParaRPr sz="2200"/>
          </a:p>
        </p:txBody>
      </p:sp>
      <p:sp>
        <p:nvSpPr>
          <p:cNvPr id="611" name="Google Shape;611;p55"/>
          <p:cNvSpPr/>
          <p:nvPr/>
        </p:nvSpPr>
        <p:spPr>
          <a:xfrm>
            <a:off x="2966850" y="1979400"/>
            <a:ext cx="990000" cy="56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D</a:t>
            </a:r>
            <a:endParaRPr sz="2200"/>
          </a:p>
        </p:txBody>
      </p:sp>
      <p:cxnSp>
        <p:nvCxnSpPr>
          <p:cNvPr id="612" name="Google Shape;612;p55"/>
          <p:cNvCxnSpPr>
            <a:endCxn id="611" idx="1"/>
          </p:cNvCxnSpPr>
          <p:nvPr/>
        </p:nvCxnSpPr>
        <p:spPr>
          <a:xfrm>
            <a:off x="1518450" y="2263500"/>
            <a:ext cx="1448400" cy="0"/>
          </a:xfrm>
          <a:prstGeom prst="straightConnector1">
            <a:avLst/>
          </a:prstGeom>
          <a:noFill/>
          <a:ln cap="flat" cmpd="sng" w="9525">
            <a:solidFill>
              <a:schemeClr val="dk2"/>
            </a:solidFill>
            <a:prstDash val="solid"/>
            <a:round/>
            <a:headEnd len="med" w="med" type="none"/>
            <a:tailEnd len="med" w="med" type="none"/>
          </a:ln>
        </p:spPr>
      </p:cxnSp>
      <p:sp>
        <p:nvSpPr>
          <p:cNvPr id="613" name="Google Shape;613;p55"/>
          <p:cNvSpPr txBox="1"/>
          <p:nvPr/>
        </p:nvSpPr>
        <p:spPr>
          <a:xfrm>
            <a:off x="1542925" y="1891925"/>
            <a:ext cx="3735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c</a:t>
            </a:r>
            <a:endParaRPr>
              <a:latin typeface="Times New Roman"/>
              <a:ea typeface="Times New Roman"/>
              <a:cs typeface="Times New Roman"/>
              <a:sym typeface="Times New Roman"/>
            </a:endParaRPr>
          </a:p>
        </p:txBody>
      </p:sp>
      <p:sp>
        <p:nvSpPr>
          <p:cNvPr id="614" name="Google Shape;614;p55"/>
          <p:cNvSpPr txBox="1"/>
          <p:nvPr/>
        </p:nvSpPr>
        <p:spPr>
          <a:xfrm>
            <a:off x="2685925" y="1891925"/>
            <a:ext cx="3735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d</a:t>
            </a:r>
            <a:endParaRPr>
              <a:latin typeface="Times New Roman"/>
              <a:ea typeface="Times New Roman"/>
              <a:cs typeface="Times New Roman"/>
              <a:sym typeface="Times New Roman"/>
            </a:endParaRPr>
          </a:p>
        </p:txBody>
      </p:sp>
      <p:sp>
        <p:nvSpPr>
          <p:cNvPr id="615" name="Google Shape;615;p55"/>
          <p:cNvSpPr txBox="1"/>
          <p:nvPr/>
        </p:nvSpPr>
        <p:spPr>
          <a:xfrm>
            <a:off x="1466725" y="2196725"/>
            <a:ext cx="5487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1..2</a:t>
            </a:r>
            <a:endParaRPr sz="1600">
              <a:latin typeface="Times New Roman"/>
              <a:ea typeface="Times New Roman"/>
              <a:cs typeface="Times New Roman"/>
              <a:sym typeface="Times New Roman"/>
            </a:endParaRPr>
          </a:p>
        </p:txBody>
      </p:sp>
      <p:sp>
        <p:nvSpPr>
          <p:cNvPr id="616" name="Google Shape;616;p55"/>
          <p:cNvSpPr txBox="1"/>
          <p:nvPr/>
        </p:nvSpPr>
        <p:spPr>
          <a:xfrm>
            <a:off x="2533525" y="2196725"/>
            <a:ext cx="5487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3</a:t>
            </a:r>
            <a:r>
              <a:rPr lang="en-GB" sz="1600">
                <a:latin typeface="Times New Roman"/>
                <a:ea typeface="Times New Roman"/>
                <a:cs typeface="Times New Roman"/>
                <a:sym typeface="Times New Roman"/>
              </a:rPr>
              <a:t>..5</a:t>
            </a:r>
            <a:endParaRPr sz="1600">
              <a:latin typeface="Times New Roman"/>
              <a:ea typeface="Times New Roman"/>
              <a:cs typeface="Times New Roman"/>
              <a:sym typeface="Times New Roman"/>
            </a:endParaRPr>
          </a:p>
        </p:txBody>
      </p:sp>
      <p:sp>
        <p:nvSpPr>
          <p:cNvPr id="617" name="Google Shape;617;p55"/>
          <p:cNvSpPr txBox="1"/>
          <p:nvPr/>
        </p:nvSpPr>
        <p:spPr>
          <a:xfrm>
            <a:off x="1542925" y="2019300"/>
            <a:ext cx="373500" cy="32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x</a:t>
            </a:r>
            <a:endParaRPr sz="1600">
              <a:latin typeface="Times New Roman"/>
              <a:ea typeface="Times New Roman"/>
              <a:cs typeface="Times New Roman"/>
              <a:sym typeface="Times New Roman"/>
            </a:endParaRPr>
          </a:p>
        </p:txBody>
      </p:sp>
      <p:sp>
        <p:nvSpPr>
          <p:cNvPr id="618" name="Google Shape;618;p55"/>
          <p:cNvSpPr txBox="1"/>
          <p:nvPr/>
        </p:nvSpPr>
        <p:spPr>
          <a:xfrm>
            <a:off x="2685925" y="2019300"/>
            <a:ext cx="373500" cy="32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x</a:t>
            </a:r>
            <a:endParaRPr sz="1600">
              <a:latin typeface="Times New Roman"/>
              <a:ea typeface="Times New Roman"/>
              <a:cs typeface="Times New Roman"/>
              <a:sym typeface="Times New Roman"/>
            </a:endParaRPr>
          </a:p>
        </p:txBody>
      </p:sp>
      <p:sp>
        <p:nvSpPr>
          <p:cNvPr id="619" name="Google Shape;619;p55"/>
          <p:cNvSpPr/>
          <p:nvPr/>
        </p:nvSpPr>
        <p:spPr>
          <a:xfrm>
            <a:off x="528450" y="2741400"/>
            <a:ext cx="990000" cy="56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E</a:t>
            </a:r>
            <a:endParaRPr sz="2200"/>
          </a:p>
        </p:txBody>
      </p:sp>
      <p:sp>
        <p:nvSpPr>
          <p:cNvPr id="620" name="Google Shape;620;p55"/>
          <p:cNvSpPr/>
          <p:nvPr/>
        </p:nvSpPr>
        <p:spPr>
          <a:xfrm>
            <a:off x="2966850" y="2741400"/>
            <a:ext cx="990000" cy="56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F</a:t>
            </a:r>
            <a:endParaRPr sz="2200"/>
          </a:p>
        </p:txBody>
      </p:sp>
      <p:cxnSp>
        <p:nvCxnSpPr>
          <p:cNvPr id="621" name="Google Shape;621;p55"/>
          <p:cNvCxnSpPr>
            <a:endCxn id="620" idx="1"/>
          </p:cNvCxnSpPr>
          <p:nvPr/>
        </p:nvCxnSpPr>
        <p:spPr>
          <a:xfrm>
            <a:off x="1518450" y="3025500"/>
            <a:ext cx="1448400" cy="0"/>
          </a:xfrm>
          <a:prstGeom prst="straightConnector1">
            <a:avLst/>
          </a:prstGeom>
          <a:noFill/>
          <a:ln cap="flat" cmpd="sng" w="9525">
            <a:solidFill>
              <a:schemeClr val="dk2"/>
            </a:solidFill>
            <a:prstDash val="solid"/>
            <a:round/>
            <a:headEnd len="med" w="med" type="none"/>
            <a:tailEnd len="med" w="med" type="none"/>
          </a:ln>
        </p:spPr>
      </p:cxnSp>
      <p:sp>
        <p:nvSpPr>
          <p:cNvPr id="622" name="Google Shape;622;p55"/>
          <p:cNvSpPr txBox="1"/>
          <p:nvPr/>
        </p:nvSpPr>
        <p:spPr>
          <a:xfrm>
            <a:off x="1542925" y="2653925"/>
            <a:ext cx="3735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e</a:t>
            </a:r>
            <a:endParaRPr sz="1600">
              <a:latin typeface="Times New Roman"/>
              <a:ea typeface="Times New Roman"/>
              <a:cs typeface="Times New Roman"/>
              <a:sym typeface="Times New Roman"/>
            </a:endParaRPr>
          </a:p>
        </p:txBody>
      </p:sp>
      <p:sp>
        <p:nvSpPr>
          <p:cNvPr id="623" name="Google Shape;623;p55"/>
          <p:cNvSpPr txBox="1"/>
          <p:nvPr/>
        </p:nvSpPr>
        <p:spPr>
          <a:xfrm>
            <a:off x="2685925" y="2653925"/>
            <a:ext cx="3735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f</a:t>
            </a:r>
            <a:endParaRPr sz="1600">
              <a:latin typeface="Times New Roman"/>
              <a:ea typeface="Times New Roman"/>
              <a:cs typeface="Times New Roman"/>
              <a:sym typeface="Times New Roman"/>
            </a:endParaRPr>
          </a:p>
        </p:txBody>
      </p:sp>
      <p:sp>
        <p:nvSpPr>
          <p:cNvPr id="624" name="Google Shape;624;p55"/>
          <p:cNvSpPr txBox="1"/>
          <p:nvPr/>
        </p:nvSpPr>
        <p:spPr>
          <a:xfrm>
            <a:off x="1466725" y="2958725"/>
            <a:ext cx="5487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1..2</a:t>
            </a:r>
            <a:endParaRPr sz="1600">
              <a:latin typeface="Times New Roman"/>
              <a:ea typeface="Times New Roman"/>
              <a:cs typeface="Times New Roman"/>
              <a:sym typeface="Times New Roman"/>
            </a:endParaRPr>
          </a:p>
        </p:txBody>
      </p:sp>
      <p:sp>
        <p:nvSpPr>
          <p:cNvPr id="625" name="Google Shape;625;p55"/>
          <p:cNvSpPr txBox="1"/>
          <p:nvPr/>
        </p:nvSpPr>
        <p:spPr>
          <a:xfrm>
            <a:off x="2533525" y="2958725"/>
            <a:ext cx="5487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3..5</a:t>
            </a:r>
            <a:endParaRPr sz="1600">
              <a:latin typeface="Times New Roman"/>
              <a:ea typeface="Times New Roman"/>
              <a:cs typeface="Times New Roman"/>
              <a:sym typeface="Times New Roman"/>
            </a:endParaRPr>
          </a:p>
        </p:txBody>
      </p:sp>
      <p:sp>
        <p:nvSpPr>
          <p:cNvPr id="626" name="Google Shape;626;p55"/>
          <p:cNvSpPr/>
          <p:nvPr/>
        </p:nvSpPr>
        <p:spPr>
          <a:xfrm>
            <a:off x="528450" y="3503400"/>
            <a:ext cx="990000" cy="56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G</a:t>
            </a:r>
            <a:endParaRPr sz="2200"/>
          </a:p>
        </p:txBody>
      </p:sp>
      <p:sp>
        <p:nvSpPr>
          <p:cNvPr id="627" name="Google Shape;627;p55"/>
          <p:cNvSpPr/>
          <p:nvPr/>
        </p:nvSpPr>
        <p:spPr>
          <a:xfrm>
            <a:off x="2966850" y="3503400"/>
            <a:ext cx="990000" cy="56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H</a:t>
            </a:r>
            <a:endParaRPr sz="2200"/>
          </a:p>
        </p:txBody>
      </p:sp>
      <p:cxnSp>
        <p:nvCxnSpPr>
          <p:cNvPr id="628" name="Google Shape;628;p55"/>
          <p:cNvCxnSpPr>
            <a:endCxn id="627" idx="1"/>
          </p:cNvCxnSpPr>
          <p:nvPr/>
        </p:nvCxnSpPr>
        <p:spPr>
          <a:xfrm>
            <a:off x="1518450" y="3787500"/>
            <a:ext cx="1448400" cy="0"/>
          </a:xfrm>
          <a:prstGeom prst="straightConnector1">
            <a:avLst/>
          </a:prstGeom>
          <a:noFill/>
          <a:ln cap="flat" cmpd="sng" w="9525">
            <a:solidFill>
              <a:schemeClr val="dk2"/>
            </a:solidFill>
            <a:prstDash val="solid"/>
            <a:round/>
            <a:headEnd len="med" w="med" type="none"/>
            <a:tailEnd len="med" w="med" type="stealth"/>
          </a:ln>
        </p:spPr>
      </p:cxnSp>
      <p:sp>
        <p:nvSpPr>
          <p:cNvPr id="629" name="Google Shape;629;p55"/>
          <p:cNvSpPr txBox="1"/>
          <p:nvPr/>
        </p:nvSpPr>
        <p:spPr>
          <a:xfrm>
            <a:off x="1542925" y="3415925"/>
            <a:ext cx="3735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g</a:t>
            </a:r>
            <a:endParaRPr>
              <a:latin typeface="Times New Roman"/>
              <a:ea typeface="Times New Roman"/>
              <a:cs typeface="Times New Roman"/>
              <a:sym typeface="Times New Roman"/>
            </a:endParaRPr>
          </a:p>
        </p:txBody>
      </p:sp>
      <p:sp>
        <p:nvSpPr>
          <p:cNvPr id="630" name="Google Shape;630;p55"/>
          <p:cNvSpPr txBox="1"/>
          <p:nvPr/>
        </p:nvSpPr>
        <p:spPr>
          <a:xfrm>
            <a:off x="2685925" y="3415925"/>
            <a:ext cx="3735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h</a:t>
            </a:r>
            <a:endParaRPr sz="1600">
              <a:latin typeface="Times New Roman"/>
              <a:ea typeface="Times New Roman"/>
              <a:cs typeface="Times New Roman"/>
              <a:sym typeface="Times New Roman"/>
            </a:endParaRPr>
          </a:p>
        </p:txBody>
      </p:sp>
      <p:sp>
        <p:nvSpPr>
          <p:cNvPr id="631" name="Google Shape;631;p55"/>
          <p:cNvSpPr txBox="1"/>
          <p:nvPr/>
        </p:nvSpPr>
        <p:spPr>
          <a:xfrm>
            <a:off x="1466725" y="3720725"/>
            <a:ext cx="5487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1..2</a:t>
            </a:r>
            <a:endParaRPr sz="1600">
              <a:latin typeface="Times New Roman"/>
              <a:ea typeface="Times New Roman"/>
              <a:cs typeface="Times New Roman"/>
              <a:sym typeface="Times New Roman"/>
            </a:endParaRPr>
          </a:p>
        </p:txBody>
      </p:sp>
      <p:sp>
        <p:nvSpPr>
          <p:cNvPr id="632" name="Google Shape;632;p55"/>
          <p:cNvSpPr txBox="1"/>
          <p:nvPr/>
        </p:nvSpPr>
        <p:spPr>
          <a:xfrm>
            <a:off x="2533525" y="3720725"/>
            <a:ext cx="5487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3..5</a:t>
            </a:r>
            <a:endParaRPr sz="1600">
              <a:latin typeface="Times New Roman"/>
              <a:ea typeface="Times New Roman"/>
              <a:cs typeface="Times New Roman"/>
              <a:sym typeface="Times New Roman"/>
            </a:endParaRPr>
          </a:p>
        </p:txBody>
      </p:sp>
      <p:sp>
        <p:nvSpPr>
          <p:cNvPr id="633" name="Google Shape;633;p55"/>
          <p:cNvSpPr txBox="1"/>
          <p:nvPr/>
        </p:nvSpPr>
        <p:spPr>
          <a:xfrm>
            <a:off x="1542925" y="3543300"/>
            <a:ext cx="373500" cy="32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x</a:t>
            </a:r>
            <a:endParaRPr sz="1600">
              <a:latin typeface="Times New Roman"/>
              <a:ea typeface="Times New Roman"/>
              <a:cs typeface="Times New Roman"/>
              <a:sym typeface="Times New Roman"/>
            </a:endParaRPr>
          </a:p>
        </p:txBody>
      </p:sp>
      <p:sp>
        <p:nvSpPr>
          <p:cNvPr id="634" name="Google Shape;634;p55"/>
          <p:cNvSpPr/>
          <p:nvPr/>
        </p:nvSpPr>
        <p:spPr>
          <a:xfrm>
            <a:off x="528450" y="4341600"/>
            <a:ext cx="990000" cy="56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I</a:t>
            </a:r>
            <a:endParaRPr sz="2200"/>
          </a:p>
        </p:txBody>
      </p:sp>
      <p:sp>
        <p:nvSpPr>
          <p:cNvPr id="635" name="Google Shape;635;p55"/>
          <p:cNvSpPr/>
          <p:nvPr/>
        </p:nvSpPr>
        <p:spPr>
          <a:xfrm>
            <a:off x="2966850" y="4341600"/>
            <a:ext cx="990000" cy="56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J</a:t>
            </a:r>
            <a:endParaRPr sz="2200"/>
          </a:p>
        </p:txBody>
      </p:sp>
      <p:cxnSp>
        <p:nvCxnSpPr>
          <p:cNvPr id="636" name="Google Shape;636;p55"/>
          <p:cNvCxnSpPr>
            <a:endCxn id="635" idx="1"/>
          </p:cNvCxnSpPr>
          <p:nvPr/>
        </p:nvCxnSpPr>
        <p:spPr>
          <a:xfrm>
            <a:off x="1518450" y="4625700"/>
            <a:ext cx="1448400" cy="0"/>
          </a:xfrm>
          <a:prstGeom prst="straightConnector1">
            <a:avLst/>
          </a:prstGeom>
          <a:noFill/>
          <a:ln cap="flat" cmpd="sng" w="9525">
            <a:solidFill>
              <a:schemeClr val="dk2"/>
            </a:solidFill>
            <a:prstDash val="solid"/>
            <a:round/>
            <a:headEnd len="med" w="med" type="none"/>
            <a:tailEnd len="med" w="med" type="stealth"/>
          </a:ln>
        </p:spPr>
      </p:cxnSp>
      <p:sp>
        <p:nvSpPr>
          <p:cNvPr id="637" name="Google Shape;637;p55"/>
          <p:cNvSpPr txBox="1"/>
          <p:nvPr/>
        </p:nvSpPr>
        <p:spPr>
          <a:xfrm>
            <a:off x="1542925" y="4254125"/>
            <a:ext cx="3735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i</a:t>
            </a:r>
            <a:endParaRPr sz="1600">
              <a:latin typeface="Times New Roman"/>
              <a:ea typeface="Times New Roman"/>
              <a:cs typeface="Times New Roman"/>
              <a:sym typeface="Times New Roman"/>
            </a:endParaRPr>
          </a:p>
        </p:txBody>
      </p:sp>
      <p:sp>
        <p:nvSpPr>
          <p:cNvPr id="638" name="Google Shape;638;p55"/>
          <p:cNvSpPr txBox="1"/>
          <p:nvPr/>
        </p:nvSpPr>
        <p:spPr>
          <a:xfrm>
            <a:off x="2685925" y="4254125"/>
            <a:ext cx="3735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j</a:t>
            </a:r>
            <a:endParaRPr sz="1600">
              <a:latin typeface="Times New Roman"/>
              <a:ea typeface="Times New Roman"/>
              <a:cs typeface="Times New Roman"/>
              <a:sym typeface="Times New Roman"/>
            </a:endParaRPr>
          </a:p>
        </p:txBody>
      </p:sp>
      <p:sp>
        <p:nvSpPr>
          <p:cNvPr id="639" name="Google Shape;639;p55"/>
          <p:cNvSpPr txBox="1"/>
          <p:nvPr/>
        </p:nvSpPr>
        <p:spPr>
          <a:xfrm>
            <a:off x="1466725" y="4558925"/>
            <a:ext cx="5487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1..2</a:t>
            </a:r>
            <a:endParaRPr sz="1600">
              <a:latin typeface="Times New Roman"/>
              <a:ea typeface="Times New Roman"/>
              <a:cs typeface="Times New Roman"/>
              <a:sym typeface="Times New Roman"/>
            </a:endParaRPr>
          </a:p>
        </p:txBody>
      </p:sp>
      <p:sp>
        <p:nvSpPr>
          <p:cNvPr id="640" name="Google Shape;640;p55"/>
          <p:cNvSpPr txBox="1"/>
          <p:nvPr/>
        </p:nvSpPr>
        <p:spPr>
          <a:xfrm>
            <a:off x="2533525" y="4558925"/>
            <a:ext cx="5487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3..5</a:t>
            </a:r>
            <a:endParaRPr sz="1600">
              <a:latin typeface="Times New Roman"/>
              <a:ea typeface="Times New Roman"/>
              <a:cs typeface="Times New Roman"/>
              <a:sym typeface="Times New Roman"/>
            </a:endParaRPr>
          </a:p>
        </p:txBody>
      </p:sp>
      <p:sp>
        <p:nvSpPr>
          <p:cNvPr id="641" name="Google Shape;641;p55"/>
          <p:cNvSpPr txBox="1"/>
          <p:nvPr/>
        </p:nvSpPr>
        <p:spPr>
          <a:xfrm>
            <a:off x="4267200" y="1200150"/>
            <a:ext cx="42576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000">
                <a:latin typeface="Times New Roman"/>
                <a:ea typeface="Times New Roman"/>
                <a:cs typeface="Times New Roman"/>
                <a:sym typeface="Times New Roman"/>
              </a:rPr>
              <a:t>Liên kết có thể truy cập cả 2 đầu</a:t>
            </a:r>
            <a:endParaRPr i="1" sz="2000">
              <a:latin typeface="Times New Roman"/>
              <a:ea typeface="Times New Roman"/>
              <a:cs typeface="Times New Roman"/>
              <a:sym typeface="Times New Roman"/>
            </a:endParaRPr>
          </a:p>
        </p:txBody>
      </p:sp>
      <p:sp>
        <p:nvSpPr>
          <p:cNvPr id="642" name="Google Shape;642;p55"/>
          <p:cNvSpPr txBox="1"/>
          <p:nvPr/>
        </p:nvSpPr>
        <p:spPr>
          <a:xfrm>
            <a:off x="4267200" y="1962150"/>
            <a:ext cx="45243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000">
                <a:latin typeface="Times New Roman"/>
                <a:ea typeface="Times New Roman"/>
                <a:cs typeface="Times New Roman"/>
                <a:sym typeface="Times New Roman"/>
              </a:rPr>
              <a:t>Liên kết  </a:t>
            </a:r>
            <a:r>
              <a:rPr i="1" lang="en-GB" sz="2000">
                <a:latin typeface="Times New Roman"/>
                <a:ea typeface="Times New Roman"/>
                <a:cs typeface="Times New Roman"/>
                <a:sym typeface="Times New Roman"/>
              </a:rPr>
              <a:t>không</a:t>
            </a:r>
            <a:r>
              <a:rPr i="1" lang="en-GB" sz="2000">
                <a:latin typeface="Times New Roman"/>
                <a:ea typeface="Times New Roman"/>
                <a:cs typeface="Times New Roman"/>
                <a:sym typeface="Times New Roman"/>
              </a:rPr>
              <a:t> truy cập </a:t>
            </a:r>
            <a:r>
              <a:rPr i="1" lang="en-GB" sz="2000">
                <a:latin typeface="Times New Roman"/>
                <a:ea typeface="Times New Roman"/>
                <a:cs typeface="Times New Roman"/>
                <a:sym typeface="Times New Roman"/>
              </a:rPr>
              <a:t>được</a:t>
            </a:r>
            <a:r>
              <a:rPr i="1" lang="en-GB" sz="2000">
                <a:latin typeface="Times New Roman"/>
                <a:ea typeface="Times New Roman"/>
                <a:cs typeface="Times New Roman"/>
                <a:sym typeface="Times New Roman"/>
              </a:rPr>
              <a:t> đầu </a:t>
            </a:r>
            <a:r>
              <a:rPr i="1" lang="en-GB" sz="2000">
                <a:latin typeface="Times New Roman"/>
                <a:ea typeface="Times New Roman"/>
                <a:cs typeface="Times New Roman"/>
                <a:sym typeface="Times New Roman"/>
              </a:rPr>
              <a:t>nào</a:t>
            </a:r>
            <a:endParaRPr i="1" sz="2000">
              <a:latin typeface="Times New Roman"/>
              <a:ea typeface="Times New Roman"/>
              <a:cs typeface="Times New Roman"/>
              <a:sym typeface="Times New Roman"/>
            </a:endParaRPr>
          </a:p>
        </p:txBody>
      </p:sp>
      <p:sp>
        <p:nvSpPr>
          <p:cNvPr id="643" name="Google Shape;643;p55"/>
          <p:cNvSpPr txBox="1"/>
          <p:nvPr/>
        </p:nvSpPr>
        <p:spPr>
          <a:xfrm>
            <a:off x="4267200" y="2724150"/>
            <a:ext cx="45243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000">
                <a:latin typeface="Times New Roman"/>
                <a:ea typeface="Times New Roman"/>
                <a:cs typeface="Times New Roman"/>
                <a:sym typeface="Times New Roman"/>
              </a:rPr>
              <a:t>Liên kết không </a:t>
            </a:r>
            <a:r>
              <a:rPr i="1" lang="en-GB" sz="2000">
                <a:latin typeface="Times New Roman"/>
                <a:ea typeface="Times New Roman"/>
                <a:cs typeface="Times New Roman"/>
                <a:sym typeface="Times New Roman"/>
              </a:rPr>
              <a:t>mô tả truy cập</a:t>
            </a:r>
            <a:endParaRPr i="1" sz="2000">
              <a:latin typeface="Times New Roman"/>
              <a:ea typeface="Times New Roman"/>
              <a:cs typeface="Times New Roman"/>
              <a:sym typeface="Times New Roman"/>
            </a:endParaRPr>
          </a:p>
        </p:txBody>
      </p:sp>
      <p:sp>
        <p:nvSpPr>
          <p:cNvPr id="644" name="Google Shape;644;p55"/>
          <p:cNvSpPr txBox="1"/>
          <p:nvPr/>
        </p:nvSpPr>
        <p:spPr>
          <a:xfrm>
            <a:off x="4267200" y="3409950"/>
            <a:ext cx="4524300" cy="6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000">
                <a:latin typeface="Times New Roman"/>
                <a:ea typeface="Times New Roman"/>
                <a:cs typeface="Times New Roman"/>
                <a:sym typeface="Times New Roman"/>
              </a:rPr>
              <a:t>Liên kết </a:t>
            </a:r>
            <a:r>
              <a:rPr i="1" lang="en-GB" sz="2000">
                <a:latin typeface="Times New Roman"/>
                <a:ea typeface="Times New Roman"/>
                <a:cs typeface="Times New Roman"/>
                <a:sym typeface="Times New Roman"/>
              </a:rPr>
              <a:t>có thể truy cập đầu h nhưng không truy cập được đầu g</a:t>
            </a:r>
            <a:endParaRPr i="1" sz="2000">
              <a:latin typeface="Times New Roman"/>
              <a:ea typeface="Times New Roman"/>
              <a:cs typeface="Times New Roman"/>
              <a:sym typeface="Times New Roman"/>
            </a:endParaRPr>
          </a:p>
        </p:txBody>
      </p:sp>
      <p:sp>
        <p:nvSpPr>
          <p:cNvPr id="645" name="Google Shape;645;p55"/>
          <p:cNvSpPr txBox="1"/>
          <p:nvPr/>
        </p:nvSpPr>
        <p:spPr>
          <a:xfrm>
            <a:off x="4267200" y="4171950"/>
            <a:ext cx="4524300" cy="6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000">
                <a:latin typeface="Times New Roman"/>
                <a:ea typeface="Times New Roman"/>
                <a:cs typeface="Times New Roman"/>
                <a:sym typeface="Times New Roman"/>
              </a:rPr>
              <a:t>Liên kết có thể truy cập đầu j, </a:t>
            </a:r>
            <a:r>
              <a:rPr i="1" lang="en-GB" sz="2000">
                <a:latin typeface="Times New Roman"/>
                <a:ea typeface="Times New Roman"/>
                <a:cs typeface="Times New Roman"/>
                <a:sym typeface="Times New Roman"/>
              </a:rPr>
              <a:t>chưa xác định đầu i.</a:t>
            </a:r>
            <a:endParaRPr i="1" sz="2000">
              <a:latin typeface="Times New Roman"/>
              <a:ea typeface="Times New Roman"/>
              <a:cs typeface="Times New Roman"/>
              <a:sym typeface="Times New Roman"/>
            </a:endParaRPr>
          </a:p>
        </p:txBody>
      </p:sp>
      <p:sp>
        <p:nvSpPr>
          <p:cNvPr id="646" name="Google Shape;646;p55"/>
          <p:cNvSpPr txBox="1"/>
          <p:nvPr/>
        </p:nvSpPr>
        <p:spPr>
          <a:xfrm>
            <a:off x="610525" y="5244725"/>
            <a:ext cx="8289300" cy="56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Chưa xác định; x Không truy cập được; &gt; Truy cập được</a:t>
            </a:r>
            <a:endParaRPr sz="2000">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56"/>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3.10. Lớp liên kết</a:t>
            </a:r>
            <a:endParaRPr/>
          </a:p>
        </p:txBody>
      </p:sp>
      <p:sp>
        <p:nvSpPr>
          <p:cNvPr id="652" name="Google Shape;652;p56"/>
          <p:cNvSpPr txBox="1"/>
          <p:nvPr>
            <p:ph idx="4294967295" type="body"/>
          </p:nvPr>
        </p:nvSpPr>
        <p:spPr>
          <a:xfrm>
            <a:off x="365175" y="962975"/>
            <a:ext cx="8560200" cy="900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i="1" lang="en-GB" sz="2200"/>
              <a:t>Biểu diễn các thuộc tính không phải thành phần của 2 đầu liên kết và đồng thời chỉ tồn tại trong liên kết.</a:t>
            </a:r>
            <a:endParaRPr i="1"/>
          </a:p>
        </p:txBody>
      </p:sp>
      <p:sp>
        <p:nvSpPr>
          <p:cNvPr id="653" name="Google Shape;653;p5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54" name="Google Shape;654;p56"/>
          <p:cNvSpPr/>
          <p:nvPr/>
        </p:nvSpPr>
        <p:spPr>
          <a:xfrm>
            <a:off x="566550" y="2103225"/>
            <a:ext cx="1300500" cy="56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a:t>LopHoc</a:t>
            </a:r>
            <a:endParaRPr b="1" sz="2200"/>
          </a:p>
        </p:txBody>
      </p:sp>
      <p:sp>
        <p:nvSpPr>
          <p:cNvPr id="655" name="Google Shape;655;p56"/>
          <p:cNvSpPr/>
          <p:nvPr/>
        </p:nvSpPr>
        <p:spPr>
          <a:xfrm>
            <a:off x="3004950" y="2103225"/>
            <a:ext cx="1567200" cy="56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a:t>SinhVien</a:t>
            </a:r>
            <a:endParaRPr b="1" sz="2200"/>
          </a:p>
        </p:txBody>
      </p:sp>
      <p:sp>
        <p:nvSpPr>
          <p:cNvPr id="656" name="Google Shape;656;p56"/>
          <p:cNvSpPr/>
          <p:nvPr/>
        </p:nvSpPr>
        <p:spPr>
          <a:xfrm>
            <a:off x="1785750" y="3265275"/>
            <a:ext cx="1357500" cy="440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a:t>DanhGia</a:t>
            </a:r>
            <a:endParaRPr b="1" sz="2200"/>
          </a:p>
        </p:txBody>
      </p:sp>
      <p:sp>
        <p:nvSpPr>
          <p:cNvPr id="657" name="Google Shape;657;p56"/>
          <p:cNvSpPr/>
          <p:nvPr/>
        </p:nvSpPr>
        <p:spPr>
          <a:xfrm>
            <a:off x="1785750" y="3703425"/>
            <a:ext cx="1357500" cy="864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2200"/>
              <a:t>qua_trinh</a:t>
            </a:r>
            <a:endParaRPr sz="2200"/>
          </a:p>
          <a:p>
            <a:pPr indent="0" lvl="0" marL="0" rtl="0" algn="l">
              <a:spcBef>
                <a:spcPts val="0"/>
              </a:spcBef>
              <a:spcAft>
                <a:spcPts val="0"/>
              </a:spcAft>
              <a:buNone/>
            </a:pPr>
            <a:r>
              <a:rPr lang="en-GB" sz="2200"/>
              <a:t>cuoi_ky</a:t>
            </a:r>
            <a:endParaRPr sz="2200"/>
          </a:p>
        </p:txBody>
      </p:sp>
      <p:cxnSp>
        <p:nvCxnSpPr>
          <p:cNvPr id="658" name="Google Shape;658;p56"/>
          <p:cNvCxnSpPr>
            <a:stCxn id="654" idx="3"/>
            <a:endCxn id="655" idx="1"/>
          </p:cNvCxnSpPr>
          <p:nvPr/>
        </p:nvCxnSpPr>
        <p:spPr>
          <a:xfrm>
            <a:off x="1867050" y="2387325"/>
            <a:ext cx="1137900" cy="0"/>
          </a:xfrm>
          <a:prstGeom prst="straightConnector1">
            <a:avLst/>
          </a:prstGeom>
          <a:noFill/>
          <a:ln cap="flat" cmpd="sng" w="9525">
            <a:solidFill>
              <a:schemeClr val="dk2"/>
            </a:solidFill>
            <a:prstDash val="solid"/>
            <a:round/>
            <a:headEnd len="med" w="med" type="none"/>
            <a:tailEnd len="med" w="med" type="none"/>
          </a:ln>
        </p:spPr>
      </p:cxnSp>
      <p:cxnSp>
        <p:nvCxnSpPr>
          <p:cNvPr id="659" name="Google Shape;659;p56"/>
          <p:cNvCxnSpPr>
            <a:stCxn id="656" idx="0"/>
          </p:cNvCxnSpPr>
          <p:nvPr/>
        </p:nvCxnSpPr>
        <p:spPr>
          <a:xfrm rot="10800000">
            <a:off x="2464500" y="2400375"/>
            <a:ext cx="0" cy="864900"/>
          </a:xfrm>
          <a:prstGeom prst="straightConnector1">
            <a:avLst/>
          </a:prstGeom>
          <a:noFill/>
          <a:ln cap="flat" cmpd="sng" w="9525">
            <a:solidFill>
              <a:schemeClr val="dk2"/>
            </a:solidFill>
            <a:prstDash val="dot"/>
            <a:round/>
            <a:headEnd len="med" w="med" type="none"/>
            <a:tailEnd len="med" w="med" type="none"/>
          </a:ln>
        </p:spPr>
      </p:cxnSp>
      <p:sp>
        <p:nvSpPr>
          <p:cNvPr id="660" name="Google Shape;660;p56"/>
          <p:cNvSpPr txBox="1"/>
          <p:nvPr/>
        </p:nvSpPr>
        <p:spPr>
          <a:xfrm>
            <a:off x="1847725" y="2044325"/>
            <a:ext cx="5487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1..*</a:t>
            </a:r>
            <a:endParaRPr sz="1600">
              <a:latin typeface="Times New Roman"/>
              <a:ea typeface="Times New Roman"/>
              <a:cs typeface="Times New Roman"/>
              <a:sym typeface="Times New Roman"/>
            </a:endParaRPr>
          </a:p>
        </p:txBody>
      </p:sp>
      <p:sp>
        <p:nvSpPr>
          <p:cNvPr id="661" name="Google Shape;661;p56"/>
          <p:cNvSpPr txBox="1"/>
          <p:nvPr/>
        </p:nvSpPr>
        <p:spPr>
          <a:xfrm>
            <a:off x="2533525" y="2044325"/>
            <a:ext cx="5487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1</a:t>
            </a:r>
            <a:r>
              <a:rPr lang="en-GB" sz="1600">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p:txBody>
      </p:sp>
      <p:sp>
        <p:nvSpPr>
          <p:cNvPr id="662" name="Google Shape;662;p56"/>
          <p:cNvSpPr/>
          <p:nvPr/>
        </p:nvSpPr>
        <p:spPr>
          <a:xfrm>
            <a:off x="4803515" y="2103225"/>
            <a:ext cx="1300500" cy="56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a:t>LopHoc</a:t>
            </a:r>
            <a:endParaRPr b="1" sz="2200"/>
          </a:p>
        </p:txBody>
      </p:sp>
      <p:sp>
        <p:nvSpPr>
          <p:cNvPr id="663" name="Google Shape;663;p56"/>
          <p:cNvSpPr/>
          <p:nvPr/>
        </p:nvSpPr>
        <p:spPr>
          <a:xfrm>
            <a:off x="7241915" y="2103225"/>
            <a:ext cx="1567200" cy="56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a:t>SinhVien</a:t>
            </a:r>
            <a:endParaRPr b="1" sz="2200"/>
          </a:p>
        </p:txBody>
      </p:sp>
      <p:sp>
        <p:nvSpPr>
          <p:cNvPr id="664" name="Google Shape;664;p56"/>
          <p:cNvSpPr/>
          <p:nvPr/>
        </p:nvSpPr>
        <p:spPr>
          <a:xfrm>
            <a:off x="6022715" y="3265275"/>
            <a:ext cx="1357500" cy="440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a:t>DanhGia</a:t>
            </a:r>
            <a:endParaRPr b="1" sz="2200"/>
          </a:p>
        </p:txBody>
      </p:sp>
      <p:sp>
        <p:nvSpPr>
          <p:cNvPr id="665" name="Google Shape;665;p56"/>
          <p:cNvSpPr/>
          <p:nvPr/>
        </p:nvSpPr>
        <p:spPr>
          <a:xfrm>
            <a:off x="6022715" y="3703425"/>
            <a:ext cx="1357500" cy="864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2200"/>
              <a:t>qua_trinh</a:t>
            </a:r>
            <a:endParaRPr sz="2200"/>
          </a:p>
          <a:p>
            <a:pPr indent="0" lvl="0" marL="0" rtl="0" algn="l">
              <a:spcBef>
                <a:spcPts val="0"/>
              </a:spcBef>
              <a:spcAft>
                <a:spcPts val="0"/>
              </a:spcAft>
              <a:buNone/>
            </a:pPr>
            <a:r>
              <a:rPr lang="en-GB" sz="2200"/>
              <a:t>cuoi_ky</a:t>
            </a:r>
            <a:endParaRPr sz="2200"/>
          </a:p>
        </p:txBody>
      </p:sp>
      <p:sp>
        <p:nvSpPr>
          <p:cNvPr id="666" name="Google Shape;666;p56"/>
          <p:cNvSpPr txBox="1"/>
          <p:nvPr/>
        </p:nvSpPr>
        <p:spPr>
          <a:xfrm>
            <a:off x="5551290" y="3796925"/>
            <a:ext cx="5487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1</a:t>
            </a:r>
            <a:r>
              <a:rPr lang="en-GB" sz="1600">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p:txBody>
      </p:sp>
      <p:sp>
        <p:nvSpPr>
          <p:cNvPr id="667" name="Google Shape;667;p56"/>
          <p:cNvSpPr txBox="1"/>
          <p:nvPr/>
        </p:nvSpPr>
        <p:spPr>
          <a:xfrm>
            <a:off x="7380090" y="3796925"/>
            <a:ext cx="5487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1</a:t>
            </a:r>
            <a:r>
              <a:rPr lang="en-GB" sz="1600">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p:txBody>
      </p:sp>
      <p:cxnSp>
        <p:nvCxnSpPr>
          <p:cNvPr id="668" name="Google Shape;668;p56"/>
          <p:cNvCxnSpPr>
            <a:stCxn id="662" idx="2"/>
            <a:endCxn id="665" idx="1"/>
          </p:cNvCxnSpPr>
          <p:nvPr/>
        </p:nvCxnSpPr>
        <p:spPr>
          <a:xfrm flipH="1" rot="-5400000">
            <a:off x="5006015" y="3119175"/>
            <a:ext cx="1464600" cy="569100"/>
          </a:xfrm>
          <a:prstGeom prst="bentConnector2">
            <a:avLst/>
          </a:prstGeom>
          <a:noFill/>
          <a:ln cap="flat" cmpd="sng" w="9525">
            <a:solidFill>
              <a:schemeClr val="dk2"/>
            </a:solidFill>
            <a:prstDash val="solid"/>
            <a:round/>
            <a:headEnd len="med" w="med" type="none"/>
            <a:tailEnd len="med" w="med" type="none"/>
          </a:ln>
        </p:spPr>
      </p:cxnSp>
      <p:cxnSp>
        <p:nvCxnSpPr>
          <p:cNvPr id="669" name="Google Shape;669;p56"/>
          <p:cNvCxnSpPr>
            <a:stCxn id="663" idx="2"/>
            <a:endCxn id="665" idx="3"/>
          </p:cNvCxnSpPr>
          <p:nvPr/>
        </p:nvCxnSpPr>
        <p:spPr>
          <a:xfrm rot="5400000">
            <a:off x="6970565" y="3081075"/>
            <a:ext cx="1464600" cy="645300"/>
          </a:xfrm>
          <a:prstGeom prst="bentConnector2">
            <a:avLst/>
          </a:prstGeom>
          <a:noFill/>
          <a:ln cap="flat" cmpd="sng" w="9525">
            <a:solidFill>
              <a:schemeClr val="dk2"/>
            </a:solidFill>
            <a:prstDash val="solid"/>
            <a:round/>
            <a:headEnd len="med" w="med" type="none"/>
            <a:tailEnd len="med" w="med" type="none"/>
          </a:ln>
        </p:spPr>
      </p:cxnSp>
      <p:sp>
        <p:nvSpPr>
          <p:cNvPr id="670" name="Google Shape;670;p56"/>
          <p:cNvSpPr txBox="1"/>
          <p:nvPr/>
        </p:nvSpPr>
        <p:spPr>
          <a:xfrm>
            <a:off x="5475090" y="2577725"/>
            <a:ext cx="5487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1</a:t>
            </a:r>
            <a:endParaRPr sz="1600">
              <a:latin typeface="Times New Roman"/>
              <a:ea typeface="Times New Roman"/>
              <a:cs typeface="Times New Roman"/>
              <a:sym typeface="Times New Roman"/>
            </a:endParaRPr>
          </a:p>
        </p:txBody>
      </p:sp>
      <p:sp>
        <p:nvSpPr>
          <p:cNvPr id="671" name="Google Shape;671;p56"/>
          <p:cNvSpPr txBox="1"/>
          <p:nvPr/>
        </p:nvSpPr>
        <p:spPr>
          <a:xfrm>
            <a:off x="7608690" y="2577725"/>
            <a:ext cx="5487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1</a:t>
            </a:r>
            <a:endParaRPr sz="1600">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57"/>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phương thức</a:t>
            </a:r>
            <a:endParaRPr/>
          </a:p>
        </p:txBody>
      </p:sp>
      <p:sp>
        <p:nvSpPr>
          <p:cNvPr id="677" name="Google Shape;677;p57"/>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B</a:t>
            </a:r>
            <a:r>
              <a:rPr lang="en-GB"/>
              <a:t>iểu diễn hành vi/trách nhiệm của đối tượng, những việc mà đối tượng có thể/cần thực hiện, những dịch vụ mà nó cung cấp.</a:t>
            </a:r>
            <a:endParaRPr/>
          </a:p>
          <a:p>
            <a:pPr indent="-381000" lvl="0" marL="457200" rtl="0" algn="l">
              <a:spcBef>
                <a:spcPts val="0"/>
              </a:spcBef>
              <a:spcAft>
                <a:spcPts val="0"/>
              </a:spcAft>
              <a:buSzPts val="2400"/>
              <a:buChar char="●"/>
            </a:pPr>
            <a:r>
              <a:rPr lang="en-GB"/>
              <a:t>Đ</a:t>
            </a:r>
            <a:r>
              <a:rPr lang="en-GB"/>
              <a:t>ể giản lược, giữ tính đơn giản của sơ đồ c</a:t>
            </a:r>
            <a:r>
              <a:rPr lang="en-GB"/>
              <a:t>ác phương thức có vai trò bổ trợ thường không được biểu diễn </a:t>
            </a:r>
            <a:endParaRPr/>
          </a:p>
          <a:p>
            <a:pPr indent="-368300" lvl="1" marL="914400" rtl="0" algn="l">
              <a:spcBef>
                <a:spcPts val="0"/>
              </a:spcBef>
              <a:spcAft>
                <a:spcPts val="0"/>
              </a:spcAft>
              <a:buSzPts val="2200"/>
              <a:buChar char="○"/>
            </a:pPr>
            <a:r>
              <a:rPr lang="en-GB" sz="2200"/>
              <a:t>Tạo hoặc hủy đối tượng</a:t>
            </a:r>
            <a:endParaRPr sz="2200"/>
          </a:p>
          <a:p>
            <a:pPr indent="-342900" lvl="2" marL="1371600" rtl="0" algn="l">
              <a:spcBef>
                <a:spcPts val="0"/>
              </a:spcBef>
              <a:spcAft>
                <a:spcPts val="0"/>
              </a:spcAft>
              <a:buSzPts val="1800"/>
              <a:buChar char="■"/>
            </a:pPr>
            <a:r>
              <a:rPr lang="en-GB"/>
              <a:t>Hàm tạo</a:t>
            </a:r>
            <a:endParaRPr/>
          </a:p>
          <a:p>
            <a:pPr indent="-342900" lvl="2" marL="1371600" rtl="0" algn="l">
              <a:spcBef>
                <a:spcPts val="0"/>
              </a:spcBef>
              <a:spcAft>
                <a:spcPts val="0"/>
              </a:spcAft>
              <a:buSzPts val="1800"/>
              <a:buChar char="■"/>
            </a:pPr>
            <a:r>
              <a:rPr lang="en-GB"/>
              <a:t>Hàm Hủy</a:t>
            </a:r>
            <a:endParaRPr/>
          </a:p>
          <a:p>
            <a:pPr indent="-368300" lvl="1" marL="914400" rtl="0" algn="l">
              <a:spcBef>
                <a:spcPts val="0"/>
              </a:spcBef>
              <a:spcAft>
                <a:spcPts val="0"/>
              </a:spcAft>
              <a:buSzPts val="2200"/>
              <a:buChar char="○"/>
            </a:pPr>
            <a:r>
              <a:rPr lang="en-GB"/>
              <a:t>Đọc</a:t>
            </a:r>
            <a:r>
              <a:rPr lang="en-GB" sz="2200"/>
              <a:t> hoặc thiết lập giá trị (get/set)</a:t>
            </a:r>
            <a:endParaRPr sz="2200"/>
          </a:p>
          <a:p>
            <a:pPr indent="-342900" lvl="2" marL="1371600" rtl="0" algn="l">
              <a:spcBef>
                <a:spcPts val="0"/>
              </a:spcBef>
              <a:spcAft>
                <a:spcPts val="0"/>
              </a:spcAft>
              <a:buSzPts val="1800"/>
              <a:buChar char="■"/>
            </a:pPr>
            <a:r>
              <a:rPr lang="en-GB"/>
              <a:t>Lấy giá trị của thuộc tính</a:t>
            </a:r>
            <a:endParaRPr/>
          </a:p>
          <a:p>
            <a:pPr indent="-342900" lvl="2" marL="1371600" rtl="0" algn="l">
              <a:spcBef>
                <a:spcPts val="0"/>
              </a:spcBef>
              <a:spcAft>
                <a:spcPts val="0"/>
              </a:spcAft>
              <a:buSzPts val="1800"/>
              <a:buChar char="■"/>
            </a:pPr>
            <a:r>
              <a:rPr lang="en-GB"/>
              <a:t>Thiết lập giá trị thuộc tính</a:t>
            </a:r>
            <a:endParaRPr/>
          </a:p>
        </p:txBody>
      </p:sp>
      <p:sp>
        <p:nvSpPr>
          <p:cNvPr id="678" name="Google Shape;678;p5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58"/>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a:t>
            </a:r>
            <a:r>
              <a:rPr lang="en-GB"/>
              <a:t>iới hạn truy cập</a:t>
            </a:r>
            <a:endParaRPr/>
          </a:p>
        </p:txBody>
      </p:sp>
      <p:sp>
        <p:nvSpPr>
          <p:cNvPr id="684" name="Google Shape;684;p58"/>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T</a:t>
            </a:r>
            <a:r>
              <a:rPr i="1" lang="en-GB"/>
              <a:t>hường được sử dụng để hỗ trợ đảm bảo tính nhất quán của các biểu diễn</a:t>
            </a:r>
            <a:endParaRPr i="1"/>
          </a:p>
          <a:p>
            <a:pPr indent="-381000" lvl="0" marL="457200" rtl="0" algn="l">
              <a:spcBef>
                <a:spcPts val="0"/>
              </a:spcBef>
              <a:spcAft>
                <a:spcPts val="0"/>
              </a:spcAft>
              <a:buSzPts val="2400"/>
              <a:buChar char="●"/>
            </a:pPr>
            <a:r>
              <a:rPr lang="en-GB"/>
              <a:t>Công khai (+: public): Không giới hạn quyền truy cập</a:t>
            </a:r>
            <a:endParaRPr/>
          </a:p>
          <a:p>
            <a:pPr indent="-368300" lvl="1" marL="914400" rtl="0" algn="l">
              <a:spcBef>
                <a:spcPts val="0"/>
              </a:spcBef>
              <a:spcAft>
                <a:spcPts val="0"/>
              </a:spcAft>
              <a:buSzPts val="2200"/>
              <a:buChar char="○"/>
            </a:pPr>
            <a:r>
              <a:rPr lang="en-GB"/>
              <a:t>Thường được sử dụng cho phương thức</a:t>
            </a:r>
            <a:endParaRPr/>
          </a:p>
          <a:p>
            <a:pPr indent="-381000" lvl="0" marL="457200" rtl="0" algn="l">
              <a:spcBef>
                <a:spcPts val="0"/>
              </a:spcBef>
              <a:spcAft>
                <a:spcPts val="0"/>
              </a:spcAft>
              <a:buSzPts val="2400"/>
              <a:buChar char="●"/>
            </a:pPr>
            <a:r>
              <a:rPr lang="en-GB"/>
              <a:t>Riêng tư (-: private): Giới hạn truy cập trong phạm vi lớp</a:t>
            </a:r>
            <a:endParaRPr/>
          </a:p>
          <a:p>
            <a:pPr indent="-368300" lvl="1" marL="914400" rtl="0" algn="l">
              <a:spcBef>
                <a:spcPts val="0"/>
              </a:spcBef>
              <a:spcAft>
                <a:spcPts val="0"/>
              </a:spcAft>
              <a:buSzPts val="2200"/>
              <a:buChar char="○"/>
            </a:pPr>
            <a:r>
              <a:rPr lang="en-GB"/>
              <a:t>Thường được sử dụng cho thuộc tính.</a:t>
            </a:r>
            <a:endParaRPr/>
          </a:p>
          <a:p>
            <a:pPr indent="-381000" lvl="0" marL="457200" rtl="0" algn="l">
              <a:spcBef>
                <a:spcPts val="0"/>
              </a:spcBef>
              <a:spcAft>
                <a:spcPts val="0"/>
              </a:spcAft>
              <a:buSzPts val="2400"/>
              <a:buChar char="●"/>
            </a:pPr>
            <a:r>
              <a:rPr lang="en-GB"/>
              <a:t>Bảo vệ (#: protected): Giới hạn trong phạm vi cây kế thừa </a:t>
            </a:r>
            <a:endParaRPr/>
          </a:p>
          <a:p>
            <a:pPr indent="-368300" lvl="1" marL="914400" rtl="0" algn="l">
              <a:spcBef>
                <a:spcPts val="0"/>
              </a:spcBef>
              <a:spcAft>
                <a:spcPts val="0"/>
              </a:spcAft>
              <a:buSzPts val="2200"/>
              <a:buChar char="○"/>
            </a:pPr>
            <a:r>
              <a:rPr i="1" lang="en-GB"/>
              <a:t>(Có thể có </a:t>
            </a:r>
            <a:r>
              <a:rPr i="1" lang="en-GB"/>
              <a:t>khác biệt giữa các</a:t>
            </a:r>
            <a:r>
              <a:rPr i="1" lang="en-GB"/>
              <a:t> môi trường, ví dụ Java vs. C++).</a:t>
            </a:r>
            <a:endParaRPr/>
          </a:p>
          <a:p>
            <a:pPr indent="-368300" lvl="1" marL="914400" rtl="0" algn="l">
              <a:spcBef>
                <a:spcPts val="0"/>
              </a:spcBef>
              <a:spcAft>
                <a:spcPts val="0"/>
              </a:spcAft>
              <a:buSzPts val="2200"/>
              <a:buChar char="○"/>
            </a:pPr>
            <a:r>
              <a:rPr lang="en-GB"/>
              <a:t>Phạm vi nằm giữa riêng tư và công khai.</a:t>
            </a:r>
            <a:endParaRPr/>
          </a:p>
        </p:txBody>
      </p:sp>
      <p:sp>
        <p:nvSpPr>
          <p:cNvPr id="685" name="Google Shape;685;p5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59"/>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a:t>
            </a:r>
            <a:r>
              <a:rPr lang="en-GB"/>
              <a:t>Lớp) Giao diện là 1 kiểu lớp đặc biệt:</a:t>
            </a:r>
            <a:endParaRPr/>
          </a:p>
          <a:p>
            <a:pPr indent="-368300" lvl="1" marL="914400" rtl="0" algn="l">
              <a:spcBef>
                <a:spcPts val="0"/>
              </a:spcBef>
              <a:spcAft>
                <a:spcPts val="0"/>
              </a:spcAft>
              <a:buSzPts val="2200"/>
              <a:buChar char="○"/>
            </a:pPr>
            <a:r>
              <a:rPr lang="en-GB"/>
              <a:t>Các phương thức phải được thiết lập truy cập công khai.</a:t>
            </a:r>
            <a:endParaRPr/>
          </a:p>
          <a:p>
            <a:pPr indent="-368300" lvl="1" marL="914400" rtl="0" algn="l">
              <a:spcBef>
                <a:spcPts val="0"/>
              </a:spcBef>
              <a:spcAft>
                <a:spcPts val="0"/>
              </a:spcAft>
              <a:buSzPts val="2200"/>
              <a:buChar char="○"/>
            </a:pPr>
            <a:r>
              <a:rPr lang="en-GB"/>
              <a:t>Không có đối tượng cụ thể.</a:t>
            </a:r>
            <a:endParaRPr/>
          </a:p>
          <a:p>
            <a:pPr indent="-381000" lvl="0" marL="457200" rtl="0" algn="l">
              <a:spcBef>
                <a:spcPts val="0"/>
              </a:spcBef>
              <a:spcAft>
                <a:spcPts val="0"/>
              </a:spcAft>
              <a:buSzPts val="2400"/>
              <a:buChar char="●"/>
            </a:pPr>
            <a:r>
              <a:rPr lang="en-GB"/>
              <a:t>Giao diện mô tả 1 tập tính năng nhưng không cung cấp triển khai của các tính năng đó.</a:t>
            </a:r>
            <a:endParaRPr/>
          </a:p>
          <a:p>
            <a:pPr indent="-368300" lvl="1" marL="914400" rtl="0" algn="l">
              <a:spcBef>
                <a:spcPts val="0"/>
              </a:spcBef>
              <a:spcAft>
                <a:spcPts val="0"/>
              </a:spcAft>
              <a:buSzPts val="2200"/>
              <a:buChar char="○"/>
            </a:pPr>
            <a:r>
              <a:rPr lang="en-GB"/>
              <a:t>Sau đó được triển khai trong các lớp cụ thể.</a:t>
            </a:r>
            <a:endParaRPr/>
          </a:p>
          <a:p>
            <a:pPr indent="-381000" lvl="0" marL="457200" rtl="0" algn="l">
              <a:spcBef>
                <a:spcPts val="0"/>
              </a:spcBef>
              <a:spcAft>
                <a:spcPts val="0"/>
              </a:spcAft>
              <a:buSzPts val="2400"/>
              <a:buChar char="●"/>
            </a:pPr>
            <a:r>
              <a:rPr lang="en-GB"/>
              <a:t>Trong UML giao diện có thể được biểu diễn bằng hình chữ nhật với nhãn loài hoặc bằng biểu tượng riêng.</a:t>
            </a:r>
            <a:endParaRPr/>
          </a:p>
        </p:txBody>
      </p:sp>
      <p:sp>
        <p:nvSpPr>
          <p:cNvPr id="691" name="Google Shape;691;p59"/>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giao diện</a:t>
            </a:r>
            <a:endParaRPr/>
          </a:p>
        </p:txBody>
      </p:sp>
      <p:sp>
        <p:nvSpPr>
          <p:cNvPr id="692" name="Google Shape;692;p5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60"/>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3.11. Các biểu diễn giao diện</a:t>
            </a:r>
            <a:endParaRPr/>
          </a:p>
        </p:txBody>
      </p:sp>
      <p:sp>
        <p:nvSpPr>
          <p:cNvPr id="698" name="Google Shape;698;p6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99" name="Google Shape;699;p60"/>
          <p:cNvSpPr/>
          <p:nvPr/>
        </p:nvSpPr>
        <p:spPr>
          <a:xfrm>
            <a:off x="920925" y="1432866"/>
            <a:ext cx="322200" cy="322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60"/>
          <p:cNvSpPr txBox="1"/>
          <p:nvPr/>
        </p:nvSpPr>
        <p:spPr>
          <a:xfrm>
            <a:off x="598875" y="1782941"/>
            <a:ext cx="952200" cy="4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New Roman"/>
                <a:ea typeface="Times New Roman"/>
                <a:cs typeface="Times New Roman"/>
                <a:sym typeface="Times New Roman"/>
              </a:rPr>
              <a:t>ISensor</a:t>
            </a:r>
            <a:endParaRPr b="1" sz="1800">
              <a:latin typeface="Times New Roman"/>
              <a:ea typeface="Times New Roman"/>
              <a:cs typeface="Times New Roman"/>
              <a:sym typeface="Times New Roman"/>
            </a:endParaRPr>
          </a:p>
        </p:txBody>
      </p:sp>
      <p:sp>
        <p:nvSpPr>
          <p:cNvPr id="701" name="Google Shape;701;p60"/>
          <p:cNvSpPr/>
          <p:nvPr/>
        </p:nvSpPr>
        <p:spPr>
          <a:xfrm>
            <a:off x="2279225" y="1333200"/>
            <a:ext cx="22353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ProximitySensor</a:t>
            </a:r>
            <a:endParaRPr b="1" sz="1800"/>
          </a:p>
        </p:txBody>
      </p:sp>
      <p:sp>
        <p:nvSpPr>
          <p:cNvPr id="702" name="Google Shape;702;p60"/>
          <p:cNvSpPr/>
          <p:nvPr/>
        </p:nvSpPr>
        <p:spPr>
          <a:xfrm>
            <a:off x="2279225" y="1866599"/>
            <a:ext cx="2235300" cy="322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03" name="Google Shape;703;p60"/>
          <p:cNvSpPr/>
          <p:nvPr/>
        </p:nvSpPr>
        <p:spPr>
          <a:xfrm>
            <a:off x="2279225" y="2185401"/>
            <a:ext cx="2235300" cy="322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cxnSp>
        <p:nvCxnSpPr>
          <p:cNvPr id="704" name="Google Shape;704;p60"/>
          <p:cNvCxnSpPr>
            <a:stCxn id="699" idx="6"/>
            <a:endCxn id="701" idx="1"/>
          </p:cNvCxnSpPr>
          <p:nvPr/>
        </p:nvCxnSpPr>
        <p:spPr>
          <a:xfrm>
            <a:off x="1243125" y="1593966"/>
            <a:ext cx="1036200" cy="1500"/>
          </a:xfrm>
          <a:prstGeom prst="straightConnector1">
            <a:avLst/>
          </a:prstGeom>
          <a:noFill/>
          <a:ln cap="flat" cmpd="sng" w="9525">
            <a:solidFill>
              <a:schemeClr val="dk2"/>
            </a:solidFill>
            <a:prstDash val="solid"/>
            <a:round/>
            <a:headEnd len="med" w="med" type="none"/>
            <a:tailEnd len="med" w="med" type="none"/>
          </a:ln>
        </p:spPr>
      </p:cxnSp>
      <p:sp>
        <p:nvSpPr>
          <p:cNvPr id="705" name="Google Shape;705;p60"/>
          <p:cNvSpPr/>
          <p:nvPr/>
        </p:nvSpPr>
        <p:spPr>
          <a:xfrm>
            <a:off x="5098625" y="1333200"/>
            <a:ext cx="18765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TheftAlarm</a:t>
            </a:r>
            <a:endParaRPr b="1" sz="1800"/>
          </a:p>
        </p:txBody>
      </p:sp>
      <p:sp>
        <p:nvSpPr>
          <p:cNvPr id="706" name="Google Shape;706;p60"/>
          <p:cNvSpPr/>
          <p:nvPr/>
        </p:nvSpPr>
        <p:spPr>
          <a:xfrm>
            <a:off x="5098625" y="1866600"/>
            <a:ext cx="1876500" cy="322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07" name="Google Shape;707;p60"/>
          <p:cNvSpPr/>
          <p:nvPr/>
        </p:nvSpPr>
        <p:spPr>
          <a:xfrm>
            <a:off x="5098625" y="2185403"/>
            <a:ext cx="1876500" cy="322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08" name="Google Shape;708;p60"/>
          <p:cNvSpPr/>
          <p:nvPr/>
        </p:nvSpPr>
        <p:spPr>
          <a:xfrm rot="-5400000">
            <a:off x="8066550" y="1414588"/>
            <a:ext cx="406200" cy="357300"/>
          </a:xfrm>
          <a:prstGeom prst="arc">
            <a:avLst>
              <a:gd fmla="val 16200000"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60"/>
          <p:cNvSpPr/>
          <p:nvPr/>
        </p:nvSpPr>
        <p:spPr>
          <a:xfrm flipH="1" rot="-5400000">
            <a:off x="8066550" y="1414588"/>
            <a:ext cx="406200" cy="357300"/>
          </a:xfrm>
          <a:prstGeom prst="arc">
            <a:avLst>
              <a:gd fmla="val 16200000"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10" name="Google Shape;710;p60"/>
          <p:cNvCxnSpPr>
            <a:stCxn id="705" idx="3"/>
            <a:endCxn id="709" idx="0"/>
          </p:cNvCxnSpPr>
          <p:nvPr/>
        </p:nvCxnSpPr>
        <p:spPr>
          <a:xfrm flipH="1" rot="10800000">
            <a:off x="6975125" y="1593150"/>
            <a:ext cx="1116000" cy="2400"/>
          </a:xfrm>
          <a:prstGeom prst="straightConnector1">
            <a:avLst/>
          </a:prstGeom>
          <a:noFill/>
          <a:ln cap="flat" cmpd="sng" w="9525">
            <a:solidFill>
              <a:schemeClr val="dk2"/>
            </a:solidFill>
            <a:prstDash val="solid"/>
            <a:round/>
            <a:headEnd len="med" w="med" type="none"/>
            <a:tailEnd len="med" w="med" type="none"/>
          </a:ln>
        </p:spPr>
      </p:cxnSp>
      <p:sp>
        <p:nvSpPr>
          <p:cNvPr id="711" name="Google Shape;711;p60"/>
          <p:cNvSpPr txBox="1"/>
          <p:nvPr/>
        </p:nvSpPr>
        <p:spPr>
          <a:xfrm>
            <a:off x="7761675" y="1782941"/>
            <a:ext cx="952200" cy="4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New Roman"/>
                <a:ea typeface="Times New Roman"/>
                <a:cs typeface="Times New Roman"/>
                <a:sym typeface="Times New Roman"/>
              </a:rPr>
              <a:t>ISensor</a:t>
            </a:r>
            <a:endParaRPr b="1" sz="1800">
              <a:latin typeface="Times New Roman"/>
              <a:ea typeface="Times New Roman"/>
              <a:cs typeface="Times New Roman"/>
              <a:sym typeface="Times New Roman"/>
            </a:endParaRPr>
          </a:p>
        </p:txBody>
      </p:sp>
      <p:sp>
        <p:nvSpPr>
          <p:cNvPr id="712" name="Google Shape;712;p60"/>
          <p:cNvSpPr txBox="1"/>
          <p:nvPr/>
        </p:nvSpPr>
        <p:spPr>
          <a:xfrm>
            <a:off x="616500" y="2579475"/>
            <a:ext cx="3539100" cy="91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latin typeface="Times New Roman"/>
                <a:ea typeface="Times New Roman"/>
                <a:cs typeface="Times New Roman"/>
                <a:sym typeface="Times New Roman"/>
              </a:rPr>
              <a:t>ProximitySensor triển khai/cung cấp giao diện ISensor</a:t>
            </a:r>
            <a:endParaRPr i="1" sz="1800">
              <a:latin typeface="Times New Roman"/>
              <a:ea typeface="Times New Roman"/>
              <a:cs typeface="Times New Roman"/>
              <a:sym typeface="Times New Roman"/>
            </a:endParaRPr>
          </a:p>
        </p:txBody>
      </p:sp>
      <p:sp>
        <p:nvSpPr>
          <p:cNvPr id="713" name="Google Shape;713;p60"/>
          <p:cNvSpPr txBox="1"/>
          <p:nvPr/>
        </p:nvSpPr>
        <p:spPr>
          <a:xfrm>
            <a:off x="5112300" y="2579475"/>
            <a:ext cx="3539100" cy="91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latin typeface="Times New Roman"/>
                <a:ea typeface="Times New Roman"/>
                <a:cs typeface="Times New Roman"/>
                <a:sym typeface="Times New Roman"/>
              </a:rPr>
              <a:t>TheftAlarm phụ thuộc vào/sử dụng</a:t>
            </a:r>
            <a:r>
              <a:rPr i="1" lang="en-GB" sz="1800">
                <a:latin typeface="Times New Roman"/>
                <a:ea typeface="Times New Roman"/>
                <a:cs typeface="Times New Roman"/>
                <a:sym typeface="Times New Roman"/>
              </a:rPr>
              <a:t> giao diện ISensor</a:t>
            </a:r>
            <a:endParaRPr i="1" sz="1800">
              <a:latin typeface="Times New Roman"/>
              <a:ea typeface="Times New Roman"/>
              <a:cs typeface="Times New Roman"/>
              <a:sym typeface="Times New Roman"/>
            </a:endParaRPr>
          </a:p>
        </p:txBody>
      </p:sp>
      <p:sp>
        <p:nvSpPr>
          <p:cNvPr id="714" name="Google Shape;714;p60"/>
          <p:cNvSpPr/>
          <p:nvPr/>
        </p:nvSpPr>
        <p:spPr>
          <a:xfrm>
            <a:off x="616500" y="5006750"/>
            <a:ext cx="20067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ProximitySensor</a:t>
            </a:r>
            <a:endParaRPr b="1" sz="1800"/>
          </a:p>
        </p:txBody>
      </p:sp>
      <p:sp>
        <p:nvSpPr>
          <p:cNvPr id="715" name="Google Shape;715;p60"/>
          <p:cNvSpPr/>
          <p:nvPr/>
        </p:nvSpPr>
        <p:spPr>
          <a:xfrm>
            <a:off x="6663566" y="4998284"/>
            <a:ext cx="15918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TheftAlarm</a:t>
            </a:r>
            <a:endParaRPr b="1" sz="1800"/>
          </a:p>
        </p:txBody>
      </p:sp>
      <p:sp>
        <p:nvSpPr>
          <p:cNvPr id="716" name="Google Shape;716;p60"/>
          <p:cNvSpPr/>
          <p:nvPr/>
        </p:nvSpPr>
        <p:spPr>
          <a:xfrm>
            <a:off x="3774725" y="4664777"/>
            <a:ext cx="1876500" cy="59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&lt;&lt;interface&gt;&gt;</a:t>
            </a:r>
            <a:endParaRPr b="1" sz="1800"/>
          </a:p>
          <a:p>
            <a:pPr indent="0" lvl="0" marL="0" rtl="0" algn="ctr">
              <a:spcBef>
                <a:spcPts val="0"/>
              </a:spcBef>
              <a:spcAft>
                <a:spcPts val="0"/>
              </a:spcAft>
              <a:buNone/>
            </a:pPr>
            <a:r>
              <a:rPr b="1" lang="en-GB" sz="1800"/>
              <a:t>ISensor</a:t>
            </a:r>
            <a:endParaRPr b="1" sz="1800"/>
          </a:p>
        </p:txBody>
      </p:sp>
      <p:sp>
        <p:nvSpPr>
          <p:cNvPr id="717" name="Google Shape;717;p60"/>
          <p:cNvSpPr/>
          <p:nvPr/>
        </p:nvSpPr>
        <p:spPr>
          <a:xfrm>
            <a:off x="3774725" y="5260374"/>
            <a:ext cx="1876500" cy="59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activate()</a:t>
            </a:r>
            <a:endParaRPr sz="1800"/>
          </a:p>
          <a:p>
            <a:pPr indent="0" lvl="0" marL="0" rtl="0" algn="l">
              <a:spcBef>
                <a:spcPts val="0"/>
              </a:spcBef>
              <a:spcAft>
                <a:spcPts val="0"/>
              </a:spcAft>
              <a:buNone/>
            </a:pPr>
            <a:r>
              <a:rPr lang="en-GB" sz="1800"/>
              <a:t>read()</a:t>
            </a:r>
            <a:endParaRPr sz="1800"/>
          </a:p>
        </p:txBody>
      </p:sp>
      <p:cxnSp>
        <p:nvCxnSpPr>
          <p:cNvPr id="718" name="Google Shape;718;p60"/>
          <p:cNvCxnSpPr>
            <a:stCxn id="714" idx="3"/>
            <a:endCxn id="719" idx="3"/>
          </p:cNvCxnSpPr>
          <p:nvPr/>
        </p:nvCxnSpPr>
        <p:spPr>
          <a:xfrm>
            <a:off x="2623200" y="5269100"/>
            <a:ext cx="892800" cy="2400"/>
          </a:xfrm>
          <a:prstGeom prst="straightConnector1">
            <a:avLst/>
          </a:prstGeom>
          <a:noFill/>
          <a:ln cap="flat" cmpd="sng" w="19050">
            <a:solidFill>
              <a:schemeClr val="dk2"/>
            </a:solidFill>
            <a:prstDash val="dash"/>
            <a:round/>
            <a:headEnd len="med" w="med" type="none"/>
            <a:tailEnd len="med" w="med" type="none"/>
          </a:ln>
        </p:spPr>
      </p:cxnSp>
      <p:sp>
        <p:nvSpPr>
          <p:cNvPr id="719" name="Google Shape;719;p60"/>
          <p:cNvSpPr/>
          <p:nvPr/>
        </p:nvSpPr>
        <p:spPr>
          <a:xfrm flipH="1" rot="5400000">
            <a:off x="3536916" y="5138425"/>
            <a:ext cx="224100" cy="2661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20" name="Google Shape;720;p60"/>
          <p:cNvCxnSpPr>
            <a:endCxn id="715" idx="1"/>
          </p:cNvCxnSpPr>
          <p:nvPr/>
        </p:nvCxnSpPr>
        <p:spPr>
          <a:xfrm flipH="1" rot="10800000">
            <a:off x="5637866" y="5260634"/>
            <a:ext cx="1025700" cy="8700"/>
          </a:xfrm>
          <a:prstGeom prst="straightConnector1">
            <a:avLst/>
          </a:prstGeom>
          <a:noFill/>
          <a:ln cap="flat" cmpd="sng" w="9525">
            <a:solidFill>
              <a:schemeClr val="dk2"/>
            </a:solidFill>
            <a:prstDash val="dash"/>
            <a:round/>
            <a:headEnd len="med" w="med" type="none"/>
            <a:tailEnd len="med" w="med" type="none"/>
          </a:ln>
        </p:spPr>
      </p:cxnSp>
      <p:cxnSp>
        <p:nvCxnSpPr>
          <p:cNvPr id="721" name="Google Shape;721;p60"/>
          <p:cNvCxnSpPr/>
          <p:nvPr/>
        </p:nvCxnSpPr>
        <p:spPr>
          <a:xfrm flipH="1" rot="10800000">
            <a:off x="5661088" y="5196112"/>
            <a:ext cx="140100" cy="69900"/>
          </a:xfrm>
          <a:prstGeom prst="straightConnector1">
            <a:avLst/>
          </a:prstGeom>
          <a:noFill/>
          <a:ln cap="flat" cmpd="sng" w="19050">
            <a:solidFill>
              <a:schemeClr val="dk2"/>
            </a:solidFill>
            <a:prstDash val="solid"/>
            <a:round/>
            <a:headEnd len="med" w="med" type="none"/>
            <a:tailEnd len="med" w="med" type="none"/>
          </a:ln>
        </p:spPr>
      </p:cxnSp>
      <p:cxnSp>
        <p:nvCxnSpPr>
          <p:cNvPr id="722" name="Google Shape;722;p60"/>
          <p:cNvCxnSpPr/>
          <p:nvPr/>
        </p:nvCxnSpPr>
        <p:spPr>
          <a:xfrm>
            <a:off x="5661088" y="5273025"/>
            <a:ext cx="140100" cy="69900"/>
          </a:xfrm>
          <a:prstGeom prst="straightConnector1">
            <a:avLst/>
          </a:prstGeom>
          <a:noFill/>
          <a:ln cap="flat" cmpd="sng" w="19050">
            <a:solidFill>
              <a:schemeClr val="dk2"/>
            </a:solidFill>
            <a:prstDash val="solid"/>
            <a:round/>
            <a:headEnd len="med" w="med" type="none"/>
            <a:tailEnd len="med" w="med" type="none"/>
          </a:ln>
        </p:spPr>
      </p:cxnSp>
      <p:sp>
        <p:nvSpPr>
          <p:cNvPr id="723" name="Google Shape;723;p60"/>
          <p:cNvSpPr txBox="1"/>
          <p:nvPr/>
        </p:nvSpPr>
        <p:spPr>
          <a:xfrm>
            <a:off x="4326725" y="3638550"/>
            <a:ext cx="952200" cy="59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600">
                <a:solidFill>
                  <a:schemeClr val="dk2"/>
                </a:solidFill>
                <a:latin typeface="Times New Roman"/>
                <a:ea typeface="Times New Roman"/>
                <a:cs typeface="Times New Roman"/>
                <a:sym typeface="Times New Roman"/>
              </a:rPr>
              <a:t>VS.</a:t>
            </a:r>
            <a:endParaRPr sz="2600">
              <a:solidFill>
                <a:schemeClr val="dk2"/>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61"/>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3.12. </a:t>
            </a:r>
            <a:r>
              <a:rPr lang="en-GB"/>
              <a:t>Kết hợp nhiều giao diện</a:t>
            </a:r>
            <a:endParaRPr/>
          </a:p>
        </p:txBody>
      </p:sp>
      <p:sp>
        <p:nvSpPr>
          <p:cNvPr id="729" name="Google Shape;729;p6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30" name="Google Shape;730;p61"/>
          <p:cNvSpPr/>
          <p:nvPr/>
        </p:nvSpPr>
        <p:spPr>
          <a:xfrm>
            <a:off x="3444325" y="1180802"/>
            <a:ext cx="1876500" cy="59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&lt;&lt;interface&gt;&gt;</a:t>
            </a:r>
            <a:endParaRPr b="1" sz="1800"/>
          </a:p>
          <a:p>
            <a:pPr indent="0" lvl="0" marL="0" rtl="0" algn="ctr">
              <a:spcBef>
                <a:spcPts val="0"/>
              </a:spcBef>
              <a:spcAft>
                <a:spcPts val="0"/>
              </a:spcAft>
              <a:buNone/>
            </a:pPr>
            <a:r>
              <a:rPr b="1" lang="en-GB" sz="1800"/>
              <a:t>I</a:t>
            </a:r>
            <a:r>
              <a:rPr b="1" lang="en-GB" sz="1800"/>
              <a:t>Alarm</a:t>
            </a:r>
            <a:endParaRPr b="1" sz="1800"/>
          </a:p>
        </p:txBody>
      </p:sp>
      <p:sp>
        <p:nvSpPr>
          <p:cNvPr id="731" name="Google Shape;731;p61"/>
          <p:cNvSpPr/>
          <p:nvPr/>
        </p:nvSpPr>
        <p:spPr>
          <a:xfrm>
            <a:off x="3444325" y="1776400"/>
            <a:ext cx="1876500" cy="406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notify</a:t>
            </a:r>
            <a:r>
              <a:rPr lang="en-GB" sz="1800"/>
              <a:t>()</a:t>
            </a:r>
            <a:endParaRPr sz="1800"/>
          </a:p>
        </p:txBody>
      </p:sp>
      <p:sp>
        <p:nvSpPr>
          <p:cNvPr id="732" name="Google Shape;732;p61"/>
          <p:cNvSpPr/>
          <p:nvPr/>
        </p:nvSpPr>
        <p:spPr>
          <a:xfrm>
            <a:off x="4200300" y="3660516"/>
            <a:ext cx="322200" cy="322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61"/>
          <p:cNvSpPr txBox="1"/>
          <p:nvPr/>
        </p:nvSpPr>
        <p:spPr>
          <a:xfrm>
            <a:off x="4599425" y="3604504"/>
            <a:ext cx="952200" cy="4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New Roman"/>
                <a:ea typeface="Times New Roman"/>
                <a:cs typeface="Times New Roman"/>
                <a:sym typeface="Times New Roman"/>
              </a:rPr>
              <a:t>I</a:t>
            </a:r>
            <a:r>
              <a:rPr b="1" lang="en-GB" sz="1800">
                <a:latin typeface="Times New Roman"/>
                <a:ea typeface="Times New Roman"/>
                <a:cs typeface="Times New Roman"/>
                <a:sym typeface="Times New Roman"/>
              </a:rPr>
              <a:t>Alarm</a:t>
            </a:r>
            <a:endParaRPr b="1" sz="1800">
              <a:latin typeface="Times New Roman"/>
              <a:ea typeface="Times New Roman"/>
              <a:cs typeface="Times New Roman"/>
              <a:sym typeface="Times New Roman"/>
            </a:endParaRPr>
          </a:p>
        </p:txBody>
      </p:sp>
      <p:sp>
        <p:nvSpPr>
          <p:cNvPr id="734" name="Google Shape;734;p61"/>
          <p:cNvSpPr/>
          <p:nvPr/>
        </p:nvSpPr>
        <p:spPr>
          <a:xfrm>
            <a:off x="3423150" y="4389150"/>
            <a:ext cx="18765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Door</a:t>
            </a:r>
            <a:r>
              <a:rPr b="1" lang="en-GB" sz="1800"/>
              <a:t>Alarm</a:t>
            </a:r>
            <a:endParaRPr b="1" sz="1800"/>
          </a:p>
        </p:txBody>
      </p:sp>
      <p:sp>
        <p:nvSpPr>
          <p:cNvPr id="735" name="Google Shape;735;p61"/>
          <p:cNvSpPr/>
          <p:nvPr/>
        </p:nvSpPr>
        <p:spPr>
          <a:xfrm>
            <a:off x="3423150" y="4922550"/>
            <a:ext cx="1876500" cy="322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36" name="Google Shape;736;p61"/>
          <p:cNvSpPr/>
          <p:nvPr/>
        </p:nvSpPr>
        <p:spPr>
          <a:xfrm>
            <a:off x="3423150" y="5241353"/>
            <a:ext cx="1876500" cy="322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cxnSp>
        <p:nvCxnSpPr>
          <p:cNvPr id="737" name="Google Shape;737;p61"/>
          <p:cNvCxnSpPr>
            <a:stCxn id="732" idx="4"/>
            <a:endCxn id="734" idx="0"/>
          </p:cNvCxnSpPr>
          <p:nvPr/>
        </p:nvCxnSpPr>
        <p:spPr>
          <a:xfrm>
            <a:off x="4361400" y="3982716"/>
            <a:ext cx="0" cy="406500"/>
          </a:xfrm>
          <a:prstGeom prst="straightConnector1">
            <a:avLst/>
          </a:prstGeom>
          <a:noFill/>
          <a:ln cap="flat" cmpd="sng" w="9525">
            <a:solidFill>
              <a:schemeClr val="dk2"/>
            </a:solidFill>
            <a:prstDash val="solid"/>
            <a:round/>
            <a:headEnd len="med" w="med" type="none"/>
            <a:tailEnd len="med" w="med" type="none"/>
          </a:ln>
        </p:spPr>
      </p:cxnSp>
      <p:sp>
        <p:nvSpPr>
          <p:cNvPr id="738" name="Google Shape;738;p61"/>
          <p:cNvSpPr/>
          <p:nvPr/>
        </p:nvSpPr>
        <p:spPr>
          <a:xfrm>
            <a:off x="1325875" y="3660516"/>
            <a:ext cx="322200" cy="322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61"/>
          <p:cNvSpPr txBox="1"/>
          <p:nvPr/>
        </p:nvSpPr>
        <p:spPr>
          <a:xfrm>
            <a:off x="1725000" y="3604500"/>
            <a:ext cx="13371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New Roman"/>
                <a:ea typeface="Times New Roman"/>
                <a:cs typeface="Times New Roman"/>
                <a:sym typeface="Times New Roman"/>
              </a:rPr>
              <a:t>I</a:t>
            </a:r>
            <a:r>
              <a:rPr b="1" lang="en-GB" sz="1800">
                <a:latin typeface="Times New Roman"/>
                <a:ea typeface="Times New Roman"/>
                <a:cs typeface="Times New Roman"/>
                <a:sym typeface="Times New Roman"/>
              </a:rPr>
              <a:t>Buzzer</a:t>
            </a:r>
            <a:endParaRPr b="1" sz="1800">
              <a:latin typeface="Times New Roman"/>
              <a:ea typeface="Times New Roman"/>
              <a:cs typeface="Times New Roman"/>
              <a:sym typeface="Times New Roman"/>
            </a:endParaRPr>
          </a:p>
        </p:txBody>
      </p:sp>
      <p:sp>
        <p:nvSpPr>
          <p:cNvPr id="740" name="Google Shape;740;p61"/>
          <p:cNvSpPr/>
          <p:nvPr/>
        </p:nvSpPr>
        <p:spPr>
          <a:xfrm>
            <a:off x="548725" y="4389150"/>
            <a:ext cx="18765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Door</a:t>
            </a:r>
            <a:r>
              <a:rPr b="1" lang="en-GB" sz="1800"/>
              <a:t>Bell</a:t>
            </a:r>
            <a:endParaRPr b="1" sz="1800"/>
          </a:p>
        </p:txBody>
      </p:sp>
      <p:sp>
        <p:nvSpPr>
          <p:cNvPr id="741" name="Google Shape;741;p61"/>
          <p:cNvSpPr/>
          <p:nvPr/>
        </p:nvSpPr>
        <p:spPr>
          <a:xfrm>
            <a:off x="548725" y="4922550"/>
            <a:ext cx="1876500" cy="322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42" name="Google Shape;742;p61"/>
          <p:cNvSpPr/>
          <p:nvPr/>
        </p:nvSpPr>
        <p:spPr>
          <a:xfrm>
            <a:off x="548725" y="5241353"/>
            <a:ext cx="1876500" cy="322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cxnSp>
        <p:nvCxnSpPr>
          <p:cNvPr id="743" name="Google Shape;743;p61"/>
          <p:cNvCxnSpPr>
            <a:stCxn id="738" idx="4"/>
            <a:endCxn id="740" idx="0"/>
          </p:cNvCxnSpPr>
          <p:nvPr/>
        </p:nvCxnSpPr>
        <p:spPr>
          <a:xfrm>
            <a:off x="1486975" y="3982716"/>
            <a:ext cx="0" cy="406500"/>
          </a:xfrm>
          <a:prstGeom prst="straightConnector1">
            <a:avLst/>
          </a:prstGeom>
          <a:noFill/>
          <a:ln cap="flat" cmpd="sng" w="9525">
            <a:solidFill>
              <a:schemeClr val="dk2"/>
            </a:solidFill>
            <a:prstDash val="solid"/>
            <a:round/>
            <a:headEnd len="med" w="med" type="none"/>
            <a:tailEnd len="med" w="med" type="none"/>
          </a:ln>
        </p:spPr>
      </p:cxnSp>
      <p:sp>
        <p:nvSpPr>
          <p:cNvPr id="744" name="Google Shape;744;p61"/>
          <p:cNvSpPr/>
          <p:nvPr/>
        </p:nvSpPr>
        <p:spPr>
          <a:xfrm>
            <a:off x="6797125" y="1180802"/>
            <a:ext cx="1876500" cy="59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&lt;&lt;interface&gt;&gt;</a:t>
            </a:r>
            <a:endParaRPr b="1" sz="1800"/>
          </a:p>
          <a:p>
            <a:pPr indent="0" lvl="0" marL="0" rtl="0" algn="ctr">
              <a:spcBef>
                <a:spcPts val="0"/>
              </a:spcBef>
              <a:spcAft>
                <a:spcPts val="0"/>
              </a:spcAft>
              <a:buNone/>
            </a:pPr>
            <a:r>
              <a:rPr b="1" lang="en-GB" sz="1800"/>
              <a:t>I</a:t>
            </a:r>
            <a:r>
              <a:rPr b="1" lang="en-GB" sz="1800"/>
              <a:t>Sensor</a:t>
            </a:r>
            <a:endParaRPr b="1" sz="1800"/>
          </a:p>
        </p:txBody>
      </p:sp>
      <p:sp>
        <p:nvSpPr>
          <p:cNvPr id="745" name="Google Shape;745;p61"/>
          <p:cNvSpPr/>
          <p:nvPr/>
        </p:nvSpPr>
        <p:spPr>
          <a:xfrm>
            <a:off x="6797125" y="1776400"/>
            <a:ext cx="1876500" cy="763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activate</a:t>
            </a:r>
            <a:r>
              <a:rPr lang="en-GB" sz="1800"/>
              <a:t>()</a:t>
            </a:r>
            <a:endParaRPr sz="1800"/>
          </a:p>
          <a:p>
            <a:pPr indent="0" lvl="0" marL="0" rtl="0" algn="l">
              <a:spcBef>
                <a:spcPts val="0"/>
              </a:spcBef>
              <a:spcAft>
                <a:spcPts val="0"/>
              </a:spcAft>
              <a:buNone/>
            </a:pPr>
            <a:r>
              <a:rPr lang="en-GB" sz="1800"/>
              <a:t>read()</a:t>
            </a:r>
            <a:endParaRPr sz="1800"/>
          </a:p>
        </p:txBody>
      </p:sp>
      <p:sp>
        <p:nvSpPr>
          <p:cNvPr id="746" name="Google Shape;746;p61"/>
          <p:cNvSpPr/>
          <p:nvPr/>
        </p:nvSpPr>
        <p:spPr>
          <a:xfrm>
            <a:off x="548725" y="1180802"/>
            <a:ext cx="1876500" cy="59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&lt;&lt;interface&gt;&gt;</a:t>
            </a:r>
            <a:endParaRPr b="1" sz="1800"/>
          </a:p>
          <a:p>
            <a:pPr indent="0" lvl="0" marL="0" rtl="0" algn="ctr">
              <a:spcBef>
                <a:spcPts val="0"/>
              </a:spcBef>
              <a:spcAft>
                <a:spcPts val="0"/>
              </a:spcAft>
              <a:buNone/>
            </a:pPr>
            <a:r>
              <a:rPr b="1" lang="en-GB" sz="1800"/>
              <a:t>I</a:t>
            </a:r>
            <a:r>
              <a:rPr b="1" lang="en-GB" sz="1800"/>
              <a:t>Buzzer</a:t>
            </a:r>
            <a:endParaRPr b="1" sz="1800"/>
          </a:p>
        </p:txBody>
      </p:sp>
      <p:sp>
        <p:nvSpPr>
          <p:cNvPr id="747" name="Google Shape;747;p61"/>
          <p:cNvSpPr/>
          <p:nvPr/>
        </p:nvSpPr>
        <p:spPr>
          <a:xfrm>
            <a:off x="548725" y="1776400"/>
            <a:ext cx="1876500" cy="406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Volume</a:t>
            </a:r>
            <a:endParaRPr sz="1800"/>
          </a:p>
        </p:txBody>
      </p:sp>
      <p:sp>
        <p:nvSpPr>
          <p:cNvPr id="748" name="Google Shape;748;p61"/>
          <p:cNvSpPr/>
          <p:nvPr/>
        </p:nvSpPr>
        <p:spPr>
          <a:xfrm>
            <a:off x="548725" y="2191607"/>
            <a:ext cx="1876500" cy="763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start</a:t>
            </a:r>
            <a:r>
              <a:rPr lang="en-GB" sz="1800"/>
              <a:t>()</a:t>
            </a:r>
            <a:endParaRPr sz="1800"/>
          </a:p>
          <a:p>
            <a:pPr indent="0" lvl="0" marL="0" rtl="0" algn="l">
              <a:spcBef>
                <a:spcPts val="0"/>
              </a:spcBef>
              <a:spcAft>
                <a:spcPts val="0"/>
              </a:spcAft>
              <a:buNone/>
            </a:pPr>
            <a:r>
              <a:rPr lang="en-GB" sz="1800"/>
              <a:t>reset()</a:t>
            </a:r>
            <a:endParaRPr sz="1800"/>
          </a:p>
        </p:txBody>
      </p:sp>
      <p:cxnSp>
        <p:nvCxnSpPr>
          <p:cNvPr id="749" name="Google Shape;749;p61"/>
          <p:cNvCxnSpPr>
            <a:stCxn id="730" idx="1"/>
            <a:endCxn id="746" idx="3"/>
          </p:cNvCxnSpPr>
          <p:nvPr/>
        </p:nvCxnSpPr>
        <p:spPr>
          <a:xfrm rot="10800000">
            <a:off x="2425225" y="1480652"/>
            <a:ext cx="1019100" cy="0"/>
          </a:xfrm>
          <a:prstGeom prst="straightConnector1">
            <a:avLst/>
          </a:prstGeom>
          <a:noFill/>
          <a:ln cap="flat" cmpd="sng" w="19050">
            <a:solidFill>
              <a:schemeClr val="dk2"/>
            </a:solidFill>
            <a:prstDash val="dash"/>
            <a:round/>
            <a:headEnd len="med" w="med" type="none"/>
            <a:tailEnd len="med" w="med" type="stealth"/>
          </a:ln>
        </p:spPr>
      </p:cxnSp>
      <p:cxnSp>
        <p:nvCxnSpPr>
          <p:cNvPr id="750" name="Google Shape;750;p61"/>
          <p:cNvCxnSpPr>
            <a:stCxn id="730" idx="3"/>
            <a:endCxn id="744" idx="1"/>
          </p:cNvCxnSpPr>
          <p:nvPr/>
        </p:nvCxnSpPr>
        <p:spPr>
          <a:xfrm>
            <a:off x="5320825" y="1480652"/>
            <a:ext cx="1476300" cy="0"/>
          </a:xfrm>
          <a:prstGeom prst="straightConnector1">
            <a:avLst/>
          </a:prstGeom>
          <a:noFill/>
          <a:ln cap="flat" cmpd="sng" w="9525">
            <a:solidFill>
              <a:schemeClr val="dk2"/>
            </a:solidFill>
            <a:prstDash val="solid"/>
            <a:round/>
            <a:headEnd len="med" w="med" type="none"/>
            <a:tailEnd len="med" w="med" type="none"/>
          </a:ln>
        </p:spPr>
      </p:cxnSp>
      <p:sp>
        <p:nvSpPr>
          <p:cNvPr id="751" name="Google Shape;751;p61"/>
          <p:cNvSpPr txBox="1"/>
          <p:nvPr/>
        </p:nvSpPr>
        <p:spPr>
          <a:xfrm>
            <a:off x="2425225" y="1431450"/>
            <a:ext cx="445500" cy="4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p:txBody>
      </p:sp>
      <p:sp>
        <p:nvSpPr>
          <p:cNvPr id="752" name="Google Shape;752;p61"/>
          <p:cNvSpPr txBox="1"/>
          <p:nvPr/>
        </p:nvSpPr>
        <p:spPr>
          <a:xfrm>
            <a:off x="5320825" y="1431450"/>
            <a:ext cx="445500" cy="4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p:txBody>
      </p:sp>
      <p:sp>
        <p:nvSpPr>
          <p:cNvPr id="753" name="Google Shape;753;p61"/>
          <p:cNvSpPr txBox="1"/>
          <p:nvPr/>
        </p:nvSpPr>
        <p:spPr>
          <a:xfrm>
            <a:off x="6463825" y="1431450"/>
            <a:ext cx="445500" cy="4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p:txBody>
      </p:sp>
      <p:sp>
        <p:nvSpPr>
          <p:cNvPr id="754" name="Google Shape;754;p61"/>
          <p:cNvSpPr txBox="1"/>
          <p:nvPr/>
        </p:nvSpPr>
        <p:spPr>
          <a:xfrm>
            <a:off x="2607625" y="2539900"/>
            <a:ext cx="6413700" cy="88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000">
                <a:latin typeface="Times New Roman"/>
                <a:ea typeface="Times New Roman"/>
                <a:cs typeface="Times New Roman"/>
                <a:sym typeface="Times New Roman"/>
              </a:rPr>
              <a:t>Giao diện IAlarm phụ thuộc vào giao diện IBuzzer, các giao diện IAlarm và ISensor hình thành 1 giao thức 2 chiều.</a:t>
            </a:r>
            <a:endParaRPr i="1" sz="2000">
              <a:latin typeface="Times New Roman"/>
              <a:ea typeface="Times New Roman"/>
              <a:cs typeface="Times New Roman"/>
              <a:sym typeface="Times New Roman"/>
            </a:endParaRPr>
          </a:p>
        </p:txBody>
      </p:sp>
      <p:sp>
        <p:nvSpPr>
          <p:cNvPr id="755" name="Google Shape;755;p61"/>
          <p:cNvSpPr txBox="1"/>
          <p:nvPr/>
        </p:nvSpPr>
        <p:spPr>
          <a:xfrm>
            <a:off x="311700" y="5587900"/>
            <a:ext cx="8633400" cy="88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000">
                <a:latin typeface="Times New Roman"/>
                <a:ea typeface="Times New Roman"/>
                <a:cs typeface="Times New Roman"/>
                <a:sym typeface="Times New Roman"/>
              </a:rPr>
              <a:t>Các lớp DoorBell, DoorAlarm và DoorSensor tuy được biểu diễn độc lập, nhưng các đối tượng của chúng vẫn có thể tương tác thông qua các giao diện.</a:t>
            </a:r>
            <a:endParaRPr i="1" sz="2000">
              <a:latin typeface="Times New Roman"/>
              <a:ea typeface="Times New Roman"/>
              <a:cs typeface="Times New Roman"/>
              <a:sym typeface="Times New Roman"/>
            </a:endParaRPr>
          </a:p>
        </p:txBody>
      </p:sp>
      <p:sp>
        <p:nvSpPr>
          <p:cNvPr id="756" name="Google Shape;756;p61"/>
          <p:cNvSpPr/>
          <p:nvPr/>
        </p:nvSpPr>
        <p:spPr>
          <a:xfrm>
            <a:off x="7322300" y="3660516"/>
            <a:ext cx="322200" cy="322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61"/>
          <p:cNvSpPr txBox="1"/>
          <p:nvPr/>
        </p:nvSpPr>
        <p:spPr>
          <a:xfrm>
            <a:off x="7721425" y="3604504"/>
            <a:ext cx="952200" cy="4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New Roman"/>
                <a:ea typeface="Times New Roman"/>
                <a:cs typeface="Times New Roman"/>
                <a:sym typeface="Times New Roman"/>
              </a:rPr>
              <a:t>ISensor</a:t>
            </a:r>
            <a:endParaRPr b="1" sz="1800">
              <a:latin typeface="Times New Roman"/>
              <a:ea typeface="Times New Roman"/>
              <a:cs typeface="Times New Roman"/>
              <a:sym typeface="Times New Roman"/>
            </a:endParaRPr>
          </a:p>
        </p:txBody>
      </p:sp>
      <p:sp>
        <p:nvSpPr>
          <p:cNvPr id="758" name="Google Shape;758;p61"/>
          <p:cNvSpPr/>
          <p:nvPr/>
        </p:nvSpPr>
        <p:spPr>
          <a:xfrm>
            <a:off x="6545150" y="4389150"/>
            <a:ext cx="18765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DoorSensor</a:t>
            </a:r>
            <a:endParaRPr b="1" sz="1800"/>
          </a:p>
        </p:txBody>
      </p:sp>
      <p:sp>
        <p:nvSpPr>
          <p:cNvPr id="759" name="Google Shape;759;p61"/>
          <p:cNvSpPr/>
          <p:nvPr/>
        </p:nvSpPr>
        <p:spPr>
          <a:xfrm>
            <a:off x="6545150" y="4922550"/>
            <a:ext cx="1876500" cy="322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60" name="Google Shape;760;p61"/>
          <p:cNvSpPr/>
          <p:nvPr/>
        </p:nvSpPr>
        <p:spPr>
          <a:xfrm>
            <a:off x="6545150" y="5241353"/>
            <a:ext cx="1876500" cy="322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cxnSp>
        <p:nvCxnSpPr>
          <p:cNvPr id="761" name="Google Shape;761;p61"/>
          <p:cNvCxnSpPr>
            <a:stCxn id="756" idx="4"/>
            <a:endCxn id="758" idx="0"/>
          </p:cNvCxnSpPr>
          <p:nvPr/>
        </p:nvCxnSpPr>
        <p:spPr>
          <a:xfrm>
            <a:off x="7483400" y="3982716"/>
            <a:ext cx="0" cy="406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2"/>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a:t>
            </a:r>
            <a:r>
              <a:rPr lang="en-GB"/>
              <a:t> đối tượng</a:t>
            </a:r>
            <a:endParaRPr/>
          </a:p>
        </p:txBody>
      </p:sp>
      <p:sp>
        <p:nvSpPr>
          <p:cNvPr id="767" name="Google Shape;767;p6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68" name="Google Shape;768;p62"/>
          <p:cNvSpPr txBox="1"/>
          <p:nvPr>
            <p:ph idx="4294967295" type="body"/>
          </p:nvPr>
        </p:nvSpPr>
        <p:spPr>
          <a:xfrm>
            <a:off x="311700" y="961800"/>
            <a:ext cx="8520600" cy="2635500"/>
          </a:xfrm>
          <a:prstGeom prst="rect">
            <a:avLst/>
          </a:prstGeom>
        </p:spPr>
        <p:txBody>
          <a:bodyPr anchorCtr="0" anchor="t" bIns="91425" lIns="91425" spcFirstLastPara="1" rIns="91425" wrap="square" tIns="91425">
            <a:noAutofit/>
          </a:bodyPr>
          <a:lstStyle/>
          <a:p>
            <a:pPr indent="-393700" lvl="0" marL="457200" rtl="0" algn="just">
              <a:spcBef>
                <a:spcPts val="0"/>
              </a:spcBef>
              <a:spcAft>
                <a:spcPts val="0"/>
              </a:spcAft>
              <a:buSzPts val="2600"/>
              <a:buChar char="●"/>
            </a:pPr>
            <a:r>
              <a:rPr lang="en-GB"/>
              <a:t>Biểu diễn các đối tượng với các giá trị cụ thể của các thuộc tính và quan hệ cụ thể giữa các đối tượng</a:t>
            </a:r>
            <a:endParaRPr/>
          </a:p>
          <a:p>
            <a:pPr indent="-368300" lvl="1" marL="914400" rtl="0" algn="just">
              <a:spcBef>
                <a:spcPts val="0"/>
              </a:spcBef>
              <a:spcAft>
                <a:spcPts val="0"/>
              </a:spcAft>
              <a:buSzPts val="2200"/>
              <a:buChar char="○"/>
            </a:pPr>
            <a:r>
              <a:rPr lang="en-GB"/>
              <a:t>Đối tượng = Trường hợp cụ thể (phần tử) của lớp</a:t>
            </a:r>
            <a:endParaRPr/>
          </a:p>
          <a:p>
            <a:pPr indent="-393700" lvl="0" marL="457200" rtl="0" algn="just">
              <a:spcBef>
                <a:spcPts val="0"/>
              </a:spcBef>
              <a:spcAft>
                <a:spcPts val="0"/>
              </a:spcAft>
              <a:buSzPts val="2600"/>
              <a:buChar char="●"/>
            </a:pPr>
            <a:r>
              <a:rPr lang="en-GB"/>
              <a:t>Có thể hỗ trợ tiến trình xây dựng </a:t>
            </a:r>
            <a:r>
              <a:rPr lang="en-GB"/>
              <a:t>sơ đồ</a:t>
            </a:r>
            <a:r>
              <a:rPr lang="en-GB"/>
              <a:t> lớp: </a:t>
            </a:r>
            <a:r>
              <a:rPr lang="en-GB"/>
              <a:t>Phân tích</a:t>
            </a:r>
            <a:r>
              <a:rPr lang="en-GB"/>
              <a:t> tương tác giữa các đối tượng thường dễ hơn phân tích mối quan hệ giữa các lớp.</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63"/>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3.13. Biểu diễn đối tượng</a:t>
            </a:r>
            <a:endParaRPr/>
          </a:p>
        </p:txBody>
      </p:sp>
      <p:sp>
        <p:nvSpPr>
          <p:cNvPr id="774" name="Google Shape;774;p6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75" name="Google Shape;775;p63"/>
          <p:cNvSpPr/>
          <p:nvPr/>
        </p:nvSpPr>
        <p:spPr>
          <a:xfrm>
            <a:off x="1659050" y="1077300"/>
            <a:ext cx="6255000" cy="2689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63"/>
          <p:cNvSpPr txBox="1"/>
          <p:nvPr/>
        </p:nvSpPr>
        <p:spPr>
          <a:xfrm>
            <a:off x="5161725" y="1143700"/>
            <a:ext cx="2805900" cy="61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Lớp Window</a:t>
            </a:r>
            <a:endParaRPr sz="1800">
              <a:latin typeface="Times New Roman"/>
              <a:ea typeface="Times New Roman"/>
              <a:cs typeface="Times New Roman"/>
              <a:sym typeface="Times New Roman"/>
            </a:endParaRPr>
          </a:p>
        </p:txBody>
      </p:sp>
      <p:sp>
        <p:nvSpPr>
          <p:cNvPr id="777" name="Google Shape;777;p63"/>
          <p:cNvSpPr txBox="1"/>
          <p:nvPr/>
        </p:nvSpPr>
        <p:spPr>
          <a:xfrm>
            <a:off x="2133600" y="1153600"/>
            <a:ext cx="2061000" cy="78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Đ</a:t>
            </a:r>
            <a:r>
              <a:rPr lang="en-GB" sz="1800">
                <a:latin typeface="Times New Roman"/>
                <a:ea typeface="Times New Roman"/>
                <a:cs typeface="Times New Roman"/>
                <a:sym typeface="Times New Roman"/>
              </a:rPr>
              <a:t>ối tượng w thuộc lớp Window</a:t>
            </a:r>
            <a:endParaRPr sz="1800">
              <a:latin typeface="Times New Roman"/>
              <a:ea typeface="Times New Roman"/>
              <a:cs typeface="Times New Roman"/>
              <a:sym typeface="Times New Roman"/>
            </a:endParaRPr>
          </a:p>
        </p:txBody>
      </p:sp>
      <p:sp>
        <p:nvSpPr>
          <p:cNvPr id="778" name="Google Shape;778;p63"/>
          <p:cNvSpPr/>
          <p:nvPr/>
        </p:nvSpPr>
        <p:spPr>
          <a:xfrm>
            <a:off x="837451" y="4435672"/>
            <a:ext cx="1440900" cy="41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u="sng"/>
              <a:t>obj:Type</a:t>
            </a:r>
            <a:endParaRPr b="1" sz="1600" u="sng"/>
          </a:p>
        </p:txBody>
      </p:sp>
      <p:sp>
        <p:nvSpPr>
          <p:cNvPr id="779" name="Google Shape;779;p63"/>
          <p:cNvSpPr txBox="1"/>
          <p:nvPr/>
        </p:nvSpPr>
        <p:spPr>
          <a:xfrm>
            <a:off x="346375" y="3905600"/>
            <a:ext cx="1338300" cy="4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latin typeface="Times New Roman"/>
                <a:ea typeface="Times New Roman"/>
                <a:cs typeface="Times New Roman"/>
                <a:sym typeface="Times New Roman"/>
              </a:rPr>
              <a:t>Tên đối tượng</a:t>
            </a:r>
            <a:endParaRPr i="1" sz="1600">
              <a:latin typeface="Times New Roman"/>
              <a:ea typeface="Times New Roman"/>
              <a:cs typeface="Times New Roman"/>
              <a:sym typeface="Times New Roman"/>
            </a:endParaRPr>
          </a:p>
        </p:txBody>
      </p:sp>
      <p:sp>
        <p:nvSpPr>
          <p:cNvPr id="780" name="Google Shape;780;p63"/>
          <p:cNvSpPr txBox="1"/>
          <p:nvPr/>
        </p:nvSpPr>
        <p:spPr>
          <a:xfrm>
            <a:off x="1641775" y="3905600"/>
            <a:ext cx="1338300" cy="4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latin typeface="Times New Roman"/>
                <a:ea typeface="Times New Roman"/>
                <a:cs typeface="Times New Roman"/>
                <a:sym typeface="Times New Roman"/>
              </a:rPr>
              <a:t>Tên lớp</a:t>
            </a:r>
            <a:endParaRPr i="1" sz="1600">
              <a:latin typeface="Times New Roman"/>
              <a:ea typeface="Times New Roman"/>
              <a:cs typeface="Times New Roman"/>
              <a:sym typeface="Times New Roman"/>
            </a:endParaRPr>
          </a:p>
        </p:txBody>
      </p:sp>
      <p:cxnSp>
        <p:nvCxnSpPr>
          <p:cNvPr id="781" name="Google Shape;781;p63"/>
          <p:cNvCxnSpPr/>
          <p:nvPr/>
        </p:nvCxnSpPr>
        <p:spPr>
          <a:xfrm>
            <a:off x="919950" y="4217325"/>
            <a:ext cx="410100" cy="310500"/>
          </a:xfrm>
          <a:prstGeom prst="straightConnector1">
            <a:avLst/>
          </a:prstGeom>
          <a:noFill/>
          <a:ln cap="flat" cmpd="sng" w="9525">
            <a:solidFill>
              <a:schemeClr val="dk2"/>
            </a:solidFill>
            <a:prstDash val="dash"/>
            <a:round/>
            <a:headEnd len="med" w="med" type="none"/>
            <a:tailEnd len="med" w="med" type="none"/>
          </a:ln>
        </p:spPr>
      </p:cxnSp>
      <p:cxnSp>
        <p:nvCxnSpPr>
          <p:cNvPr id="782" name="Google Shape;782;p63"/>
          <p:cNvCxnSpPr/>
          <p:nvPr/>
        </p:nvCxnSpPr>
        <p:spPr>
          <a:xfrm flipH="1" rot="10800000">
            <a:off x="1640375" y="4217175"/>
            <a:ext cx="354900" cy="299400"/>
          </a:xfrm>
          <a:prstGeom prst="straightConnector1">
            <a:avLst/>
          </a:prstGeom>
          <a:noFill/>
          <a:ln cap="flat" cmpd="sng" w="9525">
            <a:solidFill>
              <a:schemeClr val="dk2"/>
            </a:solidFill>
            <a:prstDash val="dash"/>
            <a:round/>
            <a:headEnd len="med" w="med" type="none"/>
            <a:tailEnd len="med" w="med" type="none"/>
          </a:ln>
        </p:spPr>
      </p:cxnSp>
      <p:sp>
        <p:nvSpPr>
          <p:cNvPr id="783" name="Google Shape;783;p63"/>
          <p:cNvSpPr/>
          <p:nvPr/>
        </p:nvSpPr>
        <p:spPr>
          <a:xfrm>
            <a:off x="2830475" y="4628800"/>
            <a:ext cx="1677000" cy="41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u="sng"/>
              <a:t>:Customer</a:t>
            </a:r>
            <a:endParaRPr b="1" sz="1600" u="sng"/>
          </a:p>
        </p:txBody>
      </p:sp>
      <p:sp>
        <p:nvSpPr>
          <p:cNvPr id="784" name="Google Shape;784;p63"/>
          <p:cNvSpPr/>
          <p:nvPr/>
        </p:nvSpPr>
        <p:spPr>
          <a:xfrm>
            <a:off x="2830475" y="5052750"/>
            <a:ext cx="1677000" cy="706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id = 11-22-333</a:t>
            </a:r>
            <a:endParaRPr sz="1600"/>
          </a:p>
          <a:p>
            <a:pPr indent="0" lvl="0" marL="0" rtl="0" algn="l">
              <a:spcBef>
                <a:spcPts val="0"/>
              </a:spcBef>
              <a:spcAft>
                <a:spcPts val="0"/>
              </a:spcAft>
              <a:buNone/>
            </a:pPr>
            <a:r>
              <a:rPr lang="en-GB" sz="1600"/>
              <a:t>active = true</a:t>
            </a:r>
            <a:endParaRPr sz="1600"/>
          </a:p>
        </p:txBody>
      </p:sp>
      <p:sp>
        <p:nvSpPr>
          <p:cNvPr id="785" name="Google Shape;785;p63"/>
          <p:cNvSpPr txBox="1"/>
          <p:nvPr/>
        </p:nvSpPr>
        <p:spPr>
          <a:xfrm>
            <a:off x="2708575" y="3818325"/>
            <a:ext cx="2008800" cy="58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latin typeface="Times New Roman"/>
                <a:ea typeface="Times New Roman"/>
                <a:cs typeface="Times New Roman"/>
                <a:sym typeface="Times New Roman"/>
              </a:rPr>
              <a:t>Đối tượng không tên (thuộc lớp </a:t>
            </a:r>
            <a:r>
              <a:rPr lang="en-GB" sz="1600">
                <a:latin typeface="Times New Roman"/>
                <a:ea typeface="Times New Roman"/>
                <a:cs typeface="Times New Roman"/>
                <a:sym typeface="Times New Roman"/>
              </a:rPr>
              <a:t>Customer</a:t>
            </a:r>
            <a:r>
              <a:rPr i="1" lang="en-GB" sz="1600">
                <a:latin typeface="Times New Roman"/>
                <a:ea typeface="Times New Roman"/>
                <a:cs typeface="Times New Roman"/>
                <a:sym typeface="Times New Roman"/>
              </a:rPr>
              <a:t>)</a:t>
            </a:r>
            <a:endParaRPr i="1" sz="1600">
              <a:latin typeface="Times New Roman"/>
              <a:ea typeface="Times New Roman"/>
              <a:cs typeface="Times New Roman"/>
              <a:sym typeface="Times New Roman"/>
            </a:endParaRPr>
          </a:p>
        </p:txBody>
      </p:sp>
      <p:cxnSp>
        <p:nvCxnSpPr>
          <p:cNvPr id="786" name="Google Shape;786;p63"/>
          <p:cNvCxnSpPr>
            <a:stCxn id="783" idx="0"/>
          </p:cNvCxnSpPr>
          <p:nvPr/>
        </p:nvCxnSpPr>
        <p:spPr>
          <a:xfrm rot="10800000">
            <a:off x="3509675" y="4361500"/>
            <a:ext cx="159300" cy="267300"/>
          </a:xfrm>
          <a:prstGeom prst="straightConnector1">
            <a:avLst/>
          </a:prstGeom>
          <a:noFill/>
          <a:ln cap="flat" cmpd="sng" w="9525">
            <a:solidFill>
              <a:schemeClr val="dk2"/>
            </a:solidFill>
            <a:prstDash val="dash"/>
            <a:round/>
            <a:headEnd len="med" w="med" type="none"/>
            <a:tailEnd len="med" w="med" type="none"/>
          </a:ln>
        </p:spPr>
      </p:cxnSp>
      <p:sp>
        <p:nvSpPr>
          <p:cNvPr id="787" name="Google Shape;787;p63"/>
          <p:cNvSpPr/>
          <p:nvPr/>
        </p:nvSpPr>
        <p:spPr>
          <a:xfrm>
            <a:off x="4811675" y="4628800"/>
            <a:ext cx="1677000" cy="41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u="sng"/>
              <a:t>obj:</a:t>
            </a:r>
            <a:endParaRPr b="1" sz="1600" u="sng"/>
          </a:p>
        </p:txBody>
      </p:sp>
      <p:sp>
        <p:nvSpPr>
          <p:cNvPr id="788" name="Google Shape;788;p63"/>
          <p:cNvSpPr/>
          <p:nvPr/>
        </p:nvSpPr>
        <p:spPr>
          <a:xfrm>
            <a:off x="4811675" y="5052750"/>
            <a:ext cx="1677000" cy="706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id = 21-23-111</a:t>
            </a:r>
            <a:endParaRPr sz="1600"/>
          </a:p>
          <a:p>
            <a:pPr indent="0" lvl="0" marL="0" rtl="0" algn="l">
              <a:spcBef>
                <a:spcPts val="0"/>
              </a:spcBef>
              <a:spcAft>
                <a:spcPts val="0"/>
              </a:spcAft>
              <a:buNone/>
            </a:pPr>
            <a:r>
              <a:rPr lang="en-GB" sz="1600"/>
              <a:t>active = true</a:t>
            </a:r>
            <a:endParaRPr sz="1600"/>
          </a:p>
        </p:txBody>
      </p:sp>
      <p:sp>
        <p:nvSpPr>
          <p:cNvPr id="789" name="Google Shape;789;p63"/>
          <p:cNvSpPr txBox="1"/>
          <p:nvPr/>
        </p:nvSpPr>
        <p:spPr>
          <a:xfrm>
            <a:off x="4689775" y="3818325"/>
            <a:ext cx="2008800" cy="58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latin typeface="Times New Roman"/>
                <a:ea typeface="Times New Roman"/>
                <a:cs typeface="Times New Roman"/>
                <a:sym typeface="Times New Roman"/>
              </a:rPr>
              <a:t>Đối tượng không lớp (chưa xác định lớp)</a:t>
            </a:r>
            <a:endParaRPr i="1" sz="1600">
              <a:latin typeface="Times New Roman"/>
              <a:ea typeface="Times New Roman"/>
              <a:cs typeface="Times New Roman"/>
              <a:sym typeface="Times New Roman"/>
            </a:endParaRPr>
          </a:p>
        </p:txBody>
      </p:sp>
      <p:cxnSp>
        <p:nvCxnSpPr>
          <p:cNvPr id="790" name="Google Shape;790;p63"/>
          <p:cNvCxnSpPr>
            <a:stCxn id="787" idx="0"/>
          </p:cNvCxnSpPr>
          <p:nvPr/>
        </p:nvCxnSpPr>
        <p:spPr>
          <a:xfrm rot="10800000">
            <a:off x="5490875" y="4361500"/>
            <a:ext cx="159300" cy="267300"/>
          </a:xfrm>
          <a:prstGeom prst="straightConnector1">
            <a:avLst/>
          </a:prstGeom>
          <a:noFill/>
          <a:ln cap="flat" cmpd="sng" w="9525">
            <a:solidFill>
              <a:schemeClr val="dk2"/>
            </a:solidFill>
            <a:prstDash val="dash"/>
            <a:round/>
            <a:headEnd len="med" w="med" type="none"/>
            <a:tailEnd len="med" w="med" type="none"/>
          </a:ln>
        </p:spPr>
      </p:cxnSp>
      <p:sp>
        <p:nvSpPr>
          <p:cNvPr id="791" name="Google Shape;791;p63"/>
          <p:cNvSpPr/>
          <p:nvPr/>
        </p:nvSpPr>
        <p:spPr>
          <a:xfrm>
            <a:off x="837451" y="4859622"/>
            <a:ext cx="1440900" cy="706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id = 001</a:t>
            </a:r>
            <a:endParaRPr sz="1600"/>
          </a:p>
          <a:p>
            <a:pPr indent="0" lvl="0" marL="0" rtl="0" algn="l">
              <a:spcBef>
                <a:spcPts val="0"/>
              </a:spcBef>
              <a:spcAft>
                <a:spcPts val="0"/>
              </a:spcAft>
              <a:buNone/>
            </a:pPr>
            <a:r>
              <a:rPr lang="en-GB" sz="1600"/>
              <a:t>attrib = value</a:t>
            </a:r>
            <a:endParaRPr sz="1600"/>
          </a:p>
        </p:txBody>
      </p:sp>
      <p:sp>
        <p:nvSpPr>
          <p:cNvPr id="792" name="Google Shape;792;p63"/>
          <p:cNvSpPr/>
          <p:nvPr/>
        </p:nvSpPr>
        <p:spPr>
          <a:xfrm>
            <a:off x="6869075" y="4552600"/>
            <a:ext cx="1677000" cy="41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u="sng"/>
              <a:t>:</a:t>
            </a:r>
            <a:endParaRPr b="1" sz="1600" u="sng"/>
          </a:p>
        </p:txBody>
      </p:sp>
      <p:sp>
        <p:nvSpPr>
          <p:cNvPr id="793" name="Google Shape;793;p63"/>
          <p:cNvSpPr/>
          <p:nvPr/>
        </p:nvSpPr>
        <p:spPr>
          <a:xfrm>
            <a:off x="6869075" y="4976550"/>
            <a:ext cx="1677000" cy="706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id = 01-12-131</a:t>
            </a:r>
            <a:endParaRPr sz="1600"/>
          </a:p>
          <a:p>
            <a:pPr indent="0" lvl="0" marL="0" rtl="0" algn="l">
              <a:spcBef>
                <a:spcPts val="0"/>
              </a:spcBef>
              <a:spcAft>
                <a:spcPts val="0"/>
              </a:spcAft>
              <a:buNone/>
            </a:pPr>
            <a:r>
              <a:rPr lang="en-GB" sz="1600"/>
              <a:t>active = true</a:t>
            </a:r>
            <a:endParaRPr sz="1600"/>
          </a:p>
        </p:txBody>
      </p:sp>
      <p:sp>
        <p:nvSpPr>
          <p:cNvPr id="794" name="Google Shape;794;p63"/>
          <p:cNvSpPr txBox="1"/>
          <p:nvPr/>
        </p:nvSpPr>
        <p:spPr>
          <a:xfrm>
            <a:off x="6747175" y="3818325"/>
            <a:ext cx="2008800" cy="58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latin typeface="Times New Roman"/>
                <a:ea typeface="Times New Roman"/>
                <a:cs typeface="Times New Roman"/>
                <a:sym typeface="Times New Roman"/>
              </a:rPr>
              <a:t>Đối tượng không tên không lớp</a:t>
            </a:r>
            <a:endParaRPr i="1" sz="1600">
              <a:latin typeface="Times New Roman"/>
              <a:ea typeface="Times New Roman"/>
              <a:cs typeface="Times New Roman"/>
              <a:sym typeface="Times New Roman"/>
            </a:endParaRPr>
          </a:p>
        </p:txBody>
      </p:sp>
      <p:cxnSp>
        <p:nvCxnSpPr>
          <p:cNvPr id="795" name="Google Shape;795;p63"/>
          <p:cNvCxnSpPr/>
          <p:nvPr/>
        </p:nvCxnSpPr>
        <p:spPr>
          <a:xfrm rot="10800000">
            <a:off x="7354025" y="4361500"/>
            <a:ext cx="159300" cy="267300"/>
          </a:xfrm>
          <a:prstGeom prst="straightConnector1">
            <a:avLst/>
          </a:prstGeom>
          <a:noFill/>
          <a:ln cap="flat" cmpd="sng" w="9525">
            <a:solidFill>
              <a:schemeClr val="dk2"/>
            </a:solidFill>
            <a:prstDash val="dash"/>
            <a:round/>
            <a:headEnd len="med" w="med" type="none"/>
            <a:tailEnd len="med" w="med" type="none"/>
          </a:ln>
        </p:spPr>
      </p:cxnSp>
      <p:sp>
        <p:nvSpPr>
          <p:cNvPr id="796" name="Google Shape;796;p63"/>
          <p:cNvSpPr/>
          <p:nvPr/>
        </p:nvSpPr>
        <p:spPr>
          <a:xfrm>
            <a:off x="2284775" y="1959250"/>
            <a:ext cx="1764900" cy="41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b="1" lang="en-GB" sz="1600" u="sng"/>
              <a:t>w</a:t>
            </a:r>
            <a:r>
              <a:rPr b="1" lang="en-GB" sz="1600" u="sng"/>
              <a:t>:</a:t>
            </a:r>
            <a:r>
              <a:rPr b="1" lang="en-GB" sz="1600" u="sng"/>
              <a:t>Window</a:t>
            </a:r>
            <a:endParaRPr b="1" sz="1600" u="sng"/>
          </a:p>
        </p:txBody>
      </p:sp>
      <p:sp>
        <p:nvSpPr>
          <p:cNvPr id="797" name="Google Shape;797;p63"/>
          <p:cNvSpPr/>
          <p:nvPr/>
        </p:nvSpPr>
        <p:spPr>
          <a:xfrm>
            <a:off x="2284775" y="2383200"/>
            <a:ext cx="1764900" cy="706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54000" lIns="91425" spcFirstLastPara="1" rIns="91425" wrap="square" tIns="54000">
            <a:noAutofit/>
          </a:bodyPr>
          <a:lstStyle/>
          <a:p>
            <a:pPr indent="0" lvl="0" marL="0" rtl="0" algn="l">
              <a:spcBef>
                <a:spcPts val="0"/>
              </a:spcBef>
              <a:spcAft>
                <a:spcPts val="0"/>
              </a:spcAft>
              <a:buNone/>
            </a:pPr>
            <a:r>
              <a:rPr lang="en-GB" sz="1600"/>
              <a:t>size</a:t>
            </a:r>
            <a:r>
              <a:rPr lang="en-GB" sz="1600"/>
              <a:t> = (</a:t>
            </a:r>
            <a:r>
              <a:rPr lang="en-GB" sz="1600"/>
              <a:t>100, 200)</a:t>
            </a:r>
            <a:endParaRPr sz="1600"/>
          </a:p>
          <a:p>
            <a:pPr indent="0" lvl="0" marL="0" rtl="0" algn="l">
              <a:spcBef>
                <a:spcPts val="0"/>
              </a:spcBef>
              <a:spcAft>
                <a:spcPts val="0"/>
              </a:spcAft>
              <a:buNone/>
            </a:pPr>
            <a:r>
              <a:rPr lang="en-GB" sz="1600"/>
              <a:t>visible</a:t>
            </a:r>
            <a:r>
              <a:rPr lang="en-GB" sz="1600"/>
              <a:t> = true</a:t>
            </a:r>
            <a:endParaRPr sz="1600"/>
          </a:p>
        </p:txBody>
      </p:sp>
      <p:sp>
        <p:nvSpPr>
          <p:cNvPr id="798" name="Google Shape;798;p63"/>
          <p:cNvSpPr/>
          <p:nvPr/>
        </p:nvSpPr>
        <p:spPr>
          <a:xfrm>
            <a:off x="5790375" y="1703000"/>
            <a:ext cx="1548600" cy="41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b="1" lang="en-GB" sz="1600" u="sng"/>
              <a:t>obj:</a:t>
            </a:r>
            <a:endParaRPr b="1" sz="1600" u="sng"/>
          </a:p>
        </p:txBody>
      </p:sp>
      <p:sp>
        <p:nvSpPr>
          <p:cNvPr id="799" name="Google Shape;799;p63"/>
          <p:cNvSpPr/>
          <p:nvPr/>
        </p:nvSpPr>
        <p:spPr>
          <a:xfrm>
            <a:off x="5790375" y="2126950"/>
            <a:ext cx="1548600" cy="706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54000" lIns="91425" spcFirstLastPara="1" rIns="91425" wrap="square" tIns="54000">
            <a:noAutofit/>
          </a:bodyPr>
          <a:lstStyle/>
          <a:p>
            <a:pPr indent="0" lvl="0" marL="0" rtl="0" algn="l">
              <a:spcBef>
                <a:spcPts val="0"/>
              </a:spcBef>
              <a:spcAft>
                <a:spcPts val="0"/>
              </a:spcAft>
              <a:buNone/>
            </a:pPr>
            <a:r>
              <a:rPr lang="en-GB" sz="1600"/>
              <a:t>size</a:t>
            </a:r>
            <a:endParaRPr sz="1600"/>
          </a:p>
          <a:p>
            <a:pPr indent="0" lvl="0" marL="0" rtl="0" algn="l">
              <a:spcBef>
                <a:spcPts val="0"/>
              </a:spcBef>
              <a:spcAft>
                <a:spcPts val="0"/>
              </a:spcAft>
              <a:buNone/>
            </a:pPr>
            <a:r>
              <a:rPr lang="en-GB" sz="1600"/>
              <a:t>visible</a:t>
            </a:r>
            <a:endParaRPr sz="1600"/>
          </a:p>
        </p:txBody>
      </p:sp>
      <p:sp>
        <p:nvSpPr>
          <p:cNvPr id="800" name="Google Shape;800;p63"/>
          <p:cNvSpPr/>
          <p:nvPr/>
        </p:nvSpPr>
        <p:spPr>
          <a:xfrm>
            <a:off x="5790375" y="2824575"/>
            <a:ext cx="1548600" cy="706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54000" lIns="91425" spcFirstLastPara="1" rIns="91425" wrap="square" tIns="54000">
            <a:noAutofit/>
          </a:bodyPr>
          <a:lstStyle/>
          <a:p>
            <a:pPr indent="0" lvl="0" marL="0" rtl="0" algn="l">
              <a:spcBef>
                <a:spcPts val="0"/>
              </a:spcBef>
              <a:spcAft>
                <a:spcPts val="0"/>
              </a:spcAft>
              <a:buNone/>
            </a:pPr>
            <a:r>
              <a:rPr lang="en-GB" sz="1600"/>
              <a:t>display()</a:t>
            </a:r>
            <a:endParaRPr sz="1600"/>
          </a:p>
          <a:p>
            <a:pPr indent="0" lvl="0" marL="0" rtl="0" algn="l">
              <a:spcBef>
                <a:spcPts val="0"/>
              </a:spcBef>
              <a:spcAft>
                <a:spcPts val="0"/>
              </a:spcAft>
              <a:buNone/>
            </a:pPr>
            <a:r>
              <a:rPr lang="en-GB" sz="1600"/>
              <a:t>hide()</a:t>
            </a:r>
            <a:endParaRPr sz="16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6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06" name="Google Shape;806;p64"/>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3.14. Sơ đồ đối tượng</a:t>
            </a:r>
            <a:endParaRPr baseline="-25000"/>
          </a:p>
        </p:txBody>
      </p:sp>
      <p:sp>
        <p:nvSpPr>
          <p:cNvPr id="807" name="Google Shape;807;p64"/>
          <p:cNvSpPr/>
          <p:nvPr/>
        </p:nvSpPr>
        <p:spPr>
          <a:xfrm>
            <a:off x="2001900" y="1714825"/>
            <a:ext cx="1440900" cy="41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u="sng"/>
              <a:t>c</a:t>
            </a:r>
            <a:r>
              <a:rPr b="1" lang="en-GB" sz="1600" u="sng"/>
              <a:t>:</a:t>
            </a:r>
            <a:r>
              <a:rPr b="1" lang="en-GB" sz="1600" u="sng"/>
              <a:t>Company</a:t>
            </a:r>
            <a:endParaRPr b="1" sz="1600" u="sng"/>
          </a:p>
        </p:txBody>
      </p:sp>
      <p:sp>
        <p:nvSpPr>
          <p:cNvPr id="808" name="Google Shape;808;p64"/>
          <p:cNvSpPr/>
          <p:nvPr/>
        </p:nvSpPr>
        <p:spPr>
          <a:xfrm>
            <a:off x="630300" y="2476825"/>
            <a:ext cx="1669500" cy="41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u="sng"/>
              <a:t>sd:Department</a:t>
            </a:r>
            <a:endParaRPr b="1" sz="1600" u="sng"/>
          </a:p>
        </p:txBody>
      </p:sp>
      <p:sp>
        <p:nvSpPr>
          <p:cNvPr id="809" name="Google Shape;809;p64"/>
          <p:cNvSpPr/>
          <p:nvPr/>
        </p:nvSpPr>
        <p:spPr>
          <a:xfrm>
            <a:off x="630300" y="2900775"/>
            <a:ext cx="1669500" cy="5247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name = ”Sales"</a:t>
            </a:r>
            <a:endParaRPr sz="1600"/>
          </a:p>
        </p:txBody>
      </p:sp>
      <p:sp>
        <p:nvSpPr>
          <p:cNvPr id="810" name="Google Shape;810;p64"/>
          <p:cNvSpPr/>
          <p:nvPr/>
        </p:nvSpPr>
        <p:spPr>
          <a:xfrm>
            <a:off x="2903925" y="2476825"/>
            <a:ext cx="1758000" cy="41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u="sng"/>
              <a:t>rdd</a:t>
            </a:r>
            <a:r>
              <a:rPr b="1" lang="en-GB" sz="1600" u="sng"/>
              <a:t>:Department</a:t>
            </a:r>
            <a:endParaRPr b="1" sz="1600" u="sng"/>
          </a:p>
        </p:txBody>
      </p:sp>
      <p:sp>
        <p:nvSpPr>
          <p:cNvPr id="811" name="Google Shape;811;p64"/>
          <p:cNvSpPr/>
          <p:nvPr/>
        </p:nvSpPr>
        <p:spPr>
          <a:xfrm>
            <a:off x="2903925" y="2900775"/>
            <a:ext cx="1758000" cy="5247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name = ”</a:t>
            </a:r>
            <a:r>
              <a:rPr lang="en-GB" sz="1600"/>
              <a:t>R&amp;D</a:t>
            </a:r>
            <a:r>
              <a:rPr lang="en-GB" sz="1600"/>
              <a:t>"</a:t>
            </a:r>
            <a:endParaRPr sz="1600"/>
          </a:p>
        </p:txBody>
      </p:sp>
      <p:sp>
        <p:nvSpPr>
          <p:cNvPr id="812" name="Google Shape;812;p64"/>
          <p:cNvSpPr/>
          <p:nvPr/>
        </p:nvSpPr>
        <p:spPr>
          <a:xfrm>
            <a:off x="5964300" y="2400625"/>
            <a:ext cx="2715600" cy="41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u="sng"/>
              <a:t>nva</a:t>
            </a:r>
            <a:r>
              <a:rPr b="1" lang="en-GB" sz="1600" u="sng"/>
              <a:t>:Department</a:t>
            </a:r>
            <a:endParaRPr b="1" sz="1600" u="sng"/>
          </a:p>
        </p:txBody>
      </p:sp>
      <p:sp>
        <p:nvSpPr>
          <p:cNvPr id="813" name="Google Shape;813;p64"/>
          <p:cNvSpPr/>
          <p:nvPr/>
        </p:nvSpPr>
        <p:spPr>
          <a:xfrm>
            <a:off x="5964300" y="2824575"/>
            <a:ext cx="2715600" cy="6537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name = ”</a:t>
            </a:r>
            <a:r>
              <a:rPr lang="en-GB" sz="1600"/>
              <a:t>Nguyen Van A</a:t>
            </a:r>
            <a:r>
              <a:rPr lang="en-GB" sz="1600"/>
              <a:t>"</a:t>
            </a:r>
            <a:endParaRPr sz="1600"/>
          </a:p>
          <a:p>
            <a:pPr indent="0" lvl="0" marL="0" rtl="0" algn="l">
              <a:spcBef>
                <a:spcPts val="0"/>
              </a:spcBef>
              <a:spcAft>
                <a:spcPts val="0"/>
              </a:spcAft>
              <a:buNone/>
            </a:pPr>
            <a:r>
              <a:rPr lang="en-GB" sz="1600"/>
              <a:t>title = “President of R&amp;D"</a:t>
            </a:r>
            <a:endParaRPr sz="1600"/>
          </a:p>
        </p:txBody>
      </p:sp>
      <p:cxnSp>
        <p:nvCxnSpPr>
          <p:cNvPr id="814" name="Google Shape;814;p64"/>
          <p:cNvCxnSpPr>
            <a:stCxn id="808" idx="0"/>
          </p:cNvCxnSpPr>
          <p:nvPr/>
        </p:nvCxnSpPr>
        <p:spPr>
          <a:xfrm flipH="1" rot="10800000">
            <a:off x="1465050" y="2120725"/>
            <a:ext cx="948900" cy="356100"/>
          </a:xfrm>
          <a:prstGeom prst="straightConnector1">
            <a:avLst/>
          </a:prstGeom>
          <a:noFill/>
          <a:ln cap="flat" cmpd="sng" w="9525">
            <a:solidFill>
              <a:schemeClr val="dk2"/>
            </a:solidFill>
            <a:prstDash val="solid"/>
            <a:round/>
            <a:headEnd len="med" w="med" type="none"/>
            <a:tailEnd len="med" w="med" type="none"/>
          </a:ln>
        </p:spPr>
      </p:cxnSp>
      <p:cxnSp>
        <p:nvCxnSpPr>
          <p:cNvPr id="815" name="Google Shape;815;p64"/>
          <p:cNvCxnSpPr>
            <a:stCxn id="810" idx="0"/>
          </p:cNvCxnSpPr>
          <p:nvPr/>
        </p:nvCxnSpPr>
        <p:spPr>
          <a:xfrm rot="10800000">
            <a:off x="2928225" y="2131825"/>
            <a:ext cx="854700" cy="345000"/>
          </a:xfrm>
          <a:prstGeom prst="straightConnector1">
            <a:avLst/>
          </a:prstGeom>
          <a:noFill/>
          <a:ln cap="flat" cmpd="sng" w="9525">
            <a:solidFill>
              <a:schemeClr val="dk2"/>
            </a:solidFill>
            <a:prstDash val="solid"/>
            <a:round/>
            <a:headEnd len="med" w="med" type="none"/>
            <a:tailEnd len="med" w="med" type="none"/>
          </a:ln>
        </p:spPr>
      </p:cxnSp>
      <p:cxnSp>
        <p:nvCxnSpPr>
          <p:cNvPr id="816" name="Google Shape;816;p64"/>
          <p:cNvCxnSpPr>
            <a:stCxn id="811" idx="3"/>
            <a:endCxn id="813" idx="1"/>
          </p:cNvCxnSpPr>
          <p:nvPr/>
        </p:nvCxnSpPr>
        <p:spPr>
          <a:xfrm flipH="1" rot="10800000">
            <a:off x="4661925" y="3151425"/>
            <a:ext cx="1302300" cy="11700"/>
          </a:xfrm>
          <a:prstGeom prst="straightConnector1">
            <a:avLst/>
          </a:prstGeom>
          <a:noFill/>
          <a:ln cap="flat" cmpd="sng" w="9525">
            <a:solidFill>
              <a:schemeClr val="dk2"/>
            </a:solidFill>
            <a:prstDash val="solid"/>
            <a:round/>
            <a:headEnd len="med" w="med" type="none"/>
            <a:tailEnd len="med" w="med" type="none"/>
          </a:ln>
        </p:spPr>
      </p:cxnSp>
      <p:sp>
        <p:nvSpPr>
          <p:cNvPr id="817" name="Google Shape;817;p64"/>
          <p:cNvSpPr txBox="1"/>
          <p:nvPr/>
        </p:nvSpPr>
        <p:spPr>
          <a:xfrm>
            <a:off x="5131650" y="2784525"/>
            <a:ext cx="948900" cy="34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manager</a:t>
            </a:r>
            <a:endParaRPr sz="1600">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65"/>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a:t>
            </a:r>
            <a:r>
              <a:rPr lang="en-GB"/>
              <a:t> thực thể liên kết vs. </a:t>
            </a:r>
            <a:r>
              <a:rPr lang="en-GB"/>
              <a:t>Sơ đồ lớp</a:t>
            </a:r>
            <a:endParaRPr/>
          </a:p>
        </p:txBody>
      </p:sp>
      <p:sp>
        <p:nvSpPr>
          <p:cNvPr id="823" name="Google Shape;823;p6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24" name="Google Shape;824;p65"/>
          <p:cNvSpPr txBox="1"/>
          <p:nvPr>
            <p:ph idx="1" type="body"/>
          </p:nvPr>
        </p:nvSpPr>
        <p:spPr>
          <a:xfrm>
            <a:off x="311700" y="910800"/>
            <a:ext cx="8520600" cy="56445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Tổng quan:</a:t>
            </a:r>
            <a:endParaRPr/>
          </a:p>
          <a:p>
            <a:pPr indent="-368300" lvl="1" marL="914400" rtl="0" algn="l">
              <a:spcBef>
                <a:spcPts val="0"/>
              </a:spcBef>
              <a:spcAft>
                <a:spcPts val="0"/>
              </a:spcAft>
              <a:buSzPts val="2200"/>
              <a:buChar char="○"/>
            </a:pPr>
            <a:r>
              <a:rPr lang="en-GB"/>
              <a:t>Sơ đồ</a:t>
            </a:r>
            <a:r>
              <a:rPr lang="en-GB"/>
              <a:t> thực thể-liên kết (ERD) mô tả các kiểu thực thể cùng với quan hệ giữa các thực thể.</a:t>
            </a:r>
            <a:endParaRPr/>
          </a:p>
          <a:p>
            <a:pPr indent="-342900" lvl="2" marL="1371600" rtl="0" algn="l">
              <a:spcBef>
                <a:spcPts val="0"/>
              </a:spcBef>
              <a:spcAft>
                <a:spcPts val="0"/>
              </a:spcAft>
              <a:buSzPts val="1800"/>
              <a:buChar char="■"/>
            </a:pPr>
            <a:r>
              <a:rPr lang="en-GB"/>
              <a:t>Có nhiều hệ ký hiệu khác nhau;</a:t>
            </a:r>
            <a:endParaRPr/>
          </a:p>
          <a:p>
            <a:pPr indent="-342900" lvl="2" marL="1371600" rtl="0" algn="l">
              <a:spcBef>
                <a:spcPts val="0"/>
              </a:spcBef>
              <a:spcAft>
                <a:spcPts val="0"/>
              </a:spcAft>
              <a:buSzPts val="1800"/>
              <a:buChar char="■"/>
            </a:pPr>
            <a:r>
              <a:rPr lang="en-GB"/>
              <a:t>Thường được sử dụng trong thiết kế CSDL quan hệ.</a:t>
            </a:r>
            <a:endParaRPr/>
          </a:p>
          <a:p>
            <a:pPr indent="-368300" lvl="1" marL="914400" rtl="0" algn="l">
              <a:spcBef>
                <a:spcPts val="0"/>
              </a:spcBef>
              <a:spcAft>
                <a:spcPts val="0"/>
              </a:spcAft>
              <a:buSzPts val="2200"/>
              <a:buChar char="○"/>
            </a:pPr>
            <a:r>
              <a:rPr lang="en-GB"/>
              <a:t>Sơ đồ</a:t>
            </a:r>
            <a:r>
              <a:rPr lang="en-GB"/>
              <a:t> lớp mô tả các lớp cùng với quan hệ giữa các đối tượng.</a:t>
            </a:r>
            <a:endParaRPr/>
          </a:p>
          <a:p>
            <a:pPr indent="-342900" lvl="2" marL="1371600" rtl="0" algn="l">
              <a:spcBef>
                <a:spcPts val="0"/>
              </a:spcBef>
              <a:spcAft>
                <a:spcPts val="0"/>
              </a:spcAft>
              <a:buSzPts val="1800"/>
              <a:buChar char="■"/>
            </a:pPr>
            <a:r>
              <a:rPr lang="en-GB"/>
              <a:t>Là 1 </a:t>
            </a:r>
            <a:r>
              <a:rPr lang="en-GB"/>
              <a:t>sơ đồ</a:t>
            </a:r>
            <a:r>
              <a:rPr lang="en-GB"/>
              <a:t> UML, hệ ký hiệu trong quy chuẩn quốc tế.</a:t>
            </a:r>
            <a:endParaRPr/>
          </a:p>
          <a:p>
            <a:pPr indent="-342900" lvl="2" marL="1371600" rtl="0" algn="l">
              <a:spcBef>
                <a:spcPts val="0"/>
              </a:spcBef>
              <a:spcAft>
                <a:spcPts val="0"/>
              </a:spcAft>
              <a:buSzPts val="1800"/>
              <a:buChar char="■"/>
            </a:pPr>
            <a:r>
              <a:rPr lang="en-GB"/>
              <a:t>Được sử dụng cho nhiều mục đích như mô hình hóa lĩnh vực, biểu diễn mô hình dữ liệu hướng đối tượng.</a:t>
            </a:r>
            <a:endParaRPr/>
          </a:p>
          <a:p>
            <a:pPr indent="-381000" lvl="0" marL="457200" rtl="0" algn="l">
              <a:spcBef>
                <a:spcPts val="0"/>
              </a:spcBef>
              <a:spcAft>
                <a:spcPts val="0"/>
              </a:spcAft>
              <a:buSzPts val="2400"/>
              <a:buChar char="●"/>
            </a:pPr>
            <a:r>
              <a:rPr lang="en-GB"/>
              <a:t>Phạm vi diễn đạt:</a:t>
            </a:r>
            <a:endParaRPr/>
          </a:p>
          <a:p>
            <a:pPr indent="-368300" lvl="1" marL="914400" rtl="0" algn="l">
              <a:spcBef>
                <a:spcPts val="0"/>
              </a:spcBef>
              <a:spcAft>
                <a:spcPts val="0"/>
              </a:spcAft>
              <a:buSzPts val="2200"/>
              <a:buChar char="○"/>
            </a:pPr>
            <a:r>
              <a:rPr lang="en-GB"/>
              <a:t>S</a:t>
            </a:r>
            <a:r>
              <a:rPr lang="en-GB"/>
              <a:t>ơ đồ</a:t>
            </a:r>
            <a:r>
              <a:rPr lang="en-GB"/>
              <a:t> lớp có khả năng diễn đạt mạnh hơn. Có thể </a:t>
            </a:r>
            <a:r>
              <a:rPr lang="en-GB"/>
              <a:t>bảo toàn ý nghĩa khi </a:t>
            </a:r>
            <a:r>
              <a:rPr lang="en-GB"/>
              <a:t>chuyển đổi </a:t>
            </a:r>
            <a:r>
              <a:rPr lang="en-GB"/>
              <a:t>sơ đồ</a:t>
            </a:r>
            <a:r>
              <a:rPr lang="en-GB"/>
              <a:t> thực thể-liên kết sang </a:t>
            </a:r>
            <a:r>
              <a:rPr lang="en-GB"/>
              <a:t>sơ đồ</a:t>
            </a:r>
            <a:r>
              <a:rPr lang="en-GB"/>
              <a:t> lớp.</a:t>
            </a:r>
            <a:endParaRPr/>
          </a:p>
          <a:p>
            <a:pPr indent="-342900" lvl="2" marL="1371600" rtl="0" algn="l">
              <a:spcBef>
                <a:spcPts val="0"/>
              </a:spcBef>
              <a:spcAft>
                <a:spcPts val="0"/>
              </a:spcAft>
              <a:buSzPts val="1800"/>
              <a:buChar char="■"/>
            </a:pPr>
            <a:r>
              <a:rPr lang="en-GB"/>
              <a:t>Kiểu thực thể =&gt; Lớp lĩnh vực chỉ chứa thuộc tính, không có phương thức.</a:t>
            </a:r>
            <a:endParaRPr/>
          </a:p>
          <a:p>
            <a:pPr indent="-342900" lvl="2" marL="1371600" rtl="0" algn="l">
              <a:spcBef>
                <a:spcPts val="0"/>
              </a:spcBef>
              <a:spcAft>
                <a:spcPts val="0"/>
              </a:spcAft>
              <a:buSzPts val="1800"/>
              <a:buChar char="■"/>
            </a:pPr>
            <a:r>
              <a:rPr lang="en-GB"/>
              <a:t>Liên kết =&gt; Liên kết</a:t>
            </a:r>
            <a:endParaRPr/>
          </a:p>
          <a:p>
            <a:pPr indent="-342900" lvl="2" marL="1371600" rtl="0" algn="l">
              <a:spcBef>
                <a:spcPts val="0"/>
              </a:spcBef>
              <a:spcAft>
                <a:spcPts val="0"/>
              </a:spcAft>
              <a:buSzPts val="1800"/>
              <a:buChar char="■"/>
            </a:pPr>
            <a:r>
              <a:rPr lang="en-GB"/>
              <a:t>Thực thể liên kết =&gt; Lớp liên kết.</a:t>
            </a:r>
            <a:endParaRPr/>
          </a:p>
          <a:p>
            <a:pPr indent="-342900" lvl="2" marL="1371600" rtl="0" algn="l">
              <a:spcBef>
                <a:spcPts val="0"/>
              </a:spcBef>
              <a:spcAft>
                <a:spcPts val="0"/>
              </a:spcAft>
              <a:buSzPts val="1800"/>
              <a:buChar char="■"/>
            </a:pPr>
            <a:r>
              <a:rPr lang="en-GB"/>
              <a:t>v.v..</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66"/>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Phân loại thuộc tính</a:t>
            </a:r>
            <a:endParaRPr/>
          </a:p>
        </p:txBody>
      </p:sp>
      <p:sp>
        <p:nvSpPr>
          <p:cNvPr id="830" name="Google Shape;830;p66"/>
          <p:cNvSpPr txBox="1"/>
          <p:nvPr>
            <p:ph idx="1" type="body"/>
          </p:nvPr>
        </p:nvSpPr>
        <p:spPr>
          <a:xfrm>
            <a:off x="311700" y="910800"/>
            <a:ext cx="8520600" cy="5654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Khóa</a:t>
            </a:r>
            <a:endParaRPr/>
          </a:p>
          <a:p>
            <a:pPr indent="-368300" lvl="1" marL="914400" rtl="0" algn="l">
              <a:spcBef>
                <a:spcPts val="0"/>
              </a:spcBef>
              <a:spcAft>
                <a:spcPts val="0"/>
              </a:spcAft>
              <a:buSzPts val="2200"/>
              <a:buChar char="○"/>
            </a:pPr>
            <a:r>
              <a:rPr lang="en-GB"/>
              <a:t>Một/bộ giá trị của 1/nhóm thuộc tính khóa xác định duy nhất 1 đối tượng. </a:t>
            </a:r>
            <a:endParaRPr/>
          </a:p>
          <a:p>
            <a:pPr indent="-368300" lvl="1" marL="914400" rtl="0" algn="l">
              <a:spcBef>
                <a:spcPts val="0"/>
              </a:spcBef>
              <a:spcAft>
                <a:spcPts val="0"/>
              </a:spcAft>
              <a:buSzPts val="2200"/>
              <a:buChar char="○"/>
            </a:pPr>
            <a:r>
              <a:rPr lang="en-GB"/>
              <a:t>Ví dụ mỗi mã khách hàng xác định đúng 1 khách hàng.</a:t>
            </a:r>
            <a:endParaRPr/>
          </a:p>
          <a:p>
            <a:pPr indent="-381000" lvl="0" marL="457200" rtl="0" algn="l">
              <a:spcBef>
                <a:spcPts val="0"/>
              </a:spcBef>
              <a:spcAft>
                <a:spcPts val="0"/>
              </a:spcAft>
              <a:buSzPts val="2400"/>
              <a:buChar char="●"/>
            </a:pPr>
            <a:r>
              <a:rPr lang="en-GB"/>
              <a:t>Thuộc tính đơn trị</a:t>
            </a:r>
            <a:endParaRPr/>
          </a:p>
          <a:p>
            <a:pPr indent="-368300" lvl="1" marL="914400" rtl="0" algn="l">
              <a:spcBef>
                <a:spcPts val="0"/>
              </a:spcBef>
              <a:spcAft>
                <a:spcPts val="0"/>
              </a:spcAft>
              <a:buSzPts val="2200"/>
              <a:buChar char="○"/>
            </a:pPr>
            <a:r>
              <a:rPr lang="en-GB"/>
              <a:t>Giá trị của thuộc tính không được chia nhỏ thành các thành phần dữ liệu nhỏ hơn nữa.</a:t>
            </a:r>
            <a:endParaRPr/>
          </a:p>
          <a:p>
            <a:pPr indent="-368300" lvl="1" marL="914400" rtl="0" algn="l">
              <a:spcBef>
                <a:spcPts val="0"/>
              </a:spcBef>
              <a:spcAft>
                <a:spcPts val="0"/>
              </a:spcAft>
              <a:buSzPts val="2200"/>
              <a:buChar char="○"/>
            </a:pPr>
            <a:r>
              <a:rPr lang="en-GB"/>
              <a:t>Ví dụ, số lượng sản phẩm là 1 số nguyên.</a:t>
            </a:r>
            <a:endParaRPr/>
          </a:p>
          <a:p>
            <a:pPr indent="-381000" lvl="0" marL="457200" rtl="0" algn="l">
              <a:spcBef>
                <a:spcPts val="0"/>
              </a:spcBef>
              <a:spcAft>
                <a:spcPts val="0"/>
              </a:spcAft>
              <a:buSzPts val="2400"/>
              <a:buChar char="●"/>
            </a:pPr>
            <a:r>
              <a:rPr lang="en-GB"/>
              <a:t>Thuộc tính đa trị</a:t>
            </a:r>
            <a:endParaRPr/>
          </a:p>
          <a:p>
            <a:pPr indent="-368300" lvl="1" marL="914400" rtl="0" algn="l">
              <a:spcBef>
                <a:spcPts val="0"/>
              </a:spcBef>
              <a:spcAft>
                <a:spcPts val="0"/>
              </a:spcAft>
              <a:buSzPts val="2200"/>
              <a:buChar char="○"/>
            </a:pPr>
            <a:r>
              <a:rPr lang="en-GB"/>
              <a:t>Bao gồm nhiều thành phần dữ liệu nhỏ hơn. </a:t>
            </a:r>
            <a:endParaRPr/>
          </a:p>
          <a:p>
            <a:pPr indent="-368300" lvl="1" marL="914400" rtl="0" algn="l">
              <a:spcBef>
                <a:spcPts val="0"/>
              </a:spcBef>
              <a:spcAft>
                <a:spcPts val="0"/>
              </a:spcAft>
              <a:buSzPts val="2200"/>
              <a:buChar char="○"/>
            </a:pPr>
            <a:r>
              <a:rPr lang="en-GB"/>
              <a:t>Ví dụ địa chỉ có thể bao gồm số nhà, đường phố, quận v.v..</a:t>
            </a:r>
            <a:endParaRPr/>
          </a:p>
          <a:p>
            <a:pPr indent="-381000" lvl="0" marL="457200" rtl="0" algn="l">
              <a:spcBef>
                <a:spcPts val="0"/>
              </a:spcBef>
              <a:spcAft>
                <a:spcPts val="0"/>
              </a:spcAft>
              <a:buSzPts val="2400"/>
              <a:buChar char="●"/>
            </a:pPr>
            <a:r>
              <a:rPr lang="en-GB"/>
              <a:t>Thuộc tính suy diễn</a:t>
            </a:r>
            <a:endParaRPr/>
          </a:p>
          <a:p>
            <a:pPr indent="-368300" lvl="1" marL="914400" rtl="0" algn="l">
              <a:spcBef>
                <a:spcPts val="0"/>
              </a:spcBef>
              <a:spcAft>
                <a:spcPts val="0"/>
              </a:spcAft>
              <a:buSzPts val="2200"/>
              <a:buChar char="○"/>
            </a:pPr>
            <a:r>
              <a:rPr lang="en-GB"/>
              <a:t>Có thể tính được từ những giá trị của các thuộc tính khác. </a:t>
            </a:r>
            <a:endParaRPr/>
          </a:p>
          <a:p>
            <a:pPr indent="-368300" lvl="1" marL="914400" rtl="0" algn="l">
              <a:spcBef>
                <a:spcPts val="0"/>
              </a:spcBef>
              <a:spcAft>
                <a:spcPts val="0"/>
              </a:spcAft>
              <a:buSzPts val="2200"/>
              <a:buChar char="○"/>
            </a:pPr>
            <a:r>
              <a:rPr lang="en-GB"/>
              <a:t>Ví dụ tuổi của khách hàng có thể được tính từ ngày sinh.</a:t>
            </a:r>
            <a:endParaRPr/>
          </a:p>
        </p:txBody>
      </p:sp>
      <p:sp>
        <p:nvSpPr>
          <p:cNvPr id="831" name="Google Shape;831;p6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67"/>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3.1</a:t>
            </a:r>
            <a:r>
              <a:rPr lang="en-GB"/>
              <a:t>5</a:t>
            </a:r>
            <a:r>
              <a:rPr lang="en-GB"/>
              <a:t>. ERD vs. </a:t>
            </a:r>
            <a:r>
              <a:rPr lang="en-GB"/>
              <a:t>sơ đồ</a:t>
            </a:r>
            <a:r>
              <a:rPr lang="en-GB"/>
              <a:t> lớp</a:t>
            </a:r>
            <a:endParaRPr/>
          </a:p>
        </p:txBody>
      </p:sp>
      <p:sp>
        <p:nvSpPr>
          <p:cNvPr id="837" name="Google Shape;837;p6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38" name="Google Shape;838;p67"/>
          <p:cNvSpPr/>
          <p:nvPr/>
        </p:nvSpPr>
        <p:spPr>
          <a:xfrm>
            <a:off x="4632602" y="1515025"/>
            <a:ext cx="1098000" cy="546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800"/>
              <a:t>DongCo</a:t>
            </a:r>
            <a:endParaRPr b="1" sz="1800"/>
          </a:p>
        </p:txBody>
      </p:sp>
      <p:sp>
        <p:nvSpPr>
          <p:cNvPr id="839" name="Google Shape;839;p67"/>
          <p:cNvSpPr/>
          <p:nvPr/>
        </p:nvSpPr>
        <p:spPr>
          <a:xfrm>
            <a:off x="7362773" y="1515025"/>
            <a:ext cx="1338300" cy="546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800"/>
              <a:t>OTo</a:t>
            </a:r>
            <a:endParaRPr b="1" sz="1800"/>
          </a:p>
        </p:txBody>
      </p:sp>
      <p:cxnSp>
        <p:nvCxnSpPr>
          <p:cNvPr id="840" name="Google Shape;840;p67"/>
          <p:cNvCxnSpPr>
            <a:stCxn id="838" idx="3"/>
            <a:endCxn id="839" idx="1"/>
          </p:cNvCxnSpPr>
          <p:nvPr/>
        </p:nvCxnSpPr>
        <p:spPr>
          <a:xfrm>
            <a:off x="5730602" y="1788325"/>
            <a:ext cx="1632300" cy="0"/>
          </a:xfrm>
          <a:prstGeom prst="straightConnector1">
            <a:avLst/>
          </a:prstGeom>
          <a:noFill/>
          <a:ln cap="flat" cmpd="sng" w="9525">
            <a:solidFill>
              <a:schemeClr val="dk2"/>
            </a:solidFill>
            <a:prstDash val="solid"/>
            <a:round/>
            <a:headEnd len="med" w="med" type="none"/>
            <a:tailEnd len="med" w="med" type="none"/>
          </a:ln>
        </p:spPr>
      </p:cxnSp>
      <p:sp>
        <p:nvSpPr>
          <p:cNvPr id="841" name="Google Shape;841;p67"/>
          <p:cNvSpPr txBox="1"/>
          <p:nvPr/>
        </p:nvSpPr>
        <p:spPr>
          <a:xfrm>
            <a:off x="5683156" y="1695363"/>
            <a:ext cx="4254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1</a:t>
            </a:r>
            <a:endParaRPr>
              <a:latin typeface="Times New Roman"/>
              <a:ea typeface="Times New Roman"/>
              <a:cs typeface="Times New Roman"/>
              <a:sym typeface="Times New Roman"/>
            </a:endParaRPr>
          </a:p>
        </p:txBody>
      </p:sp>
      <p:sp>
        <p:nvSpPr>
          <p:cNvPr id="842" name="Google Shape;842;p67"/>
          <p:cNvSpPr txBox="1"/>
          <p:nvPr/>
        </p:nvSpPr>
        <p:spPr>
          <a:xfrm>
            <a:off x="6871322" y="1695375"/>
            <a:ext cx="548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0..1</a:t>
            </a:r>
            <a:endParaRPr>
              <a:latin typeface="Times New Roman"/>
              <a:ea typeface="Times New Roman"/>
              <a:cs typeface="Times New Roman"/>
              <a:sym typeface="Times New Roman"/>
            </a:endParaRPr>
          </a:p>
        </p:txBody>
      </p:sp>
      <p:sp>
        <p:nvSpPr>
          <p:cNvPr id="843" name="Google Shape;843;p67"/>
          <p:cNvSpPr/>
          <p:nvPr/>
        </p:nvSpPr>
        <p:spPr>
          <a:xfrm>
            <a:off x="4691625" y="2429425"/>
            <a:ext cx="1197900" cy="546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800"/>
              <a:t>HocPhan</a:t>
            </a:r>
            <a:endParaRPr b="1" sz="1800"/>
          </a:p>
        </p:txBody>
      </p:sp>
      <p:sp>
        <p:nvSpPr>
          <p:cNvPr id="844" name="Google Shape;844;p67"/>
          <p:cNvSpPr/>
          <p:nvPr/>
        </p:nvSpPr>
        <p:spPr>
          <a:xfrm>
            <a:off x="7463263" y="2429413"/>
            <a:ext cx="1197900" cy="546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800"/>
              <a:t>Sach</a:t>
            </a:r>
            <a:r>
              <a:rPr b="1" lang="en-GB" sz="1800"/>
              <a:t>GT</a:t>
            </a:r>
            <a:endParaRPr b="1" sz="1800"/>
          </a:p>
        </p:txBody>
      </p:sp>
      <p:cxnSp>
        <p:nvCxnSpPr>
          <p:cNvPr id="845" name="Google Shape;845;p67"/>
          <p:cNvCxnSpPr>
            <a:stCxn id="843" idx="3"/>
            <a:endCxn id="844" idx="1"/>
          </p:cNvCxnSpPr>
          <p:nvPr/>
        </p:nvCxnSpPr>
        <p:spPr>
          <a:xfrm>
            <a:off x="5889525" y="2702725"/>
            <a:ext cx="1573800" cy="0"/>
          </a:xfrm>
          <a:prstGeom prst="straightConnector1">
            <a:avLst/>
          </a:prstGeom>
          <a:noFill/>
          <a:ln cap="flat" cmpd="sng" w="9525">
            <a:solidFill>
              <a:schemeClr val="dk2"/>
            </a:solidFill>
            <a:prstDash val="solid"/>
            <a:round/>
            <a:headEnd len="med" w="med" type="none"/>
            <a:tailEnd len="med" w="med" type="none"/>
          </a:ln>
        </p:spPr>
      </p:cxnSp>
      <p:sp>
        <p:nvSpPr>
          <p:cNvPr id="846" name="Google Shape;846;p67"/>
          <p:cNvSpPr txBox="1"/>
          <p:nvPr/>
        </p:nvSpPr>
        <p:spPr>
          <a:xfrm>
            <a:off x="5849777" y="2352588"/>
            <a:ext cx="1621500" cy="42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Sử dụng &gt;</a:t>
            </a:r>
            <a:endParaRPr>
              <a:latin typeface="Times New Roman"/>
              <a:ea typeface="Times New Roman"/>
              <a:cs typeface="Times New Roman"/>
              <a:sym typeface="Times New Roman"/>
            </a:endParaRPr>
          </a:p>
        </p:txBody>
      </p:sp>
      <p:sp>
        <p:nvSpPr>
          <p:cNvPr id="847" name="Google Shape;847;p67"/>
          <p:cNvSpPr txBox="1"/>
          <p:nvPr/>
        </p:nvSpPr>
        <p:spPr>
          <a:xfrm>
            <a:off x="5897163" y="2609763"/>
            <a:ext cx="627600" cy="424800"/>
          </a:xfrm>
          <a:prstGeom prst="rect">
            <a:avLst/>
          </a:prstGeom>
          <a:noFill/>
          <a:ln>
            <a:noFill/>
          </a:ln>
        </p:spPr>
        <p:txBody>
          <a:bodyPr anchorCtr="0" anchor="t" bIns="91425" lIns="54000" spcFirstLastPara="1" rIns="54000"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1</a:t>
            </a: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
        <p:nvSpPr>
          <p:cNvPr id="848" name="Google Shape;848;p67"/>
          <p:cNvSpPr txBox="1"/>
          <p:nvPr/>
        </p:nvSpPr>
        <p:spPr>
          <a:xfrm>
            <a:off x="6947512" y="2609763"/>
            <a:ext cx="515700" cy="424800"/>
          </a:xfrm>
          <a:prstGeom prst="rect">
            <a:avLst/>
          </a:prstGeom>
          <a:noFill/>
          <a:ln>
            <a:noFill/>
          </a:ln>
        </p:spPr>
        <p:txBody>
          <a:bodyPr anchorCtr="0" anchor="t" bIns="91425" lIns="54000" spcFirstLastPara="1" rIns="54000"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0</a:t>
            </a: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
        <p:nvSpPr>
          <p:cNvPr id="849" name="Google Shape;849;p67"/>
          <p:cNvSpPr/>
          <p:nvPr/>
        </p:nvSpPr>
        <p:spPr>
          <a:xfrm>
            <a:off x="272024" y="1515025"/>
            <a:ext cx="1038900" cy="546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800"/>
              <a:t>DongCo</a:t>
            </a:r>
            <a:endParaRPr b="1" sz="1800"/>
          </a:p>
        </p:txBody>
      </p:sp>
      <p:sp>
        <p:nvSpPr>
          <p:cNvPr id="850" name="Google Shape;850;p67"/>
          <p:cNvSpPr/>
          <p:nvPr/>
        </p:nvSpPr>
        <p:spPr>
          <a:xfrm>
            <a:off x="2943173" y="1515025"/>
            <a:ext cx="1326600" cy="546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800"/>
              <a:t>OTo</a:t>
            </a:r>
            <a:endParaRPr b="1" sz="1800"/>
          </a:p>
        </p:txBody>
      </p:sp>
      <p:cxnSp>
        <p:nvCxnSpPr>
          <p:cNvPr id="851" name="Google Shape;851;p67"/>
          <p:cNvCxnSpPr>
            <a:stCxn id="849" idx="3"/>
            <a:endCxn id="850" idx="1"/>
          </p:cNvCxnSpPr>
          <p:nvPr/>
        </p:nvCxnSpPr>
        <p:spPr>
          <a:xfrm>
            <a:off x="1310924" y="1788325"/>
            <a:ext cx="1632300" cy="0"/>
          </a:xfrm>
          <a:prstGeom prst="straightConnector1">
            <a:avLst/>
          </a:prstGeom>
          <a:noFill/>
          <a:ln cap="flat" cmpd="sng" w="9525">
            <a:solidFill>
              <a:schemeClr val="dk2"/>
            </a:solidFill>
            <a:prstDash val="solid"/>
            <a:round/>
            <a:headEnd len="med" w="med" type="none"/>
            <a:tailEnd len="med" w="med" type="none"/>
          </a:ln>
        </p:spPr>
      </p:cxnSp>
      <p:cxnSp>
        <p:nvCxnSpPr>
          <p:cNvPr id="852" name="Google Shape;852;p67"/>
          <p:cNvCxnSpPr/>
          <p:nvPr/>
        </p:nvCxnSpPr>
        <p:spPr>
          <a:xfrm rot="10800000">
            <a:off x="1390650" y="1676400"/>
            <a:ext cx="0" cy="228600"/>
          </a:xfrm>
          <a:prstGeom prst="straightConnector1">
            <a:avLst/>
          </a:prstGeom>
          <a:noFill/>
          <a:ln cap="flat" cmpd="sng" w="9525">
            <a:solidFill>
              <a:schemeClr val="dk2"/>
            </a:solidFill>
            <a:prstDash val="solid"/>
            <a:round/>
            <a:headEnd len="med" w="med" type="none"/>
            <a:tailEnd len="med" w="med" type="none"/>
          </a:ln>
        </p:spPr>
      </p:cxnSp>
      <p:cxnSp>
        <p:nvCxnSpPr>
          <p:cNvPr id="853" name="Google Shape;853;p67"/>
          <p:cNvCxnSpPr/>
          <p:nvPr/>
        </p:nvCxnSpPr>
        <p:spPr>
          <a:xfrm rot="10800000">
            <a:off x="1466850" y="1676400"/>
            <a:ext cx="0" cy="228600"/>
          </a:xfrm>
          <a:prstGeom prst="straightConnector1">
            <a:avLst/>
          </a:prstGeom>
          <a:noFill/>
          <a:ln cap="flat" cmpd="sng" w="9525">
            <a:solidFill>
              <a:schemeClr val="dk2"/>
            </a:solidFill>
            <a:prstDash val="solid"/>
            <a:round/>
            <a:headEnd len="med" w="med" type="none"/>
            <a:tailEnd len="med" w="med" type="none"/>
          </a:ln>
        </p:spPr>
      </p:cxnSp>
      <p:cxnSp>
        <p:nvCxnSpPr>
          <p:cNvPr id="854" name="Google Shape;854;p67"/>
          <p:cNvCxnSpPr/>
          <p:nvPr/>
        </p:nvCxnSpPr>
        <p:spPr>
          <a:xfrm rot="10800000">
            <a:off x="2857500" y="1676400"/>
            <a:ext cx="0" cy="228600"/>
          </a:xfrm>
          <a:prstGeom prst="straightConnector1">
            <a:avLst/>
          </a:prstGeom>
          <a:noFill/>
          <a:ln cap="flat" cmpd="sng" w="9525">
            <a:solidFill>
              <a:schemeClr val="dk2"/>
            </a:solidFill>
            <a:prstDash val="solid"/>
            <a:round/>
            <a:headEnd len="med" w="med" type="none"/>
            <a:tailEnd len="med" w="med" type="none"/>
          </a:ln>
        </p:spPr>
      </p:cxnSp>
      <p:sp>
        <p:nvSpPr>
          <p:cNvPr id="855" name="Google Shape;855;p67"/>
          <p:cNvSpPr/>
          <p:nvPr/>
        </p:nvSpPr>
        <p:spPr>
          <a:xfrm>
            <a:off x="2638425" y="1695450"/>
            <a:ext cx="171600" cy="171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67"/>
          <p:cNvSpPr txBox="1"/>
          <p:nvPr/>
        </p:nvSpPr>
        <p:spPr>
          <a:xfrm>
            <a:off x="1469325" y="1466850"/>
            <a:ext cx="1287000" cy="32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Được lắp cho</a:t>
            </a:r>
            <a:endParaRPr>
              <a:latin typeface="Times New Roman"/>
              <a:ea typeface="Times New Roman"/>
              <a:cs typeface="Times New Roman"/>
              <a:sym typeface="Times New Roman"/>
            </a:endParaRPr>
          </a:p>
        </p:txBody>
      </p:sp>
      <p:sp>
        <p:nvSpPr>
          <p:cNvPr id="857" name="Google Shape;857;p67"/>
          <p:cNvSpPr txBox="1"/>
          <p:nvPr/>
        </p:nvSpPr>
        <p:spPr>
          <a:xfrm>
            <a:off x="5812725" y="1466850"/>
            <a:ext cx="1287000" cy="32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Được lắp</a:t>
            </a:r>
            <a:r>
              <a:rPr lang="en-GB">
                <a:latin typeface="Times New Roman"/>
                <a:ea typeface="Times New Roman"/>
                <a:cs typeface="Times New Roman"/>
                <a:sym typeface="Times New Roman"/>
              </a:rPr>
              <a:t> cho</a:t>
            </a:r>
            <a:endParaRPr>
              <a:latin typeface="Times New Roman"/>
              <a:ea typeface="Times New Roman"/>
              <a:cs typeface="Times New Roman"/>
              <a:sym typeface="Times New Roman"/>
            </a:endParaRPr>
          </a:p>
        </p:txBody>
      </p:sp>
      <p:sp>
        <p:nvSpPr>
          <p:cNvPr id="858" name="Google Shape;858;p67"/>
          <p:cNvSpPr/>
          <p:nvPr/>
        </p:nvSpPr>
        <p:spPr>
          <a:xfrm>
            <a:off x="272025" y="2429425"/>
            <a:ext cx="1197900" cy="546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800"/>
              <a:t>HocPhan</a:t>
            </a:r>
            <a:endParaRPr b="1" sz="1800"/>
          </a:p>
        </p:txBody>
      </p:sp>
      <p:sp>
        <p:nvSpPr>
          <p:cNvPr id="859" name="Google Shape;859;p67"/>
          <p:cNvSpPr/>
          <p:nvPr/>
        </p:nvSpPr>
        <p:spPr>
          <a:xfrm>
            <a:off x="3043663" y="2429413"/>
            <a:ext cx="1197900" cy="5466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b="1" lang="en-GB" sz="1800"/>
              <a:t>Sach</a:t>
            </a:r>
            <a:r>
              <a:rPr b="1" lang="en-GB" sz="1800"/>
              <a:t>GT</a:t>
            </a:r>
            <a:endParaRPr b="1" sz="1800"/>
          </a:p>
        </p:txBody>
      </p:sp>
      <p:cxnSp>
        <p:nvCxnSpPr>
          <p:cNvPr id="860" name="Google Shape;860;p67"/>
          <p:cNvCxnSpPr>
            <a:stCxn id="858" idx="3"/>
            <a:endCxn id="859" idx="1"/>
          </p:cNvCxnSpPr>
          <p:nvPr/>
        </p:nvCxnSpPr>
        <p:spPr>
          <a:xfrm>
            <a:off x="1469925" y="2702725"/>
            <a:ext cx="1573800" cy="0"/>
          </a:xfrm>
          <a:prstGeom prst="straightConnector1">
            <a:avLst/>
          </a:prstGeom>
          <a:noFill/>
          <a:ln cap="flat" cmpd="sng" w="9525">
            <a:solidFill>
              <a:schemeClr val="dk2"/>
            </a:solidFill>
            <a:prstDash val="solid"/>
            <a:round/>
            <a:headEnd len="med" w="med" type="none"/>
            <a:tailEnd len="med" w="med" type="none"/>
          </a:ln>
        </p:spPr>
      </p:cxnSp>
      <p:sp>
        <p:nvSpPr>
          <p:cNvPr id="861" name="Google Shape;861;p67"/>
          <p:cNvSpPr txBox="1"/>
          <p:nvPr/>
        </p:nvSpPr>
        <p:spPr>
          <a:xfrm>
            <a:off x="1430177" y="2352588"/>
            <a:ext cx="1621500" cy="42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Sử dụng &gt;</a:t>
            </a:r>
            <a:endParaRPr>
              <a:latin typeface="Times New Roman"/>
              <a:ea typeface="Times New Roman"/>
              <a:cs typeface="Times New Roman"/>
              <a:sym typeface="Times New Roman"/>
            </a:endParaRPr>
          </a:p>
        </p:txBody>
      </p:sp>
      <p:cxnSp>
        <p:nvCxnSpPr>
          <p:cNvPr id="862" name="Google Shape;862;p67"/>
          <p:cNvCxnSpPr/>
          <p:nvPr/>
        </p:nvCxnSpPr>
        <p:spPr>
          <a:xfrm rot="10800000">
            <a:off x="1647825" y="2590800"/>
            <a:ext cx="0" cy="228600"/>
          </a:xfrm>
          <a:prstGeom prst="straightConnector1">
            <a:avLst/>
          </a:prstGeom>
          <a:noFill/>
          <a:ln cap="flat" cmpd="sng" w="9525">
            <a:solidFill>
              <a:schemeClr val="dk2"/>
            </a:solidFill>
            <a:prstDash val="solid"/>
            <a:round/>
            <a:headEnd len="med" w="med" type="none"/>
            <a:tailEnd len="med" w="med" type="none"/>
          </a:ln>
        </p:spPr>
      </p:cxnSp>
      <p:cxnSp>
        <p:nvCxnSpPr>
          <p:cNvPr id="863" name="Google Shape;863;p67"/>
          <p:cNvCxnSpPr/>
          <p:nvPr/>
        </p:nvCxnSpPr>
        <p:spPr>
          <a:xfrm rot="10800000">
            <a:off x="1476300" y="2619375"/>
            <a:ext cx="162000" cy="76200"/>
          </a:xfrm>
          <a:prstGeom prst="straightConnector1">
            <a:avLst/>
          </a:prstGeom>
          <a:noFill/>
          <a:ln cap="flat" cmpd="sng" w="9525">
            <a:solidFill>
              <a:schemeClr val="dk2"/>
            </a:solidFill>
            <a:prstDash val="solid"/>
            <a:round/>
            <a:headEnd len="med" w="med" type="none"/>
            <a:tailEnd len="med" w="med" type="none"/>
          </a:ln>
        </p:spPr>
      </p:cxnSp>
      <p:cxnSp>
        <p:nvCxnSpPr>
          <p:cNvPr id="864" name="Google Shape;864;p67"/>
          <p:cNvCxnSpPr/>
          <p:nvPr/>
        </p:nvCxnSpPr>
        <p:spPr>
          <a:xfrm flipH="1" rot="10800000">
            <a:off x="2866950" y="2619375"/>
            <a:ext cx="162000" cy="76200"/>
          </a:xfrm>
          <a:prstGeom prst="straightConnector1">
            <a:avLst/>
          </a:prstGeom>
          <a:noFill/>
          <a:ln cap="flat" cmpd="sng" w="9525">
            <a:solidFill>
              <a:schemeClr val="dk2"/>
            </a:solidFill>
            <a:prstDash val="solid"/>
            <a:round/>
            <a:headEnd len="med" w="med" type="none"/>
            <a:tailEnd len="med" w="med" type="none"/>
          </a:ln>
        </p:spPr>
      </p:cxnSp>
      <p:cxnSp>
        <p:nvCxnSpPr>
          <p:cNvPr id="865" name="Google Shape;865;p67"/>
          <p:cNvCxnSpPr/>
          <p:nvPr/>
        </p:nvCxnSpPr>
        <p:spPr>
          <a:xfrm flipH="1">
            <a:off x="1476300" y="2714625"/>
            <a:ext cx="162000" cy="76200"/>
          </a:xfrm>
          <a:prstGeom prst="straightConnector1">
            <a:avLst/>
          </a:prstGeom>
          <a:noFill/>
          <a:ln cap="flat" cmpd="sng" w="9525">
            <a:solidFill>
              <a:schemeClr val="dk2"/>
            </a:solidFill>
            <a:prstDash val="solid"/>
            <a:round/>
            <a:headEnd len="med" w="med" type="none"/>
            <a:tailEnd len="med" w="med" type="none"/>
          </a:ln>
        </p:spPr>
      </p:cxnSp>
      <p:cxnSp>
        <p:nvCxnSpPr>
          <p:cNvPr id="866" name="Google Shape;866;p67"/>
          <p:cNvCxnSpPr/>
          <p:nvPr/>
        </p:nvCxnSpPr>
        <p:spPr>
          <a:xfrm>
            <a:off x="2866950" y="2714625"/>
            <a:ext cx="162000" cy="76200"/>
          </a:xfrm>
          <a:prstGeom prst="straightConnector1">
            <a:avLst/>
          </a:prstGeom>
          <a:noFill/>
          <a:ln cap="flat" cmpd="sng" w="9525">
            <a:solidFill>
              <a:schemeClr val="dk2"/>
            </a:solidFill>
            <a:prstDash val="solid"/>
            <a:round/>
            <a:headEnd len="med" w="med" type="none"/>
            <a:tailEnd len="med" w="med" type="none"/>
          </a:ln>
        </p:spPr>
      </p:cxnSp>
      <p:sp>
        <p:nvSpPr>
          <p:cNvPr id="867" name="Google Shape;867;p67"/>
          <p:cNvSpPr/>
          <p:nvPr/>
        </p:nvSpPr>
        <p:spPr>
          <a:xfrm>
            <a:off x="2705100" y="2609850"/>
            <a:ext cx="171600" cy="171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67"/>
          <p:cNvSpPr/>
          <p:nvPr/>
        </p:nvSpPr>
        <p:spPr>
          <a:xfrm>
            <a:off x="4833750" y="3170025"/>
            <a:ext cx="1300500" cy="518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LopHoc</a:t>
            </a:r>
            <a:endParaRPr b="1" sz="1800"/>
          </a:p>
        </p:txBody>
      </p:sp>
      <p:sp>
        <p:nvSpPr>
          <p:cNvPr id="869" name="Google Shape;869;p67"/>
          <p:cNvSpPr/>
          <p:nvPr/>
        </p:nvSpPr>
        <p:spPr>
          <a:xfrm>
            <a:off x="7272150" y="3170025"/>
            <a:ext cx="1357500" cy="518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SinhVien</a:t>
            </a:r>
            <a:endParaRPr b="1" sz="1800"/>
          </a:p>
        </p:txBody>
      </p:sp>
      <p:sp>
        <p:nvSpPr>
          <p:cNvPr id="870" name="Google Shape;870;p67"/>
          <p:cNvSpPr/>
          <p:nvPr/>
        </p:nvSpPr>
        <p:spPr>
          <a:xfrm>
            <a:off x="6052950" y="4001935"/>
            <a:ext cx="1357500" cy="401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DanhGia</a:t>
            </a:r>
            <a:endParaRPr b="1" sz="1800"/>
          </a:p>
        </p:txBody>
      </p:sp>
      <p:sp>
        <p:nvSpPr>
          <p:cNvPr id="871" name="Google Shape;871;p67"/>
          <p:cNvSpPr/>
          <p:nvPr/>
        </p:nvSpPr>
        <p:spPr>
          <a:xfrm>
            <a:off x="6052950" y="4401800"/>
            <a:ext cx="1357500" cy="789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qua_trinh</a:t>
            </a:r>
            <a:endParaRPr sz="1800"/>
          </a:p>
          <a:p>
            <a:pPr indent="0" lvl="0" marL="0" rtl="0" algn="l">
              <a:spcBef>
                <a:spcPts val="0"/>
              </a:spcBef>
              <a:spcAft>
                <a:spcPts val="0"/>
              </a:spcAft>
              <a:buNone/>
            </a:pPr>
            <a:r>
              <a:rPr lang="en-GB" sz="1800"/>
              <a:t>cuoi_ky</a:t>
            </a:r>
            <a:endParaRPr sz="1800"/>
          </a:p>
        </p:txBody>
      </p:sp>
      <p:cxnSp>
        <p:nvCxnSpPr>
          <p:cNvPr id="872" name="Google Shape;872;p67"/>
          <p:cNvCxnSpPr>
            <a:stCxn id="868" idx="3"/>
            <a:endCxn id="869" idx="1"/>
          </p:cNvCxnSpPr>
          <p:nvPr/>
        </p:nvCxnSpPr>
        <p:spPr>
          <a:xfrm>
            <a:off x="6134250" y="3429375"/>
            <a:ext cx="1137900" cy="0"/>
          </a:xfrm>
          <a:prstGeom prst="straightConnector1">
            <a:avLst/>
          </a:prstGeom>
          <a:noFill/>
          <a:ln cap="flat" cmpd="sng" w="9525">
            <a:solidFill>
              <a:schemeClr val="dk2"/>
            </a:solidFill>
            <a:prstDash val="solid"/>
            <a:round/>
            <a:headEnd len="med" w="med" type="none"/>
            <a:tailEnd len="med" w="med" type="none"/>
          </a:ln>
        </p:spPr>
      </p:cxnSp>
      <p:cxnSp>
        <p:nvCxnSpPr>
          <p:cNvPr id="873" name="Google Shape;873;p67"/>
          <p:cNvCxnSpPr/>
          <p:nvPr/>
        </p:nvCxnSpPr>
        <p:spPr>
          <a:xfrm rot="10800000">
            <a:off x="6731700" y="3438426"/>
            <a:ext cx="0" cy="570000"/>
          </a:xfrm>
          <a:prstGeom prst="straightConnector1">
            <a:avLst/>
          </a:prstGeom>
          <a:noFill/>
          <a:ln cap="flat" cmpd="sng" w="9525">
            <a:solidFill>
              <a:schemeClr val="dk2"/>
            </a:solidFill>
            <a:prstDash val="dot"/>
            <a:round/>
            <a:headEnd len="med" w="med" type="none"/>
            <a:tailEnd len="med" w="med" type="none"/>
          </a:ln>
        </p:spPr>
      </p:cxnSp>
      <p:sp>
        <p:nvSpPr>
          <p:cNvPr id="874" name="Google Shape;874;p67"/>
          <p:cNvSpPr txBox="1"/>
          <p:nvPr/>
        </p:nvSpPr>
        <p:spPr>
          <a:xfrm>
            <a:off x="6114925" y="3111125"/>
            <a:ext cx="5487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1..*</a:t>
            </a:r>
            <a:endParaRPr>
              <a:latin typeface="Times New Roman"/>
              <a:ea typeface="Times New Roman"/>
              <a:cs typeface="Times New Roman"/>
              <a:sym typeface="Times New Roman"/>
            </a:endParaRPr>
          </a:p>
        </p:txBody>
      </p:sp>
      <p:sp>
        <p:nvSpPr>
          <p:cNvPr id="875" name="Google Shape;875;p67"/>
          <p:cNvSpPr txBox="1"/>
          <p:nvPr/>
        </p:nvSpPr>
        <p:spPr>
          <a:xfrm>
            <a:off x="6800725" y="3111125"/>
            <a:ext cx="5487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1..*</a:t>
            </a:r>
            <a:endParaRPr>
              <a:latin typeface="Times New Roman"/>
              <a:ea typeface="Times New Roman"/>
              <a:cs typeface="Times New Roman"/>
              <a:sym typeface="Times New Roman"/>
            </a:endParaRPr>
          </a:p>
        </p:txBody>
      </p:sp>
      <p:sp>
        <p:nvSpPr>
          <p:cNvPr id="876" name="Google Shape;876;p67"/>
          <p:cNvSpPr/>
          <p:nvPr/>
        </p:nvSpPr>
        <p:spPr>
          <a:xfrm>
            <a:off x="461775" y="3189075"/>
            <a:ext cx="1300500" cy="518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LopHoc</a:t>
            </a:r>
            <a:endParaRPr b="1" sz="1800"/>
          </a:p>
        </p:txBody>
      </p:sp>
      <p:sp>
        <p:nvSpPr>
          <p:cNvPr id="877" name="Google Shape;877;p67"/>
          <p:cNvSpPr/>
          <p:nvPr/>
        </p:nvSpPr>
        <p:spPr>
          <a:xfrm>
            <a:off x="2900175" y="3189075"/>
            <a:ext cx="1357500" cy="518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SinhVien</a:t>
            </a:r>
            <a:endParaRPr b="1" sz="1800"/>
          </a:p>
        </p:txBody>
      </p:sp>
      <p:sp>
        <p:nvSpPr>
          <p:cNvPr id="878" name="Google Shape;878;p67"/>
          <p:cNvSpPr/>
          <p:nvPr/>
        </p:nvSpPr>
        <p:spPr>
          <a:xfrm>
            <a:off x="1680975" y="4020985"/>
            <a:ext cx="1357500" cy="401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DanhGia</a:t>
            </a:r>
            <a:endParaRPr b="1" sz="1800"/>
          </a:p>
        </p:txBody>
      </p:sp>
      <p:sp>
        <p:nvSpPr>
          <p:cNvPr id="879" name="Google Shape;879;p67"/>
          <p:cNvSpPr/>
          <p:nvPr/>
        </p:nvSpPr>
        <p:spPr>
          <a:xfrm>
            <a:off x="1680975" y="4420850"/>
            <a:ext cx="1357500" cy="789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qua_trinh</a:t>
            </a:r>
            <a:endParaRPr sz="1800"/>
          </a:p>
          <a:p>
            <a:pPr indent="0" lvl="0" marL="0" rtl="0" algn="l">
              <a:spcBef>
                <a:spcPts val="0"/>
              </a:spcBef>
              <a:spcAft>
                <a:spcPts val="0"/>
              </a:spcAft>
              <a:buNone/>
            </a:pPr>
            <a:r>
              <a:rPr lang="en-GB" sz="1800"/>
              <a:t>cuoi_ky</a:t>
            </a:r>
            <a:endParaRPr sz="1800"/>
          </a:p>
        </p:txBody>
      </p:sp>
      <p:cxnSp>
        <p:nvCxnSpPr>
          <p:cNvPr id="880" name="Google Shape;880;p67"/>
          <p:cNvCxnSpPr>
            <a:stCxn id="876" idx="3"/>
            <a:endCxn id="877" idx="1"/>
          </p:cNvCxnSpPr>
          <p:nvPr/>
        </p:nvCxnSpPr>
        <p:spPr>
          <a:xfrm>
            <a:off x="1762275" y="3448425"/>
            <a:ext cx="1137900" cy="0"/>
          </a:xfrm>
          <a:prstGeom prst="straightConnector1">
            <a:avLst/>
          </a:prstGeom>
          <a:noFill/>
          <a:ln cap="flat" cmpd="sng" w="9525">
            <a:solidFill>
              <a:schemeClr val="dk2"/>
            </a:solidFill>
            <a:prstDash val="solid"/>
            <a:round/>
            <a:headEnd len="med" w="med" type="none"/>
            <a:tailEnd len="med" w="med" type="none"/>
          </a:ln>
        </p:spPr>
      </p:cxnSp>
      <p:cxnSp>
        <p:nvCxnSpPr>
          <p:cNvPr id="881" name="Google Shape;881;p67"/>
          <p:cNvCxnSpPr/>
          <p:nvPr/>
        </p:nvCxnSpPr>
        <p:spPr>
          <a:xfrm rot="10800000">
            <a:off x="2359725" y="3450979"/>
            <a:ext cx="0" cy="570000"/>
          </a:xfrm>
          <a:prstGeom prst="straightConnector1">
            <a:avLst/>
          </a:prstGeom>
          <a:noFill/>
          <a:ln cap="flat" cmpd="sng" w="9525">
            <a:solidFill>
              <a:schemeClr val="dk2"/>
            </a:solidFill>
            <a:prstDash val="dot"/>
            <a:round/>
            <a:headEnd len="med" w="med" type="none"/>
            <a:tailEnd len="med" w="med" type="none"/>
          </a:ln>
        </p:spPr>
      </p:cxnSp>
      <p:cxnSp>
        <p:nvCxnSpPr>
          <p:cNvPr id="882" name="Google Shape;882;p67"/>
          <p:cNvCxnSpPr/>
          <p:nvPr/>
        </p:nvCxnSpPr>
        <p:spPr>
          <a:xfrm rot="10800000">
            <a:off x="1924050" y="3333750"/>
            <a:ext cx="0" cy="228600"/>
          </a:xfrm>
          <a:prstGeom prst="straightConnector1">
            <a:avLst/>
          </a:prstGeom>
          <a:noFill/>
          <a:ln cap="flat" cmpd="sng" w="9525">
            <a:solidFill>
              <a:schemeClr val="dk2"/>
            </a:solidFill>
            <a:prstDash val="solid"/>
            <a:round/>
            <a:headEnd len="med" w="med" type="none"/>
            <a:tailEnd len="med" w="med" type="none"/>
          </a:ln>
        </p:spPr>
      </p:cxnSp>
      <p:cxnSp>
        <p:nvCxnSpPr>
          <p:cNvPr id="883" name="Google Shape;883;p67"/>
          <p:cNvCxnSpPr/>
          <p:nvPr/>
        </p:nvCxnSpPr>
        <p:spPr>
          <a:xfrm rot="10800000">
            <a:off x="1752525" y="3362325"/>
            <a:ext cx="162000" cy="76200"/>
          </a:xfrm>
          <a:prstGeom prst="straightConnector1">
            <a:avLst/>
          </a:prstGeom>
          <a:noFill/>
          <a:ln cap="flat" cmpd="sng" w="9525">
            <a:solidFill>
              <a:schemeClr val="dk2"/>
            </a:solidFill>
            <a:prstDash val="solid"/>
            <a:round/>
            <a:headEnd len="med" w="med" type="none"/>
            <a:tailEnd len="med" w="med" type="none"/>
          </a:ln>
        </p:spPr>
      </p:cxnSp>
      <p:cxnSp>
        <p:nvCxnSpPr>
          <p:cNvPr id="884" name="Google Shape;884;p67"/>
          <p:cNvCxnSpPr/>
          <p:nvPr/>
        </p:nvCxnSpPr>
        <p:spPr>
          <a:xfrm flipH="1">
            <a:off x="1752525" y="3457575"/>
            <a:ext cx="162000" cy="76200"/>
          </a:xfrm>
          <a:prstGeom prst="straightConnector1">
            <a:avLst/>
          </a:prstGeom>
          <a:noFill/>
          <a:ln cap="flat" cmpd="sng" w="9525">
            <a:solidFill>
              <a:schemeClr val="dk2"/>
            </a:solidFill>
            <a:prstDash val="solid"/>
            <a:round/>
            <a:headEnd len="med" w="med" type="none"/>
            <a:tailEnd len="med" w="med" type="none"/>
          </a:ln>
        </p:spPr>
      </p:cxnSp>
      <p:cxnSp>
        <p:nvCxnSpPr>
          <p:cNvPr id="885" name="Google Shape;885;p67"/>
          <p:cNvCxnSpPr/>
          <p:nvPr/>
        </p:nvCxnSpPr>
        <p:spPr>
          <a:xfrm rot="10800000">
            <a:off x="2705025" y="3333750"/>
            <a:ext cx="0" cy="228600"/>
          </a:xfrm>
          <a:prstGeom prst="straightConnector1">
            <a:avLst/>
          </a:prstGeom>
          <a:noFill/>
          <a:ln cap="flat" cmpd="sng" w="9525">
            <a:solidFill>
              <a:schemeClr val="dk2"/>
            </a:solidFill>
            <a:prstDash val="solid"/>
            <a:round/>
            <a:headEnd len="med" w="med" type="none"/>
            <a:tailEnd len="med" w="med" type="none"/>
          </a:ln>
        </p:spPr>
      </p:cxnSp>
      <p:cxnSp>
        <p:nvCxnSpPr>
          <p:cNvPr id="886" name="Google Shape;886;p67"/>
          <p:cNvCxnSpPr/>
          <p:nvPr/>
        </p:nvCxnSpPr>
        <p:spPr>
          <a:xfrm flipH="1" rot="10800000">
            <a:off x="2714550" y="3362325"/>
            <a:ext cx="162000" cy="76200"/>
          </a:xfrm>
          <a:prstGeom prst="straightConnector1">
            <a:avLst/>
          </a:prstGeom>
          <a:noFill/>
          <a:ln cap="flat" cmpd="sng" w="9525">
            <a:solidFill>
              <a:schemeClr val="dk2"/>
            </a:solidFill>
            <a:prstDash val="solid"/>
            <a:round/>
            <a:headEnd len="med" w="med" type="none"/>
            <a:tailEnd len="med" w="med" type="none"/>
          </a:ln>
        </p:spPr>
      </p:cxnSp>
      <p:cxnSp>
        <p:nvCxnSpPr>
          <p:cNvPr id="887" name="Google Shape;887;p67"/>
          <p:cNvCxnSpPr/>
          <p:nvPr/>
        </p:nvCxnSpPr>
        <p:spPr>
          <a:xfrm>
            <a:off x="2714550" y="3457575"/>
            <a:ext cx="162000" cy="76200"/>
          </a:xfrm>
          <a:prstGeom prst="straightConnector1">
            <a:avLst/>
          </a:prstGeom>
          <a:noFill/>
          <a:ln cap="flat" cmpd="sng" w="9525">
            <a:solidFill>
              <a:schemeClr val="dk2"/>
            </a:solidFill>
            <a:prstDash val="solid"/>
            <a:round/>
            <a:headEnd len="med" w="med" type="none"/>
            <a:tailEnd len="med" w="med" type="none"/>
          </a:ln>
        </p:spPr>
      </p:cxnSp>
      <p:sp>
        <p:nvSpPr>
          <p:cNvPr id="888" name="Google Shape;888;p67"/>
          <p:cNvSpPr txBox="1"/>
          <p:nvPr/>
        </p:nvSpPr>
        <p:spPr>
          <a:xfrm>
            <a:off x="428625" y="5591175"/>
            <a:ext cx="83154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rgbClr val="434343"/>
                </a:solidFill>
              </a:rPr>
              <a:t>(Cơ số trong ERD chỉ có thể là </a:t>
            </a:r>
            <a:r>
              <a:rPr i="1" lang="en-GB" sz="1800">
                <a:solidFill>
                  <a:srgbClr val="434343"/>
                </a:solidFill>
              </a:rPr>
              <a:t>1 trong 4 trường hợp {</a:t>
            </a:r>
            <a:r>
              <a:rPr i="1" lang="en-GB" sz="1800">
                <a:solidFill>
                  <a:srgbClr val="434343"/>
                </a:solidFill>
              </a:rPr>
              <a:t>0..1</a:t>
            </a:r>
            <a:r>
              <a:rPr i="1" lang="en-GB" sz="1800">
                <a:solidFill>
                  <a:srgbClr val="434343"/>
                </a:solidFill>
              </a:rPr>
              <a:t>,</a:t>
            </a:r>
            <a:r>
              <a:rPr i="1" lang="en-GB" sz="1800">
                <a:solidFill>
                  <a:srgbClr val="434343"/>
                </a:solidFill>
              </a:rPr>
              <a:t> 1</a:t>
            </a:r>
            <a:r>
              <a:rPr i="1" lang="en-GB" sz="1800">
                <a:solidFill>
                  <a:srgbClr val="434343"/>
                </a:solidFill>
              </a:rPr>
              <a:t>,</a:t>
            </a:r>
            <a:r>
              <a:rPr i="1" lang="en-GB" sz="1800">
                <a:solidFill>
                  <a:srgbClr val="434343"/>
                </a:solidFill>
              </a:rPr>
              <a:t> 0..*</a:t>
            </a:r>
            <a:r>
              <a:rPr i="1" lang="en-GB" sz="1800">
                <a:solidFill>
                  <a:srgbClr val="434343"/>
                </a:solidFill>
              </a:rPr>
              <a:t>,</a:t>
            </a:r>
            <a:r>
              <a:rPr i="1" lang="en-GB" sz="1800">
                <a:solidFill>
                  <a:srgbClr val="434343"/>
                </a:solidFill>
              </a:rPr>
              <a:t> 1..</a:t>
            </a:r>
            <a:r>
              <a:rPr i="1" lang="en-GB" sz="1800">
                <a:solidFill>
                  <a:srgbClr val="434343"/>
                </a:solidFill>
              </a:rPr>
              <a:t>*})</a:t>
            </a:r>
            <a:endParaRPr i="1" sz="1800">
              <a:solidFill>
                <a:srgbClr val="434343"/>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68"/>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894" name="Google Shape;894;p68"/>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Các khái niệm</a:t>
            </a:r>
            <a:endParaRPr/>
          </a:p>
          <a:p>
            <a:pPr indent="-381000" lvl="0" marL="457200" rtl="0" algn="l">
              <a:spcBef>
                <a:spcPts val="0"/>
              </a:spcBef>
              <a:spcAft>
                <a:spcPts val="0"/>
              </a:spcAft>
              <a:buSzPts val="2400"/>
              <a:buChar char="●"/>
            </a:pPr>
            <a:r>
              <a:rPr lang="en-GB"/>
              <a:t>Các kỹ thuật</a:t>
            </a:r>
            <a:endParaRPr/>
          </a:p>
          <a:p>
            <a:pPr indent="-381000" lvl="0" marL="457200" rtl="0" algn="l">
              <a:spcBef>
                <a:spcPts val="0"/>
              </a:spcBef>
              <a:spcAft>
                <a:spcPts val="0"/>
              </a:spcAft>
              <a:buSzPts val="2400"/>
              <a:buChar char="●"/>
            </a:pPr>
            <a:r>
              <a:rPr lang="en-GB"/>
              <a:t>Các </a:t>
            </a:r>
            <a:r>
              <a:rPr lang="en-GB"/>
              <a:t>sơ đồ</a:t>
            </a:r>
            <a:endParaRPr/>
          </a:p>
          <a:p>
            <a:pPr indent="-381000" lvl="0" marL="457200" rtl="0" algn="l">
              <a:spcBef>
                <a:spcPts val="0"/>
              </a:spcBef>
              <a:spcAft>
                <a:spcPts val="0"/>
              </a:spcAft>
              <a:buSzPts val="2400"/>
              <a:buChar char="●"/>
            </a:pPr>
            <a:r>
              <a:rPr lang="en-GB"/>
              <a:t>Mô tả ràng buộc với OCL</a:t>
            </a:r>
            <a:endParaRPr/>
          </a:p>
          <a:p>
            <a:pPr indent="-381000" lvl="0" marL="457200" rtl="0" algn="l">
              <a:spcBef>
                <a:spcPts val="0"/>
              </a:spcBef>
              <a:spcAft>
                <a:spcPts val="0"/>
              </a:spcAft>
              <a:buSzPts val="2400"/>
              <a:buChar char="●"/>
            </a:pPr>
            <a:r>
              <a:rPr lang="en-GB"/>
              <a:t>Đặc tả lớp với thẻ CRC</a:t>
            </a:r>
            <a:endParaRPr/>
          </a:p>
          <a:p>
            <a:pPr indent="-381000" lvl="0" marL="457200" rtl="0" algn="l">
              <a:spcBef>
                <a:spcPts val="0"/>
              </a:spcBef>
              <a:spcAft>
                <a:spcPts val="0"/>
              </a:spcAft>
              <a:buSzPts val="2400"/>
              <a:buChar char="●"/>
            </a:pPr>
            <a:r>
              <a:rPr lang="en-GB"/>
              <a:t>Mẫu phân tích</a:t>
            </a:r>
            <a:endParaRPr/>
          </a:p>
          <a:p>
            <a:pPr indent="-381000" lvl="0" marL="457200" rtl="0" algn="l">
              <a:spcBef>
                <a:spcPts val="0"/>
              </a:spcBef>
              <a:spcAft>
                <a:spcPts val="0"/>
              </a:spcAft>
              <a:buSzPts val="2400"/>
              <a:buChar char="●"/>
            </a:pPr>
            <a:r>
              <a:rPr lang="en-GB"/>
              <a:t>Bài tập</a:t>
            </a:r>
            <a:endParaRPr/>
          </a:p>
        </p:txBody>
      </p:sp>
      <p:sp>
        <p:nvSpPr>
          <p:cNvPr id="895" name="Google Shape;895;p6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96" name="Google Shape;896;p68"/>
          <p:cNvSpPr/>
          <p:nvPr/>
        </p:nvSpPr>
        <p:spPr>
          <a:xfrm>
            <a:off x="366525" y="2042766"/>
            <a:ext cx="63162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69"/>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OCL là gì?</a:t>
            </a:r>
            <a:endParaRPr/>
          </a:p>
        </p:txBody>
      </p:sp>
      <p:sp>
        <p:nvSpPr>
          <p:cNvPr id="902" name="Google Shape;902;p69"/>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Ngôn ngữ ràng buộc đối tượng - Object Constraint Language</a:t>
            </a:r>
            <a:endParaRPr/>
          </a:p>
          <a:p>
            <a:pPr indent="-368300" lvl="1" marL="914400" rtl="0" algn="l">
              <a:spcBef>
                <a:spcPts val="0"/>
              </a:spcBef>
              <a:spcAft>
                <a:spcPts val="0"/>
              </a:spcAft>
              <a:buSzPts val="2200"/>
              <a:buChar char="○"/>
            </a:pPr>
            <a:r>
              <a:rPr lang="en-GB"/>
              <a:t>Được phát triển từ năm 1995 ở IBM.</a:t>
            </a:r>
            <a:endParaRPr/>
          </a:p>
          <a:p>
            <a:pPr indent="-368300" lvl="1" marL="914400" rtl="0" algn="l">
              <a:spcBef>
                <a:spcPts val="0"/>
              </a:spcBef>
              <a:spcAft>
                <a:spcPts val="0"/>
              </a:spcAft>
              <a:buSzPts val="2200"/>
              <a:buChar char="○"/>
            </a:pPr>
            <a:r>
              <a:rPr lang="en-GB"/>
              <a:t>Sau đó IBM đề xuất </a:t>
            </a:r>
            <a:r>
              <a:rPr lang="en-GB"/>
              <a:t>và</a:t>
            </a:r>
            <a:r>
              <a:rPr lang="en-GB"/>
              <a:t> OMG thông qua quy chuẩn.</a:t>
            </a:r>
            <a:endParaRPr/>
          </a:p>
          <a:p>
            <a:pPr indent="-368300" lvl="1" marL="914400" rtl="0" algn="l">
              <a:spcBef>
                <a:spcPts val="0"/>
              </a:spcBef>
              <a:spcAft>
                <a:spcPts val="0"/>
              </a:spcAft>
              <a:buSzPts val="2200"/>
              <a:buChar char="○"/>
            </a:pPr>
            <a:r>
              <a:rPr lang="en-GB"/>
              <a:t>Được sử dụng để đặc tả UML</a:t>
            </a:r>
            <a:endParaRPr/>
          </a:p>
          <a:p>
            <a:pPr indent="-368300" lvl="1" marL="914400" rtl="0" algn="l">
              <a:spcBef>
                <a:spcPts val="0"/>
              </a:spcBef>
              <a:spcAft>
                <a:spcPts val="0"/>
              </a:spcAft>
              <a:buSzPts val="2200"/>
              <a:buChar char="○"/>
            </a:pPr>
            <a:r>
              <a:rPr lang="en-GB"/>
              <a:t>Phiên bản mới nhất song hành với UML:</a:t>
            </a:r>
            <a:endParaRPr/>
          </a:p>
          <a:p>
            <a:pPr indent="-342900" lvl="2" marL="1371600" rtl="0" algn="l">
              <a:spcBef>
                <a:spcPts val="0"/>
              </a:spcBef>
              <a:spcAft>
                <a:spcPts val="0"/>
              </a:spcAft>
              <a:buSzPts val="1800"/>
              <a:buChar char="■"/>
            </a:pPr>
            <a:r>
              <a:rPr lang="en-GB"/>
              <a:t>OCL 2.4: </a:t>
            </a:r>
            <a:r>
              <a:rPr lang="en-GB" u="sng">
                <a:solidFill>
                  <a:schemeClr val="hlink"/>
                </a:solidFill>
                <a:hlinkClick r:id="rId3"/>
              </a:rPr>
              <a:t>https://www.omg.org/spec/OCL/2.4/PDF</a:t>
            </a:r>
            <a:endParaRPr/>
          </a:p>
          <a:p>
            <a:pPr indent="-342900" lvl="2" marL="1371600" rtl="0" algn="l">
              <a:spcBef>
                <a:spcPts val="0"/>
              </a:spcBef>
              <a:spcAft>
                <a:spcPts val="0"/>
              </a:spcAft>
              <a:buSzPts val="1800"/>
              <a:buChar char="■"/>
            </a:pPr>
            <a:r>
              <a:rPr lang="en-GB"/>
              <a:t>UML 2.4.1: </a:t>
            </a:r>
            <a:r>
              <a:rPr lang="en-GB" u="sng">
                <a:solidFill>
                  <a:schemeClr val="hlink"/>
                </a:solidFill>
                <a:hlinkClick r:id="rId4"/>
              </a:rPr>
              <a:t>https://www.omg.org/spec/UML/2.4.1</a:t>
            </a:r>
            <a:endParaRPr/>
          </a:p>
          <a:p>
            <a:pPr indent="-381000" lvl="0" marL="457200" rtl="0" algn="l">
              <a:spcBef>
                <a:spcPts val="0"/>
              </a:spcBef>
              <a:spcAft>
                <a:spcPts val="0"/>
              </a:spcAft>
              <a:buSzPts val="2400"/>
              <a:buChar char="●"/>
            </a:pPr>
            <a:r>
              <a:rPr lang="en-GB"/>
              <a:t>Đ</a:t>
            </a:r>
            <a:r>
              <a:rPr lang="en-GB"/>
              <a:t>ược sử dụng để bổ xung các chi tiết </a:t>
            </a:r>
            <a:r>
              <a:rPr lang="en-GB"/>
              <a:t>mô tả </a:t>
            </a:r>
            <a:r>
              <a:rPr lang="en-GB"/>
              <a:t>cho </a:t>
            </a:r>
            <a:r>
              <a:rPr lang="en-GB"/>
              <a:t>sơ đồ</a:t>
            </a:r>
            <a:r>
              <a:rPr lang="en-GB"/>
              <a:t> lớp</a:t>
            </a:r>
            <a:endParaRPr/>
          </a:p>
          <a:p>
            <a:pPr indent="-368300" lvl="1" marL="914400" rtl="0" algn="l">
              <a:spcBef>
                <a:spcPts val="0"/>
              </a:spcBef>
              <a:spcAft>
                <a:spcPts val="0"/>
              </a:spcAft>
              <a:buSzPts val="2200"/>
              <a:buChar char="○"/>
            </a:pPr>
            <a:r>
              <a:rPr lang="en-GB"/>
              <a:t>Các bất biến đối với các thuộc tính, tiền điều kiện và hậu điều kiện đối với các phương thức, v.v..</a:t>
            </a:r>
            <a:endParaRPr/>
          </a:p>
        </p:txBody>
      </p:sp>
      <p:sp>
        <p:nvSpPr>
          <p:cNvPr id="903" name="Google Shape;903;p6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70"/>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Ràng buộc là 1 giới hạn đối với 1 hoặc nhiều th</a:t>
            </a:r>
            <a:r>
              <a:rPr lang="en-GB"/>
              <a:t>ành phần</a:t>
            </a:r>
            <a:r>
              <a:rPr lang="en-GB"/>
              <a:t> của 1 mô hình hướng đối tượng hoặc hệ thống</a:t>
            </a:r>
            <a:endParaRPr/>
          </a:p>
          <a:p>
            <a:pPr indent="-368300" lvl="1" marL="914400" rtl="0" algn="l">
              <a:spcBef>
                <a:spcPts val="0"/>
              </a:spcBef>
              <a:spcAft>
                <a:spcPts val="0"/>
              </a:spcAft>
              <a:buSzPts val="2200"/>
              <a:buChar char="○"/>
            </a:pPr>
            <a:r>
              <a:rPr lang="en-GB"/>
              <a:t>Tiêu biểu như: Bất biến, tiền điều kiện, hậu điều kiện.</a:t>
            </a:r>
            <a:endParaRPr/>
          </a:p>
          <a:p>
            <a:pPr indent="-381000" lvl="0" marL="457200" rtl="0" algn="l">
              <a:spcBef>
                <a:spcPts val="0"/>
              </a:spcBef>
              <a:spcAft>
                <a:spcPts val="0"/>
              </a:spcAft>
              <a:buSzPts val="2400"/>
              <a:buChar char="●"/>
            </a:pPr>
            <a:r>
              <a:rPr lang="en-GB"/>
              <a:t>Ngữ cảnh </a:t>
            </a:r>
            <a:r>
              <a:rPr lang="en-GB"/>
              <a:t>là cái </a:t>
            </a:r>
            <a:r>
              <a:rPr lang="en-GB"/>
              <a:t>(lớp, </a:t>
            </a:r>
            <a:r>
              <a:rPr lang="en-GB"/>
              <a:t>phương thức</a:t>
            </a:r>
            <a:r>
              <a:rPr lang="en-GB"/>
              <a:t>, v.v..) </a:t>
            </a:r>
            <a:r>
              <a:rPr lang="en-GB"/>
              <a:t>được thiết lập ràng buộc</a:t>
            </a:r>
            <a:endParaRPr/>
          </a:p>
          <a:p>
            <a:pPr indent="-368300" lvl="1" marL="914400" rtl="0" algn="l">
              <a:spcBef>
                <a:spcPts val="0"/>
              </a:spcBef>
              <a:spcAft>
                <a:spcPts val="0"/>
              </a:spcAft>
              <a:buSzPts val="2200"/>
              <a:buChar char="○"/>
            </a:pPr>
            <a:r>
              <a:rPr lang="en-GB"/>
              <a:t>Ràng buộc được thiết lập ở mức lớp sẽ có hiệu lực cho các đối tượng thuộc lớp đó.</a:t>
            </a:r>
            <a:endParaRPr/>
          </a:p>
          <a:p>
            <a:pPr indent="-381000" lvl="0" marL="457200" rtl="0" algn="l">
              <a:spcBef>
                <a:spcPts val="0"/>
              </a:spcBef>
              <a:spcAft>
                <a:spcPts val="0"/>
              </a:spcAft>
              <a:buSzPts val="2400"/>
              <a:buChar char="●"/>
            </a:pPr>
            <a:r>
              <a:rPr lang="en-GB"/>
              <a:t>Ràng buộc có thể được thêm vào như ghi chú trên </a:t>
            </a:r>
            <a:r>
              <a:rPr lang="en-GB"/>
              <a:t>sơ đồ</a:t>
            </a:r>
            <a:r>
              <a:rPr lang="en-GB"/>
              <a:t> UML hoặc tách biệt trong </a:t>
            </a:r>
            <a:r>
              <a:rPr lang="en-GB"/>
              <a:t>biểu mẫu đặc tả</a:t>
            </a:r>
            <a:r>
              <a:rPr lang="en-GB"/>
              <a:t> riêng.</a:t>
            </a:r>
            <a:endParaRPr/>
          </a:p>
        </p:txBody>
      </p:sp>
      <p:sp>
        <p:nvSpPr>
          <p:cNvPr id="909" name="Google Shape;909;p70"/>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ràng buộc và ngữ cảnh</a:t>
            </a:r>
            <a:endParaRPr/>
          </a:p>
        </p:txBody>
      </p:sp>
      <p:sp>
        <p:nvSpPr>
          <p:cNvPr id="910" name="Google Shape;910;p7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71"/>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Bất biến</a:t>
            </a:r>
            <a:endParaRPr/>
          </a:p>
        </p:txBody>
      </p:sp>
      <p:sp>
        <p:nvSpPr>
          <p:cNvPr id="916" name="Google Shape;916;p71"/>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Bất biến </a:t>
            </a:r>
            <a:r>
              <a:rPr lang="en-GB"/>
              <a:t>đối với đối tượng </a:t>
            </a:r>
            <a:r>
              <a:rPr lang="en-GB"/>
              <a:t>là ràng buộc phải đúng trong suốt thời gian tồn tại của </a:t>
            </a:r>
            <a:r>
              <a:rPr lang="en-GB"/>
              <a:t>đối tượng đó</a:t>
            </a:r>
            <a:r>
              <a:rPr lang="en-GB"/>
              <a:t>.</a:t>
            </a:r>
            <a:endParaRPr/>
          </a:p>
          <a:p>
            <a:pPr indent="-381000" lvl="0" marL="457200" rtl="0" algn="l">
              <a:spcBef>
                <a:spcPts val="0"/>
              </a:spcBef>
              <a:spcAft>
                <a:spcPts val="0"/>
              </a:spcAft>
              <a:buSzPts val="2400"/>
              <a:buChar char="●"/>
            </a:pPr>
            <a:r>
              <a:rPr lang="en-GB"/>
              <a:t>Cú pháp:</a:t>
            </a:r>
            <a:endParaRPr/>
          </a:p>
          <a:p>
            <a:pPr indent="0" lvl="0" marL="457200" rtl="0" algn="l">
              <a:spcBef>
                <a:spcPts val="0"/>
              </a:spcBef>
              <a:spcAft>
                <a:spcPts val="0"/>
              </a:spcAft>
              <a:buNone/>
            </a:pPr>
            <a:r>
              <a:rPr b="1" lang="en-GB"/>
              <a:t>context</a:t>
            </a:r>
            <a:r>
              <a:rPr lang="en-GB"/>
              <a:t> &lt;lớp&gt;</a:t>
            </a:r>
            <a:endParaRPr/>
          </a:p>
          <a:p>
            <a:pPr indent="0" lvl="0" marL="457200" rtl="0" algn="l">
              <a:spcBef>
                <a:spcPts val="0"/>
              </a:spcBef>
              <a:spcAft>
                <a:spcPts val="0"/>
              </a:spcAft>
              <a:buNone/>
            </a:pPr>
            <a:r>
              <a:rPr b="1" lang="en-GB"/>
              <a:t>inv</a:t>
            </a:r>
            <a:r>
              <a:rPr lang="en-GB"/>
              <a:t> [&lt;tên ràng buộc&gt;]:</a:t>
            </a:r>
            <a:endParaRPr/>
          </a:p>
          <a:p>
            <a:pPr indent="0" lvl="0" marL="457200" rtl="0" algn="l">
              <a:spcBef>
                <a:spcPts val="0"/>
              </a:spcBef>
              <a:spcAft>
                <a:spcPts val="0"/>
              </a:spcAft>
              <a:buNone/>
            </a:pPr>
            <a:r>
              <a:rPr lang="en-GB"/>
              <a:t>&lt;Biểu thức </a:t>
            </a:r>
            <a:r>
              <a:rPr lang="en-GB"/>
              <a:t>ràng buộc</a:t>
            </a:r>
            <a:r>
              <a:rPr lang="en-GB"/>
              <a:t> OCL&gt;</a:t>
            </a:r>
            <a:endParaRPr/>
          </a:p>
        </p:txBody>
      </p:sp>
      <p:sp>
        <p:nvSpPr>
          <p:cNvPr id="917" name="Google Shape;917;p7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72"/>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mô tả </a:t>
            </a:r>
            <a:r>
              <a:rPr lang="en-GB"/>
              <a:t>bất biến </a:t>
            </a:r>
            <a:r>
              <a:rPr lang="en-GB"/>
              <a:t>tương đương</a:t>
            </a:r>
            <a:endParaRPr/>
          </a:p>
        </p:txBody>
      </p:sp>
      <p:sp>
        <p:nvSpPr>
          <p:cNvPr id="923" name="Google Shape;923;p72"/>
          <p:cNvSpPr txBox="1"/>
          <p:nvPr>
            <p:ph idx="4294967295" type="body"/>
          </p:nvPr>
        </p:nvSpPr>
        <p:spPr>
          <a:xfrm>
            <a:off x="311700" y="874800"/>
            <a:ext cx="8520600" cy="23622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b="1" lang="en-GB" sz="2400"/>
              <a:t>context</a:t>
            </a:r>
            <a:r>
              <a:rPr lang="en-GB" sz="2400"/>
              <a:t> Flight </a:t>
            </a:r>
            <a:r>
              <a:rPr b="1" lang="en-GB" sz="2400"/>
              <a:t>inv</a:t>
            </a:r>
            <a:r>
              <a:rPr lang="en-GB" sz="2400"/>
              <a:t>: self.duration &lt; 4</a:t>
            </a:r>
            <a:endParaRPr sz="2400"/>
          </a:p>
          <a:p>
            <a:pPr indent="-368300" lvl="1" marL="914400" rtl="0" algn="l">
              <a:spcBef>
                <a:spcPts val="0"/>
              </a:spcBef>
              <a:spcAft>
                <a:spcPts val="0"/>
              </a:spcAft>
              <a:buSzPts val="2200"/>
              <a:buChar char="○"/>
            </a:pPr>
            <a:r>
              <a:rPr lang="en-GB"/>
              <a:t>self - Đối tượng đang được kiểm tra ràng buộc.</a:t>
            </a:r>
            <a:endParaRPr/>
          </a:p>
          <a:p>
            <a:pPr indent="-381000" lvl="0" marL="457200" rtl="0" algn="l">
              <a:spcBef>
                <a:spcPts val="0"/>
              </a:spcBef>
              <a:spcAft>
                <a:spcPts val="0"/>
              </a:spcAft>
              <a:buSzPts val="2400"/>
              <a:buChar char="●"/>
            </a:pPr>
            <a:r>
              <a:rPr b="1" lang="en-GB" sz="2400"/>
              <a:t>context</a:t>
            </a:r>
            <a:r>
              <a:rPr lang="en-GB" sz="2400"/>
              <a:t> Flight </a:t>
            </a:r>
            <a:r>
              <a:rPr b="1" lang="en-GB" sz="2400"/>
              <a:t>inv</a:t>
            </a:r>
            <a:r>
              <a:rPr lang="en-GB" sz="2400"/>
              <a:t>: duration &lt; 4</a:t>
            </a:r>
            <a:endParaRPr sz="2400"/>
          </a:p>
          <a:p>
            <a:pPr indent="-381000" lvl="0" marL="457200" rtl="0" algn="l">
              <a:spcBef>
                <a:spcPts val="0"/>
              </a:spcBef>
              <a:spcAft>
                <a:spcPts val="0"/>
              </a:spcAft>
              <a:buSzPts val="2400"/>
              <a:buChar char="●"/>
            </a:pPr>
            <a:r>
              <a:rPr b="1" lang="en-GB" sz="2400"/>
              <a:t>context</a:t>
            </a:r>
            <a:r>
              <a:rPr lang="en-GB" sz="2400"/>
              <a:t> Flight </a:t>
            </a:r>
            <a:r>
              <a:rPr b="1" lang="en-GB" sz="2400"/>
              <a:t>inv</a:t>
            </a:r>
            <a:r>
              <a:rPr lang="en-GB" sz="2400"/>
              <a:t> flightDuration: duration &lt; 4</a:t>
            </a:r>
            <a:endParaRPr sz="2400"/>
          </a:p>
          <a:p>
            <a:pPr indent="-368300" lvl="1" marL="914400" rtl="0" algn="l">
              <a:spcBef>
                <a:spcPts val="0"/>
              </a:spcBef>
              <a:spcAft>
                <a:spcPts val="0"/>
              </a:spcAft>
              <a:buSzPts val="2200"/>
              <a:buChar char="○"/>
            </a:pPr>
            <a:r>
              <a:rPr lang="en-GB"/>
              <a:t>flightDuration - Tên được đặt cho ràng buộc</a:t>
            </a:r>
            <a:endParaRPr/>
          </a:p>
        </p:txBody>
      </p:sp>
      <p:sp>
        <p:nvSpPr>
          <p:cNvPr id="924" name="Google Shape;924;p7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25" name="Google Shape;925;p72"/>
          <p:cNvSpPr/>
          <p:nvPr/>
        </p:nvSpPr>
        <p:spPr>
          <a:xfrm>
            <a:off x="5951300" y="4224231"/>
            <a:ext cx="2660700" cy="52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a:t>Flight</a:t>
            </a:r>
            <a:endParaRPr b="1" sz="2200"/>
          </a:p>
        </p:txBody>
      </p:sp>
      <p:sp>
        <p:nvSpPr>
          <p:cNvPr id="926" name="Google Shape;926;p72"/>
          <p:cNvSpPr/>
          <p:nvPr/>
        </p:nvSpPr>
        <p:spPr>
          <a:xfrm>
            <a:off x="5951300" y="4754640"/>
            <a:ext cx="2660700" cy="52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2200"/>
              <a:t>duration</a:t>
            </a:r>
            <a:endParaRPr sz="2200"/>
          </a:p>
        </p:txBody>
      </p:sp>
      <p:sp>
        <p:nvSpPr>
          <p:cNvPr id="927" name="Google Shape;927;p72"/>
          <p:cNvSpPr/>
          <p:nvPr/>
        </p:nvSpPr>
        <p:spPr>
          <a:xfrm>
            <a:off x="5951300" y="5285049"/>
            <a:ext cx="2660700" cy="52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928" name="Google Shape;928;p72"/>
          <p:cNvSpPr/>
          <p:nvPr/>
        </p:nvSpPr>
        <p:spPr>
          <a:xfrm flipH="1" rot="10800000">
            <a:off x="3149050" y="4546306"/>
            <a:ext cx="2184600" cy="8961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72"/>
          <p:cNvSpPr txBox="1"/>
          <p:nvPr/>
        </p:nvSpPr>
        <p:spPr>
          <a:xfrm>
            <a:off x="3177050" y="4714331"/>
            <a:ext cx="2170500" cy="6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rgbClr val="666666"/>
                </a:solidFill>
              </a:rPr>
              <a:t>{duration &lt; 4}</a:t>
            </a:r>
            <a:endParaRPr sz="2200">
              <a:solidFill>
                <a:srgbClr val="666666"/>
              </a:solidFill>
            </a:endParaRPr>
          </a:p>
        </p:txBody>
      </p:sp>
      <p:cxnSp>
        <p:nvCxnSpPr>
          <p:cNvPr id="930" name="Google Shape;930;p72"/>
          <p:cNvCxnSpPr>
            <a:stCxn id="929" idx="3"/>
            <a:endCxn id="926" idx="1"/>
          </p:cNvCxnSpPr>
          <p:nvPr/>
        </p:nvCxnSpPr>
        <p:spPr>
          <a:xfrm>
            <a:off x="5347550" y="5015381"/>
            <a:ext cx="603900" cy="1200"/>
          </a:xfrm>
          <a:prstGeom prst="straightConnector1">
            <a:avLst/>
          </a:prstGeom>
          <a:noFill/>
          <a:ln cap="flat" cmpd="sng" w="9525">
            <a:solidFill>
              <a:schemeClr val="dk2"/>
            </a:solidFill>
            <a:prstDash val="dash"/>
            <a:round/>
            <a:headEnd len="med" w="med" type="none"/>
            <a:tailEnd len="med" w="med" type="none"/>
          </a:ln>
        </p:spPr>
      </p:cxnSp>
      <p:sp>
        <p:nvSpPr>
          <p:cNvPr id="931" name="Google Shape;931;p72"/>
          <p:cNvSpPr/>
          <p:nvPr/>
        </p:nvSpPr>
        <p:spPr>
          <a:xfrm>
            <a:off x="398725" y="3448500"/>
            <a:ext cx="2346000" cy="1051200"/>
          </a:xfrm>
          <a:prstGeom prst="wedgeRoundRectCallout">
            <a:avLst>
              <a:gd fmla="val 59108" name="adj1"/>
              <a:gd fmla="val 24957"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l">
              <a:spcBef>
                <a:spcPts val="0"/>
              </a:spcBef>
              <a:spcAft>
                <a:spcPts val="0"/>
              </a:spcAft>
              <a:buNone/>
            </a:pPr>
            <a:r>
              <a:rPr i="1" lang="en-GB" sz="1800"/>
              <a:t>Ràng buộc OCL như ghi chú trong </a:t>
            </a:r>
            <a:r>
              <a:rPr i="1" lang="en-GB" sz="1800"/>
              <a:t>sơ đồ</a:t>
            </a:r>
            <a:r>
              <a:rPr i="1" lang="en-GB" sz="1800"/>
              <a:t> UML</a:t>
            </a:r>
            <a:endParaRPr i="1" sz="1800"/>
          </a:p>
        </p:txBody>
      </p:sp>
      <p:cxnSp>
        <p:nvCxnSpPr>
          <p:cNvPr id="932" name="Google Shape;932;p72"/>
          <p:cNvCxnSpPr>
            <a:stCxn id="931" idx="4"/>
            <a:endCxn id="928" idx="2"/>
          </p:cNvCxnSpPr>
          <p:nvPr/>
        </p:nvCxnSpPr>
        <p:spPr>
          <a:xfrm>
            <a:off x="2958399" y="4236448"/>
            <a:ext cx="1283100" cy="309900"/>
          </a:xfrm>
          <a:prstGeom prst="straightConnector1">
            <a:avLst/>
          </a:prstGeom>
          <a:noFill/>
          <a:ln cap="flat" cmpd="sng" w="9525">
            <a:solidFill>
              <a:schemeClr val="dk2"/>
            </a:solidFill>
            <a:prstDash val="dot"/>
            <a:round/>
            <a:headEnd len="med" w="med" type="none"/>
            <a:tailEnd len="med" w="med" type="none"/>
          </a:ln>
        </p:spPr>
      </p:cxn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73"/>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Tiền điều kiện và hậu điều kiện</a:t>
            </a:r>
            <a:endParaRPr/>
          </a:p>
        </p:txBody>
      </p:sp>
      <p:sp>
        <p:nvSpPr>
          <p:cNvPr id="938" name="Google Shape;938;p7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39" name="Google Shape;939;p73"/>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Đ</a:t>
            </a:r>
            <a:r>
              <a:rPr lang="en-GB"/>
              <a:t>ược áp dụng cho các </a:t>
            </a:r>
            <a:r>
              <a:rPr lang="en-GB"/>
              <a:t>phương thức</a:t>
            </a:r>
            <a:endParaRPr/>
          </a:p>
          <a:p>
            <a:pPr indent="-381000" lvl="0" marL="457200" rtl="0" algn="l">
              <a:spcBef>
                <a:spcPts val="0"/>
              </a:spcBef>
              <a:spcAft>
                <a:spcPts val="0"/>
              </a:spcAft>
              <a:buSzPts val="2400"/>
              <a:buChar char="●"/>
            </a:pPr>
            <a:r>
              <a:rPr lang="en-GB"/>
              <a:t>Tiền điều kiện phải đúng trước khi thực hiện </a:t>
            </a:r>
            <a:r>
              <a:rPr lang="en-GB"/>
              <a:t>phương thức</a:t>
            </a:r>
            <a:r>
              <a:rPr lang="en-GB"/>
              <a:t>.</a:t>
            </a:r>
            <a:endParaRPr/>
          </a:p>
          <a:p>
            <a:pPr indent="-381000" lvl="0" marL="457200" rtl="0" algn="l">
              <a:spcBef>
                <a:spcPts val="0"/>
              </a:spcBef>
              <a:spcAft>
                <a:spcPts val="0"/>
              </a:spcAft>
              <a:buSzPts val="2400"/>
              <a:buChar char="●"/>
            </a:pPr>
            <a:r>
              <a:rPr lang="en-GB"/>
              <a:t>Hậu điều kiện phải đúng sau khi thực hiện </a:t>
            </a:r>
            <a:r>
              <a:rPr lang="en-GB"/>
              <a:t>phương thức</a:t>
            </a:r>
            <a:r>
              <a:rPr lang="en-GB"/>
              <a:t>.</a:t>
            </a:r>
            <a:endParaRPr/>
          </a:p>
          <a:p>
            <a:pPr indent="-381000" lvl="0" marL="457200" rtl="0" algn="l">
              <a:spcBef>
                <a:spcPts val="0"/>
              </a:spcBef>
              <a:spcAft>
                <a:spcPts val="0"/>
              </a:spcAft>
              <a:buSzPts val="2400"/>
              <a:buChar char="●"/>
            </a:pPr>
            <a:r>
              <a:rPr lang="en-GB"/>
              <a:t>Cú pháp:</a:t>
            </a:r>
            <a:endParaRPr/>
          </a:p>
          <a:p>
            <a:pPr indent="0" lvl="0" marL="457200" rtl="0" algn="l">
              <a:spcBef>
                <a:spcPts val="0"/>
              </a:spcBef>
              <a:spcAft>
                <a:spcPts val="0"/>
              </a:spcAft>
              <a:buNone/>
            </a:pPr>
            <a:r>
              <a:rPr b="1" lang="en-GB"/>
              <a:t>context</a:t>
            </a:r>
            <a:r>
              <a:rPr lang="en-GB"/>
              <a:t> &lt;lớp&gt;::&lt;phương thức&gt;(&lt;các tham số&gt;)</a:t>
            </a:r>
            <a:endParaRPr/>
          </a:p>
          <a:p>
            <a:pPr indent="0" lvl="0" marL="457200" rtl="0" algn="l">
              <a:spcBef>
                <a:spcPts val="0"/>
              </a:spcBef>
              <a:spcAft>
                <a:spcPts val="0"/>
              </a:spcAft>
              <a:buNone/>
            </a:pPr>
            <a:r>
              <a:rPr b="1" lang="en-GB"/>
              <a:t>pre</a:t>
            </a:r>
            <a:r>
              <a:rPr lang="en-GB"/>
              <a:t>|</a:t>
            </a:r>
            <a:r>
              <a:rPr b="1" lang="en-GB"/>
              <a:t>post</a:t>
            </a:r>
            <a:r>
              <a:rPr lang="en-GB"/>
              <a:t> [&lt;tên ràng buộc&gt;]:</a:t>
            </a:r>
            <a:endParaRPr/>
          </a:p>
          <a:p>
            <a:pPr indent="0" lvl="0" marL="457200" rtl="0" algn="l">
              <a:spcBef>
                <a:spcPts val="0"/>
              </a:spcBef>
              <a:spcAft>
                <a:spcPts val="0"/>
              </a:spcAft>
              <a:buNone/>
            </a:pPr>
            <a:r>
              <a:rPr lang="en-GB"/>
              <a:t>&lt;Biểu thức </a:t>
            </a:r>
            <a:r>
              <a:rPr lang="en-GB"/>
              <a:t>ràng buộc</a:t>
            </a:r>
            <a:r>
              <a:rPr lang="en-GB"/>
              <a:t> OCL&gt;</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74"/>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3.1</a:t>
            </a:r>
            <a:r>
              <a:rPr lang="en-GB"/>
              <a:t>6</a:t>
            </a:r>
            <a:r>
              <a:rPr lang="en-GB"/>
              <a:t>. Mô tả điều kiện </a:t>
            </a:r>
            <a:endParaRPr/>
          </a:p>
        </p:txBody>
      </p:sp>
      <p:sp>
        <p:nvSpPr>
          <p:cNvPr id="945" name="Google Shape;945;p74"/>
          <p:cNvSpPr txBox="1"/>
          <p:nvPr>
            <p:ph idx="4294967295" type="body"/>
          </p:nvPr>
        </p:nvSpPr>
        <p:spPr>
          <a:xfrm>
            <a:off x="311700" y="874800"/>
            <a:ext cx="8520600" cy="289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2400"/>
              <a:t>context</a:t>
            </a:r>
            <a:r>
              <a:rPr lang="en-GB" sz="2400"/>
              <a:t> Flight::shiftDeparture(t: Integer)</a:t>
            </a:r>
            <a:endParaRPr sz="2400"/>
          </a:p>
          <a:p>
            <a:pPr indent="0" lvl="0" marL="0" rtl="0" algn="l">
              <a:spcBef>
                <a:spcPts val="0"/>
              </a:spcBef>
              <a:spcAft>
                <a:spcPts val="0"/>
              </a:spcAft>
              <a:buNone/>
            </a:pPr>
            <a:r>
              <a:rPr b="1" lang="en-GB" sz="2400"/>
              <a:t>pre</a:t>
            </a:r>
            <a:r>
              <a:rPr lang="en-GB" sz="2400"/>
              <a:t>: t &gt; 0</a:t>
            </a:r>
            <a:endParaRPr sz="2400"/>
          </a:p>
          <a:p>
            <a:pPr indent="0" lvl="0" marL="0" rtl="0" algn="l">
              <a:spcBef>
                <a:spcPts val="0"/>
              </a:spcBef>
              <a:spcAft>
                <a:spcPts val="0"/>
              </a:spcAft>
              <a:buNone/>
            </a:pPr>
            <a:r>
              <a:rPr b="1" lang="en-GB" sz="2400"/>
              <a:t>post</a:t>
            </a:r>
            <a:r>
              <a:rPr lang="en-GB" sz="2400"/>
              <a:t>: result = departureTime@pre + t + duration</a:t>
            </a:r>
            <a:endParaRPr sz="2400"/>
          </a:p>
          <a:p>
            <a:pPr indent="0" lvl="0" marL="0" rtl="0" algn="l">
              <a:spcBef>
                <a:spcPts val="1000"/>
              </a:spcBef>
              <a:spcAft>
                <a:spcPts val="0"/>
              </a:spcAft>
              <a:buNone/>
            </a:pPr>
            <a:r>
              <a:rPr lang="en-GB" sz="2400"/>
              <a:t>-- Chúng ta muốn trả về thời gian đến đã cập nhật</a:t>
            </a:r>
            <a:endParaRPr sz="2400"/>
          </a:p>
          <a:p>
            <a:pPr indent="0" lvl="0" marL="0" rtl="0" algn="l">
              <a:spcBef>
                <a:spcPts val="0"/>
              </a:spcBef>
              <a:spcAft>
                <a:spcPts val="0"/>
              </a:spcAft>
              <a:buNone/>
            </a:pPr>
            <a:r>
              <a:rPr lang="en-GB" sz="2400"/>
              <a:t>-- @pre - chỉ được sử dụng trong hậu điều kiện, để chỉ định trạng thái ban đầu.</a:t>
            </a:r>
            <a:endParaRPr sz="2400"/>
          </a:p>
        </p:txBody>
      </p:sp>
      <p:sp>
        <p:nvSpPr>
          <p:cNvPr id="946" name="Google Shape;946;p7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47" name="Google Shape;947;p74"/>
          <p:cNvSpPr/>
          <p:nvPr/>
        </p:nvSpPr>
        <p:spPr>
          <a:xfrm>
            <a:off x="5134575" y="3588050"/>
            <a:ext cx="3248700" cy="602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a:solidFill>
                  <a:srgbClr val="666666"/>
                </a:solidFill>
              </a:rPr>
              <a:t>Flight</a:t>
            </a:r>
            <a:endParaRPr b="1" sz="2200">
              <a:solidFill>
                <a:srgbClr val="666666"/>
              </a:solidFill>
            </a:endParaRPr>
          </a:p>
        </p:txBody>
      </p:sp>
      <p:sp>
        <p:nvSpPr>
          <p:cNvPr id="948" name="Google Shape;948;p74"/>
          <p:cNvSpPr/>
          <p:nvPr/>
        </p:nvSpPr>
        <p:spPr>
          <a:xfrm>
            <a:off x="5134575" y="4197650"/>
            <a:ext cx="3248700" cy="1130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2200">
                <a:solidFill>
                  <a:srgbClr val="666666"/>
                </a:solidFill>
              </a:rPr>
              <a:t>departTime</a:t>
            </a:r>
            <a:endParaRPr sz="2200">
              <a:solidFill>
                <a:srgbClr val="666666"/>
              </a:solidFill>
            </a:endParaRPr>
          </a:p>
          <a:p>
            <a:pPr indent="0" lvl="0" marL="0" rtl="0" algn="l">
              <a:spcBef>
                <a:spcPts val="0"/>
              </a:spcBef>
              <a:spcAft>
                <a:spcPts val="0"/>
              </a:spcAft>
              <a:buNone/>
            </a:pPr>
            <a:r>
              <a:rPr lang="en-GB" sz="2200">
                <a:solidFill>
                  <a:srgbClr val="666666"/>
                </a:solidFill>
              </a:rPr>
              <a:t>/arrivalTime</a:t>
            </a:r>
            <a:endParaRPr sz="2200">
              <a:solidFill>
                <a:srgbClr val="666666"/>
              </a:solidFill>
            </a:endParaRPr>
          </a:p>
          <a:p>
            <a:pPr indent="0" lvl="0" marL="0" rtl="0" algn="l">
              <a:spcBef>
                <a:spcPts val="0"/>
              </a:spcBef>
              <a:spcAft>
                <a:spcPts val="0"/>
              </a:spcAft>
              <a:buNone/>
            </a:pPr>
            <a:r>
              <a:rPr lang="en-GB" sz="2200">
                <a:solidFill>
                  <a:srgbClr val="666666"/>
                </a:solidFill>
              </a:rPr>
              <a:t>duration</a:t>
            </a:r>
            <a:endParaRPr sz="2200">
              <a:solidFill>
                <a:srgbClr val="666666"/>
              </a:solidFill>
            </a:endParaRPr>
          </a:p>
        </p:txBody>
      </p:sp>
      <p:sp>
        <p:nvSpPr>
          <p:cNvPr id="949" name="Google Shape;949;p74"/>
          <p:cNvSpPr/>
          <p:nvPr/>
        </p:nvSpPr>
        <p:spPr>
          <a:xfrm>
            <a:off x="5134575" y="5340650"/>
            <a:ext cx="3248700" cy="602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2200">
                <a:solidFill>
                  <a:srgbClr val="666666"/>
                </a:solidFill>
              </a:rPr>
              <a:t>shiftDeparture(t:Integer)</a:t>
            </a:r>
            <a:endParaRPr sz="2200">
              <a:solidFill>
                <a:srgbClr val="666666"/>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75"/>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Kế thừa ràng buộc</a:t>
            </a:r>
            <a:endParaRPr/>
          </a:p>
        </p:txBody>
      </p:sp>
      <p:sp>
        <p:nvSpPr>
          <p:cNvPr id="955" name="Google Shape;955;p7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56" name="Google Shape;956;p75"/>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hệ quả của nguyên lý khả thay Liskov</a:t>
            </a:r>
            <a:endParaRPr/>
          </a:p>
          <a:p>
            <a:pPr indent="-381000" lvl="0" marL="457200" rtl="0" algn="l">
              <a:spcBef>
                <a:spcPts val="0"/>
              </a:spcBef>
              <a:spcAft>
                <a:spcPts val="0"/>
              </a:spcAft>
              <a:buSzPts val="2400"/>
              <a:buChar char="●"/>
            </a:pPr>
            <a:r>
              <a:rPr lang="en-GB"/>
              <a:t>Các lớp dưới kế thừa các bất biến của lớp trên</a:t>
            </a:r>
            <a:endParaRPr/>
          </a:p>
          <a:p>
            <a:pPr indent="-368300" lvl="1" marL="914400" rtl="0" algn="l">
              <a:spcBef>
                <a:spcPts val="0"/>
              </a:spcBef>
              <a:spcAft>
                <a:spcPts val="0"/>
              </a:spcAft>
              <a:buSzPts val="2200"/>
              <a:buChar char="○"/>
            </a:pPr>
            <a:r>
              <a:rPr lang="en-GB"/>
              <a:t>Lớp dưới có thể tăng cường các bất biến nhưng không được nới lỏng chúng.</a:t>
            </a:r>
            <a:endParaRPr/>
          </a:p>
          <a:p>
            <a:pPr indent="-381000" lvl="0" marL="457200" rtl="0" algn="l">
              <a:spcBef>
                <a:spcPts val="0"/>
              </a:spcBef>
              <a:spcAft>
                <a:spcPts val="0"/>
              </a:spcAft>
              <a:buSzPts val="2400"/>
              <a:buChar char="●"/>
            </a:pPr>
            <a:r>
              <a:rPr lang="en-GB"/>
              <a:t>Lớp dưới có thể nới lỏng tiền điều kiện trong lớp trên</a:t>
            </a:r>
            <a:endParaRPr/>
          </a:p>
          <a:p>
            <a:pPr indent="-368300" lvl="1" marL="914400" rtl="0" algn="l">
              <a:spcBef>
                <a:spcPts val="0"/>
              </a:spcBef>
              <a:spcAft>
                <a:spcPts val="0"/>
              </a:spcAft>
              <a:buSzPts val="2200"/>
              <a:buChar char="○"/>
            </a:pPr>
            <a:r>
              <a:rPr b="1" lang="en-GB"/>
              <a:t>context</a:t>
            </a:r>
            <a:r>
              <a:rPr lang="en-GB"/>
              <a:t> SuperClass::foo(i:Integer) </a:t>
            </a:r>
            <a:r>
              <a:rPr b="1" lang="en-GB"/>
              <a:t>pre</a:t>
            </a:r>
            <a:r>
              <a:rPr lang="en-GB"/>
              <a:t>: i &gt; 100</a:t>
            </a:r>
            <a:endParaRPr/>
          </a:p>
          <a:p>
            <a:pPr indent="-368300" lvl="1" marL="914400" rtl="0" algn="l">
              <a:spcBef>
                <a:spcPts val="0"/>
              </a:spcBef>
              <a:spcAft>
                <a:spcPts val="0"/>
              </a:spcAft>
              <a:buSzPts val="2200"/>
              <a:buChar char="○"/>
            </a:pPr>
            <a:r>
              <a:rPr b="1" lang="en-GB"/>
              <a:t>context</a:t>
            </a:r>
            <a:r>
              <a:rPr lang="en-GB"/>
              <a:t> SubClass::foo(i:Integer) </a:t>
            </a:r>
            <a:r>
              <a:rPr b="1" lang="en-GB"/>
              <a:t>pre</a:t>
            </a:r>
            <a:r>
              <a:rPr lang="en-GB"/>
              <a:t>: i &gt; 0</a:t>
            </a:r>
            <a:endParaRPr/>
          </a:p>
          <a:p>
            <a:pPr indent="-368300" lvl="1" marL="914400" rtl="0" algn="l">
              <a:spcBef>
                <a:spcPts val="0"/>
              </a:spcBef>
              <a:spcAft>
                <a:spcPts val="0"/>
              </a:spcAft>
              <a:buSzPts val="2200"/>
              <a:buChar char="○"/>
            </a:pPr>
            <a:r>
              <a:rPr lang="en-GB"/>
              <a:t>=&gt; Lớp dưới vẫn có thể xử lý dữ liệu đầu vào như lớp trên.</a:t>
            </a:r>
            <a:endParaRPr/>
          </a:p>
          <a:p>
            <a:pPr indent="-381000" lvl="0" marL="457200" rtl="0" algn="l">
              <a:spcBef>
                <a:spcPts val="0"/>
              </a:spcBef>
              <a:spcAft>
                <a:spcPts val="0"/>
              </a:spcAft>
              <a:buSzPts val="2400"/>
              <a:buChar char="●"/>
            </a:pPr>
            <a:r>
              <a:rPr lang="en-GB"/>
              <a:t>Lớp dưới có thể tăng cường hậu điều kiện trong lớp trên</a:t>
            </a:r>
            <a:endParaRPr/>
          </a:p>
          <a:p>
            <a:pPr indent="-368300" lvl="1" marL="914400" rtl="0" algn="l">
              <a:spcBef>
                <a:spcPts val="0"/>
              </a:spcBef>
              <a:spcAft>
                <a:spcPts val="0"/>
              </a:spcAft>
              <a:buSzPts val="2200"/>
              <a:buChar char="○"/>
            </a:pPr>
            <a:r>
              <a:rPr b="1" lang="en-GB"/>
              <a:t>context</a:t>
            </a:r>
            <a:r>
              <a:rPr lang="en-GB"/>
              <a:t> SuperClass::foo(): Integer </a:t>
            </a:r>
            <a:r>
              <a:rPr b="1" lang="en-GB"/>
              <a:t>post</a:t>
            </a:r>
            <a:r>
              <a:rPr lang="en-GB"/>
              <a:t>: result &gt; 0</a:t>
            </a:r>
            <a:endParaRPr/>
          </a:p>
          <a:p>
            <a:pPr indent="-368300" lvl="1" marL="914400" rtl="0" algn="l">
              <a:spcBef>
                <a:spcPts val="0"/>
              </a:spcBef>
              <a:spcAft>
                <a:spcPts val="0"/>
              </a:spcAft>
              <a:buSzPts val="2200"/>
              <a:buChar char="○"/>
            </a:pPr>
            <a:r>
              <a:rPr b="1" lang="en-GB"/>
              <a:t>context</a:t>
            </a:r>
            <a:r>
              <a:rPr lang="en-GB"/>
              <a:t> SuperClass::foo(): Integer </a:t>
            </a:r>
            <a:r>
              <a:rPr b="1" lang="en-GB"/>
              <a:t>post</a:t>
            </a:r>
            <a:r>
              <a:rPr lang="en-GB"/>
              <a:t>: result &gt; 10</a:t>
            </a:r>
            <a:endParaRPr/>
          </a:p>
          <a:p>
            <a:pPr indent="-368300" lvl="1" marL="914400" rtl="0" algn="l">
              <a:spcBef>
                <a:spcPts val="0"/>
              </a:spcBef>
              <a:spcAft>
                <a:spcPts val="0"/>
              </a:spcAft>
              <a:buSzPts val="2200"/>
              <a:buChar char="○"/>
            </a:pPr>
            <a:r>
              <a:rPr lang="en-GB"/>
              <a:t>=&gt; Biểu thức gọi phương thức bằng giao </a:t>
            </a:r>
            <a:r>
              <a:rPr lang="en-GB"/>
              <a:t>của </a:t>
            </a:r>
            <a:r>
              <a:rPr lang="en-GB"/>
              <a:t>diện lớp trên vẫn thu được kết quả &gt; 0 dù đối tượng thuộc lớp dưới.</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76"/>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thành phần của biểu thức </a:t>
            </a:r>
            <a:r>
              <a:rPr lang="en-GB"/>
              <a:t>ràng buộc</a:t>
            </a:r>
            <a:endParaRPr/>
          </a:p>
        </p:txBody>
      </p:sp>
      <p:sp>
        <p:nvSpPr>
          <p:cNvPr id="962" name="Google Shape;962;p76"/>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Các kiểu cơ sở:</a:t>
            </a:r>
            <a:endParaRPr/>
          </a:p>
          <a:p>
            <a:pPr indent="-368300" lvl="1" marL="914400" rtl="0" algn="l">
              <a:spcBef>
                <a:spcPts val="0"/>
              </a:spcBef>
              <a:spcAft>
                <a:spcPts val="0"/>
              </a:spcAft>
              <a:buSzPts val="2200"/>
              <a:buChar char="○"/>
            </a:pPr>
            <a:r>
              <a:rPr lang="en-GB"/>
              <a:t>Boolean</a:t>
            </a:r>
            <a:endParaRPr/>
          </a:p>
          <a:p>
            <a:pPr indent="-368300" lvl="1" marL="914400" rtl="0" algn="l">
              <a:spcBef>
                <a:spcPts val="0"/>
              </a:spcBef>
              <a:spcAft>
                <a:spcPts val="0"/>
              </a:spcAft>
              <a:buSzPts val="2200"/>
              <a:buChar char="○"/>
            </a:pPr>
            <a:r>
              <a:rPr lang="en-GB"/>
              <a:t>Integer</a:t>
            </a:r>
            <a:endParaRPr/>
          </a:p>
          <a:p>
            <a:pPr indent="-368300" lvl="1" marL="914400" rtl="0" algn="l">
              <a:spcBef>
                <a:spcPts val="0"/>
              </a:spcBef>
              <a:spcAft>
                <a:spcPts val="0"/>
              </a:spcAft>
              <a:buSzPts val="2200"/>
              <a:buChar char="○"/>
            </a:pPr>
            <a:r>
              <a:rPr lang="en-GB"/>
              <a:t>Real</a:t>
            </a:r>
            <a:endParaRPr/>
          </a:p>
          <a:p>
            <a:pPr indent="-368300" lvl="1" marL="914400" rtl="0" algn="l">
              <a:spcBef>
                <a:spcPts val="0"/>
              </a:spcBef>
              <a:spcAft>
                <a:spcPts val="0"/>
              </a:spcAft>
              <a:buSzPts val="2200"/>
              <a:buChar char="○"/>
            </a:pPr>
            <a:r>
              <a:rPr lang="en-GB"/>
              <a:t>String</a:t>
            </a:r>
            <a:endParaRPr/>
          </a:p>
          <a:p>
            <a:pPr indent="-381000" lvl="0" marL="457200" rtl="0" algn="l">
              <a:spcBef>
                <a:spcPts val="0"/>
              </a:spcBef>
              <a:spcAft>
                <a:spcPts val="0"/>
              </a:spcAft>
              <a:buSzPts val="2400"/>
              <a:buChar char="●"/>
            </a:pPr>
            <a:r>
              <a:rPr lang="en-GB"/>
              <a:t>Các lớp từ mô hình UML và các thành phần của chúng</a:t>
            </a:r>
            <a:endParaRPr/>
          </a:p>
          <a:p>
            <a:pPr indent="-368300" lvl="1" marL="914400" rtl="0" algn="l">
              <a:spcBef>
                <a:spcPts val="0"/>
              </a:spcBef>
              <a:spcAft>
                <a:spcPts val="0"/>
              </a:spcAft>
              <a:buSzPts val="2200"/>
              <a:buChar char="○"/>
            </a:pPr>
            <a:r>
              <a:rPr lang="en-GB"/>
              <a:t>Thuộc tính</a:t>
            </a:r>
            <a:endParaRPr/>
          </a:p>
          <a:p>
            <a:pPr indent="-368300" lvl="1" marL="914400" rtl="0" algn="l">
              <a:spcBef>
                <a:spcPts val="0"/>
              </a:spcBef>
              <a:spcAft>
                <a:spcPts val="0"/>
              </a:spcAft>
              <a:buSzPts val="2200"/>
              <a:buChar char="○"/>
            </a:pPr>
            <a:r>
              <a:rPr lang="en-GB"/>
              <a:t>Thao tác truy xuất</a:t>
            </a:r>
            <a:endParaRPr/>
          </a:p>
          <a:p>
            <a:pPr indent="-381000" lvl="0" marL="457200" rtl="0" algn="l">
              <a:spcBef>
                <a:spcPts val="0"/>
              </a:spcBef>
              <a:spcAft>
                <a:spcPts val="0"/>
              </a:spcAft>
              <a:buSzPts val="2400"/>
              <a:buChar char="●"/>
            </a:pPr>
            <a:r>
              <a:rPr lang="en-GB"/>
              <a:t>Liên kết từ mô hình UML</a:t>
            </a:r>
            <a:endParaRPr/>
          </a:p>
          <a:p>
            <a:pPr indent="-368300" lvl="1" marL="914400" rtl="0" algn="l">
              <a:spcBef>
                <a:spcPts val="0"/>
              </a:spcBef>
              <a:spcAft>
                <a:spcPts val="0"/>
              </a:spcAft>
              <a:buSzPts val="2200"/>
              <a:buChar char="○"/>
            </a:pPr>
            <a:r>
              <a:rPr lang="en-GB"/>
              <a:t>Bao gồm tên vai trò ở mỗi đầu liên kết</a:t>
            </a:r>
            <a:endParaRPr/>
          </a:p>
        </p:txBody>
      </p:sp>
      <p:sp>
        <p:nvSpPr>
          <p:cNvPr id="963" name="Google Shape;963;p7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77"/>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biểu thức duyệt</a:t>
            </a:r>
            <a:endParaRPr/>
          </a:p>
        </p:txBody>
      </p:sp>
      <p:sp>
        <p:nvSpPr>
          <p:cNvPr id="969" name="Google Shape;969;p77"/>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Duyệt theo liên kết - Được sử dụng để truy cập các đối tượng liên quan, bắt đầu từ đối tượng ngữ cảnh</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GB"/>
              <a:t>context</a:t>
            </a:r>
            <a:r>
              <a:rPr lang="en-GB"/>
              <a:t> Flight</a:t>
            </a:r>
            <a:endParaRPr/>
          </a:p>
          <a:p>
            <a:pPr indent="0" lvl="0" marL="0" rtl="0" algn="l">
              <a:spcBef>
                <a:spcPts val="0"/>
              </a:spcBef>
              <a:spcAft>
                <a:spcPts val="0"/>
              </a:spcAft>
              <a:buNone/>
            </a:pPr>
            <a:r>
              <a:rPr b="1" lang="en-GB"/>
              <a:t>inv</a:t>
            </a:r>
            <a:r>
              <a:rPr lang="en-GB"/>
              <a:t>: origin != destination</a:t>
            </a:r>
            <a:endParaRPr/>
          </a:p>
          <a:p>
            <a:pPr indent="0" lvl="0" marL="0" rtl="0" algn="l">
              <a:spcBef>
                <a:spcPts val="0"/>
              </a:spcBef>
              <a:spcAft>
                <a:spcPts val="0"/>
              </a:spcAft>
              <a:buNone/>
            </a:pPr>
            <a:r>
              <a:rPr b="1" lang="en-GB"/>
              <a:t>inv</a:t>
            </a:r>
            <a:r>
              <a:rPr lang="en-GB"/>
              <a:t>: origin.name == "Hanoi"</a:t>
            </a:r>
            <a:endParaRPr/>
          </a:p>
        </p:txBody>
      </p:sp>
      <p:sp>
        <p:nvSpPr>
          <p:cNvPr id="970" name="Google Shape;970;p7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71" name="Google Shape;971;p77"/>
          <p:cNvSpPr/>
          <p:nvPr/>
        </p:nvSpPr>
        <p:spPr>
          <a:xfrm>
            <a:off x="5363175" y="1987850"/>
            <a:ext cx="3248700" cy="602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a:solidFill>
                  <a:srgbClr val="666666"/>
                </a:solidFill>
                <a:latin typeface="Times New Roman"/>
                <a:ea typeface="Times New Roman"/>
                <a:cs typeface="Times New Roman"/>
                <a:sym typeface="Times New Roman"/>
              </a:rPr>
              <a:t>Flight</a:t>
            </a:r>
            <a:endParaRPr b="1" sz="2200">
              <a:solidFill>
                <a:srgbClr val="666666"/>
              </a:solidFill>
              <a:latin typeface="Times New Roman"/>
              <a:ea typeface="Times New Roman"/>
              <a:cs typeface="Times New Roman"/>
              <a:sym typeface="Times New Roman"/>
            </a:endParaRPr>
          </a:p>
        </p:txBody>
      </p:sp>
      <p:sp>
        <p:nvSpPr>
          <p:cNvPr id="972" name="Google Shape;972;p77"/>
          <p:cNvSpPr/>
          <p:nvPr/>
        </p:nvSpPr>
        <p:spPr>
          <a:xfrm>
            <a:off x="5363175" y="2597450"/>
            <a:ext cx="3248700" cy="1043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2200">
                <a:solidFill>
                  <a:srgbClr val="666666"/>
                </a:solidFill>
                <a:latin typeface="Times New Roman"/>
                <a:ea typeface="Times New Roman"/>
                <a:cs typeface="Times New Roman"/>
                <a:sym typeface="Times New Roman"/>
              </a:rPr>
              <a:t>departTime</a:t>
            </a:r>
            <a:endParaRPr sz="2200">
              <a:solidFill>
                <a:srgbClr val="666666"/>
              </a:solidFill>
              <a:latin typeface="Times New Roman"/>
              <a:ea typeface="Times New Roman"/>
              <a:cs typeface="Times New Roman"/>
              <a:sym typeface="Times New Roman"/>
            </a:endParaRPr>
          </a:p>
          <a:p>
            <a:pPr indent="0" lvl="0" marL="0" rtl="0" algn="l">
              <a:spcBef>
                <a:spcPts val="0"/>
              </a:spcBef>
              <a:spcAft>
                <a:spcPts val="0"/>
              </a:spcAft>
              <a:buNone/>
            </a:pPr>
            <a:r>
              <a:rPr lang="en-GB" sz="2200">
                <a:solidFill>
                  <a:srgbClr val="666666"/>
                </a:solidFill>
                <a:latin typeface="Times New Roman"/>
                <a:ea typeface="Times New Roman"/>
                <a:cs typeface="Times New Roman"/>
                <a:sym typeface="Times New Roman"/>
              </a:rPr>
              <a:t>/arrivalTime</a:t>
            </a:r>
            <a:endParaRPr sz="2200">
              <a:solidFill>
                <a:srgbClr val="666666"/>
              </a:solidFill>
              <a:latin typeface="Times New Roman"/>
              <a:ea typeface="Times New Roman"/>
              <a:cs typeface="Times New Roman"/>
              <a:sym typeface="Times New Roman"/>
            </a:endParaRPr>
          </a:p>
          <a:p>
            <a:pPr indent="0" lvl="0" marL="0" rtl="0" algn="l">
              <a:spcBef>
                <a:spcPts val="0"/>
              </a:spcBef>
              <a:spcAft>
                <a:spcPts val="0"/>
              </a:spcAft>
              <a:buNone/>
            </a:pPr>
            <a:r>
              <a:rPr lang="en-GB" sz="2200">
                <a:solidFill>
                  <a:srgbClr val="666666"/>
                </a:solidFill>
                <a:latin typeface="Times New Roman"/>
                <a:ea typeface="Times New Roman"/>
                <a:cs typeface="Times New Roman"/>
                <a:sym typeface="Times New Roman"/>
              </a:rPr>
              <a:t>duration</a:t>
            </a:r>
            <a:endParaRPr sz="2200">
              <a:solidFill>
                <a:srgbClr val="666666"/>
              </a:solidFill>
              <a:latin typeface="Times New Roman"/>
              <a:ea typeface="Times New Roman"/>
              <a:cs typeface="Times New Roman"/>
              <a:sym typeface="Times New Roman"/>
            </a:endParaRPr>
          </a:p>
        </p:txBody>
      </p:sp>
      <p:sp>
        <p:nvSpPr>
          <p:cNvPr id="973" name="Google Shape;973;p77"/>
          <p:cNvSpPr/>
          <p:nvPr/>
        </p:nvSpPr>
        <p:spPr>
          <a:xfrm>
            <a:off x="5363175" y="3648452"/>
            <a:ext cx="32487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200">
              <a:latin typeface="Times New Roman"/>
              <a:ea typeface="Times New Roman"/>
              <a:cs typeface="Times New Roman"/>
              <a:sym typeface="Times New Roman"/>
            </a:endParaRPr>
          </a:p>
        </p:txBody>
      </p:sp>
      <p:sp>
        <p:nvSpPr>
          <p:cNvPr id="974" name="Google Shape;974;p77"/>
          <p:cNvSpPr/>
          <p:nvPr/>
        </p:nvSpPr>
        <p:spPr>
          <a:xfrm>
            <a:off x="867375" y="2216450"/>
            <a:ext cx="2543400" cy="602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a:solidFill>
                  <a:srgbClr val="666666"/>
                </a:solidFill>
                <a:latin typeface="Times New Roman"/>
                <a:ea typeface="Times New Roman"/>
                <a:cs typeface="Times New Roman"/>
                <a:sym typeface="Times New Roman"/>
              </a:rPr>
              <a:t>Airport</a:t>
            </a:r>
            <a:endParaRPr b="1" sz="2200">
              <a:solidFill>
                <a:srgbClr val="666666"/>
              </a:solidFill>
              <a:latin typeface="Times New Roman"/>
              <a:ea typeface="Times New Roman"/>
              <a:cs typeface="Times New Roman"/>
              <a:sym typeface="Times New Roman"/>
            </a:endParaRPr>
          </a:p>
        </p:txBody>
      </p:sp>
      <p:sp>
        <p:nvSpPr>
          <p:cNvPr id="975" name="Google Shape;975;p77"/>
          <p:cNvSpPr/>
          <p:nvPr/>
        </p:nvSpPr>
        <p:spPr>
          <a:xfrm>
            <a:off x="867375" y="2826050"/>
            <a:ext cx="2543400" cy="602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2200">
                <a:solidFill>
                  <a:srgbClr val="666666"/>
                </a:solidFill>
                <a:latin typeface="Times New Roman"/>
                <a:ea typeface="Times New Roman"/>
                <a:cs typeface="Times New Roman"/>
                <a:sym typeface="Times New Roman"/>
              </a:rPr>
              <a:t>name</a:t>
            </a:r>
            <a:endParaRPr sz="2200">
              <a:solidFill>
                <a:srgbClr val="666666"/>
              </a:solidFill>
              <a:latin typeface="Times New Roman"/>
              <a:ea typeface="Times New Roman"/>
              <a:cs typeface="Times New Roman"/>
              <a:sym typeface="Times New Roman"/>
            </a:endParaRPr>
          </a:p>
        </p:txBody>
      </p:sp>
      <p:sp>
        <p:nvSpPr>
          <p:cNvPr id="976" name="Google Shape;976;p77"/>
          <p:cNvSpPr/>
          <p:nvPr/>
        </p:nvSpPr>
        <p:spPr>
          <a:xfrm>
            <a:off x="867375" y="3419851"/>
            <a:ext cx="25434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200">
              <a:latin typeface="Times New Roman"/>
              <a:ea typeface="Times New Roman"/>
              <a:cs typeface="Times New Roman"/>
              <a:sym typeface="Times New Roman"/>
            </a:endParaRPr>
          </a:p>
        </p:txBody>
      </p:sp>
      <p:cxnSp>
        <p:nvCxnSpPr>
          <p:cNvPr id="977" name="Google Shape;977;p77"/>
          <p:cNvCxnSpPr>
            <a:stCxn id="974" idx="3"/>
          </p:cNvCxnSpPr>
          <p:nvPr/>
        </p:nvCxnSpPr>
        <p:spPr>
          <a:xfrm>
            <a:off x="3410775" y="2517500"/>
            <a:ext cx="1938300" cy="0"/>
          </a:xfrm>
          <a:prstGeom prst="straightConnector1">
            <a:avLst/>
          </a:prstGeom>
          <a:noFill/>
          <a:ln cap="flat" cmpd="sng" w="9525">
            <a:solidFill>
              <a:schemeClr val="dk2"/>
            </a:solidFill>
            <a:prstDash val="solid"/>
            <a:round/>
            <a:headEnd len="med" w="med" type="none"/>
            <a:tailEnd len="med" w="med" type="none"/>
          </a:ln>
        </p:spPr>
      </p:cxnSp>
      <p:cxnSp>
        <p:nvCxnSpPr>
          <p:cNvPr id="978" name="Google Shape;978;p77"/>
          <p:cNvCxnSpPr/>
          <p:nvPr/>
        </p:nvCxnSpPr>
        <p:spPr>
          <a:xfrm>
            <a:off x="3410775" y="3736700"/>
            <a:ext cx="1938300" cy="0"/>
          </a:xfrm>
          <a:prstGeom prst="straightConnector1">
            <a:avLst/>
          </a:prstGeom>
          <a:noFill/>
          <a:ln cap="flat" cmpd="sng" w="9525">
            <a:solidFill>
              <a:schemeClr val="dk2"/>
            </a:solidFill>
            <a:prstDash val="solid"/>
            <a:round/>
            <a:headEnd len="med" w="med" type="none"/>
            <a:tailEnd len="med" w="med" type="none"/>
          </a:ln>
        </p:spPr>
      </p:cxnSp>
      <p:sp>
        <p:nvSpPr>
          <p:cNvPr id="979" name="Google Shape;979;p77"/>
          <p:cNvSpPr txBox="1"/>
          <p:nvPr/>
        </p:nvSpPr>
        <p:spPr>
          <a:xfrm>
            <a:off x="3444750" y="2100450"/>
            <a:ext cx="952200" cy="48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666666"/>
                </a:solidFill>
                <a:latin typeface="Times New Roman"/>
                <a:ea typeface="Times New Roman"/>
                <a:cs typeface="Times New Roman"/>
                <a:sym typeface="Times New Roman"/>
              </a:rPr>
              <a:t>origin</a:t>
            </a:r>
            <a:endParaRPr sz="1800">
              <a:solidFill>
                <a:srgbClr val="666666"/>
              </a:solidFill>
              <a:latin typeface="Times New Roman"/>
              <a:ea typeface="Times New Roman"/>
              <a:cs typeface="Times New Roman"/>
              <a:sym typeface="Times New Roman"/>
            </a:endParaRPr>
          </a:p>
        </p:txBody>
      </p:sp>
      <p:sp>
        <p:nvSpPr>
          <p:cNvPr id="980" name="Google Shape;980;p77"/>
          <p:cNvSpPr txBox="1"/>
          <p:nvPr/>
        </p:nvSpPr>
        <p:spPr>
          <a:xfrm>
            <a:off x="3444750" y="3700650"/>
            <a:ext cx="1414200" cy="48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666666"/>
                </a:solidFill>
                <a:latin typeface="Times New Roman"/>
                <a:ea typeface="Times New Roman"/>
                <a:cs typeface="Times New Roman"/>
                <a:sym typeface="Times New Roman"/>
              </a:rPr>
              <a:t>destination</a:t>
            </a:r>
            <a:endParaRPr sz="1800">
              <a:solidFill>
                <a:srgbClr val="666666"/>
              </a:solidFill>
              <a:latin typeface="Times New Roman"/>
              <a:ea typeface="Times New Roman"/>
              <a:cs typeface="Times New Roman"/>
              <a:sym typeface="Times New Roman"/>
            </a:endParaRPr>
          </a:p>
        </p:txBody>
      </p:sp>
      <p:sp>
        <p:nvSpPr>
          <p:cNvPr id="981" name="Google Shape;981;p77"/>
          <p:cNvSpPr txBox="1"/>
          <p:nvPr/>
        </p:nvSpPr>
        <p:spPr>
          <a:xfrm>
            <a:off x="5044950" y="2481450"/>
            <a:ext cx="548700" cy="48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a:t>
            </a:r>
            <a:endParaRPr sz="1800"/>
          </a:p>
        </p:txBody>
      </p:sp>
      <p:sp>
        <p:nvSpPr>
          <p:cNvPr id="982" name="Google Shape;982;p77"/>
          <p:cNvSpPr txBox="1"/>
          <p:nvPr/>
        </p:nvSpPr>
        <p:spPr>
          <a:xfrm>
            <a:off x="5044950" y="3319650"/>
            <a:ext cx="548700" cy="48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a:t>
            </a:r>
            <a:endParaRPr sz="18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78"/>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Duyệt lớp liên kết</a:t>
            </a:r>
            <a:endParaRPr/>
          </a:p>
        </p:txBody>
      </p:sp>
      <p:sp>
        <p:nvSpPr>
          <p:cNvPr id="988" name="Google Shape;988;p78"/>
          <p:cNvSpPr txBox="1"/>
          <p:nvPr>
            <p:ph idx="4294967295" type="body"/>
          </p:nvPr>
        </p:nvSpPr>
        <p:spPr>
          <a:xfrm>
            <a:off x="311700" y="874800"/>
            <a:ext cx="8520600" cy="10575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sz="2400"/>
              <a:t>Lớp liên kết không có tên vai trò, vì vậy biểu thức OCL phải sử dụng tên lớp, bắt đầu với chữ thường.</a:t>
            </a:r>
            <a:endParaRPr sz="2400"/>
          </a:p>
        </p:txBody>
      </p:sp>
      <p:sp>
        <p:nvSpPr>
          <p:cNvPr id="989" name="Google Shape;989;p7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90" name="Google Shape;990;p78"/>
          <p:cNvSpPr/>
          <p:nvPr/>
        </p:nvSpPr>
        <p:spPr>
          <a:xfrm>
            <a:off x="333975" y="3054650"/>
            <a:ext cx="2160300" cy="452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a:solidFill>
                  <a:srgbClr val="666666"/>
                </a:solidFill>
              </a:rPr>
              <a:t>Person</a:t>
            </a:r>
            <a:endParaRPr b="1" sz="2200">
              <a:solidFill>
                <a:srgbClr val="666666"/>
              </a:solidFill>
            </a:endParaRPr>
          </a:p>
        </p:txBody>
      </p:sp>
      <p:sp>
        <p:nvSpPr>
          <p:cNvPr id="991" name="Google Shape;991;p78"/>
          <p:cNvSpPr/>
          <p:nvPr/>
        </p:nvSpPr>
        <p:spPr>
          <a:xfrm>
            <a:off x="333975" y="3513006"/>
            <a:ext cx="2160300" cy="452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2200">
                <a:solidFill>
                  <a:srgbClr val="666666"/>
                </a:solidFill>
              </a:rPr>
              <a:t>name</a:t>
            </a:r>
            <a:endParaRPr sz="2200">
              <a:solidFill>
                <a:srgbClr val="666666"/>
              </a:solidFill>
            </a:endParaRPr>
          </a:p>
        </p:txBody>
      </p:sp>
      <p:sp>
        <p:nvSpPr>
          <p:cNvPr id="992" name="Google Shape;992;p78"/>
          <p:cNvSpPr/>
          <p:nvPr/>
        </p:nvSpPr>
        <p:spPr>
          <a:xfrm>
            <a:off x="6201375" y="3054650"/>
            <a:ext cx="2160300" cy="452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a:solidFill>
                  <a:srgbClr val="666666"/>
                </a:solidFill>
              </a:rPr>
              <a:t>Company</a:t>
            </a:r>
            <a:endParaRPr b="1" sz="2200">
              <a:solidFill>
                <a:srgbClr val="666666"/>
              </a:solidFill>
            </a:endParaRPr>
          </a:p>
        </p:txBody>
      </p:sp>
      <p:sp>
        <p:nvSpPr>
          <p:cNvPr id="993" name="Google Shape;993;p78"/>
          <p:cNvSpPr/>
          <p:nvPr/>
        </p:nvSpPr>
        <p:spPr>
          <a:xfrm>
            <a:off x="6201375" y="3513006"/>
            <a:ext cx="2160300" cy="452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2200">
                <a:solidFill>
                  <a:srgbClr val="666666"/>
                </a:solidFill>
              </a:rPr>
              <a:t>name</a:t>
            </a:r>
            <a:endParaRPr sz="2200">
              <a:solidFill>
                <a:srgbClr val="666666"/>
              </a:solidFill>
            </a:endParaRPr>
          </a:p>
        </p:txBody>
      </p:sp>
      <p:sp>
        <p:nvSpPr>
          <p:cNvPr id="994" name="Google Shape;994;p78"/>
          <p:cNvSpPr/>
          <p:nvPr/>
        </p:nvSpPr>
        <p:spPr>
          <a:xfrm>
            <a:off x="2848575" y="1911650"/>
            <a:ext cx="3829500" cy="452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a:solidFill>
                  <a:srgbClr val="666666"/>
                </a:solidFill>
              </a:rPr>
              <a:t>Job</a:t>
            </a:r>
            <a:endParaRPr b="1" sz="2200">
              <a:solidFill>
                <a:srgbClr val="666666"/>
              </a:solidFill>
            </a:endParaRPr>
          </a:p>
        </p:txBody>
      </p:sp>
      <p:sp>
        <p:nvSpPr>
          <p:cNvPr id="995" name="Google Shape;995;p78"/>
          <p:cNvSpPr/>
          <p:nvPr/>
        </p:nvSpPr>
        <p:spPr>
          <a:xfrm>
            <a:off x="2848575" y="2370000"/>
            <a:ext cx="3829500" cy="452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2200">
                <a:solidFill>
                  <a:srgbClr val="666666"/>
                </a:solidFill>
              </a:rPr>
              <a:t>type: {manager, programmer}</a:t>
            </a:r>
            <a:endParaRPr sz="2200">
              <a:solidFill>
                <a:srgbClr val="666666"/>
              </a:solidFill>
            </a:endParaRPr>
          </a:p>
        </p:txBody>
      </p:sp>
      <p:cxnSp>
        <p:nvCxnSpPr>
          <p:cNvPr id="996" name="Google Shape;996;p78"/>
          <p:cNvCxnSpPr/>
          <p:nvPr/>
        </p:nvCxnSpPr>
        <p:spPr>
          <a:xfrm>
            <a:off x="2492550" y="3402750"/>
            <a:ext cx="3710700" cy="0"/>
          </a:xfrm>
          <a:prstGeom prst="straightConnector1">
            <a:avLst/>
          </a:prstGeom>
          <a:noFill/>
          <a:ln cap="flat" cmpd="sng" w="19050">
            <a:solidFill>
              <a:schemeClr val="dk2"/>
            </a:solidFill>
            <a:prstDash val="solid"/>
            <a:round/>
            <a:headEnd len="med" w="med" type="none"/>
            <a:tailEnd len="med" w="med" type="none"/>
          </a:ln>
        </p:spPr>
      </p:cxnSp>
      <p:cxnSp>
        <p:nvCxnSpPr>
          <p:cNvPr id="997" name="Google Shape;997;p78"/>
          <p:cNvCxnSpPr/>
          <p:nvPr/>
        </p:nvCxnSpPr>
        <p:spPr>
          <a:xfrm rot="10800000">
            <a:off x="4116900" y="2814550"/>
            <a:ext cx="0" cy="574200"/>
          </a:xfrm>
          <a:prstGeom prst="straightConnector1">
            <a:avLst/>
          </a:prstGeom>
          <a:noFill/>
          <a:ln cap="flat" cmpd="sng" w="19050">
            <a:solidFill>
              <a:schemeClr val="dk2"/>
            </a:solidFill>
            <a:prstDash val="dot"/>
            <a:round/>
            <a:headEnd len="med" w="med" type="none"/>
            <a:tailEnd len="med" w="med" type="none"/>
          </a:ln>
        </p:spPr>
      </p:cxnSp>
      <p:sp>
        <p:nvSpPr>
          <p:cNvPr id="998" name="Google Shape;998;p78"/>
          <p:cNvSpPr txBox="1"/>
          <p:nvPr/>
        </p:nvSpPr>
        <p:spPr>
          <a:xfrm>
            <a:off x="5809625" y="3038675"/>
            <a:ext cx="714300" cy="45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1</a:t>
            </a:r>
            <a:endParaRPr sz="1800"/>
          </a:p>
        </p:txBody>
      </p:sp>
      <p:sp>
        <p:nvSpPr>
          <p:cNvPr id="999" name="Google Shape;999;p78"/>
          <p:cNvSpPr txBox="1"/>
          <p:nvPr/>
        </p:nvSpPr>
        <p:spPr>
          <a:xfrm>
            <a:off x="2456825" y="3038675"/>
            <a:ext cx="714300" cy="45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a:t>
            </a:r>
            <a:endParaRPr sz="1800"/>
          </a:p>
        </p:txBody>
      </p:sp>
      <p:sp>
        <p:nvSpPr>
          <p:cNvPr id="1000" name="Google Shape;1000;p78"/>
          <p:cNvSpPr txBox="1"/>
          <p:nvPr/>
        </p:nvSpPr>
        <p:spPr>
          <a:xfrm>
            <a:off x="2456825" y="3419675"/>
            <a:ext cx="1660200" cy="45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employee</a:t>
            </a:r>
            <a:endParaRPr i="1" sz="1800"/>
          </a:p>
        </p:txBody>
      </p:sp>
      <p:sp>
        <p:nvSpPr>
          <p:cNvPr id="1001" name="Google Shape;1001;p78"/>
          <p:cNvSpPr txBox="1"/>
          <p:nvPr/>
        </p:nvSpPr>
        <p:spPr>
          <a:xfrm>
            <a:off x="4895225" y="3419675"/>
            <a:ext cx="1660200" cy="45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employer</a:t>
            </a:r>
            <a:endParaRPr i="1" sz="1800"/>
          </a:p>
        </p:txBody>
      </p:sp>
      <p:sp>
        <p:nvSpPr>
          <p:cNvPr id="1002" name="Google Shape;1002;p78"/>
          <p:cNvSpPr txBox="1"/>
          <p:nvPr/>
        </p:nvSpPr>
        <p:spPr>
          <a:xfrm>
            <a:off x="311700" y="4071975"/>
            <a:ext cx="7810200" cy="25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400">
                <a:solidFill>
                  <a:srgbClr val="666666"/>
                </a:solidFill>
              </a:rPr>
              <a:t>context</a:t>
            </a:r>
            <a:r>
              <a:rPr lang="en-GB" sz="2400">
                <a:solidFill>
                  <a:srgbClr val="666666"/>
                </a:solidFill>
              </a:rPr>
              <a:t> Person </a:t>
            </a:r>
            <a:r>
              <a:rPr b="1" lang="en-GB" sz="2400">
                <a:solidFill>
                  <a:srgbClr val="666666"/>
                </a:solidFill>
              </a:rPr>
              <a:t>inv</a:t>
            </a:r>
            <a:r>
              <a:rPr lang="en-GB" sz="2400">
                <a:solidFill>
                  <a:srgbClr val="666666"/>
                </a:solidFill>
              </a:rPr>
              <a:t>:</a:t>
            </a:r>
            <a:endParaRPr sz="2400">
              <a:solidFill>
                <a:srgbClr val="666666"/>
              </a:solidFill>
            </a:endParaRPr>
          </a:p>
          <a:p>
            <a:pPr indent="0" lvl="0" marL="0" rtl="0" algn="l">
              <a:spcBef>
                <a:spcPts val="0"/>
              </a:spcBef>
              <a:spcAft>
                <a:spcPts val="0"/>
              </a:spcAft>
              <a:buNone/>
            </a:pPr>
            <a:r>
              <a:rPr b="1" lang="en-GB" sz="2400">
                <a:solidFill>
                  <a:srgbClr val="666666"/>
                </a:solidFill>
              </a:rPr>
              <a:t>if</a:t>
            </a:r>
            <a:r>
              <a:rPr lang="en-GB" sz="2400">
                <a:solidFill>
                  <a:srgbClr val="666666"/>
                </a:solidFill>
              </a:rPr>
              <a:t> self.name = “Ivan Ivanov” </a:t>
            </a:r>
            <a:r>
              <a:rPr b="1" lang="en-GB" sz="2400">
                <a:solidFill>
                  <a:srgbClr val="666666"/>
                </a:solidFill>
              </a:rPr>
              <a:t>then</a:t>
            </a:r>
            <a:r>
              <a:rPr lang="en-GB" sz="2400">
                <a:solidFill>
                  <a:srgbClr val="666666"/>
                </a:solidFill>
              </a:rPr>
              <a:t> </a:t>
            </a:r>
            <a:endParaRPr sz="2400">
              <a:solidFill>
                <a:srgbClr val="666666"/>
              </a:solidFill>
            </a:endParaRPr>
          </a:p>
          <a:p>
            <a:pPr indent="0" lvl="0" marL="0" rtl="0" algn="l">
              <a:spcBef>
                <a:spcPts val="0"/>
              </a:spcBef>
              <a:spcAft>
                <a:spcPts val="0"/>
              </a:spcAft>
              <a:buNone/>
            </a:pPr>
            <a:r>
              <a:rPr lang="en-GB" sz="2400">
                <a:solidFill>
                  <a:srgbClr val="666666"/>
                </a:solidFill>
              </a:rPr>
              <a:t>   job.type = #manager</a:t>
            </a:r>
            <a:endParaRPr sz="2400">
              <a:solidFill>
                <a:srgbClr val="666666"/>
              </a:solidFill>
            </a:endParaRPr>
          </a:p>
          <a:p>
            <a:pPr indent="0" lvl="0" marL="0" rtl="0" algn="l">
              <a:spcBef>
                <a:spcPts val="0"/>
              </a:spcBef>
              <a:spcAft>
                <a:spcPts val="0"/>
              </a:spcAft>
              <a:buNone/>
            </a:pPr>
            <a:r>
              <a:rPr b="1" lang="en-GB" sz="2400">
                <a:solidFill>
                  <a:srgbClr val="666666"/>
                </a:solidFill>
              </a:rPr>
              <a:t>else</a:t>
            </a:r>
            <a:endParaRPr b="1" sz="2400">
              <a:solidFill>
                <a:srgbClr val="666666"/>
              </a:solidFill>
            </a:endParaRPr>
          </a:p>
          <a:p>
            <a:pPr indent="0" lvl="0" marL="0" rtl="0" algn="l">
              <a:spcBef>
                <a:spcPts val="0"/>
              </a:spcBef>
              <a:spcAft>
                <a:spcPts val="0"/>
              </a:spcAft>
              <a:buNone/>
            </a:pPr>
            <a:r>
              <a:rPr lang="en-GB" sz="2400">
                <a:solidFill>
                  <a:srgbClr val="666666"/>
                </a:solidFill>
              </a:rPr>
              <a:t>   job.type = #programmer</a:t>
            </a:r>
            <a:endParaRPr sz="2400">
              <a:solidFill>
                <a:srgbClr val="666666"/>
              </a:solidFill>
            </a:endParaRPr>
          </a:p>
          <a:p>
            <a:pPr indent="0" lvl="0" marL="0" rtl="0" algn="l">
              <a:spcBef>
                <a:spcPts val="0"/>
              </a:spcBef>
              <a:spcAft>
                <a:spcPts val="0"/>
              </a:spcAft>
              <a:buNone/>
            </a:pPr>
            <a:r>
              <a:rPr b="1" lang="en-GB" sz="2400">
                <a:solidFill>
                  <a:srgbClr val="666666"/>
                </a:solidFill>
              </a:rPr>
              <a:t>endif</a:t>
            </a:r>
            <a:endParaRPr b="1" sz="2400">
              <a:solidFill>
                <a:srgbClr val="666666"/>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79"/>
          <p:cNvSpPr txBox="1"/>
          <p:nvPr/>
        </p:nvSpPr>
        <p:spPr>
          <a:xfrm>
            <a:off x="331525" y="3584775"/>
            <a:ext cx="8689500" cy="27852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Clr>
                <a:srgbClr val="666666"/>
              </a:buClr>
              <a:buSzPts val="2400"/>
              <a:buChar char="●"/>
            </a:pPr>
            <a:r>
              <a:rPr lang="en-GB" sz="2400">
                <a:solidFill>
                  <a:srgbClr val="666666"/>
                </a:solidFill>
              </a:rPr>
              <a:t>Set (không thứ tự, không trùng lặp)</a:t>
            </a:r>
            <a:endParaRPr sz="2400">
              <a:solidFill>
                <a:srgbClr val="666666"/>
              </a:solidFill>
            </a:endParaRPr>
          </a:p>
          <a:p>
            <a:pPr indent="0" lvl="0" marL="457200" rtl="0" algn="l">
              <a:lnSpc>
                <a:spcPct val="115000"/>
              </a:lnSpc>
              <a:spcBef>
                <a:spcPts val="0"/>
              </a:spcBef>
              <a:spcAft>
                <a:spcPts val="0"/>
              </a:spcAft>
              <a:buNone/>
            </a:pPr>
            <a:r>
              <a:rPr b="1" lang="en-GB" sz="2400">
                <a:solidFill>
                  <a:srgbClr val="666666"/>
                </a:solidFill>
              </a:rPr>
              <a:t>context</a:t>
            </a:r>
            <a:r>
              <a:rPr lang="en-GB" sz="2400">
                <a:solidFill>
                  <a:srgbClr val="666666"/>
                </a:solidFill>
              </a:rPr>
              <a:t> Airport </a:t>
            </a:r>
            <a:r>
              <a:rPr b="1" lang="en-GB" sz="2400">
                <a:solidFill>
                  <a:srgbClr val="666666"/>
                </a:solidFill>
              </a:rPr>
              <a:t>inv</a:t>
            </a:r>
            <a:r>
              <a:rPr lang="en-GB" sz="2400">
                <a:solidFill>
                  <a:srgbClr val="666666"/>
                </a:solidFill>
              </a:rPr>
              <a:t>: self.arrivingFlights</a:t>
            </a:r>
            <a:endParaRPr sz="2400">
              <a:solidFill>
                <a:srgbClr val="666666"/>
              </a:solidFill>
            </a:endParaRPr>
          </a:p>
          <a:p>
            <a:pPr indent="-381000" lvl="0" marL="457200" rtl="0" algn="l">
              <a:lnSpc>
                <a:spcPct val="115000"/>
              </a:lnSpc>
              <a:spcBef>
                <a:spcPts val="0"/>
              </a:spcBef>
              <a:spcAft>
                <a:spcPts val="0"/>
              </a:spcAft>
              <a:buClr>
                <a:srgbClr val="666666"/>
              </a:buClr>
              <a:buSzPts val="2400"/>
              <a:buChar char="●"/>
            </a:pPr>
            <a:r>
              <a:rPr lang="en-GB" sz="2400">
                <a:solidFill>
                  <a:srgbClr val="666666"/>
                </a:solidFill>
              </a:rPr>
              <a:t>Bag (không thứ tự, có thể trùng lặp)</a:t>
            </a:r>
            <a:endParaRPr sz="2400">
              <a:solidFill>
                <a:srgbClr val="666666"/>
              </a:solidFill>
            </a:endParaRPr>
          </a:p>
          <a:p>
            <a:pPr indent="0" lvl="0" marL="457200" rtl="0" algn="l">
              <a:lnSpc>
                <a:spcPct val="115000"/>
              </a:lnSpc>
              <a:spcBef>
                <a:spcPts val="0"/>
              </a:spcBef>
              <a:spcAft>
                <a:spcPts val="0"/>
              </a:spcAft>
              <a:buNone/>
            </a:pPr>
            <a:r>
              <a:rPr b="1" lang="en-GB" sz="2400">
                <a:solidFill>
                  <a:srgbClr val="666666"/>
                </a:solidFill>
              </a:rPr>
              <a:t>context</a:t>
            </a:r>
            <a:r>
              <a:rPr lang="en-GB" sz="2400">
                <a:solidFill>
                  <a:srgbClr val="666666"/>
                </a:solidFill>
              </a:rPr>
              <a:t> Airport </a:t>
            </a:r>
            <a:r>
              <a:rPr b="1" lang="en-GB" sz="2400">
                <a:solidFill>
                  <a:srgbClr val="666666"/>
                </a:solidFill>
              </a:rPr>
              <a:t>inv</a:t>
            </a:r>
            <a:r>
              <a:rPr lang="en-GB" sz="2400">
                <a:solidFill>
                  <a:srgbClr val="666666"/>
                </a:solidFill>
              </a:rPr>
              <a:t>: self.arrivingFlights.passengers.name</a:t>
            </a:r>
            <a:endParaRPr sz="2400">
              <a:solidFill>
                <a:srgbClr val="666666"/>
              </a:solidFill>
            </a:endParaRPr>
          </a:p>
          <a:p>
            <a:pPr indent="-381000" lvl="0" marL="457200" rtl="0" algn="l">
              <a:lnSpc>
                <a:spcPct val="115000"/>
              </a:lnSpc>
              <a:spcBef>
                <a:spcPts val="0"/>
              </a:spcBef>
              <a:spcAft>
                <a:spcPts val="0"/>
              </a:spcAft>
              <a:buClr>
                <a:srgbClr val="666666"/>
              </a:buClr>
              <a:buSzPts val="2400"/>
              <a:buChar char="●"/>
            </a:pPr>
            <a:r>
              <a:rPr lang="en-GB" sz="2400">
                <a:solidFill>
                  <a:srgbClr val="666666"/>
                </a:solidFill>
              </a:rPr>
              <a:t>Sequence (có thứ tự, có thể trùng lặp)</a:t>
            </a:r>
            <a:endParaRPr sz="2400">
              <a:solidFill>
                <a:srgbClr val="666666"/>
              </a:solidFill>
            </a:endParaRPr>
          </a:p>
          <a:p>
            <a:pPr indent="0" lvl="0" marL="457200" rtl="0" algn="l">
              <a:lnSpc>
                <a:spcPct val="115000"/>
              </a:lnSpc>
              <a:spcBef>
                <a:spcPts val="0"/>
              </a:spcBef>
              <a:spcAft>
                <a:spcPts val="0"/>
              </a:spcAft>
              <a:buNone/>
            </a:pPr>
            <a:r>
              <a:rPr b="1" lang="en-GB" sz="2400">
                <a:solidFill>
                  <a:srgbClr val="666666"/>
                </a:solidFill>
              </a:rPr>
              <a:t>context</a:t>
            </a:r>
            <a:r>
              <a:rPr lang="en-GB" sz="2400">
                <a:solidFill>
                  <a:srgbClr val="666666"/>
                </a:solidFill>
              </a:rPr>
              <a:t> Flight </a:t>
            </a:r>
            <a:r>
              <a:rPr b="1" lang="en-GB" sz="2400">
                <a:solidFill>
                  <a:srgbClr val="666666"/>
                </a:solidFill>
              </a:rPr>
              <a:t>inv</a:t>
            </a:r>
            <a:r>
              <a:rPr lang="en-GB" sz="2400">
                <a:solidFill>
                  <a:srgbClr val="666666"/>
                </a:solidFill>
              </a:rPr>
              <a:t>: self.passengers</a:t>
            </a:r>
            <a:endParaRPr sz="2400">
              <a:solidFill>
                <a:srgbClr val="666666"/>
              </a:solidFill>
            </a:endParaRPr>
          </a:p>
        </p:txBody>
      </p:sp>
      <p:sp>
        <p:nvSpPr>
          <p:cNvPr id="1008" name="Google Shape;1008;p79"/>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cấu trúc lưu trữ trong OCL</a:t>
            </a:r>
            <a:endParaRPr/>
          </a:p>
        </p:txBody>
      </p:sp>
      <p:sp>
        <p:nvSpPr>
          <p:cNvPr id="1009" name="Google Shape;1009;p7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10" name="Google Shape;1010;p79"/>
          <p:cNvSpPr/>
          <p:nvPr/>
        </p:nvSpPr>
        <p:spPr>
          <a:xfrm>
            <a:off x="6259375" y="1074650"/>
            <a:ext cx="25050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a:solidFill>
                  <a:srgbClr val="666666"/>
                </a:solidFill>
              </a:rPr>
              <a:t>Flight</a:t>
            </a:r>
            <a:endParaRPr b="1" sz="2200">
              <a:solidFill>
                <a:srgbClr val="666666"/>
              </a:solidFill>
            </a:endParaRPr>
          </a:p>
        </p:txBody>
      </p:sp>
      <p:sp>
        <p:nvSpPr>
          <p:cNvPr id="1011" name="Google Shape;1011;p79"/>
          <p:cNvSpPr/>
          <p:nvPr/>
        </p:nvSpPr>
        <p:spPr>
          <a:xfrm>
            <a:off x="6259375" y="1606849"/>
            <a:ext cx="2505000" cy="1043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2200">
                <a:solidFill>
                  <a:srgbClr val="666666"/>
                </a:solidFill>
              </a:rPr>
              <a:t>departTime</a:t>
            </a:r>
            <a:endParaRPr sz="2200">
              <a:solidFill>
                <a:srgbClr val="666666"/>
              </a:solidFill>
            </a:endParaRPr>
          </a:p>
          <a:p>
            <a:pPr indent="0" lvl="0" marL="0" rtl="0" algn="l">
              <a:spcBef>
                <a:spcPts val="0"/>
              </a:spcBef>
              <a:spcAft>
                <a:spcPts val="0"/>
              </a:spcAft>
              <a:buNone/>
            </a:pPr>
            <a:r>
              <a:rPr lang="en-GB" sz="2200">
                <a:solidFill>
                  <a:srgbClr val="666666"/>
                </a:solidFill>
              </a:rPr>
              <a:t>/arrivalTime</a:t>
            </a:r>
            <a:endParaRPr sz="2200">
              <a:solidFill>
                <a:srgbClr val="666666"/>
              </a:solidFill>
            </a:endParaRPr>
          </a:p>
          <a:p>
            <a:pPr indent="0" lvl="0" marL="0" rtl="0" algn="l">
              <a:spcBef>
                <a:spcPts val="0"/>
              </a:spcBef>
              <a:spcAft>
                <a:spcPts val="0"/>
              </a:spcAft>
              <a:buNone/>
            </a:pPr>
            <a:r>
              <a:rPr lang="en-GB" sz="2200">
                <a:solidFill>
                  <a:srgbClr val="666666"/>
                </a:solidFill>
              </a:rPr>
              <a:t>duration</a:t>
            </a:r>
            <a:endParaRPr sz="2200">
              <a:solidFill>
                <a:srgbClr val="666666"/>
              </a:solidFill>
            </a:endParaRPr>
          </a:p>
        </p:txBody>
      </p:sp>
      <p:sp>
        <p:nvSpPr>
          <p:cNvPr id="1012" name="Google Shape;1012;p79"/>
          <p:cNvSpPr/>
          <p:nvPr/>
        </p:nvSpPr>
        <p:spPr>
          <a:xfrm>
            <a:off x="6259375" y="2657850"/>
            <a:ext cx="2505000" cy="366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200"/>
          </a:p>
        </p:txBody>
      </p:sp>
      <p:sp>
        <p:nvSpPr>
          <p:cNvPr id="1013" name="Google Shape;1013;p79"/>
          <p:cNvSpPr/>
          <p:nvPr/>
        </p:nvSpPr>
        <p:spPr>
          <a:xfrm>
            <a:off x="1019775" y="1338350"/>
            <a:ext cx="1938300" cy="489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a:solidFill>
                  <a:srgbClr val="666666"/>
                </a:solidFill>
              </a:rPr>
              <a:t>Airport</a:t>
            </a:r>
            <a:endParaRPr b="1" sz="2200">
              <a:solidFill>
                <a:srgbClr val="666666"/>
              </a:solidFill>
            </a:endParaRPr>
          </a:p>
        </p:txBody>
      </p:sp>
      <p:sp>
        <p:nvSpPr>
          <p:cNvPr id="1014" name="Google Shape;1014;p79"/>
          <p:cNvSpPr/>
          <p:nvPr/>
        </p:nvSpPr>
        <p:spPr>
          <a:xfrm>
            <a:off x="1019775" y="1835450"/>
            <a:ext cx="1938300" cy="602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2200">
                <a:solidFill>
                  <a:srgbClr val="666666"/>
                </a:solidFill>
              </a:rPr>
              <a:t>name</a:t>
            </a:r>
            <a:endParaRPr sz="2200">
              <a:solidFill>
                <a:srgbClr val="666666"/>
              </a:solidFill>
            </a:endParaRPr>
          </a:p>
        </p:txBody>
      </p:sp>
      <p:sp>
        <p:nvSpPr>
          <p:cNvPr id="1015" name="Google Shape;1015;p79"/>
          <p:cNvSpPr/>
          <p:nvPr/>
        </p:nvSpPr>
        <p:spPr>
          <a:xfrm>
            <a:off x="1019775" y="2429250"/>
            <a:ext cx="1938300" cy="366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200"/>
          </a:p>
        </p:txBody>
      </p:sp>
      <p:cxnSp>
        <p:nvCxnSpPr>
          <p:cNvPr id="1016" name="Google Shape;1016;p79"/>
          <p:cNvCxnSpPr/>
          <p:nvPr/>
        </p:nvCxnSpPr>
        <p:spPr>
          <a:xfrm>
            <a:off x="2958075" y="1555144"/>
            <a:ext cx="3301200" cy="0"/>
          </a:xfrm>
          <a:prstGeom prst="straightConnector1">
            <a:avLst/>
          </a:prstGeom>
          <a:noFill/>
          <a:ln cap="flat" cmpd="sng" w="9525">
            <a:solidFill>
              <a:schemeClr val="dk2"/>
            </a:solidFill>
            <a:prstDash val="solid"/>
            <a:round/>
            <a:headEnd len="med" w="med" type="none"/>
            <a:tailEnd len="med" w="med" type="none"/>
          </a:ln>
        </p:spPr>
      </p:cxnSp>
      <p:cxnSp>
        <p:nvCxnSpPr>
          <p:cNvPr id="1017" name="Google Shape;1017;p79"/>
          <p:cNvCxnSpPr/>
          <p:nvPr/>
        </p:nvCxnSpPr>
        <p:spPr>
          <a:xfrm>
            <a:off x="2982650" y="2732097"/>
            <a:ext cx="3262800" cy="0"/>
          </a:xfrm>
          <a:prstGeom prst="straightConnector1">
            <a:avLst/>
          </a:prstGeom>
          <a:noFill/>
          <a:ln cap="flat" cmpd="sng" w="9525">
            <a:solidFill>
              <a:schemeClr val="dk2"/>
            </a:solidFill>
            <a:prstDash val="solid"/>
            <a:round/>
            <a:headEnd len="med" w="med" type="none"/>
            <a:tailEnd len="med" w="med" type="none"/>
          </a:ln>
        </p:spPr>
      </p:cxnSp>
      <p:sp>
        <p:nvSpPr>
          <p:cNvPr id="1018" name="Google Shape;1018;p79"/>
          <p:cNvSpPr txBox="1"/>
          <p:nvPr/>
        </p:nvSpPr>
        <p:spPr>
          <a:xfrm>
            <a:off x="2987550" y="1109850"/>
            <a:ext cx="952200" cy="48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origin</a:t>
            </a:r>
            <a:endParaRPr i="1" sz="1800"/>
          </a:p>
        </p:txBody>
      </p:sp>
      <p:sp>
        <p:nvSpPr>
          <p:cNvPr id="1019" name="Google Shape;1019;p79"/>
          <p:cNvSpPr txBox="1"/>
          <p:nvPr/>
        </p:nvSpPr>
        <p:spPr>
          <a:xfrm>
            <a:off x="2911350" y="2710050"/>
            <a:ext cx="1414200" cy="48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destination</a:t>
            </a:r>
            <a:endParaRPr i="1" sz="1800"/>
          </a:p>
        </p:txBody>
      </p:sp>
      <p:sp>
        <p:nvSpPr>
          <p:cNvPr id="1020" name="Google Shape;1020;p79"/>
          <p:cNvSpPr txBox="1"/>
          <p:nvPr/>
        </p:nvSpPr>
        <p:spPr>
          <a:xfrm>
            <a:off x="4880875" y="1567050"/>
            <a:ext cx="1322400" cy="489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GB" sz="1800"/>
              <a:t> {unique} </a:t>
            </a:r>
            <a:r>
              <a:rPr lang="en-GB" sz="1800"/>
              <a:t>*</a:t>
            </a:r>
            <a:endParaRPr sz="1800"/>
          </a:p>
        </p:txBody>
      </p:sp>
      <p:sp>
        <p:nvSpPr>
          <p:cNvPr id="1021" name="Google Shape;1021;p79"/>
          <p:cNvSpPr txBox="1"/>
          <p:nvPr/>
        </p:nvSpPr>
        <p:spPr>
          <a:xfrm>
            <a:off x="4368550" y="1080150"/>
            <a:ext cx="1938300" cy="3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departing Flights</a:t>
            </a:r>
            <a:endParaRPr i="1" sz="1800"/>
          </a:p>
        </p:txBody>
      </p:sp>
      <p:sp>
        <p:nvSpPr>
          <p:cNvPr id="1022" name="Google Shape;1022;p79"/>
          <p:cNvSpPr txBox="1"/>
          <p:nvPr/>
        </p:nvSpPr>
        <p:spPr>
          <a:xfrm>
            <a:off x="4572000" y="2673750"/>
            <a:ext cx="1734600" cy="48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arriving Flights</a:t>
            </a:r>
            <a:endParaRPr i="1" sz="1800"/>
          </a:p>
        </p:txBody>
      </p:sp>
      <p:sp>
        <p:nvSpPr>
          <p:cNvPr id="1023" name="Google Shape;1023;p79"/>
          <p:cNvSpPr txBox="1"/>
          <p:nvPr/>
        </p:nvSpPr>
        <p:spPr>
          <a:xfrm>
            <a:off x="4880875" y="2329050"/>
            <a:ext cx="1322400" cy="489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i="1" lang="en-GB" sz="1800">
                <a:solidFill>
                  <a:schemeClr val="dk1"/>
                </a:solidFill>
              </a:rPr>
              <a:t> {unique} *</a:t>
            </a:r>
            <a:endParaRPr sz="1800"/>
          </a:p>
        </p:txBody>
      </p:sp>
      <p:sp>
        <p:nvSpPr>
          <p:cNvPr id="1024" name="Google Shape;1024;p79"/>
          <p:cNvSpPr/>
          <p:nvPr/>
        </p:nvSpPr>
        <p:spPr>
          <a:xfrm>
            <a:off x="6692766" y="3700550"/>
            <a:ext cx="1938300" cy="489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a:solidFill>
                  <a:srgbClr val="666666"/>
                </a:solidFill>
              </a:rPr>
              <a:t>Passenger</a:t>
            </a:r>
            <a:endParaRPr b="1" sz="2200">
              <a:solidFill>
                <a:srgbClr val="666666"/>
              </a:solidFill>
            </a:endParaRPr>
          </a:p>
        </p:txBody>
      </p:sp>
      <p:sp>
        <p:nvSpPr>
          <p:cNvPr id="1025" name="Google Shape;1025;p79"/>
          <p:cNvSpPr/>
          <p:nvPr/>
        </p:nvSpPr>
        <p:spPr>
          <a:xfrm>
            <a:off x="6692766" y="4197650"/>
            <a:ext cx="1938300" cy="602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2200">
                <a:solidFill>
                  <a:srgbClr val="666666"/>
                </a:solidFill>
              </a:rPr>
              <a:t>name</a:t>
            </a:r>
            <a:endParaRPr sz="2200">
              <a:solidFill>
                <a:srgbClr val="666666"/>
              </a:solidFill>
            </a:endParaRPr>
          </a:p>
        </p:txBody>
      </p:sp>
      <p:cxnSp>
        <p:nvCxnSpPr>
          <p:cNvPr id="1026" name="Google Shape;1026;p79"/>
          <p:cNvCxnSpPr>
            <a:endCxn id="1024" idx="0"/>
          </p:cNvCxnSpPr>
          <p:nvPr/>
        </p:nvCxnSpPr>
        <p:spPr>
          <a:xfrm flipH="1">
            <a:off x="7661916" y="3052550"/>
            <a:ext cx="11700" cy="648000"/>
          </a:xfrm>
          <a:prstGeom prst="straightConnector1">
            <a:avLst/>
          </a:prstGeom>
          <a:noFill/>
          <a:ln cap="flat" cmpd="sng" w="9525">
            <a:solidFill>
              <a:schemeClr val="dk2"/>
            </a:solidFill>
            <a:prstDash val="solid"/>
            <a:round/>
            <a:headEnd len="med" w="med" type="none"/>
            <a:tailEnd len="med" w="med" type="none"/>
          </a:ln>
        </p:spPr>
      </p:cxnSp>
      <p:sp>
        <p:nvSpPr>
          <p:cNvPr id="1027" name="Google Shape;1027;p79"/>
          <p:cNvSpPr txBox="1"/>
          <p:nvPr/>
        </p:nvSpPr>
        <p:spPr>
          <a:xfrm>
            <a:off x="7608475" y="3243450"/>
            <a:ext cx="1414200" cy="48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 * {ordered}</a:t>
            </a:r>
            <a:endParaRPr i="1" sz="1800"/>
          </a:p>
        </p:txBody>
      </p:sp>
      <p:sp>
        <p:nvSpPr>
          <p:cNvPr id="1028" name="Google Shape;1028;p79"/>
          <p:cNvSpPr txBox="1"/>
          <p:nvPr/>
        </p:nvSpPr>
        <p:spPr>
          <a:xfrm>
            <a:off x="6160675" y="3243450"/>
            <a:ext cx="1567500" cy="48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passengers</a:t>
            </a:r>
            <a:endParaRPr i="1" sz="18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80"/>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thao tác với cấu trúc lưu trữ</a:t>
            </a:r>
            <a:endParaRPr/>
          </a:p>
        </p:txBody>
      </p:sp>
      <p:sp>
        <p:nvSpPr>
          <p:cNvPr id="1034" name="Google Shape;1034;p8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35" name="Google Shape;1035;p80"/>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collect: collection-&gt;collect(expr) hoặc collection.expr</a:t>
            </a:r>
            <a:endParaRPr/>
          </a:p>
          <a:p>
            <a:pPr indent="-368300" lvl="1" marL="914400" rtl="0" algn="l">
              <a:spcBef>
                <a:spcPts val="0"/>
              </a:spcBef>
              <a:spcAft>
                <a:spcPts val="0"/>
              </a:spcAft>
              <a:buSzPts val="2200"/>
              <a:buChar char="○"/>
            </a:pPr>
            <a:r>
              <a:rPr lang="en-GB"/>
              <a:t>Trả về 1 túi (bag) giá trị của biểu thức expr trên các phần tử của collection.</a:t>
            </a:r>
            <a:endParaRPr/>
          </a:p>
          <a:p>
            <a:pPr indent="-381000" lvl="0" marL="457200" rtl="0" algn="l">
              <a:spcBef>
                <a:spcPts val="0"/>
              </a:spcBef>
              <a:spcAft>
                <a:spcPts val="0"/>
              </a:spcAft>
              <a:buSzPts val="2400"/>
              <a:buChar char="●"/>
            </a:pPr>
            <a:r>
              <a:rPr lang="en-GB"/>
              <a:t>select: collection-&gt;select(expr)</a:t>
            </a:r>
            <a:endParaRPr/>
          </a:p>
          <a:p>
            <a:pPr indent="-368300" lvl="1" marL="914400" rtl="0" algn="l">
              <a:spcBef>
                <a:spcPts val="0"/>
              </a:spcBef>
              <a:spcAft>
                <a:spcPts val="0"/>
              </a:spcAft>
              <a:buSzPts val="2200"/>
              <a:buChar char="○"/>
            </a:pPr>
            <a:r>
              <a:rPr lang="en-GB"/>
              <a:t>Trả về tập con của collection bao gồm các phần tử có expr đúng.</a:t>
            </a:r>
            <a:endParaRPr/>
          </a:p>
          <a:p>
            <a:pPr indent="-381000" lvl="0" marL="457200" rtl="0" algn="l">
              <a:spcBef>
                <a:spcPts val="0"/>
              </a:spcBef>
              <a:spcAft>
                <a:spcPts val="0"/>
              </a:spcAft>
              <a:buSzPts val="2400"/>
              <a:buChar char="●"/>
            </a:pPr>
            <a:r>
              <a:rPr lang="en-GB"/>
              <a:t>forAll: collection-&gt;forAll(expr)</a:t>
            </a:r>
            <a:endParaRPr/>
          </a:p>
          <a:p>
            <a:pPr indent="-368300" lvl="1" marL="914400" rtl="0" algn="l">
              <a:spcBef>
                <a:spcPts val="0"/>
              </a:spcBef>
              <a:spcAft>
                <a:spcPts val="0"/>
              </a:spcAft>
              <a:buSzPts val="2200"/>
              <a:buChar char="○"/>
            </a:pPr>
            <a:r>
              <a:rPr lang="en-GB"/>
              <a:t>Thao tác forAll đúng nếu expr đúng với tất cả các phần tử của collection</a:t>
            </a:r>
            <a:endParaRPr/>
          </a:p>
          <a:p>
            <a:pPr indent="-381000" lvl="0" marL="457200" rtl="0" algn="l">
              <a:spcBef>
                <a:spcPts val="0"/>
              </a:spcBef>
              <a:spcAft>
                <a:spcPts val="0"/>
              </a:spcAft>
              <a:buSzPts val="2400"/>
              <a:buChar char="●"/>
            </a:pPr>
            <a:r>
              <a:rPr lang="en-GB"/>
              <a:t>exists: collection-&gt;exists(expr)</a:t>
            </a:r>
            <a:endParaRPr/>
          </a:p>
          <a:p>
            <a:pPr indent="-368300" lvl="1" marL="914400" rtl="0" algn="l">
              <a:spcBef>
                <a:spcPts val="0"/>
              </a:spcBef>
              <a:spcAft>
                <a:spcPts val="0"/>
              </a:spcAft>
              <a:buSzPts val="2200"/>
              <a:buChar char="○"/>
            </a:pPr>
            <a:r>
              <a:rPr lang="en-GB"/>
              <a:t>Đúng nếu expr đúng với ít nhất 1 phần tử trong collection</a:t>
            </a:r>
            <a:endParaRPr/>
          </a:p>
          <a:p>
            <a:pPr indent="0" lvl="0" marL="0" rtl="0" algn="l">
              <a:spcBef>
                <a:spcPts val="0"/>
              </a:spcBef>
              <a:spcAft>
                <a:spcPts val="0"/>
              </a:spcAft>
              <a:buNone/>
            </a:pPr>
            <a:r>
              <a:rPr lang="en-GB"/>
              <a:t>…</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81"/>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3.17. Thao tác </a:t>
            </a:r>
            <a:r>
              <a:rPr i="1" lang="en-GB"/>
              <a:t>collect</a:t>
            </a:r>
            <a:endParaRPr i="1"/>
          </a:p>
        </p:txBody>
      </p:sp>
      <p:sp>
        <p:nvSpPr>
          <p:cNvPr id="1041" name="Google Shape;1041;p8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42" name="Google Shape;1042;p81"/>
          <p:cNvSpPr/>
          <p:nvPr/>
        </p:nvSpPr>
        <p:spPr>
          <a:xfrm>
            <a:off x="3951776" y="1092200"/>
            <a:ext cx="1509300" cy="76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a:t>Flight</a:t>
            </a:r>
            <a:endParaRPr b="1" sz="2200"/>
          </a:p>
        </p:txBody>
      </p:sp>
      <p:sp>
        <p:nvSpPr>
          <p:cNvPr id="1043" name="Google Shape;1043;p81"/>
          <p:cNvSpPr/>
          <p:nvPr/>
        </p:nvSpPr>
        <p:spPr>
          <a:xfrm>
            <a:off x="410175" y="1109750"/>
            <a:ext cx="1774200" cy="76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a:t>Airport</a:t>
            </a:r>
            <a:endParaRPr b="1" sz="2200"/>
          </a:p>
        </p:txBody>
      </p:sp>
      <p:sp>
        <p:nvSpPr>
          <p:cNvPr id="1044" name="Google Shape;1044;p81"/>
          <p:cNvSpPr/>
          <p:nvPr/>
        </p:nvSpPr>
        <p:spPr>
          <a:xfrm>
            <a:off x="7304475" y="1092200"/>
            <a:ext cx="1509300" cy="76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a:t>Airline</a:t>
            </a:r>
            <a:endParaRPr b="1" sz="2200"/>
          </a:p>
        </p:txBody>
      </p:sp>
      <p:cxnSp>
        <p:nvCxnSpPr>
          <p:cNvPr id="1045" name="Google Shape;1045;p81"/>
          <p:cNvCxnSpPr/>
          <p:nvPr/>
        </p:nvCxnSpPr>
        <p:spPr>
          <a:xfrm>
            <a:off x="2184475" y="1302275"/>
            <a:ext cx="1774200" cy="0"/>
          </a:xfrm>
          <a:prstGeom prst="straightConnector1">
            <a:avLst/>
          </a:prstGeom>
          <a:noFill/>
          <a:ln cap="flat" cmpd="sng" w="9525">
            <a:solidFill>
              <a:schemeClr val="dk2"/>
            </a:solidFill>
            <a:prstDash val="solid"/>
            <a:round/>
            <a:headEnd len="med" w="med" type="none"/>
            <a:tailEnd len="med" w="med" type="none"/>
          </a:ln>
        </p:spPr>
      </p:cxnSp>
      <p:cxnSp>
        <p:nvCxnSpPr>
          <p:cNvPr id="1046" name="Google Shape;1046;p81"/>
          <p:cNvCxnSpPr/>
          <p:nvPr/>
        </p:nvCxnSpPr>
        <p:spPr>
          <a:xfrm>
            <a:off x="2184475" y="1638359"/>
            <a:ext cx="1774200" cy="0"/>
          </a:xfrm>
          <a:prstGeom prst="straightConnector1">
            <a:avLst/>
          </a:prstGeom>
          <a:noFill/>
          <a:ln cap="flat" cmpd="sng" w="9525">
            <a:solidFill>
              <a:schemeClr val="dk2"/>
            </a:solidFill>
            <a:prstDash val="solid"/>
            <a:round/>
            <a:headEnd len="med" w="med" type="none"/>
            <a:tailEnd len="med" w="med" type="none"/>
          </a:ln>
        </p:spPr>
      </p:cxnSp>
      <p:sp>
        <p:nvSpPr>
          <p:cNvPr id="1047" name="Google Shape;1047;p81"/>
          <p:cNvSpPr txBox="1"/>
          <p:nvPr/>
        </p:nvSpPr>
        <p:spPr>
          <a:xfrm>
            <a:off x="2207925" y="924200"/>
            <a:ext cx="1774200" cy="5247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GB" sz="1600"/>
              <a:t>departingFlights</a:t>
            </a:r>
            <a:endParaRPr sz="1600"/>
          </a:p>
          <a:p>
            <a:pPr indent="0" lvl="0" marL="0" rtl="0" algn="r">
              <a:lnSpc>
                <a:spcPct val="115000"/>
              </a:lnSpc>
              <a:spcBef>
                <a:spcPts val="0"/>
              </a:spcBef>
              <a:spcAft>
                <a:spcPts val="0"/>
              </a:spcAft>
              <a:buNone/>
            </a:pPr>
            <a:r>
              <a:rPr lang="en-GB" sz="1600"/>
              <a:t>*</a:t>
            </a:r>
            <a:endParaRPr sz="1600"/>
          </a:p>
        </p:txBody>
      </p:sp>
      <p:sp>
        <p:nvSpPr>
          <p:cNvPr id="1048" name="Google Shape;1048;p81"/>
          <p:cNvSpPr txBox="1"/>
          <p:nvPr/>
        </p:nvSpPr>
        <p:spPr>
          <a:xfrm>
            <a:off x="2207925" y="1341013"/>
            <a:ext cx="1774200" cy="6753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GB" sz="1600"/>
              <a:t>*</a:t>
            </a:r>
            <a:endParaRPr sz="1600"/>
          </a:p>
          <a:p>
            <a:pPr indent="0" lvl="0" marL="0" rtl="0" algn="r">
              <a:lnSpc>
                <a:spcPct val="115000"/>
              </a:lnSpc>
              <a:spcBef>
                <a:spcPts val="0"/>
              </a:spcBef>
              <a:spcAft>
                <a:spcPts val="0"/>
              </a:spcAft>
              <a:buNone/>
            </a:pPr>
            <a:r>
              <a:rPr lang="en-GB" sz="1600"/>
              <a:t>arrivingFlights</a:t>
            </a:r>
            <a:endParaRPr sz="1600"/>
          </a:p>
        </p:txBody>
      </p:sp>
      <p:cxnSp>
        <p:nvCxnSpPr>
          <p:cNvPr id="1049" name="Google Shape;1049;p81"/>
          <p:cNvCxnSpPr>
            <a:stCxn id="1042" idx="3"/>
            <a:endCxn id="1044" idx="1"/>
          </p:cNvCxnSpPr>
          <p:nvPr/>
        </p:nvCxnSpPr>
        <p:spPr>
          <a:xfrm>
            <a:off x="5461076" y="1473950"/>
            <a:ext cx="1843500" cy="0"/>
          </a:xfrm>
          <a:prstGeom prst="straightConnector1">
            <a:avLst/>
          </a:prstGeom>
          <a:noFill/>
          <a:ln cap="flat" cmpd="sng" w="9525">
            <a:solidFill>
              <a:schemeClr val="dk2"/>
            </a:solidFill>
            <a:prstDash val="solid"/>
            <a:round/>
            <a:headEnd len="med" w="med" type="none"/>
            <a:tailEnd len="med" w="med" type="none"/>
          </a:ln>
        </p:spPr>
      </p:cxnSp>
      <p:sp>
        <p:nvSpPr>
          <p:cNvPr id="1050" name="Google Shape;1050;p81"/>
          <p:cNvSpPr txBox="1"/>
          <p:nvPr/>
        </p:nvSpPr>
        <p:spPr>
          <a:xfrm>
            <a:off x="5484525" y="1118600"/>
            <a:ext cx="873000" cy="67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600"/>
              <a:t>flights</a:t>
            </a:r>
            <a:endParaRPr sz="1600"/>
          </a:p>
          <a:p>
            <a:pPr indent="0" lvl="0" marL="0" rtl="0" algn="l">
              <a:lnSpc>
                <a:spcPct val="115000"/>
              </a:lnSpc>
              <a:spcBef>
                <a:spcPts val="0"/>
              </a:spcBef>
              <a:spcAft>
                <a:spcPts val="0"/>
              </a:spcAft>
              <a:buNone/>
            </a:pPr>
            <a:r>
              <a:rPr lang="en-GB" sz="1600"/>
              <a:t>*</a:t>
            </a:r>
            <a:endParaRPr sz="1600"/>
          </a:p>
        </p:txBody>
      </p:sp>
      <p:sp>
        <p:nvSpPr>
          <p:cNvPr id="1051" name="Google Shape;1051;p81"/>
          <p:cNvSpPr txBox="1"/>
          <p:nvPr/>
        </p:nvSpPr>
        <p:spPr>
          <a:xfrm>
            <a:off x="6627525" y="1118600"/>
            <a:ext cx="873000" cy="67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600"/>
              <a:t>airline</a:t>
            </a:r>
            <a:endParaRPr sz="1600"/>
          </a:p>
        </p:txBody>
      </p:sp>
      <p:sp>
        <p:nvSpPr>
          <p:cNvPr id="1052" name="Google Shape;1052;p81"/>
          <p:cNvSpPr txBox="1"/>
          <p:nvPr/>
        </p:nvSpPr>
        <p:spPr>
          <a:xfrm>
            <a:off x="410175" y="2145725"/>
            <a:ext cx="8403600" cy="10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400">
                <a:solidFill>
                  <a:srgbClr val="434343"/>
                </a:solidFill>
              </a:rPr>
              <a:t>context</a:t>
            </a:r>
            <a:r>
              <a:rPr lang="en-GB" sz="2400">
                <a:solidFill>
                  <a:srgbClr val="434343"/>
                </a:solidFill>
              </a:rPr>
              <a:t> Airport </a:t>
            </a:r>
            <a:r>
              <a:rPr b="1" lang="en-GB" sz="2400">
                <a:solidFill>
                  <a:srgbClr val="434343"/>
                </a:solidFill>
              </a:rPr>
              <a:t>inv</a:t>
            </a:r>
            <a:r>
              <a:rPr lang="en-GB" sz="2400">
                <a:solidFill>
                  <a:srgbClr val="434343"/>
                </a:solidFill>
              </a:rPr>
              <a:t>:</a:t>
            </a:r>
            <a:endParaRPr sz="2400">
              <a:solidFill>
                <a:srgbClr val="434343"/>
              </a:solidFill>
            </a:endParaRPr>
          </a:p>
          <a:p>
            <a:pPr indent="0" lvl="0" marL="0" rtl="0" algn="l">
              <a:spcBef>
                <a:spcPts val="0"/>
              </a:spcBef>
              <a:spcAft>
                <a:spcPts val="0"/>
              </a:spcAft>
              <a:buNone/>
            </a:pPr>
            <a:r>
              <a:rPr lang="en-GB" sz="2400">
                <a:solidFill>
                  <a:srgbClr val="434343"/>
                </a:solidFill>
              </a:rPr>
              <a:t>self.arrivingFlights-&gt;collect(airline)-&gt;notEmpty()</a:t>
            </a:r>
            <a:endParaRPr sz="2400">
              <a:solidFill>
                <a:srgbClr val="434343"/>
              </a:solidFill>
            </a:endParaRPr>
          </a:p>
        </p:txBody>
      </p:sp>
      <p:sp>
        <p:nvSpPr>
          <p:cNvPr id="1053" name="Google Shape;1053;p81"/>
          <p:cNvSpPr/>
          <p:nvPr/>
        </p:nvSpPr>
        <p:spPr>
          <a:xfrm>
            <a:off x="486375" y="3471950"/>
            <a:ext cx="1774200" cy="76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a1:Airport</a:t>
            </a:r>
            <a:endParaRPr b="1" sz="2200" u="sng"/>
          </a:p>
        </p:txBody>
      </p:sp>
      <p:sp>
        <p:nvSpPr>
          <p:cNvPr id="1054" name="Google Shape;1054;p81"/>
          <p:cNvSpPr/>
          <p:nvPr/>
        </p:nvSpPr>
        <p:spPr>
          <a:xfrm>
            <a:off x="486375" y="4691150"/>
            <a:ext cx="1774200" cy="76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a2:Airport</a:t>
            </a:r>
            <a:endParaRPr b="1" sz="2200" u="sng"/>
          </a:p>
        </p:txBody>
      </p:sp>
      <p:sp>
        <p:nvSpPr>
          <p:cNvPr id="1055" name="Google Shape;1055;p81"/>
          <p:cNvSpPr/>
          <p:nvPr/>
        </p:nvSpPr>
        <p:spPr>
          <a:xfrm>
            <a:off x="3931600" y="3243350"/>
            <a:ext cx="16056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f1</a:t>
            </a:r>
            <a:r>
              <a:rPr b="1" lang="en-GB" sz="2200" u="sng"/>
              <a:t>:Flight</a:t>
            </a:r>
            <a:endParaRPr b="1" sz="2200" u="sng"/>
          </a:p>
        </p:txBody>
      </p:sp>
      <p:sp>
        <p:nvSpPr>
          <p:cNvPr id="1056" name="Google Shape;1056;p81"/>
          <p:cNvSpPr/>
          <p:nvPr/>
        </p:nvSpPr>
        <p:spPr>
          <a:xfrm>
            <a:off x="3931600" y="4005350"/>
            <a:ext cx="16056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f2</a:t>
            </a:r>
            <a:r>
              <a:rPr b="1" lang="en-GB" sz="2200" u="sng"/>
              <a:t>:Flight</a:t>
            </a:r>
            <a:endParaRPr b="1" sz="2200" u="sng"/>
          </a:p>
        </p:txBody>
      </p:sp>
      <p:sp>
        <p:nvSpPr>
          <p:cNvPr id="1057" name="Google Shape;1057;p81"/>
          <p:cNvSpPr/>
          <p:nvPr/>
        </p:nvSpPr>
        <p:spPr>
          <a:xfrm>
            <a:off x="3931600" y="4767350"/>
            <a:ext cx="16056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f3</a:t>
            </a:r>
            <a:r>
              <a:rPr b="1" lang="en-GB" sz="2200" u="sng"/>
              <a:t>:Flight</a:t>
            </a:r>
            <a:endParaRPr b="1" sz="2200" u="sng"/>
          </a:p>
        </p:txBody>
      </p:sp>
      <p:sp>
        <p:nvSpPr>
          <p:cNvPr id="1058" name="Google Shape;1058;p81"/>
          <p:cNvSpPr/>
          <p:nvPr/>
        </p:nvSpPr>
        <p:spPr>
          <a:xfrm>
            <a:off x="3931600" y="5529350"/>
            <a:ext cx="16056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f4</a:t>
            </a:r>
            <a:r>
              <a:rPr b="1" lang="en-GB" sz="2200" u="sng"/>
              <a:t>:Flight</a:t>
            </a:r>
            <a:endParaRPr b="1" sz="2200" u="sng"/>
          </a:p>
        </p:txBody>
      </p:sp>
      <p:cxnSp>
        <p:nvCxnSpPr>
          <p:cNvPr id="1059" name="Google Shape;1059;p81"/>
          <p:cNvCxnSpPr>
            <a:stCxn id="1053" idx="3"/>
            <a:endCxn id="1055" idx="1"/>
          </p:cNvCxnSpPr>
          <p:nvPr/>
        </p:nvCxnSpPr>
        <p:spPr>
          <a:xfrm flipH="1" rot="10800000">
            <a:off x="2260575" y="3505700"/>
            <a:ext cx="1671000" cy="348000"/>
          </a:xfrm>
          <a:prstGeom prst="straightConnector1">
            <a:avLst/>
          </a:prstGeom>
          <a:noFill/>
          <a:ln cap="flat" cmpd="sng" w="9525">
            <a:solidFill>
              <a:schemeClr val="dk2"/>
            </a:solidFill>
            <a:prstDash val="solid"/>
            <a:round/>
            <a:headEnd len="med" w="med" type="none"/>
            <a:tailEnd len="med" w="med" type="none"/>
          </a:ln>
        </p:spPr>
      </p:cxnSp>
      <p:cxnSp>
        <p:nvCxnSpPr>
          <p:cNvPr id="1060" name="Google Shape;1060;p81"/>
          <p:cNvCxnSpPr>
            <a:stCxn id="1053" idx="3"/>
            <a:endCxn id="1057" idx="1"/>
          </p:cNvCxnSpPr>
          <p:nvPr/>
        </p:nvCxnSpPr>
        <p:spPr>
          <a:xfrm>
            <a:off x="2260575" y="3853700"/>
            <a:ext cx="1671000" cy="1176000"/>
          </a:xfrm>
          <a:prstGeom prst="straightConnector1">
            <a:avLst/>
          </a:prstGeom>
          <a:noFill/>
          <a:ln cap="flat" cmpd="sng" w="9525">
            <a:solidFill>
              <a:schemeClr val="dk2"/>
            </a:solidFill>
            <a:prstDash val="solid"/>
            <a:round/>
            <a:headEnd len="med" w="med" type="none"/>
            <a:tailEnd len="med" w="med" type="none"/>
          </a:ln>
        </p:spPr>
      </p:cxnSp>
      <p:cxnSp>
        <p:nvCxnSpPr>
          <p:cNvPr id="1061" name="Google Shape;1061;p81"/>
          <p:cNvCxnSpPr>
            <a:stCxn id="1054" idx="3"/>
            <a:endCxn id="1056" idx="1"/>
          </p:cNvCxnSpPr>
          <p:nvPr/>
        </p:nvCxnSpPr>
        <p:spPr>
          <a:xfrm flipH="1" rot="10800000">
            <a:off x="2260575" y="4267700"/>
            <a:ext cx="1671000" cy="805200"/>
          </a:xfrm>
          <a:prstGeom prst="straightConnector1">
            <a:avLst/>
          </a:prstGeom>
          <a:noFill/>
          <a:ln cap="flat" cmpd="sng" w="9525">
            <a:solidFill>
              <a:schemeClr val="dk2"/>
            </a:solidFill>
            <a:prstDash val="solid"/>
            <a:round/>
            <a:headEnd len="med" w="med" type="none"/>
            <a:tailEnd len="med" w="med" type="none"/>
          </a:ln>
        </p:spPr>
      </p:cxnSp>
      <p:cxnSp>
        <p:nvCxnSpPr>
          <p:cNvPr id="1062" name="Google Shape;1062;p81"/>
          <p:cNvCxnSpPr>
            <a:stCxn id="1054" idx="3"/>
            <a:endCxn id="1058" idx="1"/>
          </p:cNvCxnSpPr>
          <p:nvPr/>
        </p:nvCxnSpPr>
        <p:spPr>
          <a:xfrm>
            <a:off x="2260575" y="5072900"/>
            <a:ext cx="1671000" cy="718800"/>
          </a:xfrm>
          <a:prstGeom prst="straightConnector1">
            <a:avLst/>
          </a:prstGeom>
          <a:noFill/>
          <a:ln cap="flat" cmpd="sng" w="9525">
            <a:solidFill>
              <a:schemeClr val="dk2"/>
            </a:solidFill>
            <a:prstDash val="solid"/>
            <a:round/>
            <a:headEnd len="med" w="med" type="none"/>
            <a:tailEnd len="med" w="med" type="none"/>
          </a:ln>
        </p:spPr>
      </p:cxnSp>
      <p:sp>
        <p:nvSpPr>
          <p:cNvPr id="1063" name="Google Shape;1063;p81"/>
          <p:cNvSpPr txBox="1"/>
          <p:nvPr/>
        </p:nvSpPr>
        <p:spPr>
          <a:xfrm>
            <a:off x="2231573" y="4874776"/>
            <a:ext cx="1774200" cy="5247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GB" sz="1600"/>
              <a:t>departingFlights</a:t>
            </a:r>
            <a:endParaRPr sz="1600"/>
          </a:p>
        </p:txBody>
      </p:sp>
      <p:sp>
        <p:nvSpPr>
          <p:cNvPr id="1064" name="Google Shape;1064;p81"/>
          <p:cNvSpPr txBox="1"/>
          <p:nvPr/>
        </p:nvSpPr>
        <p:spPr>
          <a:xfrm>
            <a:off x="2131725" y="3743600"/>
            <a:ext cx="1774200" cy="5247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GB" sz="1600"/>
              <a:t>arrivingFlights</a:t>
            </a:r>
            <a:endParaRPr sz="1600"/>
          </a:p>
        </p:txBody>
      </p:sp>
      <p:sp>
        <p:nvSpPr>
          <p:cNvPr id="1065" name="Google Shape;1065;p81"/>
          <p:cNvSpPr/>
          <p:nvPr/>
        </p:nvSpPr>
        <p:spPr>
          <a:xfrm>
            <a:off x="6979600" y="3471950"/>
            <a:ext cx="1605600" cy="675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l1:Airline</a:t>
            </a:r>
            <a:endParaRPr b="1" sz="2200" u="sng"/>
          </a:p>
        </p:txBody>
      </p:sp>
      <p:sp>
        <p:nvSpPr>
          <p:cNvPr id="1066" name="Google Shape;1066;p81"/>
          <p:cNvSpPr/>
          <p:nvPr/>
        </p:nvSpPr>
        <p:spPr>
          <a:xfrm>
            <a:off x="6979600" y="4310150"/>
            <a:ext cx="1605600" cy="675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l2:Airline</a:t>
            </a:r>
            <a:endParaRPr b="1" sz="2200" u="sng"/>
          </a:p>
        </p:txBody>
      </p:sp>
      <p:sp>
        <p:nvSpPr>
          <p:cNvPr id="1067" name="Google Shape;1067;p81"/>
          <p:cNvSpPr/>
          <p:nvPr/>
        </p:nvSpPr>
        <p:spPr>
          <a:xfrm>
            <a:off x="7055800" y="5148350"/>
            <a:ext cx="1605600" cy="675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l3:Airline</a:t>
            </a:r>
            <a:endParaRPr b="1" sz="2200" u="sng"/>
          </a:p>
        </p:txBody>
      </p:sp>
      <p:cxnSp>
        <p:nvCxnSpPr>
          <p:cNvPr id="1068" name="Google Shape;1068;p81"/>
          <p:cNvCxnSpPr>
            <a:stCxn id="1055" idx="3"/>
            <a:endCxn id="1065" idx="1"/>
          </p:cNvCxnSpPr>
          <p:nvPr/>
        </p:nvCxnSpPr>
        <p:spPr>
          <a:xfrm>
            <a:off x="5537200" y="3505700"/>
            <a:ext cx="1442400" cy="303900"/>
          </a:xfrm>
          <a:prstGeom prst="straightConnector1">
            <a:avLst/>
          </a:prstGeom>
          <a:noFill/>
          <a:ln cap="flat" cmpd="sng" w="9525">
            <a:solidFill>
              <a:schemeClr val="dk2"/>
            </a:solidFill>
            <a:prstDash val="solid"/>
            <a:round/>
            <a:headEnd len="med" w="med" type="none"/>
            <a:tailEnd len="med" w="med" type="none"/>
          </a:ln>
        </p:spPr>
      </p:cxnSp>
      <p:cxnSp>
        <p:nvCxnSpPr>
          <p:cNvPr id="1069" name="Google Shape;1069;p81"/>
          <p:cNvCxnSpPr>
            <a:stCxn id="1056" idx="3"/>
            <a:endCxn id="1067" idx="1"/>
          </p:cNvCxnSpPr>
          <p:nvPr/>
        </p:nvCxnSpPr>
        <p:spPr>
          <a:xfrm>
            <a:off x="5537200" y="4267700"/>
            <a:ext cx="1518600" cy="1218300"/>
          </a:xfrm>
          <a:prstGeom prst="straightConnector1">
            <a:avLst/>
          </a:prstGeom>
          <a:noFill/>
          <a:ln cap="flat" cmpd="sng" w="9525">
            <a:solidFill>
              <a:schemeClr val="dk2"/>
            </a:solidFill>
            <a:prstDash val="solid"/>
            <a:round/>
            <a:headEnd len="med" w="med" type="none"/>
            <a:tailEnd len="med" w="med" type="none"/>
          </a:ln>
        </p:spPr>
      </p:cxnSp>
      <p:cxnSp>
        <p:nvCxnSpPr>
          <p:cNvPr id="1070" name="Google Shape;1070;p81"/>
          <p:cNvCxnSpPr>
            <a:stCxn id="1057" idx="3"/>
            <a:endCxn id="1066" idx="1"/>
          </p:cNvCxnSpPr>
          <p:nvPr/>
        </p:nvCxnSpPr>
        <p:spPr>
          <a:xfrm flipH="1" rot="10800000">
            <a:off x="5537200" y="4647800"/>
            <a:ext cx="1442400" cy="381900"/>
          </a:xfrm>
          <a:prstGeom prst="straightConnector1">
            <a:avLst/>
          </a:prstGeom>
          <a:noFill/>
          <a:ln cap="flat" cmpd="sng" w="9525">
            <a:solidFill>
              <a:schemeClr val="dk2"/>
            </a:solidFill>
            <a:prstDash val="solid"/>
            <a:round/>
            <a:headEnd len="med" w="med" type="none"/>
            <a:tailEnd len="med" w="med" type="none"/>
          </a:ln>
        </p:spPr>
      </p:cxnSp>
      <p:cxnSp>
        <p:nvCxnSpPr>
          <p:cNvPr id="1071" name="Google Shape;1071;p81"/>
          <p:cNvCxnSpPr>
            <a:stCxn id="1058" idx="3"/>
            <a:endCxn id="1067" idx="1"/>
          </p:cNvCxnSpPr>
          <p:nvPr/>
        </p:nvCxnSpPr>
        <p:spPr>
          <a:xfrm flipH="1" rot="10800000">
            <a:off x="5537200" y="5486000"/>
            <a:ext cx="1518600" cy="305700"/>
          </a:xfrm>
          <a:prstGeom prst="straightConnector1">
            <a:avLst/>
          </a:prstGeom>
          <a:noFill/>
          <a:ln cap="flat" cmpd="sng" w="9525">
            <a:solidFill>
              <a:schemeClr val="dk2"/>
            </a:solidFill>
            <a:prstDash val="solid"/>
            <a:round/>
            <a:headEnd len="med" w="med" type="none"/>
            <a:tailEnd len="med" w="med" type="none"/>
          </a:ln>
        </p:spPr>
      </p:cxnSp>
      <p:sp>
        <p:nvSpPr>
          <p:cNvPr id="1072" name="Google Shape;1072;p81"/>
          <p:cNvSpPr txBox="1"/>
          <p:nvPr/>
        </p:nvSpPr>
        <p:spPr>
          <a:xfrm>
            <a:off x="5713125" y="3286400"/>
            <a:ext cx="1190400" cy="5247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GB" sz="1600"/>
              <a:t>airline</a:t>
            </a:r>
            <a:endParaRPr sz="1600"/>
          </a:p>
        </p:txBody>
      </p:sp>
      <p:sp>
        <p:nvSpPr>
          <p:cNvPr id="1073" name="Google Shape;1073;p81"/>
          <p:cNvSpPr/>
          <p:nvPr/>
        </p:nvSpPr>
        <p:spPr>
          <a:xfrm>
            <a:off x="2083650" y="3173450"/>
            <a:ext cx="350100" cy="291600"/>
          </a:xfrm>
          <a:prstGeom prst="sun">
            <a:avLst>
              <a:gd fmla="val 25000" name="adj"/>
            </a:avLst>
          </a:prstGeom>
          <a:solidFill>
            <a:srgbClr val="0000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81"/>
          <p:cNvSpPr/>
          <p:nvPr/>
        </p:nvSpPr>
        <p:spPr>
          <a:xfrm>
            <a:off x="5588850" y="3021050"/>
            <a:ext cx="350100" cy="291600"/>
          </a:xfrm>
          <a:prstGeom prst="sun">
            <a:avLst>
              <a:gd fmla="val 25000" name="adj"/>
            </a:avLst>
          </a:prstGeom>
          <a:solidFill>
            <a:srgbClr val="0000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81"/>
          <p:cNvSpPr/>
          <p:nvPr/>
        </p:nvSpPr>
        <p:spPr>
          <a:xfrm>
            <a:off x="5560844" y="4579241"/>
            <a:ext cx="350100" cy="291600"/>
          </a:xfrm>
          <a:prstGeom prst="sun">
            <a:avLst>
              <a:gd fmla="val 25000" name="adj"/>
            </a:avLst>
          </a:prstGeom>
          <a:solidFill>
            <a:srgbClr val="0000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81"/>
          <p:cNvSpPr/>
          <p:nvPr/>
        </p:nvSpPr>
        <p:spPr>
          <a:xfrm>
            <a:off x="8456444" y="3131441"/>
            <a:ext cx="350100" cy="291600"/>
          </a:xfrm>
          <a:prstGeom prst="sun">
            <a:avLst>
              <a:gd fmla="val 25000" name="adj"/>
            </a:avLst>
          </a:prstGeom>
          <a:solidFill>
            <a:srgbClr val="0000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81"/>
          <p:cNvSpPr/>
          <p:nvPr/>
        </p:nvSpPr>
        <p:spPr>
          <a:xfrm>
            <a:off x="8532644" y="4045841"/>
            <a:ext cx="350100" cy="291600"/>
          </a:xfrm>
          <a:prstGeom prst="sun">
            <a:avLst>
              <a:gd fmla="val 25000" name="adj"/>
            </a:avLst>
          </a:prstGeom>
          <a:solidFill>
            <a:srgbClr val="0000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82"/>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3.18. Thao tác </a:t>
            </a:r>
            <a:r>
              <a:rPr i="1" lang="en-GB"/>
              <a:t>select</a:t>
            </a:r>
            <a:endParaRPr i="1"/>
          </a:p>
        </p:txBody>
      </p:sp>
      <p:sp>
        <p:nvSpPr>
          <p:cNvPr id="1083" name="Google Shape;1083;p8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84" name="Google Shape;1084;p82"/>
          <p:cNvSpPr txBox="1"/>
          <p:nvPr/>
        </p:nvSpPr>
        <p:spPr>
          <a:xfrm>
            <a:off x="370200" y="996350"/>
            <a:ext cx="8403600" cy="101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2400">
                <a:solidFill>
                  <a:srgbClr val="434343"/>
                </a:solidFill>
              </a:rPr>
              <a:t>context</a:t>
            </a:r>
            <a:r>
              <a:rPr lang="en-GB" sz="2400">
                <a:solidFill>
                  <a:srgbClr val="434343"/>
                </a:solidFill>
              </a:rPr>
              <a:t> Airport </a:t>
            </a:r>
            <a:r>
              <a:rPr b="1" lang="en-GB" sz="2400">
                <a:solidFill>
                  <a:srgbClr val="434343"/>
                </a:solidFill>
              </a:rPr>
              <a:t>inv</a:t>
            </a:r>
            <a:r>
              <a:rPr lang="en-GB" sz="2400">
                <a:solidFill>
                  <a:srgbClr val="434343"/>
                </a:solidFill>
              </a:rPr>
              <a:t>:</a:t>
            </a:r>
            <a:endParaRPr sz="2400">
              <a:solidFill>
                <a:srgbClr val="434343"/>
              </a:solidFill>
            </a:endParaRPr>
          </a:p>
          <a:p>
            <a:pPr indent="0" lvl="0" marL="0" rtl="0" algn="l">
              <a:spcBef>
                <a:spcPts val="0"/>
              </a:spcBef>
              <a:spcAft>
                <a:spcPts val="0"/>
              </a:spcAft>
              <a:buNone/>
            </a:pPr>
            <a:r>
              <a:rPr lang="en-GB" sz="2400">
                <a:solidFill>
                  <a:srgbClr val="434343"/>
                </a:solidFill>
              </a:rPr>
              <a:t>self.departingFlights-&gt;select(duration &lt; 4)-&gt;notEmpty()</a:t>
            </a:r>
            <a:endParaRPr sz="2400">
              <a:solidFill>
                <a:srgbClr val="434343"/>
              </a:solidFill>
            </a:endParaRPr>
          </a:p>
        </p:txBody>
      </p:sp>
      <p:sp>
        <p:nvSpPr>
          <p:cNvPr id="1085" name="Google Shape;1085;p82"/>
          <p:cNvSpPr/>
          <p:nvPr/>
        </p:nvSpPr>
        <p:spPr>
          <a:xfrm>
            <a:off x="486375" y="2709950"/>
            <a:ext cx="1774200" cy="76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a1:Airport</a:t>
            </a:r>
            <a:endParaRPr b="1" sz="2200" u="sng"/>
          </a:p>
        </p:txBody>
      </p:sp>
      <p:sp>
        <p:nvSpPr>
          <p:cNvPr id="1086" name="Google Shape;1086;p82"/>
          <p:cNvSpPr/>
          <p:nvPr/>
        </p:nvSpPr>
        <p:spPr>
          <a:xfrm>
            <a:off x="486375" y="3929150"/>
            <a:ext cx="1774200" cy="76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a2:Airport</a:t>
            </a:r>
            <a:endParaRPr b="1" sz="2200" u="sng"/>
          </a:p>
        </p:txBody>
      </p:sp>
      <p:sp>
        <p:nvSpPr>
          <p:cNvPr id="1087" name="Google Shape;1087;p82"/>
          <p:cNvSpPr/>
          <p:nvPr/>
        </p:nvSpPr>
        <p:spPr>
          <a:xfrm>
            <a:off x="3855400" y="2100350"/>
            <a:ext cx="17742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f1</a:t>
            </a:r>
            <a:r>
              <a:rPr b="1" lang="en-GB" sz="2200" u="sng"/>
              <a:t>:Flight</a:t>
            </a:r>
            <a:endParaRPr b="1" sz="2200" u="sng"/>
          </a:p>
        </p:txBody>
      </p:sp>
      <p:sp>
        <p:nvSpPr>
          <p:cNvPr id="1088" name="Google Shape;1088;p82"/>
          <p:cNvSpPr/>
          <p:nvPr/>
        </p:nvSpPr>
        <p:spPr>
          <a:xfrm>
            <a:off x="3855400" y="3243350"/>
            <a:ext cx="17742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f2</a:t>
            </a:r>
            <a:r>
              <a:rPr b="1" lang="en-GB" sz="2200" u="sng"/>
              <a:t>:Flight</a:t>
            </a:r>
            <a:endParaRPr b="1" sz="2200" u="sng"/>
          </a:p>
        </p:txBody>
      </p:sp>
      <p:sp>
        <p:nvSpPr>
          <p:cNvPr id="1089" name="Google Shape;1089;p82"/>
          <p:cNvSpPr/>
          <p:nvPr/>
        </p:nvSpPr>
        <p:spPr>
          <a:xfrm>
            <a:off x="3855400" y="4310150"/>
            <a:ext cx="17742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f3</a:t>
            </a:r>
            <a:r>
              <a:rPr b="1" lang="en-GB" sz="2200" u="sng"/>
              <a:t>:Flight</a:t>
            </a:r>
            <a:endParaRPr b="1" sz="2200" u="sng"/>
          </a:p>
        </p:txBody>
      </p:sp>
      <p:sp>
        <p:nvSpPr>
          <p:cNvPr id="1090" name="Google Shape;1090;p82"/>
          <p:cNvSpPr/>
          <p:nvPr/>
        </p:nvSpPr>
        <p:spPr>
          <a:xfrm>
            <a:off x="3855400" y="5453150"/>
            <a:ext cx="17742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f4</a:t>
            </a:r>
            <a:r>
              <a:rPr b="1" lang="en-GB" sz="2200" u="sng"/>
              <a:t>:Flight</a:t>
            </a:r>
            <a:endParaRPr b="1" sz="2200" u="sng"/>
          </a:p>
        </p:txBody>
      </p:sp>
      <p:cxnSp>
        <p:nvCxnSpPr>
          <p:cNvPr id="1091" name="Google Shape;1091;p82"/>
          <p:cNvCxnSpPr>
            <a:stCxn id="1085" idx="3"/>
            <a:endCxn id="1087" idx="1"/>
          </p:cNvCxnSpPr>
          <p:nvPr/>
        </p:nvCxnSpPr>
        <p:spPr>
          <a:xfrm flipH="1" rot="10800000">
            <a:off x="2260575" y="2362700"/>
            <a:ext cx="1594800" cy="729000"/>
          </a:xfrm>
          <a:prstGeom prst="straightConnector1">
            <a:avLst/>
          </a:prstGeom>
          <a:noFill/>
          <a:ln cap="flat" cmpd="sng" w="9525">
            <a:solidFill>
              <a:schemeClr val="dk2"/>
            </a:solidFill>
            <a:prstDash val="solid"/>
            <a:round/>
            <a:headEnd len="med" w="med" type="none"/>
            <a:tailEnd len="med" w="med" type="none"/>
          </a:ln>
        </p:spPr>
      </p:cxnSp>
      <p:cxnSp>
        <p:nvCxnSpPr>
          <p:cNvPr id="1092" name="Google Shape;1092;p82"/>
          <p:cNvCxnSpPr>
            <a:stCxn id="1085" idx="3"/>
            <a:endCxn id="1089" idx="1"/>
          </p:cNvCxnSpPr>
          <p:nvPr/>
        </p:nvCxnSpPr>
        <p:spPr>
          <a:xfrm>
            <a:off x="2260575" y="3091700"/>
            <a:ext cx="1594800" cy="1480800"/>
          </a:xfrm>
          <a:prstGeom prst="straightConnector1">
            <a:avLst/>
          </a:prstGeom>
          <a:noFill/>
          <a:ln cap="flat" cmpd="sng" w="9525">
            <a:solidFill>
              <a:schemeClr val="dk2"/>
            </a:solidFill>
            <a:prstDash val="solid"/>
            <a:round/>
            <a:headEnd len="med" w="med" type="none"/>
            <a:tailEnd len="med" w="med" type="none"/>
          </a:ln>
        </p:spPr>
      </p:cxnSp>
      <p:cxnSp>
        <p:nvCxnSpPr>
          <p:cNvPr id="1093" name="Google Shape;1093;p82"/>
          <p:cNvCxnSpPr>
            <a:stCxn id="1086" idx="3"/>
            <a:endCxn id="1088" idx="1"/>
          </p:cNvCxnSpPr>
          <p:nvPr/>
        </p:nvCxnSpPr>
        <p:spPr>
          <a:xfrm flipH="1" rot="10800000">
            <a:off x="2260575" y="3505700"/>
            <a:ext cx="1594800" cy="805200"/>
          </a:xfrm>
          <a:prstGeom prst="straightConnector1">
            <a:avLst/>
          </a:prstGeom>
          <a:noFill/>
          <a:ln cap="flat" cmpd="sng" w="9525">
            <a:solidFill>
              <a:schemeClr val="dk2"/>
            </a:solidFill>
            <a:prstDash val="solid"/>
            <a:round/>
            <a:headEnd len="med" w="med" type="none"/>
            <a:tailEnd len="med" w="med" type="none"/>
          </a:ln>
        </p:spPr>
      </p:cxnSp>
      <p:cxnSp>
        <p:nvCxnSpPr>
          <p:cNvPr id="1094" name="Google Shape;1094;p82"/>
          <p:cNvCxnSpPr>
            <a:stCxn id="1086" idx="3"/>
            <a:endCxn id="1090" idx="1"/>
          </p:cNvCxnSpPr>
          <p:nvPr/>
        </p:nvCxnSpPr>
        <p:spPr>
          <a:xfrm>
            <a:off x="2260575" y="4310900"/>
            <a:ext cx="1594800" cy="1404600"/>
          </a:xfrm>
          <a:prstGeom prst="straightConnector1">
            <a:avLst/>
          </a:prstGeom>
          <a:noFill/>
          <a:ln cap="flat" cmpd="sng" w="9525">
            <a:solidFill>
              <a:schemeClr val="dk2"/>
            </a:solidFill>
            <a:prstDash val="solid"/>
            <a:round/>
            <a:headEnd len="med" w="med" type="none"/>
            <a:tailEnd len="med" w="med" type="none"/>
          </a:ln>
        </p:spPr>
      </p:cxnSp>
      <p:sp>
        <p:nvSpPr>
          <p:cNvPr id="1095" name="Google Shape;1095;p82"/>
          <p:cNvSpPr txBox="1"/>
          <p:nvPr/>
        </p:nvSpPr>
        <p:spPr>
          <a:xfrm>
            <a:off x="2207925" y="4124600"/>
            <a:ext cx="1774200" cy="5247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GB" sz="1600"/>
              <a:t>departingFlights</a:t>
            </a:r>
            <a:endParaRPr sz="1600"/>
          </a:p>
        </p:txBody>
      </p:sp>
      <p:sp>
        <p:nvSpPr>
          <p:cNvPr id="1096" name="Google Shape;1096;p82"/>
          <p:cNvSpPr txBox="1"/>
          <p:nvPr/>
        </p:nvSpPr>
        <p:spPr>
          <a:xfrm>
            <a:off x="2131725" y="2905400"/>
            <a:ext cx="1774200" cy="5247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GB" sz="1600"/>
              <a:t>arrivingFlights</a:t>
            </a:r>
            <a:endParaRPr sz="1600"/>
          </a:p>
        </p:txBody>
      </p:sp>
      <p:sp>
        <p:nvSpPr>
          <p:cNvPr id="1097" name="Google Shape;1097;p82"/>
          <p:cNvSpPr/>
          <p:nvPr/>
        </p:nvSpPr>
        <p:spPr>
          <a:xfrm>
            <a:off x="7055800" y="2709950"/>
            <a:ext cx="1605600" cy="675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l1:Airline</a:t>
            </a:r>
            <a:endParaRPr b="1" sz="2200" u="sng"/>
          </a:p>
        </p:txBody>
      </p:sp>
      <p:sp>
        <p:nvSpPr>
          <p:cNvPr id="1098" name="Google Shape;1098;p82"/>
          <p:cNvSpPr/>
          <p:nvPr/>
        </p:nvSpPr>
        <p:spPr>
          <a:xfrm>
            <a:off x="7055800" y="3548150"/>
            <a:ext cx="1605600" cy="675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l2:Airline</a:t>
            </a:r>
            <a:endParaRPr b="1" sz="2200" u="sng"/>
          </a:p>
        </p:txBody>
      </p:sp>
      <p:sp>
        <p:nvSpPr>
          <p:cNvPr id="1099" name="Google Shape;1099;p82"/>
          <p:cNvSpPr/>
          <p:nvPr/>
        </p:nvSpPr>
        <p:spPr>
          <a:xfrm>
            <a:off x="7055800" y="4386350"/>
            <a:ext cx="1605600" cy="675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l3:Airline</a:t>
            </a:r>
            <a:endParaRPr b="1" sz="2200" u="sng"/>
          </a:p>
        </p:txBody>
      </p:sp>
      <p:cxnSp>
        <p:nvCxnSpPr>
          <p:cNvPr id="1100" name="Google Shape;1100;p82"/>
          <p:cNvCxnSpPr>
            <a:stCxn id="1087" idx="3"/>
            <a:endCxn id="1097" idx="1"/>
          </p:cNvCxnSpPr>
          <p:nvPr/>
        </p:nvCxnSpPr>
        <p:spPr>
          <a:xfrm>
            <a:off x="5629600" y="2362700"/>
            <a:ext cx="1426200" cy="684900"/>
          </a:xfrm>
          <a:prstGeom prst="straightConnector1">
            <a:avLst/>
          </a:prstGeom>
          <a:noFill/>
          <a:ln cap="flat" cmpd="sng" w="9525">
            <a:solidFill>
              <a:schemeClr val="dk2"/>
            </a:solidFill>
            <a:prstDash val="solid"/>
            <a:round/>
            <a:headEnd len="med" w="med" type="none"/>
            <a:tailEnd len="med" w="med" type="none"/>
          </a:ln>
        </p:spPr>
      </p:cxnSp>
      <p:cxnSp>
        <p:nvCxnSpPr>
          <p:cNvPr id="1101" name="Google Shape;1101;p82"/>
          <p:cNvCxnSpPr>
            <a:stCxn id="1088" idx="3"/>
            <a:endCxn id="1099" idx="1"/>
          </p:cNvCxnSpPr>
          <p:nvPr/>
        </p:nvCxnSpPr>
        <p:spPr>
          <a:xfrm>
            <a:off x="5629600" y="3505700"/>
            <a:ext cx="1426200" cy="1218300"/>
          </a:xfrm>
          <a:prstGeom prst="straightConnector1">
            <a:avLst/>
          </a:prstGeom>
          <a:noFill/>
          <a:ln cap="flat" cmpd="sng" w="9525">
            <a:solidFill>
              <a:schemeClr val="dk2"/>
            </a:solidFill>
            <a:prstDash val="solid"/>
            <a:round/>
            <a:headEnd len="med" w="med" type="none"/>
            <a:tailEnd len="med" w="med" type="none"/>
          </a:ln>
        </p:spPr>
      </p:cxnSp>
      <p:cxnSp>
        <p:nvCxnSpPr>
          <p:cNvPr id="1102" name="Google Shape;1102;p82"/>
          <p:cNvCxnSpPr>
            <a:stCxn id="1089" idx="3"/>
            <a:endCxn id="1098" idx="1"/>
          </p:cNvCxnSpPr>
          <p:nvPr/>
        </p:nvCxnSpPr>
        <p:spPr>
          <a:xfrm flipH="1" rot="10800000">
            <a:off x="5629600" y="3885800"/>
            <a:ext cx="1426200" cy="686700"/>
          </a:xfrm>
          <a:prstGeom prst="straightConnector1">
            <a:avLst/>
          </a:prstGeom>
          <a:noFill/>
          <a:ln cap="flat" cmpd="sng" w="9525">
            <a:solidFill>
              <a:schemeClr val="dk2"/>
            </a:solidFill>
            <a:prstDash val="solid"/>
            <a:round/>
            <a:headEnd len="med" w="med" type="none"/>
            <a:tailEnd len="med" w="med" type="none"/>
          </a:ln>
        </p:spPr>
      </p:cxnSp>
      <p:cxnSp>
        <p:nvCxnSpPr>
          <p:cNvPr id="1103" name="Google Shape;1103;p82"/>
          <p:cNvCxnSpPr>
            <a:stCxn id="1090" idx="3"/>
            <a:endCxn id="1099" idx="1"/>
          </p:cNvCxnSpPr>
          <p:nvPr/>
        </p:nvCxnSpPr>
        <p:spPr>
          <a:xfrm flipH="1" rot="10800000">
            <a:off x="5629600" y="4724000"/>
            <a:ext cx="1426200" cy="991500"/>
          </a:xfrm>
          <a:prstGeom prst="straightConnector1">
            <a:avLst/>
          </a:prstGeom>
          <a:noFill/>
          <a:ln cap="flat" cmpd="sng" w="9525">
            <a:solidFill>
              <a:schemeClr val="dk2"/>
            </a:solidFill>
            <a:prstDash val="solid"/>
            <a:round/>
            <a:headEnd len="med" w="med" type="none"/>
            <a:tailEnd len="med" w="med" type="none"/>
          </a:ln>
        </p:spPr>
      </p:cxnSp>
      <p:sp>
        <p:nvSpPr>
          <p:cNvPr id="1104" name="Google Shape;1104;p82"/>
          <p:cNvSpPr txBox="1"/>
          <p:nvPr/>
        </p:nvSpPr>
        <p:spPr>
          <a:xfrm>
            <a:off x="5789325" y="2524400"/>
            <a:ext cx="1190400" cy="5247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GB" sz="1600"/>
              <a:t>airline</a:t>
            </a:r>
            <a:endParaRPr sz="1600"/>
          </a:p>
        </p:txBody>
      </p:sp>
      <p:sp>
        <p:nvSpPr>
          <p:cNvPr id="1105" name="Google Shape;1105;p82"/>
          <p:cNvSpPr/>
          <p:nvPr/>
        </p:nvSpPr>
        <p:spPr>
          <a:xfrm>
            <a:off x="3855400" y="2633750"/>
            <a:ext cx="1774200" cy="413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duration = 3</a:t>
            </a:r>
            <a:endParaRPr sz="2200"/>
          </a:p>
        </p:txBody>
      </p:sp>
      <p:sp>
        <p:nvSpPr>
          <p:cNvPr id="1106" name="Google Shape;1106;p82"/>
          <p:cNvSpPr/>
          <p:nvPr/>
        </p:nvSpPr>
        <p:spPr>
          <a:xfrm>
            <a:off x="3855400" y="3776750"/>
            <a:ext cx="1774200" cy="413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duration = 5</a:t>
            </a:r>
            <a:endParaRPr sz="2200"/>
          </a:p>
        </p:txBody>
      </p:sp>
      <p:sp>
        <p:nvSpPr>
          <p:cNvPr id="1107" name="Google Shape;1107;p82"/>
          <p:cNvSpPr/>
          <p:nvPr/>
        </p:nvSpPr>
        <p:spPr>
          <a:xfrm>
            <a:off x="3855400" y="4843550"/>
            <a:ext cx="1774200" cy="413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duration = 2</a:t>
            </a:r>
            <a:endParaRPr sz="2200"/>
          </a:p>
        </p:txBody>
      </p:sp>
      <p:sp>
        <p:nvSpPr>
          <p:cNvPr id="1108" name="Google Shape;1108;p82"/>
          <p:cNvSpPr/>
          <p:nvPr/>
        </p:nvSpPr>
        <p:spPr>
          <a:xfrm>
            <a:off x="3855400" y="5986550"/>
            <a:ext cx="1774200" cy="413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duration = 6</a:t>
            </a:r>
            <a:endParaRPr sz="2200"/>
          </a:p>
        </p:txBody>
      </p:sp>
      <p:sp>
        <p:nvSpPr>
          <p:cNvPr id="1109" name="Google Shape;1109;p82"/>
          <p:cNvSpPr/>
          <p:nvPr/>
        </p:nvSpPr>
        <p:spPr>
          <a:xfrm>
            <a:off x="5665050" y="4621250"/>
            <a:ext cx="350100" cy="291600"/>
          </a:xfrm>
          <a:prstGeom prst="sun">
            <a:avLst>
              <a:gd fmla="val 25000" name="adj"/>
            </a:avLst>
          </a:prstGeom>
          <a:solidFill>
            <a:srgbClr val="0000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83"/>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3.19. Thao tác </a:t>
            </a:r>
            <a:r>
              <a:rPr i="1" lang="en-GB"/>
              <a:t>exists</a:t>
            </a:r>
            <a:endParaRPr i="1"/>
          </a:p>
        </p:txBody>
      </p:sp>
      <p:sp>
        <p:nvSpPr>
          <p:cNvPr id="1115" name="Google Shape;1115;p8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116" name="Google Shape;1116;p83"/>
          <p:cNvSpPr txBox="1"/>
          <p:nvPr/>
        </p:nvSpPr>
        <p:spPr>
          <a:xfrm>
            <a:off x="370200" y="996350"/>
            <a:ext cx="8403600" cy="101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2400">
                <a:solidFill>
                  <a:srgbClr val="434343"/>
                </a:solidFill>
              </a:rPr>
              <a:t>context</a:t>
            </a:r>
            <a:r>
              <a:rPr lang="en-GB" sz="2400">
                <a:solidFill>
                  <a:srgbClr val="434343"/>
                </a:solidFill>
              </a:rPr>
              <a:t> Airport </a:t>
            </a:r>
            <a:r>
              <a:rPr b="1" lang="en-GB" sz="2400">
                <a:solidFill>
                  <a:srgbClr val="434343"/>
                </a:solidFill>
              </a:rPr>
              <a:t>inv</a:t>
            </a:r>
            <a:r>
              <a:rPr lang="en-GB" sz="2400">
                <a:solidFill>
                  <a:srgbClr val="434343"/>
                </a:solidFill>
              </a:rPr>
              <a:t>:</a:t>
            </a:r>
            <a:endParaRPr sz="2400">
              <a:solidFill>
                <a:srgbClr val="434343"/>
              </a:solidFill>
            </a:endParaRPr>
          </a:p>
          <a:p>
            <a:pPr indent="0" lvl="0" marL="0" rtl="0" algn="l">
              <a:spcBef>
                <a:spcPts val="0"/>
              </a:spcBef>
              <a:spcAft>
                <a:spcPts val="0"/>
              </a:spcAft>
              <a:buNone/>
            </a:pPr>
            <a:r>
              <a:rPr lang="en-GB" sz="2400">
                <a:solidFill>
                  <a:srgbClr val="434343"/>
                </a:solidFill>
              </a:rPr>
              <a:t>self.departingFlights-&gt;exists(duration = 5)</a:t>
            </a:r>
            <a:endParaRPr sz="2400">
              <a:solidFill>
                <a:srgbClr val="434343"/>
              </a:solidFill>
            </a:endParaRPr>
          </a:p>
        </p:txBody>
      </p:sp>
      <p:sp>
        <p:nvSpPr>
          <p:cNvPr id="1117" name="Google Shape;1117;p83"/>
          <p:cNvSpPr/>
          <p:nvPr/>
        </p:nvSpPr>
        <p:spPr>
          <a:xfrm>
            <a:off x="486375" y="2709950"/>
            <a:ext cx="1774200" cy="76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a1:Airport</a:t>
            </a:r>
            <a:endParaRPr b="1" sz="2200" u="sng"/>
          </a:p>
        </p:txBody>
      </p:sp>
      <p:sp>
        <p:nvSpPr>
          <p:cNvPr id="1118" name="Google Shape;1118;p83"/>
          <p:cNvSpPr/>
          <p:nvPr/>
        </p:nvSpPr>
        <p:spPr>
          <a:xfrm>
            <a:off x="486375" y="3929150"/>
            <a:ext cx="1774200" cy="76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a2:Airport</a:t>
            </a:r>
            <a:endParaRPr b="1" sz="2200" u="sng"/>
          </a:p>
        </p:txBody>
      </p:sp>
      <p:sp>
        <p:nvSpPr>
          <p:cNvPr id="1119" name="Google Shape;1119;p83"/>
          <p:cNvSpPr/>
          <p:nvPr/>
        </p:nvSpPr>
        <p:spPr>
          <a:xfrm>
            <a:off x="3855400" y="2100350"/>
            <a:ext cx="17742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f1</a:t>
            </a:r>
            <a:r>
              <a:rPr b="1" lang="en-GB" sz="2200" u="sng"/>
              <a:t>:Flight</a:t>
            </a:r>
            <a:endParaRPr b="1" sz="2200" u="sng"/>
          </a:p>
        </p:txBody>
      </p:sp>
      <p:sp>
        <p:nvSpPr>
          <p:cNvPr id="1120" name="Google Shape;1120;p83"/>
          <p:cNvSpPr/>
          <p:nvPr/>
        </p:nvSpPr>
        <p:spPr>
          <a:xfrm>
            <a:off x="3855400" y="3243350"/>
            <a:ext cx="17742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f2</a:t>
            </a:r>
            <a:r>
              <a:rPr b="1" lang="en-GB" sz="2200" u="sng"/>
              <a:t>:Flight</a:t>
            </a:r>
            <a:endParaRPr b="1" sz="2200" u="sng"/>
          </a:p>
        </p:txBody>
      </p:sp>
      <p:sp>
        <p:nvSpPr>
          <p:cNvPr id="1121" name="Google Shape;1121;p83"/>
          <p:cNvSpPr/>
          <p:nvPr/>
        </p:nvSpPr>
        <p:spPr>
          <a:xfrm>
            <a:off x="3855400" y="4310150"/>
            <a:ext cx="17742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f3</a:t>
            </a:r>
            <a:r>
              <a:rPr b="1" lang="en-GB" sz="2200" u="sng"/>
              <a:t>:Flight</a:t>
            </a:r>
            <a:endParaRPr b="1" sz="2200" u="sng"/>
          </a:p>
        </p:txBody>
      </p:sp>
      <p:sp>
        <p:nvSpPr>
          <p:cNvPr id="1122" name="Google Shape;1122;p83"/>
          <p:cNvSpPr/>
          <p:nvPr/>
        </p:nvSpPr>
        <p:spPr>
          <a:xfrm>
            <a:off x="3855400" y="5453150"/>
            <a:ext cx="17742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f4</a:t>
            </a:r>
            <a:r>
              <a:rPr b="1" lang="en-GB" sz="2200" u="sng"/>
              <a:t>:Flight</a:t>
            </a:r>
            <a:endParaRPr b="1" sz="2200" u="sng"/>
          </a:p>
        </p:txBody>
      </p:sp>
      <p:cxnSp>
        <p:nvCxnSpPr>
          <p:cNvPr id="1123" name="Google Shape;1123;p83"/>
          <p:cNvCxnSpPr>
            <a:stCxn id="1117" idx="3"/>
            <a:endCxn id="1119" idx="1"/>
          </p:cNvCxnSpPr>
          <p:nvPr/>
        </p:nvCxnSpPr>
        <p:spPr>
          <a:xfrm flipH="1" rot="10800000">
            <a:off x="2260575" y="2362700"/>
            <a:ext cx="1594800" cy="729000"/>
          </a:xfrm>
          <a:prstGeom prst="straightConnector1">
            <a:avLst/>
          </a:prstGeom>
          <a:noFill/>
          <a:ln cap="flat" cmpd="sng" w="9525">
            <a:solidFill>
              <a:schemeClr val="dk2"/>
            </a:solidFill>
            <a:prstDash val="solid"/>
            <a:round/>
            <a:headEnd len="med" w="med" type="none"/>
            <a:tailEnd len="med" w="med" type="none"/>
          </a:ln>
        </p:spPr>
      </p:cxnSp>
      <p:cxnSp>
        <p:nvCxnSpPr>
          <p:cNvPr id="1124" name="Google Shape;1124;p83"/>
          <p:cNvCxnSpPr>
            <a:stCxn id="1117" idx="3"/>
            <a:endCxn id="1121" idx="1"/>
          </p:cNvCxnSpPr>
          <p:nvPr/>
        </p:nvCxnSpPr>
        <p:spPr>
          <a:xfrm>
            <a:off x="2260575" y="3091700"/>
            <a:ext cx="1594800" cy="1480800"/>
          </a:xfrm>
          <a:prstGeom prst="straightConnector1">
            <a:avLst/>
          </a:prstGeom>
          <a:noFill/>
          <a:ln cap="flat" cmpd="sng" w="9525">
            <a:solidFill>
              <a:schemeClr val="dk2"/>
            </a:solidFill>
            <a:prstDash val="solid"/>
            <a:round/>
            <a:headEnd len="med" w="med" type="none"/>
            <a:tailEnd len="med" w="med" type="none"/>
          </a:ln>
        </p:spPr>
      </p:cxnSp>
      <p:cxnSp>
        <p:nvCxnSpPr>
          <p:cNvPr id="1125" name="Google Shape;1125;p83"/>
          <p:cNvCxnSpPr>
            <a:stCxn id="1118" idx="3"/>
            <a:endCxn id="1120" idx="1"/>
          </p:cNvCxnSpPr>
          <p:nvPr/>
        </p:nvCxnSpPr>
        <p:spPr>
          <a:xfrm flipH="1" rot="10800000">
            <a:off x="2260575" y="3505700"/>
            <a:ext cx="1594800" cy="805200"/>
          </a:xfrm>
          <a:prstGeom prst="straightConnector1">
            <a:avLst/>
          </a:prstGeom>
          <a:noFill/>
          <a:ln cap="flat" cmpd="sng" w="9525">
            <a:solidFill>
              <a:schemeClr val="dk2"/>
            </a:solidFill>
            <a:prstDash val="solid"/>
            <a:round/>
            <a:headEnd len="med" w="med" type="none"/>
            <a:tailEnd len="med" w="med" type="none"/>
          </a:ln>
        </p:spPr>
      </p:cxnSp>
      <p:cxnSp>
        <p:nvCxnSpPr>
          <p:cNvPr id="1126" name="Google Shape;1126;p83"/>
          <p:cNvCxnSpPr>
            <a:stCxn id="1118" idx="3"/>
            <a:endCxn id="1122" idx="1"/>
          </p:cNvCxnSpPr>
          <p:nvPr/>
        </p:nvCxnSpPr>
        <p:spPr>
          <a:xfrm>
            <a:off x="2260575" y="4310900"/>
            <a:ext cx="1594800" cy="1404600"/>
          </a:xfrm>
          <a:prstGeom prst="straightConnector1">
            <a:avLst/>
          </a:prstGeom>
          <a:noFill/>
          <a:ln cap="flat" cmpd="sng" w="9525">
            <a:solidFill>
              <a:schemeClr val="dk2"/>
            </a:solidFill>
            <a:prstDash val="solid"/>
            <a:round/>
            <a:headEnd len="med" w="med" type="none"/>
            <a:tailEnd len="med" w="med" type="none"/>
          </a:ln>
        </p:spPr>
      </p:cxnSp>
      <p:sp>
        <p:nvSpPr>
          <p:cNvPr id="1127" name="Google Shape;1127;p83"/>
          <p:cNvSpPr txBox="1"/>
          <p:nvPr/>
        </p:nvSpPr>
        <p:spPr>
          <a:xfrm>
            <a:off x="2278961" y="4200950"/>
            <a:ext cx="1774200" cy="5247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GB" sz="1600"/>
              <a:t>departingFlights</a:t>
            </a:r>
            <a:endParaRPr sz="1600"/>
          </a:p>
        </p:txBody>
      </p:sp>
      <p:sp>
        <p:nvSpPr>
          <p:cNvPr id="1128" name="Google Shape;1128;p83"/>
          <p:cNvSpPr txBox="1"/>
          <p:nvPr/>
        </p:nvSpPr>
        <p:spPr>
          <a:xfrm>
            <a:off x="2131725" y="2905400"/>
            <a:ext cx="1774200" cy="5247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GB" sz="1600"/>
              <a:t>arrivingFlights</a:t>
            </a:r>
            <a:endParaRPr sz="1600"/>
          </a:p>
        </p:txBody>
      </p:sp>
      <p:sp>
        <p:nvSpPr>
          <p:cNvPr id="1129" name="Google Shape;1129;p83"/>
          <p:cNvSpPr/>
          <p:nvPr/>
        </p:nvSpPr>
        <p:spPr>
          <a:xfrm>
            <a:off x="7055800" y="2709950"/>
            <a:ext cx="1605600" cy="675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l1:Airline</a:t>
            </a:r>
            <a:endParaRPr b="1" sz="2200" u="sng"/>
          </a:p>
        </p:txBody>
      </p:sp>
      <p:sp>
        <p:nvSpPr>
          <p:cNvPr id="1130" name="Google Shape;1130;p83"/>
          <p:cNvSpPr/>
          <p:nvPr/>
        </p:nvSpPr>
        <p:spPr>
          <a:xfrm>
            <a:off x="7055800" y="3548150"/>
            <a:ext cx="1605600" cy="675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l2:Airline</a:t>
            </a:r>
            <a:endParaRPr b="1" sz="2200" u="sng"/>
          </a:p>
        </p:txBody>
      </p:sp>
      <p:sp>
        <p:nvSpPr>
          <p:cNvPr id="1131" name="Google Shape;1131;p83"/>
          <p:cNvSpPr/>
          <p:nvPr/>
        </p:nvSpPr>
        <p:spPr>
          <a:xfrm>
            <a:off x="7055800" y="4386350"/>
            <a:ext cx="1605600" cy="675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l3:Airline</a:t>
            </a:r>
            <a:endParaRPr b="1" sz="2200" u="sng"/>
          </a:p>
        </p:txBody>
      </p:sp>
      <p:cxnSp>
        <p:nvCxnSpPr>
          <p:cNvPr id="1132" name="Google Shape;1132;p83"/>
          <p:cNvCxnSpPr>
            <a:stCxn id="1119" idx="3"/>
            <a:endCxn id="1129" idx="1"/>
          </p:cNvCxnSpPr>
          <p:nvPr/>
        </p:nvCxnSpPr>
        <p:spPr>
          <a:xfrm>
            <a:off x="5629600" y="2362700"/>
            <a:ext cx="1426200" cy="684900"/>
          </a:xfrm>
          <a:prstGeom prst="straightConnector1">
            <a:avLst/>
          </a:prstGeom>
          <a:noFill/>
          <a:ln cap="flat" cmpd="sng" w="9525">
            <a:solidFill>
              <a:schemeClr val="dk2"/>
            </a:solidFill>
            <a:prstDash val="solid"/>
            <a:round/>
            <a:headEnd len="med" w="med" type="none"/>
            <a:tailEnd len="med" w="med" type="none"/>
          </a:ln>
        </p:spPr>
      </p:cxnSp>
      <p:cxnSp>
        <p:nvCxnSpPr>
          <p:cNvPr id="1133" name="Google Shape;1133;p83"/>
          <p:cNvCxnSpPr>
            <a:stCxn id="1120" idx="3"/>
            <a:endCxn id="1131" idx="1"/>
          </p:cNvCxnSpPr>
          <p:nvPr/>
        </p:nvCxnSpPr>
        <p:spPr>
          <a:xfrm>
            <a:off x="5629600" y="3505700"/>
            <a:ext cx="1426200" cy="1218300"/>
          </a:xfrm>
          <a:prstGeom prst="straightConnector1">
            <a:avLst/>
          </a:prstGeom>
          <a:noFill/>
          <a:ln cap="flat" cmpd="sng" w="9525">
            <a:solidFill>
              <a:schemeClr val="dk2"/>
            </a:solidFill>
            <a:prstDash val="solid"/>
            <a:round/>
            <a:headEnd len="med" w="med" type="none"/>
            <a:tailEnd len="med" w="med" type="none"/>
          </a:ln>
        </p:spPr>
      </p:cxnSp>
      <p:cxnSp>
        <p:nvCxnSpPr>
          <p:cNvPr id="1134" name="Google Shape;1134;p83"/>
          <p:cNvCxnSpPr>
            <a:stCxn id="1121" idx="3"/>
            <a:endCxn id="1130" idx="1"/>
          </p:cNvCxnSpPr>
          <p:nvPr/>
        </p:nvCxnSpPr>
        <p:spPr>
          <a:xfrm flipH="1" rot="10800000">
            <a:off x="5629600" y="3885800"/>
            <a:ext cx="1426200" cy="686700"/>
          </a:xfrm>
          <a:prstGeom prst="straightConnector1">
            <a:avLst/>
          </a:prstGeom>
          <a:noFill/>
          <a:ln cap="flat" cmpd="sng" w="9525">
            <a:solidFill>
              <a:schemeClr val="dk2"/>
            </a:solidFill>
            <a:prstDash val="solid"/>
            <a:round/>
            <a:headEnd len="med" w="med" type="none"/>
            <a:tailEnd len="med" w="med" type="none"/>
          </a:ln>
        </p:spPr>
      </p:cxnSp>
      <p:cxnSp>
        <p:nvCxnSpPr>
          <p:cNvPr id="1135" name="Google Shape;1135;p83"/>
          <p:cNvCxnSpPr>
            <a:stCxn id="1122" idx="3"/>
            <a:endCxn id="1131" idx="1"/>
          </p:cNvCxnSpPr>
          <p:nvPr/>
        </p:nvCxnSpPr>
        <p:spPr>
          <a:xfrm flipH="1" rot="10800000">
            <a:off x="5629600" y="4724000"/>
            <a:ext cx="1426200" cy="991500"/>
          </a:xfrm>
          <a:prstGeom prst="straightConnector1">
            <a:avLst/>
          </a:prstGeom>
          <a:noFill/>
          <a:ln cap="flat" cmpd="sng" w="9525">
            <a:solidFill>
              <a:schemeClr val="dk2"/>
            </a:solidFill>
            <a:prstDash val="solid"/>
            <a:round/>
            <a:headEnd len="med" w="med" type="none"/>
            <a:tailEnd len="med" w="med" type="none"/>
          </a:ln>
        </p:spPr>
      </p:cxnSp>
      <p:sp>
        <p:nvSpPr>
          <p:cNvPr id="1136" name="Google Shape;1136;p83"/>
          <p:cNvSpPr txBox="1"/>
          <p:nvPr/>
        </p:nvSpPr>
        <p:spPr>
          <a:xfrm>
            <a:off x="5789325" y="2524400"/>
            <a:ext cx="1190400" cy="5247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GB" sz="1600"/>
              <a:t>airline</a:t>
            </a:r>
            <a:endParaRPr sz="1600"/>
          </a:p>
        </p:txBody>
      </p:sp>
      <p:sp>
        <p:nvSpPr>
          <p:cNvPr id="1137" name="Google Shape;1137;p83"/>
          <p:cNvSpPr/>
          <p:nvPr/>
        </p:nvSpPr>
        <p:spPr>
          <a:xfrm>
            <a:off x="3855400" y="2633750"/>
            <a:ext cx="1774200" cy="413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duration = 3</a:t>
            </a:r>
            <a:endParaRPr sz="2200"/>
          </a:p>
        </p:txBody>
      </p:sp>
      <p:sp>
        <p:nvSpPr>
          <p:cNvPr id="1138" name="Google Shape;1138;p83"/>
          <p:cNvSpPr/>
          <p:nvPr/>
        </p:nvSpPr>
        <p:spPr>
          <a:xfrm>
            <a:off x="3855400" y="3776750"/>
            <a:ext cx="1774200" cy="413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duration = 5</a:t>
            </a:r>
            <a:endParaRPr sz="2200"/>
          </a:p>
        </p:txBody>
      </p:sp>
      <p:sp>
        <p:nvSpPr>
          <p:cNvPr id="1139" name="Google Shape;1139;p83"/>
          <p:cNvSpPr/>
          <p:nvPr/>
        </p:nvSpPr>
        <p:spPr>
          <a:xfrm>
            <a:off x="3855400" y="4843550"/>
            <a:ext cx="1774200" cy="413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duration = 2</a:t>
            </a:r>
            <a:endParaRPr sz="2200"/>
          </a:p>
        </p:txBody>
      </p:sp>
      <p:sp>
        <p:nvSpPr>
          <p:cNvPr id="1140" name="Google Shape;1140;p83"/>
          <p:cNvSpPr/>
          <p:nvPr/>
        </p:nvSpPr>
        <p:spPr>
          <a:xfrm>
            <a:off x="3855400" y="5986550"/>
            <a:ext cx="1774200" cy="413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duration = 6</a:t>
            </a:r>
            <a:endParaRPr sz="2200"/>
          </a:p>
        </p:txBody>
      </p:sp>
      <p:sp>
        <p:nvSpPr>
          <p:cNvPr id="1141" name="Google Shape;1141;p83"/>
          <p:cNvSpPr/>
          <p:nvPr/>
        </p:nvSpPr>
        <p:spPr>
          <a:xfrm>
            <a:off x="5665050" y="3173450"/>
            <a:ext cx="350100" cy="291600"/>
          </a:xfrm>
          <a:prstGeom prst="sun">
            <a:avLst>
              <a:gd fmla="val 25000" name="adj"/>
            </a:avLst>
          </a:prstGeom>
          <a:solidFill>
            <a:srgbClr val="0000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84"/>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3.20. Thao tác </a:t>
            </a:r>
            <a:r>
              <a:rPr i="1" lang="en-GB"/>
              <a:t>forAll</a:t>
            </a:r>
            <a:endParaRPr i="1"/>
          </a:p>
        </p:txBody>
      </p:sp>
      <p:sp>
        <p:nvSpPr>
          <p:cNvPr id="1147" name="Google Shape;1147;p8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148" name="Google Shape;1148;p84"/>
          <p:cNvSpPr txBox="1"/>
          <p:nvPr/>
        </p:nvSpPr>
        <p:spPr>
          <a:xfrm>
            <a:off x="370200" y="996350"/>
            <a:ext cx="8403600" cy="101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2400">
                <a:solidFill>
                  <a:srgbClr val="434343"/>
                </a:solidFill>
              </a:rPr>
              <a:t>context</a:t>
            </a:r>
            <a:r>
              <a:rPr lang="en-GB" sz="2400">
                <a:solidFill>
                  <a:srgbClr val="434343"/>
                </a:solidFill>
              </a:rPr>
              <a:t> Airport </a:t>
            </a:r>
            <a:r>
              <a:rPr b="1" lang="en-GB" sz="2400">
                <a:solidFill>
                  <a:srgbClr val="434343"/>
                </a:solidFill>
              </a:rPr>
              <a:t>inv</a:t>
            </a:r>
            <a:r>
              <a:rPr lang="en-GB" sz="2400">
                <a:solidFill>
                  <a:srgbClr val="434343"/>
                </a:solidFill>
              </a:rPr>
              <a:t>:</a:t>
            </a:r>
            <a:endParaRPr sz="2400">
              <a:solidFill>
                <a:srgbClr val="434343"/>
              </a:solidFill>
            </a:endParaRPr>
          </a:p>
          <a:p>
            <a:pPr indent="0" lvl="0" marL="0" rtl="0" algn="l">
              <a:spcBef>
                <a:spcPts val="0"/>
              </a:spcBef>
              <a:spcAft>
                <a:spcPts val="0"/>
              </a:spcAft>
              <a:buNone/>
            </a:pPr>
            <a:r>
              <a:rPr lang="en-GB" sz="2400">
                <a:solidFill>
                  <a:srgbClr val="434343"/>
                </a:solidFill>
              </a:rPr>
              <a:t>self.</a:t>
            </a:r>
            <a:r>
              <a:rPr lang="en-GB" sz="2400">
                <a:solidFill>
                  <a:srgbClr val="434343"/>
                </a:solidFill>
              </a:rPr>
              <a:t>arriving</a:t>
            </a:r>
            <a:r>
              <a:rPr lang="en-GB" sz="2400">
                <a:solidFill>
                  <a:srgbClr val="434343"/>
                </a:solidFill>
              </a:rPr>
              <a:t>Flights-&gt;</a:t>
            </a:r>
            <a:r>
              <a:rPr lang="en-GB" sz="2400">
                <a:solidFill>
                  <a:srgbClr val="434343"/>
                </a:solidFill>
              </a:rPr>
              <a:t>forAll</a:t>
            </a:r>
            <a:r>
              <a:rPr lang="en-GB" sz="2400">
                <a:solidFill>
                  <a:srgbClr val="434343"/>
                </a:solidFill>
              </a:rPr>
              <a:t>(duration &gt; 2)</a:t>
            </a:r>
            <a:endParaRPr sz="2400">
              <a:solidFill>
                <a:srgbClr val="434343"/>
              </a:solidFill>
            </a:endParaRPr>
          </a:p>
        </p:txBody>
      </p:sp>
      <p:sp>
        <p:nvSpPr>
          <p:cNvPr id="1149" name="Google Shape;1149;p84"/>
          <p:cNvSpPr/>
          <p:nvPr/>
        </p:nvSpPr>
        <p:spPr>
          <a:xfrm>
            <a:off x="486375" y="2709950"/>
            <a:ext cx="1774200" cy="76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a1:Airport</a:t>
            </a:r>
            <a:endParaRPr b="1" sz="2200" u="sng"/>
          </a:p>
        </p:txBody>
      </p:sp>
      <p:sp>
        <p:nvSpPr>
          <p:cNvPr id="1150" name="Google Shape;1150;p84"/>
          <p:cNvSpPr/>
          <p:nvPr/>
        </p:nvSpPr>
        <p:spPr>
          <a:xfrm>
            <a:off x="486375" y="3929150"/>
            <a:ext cx="1774200" cy="76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a2:Airport</a:t>
            </a:r>
            <a:endParaRPr b="1" sz="2200" u="sng"/>
          </a:p>
        </p:txBody>
      </p:sp>
      <p:sp>
        <p:nvSpPr>
          <p:cNvPr id="1151" name="Google Shape;1151;p84"/>
          <p:cNvSpPr/>
          <p:nvPr/>
        </p:nvSpPr>
        <p:spPr>
          <a:xfrm>
            <a:off x="3855400" y="2100350"/>
            <a:ext cx="17742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f1</a:t>
            </a:r>
            <a:r>
              <a:rPr b="1" lang="en-GB" sz="2200" u="sng"/>
              <a:t>:Flight</a:t>
            </a:r>
            <a:endParaRPr b="1" sz="2200" u="sng"/>
          </a:p>
        </p:txBody>
      </p:sp>
      <p:sp>
        <p:nvSpPr>
          <p:cNvPr id="1152" name="Google Shape;1152;p84"/>
          <p:cNvSpPr/>
          <p:nvPr/>
        </p:nvSpPr>
        <p:spPr>
          <a:xfrm>
            <a:off x="3855400" y="3243350"/>
            <a:ext cx="17742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f2</a:t>
            </a:r>
            <a:r>
              <a:rPr b="1" lang="en-GB" sz="2200" u="sng"/>
              <a:t>:Flight</a:t>
            </a:r>
            <a:endParaRPr b="1" sz="2200" u="sng"/>
          </a:p>
        </p:txBody>
      </p:sp>
      <p:sp>
        <p:nvSpPr>
          <p:cNvPr id="1153" name="Google Shape;1153;p84"/>
          <p:cNvSpPr/>
          <p:nvPr/>
        </p:nvSpPr>
        <p:spPr>
          <a:xfrm>
            <a:off x="3855400" y="4310150"/>
            <a:ext cx="17742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f3</a:t>
            </a:r>
            <a:r>
              <a:rPr b="1" lang="en-GB" sz="2200" u="sng"/>
              <a:t>:Flight</a:t>
            </a:r>
            <a:endParaRPr b="1" sz="2200" u="sng"/>
          </a:p>
        </p:txBody>
      </p:sp>
      <p:sp>
        <p:nvSpPr>
          <p:cNvPr id="1154" name="Google Shape;1154;p84"/>
          <p:cNvSpPr/>
          <p:nvPr/>
        </p:nvSpPr>
        <p:spPr>
          <a:xfrm>
            <a:off x="3855400" y="5453150"/>
            <a:ext cx="17742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f4</a:t>
            </a:r>
            <a:r>
              <a:rPr b="1" lang="en-GB" sz="2200" u="sng"/>
              <a:t>:Flight</a:t>
            </a:r>
            <a:endParaRPr b="1" sz="2200" u="sng"/>
          </a:p>
        </p:txBody>
      </p:sp>
      <p:cxnSp>
        <p:nvCxnSpPr>
          <p:cNvPr id="1155" name="Google Shape;1155;p84"/>
          <p:cNvCxnSpPr>
            <a:stCxn id="1149" idx="3"/>
            <a:endCxn id="1151" idx="1"/>
          </p:cNvCxnSpPr>
          <p:nvPr/>
        </p:nvCxnSpPr>
        <p:spPr>
          <a:xfrm flipH="1" rot="10800000">
            <a:off x="2260575" y="2362700"/>
            <a:ext cx="1594800" cy="729000"/>
          </a:xfrm>
          <a:prstGeom prst="straightConnector1">
            <a:avLst/>
          </a:prstGeom>
          <a:noFill/>
          <a:ln cap="flat" cmpd="sng" w="9525">
            <a:solidFill>
              <a:schemeClr val="dk2"/>
            </a:solidFill>
            <a:prstDash val="solid"/>
            <a:round/>
            <a:headEnd len="med" w="med" type="none"/>
            <a:tailEnd len="med" w="med" type="none"/>
          </a:ln>
        </p:spPr>
      </p:cxnSp>
      <p:cxnSp>
        <p:nvCxnSpPr>
          <p:cNvPr id="1156" name="Google Shape;1156;p84"/>
          <p:cNvCxnSpPr>
            <a:stCxn id="1149" idx="3"/>
            <a:endCxn id="1153" idx="1"/>
          </p:cNvCxnSpPr>
          <p:nvPr/>
        </p:nvCxnSpPr>
        <p:spPr>
          <a:xfrm>
            <a:off x="2260575" y="3091700"/>
            <a:ext cx="1594800" cy="1480800"/>
          </a:xfrm>
          <a:prstGeom prst="straightConnector1">
            <a:avLst/>
          </a:prstGeom>
          <a:noFill/>
          <a:ln cap="flat" cmpd="sng" w="9525">
            <a:solidFill>
              <a:schemeClr val="dk2"/>
            </a:solidFill>
            <a:prstDash val="solid"/>
            <a:round/>
            <a:headEnd len="med" w="med" type="none"/>
            <a:tailEnd len="med" w="med" type="none"/>
          </a:ln>
        </p:spPr>
      </p:cxnSp>
      <p:cxnSp>
        <p:nvCxnSpPr>
          <p:cNvPr id="1157" name="Google Shape;1157;p84"/>
          <p:cNvCxnSpPr>
            <a:stCxn id="1150" idx="3"/>
            <a:endCxn id="1152" idx="1"/>
          </p:cNvCxnSpPr>
          <p:nvPr/>
        </p:nvCxnSpPr>
        <p:spPr>
          <a:xfrm flipH="1" rot="10800000">
            <a:off x="2260575" y="3505700"/>
            <a:ext cx="1594800" cy="805200"/>
          </a:xfrm>
          <a:prstGeom prst="straightConnector1">
            <a:avLst/>
          </a:prstGeom>
          <a:noFill/>
          <a:ln cap="flat" cmpd="sng" w="9525">
            <a:solidFill>
              <a:schemeClr val="dk2"/>
            </a:solidFill>
            <a:prstDash val="solid"/>
            <a:round/>
            <a:headEnd len="med" w="med" type="none"/>
            <a:tailEnd len="med" w="med" type="none"/>
          </a:ln>
        </p:spPr>
      </p:cxnSp>
      <p:cxnSp>
        <p:nvCxnSpPr>
          <p:cNvPr id="1158" name="Google Shape;1158;p84"/>
          <p:cNvCxnSpPr>
            <a:stCxn id="1150" idx="3"/>
            <a:endCxn id="1154" idx="1"/>
          </p:cNvCxnSpPr>
          <p:nvPr/>
        </p:nvCxnSpPr>
        <p:spPr>
          <a:xfrm>
            <a:off x="2260575" y="4310900"/>
            <a:ext cx="1594800" cy="1404600"/>
          </a:xfrm>
          <a:prstGeom prst="straightConnector1">
            <a:avLst/>
          </a:prstGeom>
          <a:noFill/>
          <a:ln cap="flat" cmpd="sng" w="9525">
            <a:solidFill>
              <a:schemeClr val="dk2"/>
            </a:solidFill>
            <a:prstDash val="solid"/>
            <a:round/>
            <a:headEnd len="med" w="med" type="none"/>
            <a:tailEnd len="med" w="med" type="none"/>
          </a:ln>
        </p:spPr>
      </p:cxnSp>
      <p:sp>
        <p:nvSpPr>
          <p:cNvPr id="1159" name="Google Shape;1159;p84"/>
          <p:cNvSpPr txBox="1"/>
          <p:nvPr/>
        </p:nvSpPr>
        <p:spPr>
          <a:xfrm>
            <a:off x="2284125" y="4200800"/>
            <a:ext cx="1774200" cy="5247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GB" sz="1600"/>
              <a:t>departingFlights</a:t>
            </a:r>
            <a:endParaRPr sz="1600"/>
          </a:p>
        </p:txBody>
      </p:sp>
      <p:sp>
        <p:nvSpPr>
          <p:cNvPr id="1160" name="Google Shape;1160;p84"/>
          <p:cNvSpPr txBox="1"/>
          <p:nvPr/>
        </p:nvSpPr>
        <p:spPr>
          <a:xfrm>
            <a:off x="2131725" y="2905400"/>
            <a:ext cx="1774200" cy="5247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GB" sz="1600"/>
              <a:t>arrivingFlights</a:t>
            </a:r>
            <a:endParaRPr sz="1600"/>
          </a:p>
        </p:txBody>
      </p:sp>
      <p:sp>
        <p:nvSpPr>
          <p:cNvPr id="1161" name="Google Shape;1161;p84"/>
          <p:cNvSpPr/>
          <p:nvPr/>
        </p:nvSpPr>
        <p:spPr>
          <a:xfrm>
            <a:off x="7055800" y="2709950"/>
            <a:ext cx="1605600" cy="675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l1:Airline</a:t>
            </a:r>
            <a:endParaRPr b="1" sz="2200" u="sng"/>
          </a:p>
        </p:txBody>
      </p:sp>
      <p:sp>
        <p:nvSpPr>
          <p:cNvPr id="1162" name="Google Shape;1162;p84"/>
          <p:cNvSpPr/>
          <p:nvPr/>
        </p:nvSpPr>
        <p:spPr>
          <a:xfrm>
            <a:off x="7055800" y="3548150"/>
            <a:ext cx="1605600" cy="675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l2:Airline</a:t>
            </a:r>
            <a:endParaRPr b="1" sz="2200" u="sng"/>
          </a:p>
        </p:txBody>
      </p:sp>
      <p:sp>
        <p:nvSpPr>
          <p:cNvPr id="1163" name="Google Shape;1163;p84"/>
          <p:cNvSpPr/>
          <p:nvPr/>
        </p:nvSpPr>
        <p:spPr>
          <a:xfrm>
            <a:off x="7055800" y="4386350"/>
            <a:ext cx="1605600" cy="675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200" u="sng"/>
              <a:t>l3:Airline</a:t>
            </a:r>
            <a:endParaRPr b="1" sz="2200" u="sng"/>
          </a:p>
        </p:txBody>
      </p:sp>
      <p:cxnSp>
        <p:nvCxnSpPr>
          <p:cNvPr id="1164" name="Google Shape;1164;p84"/>
          <p:cNvCxnSpPr>
            <a:stCxn id="1151" idx="3"/>
            <a:endCxn id="1161" idx="1"/>
          </p:cNvCxnSpPr>
          <p:nvPr/>
        </p:nvCxnSpPr>
        <p:spPr>
          <a:xfrm>
            <a:off x="5629600" y="2362700"/>
            <a:ext cx="1426200" cy="684900"/>
          </a:xfrm>
          <a:prstGeom prst="straightConnector1">
            <a:avLst/>
          </a:prstGeom>
          <a:noFill/>
          <a:ln cap="flat" cmpd="sng" w="9525">
            <a:solidFill>
              <a:schemeClr val="dk2"/>
            </a:solidFill>
            <a:prstDash val="solid"/>
            <a:round/>
            <a:headEnd len="med" w="med" type="none"/>
            <a:tailEnd len="med" w="med" type="none"/>
          </a:ln>
        </p:spPr>
      </p:cxnSp>
      <p:cxnSp>
        <p:nvCxnSpPr>
          <p:cNvPr id="1165" name="Google Shape;1165;p84"/>
          <p:cNvCxnSpPr>
            <a:stCxn id="1152" idx="3"/>
            <a:endCxn id="1163" idx="1"/>
          </p:cNvCxnSpPr>
          <p:nvPr/>
        </p:nvCxnSpPr>
        <p:spPr>
          <a:xfrm>
            <a:off x="5629600" y="3505700"/>
            <a:ext cx="1426200" cy="1218300"/>
          </a:xfrm>
          <a:prstGeom prst="straightConnector1">
            <a:avLst/>
          </a:prstGeom>
          <a:noFill/>
          <a:ln cap="flat" cmpd="sng" w="9525">
            <a:solidFill>
              <a:schemeClr val="dk2"/>
            </a:solidFill>
            <a:prstDash val="solid"/>
            <a:round/>
            <a:headEnd len="med" w="med" type="none"/>
            <a:tailEnd len="med" w="med" type="none"/>
          </a:ln>
        </p:spPr>
      </p:cxnSp>
      <p:cxnSp>
        <p:nvCxnSpPr>
          <p:cNvPr id="1166" name="Google Shape;1166;p84"/>
          <p:cNvCxnSpPr>
            <a:stCxn id="1153" idx="3"/>
            <a:endCxn id="1162" idx="1"/>
          </p:cNvCxnSpPr>
          <p:nvPr/>
        </p:nvCxnSpPr>
        <p:spPr>
          <a:xfrm flipH="1" rot="10800000">
            <a:off x="5629600" y="3885800"/>
            <a:ext cx="1426200" cy="686700"/>
          </a:xfrm>
          <a:prstGeom prst="straightConnector1">
            <a:avLst/>
          </a:prstGeom>
          <a:noFill/>
          <a:ln cap="flat" cmpd="sng" w="9525">
            <a:solidFill>
              <a:schemeClr val="dk2"/>
            </a:solidFill>
            <a:prstDash val="solid"/>
            <a:round/>
            <a:headEnd len="med" w="med" type="none"/>
            <a:tailEnd len="med" w="med" type="none"/>
          </a:ln>
        </p:spPr>
      </p:cxnSp>
      <p:cxnSp>
        <p:nvCxnSpPr>
          <p:cNvPr id="1167" name="Google Shape;1167;p84"/>
          <p:cNvCxnSpPr>
            <a:stCxn id="1154" idx="3"/>
            <a:endCxn id="1163" idx="1"/>
          </p:cNvCxnSpPr>
          <p:nvPr/>
        </p:nvCxnSpPr>
        <p:spPr>
          <a:xfrm flipH="1" rot="10800000">
            <a:off x="5629600" y="4724000"/>
            <a:ext cx="1426200" cy="991500"/>
          </a:xfrm>
          <a:prstGeom prst="straightConnector1">
            <a:avLst/>
          </a:prstGeom>
          <a:noFill/>
          <a:ln cap="flat" cmpd="sng" w="9525">
            <a:solidFill>
              <a:schemeClr val="dk2"/>
            </a:solidFill>
            <a:prstDash val="solid"/>
            <a:round/>
            <a:headEnd len="med" w="med" type="none"/>
            <a:tailEnd len="med" w="med" type="none"/>
          </a:ln>
        </p:spPr>
      </p:cxnSp>
      <p:sp>
        <p:nvSpPr>
          <p:cNvPr id="1168" name="Google Shape;1168;p84"/>
          <p:cNvSpPr txBox="1"/>
          <p:nvPr/>
        </p:nvSpPr>
        <p:spPr>
          <a:xfrm>
            <a:off x="5789325" y="2524400"/>
            <a:ext cx="1190400" cy="5247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GB" sz="1600"/>
              <a:t>airline</a:t>
            </a:r>
            <a:endParaRPr sz="1600"/>
          </a:p>
        </p:txBody>
      </p:sp>
      <p:sp>
        <p:nvSpPr>
          <p:cNvPr id="1169" name="Google Shape;1169;p84"/>
          <p:cNvSpPr/>
          <p:nvPr/>
        </p:nvSpPr>
        <p:spPr>
          <a:xfrm>
            <a:off x="3855400" y="2633750"/>
            <a:ext cx="1774200" cy="413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duration = 3</a:t>
            </a:r>
            <a:endParaRPr sz="2200"/>
          </a:p>
        </p:txBody>
      </p:sp>
      <p:sp>
        <p:nvSpPr>
          <p:cNvPr id="1170" name="Google Shape;1170;p84"/>
          <p:cNvSpPr/>
          <p:nvPr/>
        </p:nvSpPr>
        <p:spPr>
          <a:xfrm>
            <a:off x="3855400" y="3776750"/>
            <a:ext cx="1774200" cy="413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duration = 5</a:t>
            </a:r>
            <a:endParaRPr sz="2200"/>
          </a:p>
        </p:txBody>
      </p:sp>
      <p:sp>
        <p:nvSpPr>
          <p:cNvPr id="1171" name="Google Shape;1171;p84"/>
          <p:cNvSpPr/>
          <p:nvPr/>
        </p:nvSpPr>
        <p:spPr>
          <a:xfrm>
            <a:off x="3855400" y="4843550"/>
            <a:ext cx="1774200" cy="413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duration = 2</a:t>
            </a:r>
            <a:endParaRPr sz="2200"/>
          </a:p>
        </p:txBody>
      </p:sp>
      <p:sp>
        <p:nvSpPr>
          <p:cNvPr id="1172" name="Google Shape;1172;p84"/>
          <p:cNvSpPr/>
          <p:nvPr/>
        </p:nvSpPr>
        <p:spPr>
          <a:xfrm>
            <a:off x="3855400" y="5986550"/>
            <a:ext cx="1774200" cy="413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t>duration = 6</a:t>
            </a:r>
            <a:endParaRPr sz="2200"/>
          </a:p>
        </p:txBody>
      </p:sp>
      <p:sp>
        <p:nvSpPr>
          <p:cNvPr id="1173" name="Google Shape;1173;p84"/>
          <p:cNvSpPr/>
          <p:nvPr/>
        </p:nvSpPr>
        <p:spPr>
          <a:xfrm>
            <a:off x="5665050" y="4621250"/>
            <a:ext cx="350100" cy="291600"/>
          </a:xfrm>
          <a:prstGeom prst="sun">
            <a:avLst>
              <a:gd fmla="val 25000" name="adj"/>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p85"/>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1179" name="Google Shape;1179;p85"/>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Các khái niệm</a:t>
            </a:r>
            <a:endParaRPr/>
          </a:p>
          <a:p>
            <a:pPr indent="-381000" lvl="0" marL="457200" rtl="0" algn="l">
              <a:spcBef>
                <a:spcPts val="0"/>
              </a:spcBef>
              <a:spcAft>
                <a:spcPts val="0"/>
              </a:spcAft>
              <a:buSzPts val="2400"/>
              <a:buChar char="●"/>
            </a:pPr>
            <a:r>
              <a:rPr lang="en-GB"/>
              <a:t>Các kỹ thuật</a:t>
            </a:r>
            <a:endParaRPr/>
          </a:p>
          <a:p>
            <a:pPr indent="-381000" lvl="0" marL="457200" rtl="0" algn="l">
              <a:spcBef>
                <a:spcPts val="0"/>
              </a:spcBef>
              <a:spcAft>
                <a:spcPts val="0"/>
              </a:spcAft>
              <a:buSzPts val="2400"/>
              <a:buChar char="●"/>
            </a:pPr>
            <a:r>
              <a:rPr lang="en-GB"/>
              <a:t>Các </a:t>
            </a:r>
            <a:r>
              <a:rPr lang="en-GB"/>
              <a:t>sơ đồ</a:t>
            </a:r>
            <a:endParaRPr/>
          </a:p>
          <a:p>
            <a:pPr indent="-381000" lvl="0" marL="457200" rtl="0" algn="l">
              <a:spcBef>
                <a:spcPts val="0"/>
              </a:spcBef>
              <a:spcAft>
                <a:spcPts val="0"/>
              </a:spcAft>
              <a:buSzPts val="2400"/>
              <a:buChar char="●"/>
            </a:pPr>
            <a:r>
              <a:rPr lang="en-GB"/>
              <a:t>Mô tả ràng buộc với OCL</a:t>
            </a:r>
            <a:endParaRPr/>
          </a:p>
          <a:p>
            <a:pPr indent="-381000" lvl="0" marL="457200" rtl="0" algn="l">
              <a:spcBef>
                <a:spcPts val="0"/>
              </a:spcBef>
              <a:spcAft>
                <a:spcPts val="0"/>
              </a:spcAft>
              <a:buSzPts val="2400"/>
              <a:buChar char="●"/>
            </a:pPr>
            <a:r>
              <a:rPr lang="en-GB"/>
              <a:t>Đặc tả lớp với thẻ CRC</a:t>
            </a:r>
            <a:endParaRPr/>
          </a:p>
          <a:p>
            <a:pPr indent="-381000" lvl="0" marL="457200" rtl="0" algn="l">
              <a:spcBef>
                <a:spcPts val="0"/>
              </a:spcBef>
              <a:spcAft>
                <a:spcPts val="0"/>
              </a:spcAft>
              <a:buSzPts val="2400"/>
              <a:buChar char="●"/>
            </a:pPr>
            <a:r>
              <a:rPr lang="en-GB"/>
              <a:t>Mẫu phân tích</a:t>
            </a:r>
            <a:endParaRPr/>
          </a:p>
          <a:p>
            <a:pPr indent="-381000" lvl="0" marL="457200" rtl="0" algn="l">
              <a:spcBef>
                <a:spcPts val="0"/>
              </a:spcBef>
              <a:spcAft>
                <a:spcPts val="0"/>
              </a:spcAft>
              <a:buSzPts val="2400"/>
              <a:buChar char="●"/>
            </a:pPr>
            <a:r>
              <a:rPr lang="en-GB"/>
              <a:t>Bài tập</a:t>
            </a:r>
            <a:endParaRPr/>
          </a:p>
        </p:txBody>
      </p:sp>
      <p:sp>
        <p:nvSpPr>
          <p:cNvPr id="1180" name="Google Shape;1180;p8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181" name="Google Shape;1181;p85"/>
          <p:cNvSpPr/>
          <p:nvPr/>
        </p:nvSpPr>
        <p:spPr>
          <a:xfrm>
            <a:off x="214125" y="2473375"/>
            <a:ext cx="48789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86"/>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a:t>
            </a:r>
            <a:r>
              <a:rPr lang="en-GB"/>
              <a:t>ẻ CRC</a:t>
            </a:r>
            <a:endParaRPr/>
          </a:p>
        </p:txBody>
      </p:sp>
      <p:sp>
        <p:nvSpPr>
          <p:cNvPr id="1187" name="Google Shape;1187;p86"/>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C</a:t>
            </a:r>
            <a:r>
              <a:rPr lang="en-GB"/>
              <a:t>lass </a:t>
            </a:r>
            <a:r>
              <a:rPr b="1" lang="en-GB"/>
              <a:t>R</a:t>
            </a:r>
            <a:r>
              <a:rPr lang="en-GB"/>
              <a:t>esponsibilities and </a:t>
            </a:r>
            <a:r>
              <a:rPr b="1" lang="en-GB"/>
              <a:t>C</a:t>
            </a:r>
            <a:r>
              <a:rPr lang="en-GB"/>
              <a:t>ollaborations</a:t>
            </a:r>
            <a:endParaRPr/>
          </a:p>
          <a:p>
            <a:pPr indent="-381000" lvl="0" marL="457200" rtl="0" algn="l">
              <a:spcBef>
                <a:spcPts val="0"/>
              </a:spcBef>
              <a:spcAft>
                <a:spcPts val="0"/>
              </a:spcAft>
              <a:buSzPts val="2400"/>
              <a:buChar char="●"/>
            </a:pPr>
            <a:r>
              <a:rPr lang="en-GB"/>
              <a:t>Được sử dụng để đặc tả lớp</a:t>
            </a:r>
            <a:endParaRPr/>
          </a:p>
          <a:p>
            <a:pPr indent="-342900" lvl="1" marL="914400" rtl="0" algn="l">
              <a:spcBef>
                <a:spcPts val="0"/>
              </a:spcBef>
              <a:spcAft>
                <a:spcPts val="0"/>
              </a:spcAft>
              <a:buSzPts val="1800"/>
              <a:buChar char="○"/>
            </a:pPr>
            <a:r>
              <a:rPr lang="en-GB"/>
              <a:t>Còn có thể được sử dụng để đóng vai đối tượng trong kiểm tra các kịch bản ca sử dụng</a:t>
            </a:r>
            <a:endParaRPr sz="1800"/>
          </a:p>
          <a:p>
            <a:pPr indent="-381000" lvl="0" marL="457200" rtl="0" algn="l">
              <a:spcBef>
                <a:spcPts val="0"/>
              </a:spcBef>
              <a:spcAft>
                <a:spcPts val="0"/>
              </a:spcAft>
              <a:buSzPts val="2400"/>
              <a:buChar char="●"/>
            </a:pPr>
            <a:r>
              <a:rPr lang="en-GB"/>
              <a:t>Các trách nhiệm:</a:t>
            </a:r>
            <a:endParaRPr/>
          </a:p>
          <a:p>
            <a:pPr indent="-368300" lvl="1" marL="914400" rtl="0" algn="l">
              <a:spcBef>
                <a:spcPts val="0"/>
              </a:spcBef>
              <a:spcAft>
                <a:spcPts val="0"/>
              </a:spcAft>
              <a:buSzPts val="2200"/>
              <a:buChar char="○"/>
            </a:pPr>
            <a:r>
              <a:rPr lang="en-GB"/>
              <a:t>Được biểu diễn như các phương thức</a:t>
            </a:r>
            <a:endParaRPr/>
          </a:p>
          <a:p>
            <a:pPr indent="-368300" lvl="1" marL="914400" rtl="0" algn="l">
              <a:spcBef>
                <a:spcPts val="0"/>
              </a:spcBef>
              <a:spcAft>
                <a:spcPts val="0"/>
              </a:spcAft>
              <a:buSzPts val="2200"/>
              <a:buChar char="○"/>
            </a:pPr>
            <a:r>
              <a:rPr lang="en-GB"/>
              <a:t>Biết gì? - các thao tác tra cứu thông tin</a:t>
            </a:r>
            <a:endParaRPr/>
          </a:p>
          <a:p>
            <a:pPr indent="-368300" lvl="1" marL="914400" rtl="0" algn="l">
              <a:spcBef>
                <a:spcPts val="0"/>
              </a:spcBef>
              <a:spcAft>
                <a:spcPts val="0"/>
              </a:spcAft>
              <a:buSzPts val="2200"/>
              <a:buChar char="○"/>
            </a:pPr>
            <a:r>
              <a:rPr lang="en-GB"/>
              <a:t>Làm gì? - những thao tác xử lý</a:t>
            </a:r>
            <a:endParaRPr/>
          </a:p>
          <a:p>
            <a:pPr indent="-381000" lvl="0" marL="457200" rtl="0" algn="l">
              <a:spcBef>
                <a:spcPts val="0"/>
              </a:spcBef>
              <a:spcAft>
                <a:spcPts val="0"/>
              </a:spcAft>
              <a:buSzPts val="2400"/>
              <a:buChar char="●"/>
            </a:pPr>
            <a:r>
              <a:rPr lang="en-GB"/>
              <a:t>Lưu dữ liệu gì:</a:t>
            </a:r>
            <a:endParaRPr/>
          </a:p>
          <a:p>
            <a:pPr indent="-368300" lvl="1" marL="914400" rtl="0" algn="l">
              <a:spcBef>
                <a:spcPts val="0"/>
              </a:spcBef>
              <a:spcAft>
                <a:spcPts val="0"/>
              </a:spcAft>
              <a:buSzPts val="2200"/>
              <a:buChar char="○"/>
            </a:pPr>
            <a:r>
              <a:rPr lang="en-GB"/>
              <a:t>Danh sách thuộc tính</a:t>
            </a:r>
            <a:endParaRPr/>
          </a:p>
        </p:txBody>
      </p:sp>
      <p:sp>
        <p:nvSpPr>
          <p:cNvPr id="1188" name="Google Shape;1188;p8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p87"/>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Thẻ CRC</a:t>
            </a:r>
            <a:r>
              <a:rPr baseline="-25000" lang="en-GB"/>
              <a:t>(2)</a:t>
            </a:r>
            <a:endParaRPr baseline="-25000"/>
          </a:p>
        </p:txBody>
      </p:sp>
      <p:sp>
        <p:nvSpPr>
          <p:cNvPr id="1194" name="Google Shape;1194;p87"/>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Đối tác:</a:t>
            </a:r>
            <a:endParaRPr/>
          </a:p>
          <a:p>
            <a:pPr indent="-368300" lvl="1" marL="914400" rtl="0" algn="l">
              <a:spcBef>
                <a:spcPts val="0"/>
              </a:spcBef>
              <a:spcAft>
                <a:spcPts val="0"/>
              </a:spcAft>
              <a:buSzPts val="2200"/>
              <a:buChar char="○"/>
            </a:pPr>
            <a:r>
              <a:rPr lang="en-GB"/>
              <a:t>Các đối tượng làm việc cùng nhau để </a:t>
            </a:r>
            <a:r>
              <a:rPr lang="en-GB"/>
              <a:t>đáp ứng 1</a:t>
            </a:r>
            <a:r>
              <a:rPr lang="en-GB"/>
              <a:t> yêu cầu</a:t>
            </a:r>
            <a:endParaRPr/>
          </a:p>
          <a:p>
            <a:pPr indent="-342900" lvl="2" marL="1371600" rtl="0" algn="l">
              <a:spcBef>
                <a:spcPts val="0"/>
              </a:spcBef>
              <a:spcAft>
                <a:spcPts val="0"/>
              </a:spcAft>
              <a:buSzPts val="1800"/>
              <a:buChar char="■"/>
            </a:pPr>
            <a:r>
              <a:rPr lang="en-GB"/>
              <a:t>Đối tượng yêu cầu (khách)</a:t>
            </a:r>
            <a:endParaRPr/>
          </a:p>
          <a:p>
            <a:pPr indent="-342900" lvl="2" marL="1371600" rtl="0" algn="l">
              <a:spcBef>
                <a:spcPts val="0"/>
              </a:spcBef>
              <a:spcAft>
                <a:spcPts val="0"/>
              </a:spcAft>
              <a:buSzPts val="1800"/>
              <a:buChar char="■"/>
            </a:pPr>
            <a:r>
              <a:rPr lang="en-GB"/>
              <a:t>Đối tượng phản hồi (chủ)</a:t>
            </a:r>
            <a:endParaRPr/>
          </a:p>
          <a:p>
            <a:pPr indent="-368300" lvl="1" marL="914400" rtl="0" algn="l">
              <a:spcBef>
                <a:spcPts val="0"/>
              </a:spcBef>
              <a:spcAft>
                <a:spcPts val="0"/>
              </a:spcAft>
              <a:buSzPts val="2200"/>
              <a:buChar char="○"/>
            </a:pPr>
            <a:r>
              <a:rPr lang="en-GB"/>
              <a:t>Các tương tác được quy định theo hình thức tương tự hợp đồng</a:t>
            </a:r>
            <a:endParaRPr/>
          </a:p>
          <a:p>
            <a:pPr indent="-342900" lvl="2" marL="1371600" rtl="0" algn="l">
              <a:spcBef>
                <a:spcPts val="0"/>
              </a:spcBef>
              <a:spcAft>
                <a:spcPts val="0"/>
              </a:spcAft>
              <a:buSzPts val="1800"/>
              <a:buChar char="■"/>
            </a:pPr>
            <a:r>
              <a:rPr lang="en-GB"/>
              <a:t>Nội dung chi tiết được trình bày trong phần thiết kế</a:t>
            </a:r>
            <a:endParaRPr/>
          </a:p>
        </p:txBody>
      </p:sp>
      <p:sp>
        <p:nvSpPr>
          <p:cNvPr id="1195" name="Google Shape;1195;p8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88"/>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a:t>
            </a:r>
            <a:r>
              <a:rPr lang="en-GB"/>
              <a:t>ẫu thẻ CRC</a:t>
            </a:r>
            <a:endParaRPr/>
          </a:p>
        </p:txBody>
      </p:sp>
      <p:sp>
        <p:nvSpPr>
          <p:cNvPr id="1201" name="Google Shape;1201;p8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202" name="Google Shape;1202;p88"/>
          <p:cNvGraphicFramePr/>
          <p:nvPr/>
        </p:nvGraphicFramePr>
        <p:xfrm>
          <a:off x="519050" y="1256250"/>
          <a:ext cx="3000000" cy="3000000"/>
        </p:xfrm>
        <a:graphic>
          <a:graphicData uri="http://schemas.openxmlformats.org/drawingml/2006/table">
            <a:tbl>
              <a:tblPr>
                <a:noFill/>
                <a:tableStyleId>{916E7964-577C-4660-9F6A-7138A95530C7}</a:tableStyleId>
              </a:tblPr>
              <a:tblGrid>
                <a:gridCol w="2010450"/>
                <a:gridCol w="2953775"/>
                <a:gridCol w="1067100"/>
                <a:gridCol w="2010450"/>
              </a:tblGrid>
              <a:tr h="500925">
                <a:tc>
                  <a:txBody>
                    <a:bodyPr/>
                    <a:lstStyle/>
                    <a:p>
                      <a:pPr indent="0" lvl="0" marL="0" rtl="0" algn="l">
                        <a:lnSpc>
                          <a:spcPct val="115000"/>
                        </a:lnSpc>
                        <a:spcBef>
                          <a:spcPts val="0"/>
                        </a:spcBef>
                        <a:spcAft>
                          <a:spcPts val="0"/>
                        </a:spcAft>
                        <a:buNone/>
                      </a:pPr>
                      <a:r>
                        <a:rPr b="1" lang="en-GB" sz="1800">
                          <a:solidFill>
                            <a:srgbClr val="666666"/>
                          </a:solidFill>
                        </a:rPr>
                        <a:t>T</a:t>
                      </a:r>
                      <a:r>
                        <a:rPr b="1" lang="en-GB" sz="1800">
                          <a:solidFill>
                            <a:srgbClr val="666666"/>
                          </a:solidFill>
                        </a:rPr>
                        <a:t>ên lớp:</a:t>
                      </a:r>
                      <a:endParaRPr b="1" sz="1800">
                        <a:solidFill>
                          <a:srgbClr val="666666"/>
                        </a:solidFill>
                      </a:endParaRPr>
                    </a:p>
                  </a:txBody>
                  <a:tcPr marT="91425" marB="91425" marR="91425" marL="91425"/>
                </a:tc>
                <a:tc gridSpan="2">
                  <a:txBody>
                    <a:bodyPr/>
                    <a:lstStyle/>
                    <a:p>
                      <a:pPr indent="0" lvl="0" marL="0" rtl="0" algn="l">
                        <a:lnSpc>
                          <a:spcPct val="115000"/>
                        </a:lnSpc>
                        <a:spcBef>
                          <a:spcPts val="0"/>
                        </a:spcBef>
                        <a:spcAft>
                          <a:spcPts val="0"/>
                        </a:spcAft>
                        <a:buNone/>
                      </a:pPr>
                      <a:r>
                        <a:rPr b="1" lang="en-GB" sz="1800">
                          <a:solidFill>
                            <a:srgbClr val="666666"/>
                          </a:solidFill>
                        </a:rPr>
                        <a:t>ID:</a:t>
                      </a:r>
                      <a:endParaRPr b="1" sz="1800">
                        <a:solidFill>
                          <a:srgbClr val="666666"/>
                        </a:solidFill>
                      </a:endParaRPr>
                    </a:p>
                  </a:txBody>
                  <a:tcPr marT="91425" marB="91425" marR="91425" marL="91425"/>
                </a:tc>
                <a:tc hMerge="1"/>
                <a:tc>
                  <a:txBody>
                    <a:bodyPr/>
                    <a:lstStyle/>
                    <a:p>
                      <a:pPr indent="0" lvl="0" marL="0" rtl="0" algn="l">
                        <a:lnSpc>
                          <a:spcPct val="115000"/>
                        </a:lnSpc>
                        <a:spcBef>
                          <a:spcPts val="0"/>
                        </a:spcBef>
                        <a:spcAft>
                          <a:spcPts val="0"/>
                        </a:spcAft>
                        <a:buClr>
                          <a:schemeClr val="dk1"/>
                        </a:buClr>
                        <a:buSzPts val="1100"/>
                        <a:buFont typeface="Arial"/>
                        <a:buNone/>
                      </a:pPr>
                      <a:r>
                        <a:rPr b="1" lang="en-GB" sz="1800">
                          <a:solidFill>
                            <a:srgbClr val="666666"/>
                          </a:solidFill>
                        </a:rPr>
                        <a:t>Kiểu:</a:t>
                      </a:r>
                      <a:endParaRPr b="1" sz="1800">
                        <a:solidFill>
                          <a:srgbClr val="666666"/>
                        </a:solidFill>
                      </a:endParaRPr>
                    </a:p>
                  </a:txBody>
                  <a:tcPr marT="91425" marB="91425" marR="91425" marL="91425"/>
                </a:tc>
              </a:tr>
              <a:tr h="500925">
                <a:tc gridSpan="3">
                  <a:txBody>
                    <a:bodyPr/>
                    <a:lstStyle/>
                    <a:p>
                      <a:pPr indent="0" lvl="0" marL="0" rtl="0" algn="l">
                        <a:lnSpc>
                          <a:spcPct val="115000"/>
                        </a:lnSpc>
                        <a:spcBef>
                          <a:spcPts val="0"/>
                        </a:spcBef>
                        <a:spcAft>
                          <a:spcPts val="0"/>
                        </a:spcAft>
                        <a:buNone/>
                      </a:pPr>
                      <a:r>
                        <a:rPr b="1" lang="en-GB" sz="1800">
                          <a:solidFill>
                            <a:srgbClr val="666666"/>
                          </a:solidFill>
                        </a:rPr>
                        <a:t>Mô tả:</a:t>
                      </a:r>
                      <a:endParaRPr b="1" sz="1800">
                        <a:solidFill>
                          <a:srgbClr val="666666"/>
                        </a:solidFill>
                      </a:endParaRPr>
                    </a:p>
                  </a:txBody>
                  <a:tcPr marT="91425" marB="91425" marR="91425" marL="91425"/>
                </a:tc>
                <a:tc hMerge="1"/>
                <a:tc hMerge="1"/>
                <a:tc>
                  <a:txBody>
                    <a:bodyPr/>
                    <a:lstStyle/>
                    <a:p>
                      <a:pPr indent="0" lvl="0" marL="0" rtl="0" algn="l">
                        <a:lnSpc>
                          <a:spcPct val="115000"/>
                        </a:lnSpc>
                        <a:spcBef>
                          <a:spcPts val="0"/>
                        </a:spcBef>
                        <a:spcAft>
                          <a:spcPts val="0"/>
                        </a:spcAft>
                        <a:buNone/>
                      </a:pPr>
                      <a:r>
                        <a:rPr b="1" lang="en-GB" sz="1800">
                          <a:solidFill>
                            <a:srgbClr val="666666"/>
                          </a:solidFill>
                        </a:rPr>
                        <a:t>CSD:</a:t>
                      </a:r>
                      <a:endParaRPr b="1" sz="1800">
                        <a:solidFill>
                          <a:srgbClr val="666666"/>
                        </a:solidFill>
                      </a:endParaRPr>
                    </a:p>
                  </a:txBody>
                  <a:tcPr marT="91425" marB="91425" marR="91425" marL="91425"/>
                </a:tc>
              </a:tr>
              <a:tr h="811150">
                <a:tc gridSpan="2">
                  <a:txBody>
                    <a:bodyPr/>
                    <a:lstStyle/>
                    <a:p>
                      <a:pPr indent="0" lvl="0" marL="0" rtl="0" algn="ctr">
                        <a:lnSpc>
                          <a:spcPct val="115000"/>
                        </a:lnSpc>
                        <a:spcBef>
                          <a:spcPts val="0"/>
                        </a:spcBef>
                        <a:spcAft>
                          <a:spcPts val="0"/>
                        </a:spcAft>
                        <a:buNone/>
                      </a:pPr>
                      <a:r>
                        <a:rPr b="1" lang="en-GB" sz="1800">
                          <a:solidFill>
                            <a:srgbClr val="666666"/>
                          </a:solidFill>
                        </a:rPr>
                        <a:t>Các trách nhiệm</a:t>
                      </a:r>
                      <a:endParaRPr b="1" sz="1800">
                        <a:solidFill>
                          <a:srgbClr val="666666"/>
                        </a:solidFill>
                      </a:endParaRPr>
                    </a:p>
                    <a:p>
                      <a:pPr indent="0" lvl="0" marL="0" rtl="0" algn="l">
                        <a:lnSpc>
                          <a:spcPct val="115000"/>
                        </a:lnSpc>
                        <a:spcBef>
                          <a:spcPts val="0"/>
                        </a:spcBef>
                        <a:spcAft>
                          <a:spcPts val="0"/>
                        </a:spcAft>
                        <a:buNone/>
                      </a:pPr>
                      <a:r>
                        <a:t/>
                      </a:r>
                      <a:endParaRPr sz="1800">
                        <a:solidFill>
                          <a:srgbClr val="666666"/>
                        </a:solidFill>
                      </a:endParaRPr>
                    </a:p>
                  </a:txBody>
                  <a:tcPr marT="91425" marB="91425" marR="91425" marL="91425"/>
                </a:tc>
                <a:tc hMerge="1"/>
                <a:tc gridSpan="2">
                  <a:txBody>
                    <a:bodyPr/>
                    <a:lstStyle/>
                    <a:p>
                      <a:pPr indent="0" lvl="0" marL="0" rtl="0" algn="ctr">
                        <a:lnSpc>
                          <a:spcPct val="115000"/>
                        </a:lnSpc>
                        <a:spcBef>
                          <a:spcPts val="0"/>
                        </a:spcBef>
                        <a:spcAft>
                          <a:spcPts val="0"/>
                        </a:spcAft>
                        <a:buNone/>
                      </a:pPr>
                      <a:r>
                        <a:rPr b="1" lang="en-GB" sz="1800">
                          <a:solidFill>
                            <a:srgbClr val="666666"/>
                          </a:solidFill>
                        </a:rPr>
                        <a:t>Các đối tác</a:t>
                      </a:r>
                      <a:endParaRPr b="1" sz="1800">
                        <a:solidFill>
                          <a:srgbClr val="666666"/>
                        </a:solidFill>
                      </a:endParaRPr>
                    </a:p>
                    <a:p>
                      <a:pPr indent="0" lvl="0" marL="0" rtl="0" algn="l">
                        <a:lnSpc>
                          <a:spcPct val="115000"/>
                        </a:lnSpc>
                        <a:spcBef>
                          <a:spcPts val="0"/>
                        </a:spcBef>
                        <a:spcAft>
                          <a:spcPts val="0"/>
                        </a:spcAft>
                        <a:buNone/>
                      </a:pPr>
                      <a:r>
                        <a:t/>
                      </a:r>
                      <a:endParaRPr sz="1800">
                        <a:solidFill>
                          <a:srgbClr val="666666"/>
                        </a:solidFill>
                      </a:endParaRPr>
                    </a:p>
                  </a:txBody>
                  <a:tcPr marT="91425" marB="91425" marR="91425" marL="91425"/>
                </a:tc>
                <a:tc hMerge="1"/>
              </a:tr>
              <a:tr h="811150">
                <a:tc gridSpan="4">
                  <a:txBody>
                    <a:bodyPr/>
                    <a:lstStyle/>
                    <a:p>
                      <a:pPr indent="0" lvl="0" marL="0" rtl="0" algn="ctr">
                        <a:lnSpc>
                          <a:spcPct val="115000"/>
                        </a:lnSpc>
                        <a:spcBef>
                          <a:spcPts val="0"/>
                        </a:spcBef>
                        <a:spcAft>
                          <a:spcPts val="0"/>
                        </a:spcAft>
                        <a:buNone/>
                      </a:pPr>
                      <a:r>
                        <a:rPr b="1" lang="en-GB" sz="1800">
                          <a:solidFill>
                            <a:srgbClr val="666666"/>
                          </a:solidFill>
                        </a:rPr>
                        <a:t>Các thuộc tính</a:t>
                      </a:r>
                      <a:endParaRPr b="1" sz="1800">
                        <a:solidFill>
                          <a:srgbClr val="666666"/>
                        </a:solidFill>
                      </a:endParaRPr>
                    </a:p>
                    <a:p>
                      <a:pPr indent="0" lvl="0" marL="0" rtl="0" algn="l">
                        <a:lnSpc>
                          <a:spcPct val="115000"/>
                        </a:lnSpc>
                        <a:spcBef>
                          <a:spcPts val="0"/>
                        </a:spcBef>
                        <a:spcAft>
                          <a:spcPts val="0"/>
                        </a:spcAft>
                        <a:buNone/>
                      </a:pPr>
                      <a:r>
                        <a:t/>
                      </a:r>
                      <a:endParaRPr sz="1800">
                        <a:solidFill>
                          <a:srgbClr val="666666"/>
                        </a:solidFill>
                      </a:endParaRPr>
                    </a:p>
                  </a:txBody>
                  <a:tcPr marT="91425" marB="91425" marR="91425" marL="91425"/>
                </a:tc>
                <a:tc hMerge="1"/>
                <a:tc hMerge="1"/>
                <a:tc hMerge="1"/>
              </a:tr>
              <a:tr h="1431600">
                <a:tc gridSpan="4">
                  <a:txBody>
                    <a:bodyPr/>
                    <a:lstStyle/>
                    <a:p>
                      <a:pPr indent="0" lvl="0" marL="0" rtl="0" algn="ctr">
                        <a:lnSpc>
                          <a:spcPct val="115000"/>
                        </a:lnSpc>
                        <a:spcBef>
                          <a:spcPts val="0"/>
                        </a:spcBef>
                        <a:spcAft>
                          <a:spcPts val="0"/>
                        </a:spcAft>
                        <a:buNone/>
                      </a:pPr>
                      <a:r>
                        <a:rPr b="1" lang="en-GB" sz="1800">
                          <a:solidFill>
                            <a:srgbClr val="666666"/>
                          </a:solidFill>
                        </a:rPr>
                        <a:t>Các mối quan hệ</a:t>
                      </a:r>
                      <a:endParaRPr b="1" sz="1800">
                        <a:solidFill>
                          <a:srgbClr val="666666"/>
                        </a:solidFill>
                      </a:endParaRPr>
                    </a:p>
                    <a:p>
                      <a:pPr indent="0" lvl="0" marL="0" rtl="0" algn="l">
                        <a:lnSpc>
                          <a:spcPct val="115000"/>
                        </a:lnSpc>
                        <a:spcBef>
                          <a:spcPts val="0"/>
                        </a:spcBef>
                        <a:spcAft>
                          <a:spcPts val="0"/>
                        </a:spcAft>
                        <a:buNone/>
                      </a:pPr>
                      <a:r>
                        <a:rPr b="1" lang="en-GB" sz="1800">
                          <a:solidFill>
                            <a:srgbClr val="666666"/>
                          </a:solidFill>
                        </a:rPr>
                        <a:t>Kế thừa:</a:t>
                      </a:r>
                      <a:endParaRPr b="1" sz="1800">
                        <a:solidFill>
                          <a:srgbClr val="666666"/>
                        </a:solidFill>
                      </a:endParaRPr>
                    </a:p>
                    <a:p>
                      <a:pPr indent="0" lvl="0" marL="0" rtl="0" algn="l">
                        <a:lnSpc>
                          <a:spcPct val="115000"/>
                        </a:lnSpc>
                        <a:spcBef>
                          <a:spcPts val="0"/>
                        </a:spcBef>
                        <a:spcAft>
                          <a:spcPts val="0"/>
                        </a:spcAft>
                        <a:buNone/>
                      </a:pPr>
                      <a:r>
                        <a:rPr b="1" lang="en-GB" sz="1800">
                          <a:solidFill>
                            <a:srgbClr val="666666"/>
                          </a:solidFill>
                        </a:rPr>
                        <a:t>Bộ phận-tổng thể:</a:t>
                      </a:r>
                      <a:endParaRPr b="1" sz="1800">
                        <a:solidFill>
                          <a:srgbClr val="666666"/>
                        </a:solidFill>
                      </a:endParaRPr>
                    </a:p>
                    <a:p>
                      <a:pPr indent="0" lvl="0" marL="0" rtl="0" algn="l">
                        <a:lnSpc>
                          <a:spcPct val="115000"/>
                        </a:lnSpc>
                        <a:spcBef>
                          <a:spcPts val="0"/>
                        </a:spcBef>
                        <a:spcAft>
                          <a:spcPts val="0"/>
                        </a:spcAft>
                        <a:buNone/>
                      </a:pPr>
                      <a:r>
                        <a:rPr b="1" lang="en-GB" sz="1800">
                          <a:solidFill>
                            <a:srgbClr val="666666"/>
                          </a:solidFill>
                        </a:rPr>
                        <a:t>Liên kết:</a:t>
                      </a:r>
                      <a:endParaRPr b="1" sz="1800">
                        <a:solidFill>
                          <a:srgbClr val="666666"/>
                        </a:solidFill>
                      </a:endParaRPr>
                    </a:p>
                  </a:txBody>
                  <a:tcPr marT="91425" marB="91425" marR="91425" marL="91425"/>
                </a:tc>
                <a:tc hMerge="1"/>
                <a:tc hMerge="1"/>
                <a:tc hMerge="1"/>
              </a:tr>
            </a:tbl>
          </a:graphicData>
        </a:graphic>
      </p:graphicFrame>
      <p:sp>
        <p:nvSpPr>
          <p:cNvPr id="1203" name="Google Shape;1203;p88"/>
          <p:cNvSpPr txBox="1"/>
          <p:nvPr/>
        </p:nvSpPr>
        <p:spPr>
          <a:xfrm>
            <a:off x="534050" y="5563600"/>
            <a:ext cx="7768200" cy="59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B45F06"/>
                </a:solidFill>
                <a:latin typeface="Times New Roman"/>
                <a:ea typeface="Times New Roman"/>
                <a:cs typeface="Times New Roman"/>
                <a:sym typeface="Times New Roman"/>
              </a:rPr>
              <a:t>!Đây là 1 biểu mẫu phi chuẩn.</a:t>
            </a:r>
            <a:endParaRPr sz="2400">
              <a:solidFill>
                <a:srgbClr val="B45F06"/>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89"/>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3.21. Đặc tả lớp với thẻ CRC</a:t>
            </a:r>
            <a:endParaRPr/>
          </a:p>
        </p:txBody>
      </p:sp>
      <p:sp>
        <p:nvSpPr>
          <p:cNvPr id="1209" name="Google Shape;1209;p8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210" name="Google Shape;1210;p89"/>
          <p:cNvGraphicFramePr/>
          <p:nvPr/>
        </p:nvGraphicFramePr>
        <p:xfrm>
          <a:off x="475175" y="990425"/>
          <a:ext cx="3000000" cy="3000000"/>
        </p:xfrm>
        <a:graphic>
          <a:graphicData uri="http://schemas.openxmlformats.org/drawingml/2006/table">
            <a:tbl>
              <a:tblPr>
                <a:noFill/>
                <a:tableStyleId>{916E7964-577C-4660-9F6A-7138A95530C7}</a:tableStyleId>
              </a:tblPr>
              <a:tblGrid>
                <a:gridCol w="3730300"/>
                <a:gridCol w="1428575"/>
                <a:gridCol w="757325"/>
                <a:gridCol w="2440900"/>
              </a:tblGrid>
              <a:tr h="458800">
                <a:tc>
                  <a:txBody>
                    <a:bodyPr/>
                    <a:lstStyle/>
                    <a:p>
                      <a:pPr indent="0" lvl="0" marL="0" rtl="0" algn="l">
                        <a:lnSpc>
                          <a:spcPct val="115000"/>
                        </a:lnSpc>
                        <a:spcBef>
                          <a:spcPts val="0"/>
                        </a:spcBef>
                        <a:spcAft>
                          <a:spcPts val="0"/>
                        </a:spcAft>
                        <a:buNone/>
                      </a:pPr>
                      <a:r>
                        <a:rPr b="1" lang="en-GB" sz="1800">
                          <a:solidFill>
                            <a:srgbClr val="666666"/>
                          </a:solidFill>
                        </a:rPr>
                        <a:t>Tên lớp: </a:t>
                      </a:r>
                      <a:r>
                        <a:rPr lang="en-GB" sz="1800">
                          <a:solidFill>
                            <a:srgbClr val="666666"/>
                          </a:solidFill>
                        </a:rPr>
                        <a:t>Bản khảo sát</a:t>
                      </a:r>
                      <a:endParaRPr sz="1800">
                        <a:solidFill>
                          <a:srgbClr val="666666"/>
                        </a:solidFill>
                      </a:endParaRPr>
                    </a:p>
                  </a:txBody>
                  <a:tcPr marT="91425" marB="91425" marR="91425" marL="91425"/>
                </a:tc>
                <a:tc gridSpan="2">
                  <a:txBody>
                    <a:bodyPr/>
                    <a:lstStyle/>
                    <a:p>
                      <a:pPr indent="0" lvl="0" marL="0" rtl="0" algn="l">
                        <a:lnSpc>
                          <a:spcPct val="115000"/>
                        </a:lnSpc>
                        <a:spcBef>
                          <a:spcPts val="0"/>
                        </a:spcBef>
                        <a:spcAft>
                          <a:spcPts val="0"/>
                        </a:spcAft>
                        <a:buNone/>
                      </a:pPr>
                      <a:r>
                        <a:rPr b="1" lang="en-GB" sz="1800">
                          <a:solidFill>
                            <a:srgbClr val="666666"/>
                          </a:solidFill>
                        </a:rPr>
                        <a:t>ID:</a:t>
                      </a:r>
                      <a:r>
                        <a:rPr lang="en-GB" sz="1800">
                          <a:solidFill>
                            <a:srgbClr val="666666"/>
                          </a:solidFill>
                        </a:rPr>
                        <a:t> 1</a:t>
                      </a:r>
                      <a:endParaRPr sz="1800">
                        <a:solidFill>
                          <a:srgbClr val="666666"/>
                        </a:solidFill>
                      </a:endParaRPr>
                    </a:p>
                  </a:txBody>
                  <a:tcPr marT="91425" marB="91425" marR="91425" marL="91425"/>
                </a:tc>
                <a:tc hMerge="1"/>
                <a:tc>
                  <a:txBody>
                    <a:bodyPr/>
                    <a:lstStyle/>
                    <a:p>
                      <a:pPr indent="0" lvl="0" marL="0" rtl="0" algn="l">
                        <a:lnSpc>
                          <a:spcPct val="115000"/>
                        </a:lnSpc>
                        <a:spcBef>
                          <a:spcPts val="0"/>
                        </a:spcBef>
                        <a:spcAft>
                          <a:spcPts val="0"/>
                        </a:spcAft>
                        <a:buNone/>
                      </a:pPr>
                      <a:r>
                        <a:rPr b="1" lang="en-GB" sz="1800">
                          <a:solidFill>
                            <a:srgbClr val="666666"/>
                          </a:solidFill>
                        </a:rPr>
                        <a:t>Kiểu:</a:t>
                      </a:r>
                      <a:r>
                        <a:rPr lang="en-GB" sz="1800">
                          <a:solidFill>
                            <a:srgbClr val="666666"/>
                          </a:solidFill>
                        </a:rPr>
                        <a:t> Lĩnh vực</a:t>
                      </a:r>
                      <a:endParaRPr sz="1800">
                        <a:solidFill>
                          <a:srgbClr val="666666"/>
                        </a:solidFill>
                      </a:endParaRPr>
                    </a:p>
                  </a:txBody>
                  <a:tcPr marT="91425" marB="91425" marR="91425" marL="91425"/>
                </a:tc>
              </a:tr>
              <a:tr h="742925">
                <a:tc gridSpan="3">
                  <a:txBody>
                    <a:bodyPr/>
                    <a:lstStyle/>
                    <a:p>
                      <a:pPr indent="0" lvl="0" marL="0" rtl="0" algn="l">
                        <a:lnSpc>
                          <a:spcPct val="115000"/>
                        </a:lnSpc>
                        <a:spcBef>
                          <a:spcPts val="0"/>
                        </a:spcBef>
                        <a:spcAft>
                          <a:spcPts val="0"/>
                        </a:spcAft>
                        <a:buNone/>
                      </a:pPr>
                      <a:r>
                        <a:rPr b="1" lang="en-GB" sz="1800">
                          <a:solidFill>
                            <a:srgbClr val="666666"/>
                          </a:solidFill>
                        </a:rPr>
                        <a:t>Mô tả: </a:t>
                      </a:r>
                      <a:r>
                        <a:rPr lang="en-GB" sz="1800">
                          <a:solidFill>
                            <a:srgbClr val="666666"/>
                          </a:solidFill>
                        </a:rPr>
                        <a:t>Danh sách câu hỏi và câu trả lời được sử dụng để xác định dịch vụ.</a:t>
                      </a:r>
                      <a:endParaRPr sz="1800">
                        <a:solidFill>
                          <a:srgbClr val="666666"/>
                        </a:solidFill>
                      </a:endParaRPr>
                    </a:p>
                  </a:txBody>
                  <a:tcPr marT="91425" marB="91425" marR="91425" marL="91425"/>
                </a:tc>
                <a:tc hMerge="1"/>
                <a:tc hMerge="1"/>
                <a:tc>
                  <a:txBody>
                    <a:bodyPr/>
                    <a:lstStyle/>
                    <a:p>
                      <a:pPr indent="0" lvl="0" marL="0" rtl="0" algn="l">
                        <a:lnSpc>
                          <a:spcPct val="115000"/>
                        </a:lnSpc>
                        <a:spcBef>
                          <a:spcPts val="0"/>
                        </a:spcBef>
                        <a:spcAft>
                          <a:spcPts val="0"/>
                        </a:spcAft>
                        <a:buNone/>
                      </a:pPr>
                      <a:r>
                        <a:rPr b="1" lang="en-GB" sz="1800">
                          <a:solidFill>
                            <a:srgbClr val="666666"/>
                          </a:solidFill>
                        </a:rPr>
                        <a:t>CSD: </a:t>
                      </a:r>
                      <a:r>
                        <a:rPr lang="en-GB" sz="1800">
                          <a:solidFill>
                            <a:srgbClr val="666666"/>
                          </a:solidFill>
                        </a:rPr>
                        <a:t>UC01</a:t>
                      </a:r>
                      <a:endParaRPr sz="1800">
                        <a:solidFill>
                          <a:srgbClr val="666666"/>
                        </a:solidFill>
                      </a:endParaRPr>
                    </a:p>
                  </a:txBody>
                  <a:tcPr marT="91425" marB="91425" marR="91425" marL="91425"/>
                </a:tc>
              </a:tr>
              <a:tr h="1027050">
                <a:tc gridSpan="2">
                  <a:txBody>
                    <a:bodyPr/>
                    <a:lstStyle/>
                    <a:p>
                      <a:pPr indent="0" lvl="0" marL="0" rtl="0" algn="ctr">
                        <a:lnSpc>
                          <a:spcPct val="115000"/>
                        </a:lnSpc>
                        <a:spcBef>
                          <a:spcPts val="0"/>
                        </a:spcBef>
                        <a:spcAft>
                          <a:spcPts val="0"/>
                        </a:spcAft>
                        <a:buNone/>
                      </a:pPr>
                      <a:r>
                        <a:rPr b="1" lang="en-GB" sz="1800">
                          <a:solidFill>
                            <a:srgbClr val="666666"/>
                          </a:solidFill>
                        </a:rPr>
                        <a:t>Các trách nhiệm</a:t>
                      </a:r>
                      <a:endParaRPr b="1" sz="1800">
                        <a:solidFill>
                          <a:srgbClr val="666666"/>
                        </a:solidFill>
                      </a:endParaRPr>
                    </a:p>
                    <a:p>
                      <a:pPr indent="0" lvl="0" marL="0" rtl="0" algn="l">
                        <a:lnSpc>
                          <a:spcPct val="115000"/>
                        </a:lnSpc>
                        <a:spcBef>
                          <a:spcPts val="0"/>
                        </a:spcBef>
                        <a:spcAft>
                          <a:spcPts val="0"/>
                        </a:spcAft>
                        <a:buNone/>
                      </a:pPr>
                      <a:r>
                        <a:rPr lang="en-GB" sz="1800">
                          <a:solidFill>
                            <a:srgbClr val="666666"/>
                          </a:solidFill>
                        </a:rPr>
                        <a:t>Hiển thị câu hỏi</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Lưu câu trả lời</a:t>
                      </a:r>
                      <a:endParaRPr sz="1800">
                        <a:solidFill>
                          <a:srgbClr val="666666"/>
                        </a:solidFill>
                      </a:endParaRPr>
                    </a:p>
                  </a:txBody>
                  <a:tcPr marT="91425" marB="91425" marR="91425" marL="91425"/>
                </a:tc>
                <a:tc hMerge="1"/>
                <a:tc gridSpan="2">
                  <a:txBody>
                    <a:bodyPr/>
                    <a:lstStyle/>
                    <a:p>
                      <a:pPr indent="0" lvl="0" marL="0" rtl="0" algn="ctr">
                        <a:lnSpc>
                          <a:spcPct val="115000"/>
                        </a:lnSpc>
                        <a:spcBef>
                          <a:spcPts val="0"/>
                        </a:spcBef>
                        <a:spcAft>
                          <a:spcPts val="0"/>
                        </a:spcAft>
                        <a:buNone/>
                      </a:pPr>
                      <a:r>
                        <a:rPr b="1" lang="en-GB" sz="1800">
                          <a:solidFill>
                            <a:srgbClr val="666666"/>
                          </a:solidFill>
                        </a:rPr>
                        <a:t>Các đối tác</a:t>
                      </a:r>
                      <a:endParaRPr b="1" sz="1800">
                        <a:solidFill>
                          <a:srgbClr val="666666"/>
                        </a:solidFill>
                      </a:endParaRPr>
                    </a:p>
                    <a:p>
                      <a:pPr indent="0" lvl="0" marL="0" rtl="0" algn="l">
                        <a:lnSpc>
                          <a:spcPct val="115000"/>
                        </a:lnSpc>
                        <a:spcBef>
                          <a:spcPts val="0"/>
                        </a:spcBef>
                        <a:spcAft>
                          <a:spcPts val="0"/>
                        </a:spcAft>
                        <a:buNone/>
                      </a:pPr>
                      <a:r>
                        <a:rPr lang="en-GB" sz="1800">
                          <a:solidFill>
                            <a:srgbClr val="666666"/>
                          </a:solidFill>
                        </a:rPr>
                        <a:t>Câu hỏi khảo sát</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a:t>
                      </a:r>
                      <a:endParaRPr sz="1800">
                        <a:solidFill>
                          <a:srgbClr val="666666"/>
                        </a:solidFill>
                      </a:endParaRPr>
                    </a:p>
                  </a:txBody>
                  <a:tcPr marT="91425" marB="91425" marR="91425" marL="91425"/>
                </a:tc>
                <a:tc hMerge="1"/>
              </a:tr>
              <a:tr h="1311200">
                <a:tc gridSpan="4">
                  <a:txBody>
                    <a:bodyPr/>
                    <a:lstStyle/>
                    <a:p>
                      <a:pPr indent="0" lvl="0" marL="0" rtl="0" algn="ctr">
                        <a:lnSpc>
                          <a:spcPct val="115000"/>
                        </a:lnSpc>
                        <a:spcBef>
                          <a:spcPts val="0"/>
                        </a:spcBef>
                        <a:spcAft>
                          <a:spcPts val="0"/>
                        </a:spcAft>
                        <a:buNone/>
                      </a:pPr>
                      <a:r>
                        <a:rPr b="1" lang="en-GB" sz="1800">
                          <a:solidFill>
                            <a:srgbClr val="666666"/>
                          </a:solidFill>
                        </a:rPr>
                        <a:t>Các thuộc tính</a:t>
                      </a:r>
                      <a:endParaRPr b="1" sz="1800">
                        <a:solidFill>
                          <a:srgbClr val="666666"/>
                        </a:solidFill>
                      </a:endParaRPr>
                    </a:p>
                    <a:p>
                      <a:pPr indent="0" lvl="0" marL="0" rtl="0" algn="l">
                        <a:lnSpc>
                          <a:spcPct val="115000"/>
                        </a:lnSpc>
                        <a:spcBef>
                          <a:spcPts val="0"/>
                        </a:spcBef>
                        <a:spcAft>
                          <a:spcPts val="0"/>
                        </a:spcAft>
                        <a:buNone/>
                      </a:pPr>
                      <a:r>
                        <a:rPr lang="en-GB" sz="1800">
                          <a:solidFill>
                            <a:srgbClr val="666666"/>
                          </a:solidFill>
                        </a:rPr>
                        <a:t>Mã số</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Danh sách câu hỏi</a:t>
                      </a:r>
                      <a:endParaRPr sz="1800">
                        <a:solidFill>
                          <a:srgbClr val="666666"/>
                        </a:solidFill>
                      </a:endParaRPr>
                    </a:p>
                    <a:p>
                      <a:pPr indent="0" lvl="0" marL="0" rtl="0" algn="l">
                        <a:lnSpc>
                          <a:spcPct val="115000"/>
                        </a:lnSpc>
                        <a:spcBef>
                          <a:spcPts val="0"/>
                        </a:spcBef>
                        <a:spcAft>
                          <a:spcPts val="0"/>
                        </a:spcAft>
                        <a:buNone/>
                      </a:pPr>
                      <a:r>
                        <a:rPr lang="en-GB" sz="1800">
                          <a:solidFill>
                            <a:srgbClr val="666666"/>
                          </a:solidFill>
                        </a:rPr>
                        <a:t>Danh sách câu trả lời</a:t>
                      </a:r>
                      <a:endParaRPr sz="1800">
                        <a:solidFill>
                          <a:srgbClr val="666666"/>
                        </a:solidFill>
                      </a:endParaRPr>
                    </a:p>
                  </a:txBody>
                  <a:tcPr marT="91425" marB="91425" marR="91425" marL="91425"/>
                </a:tc>
                <a:tc hMerge="1"/>
                <a:tc hMerge="1"/>
                <a:tc hMerge="1"/>
              </a:tr>
              <a:tr h="1311200">
                <a:tc gridSpan="4">
                  <a:txBody>
                    <a:bodyPr/>
                    <a:lstStyle/>
                    <a:p>
                      <a:pPr indent="0" lvl="0" marL="0" rtl="0" algn="ctr">
                        <a:lnSpc>
                          <a:spcPct val="115000"/>
                        </a:lnSpc>
                        <a:spcBef>
                          <a:spcPts val="0"/>
                        </a:spcBef>
                        <a:spcAft>
                          <a:spcPts val="0"/>
                        </a:spcAft>
                        <a:buNone/>
                      </a:pPr>
                      <a:r>
                        <a:rPr b="1" lang="en-GB" sz="1800">
                          <a:solidFill>
                            <a:srgbClr val="666666"/>
                          </a:solidFill>
                        </a:rPr>
                        <a:t>Các mối quan hệ</a:t>
                      </a:r>
                      <a:endParaRPr b="1" sz="1800">
                        <a:solidFill>
                          <a:srgbClr val="666666"/>
                        </a:solidFill>
                      </a:endParaRPr>
                    </a:p>
                    <a:p>
                      <a:pPr indent="0" lvl="0" marL="0" rtl="0" algn="l">
                        <a:lnSpc>
                          <a:spcPct val="115000"/>
                        </a:lnSpc>
                        <a:spcBef>
                          <a:spcPts val="0"/>
                        </a:spcBef>
                        <a:spcAft>
                          <a:spcPts val="0"/>
                        </a:spcAft>
                        <a:buNone/>
                      </a:pPr>
                      <a:r>
                        <a:rPr b="1" lang="en-GB" sz="1800">
                          <a:solidFill>
                            <a:srgbClr val="666666"/>
                          </a:solidFill>
                        </a:rPr>
                        <a:t>Kế thừa: </a:t>
                      </a:r>
                      <a:r>
                        <a:rPr lang="en-GB" sz="1800">
                          <a:solidFill>
                            <a:srgbClr val="666666"/>
                          </a:solidFill>
                        </a:rPr>
                        <a:t>--</a:t>
                      </a:r>
                      <a:endParaRPr sz="1800">
                        <a:solidFill>
                          <a:srgbClr val="666666"/>
                        </a:solidFill>
                      </a:endParaRPr>
                    </a:p>
                    <a:p>
                      <a:pPr indent="0" lvl="0" marL="0" rtl="0" algn="l">
                        <a:lnSpc>
                          <a:spcPct val="115000"/>
                        </a:lnSpc>
                        <a:spcBef>
                          <a:spcPts val="0"/>
                        </a:spcBef>
                        <a:spcAft>
                          <a:spcPts val="0"/>
                        </a:spcAft>
                        <a:buNone/>
                      </a:pPr>
                      <a:r>
                        <a:rPr b="1" lang="en-GB" sz="1800">
                          <a:solidFill>
                            <a:srgbClr val="666666"/>
                          </a:solidFill>
                        </a:rPr>
                        <a:t>Bộ phận-tổng thể: </a:t>
                      </a:r>
                      <a:r>
                        <a:rPr lang="en-GB" sz="1800">
                          <a:solidFill>
                            <a:srgbClr val="666666"/>
                          </a:solidFill>
                        </a:rPr>
                        <a:t>Bao gồm các câu hỏi khảo sát</a:t>
                      </a:r>
                      <a:endParaRPr sz="1800">
                        <a:solidFill>
                          <a:srgbClr val="666666"/>
                        </a:solidFill>
                      </a:endParaRPr>
                    </a:p>
                    <a:p>
                      <a:pPr indent="0" lvl="0" marL="0" rtl="0" algn="l">
                        <a:lnSpc>
                          <a:spcPct val="115000"/>
                        </a:lnSpc>
                        <a:spcBef>
                          <a:spcPts val="0"/>
                        </a:spcBef>
                        <a:spcAft>
                          <a:spcPts val="0"/>
                        </a:spcAft>
                        <a:buNone/>
                      </a:pPr>
                      <a:r>
                        <a:rPr b="1" lang="en-GB" sz="1800">
                          <a:solidFill>
                            <a:srgbClr val="666666"/>
                          </a:solidFill>
                        </a:rPr>
                        <a:t>Liên kết: </a:t>
                      </a:r>
                      <a:r>
                        <a:rPr lang="en-GB" sz="1800">
                          <a:solidFill>
                            <a:srgbClr val="666666"/>
                          </a:solidFill>
                        </a:rPr>
                        <a:t>Khách hàng, nhu cầu dịch vụ</a:t>
                      </a:r>
                      <a:endParaRPr sz="1800">
                        <a:solidFill>
                          <a:srgbClr val="666666"/>
                        </a:solidFill>
                      </a:endParaRPr>
                    </a:p>
                  </a:txBody>
                  <a:tcPr marT="91425" marB="91425" marR="91425" marL="91425"/>
                </a:tc>
                <a:tc hMerge="1"/>
                <a:tc hMerge="1"/>
                <a:tc hMerge="1"/>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90"/>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1216" name="Google Shape;1216;p90"/>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Các khái niệm</a:t>
            </a:r>
            <a:endParaRPr/>
          </a:p>
          <a:p>
            <a:pPr indent="-381000" lvl="0" marL="457200" rtl="0" algn="l">
              <a:spcBef>
                <a:spcPts val="0"/>
              </a:spcBef>
              <a:spcAft>
                <a:spcPts val="0"/>
              </a:spcAft>
              <a:buSzPts val="2400"/>
              <a:buChar char="●"/>
            </a:pPr>
            <a:r>
              <a:rPr lang="en-GB"/>
              <a:t>Các kỹ thuật</a:t>
            </a:r>
            <a:endParaRPr/>
          </a:p>
          <a:p>
            <a:pPr indent="-381000" lvl="0" marL="457200" rtl="0" algn="l">
              <a:spcBef>
                <a:spcPts val="0"/>
              </a:spcBef>
              <a:spcAft>
                <a:spcPts val="0"/>
              </a:spcAft>
              <a:buSzPts val="2400"/>
              <a:buChar char="●"/>
            </a:pPr>
            <a:r>
              <a:rPr lang="en-GB"/>
              <a:t>Các </a:t>
            </a:r>
            <a:r>
              <a:rPr lang="en-GB"/>
              <a:t>sơ đồ</a:t>
            </a:r>
            <a:endParaRPr/>
          </a:p>
          <a:p>
            <a:pPr indent="-381000" lvl="0" marL="457200" rtl="0" algn="l">
              <a:spcBef>
                <a:spcPts val="0"/>
              </a:spcBef>
              <a:spcAft>
                <a:spcPts val="0"/>
              </a:spcAft>
              <a:buSzPts val="2400"/>
              <a:buChar char="●"/>
            </a:pPr>
            <a:r>
              <a:rPr lang="en-GB"/>
              <a:t>Mô tả ràng buộc với OCL</a:t>
            </a:r>
            <a:endParaRPr/>
          </a:p>
          <a:p>
            <a:pPr indent="-381000" lvl="0" marL="457200" rtl="0" algn="l">
              <a:spcBef>
                <a:spcPts val="0"/>
              </a:spcBef>
              <a:spcAft>
                <a:spcPts val="0"/>
              </a:spcAft>
              <a:buSzPts val="2400"/>
              <a:buChar char="●"/>
            </a:pPr>
            <a:r>
              <a:rPr lang="en-GB"/>
              <a:t>Đặc tả lớp với thẻ CRC</a:t>
            </a:r>
            <a:endParaRPr/>
          </a:p>
          <a:p>
            <a:pPr indent="-381000" lvl="0" marL="457200" rtl="0" algn="l">
              <a:spcBef>
                <a:spcPts val="0"/>
              </a:spcBef>
              <a:spcAft>
                <a:spcPts val="0"/>
              </a:spcAft>
              <a:buSzPts val="2400"/>
              <a:buChar char="●"/>
            </a:pPr>
            <a:r>
              <a:rPr lang="en-GB"/>
              <a:t>Mẫu phân tích</a:t>
            </a:r>
            <a:endParaRPr/>
          </a:p>
          <a:p>
            <a:pPr indent="-381000" lvl="0" marL="457200" rtl="0" algn="l">
              <a:spcBef>
                <a:spcPts val="0"/>
              </a:spcBef>
              <a:spcAft>
                <a:spcPts val="0"/>
              </a:spcAft>
              <a:buSzPts val="2400"/>
              <a:buChar char="●"/>
            </a:pPr>
            <a:r>
              <a:rPr lang="en-GB"/>
              <a:t>Bài tập</a:t>
            </a:r>
            <a:endParaRPr/>
          </a:p>
        </p:txBody>
      </p:sp>
      <p:sp>
        <p:nvSpPr>
          <p:cNvPr id="1217" name="Google Shape;1217;p9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18" name="Google Shape;1218;p90"/>
          <p:cNvSpPr/>
          <p:nvPr/>
        </p:nvSpPr>
        <p:spPr>
          <a:xfrm>
            <a:off x="366525" y="2880975"/>
            <a:ext cx="49452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91"/>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a:t>
            </a:r>
            <a:r>
              <a:rPr lang="en-GB"/>
              <a:t>ẫu tài khoản/giao dịch</a:t>
            </a:r>
            <a:endParaRPr/>
          </a:p>
        </p:txBody>
      </p:sp>
      <p:sp>
        <p:nvSpPr>
          <p:cNvPr id="1224" name="Google Shape;1224;p9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25" name="Google Shape;1225;p91"/>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TaiKhoan</a:t>
            </a:r>
            <a:endParaRPr sz="1800"/>
          </a:p>
        </p:txBody>
      </p:sp>
      <p:sp>
        <p:nvSpPr>
          <p:cNvPr id="1226" name="Google Shape;1226;p91"/>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/so_du</a:t>
            </a:r>
            <a:endParaRPr sz="1800"/>
          </a:p>
        </p:txBody>
      </p:sp>
      <p:sp>
        <p:nvSpPr>
          <p:cNvPr id="1227" name="Google Shape;1227;p91"/>
          <p:cNvSpPr/>
          <p:nvPr/>
        </p:nvSpPr>
        <p:spPr>
          <a:xfrm>
            <a:off x="36813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DanhMuc</a:t>
            </a:r>
            <a:endParaRPr sz="1800"/>
          </a:p>
        </p:txBody>
      </p:sp>
      <p:sp>
        <p:nvSpPr>
          <p:cNvPr id="1228" name="Google Shape;1228;p91"/>
          <p:cNvSpPr/>
          <p:nvPr/>
        </p:nvSpPr>
        <p:spPr>
          <a:xfrm>
            <a:off x="36813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gia_tri</a:t>
            </a:r>
            <a:endParaRPr sz="1800"/>
          </a:p>
        </p:txBody>
      </p:sp>
      <p:sp>
        <p:nvSpPr>
          <p:cNvPr id="1229" name="Google Shape;1229;p91"/>
          <p:cNvSpPr/>
          <p:nvPr/>
        </p:nvSpPr>
        <p:spPr>
          <a:xfrm>
            <a:off x="6576900" y="2053354"/>
            <a:ext cx="17814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GiaoDich</a:t>
            </a:r>
            <a:endParaRPr sz="1800"/>
          </a:p>
        </p:txBody>
      </p:sp>
      <p:cxnSp>
        <p:nvCxnSpPr>
          <p:cNvPr id="1230" name="Google Shape;1230;p91"/>
          <p:cNvCxnSpPr>
            <a:stCxn id="1225" idx="3"/>
            <a:endCxn id="1227" idx="1"/>
          </p:cNvCxnSpPr>
          <p:nvPr/>
        </p:nvCxnSpPr>
        <p:spPr>
          <a:xfrm>
            <a:off x="2567100" y="2318838"/>
            <a:ext cx="1114200" cy="0"/>
          </a:xfrm>
          <a:prstGeom prst="straightConnector1">
            <a:avLst/>
          </a:prstGeom>
          <a:noFill/>
          <a:ln cap="flat" cmpd="sng" w="9525">
            <a:solidFill>
              <a:schemeClr val="dk2"/>
            </a:solidFill>
            <a:prstDash val="solid"/>
            <a:round/>
            <a:headEnd len="med" w="med" type="none"/>
            <a:tailEnd len="med" w="med" type="none"/>
          </a:ln>
        </p:spPr>
      </p:cxnSp>
      <p:cxnSp>
        <p:nvCxnSpPr>
          <p:cNvPr id="1231" name="Google Shape;1231;p91"/>
          <p:cNvCxnSpPr>
            <a:stCxn id="1227" idx="3"/>
            <a:endCxn id="1229" idx="1"/>
          </p:cNvCxnSpPr>
          <p:nvPr/>
        </p:nvCxnSpPr>
        <p:spPr>
          <a:xfrm flipH="1" rot="10800000">
            <a:off x="5462700" y="2315838"/>
            <a:ext cx="1114200" cy="3000"/>
          </a:xfrm>
          <a:prstGeom prst="straightConnector1">
            <a:avLst/>
          </a:prstGeom>
          <a:noFill/>
          <a:ln cap="flat" cmpd="sng" w="9525">
            <a:solidFill>
              <a:schemeClr val="dk2"/>
            </a:solidFill>
            <a:prstDash val="solid"/>
            <a:round/>
            <a:headEnd len="med" w="med" type="none"/>
            <a:tailEnd len="med" w="med" type="none"/>
          </a:ln>
        </p:spPr>
      </p:cxnSp>
      <p:sp>
        <p:nvSpPr>
          <p:cNvPr id="1232" name="Google Shape;1232;p91"/>
          <p:cNvSpPr txBox="1"/>
          <p:nvPr/>
        </p:nvSpPr>
        <p:spPr>
          <a:xfrm>
            <a:off x="2558525" y="2228713"/>
            <a:ext cx="489300" cy="3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p:txBody>
      </p:sp>
      <p:sp>
        <p:nvSpPr>
          <p:cNvPr id="1233" name="Google Shape;1233;p91"/>
          <p:cNvSpPr txBox="1"/>
          <p:nvPr/>
        </p:nvSpPr>
        <p:spPr>
          <a:xfrm>
            <a:off x="3396725" y="2228713"/>
            <a:ext cx="489300" cy="3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
        <p:nvSpPr>
          <p:cNvPr id="1234" name="Google Shape;1234;p91"/>
          <p:cNvSpPr txBox="1"/>
          <p:nvPr/>
        </p:nvSpPr>
        <p:spPr>
          <a:xfrm>
            <a:off x="5454125" y="2228713"/>
            <a:ext cx="489300" cy="3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2</a:t>
            </a:r>
            <a:endParaRPr sz="1800">
              <a:latin typeface="Times New Roman"/>
              <a:ea typeface="Times New Roman"/>
              <a:cs typeface="Times New Roman"/>
              <a:sym typeface="Times New Roman"/>
            </a:endParaRPr>
          </a:p>
        </p:txBody>
      </p:sp>
      <p:sp>
        <p:nvSpPr>
          <p:cNvPr id="1235" name="Google Shape;1235;p91"/>
          <p:cNvSpPr txBox="1"/>
          <p:nvPr/>
        </p:nvSpPr>
        <p:spPr>
          <a:xfrm>
            <a:off x="6292325" y="2228713"/>
            <a:ext cx="489300" cy="3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p:txBody>
      </p:sp>
      <p:sp>
        <p:nvSpPr>
          <p:cNvPr id="1236" name="Google Shape;1236;p91"/>
          <p:cNvSpPr/>
          <p:nvPr/>
        </p:nvSpPr>
        <p:spPr>
          <a:xfrm flipH="1" rot="10800000">
            <a:off x="1511025" y="1188150"/>
            <a:ext cx="2611800" cy="5724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91"/>
          <p:cNvSpPr txBox="1"/>
          <p:nvPr/>
        </p:nvSpPr>
        <p:spPr>
          <a:xfrm>
            <a:off x="1491225" y="1296850"/>
            <a:ext cx="2777700" cy="41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{so_du = </a:t>
            </a:r>
            <a:r>
              <a:rPr lang="en-GB" sz="1600">
                <a:latin typeface="Times New Roman"/>
                <a:ea typeface="Times New Roman"/>
                <a:cs typeface="Times New Roman"/>
                <a:sym typeface="Times New Roman"/>
              </a:rPr>
              <a:t>entry</a:t>
            </a:r>
            <a:r>
              <a:rPr lang="en-GB" sz="1600">
                <a:latin typeface="Times New Roman"/>
                <a:ea typeface="Times New Roman"/>
                <a:cs typeface="Times New Roman"/>
                <a:sym typeface="Times New Roman"/>
              </a:rPr>
              <a:t>-&gt;sum(gia_tri)}</a:t>
            </a:r>
            <a:endParaRPr sz="1600">
              <a:latin typeface="Times New Roman"/>
              <a:ea typeface="Times New Roman"/>
              <a:cs typeface="Times New Roman"/>
              <a:sym typeface="Times New Roman"/>
            </a:endParaRPr>
          </a:p>
        </p:txBody>
      </p:sp>
      <p:sp>
        <p:nvSpPr>
          <p:cNvPr id="1238" name="Google Shape;1238;p91"/>
          <p:cNvSpPr txBox="1"/>
          <p:nvPr/>
        </p:nvSpPr>
        <p:spPr>
          <a:xfrm>
            <a:off x="3066150" y="1973544"/>
            <a:ext cx="810600" cy="3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latin typeface="Times New Roman"/>
                <a:ea typeface="Times New Roman"/>
                <a:cs typeface="Times New Roman"/>
                <a:sym typeface="Times New Roman"/>
              </a:rPr>
              <a:t>entry</a:t>
            </a:r>
            <a:endParaRPr i="1" sz="1600">
              <a:latin typeface="Times New Roman"/>
              <a:ea typeface="Times New Roman"/>
              <a:cs typeface="Times New Roman"/>
              <a:sym typeface="Times New Roman"/>
            </a:endParaRPr>
          </a:p>
        </p:txBody>
      </p:sp>
      <p:sp>
        <p:nvSpPr>
          <p:cNvPr id="1239" name="Google Shape;1239;p91"/>
          <p:cNvSpPr txBox="1"/>
          <p:nvPr/>
        </p:nvSpPr>
        <p:spPr>
          <a:xfrm>
            <a:off x="5444895" y="1973531"/>
            <a:ext cx="717900" cy="3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latin typeface="Times New Roman"/>
                <a:ea typeface="Times New Roman"/>
                <a:cs typeface="Times New Roman"/>
                <a:sym typeface="Times New Roman"/>
              </a:rPr>
              <a:t>entry</a:t>
            </a:r>
            <a:endParaRPr i="1" sz="1600">
              <a:latin typeface="Times New Roman"/>
              <a:ea typeface="Times New Roman"/>
              <a:cs typeface="Times New Roman"/>
              <a:sym typeface="Times New Roman"/>
            </a:endParaRPr>
          </a:p>
        </p:txBody>
      </p:sp>
      <p:cxnSp>
        <p:nvCxnSpPr>
          <p:cNvPr id="1240" name="Google Shape;1240;p91"/>
          <p:cNvCxnSpPr/>
          <p:nvPr/>
        </p:nvCxnSpPr>
        <p:spPr>
          <a:xfrm>
            <a:off x="2872350" y="1751113"/>
            <a:ext cx="193800" cy="572400"/>
          </a:xfrm>
          <a:prstGeom prst="straightConnector1">
            <a:avLst/>
          </a:prstGeom>
          <a:noFill/>
          <a:ln cap="flat" cmpd="sng" w="9525">
            <a:solidFill>
              <a:schemeClr val="dk2"/>
            </a:solidFill>
            <a:prstDash val="dash"/>
            <a:round/>
            <a:headEnd len="med" w="med" type="none"/>
            <a:tailEnd len="med" w="med" type="none"/>
          </a:ln>
        </p:spPr>
      </p:cxnSp>
      <p:sp>
        <p:nvSpPr>
          <p:cNvPr id="1241" name="Google Shape;1241;p91"/>
          <p:cNvSpPr/>
          <p:nvPr/>
        </p:nvSpPr>
        <p:spPr>
          <a:xfrm flipH="1" rot="10800000">
            <a:off x="4947077" y="1188175"/>
            <a:ext cx="2281800" cy="5724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91"/>
          <p:cNvSpPr txBox="1"/>
          <p:nvPr/>
        </p:nvSpPr>
        <p:spPr>
          <a:xfrm>
            <a:off x="4927276" y="1270272"/>
            <a:ext cx="2576400" cy="41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{entry-&gt;sum(gia_tri) = 0}</a:t>
            </a:r>
            <a:endParaRPr sz="1600">
              <a:latin typeface="Times New Roman"/>
              <a:ea typeface="Times New Roman"/>
              <a:cs typeface="Times New Roman"/>
              <a:sym typeface="Times New Roman"/>
            </a:endParaRPr>
          </a:p>
        </p:txBody>
      </p:sp>
      <p:cxnSp>
        <p:nvCxnSpPr>
          <p:cNvPr id="1243" name="Google Shape;1243;p91"/>
          <p:cNvCxnSpPr/>
          <p:nvPr/>
        </p:nvCxnSpPr>
        <p:spPr>
          <a:xfrm>
            <a:off x="5920350" y="1751113"/>
            <a:ext cx="193800" cy="5724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92"/>
          <p:cNvSpPr/>
          <p:nvPr/>
        </p:nvSpPr>
        <p:spPr>
          <a:xfrm>
            <a:off x="463100" y="3198900"/>
            <a:ext cx="8060100" cy="3059100"/>
          </a:xfrm>
          <a:prstGeom prst="rect">
            <a:avLst/>
          </a:prstGeom>
          <a:solidFill>
            <a:srgbClr val="D0E0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92"/>
          <p:cNvSpPr/>
          <p:nvPr/>
        </p:nvSpPr>
        <p:spPr>
          <a:xfrm>
            <a:off x="463100" y="989100"/>
            <a:ext cx="8060100" cy="19647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92"/>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3.22. Các đối tượng</a:t>
            </a:r>
            <a:r>
              <a:rPr lang="en-GB"/>
              <a:t> tài khoản/giao dịch</a:t>
            </a:r>
            <a:endParaRPr/>
          </a:p>
        </p:txBody>
      </p:sp>
      <p:sp>
        <p:nvSpPr>
          <p:cNvPr id="1251" name="Google Shape;1251;p9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52" name="Google Shape;1252;p92"/>
          <p:cNvSpPr txBox="1"/>
          <p:nvPr/>
        </p:nvSpPr>
        <p:spPr>
          <a:xfrm>
            <a:off x="521400" y="3919475"/>
            <a:ext cx="2405100" cy="7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Trạng thái ban đầu</a:t>
            </a:r>
            <a:endParaRPr i="1" sz="2200">
              <a:latin typeface="Times New Roman"/>
              <a:ea typeface="Times New Roman"/>
              <a:cs typeface="Times New Roman"/>
              <a:sym typeface="Times New Roman"/>
            </a:endParaRPr>
          </a:p>
        </p:txBody>
      </p:sp>
      <p:cxnSp>
        <p:nvCxnSpPr>
          <p:cNvPr id="1253" name="Google Shape;1253;p92"/>
          <p:cNvCxnSpPr/>
          <p:nvPr/>
        </p:nvCxnSpPr>
        <p:spPr>
          <a:xfrm>
            <a:off x="1929800" y="4431125"/>
            <a:ext cx="1209300" cy="319200"/>
          </a:xfrm>
          <a:prstGeom prst="straightConnector1">
            <a:avLst/>
          </a:prstGeom>
          <a:noFill/>
          <a:ln cap="flat" cmpd="sng" w="19050">
            <a:solidFill>
              <a:schemeClr val="dk2"/>
            </a:solidFill>
            <a:prstDash val="dash"/>
            <a:round/>
            <a:headEnd len="med" w="med" type="none"/>
            <a:tailEnd len="med" w="med" type="none"/>
          </a:ln>
        </p:spPr>
      </p:cxnSp>
      <p:sp>
        <p:nvSpPr>
          <p:cNvPr id="1254" name="Google Shape;1254;p92"/>
          <p:cNvSpPr txBox="1"/>
          <p:nvPr>
            <p:ph idx="4294967295" type="body"/>
          </p:nvPr>
        </p:nvSpPr>
        <p:spPr>
          <a:xfrm>
            <a:off x="5137275" y="5701150"/>
            <a:ext cx="2405100" cy="60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GB" sz="2200"/>
              <a:t>Sơ đồ</a:t>
            </a:r>
            <a:r>
              <a:rPr b="1" i="1" lang="en-GB" sz="2200"/>
              <a:t> đối tượng</a:t>
            </a:r>
            <a:endParaRPr b="1" i="1" sz="2200"/>
          </a:p>
        </p:txBody>
      </p:sp>
      <p:sp>
        <p:nvSpPr>
          <p:cNvPr id="1255" name="Google Shape;1255;p92"/>
          <p:cNvSpPr/>
          <p:nvPr/>
        </p:nvSpPr>
        <p:spPr>
          <a:xfrm rot="-1938655">
            <a:off x="4713361" y="2747384"/>
            <a:ext cx="238535" cy="665075"/>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6" name="Google Shape;1256;p92"/>
          <p:cNvGrpSpPr/>
          <p:nvPr/>
        </p:nvGrpSpPr>
        <p:grpSpPr>
          <a:xfrm>
            <a:off x="633300" y="1139552"/>
            <a:ext cx="7572600" cy="1597185"/>
            <a:chOff x="785700" y="1291952"/>
            <a:chExt cx="7572600" cy="1597185"/>
          </a:xfrm>
        </p:grpSpPr>
        <p:sp>
          <p:nvSpPr>
            <p:cNvPr id="1257" name="Google Shape;1257;p92"/>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TaiKhoan</a:t>
              </a:r>
              <a:endParaRPr sz="1800"/>
            </a:p>
          </p:txBody>
        </p:sp>
        <p:sp>
          <p:nvSpPr>
            <p:cNvPr id="1258" name="Google Shape;1258;p92"/>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/so_du</a:t>
              </a:r>
              <a:endParaRPr sz="1800"/>
            </a:p>
          </p:txBody>
        </p:sp>
        <p:sp>
          <p:nvSpPr>
            <p:cNvPr id="1259" name="Google Shape;1259;p92"/>
            <p:cNvSpPr/>
            <p:nvPr/>
          </p:nvSpPr>
          <p:spPr>
            <a:xfrm>
              <a:off x="36813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DanhMuc</a:t>
              </a:r>
              <a:endParaRPr sz="1800"/>
            </a:p>
          </p:txBody>
        </p:sp>
        <p:sp>
          <p:nvSpPr>
            <p:cNvPr id="1260" name="Google Shape;1260;p92"/>
            <p:cNvSpPr/>
            <p:nvPr/>
          </p:nvSpPr>
          <p:spPr>
            <a:xfrm>
              <a:off x="36813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gia_tri</a:t>
              </a:r>
              <a:endParaRPr sz="1800"/>
            </a:p>
          </p:txBody>
        </p:sp>
        <p:sp>
          <p:nvSpPr>
            <p:cNvPr id="1261" name="Google Shape;1261;p92"/>
            <p:cNvSpPr/>
            <p:nvPr/>
          </p:nvSpPr>
          <p:spPr>
            <a:xfrm>
              <a:off x="6576900" y="2053354"/>
              <a:ext cx="17814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GiaoDich</a:t>
              </a:r>
              <a:endParaRPr sz="1800"/>
            </a:p>
          </p:txBody>
        </p:sp>
        <p:cxnSp>
          <p:nvCxnSpPr>
            <p:cNvPr id="1262" name="Google Shape;1262;p92"/>
            <p:cNvCxnSpPr>
              <a:stCxn id="1257" idx="3"/>
              <a:endCxn id="1259" idx="1"/>
            </p:cNvCxnSpPr>
            <p:nvPr/>
          </p:nvCxnSpPr>
          <p:spPr>
            <a:xfrm>
              <a:off x="2567100" y="2318838"/>
              <a:ext cx="1114200" cy="0"/>
            </a:xfrm>
            <a:prstGeom prst="straightConnector1">
              <a:avLst/>
            </a:prstGeom>
            <a:noFill/>
            <a:ln cap="flat" cmpd="sng" w="9525">
              <a:solidFill>
                <a:schemeClr val="dk2"/>
              </a:solidFill>
              <a:prstDash val="solid"/>
              <a:round/>
              <a:headEnd len="med" w="med" type="none"/>
              <a:tailEnd len="med" w="med" type="none"/>
            </a:ln>
          </p:spPr>
        </p:cxnSp>
        <p:cxnSp>
          <p:nvCxnSpPr>
            <p:cNvPr id="1263" name="Google Shape;1263;p92"/>
            <p:cNvCxnSpPr>
              <a:stCxn id="1259" idx="3"/>
              <a:endCxn id="1261" idx="1"/>
            </p:cNvCxnSpPr>
            <p:nvPr/>
          </p:nvCxnSpPr>
          <p:spPr>
            <a:xfrm flipH="1" rot="10800000">
              <a:off x="5462700" y="2315838"/>
              <a:ext cx="1114200" cy="3000"/>
            </a:xfrm>
            <a:prstGeom prst="straightConnector1">
              <a:avLst/>
            </a:prstGeom>
            <a:noFill/>
            <a:ln cap="flat" cmpd="sng" w="9525">
              <a:solidFill>
                <a:schemeClr val="dk2"/>
              </a:solidFill>
              <a:prstDash val="solid"/>
              <a:round/>
              <a:headEnd len="med" w="med" type="none"/>
              <a:tailEnd len="med" w="med" type="none"/>
            </a:ln>
          </p:spPr>
        </p:cxnSp>
        <p:sp>
          <p:nvSpPr>
            <p:cNvPr id="1264" name="Google Shape;1264;p92"/>
            <p:cNvSpPr txBox="1"/>
            <p:nvPr/>
          </p:nvSpPr>
          <p:spPr>
            <a:xfrm>
              <a:off x="2558525" y="2228713"/>
              <a:ext cx="489300" cy="3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p:txBody>
        </p:sp>
        <p:sp>
          <p:nvSpPr>
            <p:cNvPr id="1265" name="Google Shape;1265;p92"/>
            <p:cNvSpPr txBox="1"/>
            <p:nvPr/>
          </p:nvSpPr>
          <p:spPr>
            <a:xfrm>
              <a:off x="3396725" y="2228713"/>
              <a:ext cx="489300" cy="3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
          <p:nvSpPr>
            <p:cNvPr id="1266" name="Google Shape;1266;p92"/>
            <p:cNvSpPr txBox="1"/>
            <p:nvPr/>
          </p:nvSpPr>
          <p:spPr>
            <a:xfrm>
              <a:off x="5454125" y="2228713"/>
              <a:ext cx="489300" cy="3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2</a:t>
              </a:r>
              <a:endParaRPr sz="1800">
                <a:latin typeface="Times New Roman"/>
                <a:ea typeface="Times New Roman"/>
                <a:cs typeface="Times New Roman"/>
                <a:sym typeface="Times New Roman"/>
              </a:endParaRPr>
            </a:p>
          </p:txBody>
        </p:sp>
        <p:sp>
          <p:nvSpPr>
            <p:cNvPr id="1267" name="Google Shape;1267;p92"/>
            <p:cNvSpPr txBox="1"/>
            <p:nvPr/>
          </p:nvSpPr>
          <p:spPr>
            <a:xfrm>
              <a:off x="6292325" y="2228713"/>
              <a:ext cx="489300" cy="3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p:txBody>
        </p:sp>
        <p:sp>
          <p:nvSpPr>
            <p:cNvPr id="1268" name="Google Shape;1268;p92"/>
            <p:cNvSpPr/>
            <p:nvPr/>
          </p:nvSpPr>
          <p:spPr>
            <a:xfrm flipH="1" rot="10800000">
              <a:off x="1903165" y="1291952"/>
              <a:ext cx="2316900" cy="4686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92"/>
            <p:cNvSpPr txBox="1"/>
            <p:nvPr/>
          </p:nvSpPr>
          <p:spPr>
            <a:xfrm>
              <a:off x="1884725" y="1326513"/>
              <a:ext cx="2399700" cy="3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{so_du = entry-&gt;sum(gia_tri)}</a:t>
              </a:r>
              <a:endParaRPr>
                <a:latin typeface="Times New Roman"/>
                <a:ea typeface="Times New Roman"/>
                <a:cs typeface="Times New Roman"/>
                <a:sym typeface="Times New Roman"/>
              </a:endParaRPr>
            </a:p>
          </p:txBody>
        </p:sp>
        <p:sp>
          <p:nvSpPr>
            <p:cNvPr id="1270" name="Google Shape;1270;p92"/>
            <p:cNvSpPr txBox="1"/>
            <p:nvPr/>
          </p:nvSpPr>
          <p:spPr>
            <a:xfrm>
              <a:off x="3158895" y="2000113"/>
              <a:ext cx="717900" cy="3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a:latin typeface="Times New Roman"/>
                  <a:ea typeface="Times New Roman"/>
                  <a:cs typeface="Times New Roman"/>
                  <a:sym typeface="Times New Roman"/>
                </a:rPr>
                <a:t>entry</a:t>
              </a:r>
              <a:endParaRPr i="1">
                <a:latin typeface="Times New Roman"/>
                <a:ea typeface="Times New Roman"/>
                <a:cs typeface="Times New Roman"/>
                <a:sym typeface="Times New Roman"/>
              </a:endParaRPr>
            </a:p>
          </p:txBody>
        </p:sp>
        <p:sp>
          <p:nvSpPr>
            <p:cNvPr id="1271" name="Google Shape;1271;p92"/>
            <p:cNvSpPr txBox="1"/>
            <p:nvPr/>
          </p:nvSpPr>
          <p:spPr>
            <a:xfrm>
              <a:off x="5444895" y="2000113"/>
              <a:ext cx="717900" cy="3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a:latin typeface="Times New Roman"/>
                  <a:ea typeface="Times New Roman"/>
                  <a:cs typeface="Times New Roman"/>
                  <a:sym typeface="Times New Roman"/>
                </a:rPr>
                <a:t>entry</a:t>
              </a:r>
              <a:endParaRPr i="1">
                <a:latin typeface="Times New Roman"/>
                <a:ea typeface="Times New Roman"/>
                <a:cs typeface="Times New Roman"/>
                <a:sym typeface="Times New Roman"/>
              </a:endParaRPr>
            </a:p>
          </p:txBody>
        </p:sp>
        <p:cxnSp>
          <p:nvCxnSpPr>
            <p:cNvPr id="1272" name="Google Shape;1272;p92"/>
            <p:cNvCxnSpPr/>
            <p:nvPr/>
          </p:nvCxnSpPr>
          <p:spPr>
            <a:xfrm>
              <a:off x="2872350" y="1751113"/>
              <a:ext cx="193800" cy="572400"/>
            </a:xfrm>
            <a:prstGeom prst="straightConnector1">
              <a:avLst/>
            </a:prstGeom>
            <a:noFill/>
            <a:ln cap="flat" cmpd="sng" w="9525">
              <a:solidFill>
                <a:schemeClr val="dk2"/>
              </a:solidFill>
              <a:prstDash val="dash"/>
              <a:round/>
              <a:headEnd len="med" w="med" type="none"/>
              <a:tailEnd len="med" w="med" type="none"/>
            </a:ln>
          </p:spPr>
        </p:cxnSp>
        <p:sp>
          <p:nvSpPr>
            <p:cNvPr id="1273" name="Google Shape;1273;p92"/>
            <p:cNvSpPr/>
            <p:nvPr/>
          </p:nvSpPr>
          <p:spPr>
            <a:xfrm flipH="1" rot="10800000">
              <a:off x="5103574" y="1291963"/>
              <a:ext cx="2125500" cy="4686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92"/>
            <p:cNvSpPr txBox="1"/>
            <p:nvPr/>
          </p:nvSpPr>
          <p:spPr>
            <a:xfrm>
              <a:off x="5085125" y="1326513"/>
              <a:ext cx="2070000" cy="3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{entry-&gt;sum(gia_tri) = 0}</a:t>
              </a:r>
              <a:endParaRPr>
                <a:latin typeface="Times New Roman"/>
                <a:ea typeface="Times New Roman"/>
                <a:cs typeface="Times New Roman"/>
                <a:sym typeface="Times New Roman"/>
              </a:endParaRPr>
            </a:p>
          </p:txBody>
        </p:sp>
        <p:cxnSp>
          <p:nvCxnSpPr>
            <p:cNvPr id="1275" name="Google Shape;1275;p92"/>
            <p:cNvCxnSpPr/>
            <p:nvPr/>
          </p:nvCxnSpPr>
          <p:spPr>
            <a:xfrm>
              <a:off x="5920350" y="1751113"/>
              <a:ext cx="193800" cy="572400"/>
            </a:xfrm>
            <a:prstGeom prst="straightConnector1">
              <a:avLst/>
            </a:prstGeom>
            <a:noFill/>
            <a:ln cap="flat" cmpd="sng" w="9525">
              <a:solidFill>
                <a:schemeClr val="dk2"/>
              </a:solidFill>
              <a:prstDash val="dash"/>
              <a:round/>
              <a:headEnd len="med" w="med" type="none"/>
              <a:tailEnd len="med" w="med" type="none"/>
            </a:ln>
          </p:spPr>
        </p:cxnSp>
      </p:grpSp>
      <p:grpSp>
        <p:nvGrpSpPr>
          <p:cNvPr id="1276" name="Google Shape;1276;p92"/>
          <p:cNvGrpSpPr/>
          <p:nvPr/>
        </p:nvGrpSpPr>
        <p:grpSpPr>
          <a:xfrm>
            <a:off x="3155884" y="3429000"/>
            <a:ext cx="2225325" cy="759600"/>
            <a:chOff x="785700" y="2129538"/>
            <a:chExt cx="1781400" cy="759600"/>
          </a:xfrm>
        </p:grpSpPr>
        <p:sp>
          <p:nvSpPr>
            <p:cNvPr id="1277" name="Google Shape;1277;p92"/>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nha_cung_cap:TaiKhoan</a:t>
              </a:r>
              <a:endParaRPr u="sng"/>
            </a:p>
          </p:txBody>
        </p:sp>
        <p:sp>
          <p:nvSpPr>
            <p:cNvPr id="1278" name="Google Shape;1278;p92"/>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0</a:t>
              </a:r>
              <a:endParaRPr/>
            </a:p>
          </p:txBody>
        </p:sp>
      </p:grpSp>
      <p:grpSp>
        <p:nvGrpSpPr>
          <p:cNvPr id="1279" name="Google Shape;1279;p92"/>
          <p:cNvGrpSpPr/>
          <p:nvPr/>
        </p:nvGrpSpPr>
        <p:grpSpPr>
          <a:xfrm>
            <a:off x="3155884" y="4419600"/>
            <a:ext cx="2225325" cy="759600"/>
            <a:chOff x="785700" y="2129538"/>
            <a:chExt cx="1781400" cy="759600"/>
          </a:xfrm>
        </p:grpSpPr>
        <p:sp>
          <p:nvSpPr>
            <p:cNvPr id="1280" name="Google Shape;1280;p92"/>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don_hang_cho</a:t>
              </a:r>
              <a:r>
                <a:rPr lang="en-GB" u="sng"/>
                <a:t>:TaiKhoan</a:t>
              </a:r>
              <a:endParaRPr u="sng"/>
            </a:p>
          </p:txBody>
        </p:sp>
        <p:sp>
          <p:nvSpPr>
            <p:cNvPr id="1281" name="Google Shape;1281;p92"/>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0</a:t>
              </a:r>
              <a:endParaRPr/>
            </a:p>
          </p:txBody>
        </p:sp>
      </p:grpSp>
      <p:grpSp>
        <p:nvGrpSpPr>
          <p:cNvPr id="1282" name="Google Shape;1282;p92"/>
          <p:cNvGrpSpPr/>
          <p:nvPr/>
        </p:nvGrpSpPr>
        <p:grpSpPr>
          <a:xfrm>
            <a:off x="3155825" y="5410200"/>
            <a:ext cx="1906276" cy="759600"/>
            <a:chOff x="785700" y="2129538"/>
            <a:chExt cx="1781400" cy="759600"/>
          </a:xfrm>
        </p:grpSpPr>
        <p:sp>
          <p:nvSpPr>
            <p:cNvPr id="1283" name="Google Shape;1283;p92"/>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ton_kho</a:t>
              </a:r>
              <a:r>
                <a:rPr lang="en-GB" u="sng"/>
                <a:t>:TaiKhoan</a:t>
              </a:r>
              <a:endParaRPr u="sng"/>
            </a:p>
          </p:txBody>
        </p:sp>
        <p:sp>
          <p:nvSpPr>
            <p:cNvPr id="1284" name="Google Shape;1284;p92"/>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0</a:t>
              </a:r>
              <a:endParaRPr/>
            </a:p>
          </p:txBody>
        </p:sp>
      </p:grpSp>
      <p:grpSp>
        <p:nvGrpSpPr>
          <p:cNvPr id="1285" name="Google Shape;1285;p92"/>
          <p:cNvGrpSpPr/>
          <p:nvPr/>
        </p:nvGrpSpPr>
        <p:grpSpPr>
          <a:xfrm>
            <a:off x="6359575" y="3417275"/>
            <a:ext cx="1906276" cy="759600"/>
            <a:chOff x="785700" y="2129538"/>
            <a:chExt cx="1781400" cy="759600"/>
          </a:xfrm>
        </p:grpSpPr>
        <p:sp>
          <p:nvSpPr>
            <p:cNvPr id="1286" name="Google Shape;1286;p92"/>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da_ban</a:t>
              </a:r>
              <a:r>
                <a:rPr lang="en-GB" u="sng"/>
                <a:t>:TaiKhoan</a:t>
              </a:r>
              <a:endParaRPr u="sng"/>
            </a:p>
          </p:txBody>
        </p:sp>
        <p:sp>
          <p:nvSpPr>
            <p:cNvPr id="1287" name="Google Shape;1287;p92"/>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0</a:t>
              </a:r>
              <a:endParaRPr/>
            </a:p>
          </p:txBody>
        </p:sp>
      </p:grpSp>
      <p:grpSp>
        <p:nvGrpSpPr>
          <p:cNvPr id="1288" name="Google Shape;1288;p92"/>
          <p:cNvGrpSpPr/>
          <p:nvPr/>
        </p:nvGrpSpPr>
        <p:grpSpPr>
          <a:xfrm>
            <a:off x="6359575" y="4303250"/>
            <a:ext cx="1906276" cy="759600"/>
            <a:chOff x="785700" y="2129538"/>
            <a:chExt cx="1781400" cy="759600"/>
          </a:xfrm>
        </p:grpSpPr>
        <p:sp>
          <p:nvSpPr>
            <p:cNvPr id="1289" name="Google Shape;1289;p92"/>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da_chuyen</a:t>
              </a:r>
              <a:r>
                <a:rPr lang="en-GB" u="sng"/>
                <a:t>:TaiKhoan</a:t>
              </a:r>
              <a:endParaRPr u="sng"/>
            </a:p>
          </p:txBody>
        </p:sp>
        <p:sp>
          <p:nvSpPr>
            <p:cNvPr id="1290" name="Google Shape;1290;p92"/>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0</a:t>
              </a:r>
              <a:endParaRPr/>
            </a:p>
          </p:txBody>
        </p:sp>
      </p:gr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p93"/>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3.22. </a:t>
            </a:r>
            <a:r>
              <a:rPr lang="en-GB" sz="3200"/>
              <a:t>Các đối tượng tài khoản/giao dịch</a:t>
            </a:r>
            <a:r>
              <a:rPr baseline="-25000" lang="en-GB" sz="3200"/>
              <a:t>(2)</a:t>
            </a:r>
            <a:endParaRPr baseline="-25000" sz="3200"/>
          </a:p>
        </p:txBody>
      </p:sp>
      <p:sp>
        <p:nvSpPr>
          <p:cNvPr id="1296" name="Google Shape;1296;p93"/>
          <p:cNvSpPr txBox="1"/>
          <p:nvPr>
            <p:ph idx="4294967295" type="body"/>
          </p:nvPr>
        </p:nvSpPr>
        <p:spPr>
          <a:xfrm>
            <a:off x="933850" y="5772275"/>
            <a:ext cx="7107900" cy="57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sz="2200"/>
              <a:t>Trạng thái sau khi đặt mua từ nhà cung cấp</a:t>
            </a:r>
            <a:endParaRPr i="1" sz="2200"/>
          </a:p>
        </p:txBody>
      </p:sp>
      <p:sp>
        <p:nvSpPr>
          <p:cNvPr id="1297" name="Google Shape;1297;p9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pSp>
        <p:nvGrpSpPr>
          <p:cNvPr id="1298" name="Google Shape;1298;p93"/>
          <p:cNvGrpSpPr/>
          <p:nvPr/>
        </p:nvGrpSpPr>
        <p:grpSpPr>
          <a:xfrm>
            <a:off x="1022284" y="1066800"/>
            <a:ext cx="2225325" cy="759600"/>
            <a:chOff x="785700" y="2129538"/>
            <a:chExt cx="1781400" cy="759600"/>
          </a:xfrm>
        </p:grpSpPr>
        <p:sp>
          <p:nvSpPr>
            <p:cNvPr id="1299" name="Google Shape;1299;p93"/>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nha_cung_cap:TaiKhoan</a:t>
              </a:r>
              <a:endParaRPr u="sng"/>
            </a:p>
          </p:txBody>
        </p:sp>
        <p:sp>
          <p:nvSpPr>
            <p:cNvPr id="1300" name="Google Shape;1300;p93"/>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-50</a:t>
              </a:r>
              <a:endParaRPr/>
            </a:p>
          </p:txBody>
        </p:sp>
      </p:grpSp>
      <p:grpSp>
        <p:nvGrpSpPr>
          <p:cNvPr id="1301" name="Google Shape;1301;p93"/>
          <p:cNvGrpSpPr/>
          <p:nvPr/>
        </p:nvGrpSpPr>
        <p:grpSpPr>
          <a:xfrm>
            <a:off x="1022284" y="2057400"/>
            <a:ext cx="2225325" cy="759600"/>
            <a:chOff x="785700" y="2129538"/>
            <a:chExt cx="1781400" cy="759600"/>
          </a:xfrm>
        </p:grpSpPr>
        <p:sp>
          <p:nvSpPr>
            <p:cNvPr id="1302" name="Google Shape;1302;p93"/>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don_hang_cho:TaiKhoan</a:t>
              </a:r>
              <a:endParaRPr u="sng"/>
            </a:p>
          </p:txBody>
        </p:sp>
        <p:sp>
          <p:nvSpPr>
            <p:cNvPr id="1303" name="Google Shape;1303;p93"/>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50</a:t>
              </a:r>
              <a:endParaRPr/>
            </a:p>
          </p:txBody>
        </p:sp>
      </p:grpSp>
      <p:grpSp>
        <p:nvGrpSpPr>
          <p:cNvPr id="1304" name="Google Shape;1304;p93"/>
          <p:cNvGrpSpPr/>
          <p:nvPr/>
        </p:nvGrpSpPr>
        <p:grpSpPr>
          <a:xfrm>
            <a:off x="1022242" y="3047995"/>
            <a:ext cx="1958115" cy="759600"/>
            <a:chOff x="785700" y="2129538"/>
            <a:chExt cx="1781400" cy="759600"/>
          </a:xfrm>
        </p:grpSpPr>
        <p:sp>
          <p:nvSpPr>
            <p:cNvPr id="1305" name="Google Shape;1305;p93"/>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ton_kho:TaiKhoan</a:t>
              </a:r>
              <a:endParaRPr u="sng"/>
            </a:p>
          </p:txBody>
        </p:sp>
        <p:sp>
          <p:nvSpPr>
            <p:cNvPr id="1306" name="Google Shape;1306;p93"/>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0</a:t>
              </a:r>
              <a:endParaRPr/>
            </a:p>
          </p:txBody>
        </p:sp>
      </p:grpSp>
      <p:grpSp>
        <p:nvGrpSpPr>
          <p:cNvPr id="1307" name="Google Shape;1307;p93"/>
          <p:cNvGrpSpPr/>
          <p:nvPr/>
        </p:nvGrpSpPr>
        <p:grpSpPr>
          <a:xfrm>
            <a:off x="1022242" y="3999491"/>
            <a:ext cx="1958115" cy="759600"/>
            <a:chOff x="785700" y="2129538"/>
            <a:chExt cx="1781400" cy="759600"/>
          </a:xfrm>
        </p:grpSpPr>
        <p:sp>
          <p:nvSpPr>
            <p:cNvPr id="1308" name="Google Shape;1308;p93"/>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da_ban:TaiKhoan</a:t>
              </a:r>
              <a:endParaRPr u="sng"/>
            </a:p>
          </p:txBody>
        </p:sp>
        <p:sp>
          <p:nvSpPr>
            <p:cNvPr id="1309" name="Google Shape;1309;p93"/>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0</a:t>
              </a:r>
              <a:endParaRPr/>
            </a:p>
          </p:txBody>
        </p:sp>
      </p:grpSp>
      <p:grpSp>
        <p:nvGrpSpPr>
          <p:cNvPr id="1310" name="Google Shape;1310;p93"/>
          <p:cNvGrpSpPr/>
          <p:nvPr/>
        </p:nvGrpSpPr>
        <p:grpSpPr>
          <a:xfrm>
            <a:off x="1022242" y="4961668"/>
            <a:ext cx="1958115" cy="759600"/>
            <a:chOff x="785700" y="2129538"/>
            <a:chExt cx="1781400" cy="759600"/>
          </a:xfrm>
        </p:grpSpPr>
        <p:sp>
          <p:nvSpPr>
            <p:cNvPr id="1311" name="Google Shape;1311;p93"/>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da_chuyen:TaiKhoan</a:t>
              </a:r>
              <a:endParaRPr u="sng"/>
            </a:p>
          </p:txBody>
        </p:sp>
        <p:sp>
          <p:nvSpPr>
            <p:cNvPr id="1312" name="Google Shape;1312;p93"/>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0</a:t>
              </a:r>
              <a:endParaRPr/>
            </a:p>
          </p:txBody>
        </p:sp>
      </p:grpSp>
      <p:grpSp>
        <p:nvGrpSpPr>
          <p:cNvPr id="1313" name="Google Shape;1313;p93"/>
          <p:cNvGrpSpPr/>
          <p:nvPr/>
        </p:nvGrpSpPr>
        <p:grpSpPr>
          <a:xfrm>
            <a:off x="4211311" y="1066801"/>
            <a:ext cx="1437412" cy="759600"/>
            <a:chOff x="785700" y="2129538"/>
            <a:chExt cx="1781400" cy="759600"/>
          </a:xfrm>
        </p:grpSpPr>
        <p:sp>
          <p:nvSpPr>
            <p:cNvPr id="1314" name="Google Shape;1314;p93"/>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_</a:t>
              </a:r>
              <a:r>
                <a:rPr lang="en-GB" u="sng"/>
                <a:t>:</a:t>
              </a:r>
              <a:r>
                <a:rPr lang="en-GB" u="sng"/>
                <a:t>DanhMuc</a:t>
              </a:r>
              <a:endParaRPr u="sng"/>
            </a:p>
          </p:txBody>
        </p:sp>
        <p:sp>
          <p:nvSpPr>
            <p:cNvPr id="1315" name="Google Shape;1315;p93"/>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gia_tri</a:t>
              </a:r>
              <a:r>
                <a:rPr lang="en-GB"/>
                <a:t> = -50</a:t>
              </a:r>
              <a:endParaRPr/>
            </a:p>
          </p:txBody>
        </p:sp>
      </p:grpSp>
      <p:grpSp>
        <p:nvGrpSpPr>
          <p:cNvPr id="1316" name="Google Shape;1316;p93"/>
          <p:cNvGrpSpPr/>
          <p:nvPr/>
        </p:nvGrpSpPr>
        <p:grpSpPr>
          <a:xfrm>
            <a:off x="4211311" y="2056667"/>
            <a:ext cx="1437412" cy="759600"/>
            <a:chOff x="785700" y="2129538"/>
            <a:chExt cx="1781400" cy="759600"/>
          </a:xfrm>
        </p:grpSpPr>
        <p:sp>
          <p:nvSpPr>
            <p:cNvPr id="1317" name="Google Shape;1317;p93"/>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_</a:t>
              </a:r>
              <a:r>
                <a:rPr lang="en-GB" u="sng"/>
                <a:t>:</a:t>
              </a:r>
              <a:r>
                <a:rPr lang="en-GB" u="sng"/>
                <a:t>DanhMuc</a:t>
              </a:r>
              <a:endParaRPr u="sng"/>
            </a:p>
          </p:txBody>
        </p:sp>
        <p:sp>
          <p:nvSpPr>
            <p:cNvPr id="1318" name="Google Shape;1318;p93"/>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gia_tri</a:t>
              </a:r>
              <a:r>
                <a:rPr lang="en-GB"/>
                <a:t> = 50</a:t>
              </a:r>
              <a:endParaRPr/>
            </a:p>
          </p:txBody>
        </p:sp>
      </p:grpSp>
      <p:sp>
        <p:nvSpPr>
          <p:cNvPr id="1319" name="Google Shape;1319;p93"/>
          <p:cNvSpPr/>
          <p:nvPr/>
        </p:nvSpPr>
        <p:spPr>
          <a:xfrm>
            <a:off x="6802075" y="1066800"/>
            <a:ext cx="17172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dat_mua</a:t>
            </a:r>
            <a:r>
              <a:rPr lang="en-GB" u="sng"/>
              <a:t>:</a:t>
            </a:r>
            <a:r>
              <a:rPr lang="en-GB" u="sng"/>
              <a:t>GiaoDich</a:t>
            </a:r>
            <a:endParaRPr u="sng"/>
          </a:p>
        </p:txBody>
      </p:sp>
      <p:cxnSp>
        <p:nvCxnSpPr>
          <p:cNvPr id="1320" name="Google Shape;1320;p93"/>
          <p:cNvCxnSpPr>
            <a:stCxn id="1314" idx="3"/>
            <a:endCxn id="1319" idx="1"/>
          </p:cNvCxnSpPr>
          <p:nvPr/>
        </p:nvCxnSpPr>
        <p:spPr>
          <a:xfrm>
            <a:off x="5648722" y="1256101"/>
            <a:ext cx="1153500" cy="72900"/>
          </a:xfrm>
          <a:prstGeom prst="straightConnector1">
            <a:avLst/>
          </a:prstGeom>
          <a:noFill/>
          <a:ln cap="flat" cmpd="sng" w="9525">
            <a:solidFill>
              <a:schemeClr val="dk2"/>
            </a:solidFill>
            <a:prstDash val="solid"/>
            <a:round/>
            <a:headEnd len="med" w="med" type="none"/>
            <a:tailEnd len="med" w="med" type="none"/>
          </a:ln>
        </p:spPr>
      </p:cxnSp>
      <p:cxnSp>
        <p:nvCxnSpPr>
          <p:cNvPr id="1321" name="Google Shape;1321;p93"/>
          <p:cNvCxnSpPr>
            <a:stCxn id="1317" idx="3"/>
            <a:endCxn id="1319" idx="1"/>
          </p:cNvCxnSpPr>
          <p:nvPr/>
        </p:nvCxnSpPr>
        <p:spPr>
          <a:xfrm flipH="1" rot="10800000">
            <a:off x="5648722" y="1329167"/>
            <a:ext cx="1153500" cy="916800"/>
          </a:xfrm>
          <a:prstGeom prst="straightConnector1">
            <a:avLst/>
          </a:prstGeom>
          <a:noFill/>
          <a:ln cap="flat" cmpd="sng" w="9525">
            <a:solidFill>
              <a:schemeClr val="dk2"/>
            </a:solidFill>
            <a:prstDash val="solid"/>
            <a:round/>
            <a:headEnd len="med" w="med" type="none"/>
            <a:tailEnd len="med" w="med" type="none"/>
          </a:ln>
        </p:spPr>
      </p:cxnSp>
      <p:cxnSp>
        <p:nvCxnSpPr>
          <p:cNvPr id="1322" name="Google Shape;1322;p93"/>
          <p:cNvCxnSpPr>
            <a:stCxn id="1299" idx="3"/>
            <a:endCxn id="1314" idx="1"/>
          </p:cNvCxnSpPr>
          <p:nvPr/>
        </p:nvCxnSpPr>
        <p:spPr>
          <a:xfrm>
            <a:off x="3247609" y="1256100"/>
            <a:ext cx="963600" cy="0"/>
          </a:xfrm>
          <a:prstGeom prst="straightConnector1">
            <a:avLst/>
          </a:prstGeom>
          <a:noFill/>
          <a:ln cap="flat" cmpd="sng" w="9525">
            <a:solidFill>
              <a:schemeClr val="dk2"/>
            </a:solidFill>
            <a:prstDash val="solid"/>
            <a:round/>
            <a:headEnd len="med" w="med" type="none"/>
            <a:tailEnd len="med" w="med" type="none"/>
          </a:ln>
        </p:spPr>
      </p:cxnSp>
      <p:cxnSp>
        <p:nvCxnSpPr>
          <p:cNvPr id="1323" name="Google Shape;1323;p93"/>
          <p:cNvCxnSpPr>
            <a:stCxn id="1302" idx="3"/>
            <a:endCxn id="1317" idx="1"/>
          </p:cNvCxnSpPr>
          <p:nvPr/>
        </p:nvCxnSpPr>
        <p:spPr>
          <a:xfrm flipH="1" rot="10800000">
            <a:off x="3247609" y="2246100"/>
            <a:ext cx="963600" cy="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sp>
        <p:nvSpPr>
          <p:cNvPr id="1328" name="Google Shape;1328;p94"/>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GB"/>
              <a:t>Ví dụ 3.22. </a:t>
            </a:r>
            <a:r>
              <a:rPr lang="en-GB" sz="3200"/>
              <a:t>Các đối tượng tài khoản/giao dịch</a:t>
            </a:r>
            <a:r>
              <a:rPr baseline="-25000" lang="en-GB" sz="3200"/>
              <a:t>(</a:t>
            </a:r>
            <a:r>
              <a:rPr baseline="-25000" lang="en-GB"/>
              <a:t>3</a:t>
            </a:r>
            <a:r>
              <a:rPr baseline="-25000" lang="en-GB" sz="3200"/>
              <a:t>)</a:t>
            </a:r>
            <a:endParaRPr baseline="-25000" sz="3200"/>
          </a:p>
        </p:txBody>
      </p:sp>
      <p:sp>
        <p:nvSpPr>
          <p:cNvPr id="1329" name="Google Shape;1329;p94"/>
          <p:cNvSpPr txBox="1"/>
          <p:nvPr>
            <p:ph idx="4294967295" type="body"/>
          </p:nvPr>
        </p:nvSpPr>
        <p:spPr>
          <a:xfrm>
            <a:off x="932784" y="5772275"/>
            <a:ext cx="7764900" cy="57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sz="2200"/>
              <a:t>Trạng thái sau khi nhập 1 phần hàng từ nhà cung cấp</a:t>
            </a:r>
            <a:endParaRPr i="1" sz="2200"/>
          </a:p>
        </p:txBody>
      </p:sp>
      <p:sp>
        <p:nvSpPr>
          <p:cNvPr id="1330" name="Google Shape;1330;p9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pSp>
        <p:nvGrpSpPr>
          <p:cNvPr id="1331" name="Google Shape;1331;p94"/>
          <p:cNvGrpSpPr/>
          <p:nvPr/>
        </p:nvGrpSpPr>
        <p:grpSpPr>
          <a:xfrm>
            <a:off x="1022284" y="1066800"/>
            <a:ext cx="2225325" cy="759600"/>
            <a:chOff x="785700" y="2129538"/>
            <a:chExt cx="1781400" cy="759600"/>
          </a:xfrm>
        </p:grpSpPr>
        <p:sp>
          <p:nvSpPr>
            <p:cNvPr id="1332" name="Google Shape;1332;p94"/>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nha_cung_cap:TaiKhoan</a:t>
              </a:r>
              <a:endParaRPr u="sng"/>
            </a:p>
          </p:txBody>
        </p:sp>
        <p:sp>
          <p:nvSpPr>
            <p:cNvPr id="1333" name="Google Shape;1333;p94"/>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-50</a:t>
              </a:r>
              <a:endParaRPr/>
            </a:p>
          </p:txBody>
        </p:sp>
      </p:grpSp>
      <p:grpSp>
        <p:nvGrpSpPr>
          <p:cNvPr id="1334" name="Google Shape;1334;p94"/>
          <p:cNvGrpSpPr/>
          <p:nvPr/>
        </p:nvGrpSpPr>
        <p:grpSpPr>
          <a:xfrm>
            <a:off x="1022284" y="2057400"/>
            <a:ext cx="2225325" cy="759600"/>
            <a:chOff x="785700" y="2129538"/>
            <a:chExt cx="1781400" cy="759600"/>
          </a:xfrm>
        </p:grpSpPr>
        <p:sp>
          <p:nvSpPr>
            <p:cNvPr id="1335" name="Google Shape;1335;p94"/>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don_hang_cho:TaiKhoan</a:t>
              </a:r>
              <a:endParaRPr u="sng"/>
            </a:p>
          </p:txBody>
        </p:sp>
        <p:sp>
          <p:nvSpPr>
            <p:cNvPr id="1336" name="Google Shape;1336;p94"/>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a:t>
              </a:r>
              <a:r>
                <a:rPr lang="en-GB"/>
                <a:t>10</a:t>
              </a:r>
              <a:endParaRPr/>
            </a:p>
          </p:txBody>
        </p:sp>
      </p:grpSp>
      <p:grpSp>
        <p:nvGrpSpPr>
          <p:cNvPr id="1337" name="Google Shape;1337;p94"/>
          <p:cNvGrpSpPr/>
          <p:nvPr/>
        </p:nvGrpSpPr>
        <p:grpSpPr>
          <a:xfrm>
            <a:off x="1022242" y="3047995"/>
            <a:ext cx="1958115" cy="759600"/>
            <a:chOff x="785700" y="2129538"/>
            <a:chExt cx="1781400" cy="759600"/>
          </a:xfrm>
        </p:grpSpPr>
        <p:sp>
          <p:nvSpPr>
            <p:cNvPr id="1338" name="Google Shape;1338;p94"/>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ton_kho:TaiKhoan</a:t>
              </a:r>
              <a:endParaRPr u="sng"/>
            </a:p>
          </p:txBody>
        </p:sp>
        <p:sp>
          <p:nvSpPr>
            <p:cNvPr id="1339" name="Google Shape;1339;p94"/>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40</a:t>
              </a:r>
              <a:endParaRPr/>
            </a:p>
          </p:txBody>
        </p:sp>
      </p:grpSp>
      <p:grpSp>
        <p:nvGrpSpPr>
          <p:cNvPr id="1340" name="Google Shape;1340;p94"/>
          <p:cNvGrpSpPr/>
          <p:nvPr/>
        </p:nvGrpSpPr>
        <p:grpSpPr>
          <a:xfrm>
            <a:off x="1022242" y="3999491"/>
            <a:ext cx="1958115" cy="759600"/>
            <a:chOff x="785700" y="2129538"/>
            <a:chExt cx="1781400" cy="759600"/>
          </a:xfrm>
        </p:grpSpPr>
        <p:sp>
          <p:nvSpPr>
            <p:cNvPr id="1341" name="Google Shape;1341;p94"/>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da_ban:TaiKhoan</a:t>
              </a:r>
              <a:endParaRPr u="sng"/>
            </a:p>
          </p:txBody>
        </p:sp>
        <p:sp>
          <p:nvSpPr>
            <p:cNvPr id="1342" name="Google Shape;1342;p94"/>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0</a:t>
              </a:r>
              <a:endParaRPr/>
            </a:p>
          </p:txBody>
        </p:sp>
      </p:grpSp>
      <p:grpSp>
        <p:nvGrpSpPr>
          <p:cNvPr id="1343" name="Google Shape;1343;p94"/>
          <p:cNvGrpSpPr/>
          <p:nvPr/>
        </p:nvGrpSpPr>
        <p:grpSpPr>
          <a:xfrm>
            <a:off x="1022242" y="4961668"/>
            <a:ext cx="1958115" cy="759600"/>
            <a:chOff x="785700" y="2129538"/>
            <a:chExt cx="1781400" cy="759600"/>
          </a:xfrm>
        </p:grpSpPr>
        <p:sp>
          <p:nvSpPr>
            <p:cNvPr id="1344" name="Google Shape;1344;p94"/>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da_chuyen:TaiKhoan</a:t>
              </a:r>
              <a:endParaRPr u="sng"/>
            </a:p>
          </p:txBody>
        </p:sp>
        <p:sp>
          <p:nvSpPr>
            <p:cNvPr id="1345" name="Google Shape;1345;p94"/>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0</a:t>
              </a:r>
              <a:endParaRPr/>
            </a:p>
          </p:txBody>
        </p:sp>
      </p:grpSp>
      <p:grpSp>
        <p:nvGrpSpPr>
          <p:cNvPr id="1346" name="Google Shape;1346;p94"/>
          <p:cNvGrpSpPr/>
          <p:nvPr/>
        </p:nvGrpSpPr>
        <p:grpSpPr>
          <a:xfrm>
            <a:off x="4211294" y="1066817"/>
            <a:ext cx="1437412" cy="674221"/>
            <a:chOff x="785700" y="2129538"/>
            <a:chExt cx="1781400" cy="759600"/>
          </a:xfrm>
        </p:grpSpPr>
        <p:sp>
          <p:nvSpPr>
            <p:cNvPr id="1347" name="Google Shape;1347;p94"/>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_:DanhMuc</a:t>
              </a:r>
              <a:endParaRPr u="sng"/>
            </a:p>
          </p:txBody>
        </p:sp>
        <p:sp>
          <p:nvSpPr>
            <p:cNvPr id="1348" name="Google Shape;1348;p94"/>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gia_tri = -50</a:t>
              </a:r>
              <a:endParaRPr/>
            </a:p>
          </p:txBody>
        </p:sp>
      </p:grpSp>
      <p:grpSp>
        <p:nvGrpSpPr>
          <p:cNvPr id="1349" name="Google Shape;1349;p94"/>
          <p:cNvGrpSpPr/>
          <p:nvPr/>
        </p:nvGrpSpPr>
        <p:grpSpPr>
          <a:xfrm>
            <a:off x="4211294" y="1945414"/>
            <a:ext cx="1437412" cy="674221"/>
            <a:chOff x="785700" y="2129538"/>
            <a:chExt cx="1781400" cy="759600"/>
          </a:xfrm>
        </p:grpSpPr>
        <p:sp>
          <p:nvSpPr>
            <p:cNvPr id="1350" name="Google Shape;1350;p94"/>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_:DanhMuc</a:t>
              </a:r>
              <a:endParaRPr u="sng"/>
            </a:p>
          </p:txBody>
        </p:sp>
        <p:sp>
          <p:nvSpPr>
            <p:cNvPr id="1351" name="Google Shape;1351;p94"/>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gia_tri = 50</a:t>
              </a:r>
              <a:endParaRPr/>
            </a:p>
          </p:txBody>
        </p:sp>
      </p:grpSp>
      <p:sp>
        <p:nvSpPr>
          <p:cNvPr id="1352" name="Google Shape;1352;p94"/>
          <p:cNvSpPr/>
          <p:nvPr/>
        </p:nvSpPr>
        <p:spPr>
          <a:xfrm>
            <a:off x="6802075" y="1066800"/>
            <a:ext cx="17172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dat_mua:GiaoDich</a:t>
            </a:r>
            <a:endParaRPr u="sng"/>
          </a:p>
        </p:txBody>
      </p:sp>
      <p:cxnSp>
        <p:nvCxnSpPr>
          <p:cNvPr id="1353" name="Google Shape;1353;p94"/>
          <p:cNvCxnSpPr>
            <a:stCxn id="1347" idx="3"/>
            <a:endCxn id="1352" idx="1"/>
          </p:cNvCxnSpPr>
          <p:nvPr/>
        </p:nvCxnSpPr>
        <p:spPr>
          <a:xfrm>
            <a:off x="5648706" y="1234840"/>
            <a:ext cx="1153500" cy="94200"/>
          </a:xfrm>
          <a:prstGeom prst="straightConnector1">
            <a:avLst/>
          </a:prstGeom>
          <a:noFill/>
          <a:ln cap="flat" cmpd="sng" w="9525">
            <a:solidFill>
              <a:schemeClr val="dk2"/>
            </a:solidFill>
            <a:prstDash val="solid"/>
            <a:round/>
            <a:headEnd len="med" w="med" type="none"/>
            <a:tailEnd len="med" w="med" type="none"/>
          </a:ln>
        </p:spPr>
      </p:cxnSp>
      <p:cxnSp>
        <p:nvCxnSpPr>
          <p:cNvPr id="1354" name="Google Shape;1354;p94"/>
          <p:cNvCxnSpPr>
            <a:stCxn id="1350" idx="3"/>
            <a:endCxn id="1352" idx="1"/>
          </p:cNvCxnSpPr>
          <p:nvPr/>
        </p:nvCxnSpPr>
        <p:spPr>
          <a:xfrm flipH="1" rot="10800000">
            <a:off x="5648706" y="1329237"/>
            <a:ext cx="1153500" cy="784200"/>
          </a:xfrm>
          <a:prstGeom prst="straightConnector1">
            <a:avLst/>
          </a:prstGeom>
          <a:noFill/>
          <a:ln cap="flat" cmpd="sng" w="9525">
            <a:solidFill>
              <a:schemeClr val="dk2"/>
            </a:solidFill>
            <a:prstDash val="solid"/>
            <a:round/>
            <a:headEnd len="med" w="med" type="none"/>
            <a:tailEnd len="med" w="med" type="none"/>
          </a:ln>
        </p:spPr>
      </p:cxnSp>
      <p:cxnSp>
        <p:nvCxnSpPr>
          <p:cNvPr id="1355" name="Google Shape;1355;p94"/>
          <p:cNvCxnSpPr>
            <a:stCxn id="1332" idx="3"/>
            <a:endCxn id="1347" idx="1"/>
          </p:cNvCxnSpPr>
          <p:nvPr/>
        </p:nvCxnSpPr>
        <p:spPr>
          <a:xfrm flipH="1" rot="10800000">
            <a:off x="3247609" y="1234800"/>
            <a:ext cx="963600" cy="21300"/>
          </a:xfrm>
          <a:prstGeom prst="straightConnector1">
            <a:avLst/>
          </a:prstGeom>
          <a:noFill/>
          <a:ln cap="flat" cmpd="sng" w="9525">
            <a:solidFill>
              <a:schemeClr val="dk2"/>
            </a:solidFill>
            <a:prstDash val="solid"/>
            <a:round/>
            <a:headEnd len="med" w="med" type="none"/>
            <a:tailEnd len="med" w="med" type="none"/>
          </a:ln>
        </p:spPr>
      </p:cxnSp>
      <p:cxnSp>
        <p:nvCxnSpPr>
          <p:cNvPr id="1356" name="Google Shape;1356;p94"/>
          <p:cNvCxnSpPr>
            <a:stCxn id="1335" idx="3"/>
            <a:endCxn id="1350" idx="1"/>
          </p:cNvCxnSpPr>
          <p:nvPr/>
        </p:nvCxnSpPr>
        <p:spPr>
          <a:xfrm flipH="1" rot="10800000">
            <a:off x="3247609" y="2113500"/>
            <a:ext cx="963600" cy="133200"/>
          </a:xfrm>
          <a:prstGeom prst="straightConnector1">
            <a:avLst/>
          </a:prstGeom>
          <a:noFill/>
          <a:ln cap="flat" cmpd="sng" w="9525">
            <a:solidFill>
              <a:schemeClr val="dk2"/>
            </a:solidFill>
            <a:prstDash val="solid"/>
            <a:round/>
            <a:headEnd len="med" w="med" type="none"/>
            <a:tailEnd len="med" w="med" type="none"/>
          </a:ln>
        </p:spPr>
      </p:cxnSp>
      <p:sp>
        <p:nvSpPr>
          <p:cNvPr id="1357" name="Google Shape;1357;p94"/>
          <p:cNvSpPr/>
          <p:nvPr/>
        </p:nvSpPr>
        <p:spPr>
          <a:xfrm>
            <a:off x="6802225" y="2819400"/>
            <a:ext cx="1793400" cy="524700"/>
          </a:xfrm>
          <a:prstGeom prst="rect">
            <a:avLst/>
          </a:prstGeom>
          <a:noFill/>
          <a:ln cap="flat" cmpd="sng" w="9525">
            <a:solidFill>
              <a:schemeClr val="dk2"/>
            </a:solidFill>
            <a:prstDash val="solid"/>
            <a:round/>
            <a:headEnd len="sm" w="sm" type="none"/>
            <a:tailEnd len="sm" w="sm" type="none"/>
          </a:ln>
        </p:spPr>
        <p:txBody>
          <a:bodyPr anchorCtr="0" anchor="ctr" bIns="91425" lIns="54000" spcFirstLastPara="1" rIns="54000" wrap="square" tIns="91425">
            <a:noAutofit/>
          </a:bodyPr>
          <a:lstStyle/>
          <a:p>
            <a:pPr indent="0" lvl="0" marL="0" rtl="0" algn="ctr">
              <a:spcBef>
                <a:spcPts val="0"/>
              </a:spcBef>
              <a:spcAft>
                <a:spcPts val="0"/>
              </a:spcAft>
              <a:buNone/>
            </a:pPr>
            <a:r>
              <a:rPr lang="en-GB" u="sng"/>
              <a:t>nhap_hang</a:t>
            </a:r>
            <a:r>
              <a:rPr lang="en-GB" u="sng"/>
              <a:t>:GiaoDich</a:t>
            </a:r>
            <a:endParaRPr u="sng"/>
          </a:p>
        </p:txBody>
      </p:sp>
      <p:grpSp>
        <p:nvGrpSpPr>
          <p:cNvPr id="1358" name="Google Shape;1358;p94"/>
          <p:cNvGrpSpPr/>
          <p:nvPr/>
        </p:nvGrpSpPr>
        <p:grpSpPr>
          <a:xfrm>
            <a:off x="4211294" y="2757680"/>
            <a:ext cx="1437412" cy="674221"/>
            <a:chOff x="785700" y="2129538"/>
            <a:chExt cx="1781400" cy="759600"/>
          </a:xfrm>
        </p:grpSpPr>
        <p:sp>
          <p:nvSpPr>
            <p:cNvPr id="1359" name="Google Shape;1359;p94"/>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_:DanhMuc</a:t>
              </a:r>
              <a:endParaRPr u="sng"/>
            </a:p>
          </p:txBody>
        </p:sp>
        <p:sp>
          <p:nvSpPr>
            <p:cNvPr id="1360" name="Google Shape;1360;p94"/>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gia_tri = -40</a:t>
              </a:r>
              <a:endParaRPr/>
            </a:p>
          </p:txBody>
        </p:sp>
      </p:grpSp>
      <p:grpSp>
        <p:nvGrpSpPr>
          <p:cNvPr id="1361" name="Google Shape;1361;p94"/>
          <p:cNvGrpSpPr/>
          <p:nvPr/>
        </p:nvGrpSpPr>
        <p:grpSpPr>
          <a:xfrm>
            <a:off x="4211294" y="3636277"/>
            <a:ext cx="1437412" cy="674221"/>
            <a:chOff x="785700" y="2129538"/>
            <a:chExt cx="1781400" cy="759600"/>
          </a:xfrm>
        </p:grpSpPr>
        <p:sp>
          <p:nvSpPr>
            <p:cNvPr id="1362" name="Google Shape;1362;p94"/>
            <p:cNvSpPr/>
            <p:nvPr/>
          </p:nvSpPr>
          <p:spPr>
            <a:xfrm>
              <a:off x="785700" y="2129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_:DanhMuc</a:t>
              </a:r>
              <a:endParaRPr u="sng"/>
            </a:p>
          </p:txBody>
        </p:sp>
        <p:sp>
          <p:nvSpPr>
            <p:cNvPr id="1363" name="Google Shape;1363;p94"/>
            <p:cNvSpPr/>
            <p:nvPr/>
          </p:nvSpPr>
          <p:spPr>
            <a:xfrm>
              <a:off x="785700" y="2510538"/>
              <a:ext cx="17814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gia_tri = 40</a:t>
              </a:r>
              <a:endParaRPr/>
            </a:p>
          </p:txBody>
        </p:sp>
      </p:grpSp>
      <p:cxnSp>
        <p:nvCxnSpPr>
          <p:cNvPr id="1364" name="Google Shape;1364;p94"/>
          <p:cNvCxnSpPr>
            <a:endCxn id="1359" idx="1"/>
          </p:cNvCxnSpPr>
          <p:nvPr/>
        </p:nvCxnSpPr>
        <p:spPr>
          <a:xfrm>
            <a:off x="3247694" y="2246803"/>
            <a:ext cx="963600" cy="678900"/>
          </a:xfrm>
          <a:prstGeom prst="straightConnector1">
            <a:avLst/>
          </a:prstGeom>
          <a:noFill/>
          <a:ln cap="flat" cmpd="sng" w="9525">
            <a:solidFill>
              <a:schemeClr val="dk2"/>
            </a:solidFill>
            <a:prstDash val="solid"/>
            <a:round/>
            <a:headEnd len="med" w="med" type="none"/>
            <a:tailEnd len="med" w="med" type="none"/>
          </a:ln>
        </p:spPr>
      </p:cxnSp>
      <p:cxnSp>
        <p:nvCxnSpPr>
          <p:cNvPr id="1365" name="Google Shape;1365;p94"/>
          <p:cNvCxnSpPr>
            <a:stCxn id="1338" idx="3"/>
            <a:endCxn id="1362" idx="1"/>
          </p:cNvCxnSpPr>
          <p:nvPr/>
        </p:nvCxnSpPr>
        <p:spPr>
          <a:xfrm>
            <a:off x="2980357" y="3237295"/>
            <a:ext cx="1230900" cy="567000"/>
          </a:xfrm>
          <a:prstGeom prst="straightConnector1">
            <a:avLst/>
          </a:prstGeom>
          <a:noFill/>
          <a:ln cap="flat" cmpd="sng" w="9525">
            <a:solidFill>
              <a:schemeClr val="dk2"/>
            </a:solidFill>
            <a:prstDash val="solid"/>
            <a:round/>
            <a:headEnd len="med" w="med" type="none"/>
            <a:tailEnd len="med" w="med" type="none"/>
          </a:ln>
        </p:spPr>
      </p:cxnSp>
      <p:cxnSp>
        <p:nvCxnSpPr>
          <p:cNvPr id="1366" name="Google Shape;1366;p94"/>
          <p:cNvCxnSpPr>
            <a:stCxn id="1359" idx="3"/>
            <a:endCxn id="1357" idx="1"/>
          </p:cNvCxnSpPr>
          <p:nvPr/>
        </p:nvCxnSpPr>
        <p:spPr>
          <a:xfrm>
            <a:off x="5648706" y="2925703"/>
            <a:ext cx="1153500" cy="156000"/>
          </a:xfrm>
          <a:prstGeom prst="straightConnector1">
            <a:avLst/>
          </a:prstGeom>
          <a:noFill/>
          <a:ln cap="flat" cmpd="sng" w="9525">
            <a:solidFill>
              <a:schemeClr val="dk2"/>
            </a:solidFill>
            <a:prstDash val="solid"/>
            <a:round/>
            <a:headEnd len="med" w="med" type="none"/>
            <a:tailEnd len="med" w="med" type="none"/>
          </a:ln>
        </p:spPr>
      </p:cxnSp>
      <p:cxnSp>
        <p:nvCxnSpPr>
          <p:cNvPr id="1367" name="Google Shape;1367;p94"/>
          <p:cNvCxnSpPr>
            <a:stCxn id="1362" idx="3"/>
            <a:endCxn id="1357" idx="1"/>
          </p:cNvCxnSpPr>
          <p:nvPr/>
        </p:nvCxnSpPr>
        <p:spPr>
          <a:xfrm flipH="1" rot="10800000">
            <a:off x="5648706" y="3081900"/>
            <a:ext cx="1153500" cy="7224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1" name="Shape 1371"/>
        <p:cNvGrpSpPr/>
        <p:nvPr/>
      </p:nvGrpSpPr>
      <p:grpSpPr>
        <a:xfrm>
          <a:off x="0" y="0"/>
          <a:ext cx="0" cy="0"/>
          <a:chOff x="0" y="0"/>
          <a:chExt cx="0" cy="0"/>
        </a:xfrm>
      </p:grpSpPr>
      <p:sp>
        <p:nvSpPr>
          <p:cNvPr id="1372" name="Google Shape;1372;p95"/>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3.22. </a:t>
            </a:r>
            <a:r>
              <a:rPr lang="en-GB" sz="3200"/>
              <a:t>Các đối tượng tài khoản/giao dịch</a:t>
            </a:r>
            <a:r>
              <a:rPr baseline="-25000" lang="en-GB" sz="3200"/>
              <a:t>(</a:t>
            </a:r>
            <a:r>
              <a:rPr baseline="-25000" lang="en-GB"/>
              <a:t>4</a:t>
            </a:r>
            <a:r>
              <a:rPr baseline="-25000" lang="en-GB" sz="3200"/>
              <a:t>)</a:t>
            </a:r>
            <a:endParaRPr baseline="-25000" sz="3200"/>
          </a:p>
        </p:txBody>
      </p:sp>
      <p:sp>
        <p:nvSpPr>
          <p:cNvPr id="1373" name="Google Shape;1373;p95"/>
          <p:cNvSpPr txBox="1"/>
          <p:nvPr>
            <p:ph idx="4294967295" type="body"/>
          </p:nvPr>
        </p:nvSpPr>
        <p:spPr>
          <a:xfrm>
            <a:off x="933850" y="5775819"/>
            <a:ext cx="6630300" cy="57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sz="2200"/>
              <a:t>Trạng thái sau khi bán cho khách hàng</a:t>
            </a:r>
            <a:endParaRPr i="1" sz="2200"/>
          </a:p>
        </p:txBody>
      </p:sp>
      <p:sp>
        <p:nvSpPr>
          <p:cNvPr id="1374" name="Google Shape;1374;p9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pSp>
        <p:nvGrpSpPr>
          <p:cNvPr id="1375" name="Google Shape;1375;p95"/>
          <p:cNvGrpSpPr/>
          <p:nvPr/>
        </p:nvGrpSpPr>
        <p:grpSpPr>
          <a:xfrm>
            <a:off x="1022284" y="1066800"/>
            <a:ext cx="2225325" cy="759600"/>
            <a:chOff x="1022284" y="1066800"/>
            <a:chExt cx="2225325" cy="759600"/>
          </a:xfrm>
        </p:grpSpPr>
        <p:sp>
          <p:nvSpPr>
            <p:cNvPr id="1376" name="Google Shape;1376;p95"/>
            <p:cNvSpPr/>
            <p:nvPr/>
          </p:nvSpPr>
          <p:spPr>
            <a:xfrm>
              <a:off x="1022284" y="1066800"/>
              <a:ext cx="2225325"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nha_cung_cap:TaiKhoan</a:t>
              </a:r>
              <a:endParaRPr u="sng"/>
            </a:p>
          </p:txBody>
        </p:sp>
        <p:sp>
          <p:nvSpPr>
            <p:cNvPr id="1377" name="Google Shape;1377;p95"/>
            <p:cNvSpPr/>
            <p:nvPr/>
          </p:nvSpPr>
          <p:spPr>
            <a:xfrm>
              <a:off x="1022284" y="1447800"/>
              <a:ext cx="2225325"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-50</a:t>
              </a:r>
              <a:endParaRPr/>
            </a:p>
          </p:txBody>
        </p:sp>
      </p:grpSp>
      <p:grpSp>
        <p:nvGrpSpPr>
          <p:cNvPr id="1378" name="Google Shape;1378;p95"/>
          <p:cNvGrpSpPr/>
          <p:nvPr/>
        </p:nvGrpSpPr>
        <p:grpSpPr>
          <a:xfrm>
            <a:off x="1022284" y="2057400"/>
            <a:ext cx="2225325" cy="759600"/>
            <a:chOff x="1022284" y="2057400"/>
            <a:chExt cx="2225325" cy="759600"/>
          </a:xfrm>
        </p:grpSpPr>
        <p:sp>
          <p:nvSpPr>
            <p:cNvPr id="1379" name="Google Shape;1379;p95"/>
            <p:cNvSpPr/>
            <p:nvPr/>
          </p:nvSpPr>
          <p:spPr>
            <a:xfrm>
              <a:off x="1022284" y="2057400"/>
              <a:ext cx="2225325"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don_hang_cho:TaiKhoan</a:t>
              </a:r>
              <a:endParaRPr u="sng"/>
            </a:p>
          </p:txBody>
        </p:sp>
        <p:sp>
          <p:nvSpPr>
            <p:cNvPr id="1380" name="Google Shape;1380;p95"/>
            <p:cNvSpPr/>
            <p:nvPr/>
          </p:nvSpPr>
          <p:spPr>
            <a:xfrm>
              <a:off x="1022284" y="2438400"/>
              <a:ext cx="2225325"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10</a:t>
              </a:r>
              <a:endParaRPr/>
            </a:p>
          </p:txBody>
        </p:sp>
      </p:grpSp>
      <p:grpSp>
        <p:nvGrpSpPr>
          <p:cNvPr id="1381" name="Google Shape;1381;p95"/>
          <p:cNvGrpSpPr/>
          <p:nvPr/>
        </p:nvGrpSpPr>
        <p:grpSpPr>
          <a:xfrm>
            <a:off x="1022242" y="3047995"/>
            <a:ext cx="1958115" cy="759600"/>
            <a:chOff x="1022242" y="3047995"/>
            <a:chExt cx="1958115" cy="759600"/>
          </a:xfrm>
        </p:grpSpPr>
        <p:sp>
          <p:nvSpPr>
            <p:cNvPr id="1382" name="Google Shape;1382;p95"/>
            <p:cNvSpPr/>
            <p:nvPr/>
          </p:nvSpPr>
          <p:spPr>
            <a:xfrm>
              <a:off x="1022242" y="3047995"/>
              <a:ext cx="1958115"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ton_kho:TaiKhoan</a:t>
              </a:r>
              <a:endParaRPr u="sng"/>
            </a:p>
          </p:txBody>
        </p:sp>
        <p:sp>
          <p:nvSpPr>
            <p:cNvPr id="1383" name="Google Shape;1383;p95"/>
            <p:cNvSpPr/>
            <p:nvPr/>
          </p:nvSpPr>
          <p:spPr>
            <a:xfrm>
              <a:off x="1022242" y="3428995"/>
              <a:ext cx="1958115"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15</a:t>
              </a:r>
              <a:endParaRPr/>
            </a:p>
          </p:txBody>
        </p:sp>
      </p:grpSp>
      <p:grpSp>
        <p:nvGrpSpPr>
          <p:cNvPr id="1384" name="Google Shape;1384;p95"/>
          <p:cNvGrpSpPr/>
          <p:nvPr/>
        </p:nvGrpSpPr>
        <p:grpSpPr>
          <a:xfrm>
            <a:off x="1022242" y="3999491"/>
            <a:ext cx="1958115" cy="759600"/>
            <a:chOff x="1022242" y="3999491"/>
            <a:chExt cx="1958115" cy="759600"/>
          </a:xfrm>
        </p:grpSpPr>
        <p:sp>
          <p:nvSpPr>
            <p:cNvPr id="1385" name="Google Shape;1385;p95"/>
            <p:cNvSpPr/>
            <p:nvPr/>
          </p:nvSpPr>
          <p:spPr>
            <a:xfrm>
              <a:off x="1022242" y="3999491"/>
              <a:ext cx="1958115"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da_ban:TaiKhoan</a:t>
              </a:r>
              <a:endParaRPr u="sng"/>
            </a:p>
          </p:txBody>
        </p:sp>
        <p:sp>
          <p:nvSpPr>
            <p:cNvPr id="1386" name="Google Shape;1386;p95"/>
            <p:cNvSpPr/>
            <p:nvPr/>
          </p:nvSpPr>
          <p:spPr>
            <a:xfrm>
              <a:off x="1022242" y="4380491"/>
              <a:ext cx="1958115"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25</a:t>
              </a:r>
              <a:endParaRPr/>
            </a:p>
          </p:txBody>
        </p:sp>
      </p:grpSp>
      <p:grpSp>
        <p:nvGrpSpPr>
          <p:cNvPr id="1387" name="Google Shape;1387;p95"/>
          <p:cNvGrpSpPr/>
          <p:nvPr/>
        </p:nvGrpSpPr>
        <p:grpSpPr>
          <a:xfrm>
            <a:off x="1022242" y="4961668"/>
            <a:ext cx="1958115" cy="759600"/>
            <a:chOff x="1022242" y="4961668"/>
            <a:chExt cx="1958115" cy="759600"/>
          </a:xfrm>
        </p:grpSpPr>
        <p:sp>
          <p:nvSpPr>
            <p:cNvPr id="1388" name="Google Shape;1388;p95"/>
            <p:cNvSpPr/>
            <p:nvPr/>
          </p:nvSpPr>
          <p:spPr>
            <a:xfrm>
              <a:off x="1022242" y="4961668"/>
              <a:ext cx="1958115"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da_chuyen:TaiKhoan</a:t>
              </a:r>
              <a:endParaRPr u="sng"/>
            </a:p>
          </p:txBody>
        </p:sp>
        <p:sp>
          <p:nvSpPr>
            <p:cNvPr id="1389" name="Google Shape;1389;p95"/>
            <p:cNvSpPr/>
            <p:nvPr/>
          </p:nvSpPr>
          <p:spPr>
            <a:xfrm>
              <a:off x="1022242" y="5342668"/>
              <a:ext cx="1958115"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0</a:t>
              </a:r>
              <a:endParaRPr/>
            </a:p>
          </p:txBody>
        </p:sp>
      </p:grpSp>
      <p:grpSp>
        <p:nvGrpSpPr>
          <p:cNvPr id="1390" name="Google Shape;1390;p95"/>
          <p:cNvGrpSpPr/>
          <p:nvPr/>
        </p:nvGrpSpPr>
        <p:grpSpPr>
          <a:xfrm>
            <a:off x="4211305" y="1066719"/>
            <a:ext cx="1437412" cy="626594"/>
            <a:chOff x="4211305" y="1066719"/>
            <a:chExt cx="1437412" cy="626594"/>
          </a:xfrm>
        </p:grpSpPr>
        <p:sp>
          <p:nvSpPr>
            <p:cNvPr id="1391" name="Google Shape;1391;p95"/>
            <p:cNvSpPr/>
            <p:nvPr/>
          </p:nvSpPr>
          <p:spPr>
            <a:xfrm>
              <a:off x="4211305" y="1066719"/>
              <a:ext cx="1437412" cy="312307"/>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_:DanhMuc</a:t>
              </a:r>
              <a:endParaRPr u="sng"/>
            </a:p>
          </p:txBody>
        </p:sp>
        <p:sp>
          <p:nvSpPr>
            <p:cNvPr id="1392" name="Google Shape;1392;p95"/>
            <p:cNvSpPr/>
            <p:nvPr/>
          </p:nvSpPr>
          <p:spPr>
            <a:xfrm>
              <a:off x="4211305" y="1381006"/>
              <a:ext cx="1437412" cy="312307"/>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gia_tri = -50</a:t>
              </a:r>
              <a:endParaRPr/>
            </a:p>
          </p:txBody>
        </p:sp>
      </p:grpSp>
      <p:grpSp>
        <p:nvGrpSpPr>
          <p:cNvPr id="1393" name="Google Shape;1393;p95"/>
          <p:cNvGrpSpPr/>
          <p:nvPr/>
        </p:nvGrpSpPr>
        <p:grpSpPr>
          <a:xfrm>
            <a:off x="4211305" y="1883301"/>
            <a:ext cx="1437412" cy="626594"/>
            <a:chOff x="4211305" y="1883301"/>
            <a:chExt cx="1437412" cy="626594"/>
          </a:xfrm>
        </p:grpSpPr>
        <p:sp>
          <p:nvSpPr>
            <p:cNvPr id="1394" name="Google Shape;1394;p95"/>
            <p:cNvSpPr/>
            <p:nvPr/>
          </p:nvSpPr>
          <p:spPr>
            <a:xfrm>
              <a:off x="4211305" y="1883301"/>
              <a:ext cx="1437412" cy="312307"/>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_:DanhMuc</a:t>
              </a:r>
              <a:endParaRPr u="sng"/>
            </a:p>
          </p:txBody>
        </p:sp>
        <p:sp>
          <p:nvSpPr>
            <p:cNvPr id="1395" name="Google Shape;1395;p95"/>
            <p:cNvSpPr/>
            <p:nvPr/>
          </p:nvSpPr>
          <p:spPr>
            <a:xfrm>
              <a:off x="4211305" y="2197588"/>
              <a:ext cx="1437412" cy="312307"/>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gia_tri = 50</a:t>
              </a:r>
              <a:endParaRPr/>
            </a:p>
          </p:txBody>
        </p:sp>
      </p:grpSp>
      <p:sp>
        <p:nvSpPr>
          <p:cNvPr id="1396" name="Google Shape;1396;p95"/>
          <p:cNvSpPr/>
          <p:nvPr/>
        </p:nvSpPr>
        <p:spPr>
          <a:xfrm>
            <a:off x="6802075" y="1066800"/>
            <a:ext cx="17172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dat_mua:GiaoDich</a:t>
            </a:r>
            <a:endParaRPr u="sng"/>
          </a:p>
        </p:txBody>
      </p:sp>
      <p:cxnSp>
        <p:nvCxnSpPr>
          <p:cNvPr id="1397" name="Google Shape;1397;p95"/>
          <p:cNvCxnSpPr>
            <a:stCxn id="1391" idx="3"/>
            <a:endCxn id="1396" idx="1"/>
          </p:cNvCxnSpPr>
          <p:nvPr/>
        </p:nvCxnSpPr>
        <p:spPr>
          <a:xfrm>
            <a:off x="5648717" y="1222873"/>
            <a:ext cx="1153500" cy="106200"/>
          </a:xfrm>
          <a:prstGeom prst="straightConnector1">
            <a:avLst/>
          </a:prstGeom>
          <a:noFill/>
          <a:ln cap="flat" cmpd="sng" w="9525">
            <a:solidFill>
              <a:schemeClr val="dk2"/>
            </a:solidFill>
            <a:prstDash val="solid"/>
            <a:round/>
            <a:headEnd len="med" w="med" type="none"/>
            <a:tailEnd len="med" w="med" type="none"/>
          </a:ln>
        </p:spPr>
      </p:cxnSp>
      <p:cxnSp>
        <p:nvCxnSpPr>
          <p:cNvPr id="1398" name="Google Shape;1398;p95"/>
          <p:cNvCxnSpPr>
            <a:stCxn id="1394" idx="3"/>
            <a:endCxn id="1396" idx="1"/>
          </p:cNvCxnSpPr>
          <p:nvPr/>
        </p:nvCxnSpPr>
        <p:spPr>
          <a:xfrm flipH="1" rot="10800000">
            <a:off x="5648717" y="1329055"/>
            <a:ext cx="1153500" cy="710400"/>
          </a:xfrm>
          <a:prstGeom prst="straightConnector1">
            <a:avLst/>
          </a:prstGeom>
          <a:noFill/>
          <a:ln cap="flat" cmpd="sng" w="9525">
            <a:solidFill>
              <a:schemeClr val="dk2"/>
            </a:solidFill>
            <a:prstDash val="solid"/>
            <a:round/>
            <a:headEnd len="med" w="med" type="none"/>
            <a:tailEnd len="med" w="med" type="none"/>
          </a:ln>
        </p:spPr>
      </p:cxnSp>
      <p:cxnSp>
        <p:nvCxnSpPr>
          <p:cNvPr id="1399" name="Google Shape;1399;p95"/>
          <p:cNvCxnSpPr>
            <a:stCxn id="1376" idx="3"/>
            <a:endCxn id="1391" idx="1"/>
          </p:cNvCxnSpPr>
          <p:nvPr/>
        </p:nvCxnSpPr>
        <p:spPr>
          <a:xfrm flipH="1" rot="10800000">
            <a:off x="3247609" y="1222800"/>
            <a:ext cx="963600" cy="33300"/>
          </a:xfrm>
          <a:prstGeom prst="straightConnector1">
            <a:avLst/>
          </a:prstGeom>
          <a:noFill/>
          <a:ln cap="flat" cmpd="sng" w="9525">
            <a:solidFill>
              <a:schemeClr val="dk2"/>
            </a:solidFill>
            <a:prstDash val="solid"/>
            <a:round/>
            <a:headEnd len="med" w="med" type="none"/>
            <a:tailEnd len="med" w="med" type="none"/>
          </a:ln>
        </p:spPr>
      </p:cxnSp>
      <p:cxnSp>
        <p:nvCxnSpPr>
          <p:cNvPr id="1400" name="Google Shape;1400;p95"/>
          <p:cNvCxnSpPr>
            <a:stCxn id="1379" idx="3"/>
            <a:endCxn id="1394" idx="1"/>
          </p:cNvCxnSpPr>
          <p:nvPr/>
        </p:nvCxnSpPr>
        <p:spPr>
          <a:xfrm flipH="1" rot="10800000">
            <a:off x="3247609" y="2039400"/>
            <a:ext cx="963600" cy="207300"/>
          </a:xfrm>
          <a:prstGeom prst="straightConnector1">
            <a:avLst/>
          </a:prstGeom>
          <a:noFill/>
          <a:ln cap="flat" cmpd="sng" w="9525">
            <a:solidFill>
              <a:schemeClr val="dk2"/>
            </a:solidFill>
            <a:prstDash val="solid"/>
            <a:round/>
            <a:headEnd len="med" w="med" type="none"/>
            <a:tailEnd len="med" w="med" type="none"/>
          </a:ln>
        </p:spPr>
      </p:cxnSp>
      <p:sp>
        <p:nvSpPr>
          <p:cNvPr id="1401" name="Google Shape;1401;p95"/>
          <p:cNvSpPr/>
          <p:nvPr/>
        </p:nvSpPr>
        <p:spPr>
          <a:xfrm>
            <a:off x="6802225" y="2819400"/>
            <a:ext cx="1793400" cy="524700"/>
          </a:xfrm>
          <a:prstGeom prst="rect">
            <a:avLst/>
          </a:prstGeom>
          <a:noFill/>
          <a:ln cap="flat" cmpd="sng" w="9525">
            <a:solidFill>
              <a:schemeClr val="dk2"/>
            </a:solidFill>
            <a:prstDash val="solid"/>
            <a:round/>
            <a:headEnd len="sm" w="sm" type="none"/>
            <a:tailEnd len="sm" w="sm" type="none"/>
          </a:ln>
        </p:spPr>
        <p:txBody>
          <a:bodyPr anchorCtr="0" anchor="ctr" bIns="91425" lIns="54000" spcFirstLastPara="1" rIns="54000" wrap="square" tIns="91425">
            <a:noAutofit/>
          </a:bodyPr>
          <a:lstStyle/>
          <a:p>
            <a:pPr indent="0" lvl="0" marL="0" rtl="0" algn="ctr">
              <a:spcBef>
                <a:spcPts val="0"/>
              </a:spcBef>
              <a:spcAft>
                <a:spcPts val="0"/>
              </a:spcAft>
              <a:buNone/>
            </a:pPr>
            <a:r>
              <a:rPr lang="en-GB" u="sng"/>
              <a:t>nhap_hang:GiaoDich</a:t>
            </a:r>
            <a:endParaRPr u="sng"/>
          </a:p>
        </p:txBody>
      </p:sp>
      <p:grpSp>
        <p:nvGrpSpPr>
          <p:cNvPr id="1402" name="Google Shape;1402;p95"/>
          <p:cNvGrpSpPr/>
          <p:nvPr/>
        </p:nvGrpSpPr>
        <p:grpSpPr>
          <a:xfrm>
            <a:off x="4211305" y="2638234"/>
            <a:ext cx="1437412" cy="626594"/>
            <a:chOff x="4211305" y="2638234"/>
            <a:chExt cx="1437412" cy="626594"/>
          </a:xfrm>
        </p:grpSpPr>
        <p:sp>
          <p:nvSpPr>
            <p:cNvPr id="1403" name="Google Shape;1403;p95"/>
            <p:cNvSpPr/>
            <p:nvPr/>
          </p:nvSpPr>
          <p:spPr>
            <a:xfrm>
              <a:off x="4211305" y="2638234"/>
              <a:ext cx="1437412" cy="312307"/>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_:DanhMuc</a:t>
              </a:r>
              <a:endParaRPr u="sng"/>
            </a:p>
          </p:txBody>
        </p:sp>
        <p:sp>
          <p:nvSpPr>
            <p:cNvPr id="1404" name="Google Shape;1404;p95"/>
            <p:cNvSpPr/>
            <p:nvPr/>
          </p:nvSpPr>
          <p:spPr>
            <a:xfrm>
              <a:off x="4211305" y="2952521"/>
              <a:ext cx="1437412" cy="312307"/>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gia_tri = -40</a:t>
              </a:r>
              <a:endParaRPr/>
            </a:p>
          </p:txBody>
        </p:sp>
      </p:grpSp>
      <p:grpSp>
        <p:nvGrpSpPr>
          <p:cNvPr id="1405" name="Google Shape;1405;p95"/>
          <p:cNvGrpSpPr/>
          <p:nvPr/>
        </p:nvGrpSpPr>
        <p:grpSpPr>
          <a:xfrm>
            <a:off x="4211305" y="3454816"/>
            <a:ext cx="1437412" cy="626594"/>
            <a:chOff x="4211305" y="3454816"/>
            <a:chExt cx="1437412" cy="626594"/>
          </a:xfrm>
        </p:grpSpPr>
        <p:sp>
          <p:nvSpPr>
            <p:cNvPr id="1406" name="Google Shape;1406;p95"/>
            <p:cNvSpPr/>
            <p:nvPr/>
          </p:nvSpPr>
          <p:spPr>
            <a:xfrm>
              <a:off x="4211305" y="3454816"/>
              <a:ext cx="1437412" cy="312307"/>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_:DanhMuc</a:t>
              </a:r>
              <a:endParaRPr u="sng"/>
            </a:p>
          </p:txBody>
        </p:sp>
        <p:sp>
          <p:nvSpPr>
            <p:cNvPr id="1407" name="Google Shape;1407;p95"/>
            <p:cNvSpPr/>
            <p:nvPr/>
          </p:nvSpPr>
          <p:spPr>
            <a:xfrm>
              <a:off x="4211305" y="3769103"/>
              <a:ext cx="1437412" cy="312307"/>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gia_tri = 40</a:t>
              </a:r>
              <a:endParaRPr/>
            </a:p>
          </p:txBody>
        </p:sp>
      </p:grpSp>
      <p:cxnSp>
        <p:nvCxnSpPr>
          <p:cNvPr id="1408" name="Google Shape;1408;p95"/>
          <p:cNvCxnSpPr>
            <a:stCxn id="1379" idx="3"/>
            <a:endCxn id="1403" idx="1"/>
          </p:cNvCxnSpPr>
          <p:nvPr/>
        </p:nvCxnSpPr>
        <p:spPr>
          <a:xfrm>
            <a:off x="3247609" y="2246700"/>
            <a:ext cx="963600" cy="547800"/>
          </a:xfrm>
          <a:prstGeom prst="straightConnector1">
            <a:avLst/>
          </a:prstGeom>
          <a:noFill/>
          <a:ln cap="flat" cmpd="sng" w="9525">
            <a:solidFill>
              <a:schemeClr val="dk2"/>
            </a:solidFill>
            <a:prstDash val="solid"/>
            <a:round/>
            <a:headEnd len="med" w="med" type="none"/>
            <a:tailEnd len="med" w="med" type="none"/>
          </a:ln>
        </p:spPr>
      </p:cxnSp>
      <p:cxnSp>
        <p:nvCxnSpPr>
          <p:cNvPr id="1409" name="Google Shape;1409;p95"/>
          <p:cNvCxnSpPr>
            <a:stCxn id="1382" idx="3"/>
            <a:endCxn id="1406" idx="1"/>
          </p:cNvCxnSpPr>
          <p:nvPr/>
        </p:nvCxnSpPr>
        <p:spPr>
          <a:xfrm>
            <a:off x="2980357" y="3237295"/>
            <a:ext cx="1230900" cy="373800"/>
          </a:xfrm>
          <a:prstGeom prst="straightConnector1">
            <a:avLst/>
          </a:prstGeom>
          <a:noFill/>
          <a:ln cap="flat" cmpd="sng" w="9525">
            <a:solidFill>
              <a:schemeClr val="dk2"/>
            </a:solidFill>
            <a:prstDash val="solid"/>
            <a:round/>
            <a:headEnd len="med" w="med" type="none"/>
            <a:tailEnd len="med" w="med" type="none"/>
          </a:ln>
        </p:spPr>
      </p:cxnSp>
      <p:cxnSp>
        <p:nvCxnSpPr>
          <p:cNvPr id="1410" name="Google Shape;1410;p95"/>
          <p:cNvCxnSpPr>
            <a:stCxn id="1403" idx="3"/>
            <a:endCxn id="1401" idx="1"/>
          </p:cNvCxnSpPr>
          <p:nvPr/>
        </p:nvCxnSpPr>
        <p:spPr>
          <a:xfrm>
            <a:off x="5648717" y="2794387"/>
            <a:ext cx="1153500" cy="287400"/>
          </a:xfrm>
          <a:prstGeom prst="straightConnector1">
            <a:avLst/>
          </a:prstGeom>
          <a:noFill/>
          <a:ln cap="flat" cmpd="sng" w="9525">
            <a:solidFill>
              <a:schemeClr val="dk2"/>
            </a:solidFill>
            <a:prstDash val="solid"/>
            <a:round/>
            <a:headEnd len="med" w="med" type="none"/>
            <a:tailEnd len="med" w="med" type="none"/>
          </a:ln>
        </p:spPr>
      </p:cxnSp>
      <p:cxnSp>
        <p:nvCxnSpPr>
          <p:cNvPr id="1411" name="Google Shape;1411;p95"/>
          <p:cNvCxnSpPr>
            <a:stCxn id="1406" idx="3"/>
            <a:endCxn id="1401" idx="1"/>
          </p:cNvCxnSpPr>
          <p:nvPr/>
        </p:nvCxnSpPr>
        <p:spPr>
          <a:xfrm flipH="1" rot="10800000">
            <a:off x="5648717" y="3081769"/>
            <a:ext cx="1153500" cy="529200"/>
          </a:xfrm>
          <a:prstGeom prst="straightConnector1">
            <a:avLst/>
          </a:prstGeom>
          <a:noFill/>
          <a:ln cap="flat" cmpd="sng" w="9525">
            <a:solidFill>
              <a:schemeClr val="dk2"/>
            </a:solidFill>
            <a:prstDash val="solid"/>
            <a:round/>
            <a:headEnd len="med" w="med" type="none"/>
            <a:tailEnd len="med" w="med" type="none"/>
          </a:ln>
        </p:spPr>
      </p:cxnSp>
      <p:sp>
        <p:nvSpPr>
          <p:cNvPr id="1412" name="Google Shape;1412;p95"/>
          <p:cNvSpPr/>
          <p:nvPr/>
        </p:nvSpPr>
        <p:spPr>
          <a:xfrm>
            <a:off x="6802225" y="4191000"/>
            <a:ext cx="1793400" cy="524700"/>
          </a:xfrm>
          <a:prstGeom prst="rect">
            <a:avLst/>
          </a:prstGeom>
          <a:noFill/>
          <a:ln cap="flat" cmpd="sng" w="9525">
            <a:solidFill>
              <a:schemeClr val="dk2"/>
            </a:solidFill>
            <a:prstDash val="solid"/>
            <a:round/>
            <a:headEnd len="sm" w="sm" type="none"/>
            <a:tailEnd len="sm" w="sm" type="none"/>
          </a:ln>
        </p:spPr>
        <p:txBody>
          <a:bodyPr anchorCtr="0" anchor="ctr" bIns="91425" lIns="54000" spcFirstLastPara="1" rIns="54000" wrap="square" tIns="91425">
            <a:noAutofit/>
          </a:bodyPr>
          <a:lstStyle/>
          <a:p>
            <a:pPr indent="0" lvl="0" marL="0" rtl="0" algn="ctr">
              <a:spcBef>
                <a:spcPts val="0"/>
              </a:spcBef>
              <a:spcAft>
                <a:spcPts val="0"/>
              </a:spcAft>
              <a:buNone/>
            </a:pPr>
            <a:r>
              <a:rPr lang="en-GB" u="sng"/>
              <a:t>ban_hang:GiaoDich</a:t>
            </a:r>
            <a:endParaRPr u="sng"/>
          </a:p>
        </p:txBody>
      </p:sp>
      <p:grpSp>
        <p:nvGrpSpPr>
          <p:cNvPr id="1413" name="Google Shape;1413;p95"/>
          <p:cNvGrpSpPr/>
          <p:nvPr/>
        </p:nvGrpSpPr>
        <p:grpSpPr>
          <a:xfrm>
            <a:off x="4211305" y="4196306"/>
            <a:ext cx="1437412" cy="626594"/>
            <a:chOff x="4211305" y="4196306"/>
            <a:chExt cx="1437412" cy="626594"/>
          </a:xfrm>
        </p:grpSpPr>
        <p:sp>
          <p:nvSpPr>
            <p:cNvPr id="1414" name="Google Shape;1414;p95"/>
            <p:cNvSpPr/>
            <p:nvPr/>
          </p:nvSpPr>
          <p:spPr>
            <a:xfrm>
              <a:off x="4211305" y="4196306"/>
              <a:ext cx="1437412" cy="312307"/>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_:DanhMuc</a:t>
              </a:r>
              <a:endParaRPr u="sng"/>
            </a:p>
          </p:txBody>
        </p:sp>
        <p:sp>
          <p:nvSpPr>
            <p:cNvPr id="1415" name="Google Shape;1415;p95"/>
            <p:cNvSpPr/>
            <p:nvPr/>
          </p:nvSpPr>
          <p:spPr>
            <a:xfrm>
              <a:off x="4211305" y="4510593"/>
              <a:ext cx="1437412" cy="312307"/>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gia_tri = -25</a:t>
              </a:r>
              <a:endParaRPr/>
            </a:p>
          </p:txBody>
        </p:sp>
      </p:grpSp>
      <p:grpSp>
        <p:nvGrpSpPr>
          <p:cNvPr id="1416" name="Google Shape;1416;p95"/>
          <p:cNvGrpSpPr/>
          <p:nvPr/>
        </p:nvGrpSpPr>
        <p:grpSpPr>
          <a:xfrm>
            <a:off x="4211305" y="5012888"/>
            <a:ext cx="1437412" cy="626594"/>
            <a:chOff x="4211305" y="5012888"/>
            <a:chExt cx="1437412" cy="626594"/>
          </a:xfrm>
        </p:grpSpPr>
        <p:sp>
          <p:nvSpPr>
            <p:cNvPr id="1417" name="Google Shape;1417;p95"/>
            <p:cNvSpPr/>
            <p:nvPr/>
          </p:nvSpPr>
          <p:spPr>
            <a:xfrm>
              <a:off x="4211305" y="5012888"/>
              <a:ext cx="1437412" cy="312307"/>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_:DanhMuc</a:t>
              </a:r>
              <a:endParaRPr u="sng"/>
            </a:p>
          </p:txBody>
        </p:sp>
        <p:sp>
          <p:nvSpPr>
            <p:cNvPr id="1418" name="Google Shape;1418;p95"/>
            <p:cNvSpPr/>
            <p:nvPr/>
          </p:nvSpPr>
          <p:spPr>
            <a:xfrm>
              <a:off x="4211305" y="5327175"/>
              <a:ext cx="1437412" cy="312307"/>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gia_tri = 25</a:t>
              </a:r>
              <a:endParaRPr/>
            </a:p>
          </p:txBody>
        </p:sp>
      </p:grpSp>
      <p:cxnSp>
        <p:nvCxnSpPr>
          <p:cNvPr id="1419" name="Google Shape;1419;p95"/>
          <p:cNvCxnSpPr>
            <a:stCxn id="1382" idx="3"/>
            <a:endCxn id="1414" idx="1"/>
          </p:cNvCxnSpPr>
          <p:nvPr/>
        </p:nvCxnSpPr>
        <p:spPr>
          <a:xfrm>
            <a:off x="2980357" y="3237295"/>
            <a:ext cx="1230900" cy="1115100"/>
          </a:xfrm>
          <a:prstGeom prst="straightConnector1">
            <a:avLst/>
          </a:prstGeom>
          <a:noFill/>
          <a:ln cap="flat" cmpd="sng" w="9525">
            <a:solidFill>
              <a:schemeClr val="dk2"/>
            </a:solidFill>
            <a:prstDash val="solid"/>
            <a:round/>
            <a:headEnd len="med" w="med" type="none"/>
            <a:tailEnd len="med" w="med" type="none"/>
          </a:ln>
        </p:spPr>
      </p:cxnSp>
      <p:cxnSp>
        <p:nvCxnSpPr>
          <p:cNvPr id="1420" name="Google Shape;1420;p95"/>
          <p:cNvCxnSpPr>
            <a:stCxn id="1385" idx="3"/>
            <a:endCxn id="1417" idx="1"/>
          </p:cNvCxnSpPr>
          <p:nvPr/>
        </p:nvCxnSpPr>
        <p:spPr>
          <a:xfrm>
            <a:off x="2980357" y="4188791"/>
            <a:ext cx="1230900" cy="980400"/>
          </a:xfrm>
          <a:prstGeom prst="straightConnector1">
            <a:avLst/>
          </a:prstGeom>
          <a:noFill/>
          <a:ln cap="flat" cmpd="sng" w="9525">
            <a:solidFill>
              <a:schemeClr val="dk2"/>
            </a:solidFill>
            <a:prstDash val="solid"/>
            <a:round/>
            <a:headEnd len="med" w="med" type="none"/>
            <a:tailEnd len="med" w="med" type="none"/>
          </a:ln>
        </p:spPr>
      </p:cxnSp>
      <p:cxnSp>
        <p:nvCxnSpPr>
          <p:cNvPr id="1421" name="Google Shape;1421;p95"/>
          <p:cNvCxnSpPr>
            <a:stCxn id="1414" idx="3"/>
            <a:endCxn id="1412" idx="1"/>
          </p:cNvCxnSpPr>
          <p:nvPr/>
        </p:nvCxnSpPr>
        <p:spPr>
          <a:xfrm>
            <a:off x="5648717" y="4352460"/>
            <a:ext cx="1153500" cy="100800"/>
          </a:xfrm>
          <a:prstGeom prst="straightConnector1">
            <a:avLst/>
          </a:prstGeom>
          <a:noFill/>
          <a:ln cap="flat" cmpd="sng" w="9525">
            <a:solidFill>
              <a:schemeClr val="dk2"/>
            </a:solidFill>
            <a:prstDash val="solid"/>
            <a:round/>
            <a:headEnd len="med" w="med" type="none"/>
            <a:tailEnd len="med" w="med" type="none"/>
          </a:ln>
        </p:spPr>
      </p:cxnSp>
      <p:cxnSp>
        <p:nvCxnSpPr>
          <p:cNvPr id="1422" name="Google Shape;1422;p95"/>
          <p:cNvCxnSpPr>
            <a:stCxn id="1417" idx="3"/>
            <a:endCxn id="1412" idx="1"/>
          </p:cNvCxnSpPr>
          <p:nvPr/>
        </p:nvCxnSpPr>
        <p:spPr>
          <a:xfrm flipH="1" rot="10800000">
            <a:off x="5648717" y="4453242"/>
            <a:ext cx="1153500" cy="7158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id="1427" name="Google Shape;1427;p96"/>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3.22. </a:t>
            </a:r>
            <a:r>
              <a:rPr lang="en-GB" sz="3200"/>
              <a:t>Các đối tượng tài khoản/giao dịch</a:t>
            </a:r>
            <a:r>
              <a:rPr baseline="-25000" lang="en-GB" sz="3200"/>
              <a:t>(</a:t>
            </a:r>
            <a:r>
              <a:rPr baseline="-25000" lang="en-GB"/>
              <a:t>5</a:t>
            </a:r>
            <a:r>
              <a:rPr baseline="-25000" lang="en-GB" sz="3200"/>
              <a:t>)</a:t>
            </a:r>
            <a:endParaRPr baseline="-25000" sz="3200"/>
          </a:p>
        </p:txBody>
      </p:sp>
      <p:sp>
        <p:nvSpPr>
          <p:cNvPr id="1428" name="Google Shape;1428;p96"/>
          <p:cNvSpPr txBox="1"/>
          <p:nvPr>
            <p:ph idx="4294967295" type="body"/>
          </p:nvPr>
        </p:nvSpPr>
        <p:spPr>
          <a:xfrm>
            <a:off x="933850" y="5943125"/>
            <a:ext cx="5333100" cy="57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sz="2200"/>
              <a:t>Trạng thái sau khi giao hàng cho khách</a:t>
            </a:r>
            <a:endParaRPr i="1" sz="2200"/>
          </a:p>
        </p:txBody>
      </p:sp>
      <p:sp>
        <p:nvSpPr>
          <p:cNvPr id="1429" name="Google Shape;1429;p9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pSp>
        <p:nvGrpSpPr>
          <p:cNvPr id="1430" name="Google Shape;1430;p96"/>
          <p:cNvGrpSpPr/>
          <p:nvPr/>
        </p:nvGrpSpPr>
        <p:grpSpPr>
          <a:xfrm>
            <a:off x="1022293" y="1066757"/>
            <a:ext cx="2225325" cy="616719"/>
            <a:chOff x="1022293" y="1066757"/>
            <a:chExt cx="2225325" cy="616719"/>
          </a:xfrm>
        </p:grpSpPr>
        <p:sp>
          <p:nvSpPr>
            <p:cNvPr id="1431" name="Google Shape;1431;p96"/>
            <p:cNvSpPr/>
            <p:nvPr/>
          </p:nvSpPr>
          <p:spPr>
            <a:xfrm>
              <a:off x="1022293" y="1066757"/>
              <a:ext cx="2225325" cy="307385"/>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nha_cung_cap:TaiKhoan</a:t>
              </a:r>
              <a:endParaRPr u="sng"/>
            </a:p>
          </p:txBody>
        </p:sp>
        <p:sp>
          <p:nvSpPr>
            <p:cNvPr id="1432" name="Google Shape;1432;p96"/>
            <p:cNvSpPr/>
            <p:nvPr/>
          </p:nvSpPr>
          <p:spPr>
            <a:xfrm>
              <a:off x="1022293" y="1376090"/>
              <a:ext cx="2225325" cy="307385"/>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-50</a:t>
              </a:r>
              <a:endParaRPr/>
            </a:p>
          </p:txBody>
        </p:sp>
      </p:grpSp>
      <p:grpSp>
        <p:nvGrpSpPr>
          <p:cNvPr id="1433" name="Google Shape;1433;p96"/>
          <p:cNvGrpSpPr/>
          <p:nvPr/>
        </p:nvGrpSpPr>
        <p:grpSpPr>
          <a:xfrm>
            <a:off x="1022293" y="1947240"/>
            <a:ext cx="2225325" cy="616719"/>
            <a:chOff x="1022293" y="1947240"/>
            <a:chExt cx="2225325" cy="616719"/>
          </a:xfrm>
        </p:grpSpPr>
        <p:sp>
          <p:nvSpPr>
            <p:cNvPr id="1434" name="Google Shape;1434;p96"/>
            <p:cNvSpPr/>
            <p:nvPr/>
          </p:nvSpPr>
          <p:spPr>
            <a:xfrm>
              <a:off x="1022293" y="1947240"/>
              <a:ext cx="2225325" cy="307385"/>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don_hang_cho:TaiKhoan</a:t>
              </a:r>
              <a:endParaRPr u="sng"/>
            </a:p>
          </p:txBody>
        </p:sp>
        <p:sp>
          <p:nvSpPr>
            <p:cNvPr id="1435" name="Google Shape;1435;p96"/>
            <p:cNvSpPr/>
            <p:nvPr/>
          </p:nvSpPr>
          <p:spPr>
            <a:xfrm>
              <a:off x="1022293" y="2256574"/>
              <a:ext cx="2225325" cy="307385"/>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10</a:t>
              </a:r>
              <a:endParaRPr/>
            </a:p>
          </p:txBody>
        </p:sp>
      </p:grpSp>
      <p:grpSp>
        <p:nvGrpSpPr>
          <p:cNvPr id="1436" name="Google Shape;1436;p96"/>
          <p:cNvGrpSpPr/>
          <p:nvPr/>
        </p:nvGrpSpPr>
        <p:grpSpPr>
          <a:xfrm>
            <a:off x="1022250" y="2827719"/>
            <a:ext cx="1958115" cy="616719"/>
            <a:chOff x="1022250" y="2827719"/>
            <a:chExt cx="1958115" cy="616719"/>
          </a:xfrm>
        </p:grpSpPr>
        <p:sp>
          <p:nvSpPr>
            <p:cNvPr id="1437" name="Google Shape;1437;p96"/>
            <p:cNvSpPr/>
            <p:nvPr/>
          </p:nvSpPr>
          <p:spPr>
            <a:xfrm>
              <a:off x="1022250" y="2827719"/>
              <a:ext cx="1958115" cy="307385"/>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ton_kho:TaiKhoan</a:t>
              </a:r>
              <a:endParaRPr u="sng"/>
            </a:p>
          </p:txBody>
        </p:sp>
        <p:sp>
          <p:nvSpPr>
            <p:cNvPr id="1438" name="Google Shape;1438;p96"/>
            <p:cNvSpPr/>
            <p:nvPr/>
          </p:nvSpPr>
          <p:spPr>
            <a:xfrm>
              <a:off x="1022250" y="3137053"/>
              <a:ext cx="1958115" cy="307385"/>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15</a:t>
              </a:r>
              <a:endParaRPr/>
            </a:p>
          </p:txBody>
        </p:sp>
      </p:grpSp>
      <p:grpSp>
        <p:nvGrpSpPr>
          <p:cNvPr id="1439" name="Google Shape;1439;p96"/>
          <p:cNvGrpSpPr/>
          <p:nvPr/>
        </p:nvGrpSpPr>
        <p:grpSpPr>
          <a:xfrm>
            <a:off x="1022250" y="3752654"/>
            <a:ext cx="1958115" cy="616719"/>
            <a:chOff x="1022250" y="3752654"/>
            <a:chExt cx="1958115" cy="616719"/>
          </a:xfrm>
        </p:grpSpPr>
        <p:sp>
          <p:nvSpPr>
            <p:cNvPr id="1440" name="Google Shape;1440;p96"/>
            <p:cNvSpPr/>
            <p:nvPr/>
          </p:nvSpPr>
          <p:spPr>
            <a:xfrm>
              <a:off x="1022250" y="3752654"/>
              <a:ext cx="1958115" cy="307385"/>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da_ban:TaiKhoan</a:t>
              </a:r>
              <a:endParaRPr u="sng"/>
            </a:p>
          </p:txBody>
        </p:sp>
        <p:sp>
          <p:nvSpPr>
            <p:cNvPr id="1441" name="Google Shape;1441;p96"/>
            <p:cNvSpPr/>
            <p:nvPr/>
          </p:nvSpPr>
          <p:spPr>
            <a:xfrm>
              <a:off x="1022250" y="4061988"/>
              <a:ext cx="1958115" cy="307385"/>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0</a:t>
              </a:r>
              <a:endParaRPr/>
            </a:p>
          </p:txBody>
        </p:sp>
      </p:grpSp>
      <p:grpSp>
        <p:nvGrpSpPr>
          <p:cNvPr id="1442" name="Google Shape;1442;p96"/>
          <p:cNvGrpSpPr/>
          <p:nvPr/>
        </p:nvGrpSpPr>
        <p:grpSpPr>
          <a:xfrm>
            <a:off x="1022250" y="4686260"/>
            <a:ext cx="1958115" cy="616719"/>
            <a:chOff x="1022250" y="4686260"/>
            <a:chExt cx="1958115" cy="616719"/>
          </a:xfrm>
        </p:grpSpPr>
        <p:sp>
          <p:nvSpPr>
            <p:cNvPr id="1443" name="Google Shape;1443;p96"/>
            <p:cNvSpPr/>
            <p:nvPr/>
          </p:nvSpPr>
          <p:spPr>
            <a:xfrm>
              <a:off x="1022250" y="4686260"/>
              <a:ext cx="1958115" cy="307385"/>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da_chuyen:TaiKhoan</a:t>
              </a:r>
              <a:endParaRPr u="sng"/>
            </a:p>
          </p:txBody>
        </p:sp>
        <p:sp>
          <p:nvSpPr>
            <p:cNvPr id="1444" name="Google Shape;1444;p96"/>
            <p:cNvSpPr/>
            <p:nvPr/>
          </p:nvSpPr>
          <p:spPr>
            <a:xfrm>
              <a:off x="1022250" y="4995594"/>
              <a:ext cx="1958115" cy="307385"/>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/so_du = </a:t>
              </a:r>
              <a:r>
                <a:rPr lang="en-GB"/>
                <a:t>25</a:t>
              </a:r>
              <a:endParaRPr/>
            </a:p>
          </p:txBody>
        </p:sp>
      </p:grpSp>
      <p:grpSp>
        <p:nvGrpSpPr>
          <p:cNvPr id="1445" name="Google Shape;1445;p96"/>
          <p:cNvGrpSpPr/>
          <p:nvPr/>
        </p:nvGrpSpPr>
        <p:grpSpPr>
          <a:xfrm>
            <a:off x="4211313" y="1066620"/>
            <a:ext cx="1437412" cy="508704"/>
            <a:chOff x="4211313" y="1066620"/>
            <a:chExt cx="1437412" cy="508704"/>
          </a:xfrm>
        </p:grpSpPr>
        <p:sp>
          <p:nvSpPr>
            <p:cNvPr id="1446" name="Google Shape;1446;p96"/>
            <p:cNvSpPr/>
            <p:nvPr/>
          </p:nvSpPr>
          <p:spPr>
            <a:xfrm>
              <a:off x="4211313" y="1066620"/>
              <a:ext cx="1437412" cy="253548"/>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_:DanhMuc</a:t>
              </a:r>
              <a:endParaRPr u="sng"/>
            </a:p>
          </p:txBody>
        </p:sp>
        <p:sp>
          <p:nvSpPr>
            <p:cNvPr id="1447" name="Google Shape;1447;p96"/>
            <p:cNvSpPr/>
            <p:nvPr/>
          </p:nvSpPr>
          <p:spPr>
            <a:xfrm>
              <a:off x="4211313" y="1321775"/>
              <a:ext cx="1437412" cy="253548"/>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gia_tri = -50</a:t>
              </a:r>
              <a:endParaRPr/>
            </a:p>
          </p:txBody>
        </p:sp>
      </p:grpSp>
      <p:grpSp>
        <p:nvGrpSpPr>
          <p:cNvPr id="1448" name="Google Shape;1448;p96"/>
          <p:cNvGrpSpPr/>
          <p:nvPr/>
        </p:nvGrpSpPr>
        <p:grpSpPr>
          <a:xfrm>
            <a:off x="4211313" y="1729615"/>
            <a:ext cx="1437412" cy="508704"/>
            <a:chOff x="4211313" y="1729615"/>
            <a:chExt cx="1437412" cy="508704"/>
          </a:xfrm>
        </p:grpSpPr>
        <p:sp>
          <p:nvSpPr>
            <p:cNvPr id="1449" name="Google Shape;1449;p96"/>
            <p:cNvSpPr/>
            <p:nvPr/>
          </p:nvSpPr>
          <p:spPr>
            <a:xfrm>
              <a:off x="4211313" y="1729615"/>
              <a:ext cx="1437412" cy="253548"/>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_:DanhMuc</a:t>
              </a:r>
              <a:endParaRPr u="sng"/>
            </a:p>
          </p:txBody>
        </p:sp>
        <p:sp>
          <p:nvSpPr>
            <p:cNvPr id="1450" name="Google Shape;1450;p96"/>
            <p:cNvSpPr/>
            <p:nvPr/>
          </p:nvSpPr>
          <p:spPr>
            <a:xfrm>
              <a:off x="4211313" y="1984771"/>
              <a:ext cx="1437412" cy="253548"/>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gia_tri = 50</a:t>
              </a:r>
              <a:endParaRPr/>
            </a:p>
          </p:txBody>
        </p:sp>
      </p:grpSp>
      <p:sp>
        <p:nvSpPr>
          <p:cNvPr id="1451" name="Google Shape;1451;p96"/>
          <p:cNvSpPr/>
          <p:nvPr/>
        </p:nvSpPr>
        <p:spPr>
          <a:xfrm>
            <a:off x="6802075" y="1066800"/>
            <a:ext cx="17172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dat_mua:GiaoDich</a:t>
            </a:r>
            <a:endParaRPr u="sng"/>
          </a:p>
        </p:txBody>
      </p:sp>
      <p:cxnSp>
        <p:nvCxnSpPr>
          <p:cNvPr id="1452" name="Google Shape;1452;p96"/>
          <p:cNvCxnSpPr>
            <a:stCxn id="1446" idx="3"/>
            <a:endCxn id="1451" idx="1"/>
          </p:cNvCxnSpPr>
          <p:nvPr/>
        </p:nvCxnSpPr>
        <p:spPr>
          <a:xfrm>
            <a:off x="5648725" y="1193394"/>
            <a:ext cx="1153500" cy="135900"/>
          </a:xfrm>
          <a:prstGeom prst="straightConnector1">
            <a:avLst/>
          </a:prstGeom>
          <a:noFill/>
          <a:ln cap="flat" cmpd="sng" w="9525">
            <a:solidFill>
              <a:schemeClr val="dk2"/>
            </a:solidFill>
            <a:prstDash val="solid"/>
            <a:round/>
            <a:headEnd len="med" w="med" type="none"/>
            <a:tailEnd len="med" w="med" type="none"/>
          </a:ln>
        </p:spPr>
      </p:cxnSp>
      <p:cxnSp>
        <p:nvCxnSpPr>
          <p:cNvPr id="1453" name="Google Shape;1453;p96"/>
          <p:cNvCxnSpPr>
            <a:stCxn id="1449" idx="3"/>
            <a:endCxn id="1451" idx="1"/>
          </p:cNvCxnSpPr>
          <p:nvPr/>
        </p:nvCxnSpPr>
        <p:spPr>
          <a:xfrm flipH="1" rot="10800000">
            <a:off x="5648725" y="1329289"/>
            <a:ext cx="1153500" cy="527100"/>
          </a:xfrm>
          <a:prstGeom prst="straightConnector1">
            <a:avLst/>
          </a:prstGeom>
          <a:noFill/>
          <a:ln cap="flat" cmpd="sng" w="9525">
            <a:solidFill>
              <a:schemeClr val="dk2"/>
            </a:solidFill>
            <a:prstDash val="solid"/>
            <a:round/>
            <a:headEnd len="med" w="med" type="none"/>
            <a:tailEnd len="med" w="med" type="none"/>
          </a:ln>
        </p:spPr>
      </p:cxnSp>
      <p:cxnSp>
        <p:nvCxnSpPr>
          <p:cNvPr id="1454" name="Google Shape;1454;p96"/>
          <p:cNvCxnSpPr>
            <a:stCxn id="1431" idx="3"/>
            <a:endCxn id="1446" idx="1"/>
          </p:cNvCxnSpPr>
          <p:nvPr/>
        </p:nvCxnSpPr>
        <p:spPr>
          <a:xfrm flipH="1" rot="10800000">
            <a:off x="3247617" y="1193449"/>
            <a:ext cx="963600" cy="27000"/>
          </a:xfrm>
          <a:prstGeom prst="straightConnector1">
            <a:avLst/>
          </a:prstGeom>
          <a:noFill/>
          <a:ln cap="flat" cmpd="sng" w="9525">
            <a:solidFill>
              <a:schemeClr val="dk2"/>
            </a:solidFill>
            <a:prstDash val="solid"/>
            <a:round/>
            <a:headEnd len="med" w="med" type="none"/>
            <a:tailEnd len="med" w="med" type="none"/>
          </a:ln>
        </p:spPr>
      </p:cxnSp>
      <p:cxnSp>
        <p:nvCxnSpPr>
          <p:cNvPr id="1455" name="Google Shape;1455;p96"/>
          <p:cNvCxnSpPr>
            <a:stCxn id="1434" idx="3"/>
            <a:endCxn id="1449" idx="1"/>
          </p:cNvCxnSpPr>
          <p:nvPr/>
        </p:nvCxnSpPr>
        <p:spPr>
          <a:xfrm flipH="1" rot="10800000">
            <a:off x="3247617" y="1856433"/>
            <a:ext cx="963600" cy="244500"/>
          </a:xfrm>
          <a:prstGeom prst="straightConnector1">
            <a:avLst/>
          </a:prstGeom>
          <a:noFill/>
          <a:ln cap="flat" cmpd="sng" w="9525">
            <a:solidFill>
              <a:schemeClr val="dk2"/>
            </a:solidFill>
            <a:prstDash val="solid"/>
            <a:round/>
            <a:headEnd len="med" w="med" type="none"/>
            <a:tailEnd len="med" w="med" type="none"/>
          </a:ln>
        </p:spPr>
      </p:cxnSp>
      <p:sp>
        <p:nvSpPr>
          <p:cNvPr id="1456" name="Google Shape;1456;p96"/>
          <p:cNvSpPr/>
          <p:nvPr/>
        </p:nvSpPr>
        <p:spPr>
          <a:xfrm>
            <a:off x="6802225" y="2819400"/>
            <a:ext cx="1793400" cy="524700"/>
          </a:xfrm>
          <a:prstGeom prst="rect">
            <a:avLst/>
          </a:prstGeom>
          <a:noFill/>
          <a:ln cap="flat" cmpd="sng" w="9525">
            <a:solidFill>
              <a:schemeClr val="dk2"/>
            </a:solidFill>
            <a:prstDash val="solid"/>
            <a:round/>
            <a:headEnd len="sm" w="sm" type="none"/>
            <a:tailEnd len="sm" w="sm" type="none"/>
          </a:ln>
        </p:spPr>
        <p:txBody>
          <a:bodyPr anchorCtr="0" anchor="ctr" bIns="91425" lIns="54000" spcFirstLastPara="1" rIns="54000" wrap="square" tIns="91425">
            <a:noAutofit/>
          </a:bodyPr>
          <a:lstStyle/>
          <a:p>
            <a:pPr indent="0" lvl="0" marL="0" rtl="0" algn="ctr">
              <a:spcBef>
                <a:spcPts val="0"/>
              </a:spcBef>
              <a:spcAft>
                <a:spcPts val="0"/>
              </a:spcAft>
              <a:buNone/>
            </a:pPr>
            <a:r>
              <a:rPr lang="en-GB" u="sng"/>
              <a:t>nhap_hang:GiaoDich</a:t>
            </a:r>
            <a:endParaRPr u="sng"/>
          </a:p>
        </p:txBody>
      </p:sp>
      <p:grpSp>
        <p:nvGrpSpPr>
          <p:cNvPr id="1457" name="Google Shape;1457;p96"/>
          <p:cNvGrpSpPr/>
          <p:nvPr/>
        </p:nvGrpSpPr>
        <p:grpSpPr>
          <a:xfrm>
            <a:off x="4211313" y="2342556"/>
            <a:ext cx="1437412" cy="508704"/>
            <a:chOff x="4211313" y="2342556"/>
            <a:chExt cx="1437412" cy="508704"/>
          </a:xfrm>
        </p:grpSpPr>
        <p:sp>
          <p:nvSpPr>
            <p:cNvPr id="1458" name="Google Shape;1458;p96"/>
            <p:cNvSpPr/>
            <p:nvPr/>
          </p:nvSpPr>
          <p:spPr>
            <a:xfrm>
              <a:off x="4211313" y="2342556"/>
              <a:ext cx="1437412" cy="253548"/>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_:DanhMuc</a:t>
              </a:r>
              <a:endParaRPr u="sng"/>
            </a:p>
          </p:txBody>
        </p:sp>
        <p:sp>
          <p:nvSpPr>
            <p:cNvPr id="1459" name="Google Shape;1459;p96"/>
            <p:cNvSpPr/>
            <p:nvPr/>
          </p:nvSpPr>
          <p:spPr>
            <a:xfrm>
              <a:off x="4211313" y="2597712"/>
              <a:ext cx="1437412" cy="253548"/>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gia_tri = -40</a:t>
              </a:r>
              <a:endParaRPr/>
            </a:p>
          </p:txBody>
        </p:sp>
      </p:grpSp>
      <p:grpSp>
        <p:nvGrpSpPr>
          <p:cNvPr id="1460" name="Google Shape;1460;p96"/>
          <p:cNvGrpSpPr/>
          <p:nvPr/>
        </p:nvGrpSpPr>
        <p:grpSpPr>
          <a:xfrm>
            <a:off x="4211313" y="2966272"/>
            <a:ext cx="1437412" cy="508704"/>
            <a:chOff x="4211313" y="2966272"/>
            <a:chExt cx="1437412" cy="508704"/>
          </a:xfrm>
        </p:grpSpPr>
        <p:sp>
          <p:nvSpPr>
            <p:cNvPr id="1461" name="Google Shape;1461;p96"/>
            <p:cNvSpPr/>
            <p:nvPr/>
          </p:nvSpPr>
          <p:spPr>
            <a:xfrm>
              <a:off x="4211313" y="2966272"/>
              <a:ext cx="1437412" cy="253548"/>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_:DanhMuc</a:t>
              </a:r>
              <a:endParaRPr u="sng"/>
            </a:p>
          </p:txBody>
        </p:sp>
        <p:sp>
          <p:nvSpPr>
            <p:cNvPr id="1462" name="Google Shape;1462;p96"/>
            <p:cNvSpPr/>
            <p:nvPr/>
          </p:nvSpPr>
          <p:spPr>
            <a:xfrm>
              <a:off x="4211313" y="3221428"/>
              <a:ext cx="1437412" cy="253548"/>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gia_tri = 40</a:t>
              </a:r>
              <a:endParaRPr/>
            </a:p>
          </p:txBody>
        </p:sp>
      </p:grpSp>
      <p:cxnSp>
        <p:nvCxnSpPr>
          <p:cNvPr id="1463" name="Google Shape;1463;p96"/>
          <p:cNvCxnSpPr>
            <a:stCxn id="1434" idx="3"/>
            <a:endCxn id="1458" idx="1"/>
          </p:cNvCxnSpPr>
          <p:nvPr/>
        </p:nvCxnSpPr>
        <p:spPr>
          <a:xfrm>
            <a:off x="3247617" y="2100933"/>
            <a:ext cx="963600" cy="368400"/>
          </a:xfrm>
          <a:prstGeom prst="straightConnector1">
            <a:avLst/>
          </a:prstGeom>
          <a:noFill/>
          <a:ln cap="flat" cmpd="sng" w="9525">
            <a:solidFill>
              <a:schemeClr val="dk2"/>
            </a:solidFill>
            <a:prstDash val="solid"/>
            <a:round/>
            <a:headEnd len="med" w="med" type="none"/>
            <a:tailEnd len="med" w="med" type="none"/>
          </a:ln>
        </p:spPr>
      </p:cxnSp>
      <p:cxnSp>
        <p:nvCxnSpPr>
          <p:cNvPr id="1464" name="Google Shape;1464;p96"/>
          <p:cNvCxnSpPr>
            <a:stCxn id="1437" idx="3"/>
            <a:endCxn id="1461" idx="1"/>
          </p:cNvCxnSpPr>
          <p:nvPr/>
        </p:nvCxnSpPr>
        <p:spPr>
          <a:xfrm>
            <a:off x="2980365" y="2981412"/>
            <a:ext cx="1230900" cy="111600"/>
          </a:xfrm>
          <a:prstGeom prst="straightConnector1">
            <a:avLst/>
          </a:prstGeom>
          <a:noFill/>
          <a:ln cap="flat" cmpd="sng" w="9525">
            <a:solidFill>
              <a:schemeClr val="dk2"/>
            </a:solidFill>
            <a:prstDash val="solid"/>
            <a:round/>
            <a:headEnd len="med" w="med" type="none"/>
            <a:tailEnd len="med" w="med" type="none"/>
          </a:ln>
        </p:spPr>
      </p:cxnSp>
      <p:cxnSp>
        <p:nvCxnSpPr>
          <p:cNvPr id="1465" name="Google Shape;1465;p96"/>
          <p:cNvCxnSpPr>
            <a:stCxn id="1458" idx="3"/>
            <a:endCxn id="1456" idx="1"/>
          </p:cNvCxnSpPr>
          <p:nvPr/>
        </p:nvCxnSpPr>
        <p:spPr>
          <a:xfrm>
            <a:off x="5648725" y="2469331"/>
            <a:ext cx="1153500" cy="612300"/>
          </a:xfrm>
          <a:prstGeom prst="straightConnector1">
            <a:avLst/>
          </a:prstGeom>
          <a:noFill/>
          <a:ln cap="flat" cmpd="sng" w="9525">
            <a:solidFill>
              <a:schemeClr val="dk2"/>
            </a:solidFill>
            <a:prstDash val="solid"/>
            <a:round/>
            <a:headEnd len="med" w="med" type="none"/>
            <a:tailEnd len="med" w="med" type="none"/>
          </a:ln>
        </p:spPr>
      </p:cxnSp>
      <p:cxnSp>
        <p:nvCxnSpPr>
          <p:cNvPr id="1466" name="Google Shape;1466;p96"/>
          <p:cNvCxnSpPr>
            <a:stCxn id="1461" idx="3"/>
            <a:endCxn id="1456" idx="1"/>
          </p:cNvCxnSpPr>
          <p:nvPr/>
        </p:nvCxnSpPr>
        <p:spPr>
          <a:xfrm flipH="1" rot="10800000">
            <a:off x="5648725" y="3081646"/>
            <a:ext cx="1153500" cy="11400"/>
          </a:xfrm>
          <a:prstGeom prst="straightConnector1">
            <a:avLst/>
          </a:prstGeom>
          <a:noFill/>
          <a:ln cap="flat" cmpd="sng" w="9525">
            <a:solidFill>
              <a:schemeClr val="dk2"/>
            </a:solidFill>
            <a:prstDash val="solid"/>
            <a:round/>
            <a:headEnd len="med" w="med" type="none"/>
            <a:tailEnd len="med" w="med" type="none"/>
          </a:ln>
        </p:spPr>
      </p:cxnSp>
      <p:sp>
        <p:nvSpPr>
          <p:cNvPr id="1467" name="Google Shape;1467;p96"/>
          <p:cNvSpPr/>
          <p:nvPr/>
        </p:nvSpPr>
        <p:spPr>
          <a:xfrm>
            <a:off x="6802225" y="4191000"/>
            <a:ext cx="1793400" cy="524700"/>
          </a:xfrm>
          <a:prstGeom prst="rect">
            <a:avLst/>
          </a:prstGeom>
          <a:noFill/>
          <a:ln cap="flat" cmpd="sng" w="9525">
            <a:solidFill>
              <a:schemeClr val="dk2"/>
            </a:solidFill>
            <a:prstDash val="solid"/>
            <a:round/>
            <a:headEnd len="sm" w="sm" type="none"/>
            <a:tailEnd len="sm" w="sm" type="none"/>
          </a:ln>
        </p:spPr>
        <p:txBody>
          <a:bodyPr anchorCtr="0" anchor="ctr" bIns="91425" lIns="54000" spcFirstLastPara="1" rIns="54000" wrap="square" tIns="91425">
            <a:noAutofit/>
          </a:bodyPr>
          <a:lstStyle/>
          <a:p>
            <a:pPr indent="0" lvl="0" marL="0" rtl="0" algn="ctr">
              <a:spcBef>
                <a:spcPts val="0"/>
              </a:spcBef>
              <a:spcAft>
                <a:spcPts val="0"/>
              </a:spcAft>
              <a:buNone/>
            </a:pPr>
            <a:r>
              <a:rPr lang="en-GB" u="sng"/>
              <a:t>ban_hang:GiaoDich</a:t>
            </a:r>
            <a:endParaRPr u="sng"/>
          </a:p>
        </p:txBody>
      </p:sp>
      <p:grpSp>
        <p:nvGrpSpPr>
          <p:cNvPr id="1468" name="Google Shape;1468;p96"/>
          <p:cNvGrpSpPr/>
          <p:nvPr/>
        </p:nvGrpSpPr>
        <p:grpSpPr>
          <a:xfrm>
            <a:off x="4211313" y="3579889"/>
            <a:ext cx="1437412" cy="508704"/>
            <a:chOff x="4211313" y="3579889"/>
            <a:chExt cx="1437412" cy="508704"/>
          </a:xfrm>
        </p:grpSpPr>
        <p:sp>
          <p:nvSpPr>
            <p:cNvPr id="1469" name="Google Shape;1469;p96"/>
            <p:cNvSpPr/>
            <p:nvPr/>
          </p:nvSpPr>
          <p:spPr>
            <a:xfrm>
              <a:off x="4211313" y="3579889"/>
              <a:ext cx="1437412" cy="253548"/>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_:DanhMuc</a:t>
              </a:r>
              <a:endParaRPr u="sng"/>
            </a:p>
          </p:txBody>
        </p:sp>
        <p:sp>
          <p:nvSpPr>
            <p:cNvPr id="1470" name="Google Shape;1470;p96"/>
            <p:cNvSpPr/>
            <p:nvPr/>
          </p:nvSpPr>
          <p:spPr>
            <a:xfrm>
              <a:off x="4211313" y="3835044"/>
              <a:ext cx="1437412" cy="253548"/>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gia_tri = -25</a:t>
              </a:r>
              <a:endParaRPr/>
            </a:p>
          </p:txBody>
        </p:sp>
      </p:grpSp>
      <p:grpSp>
        <p:nvGrpSpPr>
          <p:cNvPr id="1471" name="Google Shape;1471;p96"/>
          <p:cNvGrpSpPr/>
          <p:nvPr/>
        </p:nvGrpSpPr>
        <p:grpSpPr>
          <a:xfrm>
            <a:off x="4211313" y="4203605"/>
            <a:ext cx="1437412" cy="508704"/>
            <a:chOff x="4211313" y="4203605"/>
            <a:chExt cx="1437412" cy="508704"/>
          </a:xfrm>
        </p:grpSpPr>
        <p:sp>
          <p:nvSpPr>
            <p:cNvPr id="1472" name="Google Shape;1472;p96"/>
            <p:cNvSpPr/>
            <p:nvPr/>
          </p:nvSpPr>
          <p:spPr>
            <a:xfrm>
              <a:off x="4211313" y="4203605"/>
              <a:ext cx="1437412" cy="253548"/>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_:DanhMuc</a:t>
              </a:r>
              <a:endParaRPr u="sng"/>
            </a:p>
          </p:txBody>
        </p:sp>
        <p:sp>
          <p:nvSpPr>
            <p:cNvPr id="1473" name="Google Shape;1473;p96"/>
            <p:cNvSpPr/>
            <p:nvPr/>
          </p:nvSpPr>
          <p:spPr>
            <a:xfrm>
              <a:off x="4211313" y="4458760"/>
              <a:ext cx="1437412" cy="253548"/>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gia_tri = 25</a:t>
              </a:r>
              <a:endParaRPr/>
            </a:p>
          </p:txBody>
        </p:sp>
      </p:grpSp>
      <p:cxnSp>
        <p:nvCxnSpPr>
          <p:cNvPr id="1474" name="Google Shape;1474;p96"/>
          <p:cNvCxnSpPr>
            <a:stCxn id="1437" idx="3"/>
            <a:endCxn id="1469" idx="1"/>
          </p:cNvCxnSpPr>
          <p:nvPr/>
        </p:nvCxnSpPr>
        <p:spPr>
          <a:xfrm>
            <a:off x="2980365" y="2981412"/>
            <a:ext cx="1230900" cy="725400"/>
          </a:xfrm>
          <a:prstGeom prst="straightConnector1">
            <a:avLst/>
          </a:prstGeom>
          <a:noFill/>
          <a:ln cap="flat" cmpd="sng" w="9525">
            <a:solidFill>
              <a:schemeClr val="dk2"/>
            </a:solidFill>
            <a:prstDash val="solid"/>
            <a:round/>
            <a:headEnd len="med" w="med" type="none"/>
            <a:tailEnd len="med" w="med" type="none"/>
          </a:ln>
        </p:spPr>
      </p:cxnSp>
      <p:cxnSp>
        <p:nvCxnSpPr>
          <p:cNvPr id="1475" name="Google Shape;1475;p96"/>
          <p:cNvCxnSpPr>
            <a:stCxn id="1440" idx="3"/>
            <a:endCxn id="1472" idx="1"/>
          </p:cNvCxnSpPr>
          <p:nvPr/>
        </p:nvCxnSpPr>
        <p:spPr>
          <a:xfrm>
            <a:off x="2980365" y="3906347"/>
            <a:ext cx="1230900" cy="423900"/>
          </a:xfrm>
          <a:prstGeom prst="straightConnector1">
            <a:avLst/>
          </a:prstGeom>
          <a:noFill/>
          <a:ln cap="flat" cmpd="sng" w="9525">
            <a:solidFill>
              <a:schemeClr val="dk2"/>
            </a:solidFill>
            <a:prstDash val="solid"/>
            <a:round/>
            <a:headEnd len="med" w="med" type="none"/>
            <a:tailEnd len="med" w="med" type="none"/>
          </a:ln>
        </p:spPr>
      </p:cxnSp>
      <p:cxnSp>
        <p:nvCxnSpPr>
          <p:cNvPr id="1476" name="Google Shape;1476;p96"/>
          <p:cNvCxnSpPr>
            <a:stCxn id="1469" idx="3"/>
            <a:endCxn id="1467" idx="1"/>
          </p:cNvCxnSpPr>
          <p:nvPr/>
        </p:nvCxnSpPr>
        <p:spPr>
          <a:xfrm>
            <a:off x="5648725" y="3706663"/>
            <a:ext cx="1153500" cy="746700"/>
          </a:xfrm>
          <a:prstGeom prst="straightConnector1">
            <a:avLst/>
          </a:prstGeom>
          <a:noFill/>
          <a:ln cap="flat" cmpd="sng" w="9525">
            <a:solidFill>
              <a:schemeClr val="dk2"/>
            </a:solidFill>
            <a:prstDash val="solid"/>
            <a:round/>
            <a:headEnd len="med" w="med" type="none"/>
            <a:tailEnd len="med" w="med" type="none"/>
          </a:ln>
        </p:spPr>
      </p:cxnSp>
      <p:cxnSp>
        <p:nvCxnSpPr>
          <p:cNvPr id="1477" name="Google Shape;1477;p96"/>
          <p:cNvCxnSpPr>
            <a:stCxn id="1472" idx="3"/>
            <a:endCxn id="1467" idx="1"/>
          </p:cNvCxnSpPr>
          <p:nvPr/>
        </p:nvCxnSpPr>
        <p:spPr>
          <a:xfrm>
            <a:off x="5648725" y="4330379"/>
            <a:ext cx="1153500" cy="123000"/>
          </a:xfrm>
          <a:prstGeom prst="straightConnector1">
            <a:avLst/>
          </a:prstGeom>
          <a:noFill/>
          <a:ln cap="flat" cmpd="sng" w="9525">
            <a:solidFill>
              <a:schemeClr val="dk2"/>
            </a:solidFill>
            <a:prstDash val="solid"/>
            <a:round/>
            <a:headEnd len="med" w="med" type="none"/>
            <a:tailEnd len="med" w="med" type="none"/>
          </a:ln>
        </p:spPr>
      </p:cxnSp>
      <p:grpSp>
        <p:nvGrpSpPr>
          <p:cNvPr id="1478" name="Google Shape;1478;p96"/>
          <p:cNvGrpSpPr/>
          <p:nvPr/>
        </p:nvGrpSpPr>
        <p:grpSpPr>
          <a:xfrm>
            <a:off x="4211313" y="4826779"/>
            <a:ext cx="1437412" cy="508704"/>
            <a:chOff x="4211313" y="4826779"/>
            <a:chExt cx="1437412" cy="508704"/>
          </a:xfrm>
        </p:grpSpPr>
        <p:sp>
          <p:nvSpPr>
            <p:cNvPr id="1479" name="Google Shape;1479;p96"/>
            <p:cNvSpPr/>
            <p:nvPr/>
          </p:nvSpPr>
          <p:spPr>
            <a:xfrm>
              <a:off x="4211313" y="4826779"/>
              <a:ext cx="1437412" cy="253548"/>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_:DanhMuc</a:t>
              </a:r>
              <a:endParaRPr u="sng"/>
            </a:p>
          </p:txBody>
        </p:sp>
        <p:sp>
          <p:nvSpPr>
            <p:cNvPr id="1480" name="Google Shape;1480;p96"/>
            <p:cNvSpPr/>
            <p:nvPr/>
          </p:nvSpPr>
          <p:spPr>
            <a:xfrm>
              <a:off x="4211313" y="5081935"/>
              <a:ext cx="1437412" cy="253548"/>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gia_tri = -25</a:t>
              </a:r>
              <a:endParaRPr/>
            </a:p>
          </p:txBody>
        </p:sp>
      </p:grpSp>
      <p:grpSp>
        <p:nvGrpSpPr>
          <p:cNvPr id="1481" name="Google Shape;1481;p96"/>
          <p:cNvGrpSpPr/>
          <p:nvPr/>
        </p:nvGrpSpPr>
        <p:grpSpPr>
          <a:xfrm>
            <a:off x="4211313" y="5489775"/>
            <a:ext cx="1437412" cy="508704"/>
            <a:chOff x="4211313" y="5489775"/>
            <a:chExt cx="1437412" cy="508704"/>
          </a:xfrm>
        </p:grpSpPr>
        <p:sp>
          <p:nvSpPr>
            <p:cNvPr id="1482" name="Google Shape;1482;p96"/>
            <p:cNvSpPr/>
            <p:nvPr/>
          </p:nvSpPr>
          <p:spPr>
            <a:xfrm>
              <a:off x="4211313" y="5489775"/>
              <a:ext cx="1437412" cy="253548"/>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_:DanhMuc</a:t>
              </a:r>
              <a:endParaRPr u="sng"/>
            </a:p>
          </p:txBody>
        </p:sp>
        <p:sp>
          <p:nvSpPr>
            <p:cNvPr id="1483" name="Google Shape;1483;p96"/>
            <p:cNvSpPr/>
            <p:nvPr/>
          </p:nvSpPr>
          <p:spPr>
            <a:xfrm>
              <a:off x="4211313" y="5744930"/>
              <a:ext cx="1437412" cy="253548"/>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gia_tri = 25</a:t>
              </a:r>
              <a:endParaRPr/>
            </a:p>
          </p:txBody>
        </p:sp>
      </p:grpSp>
      <p:sp>
        <p:nvSpPr>
          <p:cNvPr id="1484" name="Google Shape;1484;p96"/>
          <p:cNvSpPr/>
          <p:nvPr/>
        </p:nvSpPr>
        <p:spPr>
          <a:xfrm>
            <a:off x="6802225" y="4953000"/>
            <a:ext cx="1793400" cy="524700"/>
          </a:xfrm>
          <a:prstGeom prst="rect">
            <a:avLst/>
          </a:prstGeom>
          <a:noFill/>
          <a:ln cap="flat" cmpd="sng" w="9525">
            <a:solidFill>
              <a:schemeClr val="dk2"/>
            </a:solidFill>
            <a:prstDash val="solid"/>
            <a:round/>
            <a:headEnd len="sm" w="sm" type="none"/>
            <a:tailEnd len="sm" w="sm" type="none"/>
          </a:ln>
        </p:spPr>
        <p:txBody>
          <a:bodyPr anchorCtr="0" anchor="ctr" bIns="91425" lIns="54000" spcFirstLastPara="1" rIns="54000" wrap="square" tIns="91425">
            <a:noAutofit/>
          </a:bodyPr>
          <a:lstStyle/>
          <a:p>
            <a:pPr indent="0" lvl="0" marL="0" rtl="0" algn="ctr">
              <a:spcBef>
                <a:spcPts val="0"/>
              </a:spcBef>
              <a:spcAft>
                <a:spcPts val="0"/>
              </a:spcAft>
              <a:buNone/>
            </a:pPr>
            <a:r>
              <a:rPr lang="en-GB" u="sng"/>
              <a:t>giao</a:t>
            </a:r>
            <a:r>
              <a:rPr lang="en-GB" u="sng"/>
              <a:t>_hang:GiaoDich</a:t>
            </a:r>
            <a:endParaRPr u="sng"/>
          </a:p>
        </p:txBody>
      </p:sp>
      <p:cxnSp>
        <p:nvCxnSpPr>
          <p:cNvPr id="1485" name="Google Shape;1485;p96"/>
          <p:cNvCxnSpPr>
            <a:stCxn id="1482" idx="1"/>
            <a:endCxn id="1443" idx="3"/>
          </p:cNvCxnSpPr>
          <p:nvPr/>
        </p:nvCxnSpPr>
        <p:spPr>
          <a:xfrm rot="10800000">
            <a:off x="2980413" y="4839849"/>
            <a:ext cx="1230900" cy="776700"/>
          </a:xfrm>
          <a:prstGeom prst="straightConnector1">
            <a:avLst/>
          </a:prstGeom>
          <a:noFill/>
          <a:ln cap="flat" cmpd="sng" w="9525">
            <a:solidFill>
              <a:schemeClr val="dk2"/>
            </a:solidFill>
            <a:prstDash val="solid"/>
            <a:round/>
            <a:headEnd len="med" w="med" type="none"/>
            <a:tailEnd len="med" w="med" type="none"/>
          </a:ln>
        </p:spPr>
      </p:cxnSp>
      <p:cxnSp>
        <p:nvCxnSpPr>
          <p:cNvPr id="1486" name="Google Shape;1486;p96"/>
          <p:cNvCxnSpPr>
            <a:stCxn id="1479" idx="1"/>
            <a:endCxn id="1440" idx="3"/>
          </p:cNvCxnSpPr>
          <p:nvPr/>
        </p:nvCxnSpPr>
        <p:spPr>
          <a:xfrm rot="10800000">
            <a:off x="2980413" y="3906253"/>
            <a:ext cx="1230900" cy="1047300"/>
          </a:xfrm>
          <a:prstGeom prst="straightConnector1">
            <a:avLst/>
          </a:prstGeom>
          <a:noFill/>
          <a:ln cap="flat" cmpd="sng" w="9525">
            <a:solidFill>
              <a:schemeClr val="dk2"/>
            </a:solidFill>
            <a:prstDash val="solid"/>
            <a:round/>
            <a:headEnd len="med" w="med" type="none"/>
            <a:tailEnd len="med" w="med" type="none"/>
          </a:ln>
        </p:spPr>
      </p:cxnSp>
      <p:cxnSp>
        <p:nvCxnSpPr>
          <p:cNvPr id="1487" name="Google Shape;1487;p96"/>
          <p:cNvCxnSpPr>
            <a:stCxn id="1479" idx="3"/>
            <a:endCxn id="1484" idx="1"/>
          </p:cNvCxnSpPr>
          <p:nvPr/>
        </p:nvCxnSpPr>
        <p:spPr>
          <a:xfrm>
            <a:off x="5648725" y="4953553"/>
            <a:ext cx="1153500" cy="261900"/>
          </a:xfrm>
          <a:prstGeom prst="straightConnector1">
            <a:avLst/>
          </a:prstGeom>
          <a:noFill/>
          <a:ln cap="flat" cmpd="sng" w="9525">
            <a:solidFill>
              <a:schemeClr val="dk2"/>
            </a:solidFill>
            <a:prstDash val="solid"/>
            <a:round/>
            <a:headEnd len="med" w="med" type="none"/>
            <a:tailEnd len="med" w="med" type="none"/>
          </a:ln>
        </p:spPr>
      </p:cxnSp>
      <p:cxnSp>
        <p:nvCxnSpPr>
          <p:cNvPr id="1488" name="Google Shape;1488;p96"/>
          <p:cNvCxnSpPr>
            <a:stCxn id="1482" idx="3"/>
            <a:endCxn id="1484" idx="1"/>
          </p:cNvCxnSpPr>
          <p:nvPr/>
        </p:nvCxnSpPr>
        <p:spPr>
          <a:xfrm flipH="1" rot="10800000">
            <a:off x="5648725" y="5215449"/>
            <a:ext cx="1153500" cy="401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2" name="Shape 1492"/>
        <p:cNvGrpSpPr/>
        <p:nvPr/>
      </p:nvGrpSpPr>
      <p:grpSpPr>
        <a:xfrm>
          <a:off x="0" y="0"/>
          <a:ext cx="0" cy="0"/>
          <a:chOff x="0" y="0"/>
          <a:chExt cx="0" cy="0"/>
        </a:xfrm>
      </p:grpSpPr>
      <p:sp>
        <p:nvSpPr>
          <p:cNvPr id="1493" name="Google Shape;1493;p97"/>
          <p:cNvSpPr/>
          <p:nvPr/>
        </p:nvSpPr>
        <p:spPr>
          <a:xfrm>
            <a:off x="147675" y="2393200"/>
            <a:ext cx="4466400" cy="7635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97"/>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a:t>
            </a:r>
            <a:r>
              <a:rPr lang="en-GB"/>
              <a:t>í dụ 3.23. Sử dụng mẫu tài khoản/giao dịch</a:t>
            </a:r>
            <a:endParaRPr/>
          </a:p>
        </p:txBody>
      </p:sp>
      <p:sp>
        <p:nvSpPr>
          <p:cNvPr id="1495" name="Google Shape;1495;p9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96" name="Google Shape;1496;p97"/>
          <p:cNvSpPr/>
          <p:nvPr/>
        </p:nvSpPr>
        <p:spPr>
          <a:xfrm>
            <a:off x="252325" y="2641804"/>
            <a:ext cx="985500" cy="214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TaiKhoan</a:t>
            </a:r>
            <a:endParaRPr sz="1200"/>
          </a:p>
        </p:txBody>
      </p:sp>
      <p:sp>
        <p:nvSpPr>
          <p:cNvPr id="1497" name="Google Shape;1497;p97"/>
          <p:cNvSpPr/>
          <p:nvPr/>
        </p:nvSpPr>
        <p:spPr>
          <a:xfrm>
            <a:off x="252325" y="2857630"/>
            <a:ext cx="985500" cy="214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t>/so_du</a:t>
            </a:r>
            <a:endParaRPr sz="1200"/>
          </a:p>
        </p:txBody>
      </p:sp>
      <p:sp>
        <p:nvSpPr>
          <p:cNvPr id="1498" name="Google Shape;1498;p97"/>
          <p:cNvSpPr/>
          <p:nvPr/>
        </p:nvSpPr>
        <p:spPr>
          <a:xfrm>
            <a:off x="1778186" y="2641804"/>
            <a:ext cx="985500" cy="214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DanhMuc</a:t>
            </a:r>
            <a:endParaRPr sz="1200"/>
          </a:p>
        </p:txBody>
      </p:sp>
      <p:sp>
        <p:nvSpPr>
          <p:cNvPr id="1499" name="Google Shape;1499;p97"/>
          <p:cNvSpPr/>
          <p:nvPr/>
        </p:nvSpPr>
        <p:spPr>
          <a:xfrm>
            <a:off x="1778186" y="2857630"/>
            <a:ext cx="985500" cy="214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t>gia_tri</a:t>
            </a:r>
            <a:endParaRPr sz="1200"/>
          </a:p>
        </p:txBody>
      </p:sp>
      <p:sp>
        <p:nvSpPr>
          <p:cNvPr id="1500" name="Google Shape;1500;p97"/>
          <p:cNvSpPr/>
          <p:nvPr/>
        </p:nvSpPr>
        <p:spPr>
          <a:xfrm>
            <a:off x="3380247" y="2598648"/>
            <a:ext cx="985500" cy="297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GiaoDich</a:t>
            </a:r>
            <a:endParaRPr sz="1200"/>
          </a:p>
        </p:txBody>
      </p:sp>
      <p:sp>
        <p:nvSpPr>
          <p:cNvPr id="1501" name="Google Shape;1501;p97"/>
          <p:cNvSpPr txBox="1"/>
          <p:nvPr/>
        </p:nvSpPr>
        <p:spPr>
          <a:xfrm>
            <a:off x="1222403" y="2684853"/>
            <a:ext cx="267600" cy="149700"/>
          </a:xfrm>
          <a:prstGeom prst="rect">
            <a:avLst/>
          </a:prstGeom>
          <a:noFill/>
          <a:ln>
            <a:noFill/>
          </a:ln>
        </p:spPr>
        <p:txBody>
          <a:bodyPr anchorCtr="0" anchor="t" bIns="54000" lIns="54000" spcFirstLastPara="1" rIns="54000" wrap="square" tIns="54000">
            <a:noAutofit/>
          </a:bodyPr>
          <a:lstStyle/>
          <a:p>
            <a:pPr indent="0" lvl="0" marL="0" rtl="0" algn="l">
              <a:spcBef>
                <a:spcPts val="0"/>
              </a:spcBef>
              <a:spcAft>
                <a:spcPts val="0"/>
              </a:spcAft>
              <a:buNone/>
            </a:pPr>
            <a:r>
              <a:rPr lang="en-GB" sz="1200"/>
              <a:t>1</a:t>
            </a:r>
            <a:endParaRPr sz="1200"/>
          </a:p>
        </p:txBody>
      </p:sp>
      <p:sp>
        <p:nvSpPr>
          <p:cNvPr id="1502" name="Google Shape;1502;p97"/>
          <p:cNvSpPr txBox="1"/>
          <p:nvPr/>
        </p:nvSpPr>
        <p:spPr>
          <a:xfrm>
            <a:off x="1479769" y="2684855"/>
            <a:ext cx="392700" cy="149700"/>
          </a:xfrm>
          <a:prstGeom prst="rect">
            <a:avLst/>
          </a:prstGeom>
          <a:noFill/>
          <a:ln>
            <a:noFill/>
          </a:ln>
        </p:spPr>
        <p:txBody>
          <a:bodyPr anchorCtr="0" anchor="t" bIns="54000" lIns="54000" spcFirstLastPara="1" rIns="54000" wrap="square" tIns="54000">
            <a:noAutofit/>
          </a:bodyPr>
          <a:lstStyle/>
          <a:p>
            <a:pPr indent="0" lvl="0" marL="0" rtl="0" algn="l">
              <a:spcBef>
                <a:spcPts val="0"/>
              </a:spcBef>
              <a:spcAft>
                <a:spcPts val="0"/>
              </a:spcAft>
              <a:buNone/>
            </a:pPr>
            <a:r>
              <a:rPr lang="en-GB" sz="1200"/>
              <a:t>*</a:t>
            </a:r>
            <a:endParaRPr sz="1200"/>
          </a:p>
        </p:txBody>
      </p:sp>
      <p:sp>
        <p:nvSpPr>
          <p:cNvPr id="1503" name="Google Shape;1503;p97"/>
          <p:cNvSpPr txBox="1"/>
          <p:nvPr/>
        </p:nvSpPr>
        <p:spPr>
          <a:xfrm>
            <a:off x="2730675" y="2684853"/>
            <a:ext cx="267600" cy="149700"/>
          </a:xfrm>
          <a:prstGeom prst="rect">
            <a:avLst/>
          </a:prstGeom>
          <a:noFill/>
          <a:ln>
            <a:noFill/>
          </a:ln>
        </p:spPr>
        <p:txBody>
          <a:bodyPr anchorCtr="0" anchor="t" bIns="54000" lIns="54000" spcFirstLastPara="1" rIns="54000" wrap="square" tIns="54000">
            <a:noAutofit/>
          </a:bodyPr>
          <a:lstStyle/>
          <a:p>
            <a:pPr indent="0" lvl="0" marL="0" rtl="0" algn="l">
              <a:spcBef>
                <a:spcPts val="0"/>
              </a:spcBef>
              <a:spcAft>
                <a:spcPts val="0"/>
              </a:spcAft>
              <a:buNone/>
            </a:pPr>
            <a:r>
              <a:rPr lang="en-GB" sz="1200"/>
              <a:t>2</a:t>
            </a:r>
            <a:endParaRPr sz="1200"/>
          </a:p>
        </p:txBody>
      </p:sp>
      <p:sp>
        <p:nvSpPr>
          <p:cNvPr id="1504" name="Google Shape;1504;p97"/>
          <p:cNvSpPr txBox="1"/>
          <p:nvPr/>
        </p:nvSpPr>
        <p:spPr>
          <a:xfrm>
            <a:off x="3189338" y="2684853"/>
            <a:ext cx="267600" cy="149700"/>
          </a:xfrm>
          <a:prstGeom prst="rect">
            <a:avLst/>
          </a:prstGeom>
          <a:noFill/>
          <a:ln>
            <a:noFill/>
          </a:ln>
        </p:spPr>
        <p:txBody>
          <a:bodyPr anchorCtr="0" anchor="t" bIns="54000" lIns="54000" spcFirstLastPara="1" rIns="54000" wrap="square" tIns="54000">
            <a:noAutofit/>
          </a:bodyPr>
          <a:lstStyle/>
          <a:p>
            <a:pPr indent="0" lvl="0" marL="0" rtl="0" algn="l">
              <a:spcBef>
                <a:spcPts val="0"/>
              </a:spcBef>
              <a:spcAft>
                <a:spcPts val="0"/>
              </a:spcAft>
              <a:buNone/>
            </a:pPr>
            <a:r>
              <a:rPr lang="en-GB" sz="1200"/>
              <a:t>1</a:t>
            </a:r>
            <a:endParaRPr sz="1200"/>
          </a:p>
        </p:txBody>
      </p:sp>
      <p:sp>
        <p:nvSpPr>
          <p:cNvPr id="1505" name="Google Shape;1505;p97"/>
          <p:cNvSpPr txBox="1"/>
          <p:nvPr/>
        </p:nvSpPr>
        <p:spPr>
          <a:xfrm>
            <a:off x="1376057" y="2473942"/>
            <a:ext cx="463800" cy="126600"/>
          </a:xfrm>
          <a:prstGeom prst="rect">
            <a:avLst/>
          </a:prstGeom>
          <a:noFill/>
          <a:ln>
            <a:noFill/>
          </a:ln>
        </p:spPr>
        <p:txBody>
          <a:bodyPr anchorCtr="0" anchor="t" bIns="91425" lIns="54000" spcFirstLastPara="1" rIns="54000" wrap="square" tIns="91425">
            <a:noAutofit/>
          </a:bodyPr>
          <a:lstStyle/>
          <a:p>
            <a:pPr indent="0" lvl="0" marL="0" rtl="0" algn="l">
              <a:spcBef>
                <a:spcPts val="0"/>
              </a:spcBef>
              <a:spcAft>
                <a:spcPts val="0"/>
              </a:spcAft>
              <a:buNone/>
            </a:pPr>
            <a:r>
              <a:rPr i="1" lang="en-GB" sz="1200"/>
              <a:t>entry</a:t>
            </a:r>
            <a:endParaRPr i="1" sz="1200"/>
          </a:p>
        </p:txBody>
      </p:sp>
      <p:sp>
        <p:nvSpPr>
          <p:cNvPr id="1506" name="Google Shape;1506;p97"/>
          <p:cNvSpPr txBox="1"/>
          <p:nvPr/>
        </p:nvSpPr>
        <p:spPr>
          <a:xfrm>
            <a:off x="2725625" y="2450590"/>
            <a:ext cx="463800" cy="149700"/>
          </a:xfrm>
          <a:prstGeom prst="rect">
            <a:avLst/>
          </a:prstGeom>
          <a:noFill/>
          <a:ln>
            <a:noFill/>
          </a:ln>
        </p:spPr>
        <p:txBody>
          <a:bodyPr anchorCtr="0" anchor="t" bIns="91425" lIns="54000" spcFirstLastPara="1" rIns="54000" wrap="square" tIns="91425">
            <a:noAutofit/>
          </a:bodyPr>
          <a:lstStyle/>
          <a:p>
            <a:pPr indent="0" lvl="0" marL="0" rtl="0" algn="l">
              <a:spcBef>
                <a:spcPts val="0"/>
              </a:spcBef>
              <a:spcAft>
                <a:spcPts val="0"/>
              </a:spcAft>
              <a:buNone/>
            </a:pPr>
            <a:r>
              <a:rPr i="1" lang="en-GB" sz="1200"/>
              <a:t>entry</a:t>
            </a:r>
            <a:endParaRPr i="1" sz="1200"/>
          </a:p>
        </p:txBody>
      </p:sp>
      <p:cxnSp>
        <p:nvCxnSpPr>
          <p:cNvPr id="1507" name="Google Shape;1507;p97"/>
          <p:cNvCxnSpPr>
            <a:stCxn id="1496" idx="3"/>
            <a:endCxn id="1498" idx="1"/>
          </p:cNvCxnSpPr>
          <p:nvPr/>
        </p:nvCxnSpPr>
        <p:spPr>
          <a:xfrm>
            <a:off x="1237825" y="2749054"/>
            <a:ext cx="540300" cy="0"/>
          </a:xfrm>
          <a:prstGeom prst="straightConnector1">
            <a:avLst/>
          </a:prstGeom>
          <a:noFill/>
          <a:ln cap="flat" cmpd="sng" w="9525">
            <a:solidFill>
              <a:schemeClr val="dk2"/>
            </a:solidFill>
            <a:prstDash val="solid"/>
            <a:round/>
            <a:headEnd len="med" w="med" type="none"/>
            <a:tailEnd len="med" w="med" type="none"/>
          </a:ln>
        </p:spPr>
      </p:cxnSp>
      <p:cxnSp>
        <p:nvCxnSpPr>
          <p:cNvPr id="1508" name="Google Shape;1508;p97"/>
          <p:cNvCxnSpPr>
            <a:stCxn id="1498" idx="3"/>
            <a:endCxn id="1500" idx="1"/>
          </p:cNvCxnSpPr>
          <p:nvPr/>
        </p:nvCxnSpPr>
        <p:spPr>
          <a:xfrm flipH="1" rot="10800000">
            <a:off x="2763686" y="2747254"/>
            <a:ext cx="616500" cy="1800"/>
          </a:xfrm>
          <a:prstGeom prst="straightConnector1">
            <a:avLst/>
          </a:prstGeom>
          <a:noFill/>
          <a:ln cap="flat" cmpd="sng" w="9525">
            <a:solidFill>
              <a:schemeClr val="dk2"/>
            </a:solidFill>
            <a:prstDash val="solid"/>
            <a:round/>
            <a:headEnd len="med" w="med" type="none"/>
            <a:tailEnd len="med" w="med" type="none"/>
          </a:ln>
        </p:spPr>
      </p:cxnSp>
      <p:sp>
        <p:nvSpPr>
          <p:cNvPr id="1509" name="Google Shape;1509;p97"/>
          <p:cNvSpPr/>
          <p:nvPr/>
        </p:nvSpPr>
        <p:spPr>
          <a:xfrm>
            <a:off x="3380247" y="3360648"/>
            <a:ext cx="985500" cy="297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KhachHang</a:t>
            </a:r>
            <a:endParaRPr sz="1200"/>
          </a:p>
        </p:txBody>
      </p:sp>
      <p:sp>
        <p:nvSpPr>
          <p:cNvPr id="1510" name="Google Shape;1510;p97"/>
          <p:cNvSpPr/>
          <p:nvPr/>
        </p:nvSpPr>
        <p:spPr>
          <a:xfrm>
            <a:off x="3380247" y="1760448"/>
            <a:ext cx="985500" cy="297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DiaDiem</a:t>
            </a:r>
            <a:endParaRPr sz="1200"/>
          </a:p>
        </p:txBody>
      </p:sp>
      <p:sp>
        <p:nvSpPr>
          <p:cNvPr id="1511" name="Google Shape;1511;p97"/>
          <p:cNvSpPr/>
          <p:nvPr/>
        </p:nvSpPr>
        <p:spPr>
          <a:xfrm>
            <a:off x="2618247" y="4503648"/>
            <a:ext cx="985500" cy="297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CaNhan</a:t>
            </a:r>
            <a:endParaRPr sz="1200"/>
          </a:p>
        </p:txBody>
      </p:sp>
      <p:sp>
        <p:nvSpPr>
          <p:cNvPr id="1512" name="Google Shape;1512;p97"/>
          <p:cNvSpPr/>
          <p:nvPr/>
        </p:nvSpPr>
        <p:spPr>
          <a:xfrm>
            <a:off x="4066047" y="4503648"/>
            <a:ext cx="985500" cy="297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ToChuc</a:t>
            </a:r>
            <a:endParaRPr sz="1200"/>
          </a:p>
        </p:txBody>
      </p:sp>
      <p:sp>
        <p:nvSpPr>
          <p:cNvPr id="1513" name="Google Shape;1513;p97"/>
          <p:cNvSpPr/>
          <p:nvPr/>
        </p:nvSpPr>
        <p:spPr>
          <a:xfrm>
            <a:off x="5056650" y="2598650"/>
            <a:ext cx="1515300" cy="297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SanPhamGiaoDich</a:t>
            </a:r>
            <a:endParaRPr sz="1200"/>
          </a:p>
        </p:txBody>
      </p:sp>
      <p:sp>
        <p:nvSpPr>
          <p:cNvPr id="1514" name="Google Shape;1514;p97"/>
          <p:cNvSpPr/>
          <p:nvPr/>
        </p:nvSpPr>
        <p:spPr>
          <a:xfrm>
            <a:off x="7114050" y="2598650"/>
            <a:ext cx="1073100" cy="297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SanPham</a:t>
            </a:r>
            <a:endParaRPr sz="1200"/>
          </a:p>
        </p:txBody>
      </p:sp>
      <p:sp>
        <p:nvSpPr>
          <p:cNvPr id="1515" name="Google Shape;1515;p97"/>
          <p:cNvSpPr/>
          <p:nvPr/>
        </p:nvSpPr>
        <p:spPr>
          <a:xfrm>
            <a:off x="6352050" y="3589250"/>
            <a:ext cx="1073100" cy="297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MatHang</a:t>
            </a:r>
            <a:endParaRPr sz="1200"/>
          </a:p>
        </p:txBody>
      </p:sp>
      <p:sp>
        <p:nvSpPr>
          <p:cNvPr id="1516" name="Google Shape;1516;p97"/>
          <p:cNvSpPr/>
          <p:nvPr/>
        </p:nvSpPr>
        <p:spPr>
          <a:xfrm>
            <a:off x="7876050" y="3589250"/>
            <a:ext cx="1073100" cy="297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DichVu</a:t>
            </a:r>
            <a:endParaRPr sz="1200"/>
          </a:p>
        </p:txBody>
      </p:sp>
      <p:cxnSp>
        <p:nvCxnSpPr>
          <p:cNvPr id="1517" name="Google Shape;1517;p97"/>
          <p:cNvCxnSpPr>
            <a:stCxn id="1510" idx="2"/>
            <a:endCxn id="1500" idx="0"/>
          </p:cNvCxnSpPr>
          <p:nvPr/>
        </p:nvCxnSpPr>
        <p:spPr>
          <a:xfrm>
            <a:off x="3872997" y="2057748"/>
            <a:ext cx="0" cy="540900"/>
          </a:xfrm>
          <a:prstGeom prst="straightConnector1">
            <a:avLst/>
          </a:prstGeom>
          <a:noFill/>
          <a:ln cap="flat" cmpd="sng" w="9525">
            <a:solidFill>
              <a:schemeClr val="dk2"/>
            </a:solidFill>
            <a:prstDash val="solid"/>
            <a:round/>
            <a:headEnd len="med" w="med" type="none"/>
            <a:tailEnd len="med" w="med" type="none"/>
          </a:ln>
        </p:spPr>
      </p:cxnSp>
      <p:cxnSp>
        <p:nvCxnSpPr>
          <p:cNvPr id="1518" name="Google Shape;1518;p97"/>
          <p:cNvCxnSpPr>
            <a:stCxn id="1500" idx="3"/>
            <a:endCxn id="1513" idx="1"/>
          </p:cNvCxnSpPr>
          <p:nvPr/>
        </p:nvCxnSpPr>
        <p:spPr>
          <a:xfrm>
            <a:off x="4365747" y="2747298"/>
            <a:ext cx="690900" cy="0"/>
          </a:xfrm>
          <a:prstGeom prst="straightConnector1">
            <a:avLst/>
          </a:prstGeom>
          <a:noFill/>
          <a:ln cap="flat" cmpd="sng" w="9525">
            <a:solidFill>
              <a:schemeClr val="dk2"/>
            </a:solidFill>
            <a:prstDash val="solid"/>
            <a:round/>
            <a:headEnd len="med" w="med" type="none"/>
            <a:tailEnd len="med" w="med" type="none"/>
          </a:ln>
        </p:spPr>
      </p:cxnSp>
      <p:cxnSp>
        <p:nvCxnSpPr>
          <p:cNvPr id="1519" name="Google Shape;1519;p97"/>
          <p:cNvCxnSpPr>
            <a:stCxn id="1513" idx="3"/>
            <a:endCxn id="1514" idx="1"/>
          </p:cNvCxnSpPr>
          <p:nvPr/>
        </p:nvCxnSpPr>
        <p:spPr>
          <a:xfrm>
            <a:off x="6571950" y="2747300"/>
            <a:ext cx="542100" cy="0"/>
          </a:xfrm>
          <a:prstGeom prst="straightConnector1">
            <a:avLst/>
          </a:prstGeom>
          <a:noFill/>
          <a:ln cap="flat" cmpd="sng" w="9525">
            <a:solidFill>
              <a:schemeClr val="dk2"/>
            </a:solidFill>
            <a:prstDash val="solid"/>
            <a:round/>
            <a:headEnd len="med" w="med" type="none"/>
            <a:tailEnd len="med" w="med" type="none"/>
          </a:ln>
        </p:spPr>
      </p:cxnSp>
      <p:cxnSp>
        <p:nvCxnSpPr>
          <p:cNvPr id="1520" name="Google Shape;1520;p97"/>
          <p:cNvCxnSpPr>
            <a:stCxn id="1500" idx="2"/>
            <a:endCxn id="1509" idx="0"/>
          </p:cNvCxnSpPr>
          <p:nvPr/>
        </p:nvCxnSpPr>
        <p:spPr>
          <a:xfrm>
            <a:off x="3872997" y="2895948"/>
            <a:ext cx="0" cy="464700"/>
          </a:xfrm>
          <a:prstGeom prst="straightConnector1">
            <a:avLst/>
          </a:prstGeom>
          <a:noFill/>
          <a:ln cap="flat" cmpd="sng" w="9525">
            <a:solidFill>
              <a:schemeClr val="dk2"/>
            </a:solidFill>
            <a:prstDash val="solid"/>
            <a:round/>
            <a:headEnd len="med" w="med" type="none"/>
            <a:tailEnd len="med" w="med" type="none"/>
          </a:ln>
        </p:spPr>
      </p:cxnSp>
      <p:sp>
        <p:nvSpPr>
          <p:cNvPr id="1521" name="Google Shape;1521;p97"/>
          <p:cNvSpPr/>
          <p:nvPr/>
        </p:nvSpPr>
        <p:spPr>
          <a:xfrm>
            <a:off x="3609000" y="3662825"/>
            <a:ext cx="184500" cy="126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97"/>
          <p:cNvSpPr/>
          <p:nvPr/>
        </p:nvSpPr>
        <p:spPr>
          <a:xfrm>
            <a:off x="3990000" y="3662825"/>
            <a:ext cx="184500" cy="126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97"/>
          <p:cNvSpPr/>
          <p:nvPr/>
        </p:nvSpPr>
        <p:spPr>
          <a:xfrm>
            <a:off x="7419000" y="2900825"/>
            <a:ext cx="184500" cy="126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97"/>
          <p:cNvSpPr/>
          <p:nvPr/>
        </p:nvSpPr>
        <p:spPr>
          <a:xfrm>
            <a:off x="7800000" y="2900825"/>
            <a:ext cx="184500" cy="126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25" name="Google Shape;1525;p97"/>
          <p:cNvCxnSpPr>
            <a:stCxn id="1521" idx="3"/>
            <a:endCxn id="1511" idx="0"/>
          </p:cNvCxnSpPr>
          <p:nvPr/>
        </p:nvCxnSpPr>
        <p:spPr>
          <a:xfrm rot="5400000">
            <a:off x="3048900" y="3851375"/>
            <a:ext cx="714300" cy="590400"/>
          </a:xfrm>
          <a:prstGeom prst="bentConnector3">
            <a:avLst>
              <a:gd fmla="val 49995" name="adj1"/>
            </a:avLst>
          </a:prstGeom>
          <a:noFill/>
          <a:ln cap="flat" cmpd="sng" w="9525">
            <a:solidFill>
              <a:schemeClr val="dk2"/>
            </a:solidFill>
            <a:prstDash val="solid"/>
            <a:round/>
            <a:headEnd len="med" w="med" type="none"/>
            <a:tailEnd len="med" w="med" type="none"/>
          </a:ln>
        </p:spPr>
      </p:cxnSp>
      <p:cxnSp>
        <p:nvCxnSpPr>
          <p:cNvPr id="1526" name="Google Shape;1526;p97"/>
          <p:cNvCxnSpPr>
            <a:stCxn id="1522" idx="3"/>
            <a:endCxn id="1512" idx="0"/>
          </p:cNvCxnSpPr>
          <p:nvPr/>
        </p:nvCxnSpPr>
        <p:spPr>
          <a:xfrm flipH="1" rot="-5400000">
            <a:off x="3963300" y="3908375"/>
            <a:ext cx="714300" cy="476400"/>
          </a:xfrm>
          <a:prstGeom prst="bentConnector3">
            <a:avLst>
              <a:gd fmla="val 49995" name="adj1"/>
            </a:avLst>
          </a:prstGeom>
          <a:noFill/>
          <a:ln cap="flat" cmpd="sng" w="9525">
            <a:solidFill>
              <a:schemeClr val="dk2"/>
            </a:solidFill>
            <a:prstDash val="solid"/>
            <a:round/>
            <a:headEnd len="med" w="med" type="none"/>
            <a:tailEnd len="med" w="med" type="none"/>
          </a:ln>
        </p:spPr>
      </p:cxnSp>
      <p:cxnSp>
        <p:nvCxnSpPr>
          <p:cNvPr id="1527" name="Google Shape;1527;p97"/>
          <p:cNvCxnSpPr>
            <a:stCxn id="1523" idx="3"/>
            <a:endCxn id="1515" idx="0"/>
          </p:cNvCxnSpPr>
          <p:nvPr/>
        </p:nvCxnSpPr>
        <p:spPr>
          <a:xfrm rot="5400000">
            <a:off x="6919050" y="2997125"/>
            <a:ext cx="561900" cy="622500"/>
          </a:xfrm>
          <a:prstGeom prst="bentConnector3">
            <a:avLst>
              <a:gd fmla="val 49993" name="adj1"/>
            </a:avLst>
          </a:prstGeom>
          <a:noFill/>
          <a:ln cap="flat" cmpd="sng" w="9525">
            <a:solidFill>
              <a:schemeClr val="dk2"/>
            </a:solidFill>
            <a:prstDash val="solid"/>
            <a:round/>
            <a:headEnd len="med" w="med" type="none"/>
            <a:tailEnd len="med" w="med" type="none"/>
          </a:ln>
        </p:spPr>
      </p:cxnSp>
      <p:cxnSp>
        <p:nvCxnSpPr>
          <p:cNvPr id="1528" name="Google Shape;1528;p97"/>
          <p:cNvCxnSpPr>
            <a:stCxn id="1524" idx="3"/>
            <a:endCxn id="1516" idx="0"/>
          </p:cNvCxnSpPr>
          <p:nvPr/>
        </p:nvCxnSpPr>
        <p:spPr>
          <a:xfrm flipH="1" rot="-5400000">
            <a:off x="7871550" y="3048125"/>
            <a:ext cx="561900" cy="520500"/>
          </a:xfrm>
          <a:prstGeom prst="bentConnector3">
            <a:avLst>
              <a:gd fmla="val 49993" name="adj1"/>
            </a:avLst>
          </a:prstGeom>
          <a:noFill/>
          <a:ln cap="flat" cmpd="sng" w="9525">
            <a:solidFill>
              <a:schemeClr val="dk2"/>
            </a:solidFill>
            <a:prstDash val="solid"/>
            <a:round/>
            <a:headEnd len="med" w="med" type="none"/>
            <a:tailEnd len="med" w="med" type="none"/>
          </a:ln>
        </p:spPr>
      </p:cxnSp>
      <p:sp>
        <p:nvSpPr>
          <p:cNvPr id="1529" name="Google Shape;1529;p97"/>
          <p:cNvSpPr txBox="1"/>
          <p:nvPr/>
        </p:nvSpPr>
        <p:spPr>
          <a:xfrm>
            <a:off x="3889403" y="2075253"/>
            <a:ext cx="267600" cy="149700"/>
          </a:xfrm>
          <a:prstGeom prst="rect">
            <a:avLst/>
          </a:prstGeom>
          <a:noFill/>
          <a:ln>
            <a:noFill/>
          </a:ln>
        </p:spPr>
        <p:txBody>
          <a:bodyPr anchorCtr="0" anchor="t" bIns="54000" lIns="54000" spcFirstLastPara="1" rIns="54000" wrap="square" tIns="54000">
            <a:noAutofit/>
          </a:bodyPr>
          <a:lstStyle/>
          <a:p>
            <a:pPr indent="0" lvl="0" marL="0" rtl="0" algn="l">
              <a:spcBef>
                <a:spcPts val="0"/>
              </a:spcBef>
              <a:spcAft>
                <a:spcPts val="0"/>
              </a:spcAft>
              <a:buNone/>
            </a:pPr>
            <a:r>
              <a:rPr lang="en-GB" sz="1200"/>
              <a:t>1</a:t>
            </a:r>
            <a:endParaRPr sz="1200"/>
          </a:p>
        </p:txBody>
      </p:sp>
      <p:sp>
        <p:nvSpPr>
          <p:cNvPr id="1530" name="Google Shape;1530;p97"/>
          <p:cNvSpPr txBox="1"/>
          <p:nvPr/>
        </p:nvSpPr>
        <p:spPr>
          <a:xfrm>
            <a:off x="3889397" y="2370825"/>
            <a:ext cx="476400" cy="149700"/>
          </a:xfrm>
          <a:prstGeom prst="rect">
            <a:avLst/>
          </a:prstGeom>
          <a:noFill/>
          <a:ln>
            <a:noFill/>
          </a:ln>
        </p:spPr>
        <p:txBody>
          <a:bodyPr anchorCtr="0" anchor="t" bIns="54000" lIns="54000" spcFirstLastPara="1" rIns="54000" wrap="square" tIns="54000">
            <a:noAutofit/>
          </a:bodyPr>
          <a:lstStyle/>
          <a:p>
            <a:pPr indent="0" lvl="0" marL="0" rtl="0" algn="l">
              <a:spcBef>
                <a:spcPts val="0"/>
              </a:spcBef>
              <a:spcAft>
                <a:spcPts val="0"/>
              </a:spcAft>
              <a:buNone/>
            </a:pPr>
            <a:r>
              <a:rPr lang="en-GB" sz="1200"/>
              <a:t>0..*</a:t>
            </a:r>
            <a:endParaRPr sz="1200"/>
          </a:p>
        </p:txBody>
      </p:sp>
      <p:sp>
        <p:nvSpPr>
          <p:cNvPr id="1531" name="Google Shape;1531;p97"/>
          <p:cNvSpPr txBox="1"/>
          <p:nvPr/>
        </p:nvSpPr>
        <p:spPr>
          <a:xfrm>
            <a:off x="3889397" y="2828025"/>
            <a:ext cx="476400" cy="149700"/>
          </a:xfrm>
          <a:prstGeom prst="rect">
            <a:avLst/>
          </a:prstGeom>
          <a:noFill/>
          <a:ln>
            <a:noFill/>
          </a:ln>
        </p:spPr>
        <p:txBody>
          <a:bodyPr anchorCtr="0" anchor="t" bIns="54000" lIns="54000" spcFirstLastPara="1" rIns="54000" wrap="square" tIns="54000">
            <a:noAutofit/>
          </a:bodyPr>
          <a:lstStyle/>
          <a:p>
            <a:pPr indent="0" lvl="0" marL="0" rtl="0" algn="l">
              <a:spcBef>
                <a:spcPts val="0"/>
              </a:spcBef>
              <a:spcAft>
                <a:spcPts val="0"/>
              </a:spcAft>
              <a:buNone/>
            </a:pPr>
            <a:r>
              <a:rPr lang="en-GB" sz="1200"/>
              <a:t>0..*</a:t>
            </a:r>
            <a:endParaRPr sz="1200"/>
          </a:p>
        </p:txBody>
      </p:sp>
      <p:sp>
        <p:nvSpPr>
          <p:cNvPr id="1532" name="Google Shape;1532;p97"/>
          <p:cNvSpPr txBox="1"/>
          <p:nvPr/>
        </p:nvSpPr>
        <p:spPr>
          <a:xfrm>
            <a:off x="3889403" y="3142053"/>
            <a:ext cx="267600" cy="149700"/>
          </a:xfrm>
          <a:prstGeom prst="rect">
            <a:avLst/>
          </a:prstGeom>
          <a:noFill/>
          <a:ln>
            <a:noFill/>
          </a:ln>
        </p:spPr>
        <p:txBody>
          <a:bodyPr anchorCtr="0" anchor="t" bIns="54000" lIns="54000" spcFirstLastPara="1" rIns="54000" wrap="square" tIns="54000">
            <a:noAutofit/>
          </a:bodyPr>
          <a:lstStyle/>
          <a:p>
            <a:pPr indent="0" lvl="0" marL="0" rtl="0" algn="l">
              <a:spcBef>
                <a:spcPts val="0"/>
              </a:spcBef>
              <a:spcAft>
                <a:spcPts val="0"/>
              </a:spcAft>
              <a:buNone/>
            </a:pPr>
            <a:r>
              <a:rPr lang="en-GB" sz="1200"/>
              <a:t>1</a:t>
            </a:r>
            <a:endParaRPr sz="1200"/>
          </a:p>
        </p:txBody>
      </p:sp>
      <p:sp>
        <p:nvSpPr>
          <p:cNvPr id="1533" name="Google Shape;1533;p97"/>
          <p:cNvSpPr txBox="1"/>
          <p:nvPr/>
        </p:nvSpPr>
        <p:spPr>
          <a:xfrm>
            <a:off x="4346603" y="2684853"/>
            <a:ext cx="267600" cy="149700"/>
          </a:xfrm>
          <a:prstGeom prst="rect">
            <a:avLst/>
          </a:prstGeom>
          <a:noFill/>
          <a:ln>
            <a:noFill/>
          </a:ln>
        </p:spPr>
        <p:txBody>
          <a:bodyPr anchorCtr="0" anchor="t" bIns="54000" lIns="54000" spcFirstLastPara="1" rIns="54000" wrap="square" tIns="54000">
            <a:noAutofit/>
          </a:bodyPr>
          <a:lstStyle/>
          <a:p>
            <a:pPr indent="0" lvl="0" marL="0" rtl="0" algn="l">
              <a:spcBef>
                <a:spcPts val="0"/>
              </a:spcBef>
              <a:spcAft>
                <a:spcPts val="0"/>
              </a:spcAft>
              <a:buNone/>
            </a:pPr>
            <a:r>
              <a:rPr lang="en-GB" sz="1200"/>
              <a:t>1</a:t>
            </a:r>
            <a:endParaRPr sz="1200"/>
          </a:p>
        </p:txBody>
      </p:sp>
      <p:sp>
        <p:nvSpPr>
          <p:cNvPr id="1534" name="Google Shape;1534;p97"/>
          <p:cNvSpPr txBox="1"/>
          <p:nvPr/>
        </p:nvSpPr>
        <p:spPr>
          <a:xfrm>
            <a:off x="4727597" y="2675625"/>
            <a:ext cx="476400" cy="149700"/>
          </a:xfrm>
          <a:prstGeom prst="rect">
            <a:avLst/>
          </a:prstGeom>
          <a:noFill/>
          <a:ln>
            <a:noFill/>
          </a:ln>
        </p:spPr>
        <p:txBody>
          <a:bodyPr anchorCtr="0" anchor="t" bIns="54000" lIns="54000" spcFirstLastPara="1" rIns="54000" wrap="square" tIns="54000">
            <a:noAutofit/>
          </a:bodyPr>
          <a:lstStyle/>
          <a:p>
            <a:pPr indent="0" lvl="0" marL="0" rtl="0" algn="l">
              <a:spcBef>
                <a:spcPts val="0"/>
              </a:spcBef>
              <a:spcAft>
                <a:spcPts val="0"/>
              </a:spcAft>
              <a:buNone/>
            </a:pPr>
            <a:r>
              <a:rPr lang="en-GB" sz="1200"/>
              <a:t>1</a:t>
            </a:r>
            <a:r>
              <a:rPr lang="en-GB" sz="1200"/>
              <a:t>..*</a:t>
            </a:r>
            <a:endParaRPr sz="1200"/>
          </a:p>
        </p:txBody>
      </p:sp>
      <p:sp>
        <p:nvSpPr>
          <p:cNvPr id="1535" name="Google Shape;1535;p97"/>
          <p:cNvSpPr txBox="1"/>
          <p:nvPr/>
        </p:nvSpPr>
        <p:spPr>
          <a:xfrm>
            <a:off x="6556397" y="2675625"/>
            <a:ext cx="476400" cy="149700"/>
          </a:xfrm>
          <a:prstGeom prst="rect">
            <a:avLst/>
          </a:prstGeom>
          <a:noFill/>
          <a:ln>
            <a:noFill/>
          </a:ln>
        </p:spPr>
        <p:txBody>
          <a:bodyPr anchorCtr="0" anchor="t" bIns="54000" lIns="54000" spcFirstLastPara="1" rIns="54000" wrap="square" tIns="54000">
            <a:noAutofit/>
          </a:bodyPr>
          <a:lstStyle/>
          <a:p>
            <a:pPr indent="0" lvl="0" marL="0" rtl="0" algn="l">
              <a:spcBef>
                <a:spcPts val="0"/>
              </a:spcBef>
              <a:spcAft>
                <a:spcPts val="0"/>
              </a:spcAft>
              <a:buNone/>
            </a:pPr>
            <a:r>
              <a:rPr lang="en-GB" sz="1200"/>
              <a:t>0..*</a:t>
            </a:r>
            <a:endParaRPr sz="1200"/>
          </a:p>
        </p:txBody>
      </p:sp>
      <p:sp>
        <p:nvSpPr>
          <p:cNvPr id="1536" name="Google Shape;1536;p97"/>
          <p:cNvSpPr txBox="1"/>
          <p:nvPr/>
        </p:nvSpPr>
        <p:spPr>
          <a:xfrm>
            <a:off x="6937403" y="2684853"/>
            <a:ext cx="267600" cy="149700"/>
          </a:xfrm>
          <a:prstGeom prst="rect">
            <a:avLst/>
          </a:prstGeom>
          <a:noFill/>
          <a:ln>
            <a:noFill/>
          </a:ln>
        </p:spPr>
        <p:txBody>
          <a:bodyPr anchorCtr="0" anchor="t" bIns="54000" lIns="54000" spcFirstLastPara="1" rIns="54000" wrap="square" tIns="54000">
            <a:noAutofit/>
          </a:bodyPr>
          <a:lstStyle/>
          <a:p>
            <a:pPr indent="0" lvl="0" marL="0" rtl="0" algn="l">
              <a:spcBef>
                <a:spcPts val="0"/>
              </a:spcBef>
              <a:spcAft>
                <a:spcPts val="0"/>
              </a:spcAft>
              <a:buNone/>
            </a:pPr>
            <a:r>
              <a:rPr lang="en-GB" sz="1200"/>
              <a:t>1</a:t>
            </a:r>
            <a:endParaRPr sz="1200"/>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0" name="Shape 1540"/>
        <p:cNvGrpSpPr/>
        <p:nvPr/>
      </p:nvGrpSpPr>
      <p:grpSpPr>
        <a:xfrm>
          <a:off x="0" y="0"/>
          <a:ext cx="0" cy="0"/>
          <a:chOff x="0" y="0"/>
          <a:chExt cx="0" cy="0"/>
        </a:xfrm>
      </p:grpSpPr>
      <p:sp>
        <p:nvSpPr>
          <p:cNvPr id="1541" name="Google Shape;1541;p98"/>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Mẫu phân cấp tổ chức</a:t>
            </a:r>
            <a:endParaRPr/>
          </a:p>
        </p:txBody>
      </p:sp>
      <p:sp>
        <p:nvSpPr>
          <p:cNvPr id="1542" name="Google Shape;1542;p9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543" name="Google Shape;1543;p98"/>
          <p:cNvSpPr/>
          <p:nvPr/>
        </p:nvSpPr>
        <p:spPr>
          <a:xfrm>
            <a:off x="3490550" y="1631775"/>
            <a:ext cx="1431000" cy="6183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800"/>
              <a:t>Tổ chức</a:t>
            </a:r>
            <a:endParaRPr sz="1800"/>
          </a:p>
        </p:txBody>
      </p:sp>
      <p:sp>
        <p:nvSpPr>
          <p:cNvPr id="1544" name="Google Shape;1544;p98"/>
          <p:cNvSpPr/>
          <p:nvPr/>
        </p:nvSpPr>
        <p:spPr>
          <a:xfrm>
            <a:off x="711950" y="3476273"/>
            <a:ext cx="1431000" cy="6183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800"/>
              <a:t>Đơn vị vận hành</a:t>
            </a:r>
            <a:endParaRPr sz="1800"/>
          </a:p>
        </p:txBody>
      </p:sp>
      <p:sp>
        <p:nvSpPr>
          <p:cNvPr id="1545" name="Google Shape;1545;p98"/>
          <p:cNvSpPr/>
          <p:nvPr/>
        </p:nvSpPr>
        <p:spPr>
          <a:xfrm>
            <a:off x="6356450" y="3476273"/>
            <a:ext cx="1431000" cy="6183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800"/>
              <a:t>Cửa hàng</a:t>
            </a:r>
            <a:endParaRPr sz="1800"/>
          </a:p>
        </p:txBody>
      </p:sp>
      <p:sp>
        <p:nvSpPr>
          <p:cNvPr id="1546" name="Google Shape;1546;p98"/>
          <p:cNvSpPr/>
          <p:nvPr/>
        </p:nvSpPr>
        <p:spPr>
          <a:xfrm>
            <a:off x="2360450" y="3476273"/>
            <a:ext cx="1431000" cy="6183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800"/>
              <a:t>Vùng</a:t>
            </a:r>
            <a:endParaRPr sz="1800"/>
          </a:p>
        </p:txBody>
      </p:sp>
      <p:sp>
        <p:nvSpPr>
          <p:cNvPr id="1547" name="Google Shape;1547;p98"/>
          <p:cNvSpPr/>
          <p:nvPr/>
        </p:nvSpPr>
        <p:spPr>
          <a:xfrm>
            <a:off x="4663850" y="3476273"/>
            <a:ext cx="1431000" cy="6183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800"/>
              <a:t>Chi nhánh</a:t>
            </a:r>
            <a:endParaRPr sz="1800"/>
          </a:p>
        </p:txBody>
      </p:sp>
      <p:sp>
        <p:nvSpPr>
          <p:cNvPr id="1548" name="Google Shape;1548;p98"/>
          <p:cNvSpPr/>
          <p:nvPr/>
        </p:nvSpPr>
        <p:spPr>
          <a:xfrm>
            <a:off x="3656500" y="2250075"/>
            <a:ext cx="184500" cy="126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98"/>
          <p:cNvSpPr/>
          <p:nvPr/>
        </p:nvSpPr>
        <p:spPr>
          <a:xfrm>
            <a:off x="3961300" y="2250075"/>
            <a:ext cx="184500" cy="126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98"/>
          <p:cNvSpPr/>
          <p:nvPr/>
        </p:nvSpPr>
        <p:spPr>
          <a:xfrm>
            <a:off x="4266100" y="2250075"/>
            <a:ext cx="184500" cy="126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98"/>
          <p:cNvSpPr/>
          <p:nvPr/>
        </p:nvSpPr>
        <p:spPr>
          <a:xfrm>
            <a:off x="4570900" y="2250075"/>
            <a:ext cx="184500" cy="126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52" name="Google Shape;1552;p98"/>
          <p:cNvCxnSpPr>
            <a:stCxn id="1544" idx="0"/>
            <a:endCxn id="1548" idx="3"/>
          </p:cNvCxnSpPr>
          <p:nvPr/>
        </p:nvCxnSpPr>
        <p:spPr>
          <a:xfrm rot="-5400000">
            <a:off x="2038400" y="1765823"/>
            <a:ext cx="1099500" cy="2321400"/>
          </a:xfrm>
          <a:prstGeom prst="bentConnector3">
            <a:avLst>
              <a:gd fmla="val 50004" name="adj1"/>
            </a:avLst>
          </a:prstGeom>
          <a:noFill/>
          <a:ln cap="flat" cmpd="sng" w="9525">
            <a:solidFill>
              <a:schemeClr val="dk2"/>
            </a:solidFill>
            <a:prstDash val="solid"/>
            <a:round/>
            <a:headEnd len="med" w="med" type="none"/>
            <a:tailEnd len="med" w="med" type="none"/>
          </a:ln>
        </p:spPr>
      </p:cxnSp>
      <p:cxnSp>
        <p:nvCxnSpPr>
          <p:cNvPr id="1553" name="Google Shape;1553;p98"/>
          <p:cNvCxnSpPr>
            <a:stCxn id="1546" idx="3"/>
            <a:endCxn id="1549" idx="3"/>
          </p:cNvCxnSpPr>
          <p:nvPr/>
        </p:nvCxnSpPr>
        <p:spPr>
          <a:xfrm flipH="1" rot="10800000">
            <a:off x="3791450" y="2376623"/>
            <a:ext cx="262200" cy="1408800"/>
          </a:xfrm>
          <a:prstGeom prst="bentConnector2">
            <a:avLst/>
          </a:prstGeom>
          <a:noFill/>
          <a:ln cap="flat" cmpd="sng" w="9525">
            <a:solidFill>
              <a:schemeClr val="dk2"/>
            </a:solidFill>
            <a:prstDash val="solid"/>
            <a:round/>
            <a:headEnd len="med" w="med" type="none"/>
            <a:tailEnd len="med" w="med" type="none"/>
          </a:ln>
        </p:spPr>
      </p:cxnSp>
      <p:cxnSp>
        <p:nvCxnSpPr>
          <p:cNvPr id="1554" name="Google Shape;1554;p98"/>
          <p:cNvCxnSpPr>
            <a:stCxn id="1547" idx="1"/>
            <a:endCxn id="1550" idx="3"/>
          </p:cNvCxnSpPr>
          <p:nvPr/>
        </p:nvCxnSpPr>
        <p:spPr>
          <a:xfrm rot="10800000">
            <a:off x="4358450" y="2376623"/>
            <a:ext cx="305400" cy="1408800"/>
          </a:xfrm>
          <a:prstGeom prst="bentConnector2">
            <a:avLst/>
          </a:prstGeom>
          <a:noFill/>
          <a:ln cap="flat" cmpd="sng" w="9525">
            <a:solidFill>
              <a:schemeClr val="dk2"/>
            </a:solidFill>
            <a:prstDash val="solid"/>
            <a:round/>
            <a:headEnd len="med" w="med" type="none"/>
            <a:tailEnd len="med" w="med" type="none"/>
          </a:ln>
        </p:spPr>
      </p:cxnSp>
      <p:cxnSp>
        <p:nvCxnSpPr>
          <p:cNvPr id="1555" name="Google Shape;1555;p98"/>
          <p:cNvCxnSpPr>
            <a:stCxn id="1545" idx="0"/>
            <a:endCxn id="1551" idx="3"/>
          </p:cNvCxnSpPr>
          <p:nvPr/>
        </p:nvCxnSpPr>
        <p:spPr>
          <a:xfrm flipH="1" rot="5400000">
            <a:off x="5317850" y="1722173"/>
            <a:ext cx="1099500" cy="2408700"/>
          </a:xfrm>
          <a:prstGeom prst="bentConnector3">
            <a:avLst>
              <a:gd fmla="val 50004" name="adj1"/>
            </a:avLst>
          </a:prstGeom>
          <a:noFill/>
          <a:ln cap="flat" cmpd="sng" w="9525">
            <a:solidFill>
              <a:schemeClr val="dk2"/>
            </a:solidFill>
            <a:prstDash val="solid"/>
            <a:round/>
            <a:headEnd len="med" w="med" type="none"/>
            <a:tailEnd len="med" w="med" type="none"/>
          </a:ln>
        </p:spPr>
      </p:cxnSp>
      <p:sp>
        <p:nvSpPr>
          <p:cNvPr id="1556" name="Google Shape;1556;p98"/>
          <p:cNvSpPr txBox="1"/>
          <p:nvPr/>
        </p:nvSpPr>
        <p:spPr>
          <a:xfrm>
            <a:off x="3419675" y="1286575"/>
            <a:ext cx="756900" cy="2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cấp trên</a:t>
            </a:r>
            <a:endParaRPr>
              <a:latin typeface="Times New Roman"/>
              <a:ea typeface="Times New Roman"/>
              <a:cs typeface="Times New Roman"/>
              <a:sym typeface="Times New Roman"/>
            </a:endParaRPr>
          </a:p>
        </p:txBody>
      </p:sp>
      <p:sp>
        <p:nvSpPr>
          <p:cNvPr id="1557" name="Google Shape;1557;p98"/>
          <p:cNvSpPr txBox="1"/>
          <p:nvPr/>
        </p:nvSpPr>
        <p:spPr>
          <a:xfrm>
            <a:off x="4213550" y="1294700"/>
            <a:ext cx="548700" cy="2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0..1</a:t>
            </a:r>
            <a:endParaRPr>
              <a:latin typeface="Times New Roman"/>
              <a:ea typeface="Times New Roman"/>
              <a:cs typeface="Times New Roman"/>
              <a:sym typeface="Times New Roman"/>
            </a:endParaRPr>
          </a:p>
        </p:txBody>
      </p:sp>
      <p:sp>
        <p:nvSpPr>
          <p:cNvPr id="1558" name="Google Shape;1558;p98"/>
          <p:cNvSpPr txBox="1"/>
          <p:nvPr/>
        </p:nvSpPr>
        <p:spPr>
          <a:xfrm>
            <a:off x="4845350" y="1690235"/>
            <a:ext cx="356700" cy="2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cxnSp>
        <p:nvCxnSpPr>
          <p:cNvPr id="1559" name="Google Shape;1559;p98"/>
          <p:cNvCxnSpPr>
            <a:stCxn id="1543" idx="3"/>
            <a:endCxn id="1543" idx="0"/>
          </p:cNvCxnSpPr>
          <p:nvPr/>
        </p:nvCxnSpPr>
        <p:spPr>
          <a:xfrm rot="10800000">
            <a:off x="4206050" y="1631925"/>
            <a:ext cx="715500" cy="309000"/>
          </a:xfrm>
          <a:prstGeom prst="bentConnector4">
            <a:avLst>
              <a:gd fmla="val -33281" name="adj1"/>
              <a:gd fmla="val 177112" name="adj2"/>
            </a:avLst>
          </a:prstGeom>
          <a:noFill/>
          <a:ln cap="flat" cmpd="sng" w="9525">
            <a:solidFill>
              <a:schemeClr val="dk2"/>
            </a:solidFill>
            <a:prstDash val="solid"/>
            <a:round/>
            <a:headEnd len="med" w="med" type="none"/>
            <a:tailEnd len="med" w="med" type="none"/>
          </a:ln>
        </p:spPr>
      </p:cxnSp>
      <p:sp>
        <p:nvSpPr>
          <p:cNvPr id="1560" name="Google Shape;1560;p98"/>
          <p:cNvSpPr txBox="1"/>
          <p:nvPr/>
        </p:nvSpPr>
        <p:spPr>
          <a:xfrm>
            <a:off x="4867475" y="1896175"/>
            <a:ext cx="887400" cy="2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cấp </a:t>
            </a:r>
            <a:r>
              <a:rPr lang="en-GB">
                <a:latin typeface="Times New Roman"/>
                <a:ea typeface="Times New Roman"/>
                <a:cs typeface="Times New Roman"/>
                <a:sym typeface="Times New Roman"/>
              </a:rPr>
              <a:t>dưới</a:t>
            </a:r>
            <a:endParaRPr>
              <a:latin typeface="Times New Roman"/>
              <a:ea typeface="Times New Roman"/>
              <a:cs typeface="Times New Roman"/>
              <a:sym typeface="Times New Roman"/>
            </a:endParaRPr>
          </a:p>
        </p:txBody>
      </p:sp>
      <p:sp>
        <p:nvSpPr>
          <p:cNvPr id="1561" name="Google Shape;1561;p98"/>
          <p:cNvSpPr txBox="1"/>
          <p:nvPr/>
        </p:nvSpPr>
        <p:spPr>
          <a:xfrm>
            <a:off x="4715075" y="1057975"/>
            <a:ext cx="1039800" cy="2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a:latin typeface="Times New Roman"/>
                <a:ea typeface="Times New Roman"/>
                <a:cs typeface="Times New Roman"/>
                <a:sym typeface="Times New Roman"/>
              </a:rPr>
              <a:t>{hierarchy}</a:t>
            </a:r>
            <a:endParaRPr i="1">
              <a:latin typeface="Times New Roman"/>
              <a:ea typeface="Times New Roman"/>
              <a:cs typeface="Times New Roman"/>
              <a:sym typeface="Times New Roman"/>
            </a:endParaRPr>
          </a:p>
        </p:txBody>
      </p:sp>
      <p:grpSp>
        <p:nvGrpSpPr>
          <p:cNvPr id="1562" name="Google Shape;1562;p98"/>
          <p:cNvGrpSpPr/>
          <p:nvPr/>
        </p:nvGrpSpPr>
        <p:grpSpPr>
          <a:xfrm>
            <a:off x="284525" y="4582498"/>
            <a:ext cx="1946700" cy="468600"/>
            <a:chOff x="1884725" y="1291950"/>
            <a:chExt cx="1946700" cy="468600"/>
          </a:xfrm>
        </p:grpSpPr>
        <p:sp>
          <p:nvSpPr>
            <p:cNvPr id="1563" name="Google Shape;1563;p98"/>
            <p:cNvSpPr/>
            <p:nvPr/>
          </p:nvSpPr>
          <p:spPr>
            <a:xfrm flipH="1" rot="10800000">
              <a:off x="1899685" y="1291950"/>
              <a:ext cx="1879500" cy="4686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98"/>
            <p:cNvSpPr txBox="1"/>
            <p:nvPr/>
          </p:nvSpPr>
          <p:spPr>
            <a:xfrm>
              <a:off x="1884725" y="1326510"/>
              <a:ext cx="1946700" cy="3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a:t>
              </a:r>
              <a:r>
                <a:rPr lang="en-GB">
                  <a:latin typeface="Times New Roman"/>
                  <a:ea typeface="Times New Roman"/>
                  <a:cs typeface="Times New Roman"/>
                  <a:sym typeface="Times New Roman"/>
                </a:rPr>
                <a:t>self.parent-&gt;isEmpty</a:t>
              </a: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grpSp>
      <p:grpSp>
        <p:nvGrpSpPr>
          <p:cNvPr id="1565" name="Google Shape;1565;p98"/>
          <p:cNvGrpSpPr/>
          <p:nvPr/>
        </p:nvGrpSpPr>
        <p:grpSpPr>
          <a:xfrm>
            <a:off x="2391025" y="4582595"/>
            <a:ext cx="2560858" cy="872001"/>
            <a:chOff x="1564270" y="1292027"/>
            <a:chExt cx="2472109" cy="535200"/>
          </a:xfrm>
        </p:grpSpPr>
        <p:sp>
          <p:nvSpPr>
            <p:cNvPr id="1566" name="Google Shape;1566;p98"/>
            <p:cNvSpPr/>
            <p:nvPr/>
          </p:nvSpPr>
          <p:spPr>
            <a:xfrm flipH="1" rot="10800000">
              <a:off x="1564270" y="1292027"/>
              <a:ext cx="2214900" cy="5352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98"/>
            <p:cNvSpPr txBox="1"/>
            <p:nvPr/>
          </p:nvSpPr>
          <p:spPr>
            <a:xfrm>
              <a:off x="1590479" y="1326506"/>
              <a:ext cx="2445900" cy="5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a:t>
              </a:r>
              <a:r>
                <a:rPr lang="en-GB" u="sng">
                  <a:latin typeface="Times New Roman"/>
                  <a:ea typeface="Times New Roman"/>
                  <a:cs typeface="Times New Roman"/>
                  <a:sym typeface="Times New Roman"/>
                </a:rPr>
                <a:t>x: </a:t>
              </a:r>
              <a:r>
                <a:rPr lang="en-GB" u="sng">
                  <a:latin typeface="Times New Roman"/>
                  <a:ea typeface="Times New Roman"/>
                  <a:cs typeface="Times New Roman"/>
                  <a:sym typeface="Times New Roman"/>
                </a:rPr>
                <a:t>self.parent</a:t>
              </a:r>
              <a:endParaRPr u="sng">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GB">
                  <a:latin typeface="Times New Roman"/>
                  <a:ea typeface="Times New Roman"/>
                  <a:cs typeface="Times New Roman"/>
                  <a:sym typeface="Times New Roman"/>
                </a:rPr>
                <a:t>x-&gt;notEmpty and x.oclType =</a:t>
              </a:r>
              <a:endParaRPr>
                <a:latin typeface="Times New Roman"/>
                <a:ea typeface="Times New Roman"/>
                <a:cs typeface="Times New Roman"/>
                <a:sym typeface="Times New Roman"/>
              </a:endParaRPr>
            </a:p>
            <a:p>
              <a:pPr indent="0" lvl="0" marL="0" rtl="0" algn="l">
                <a:spcBef>
                  <a:spcPts val="0"/>
                </a:spcBef>
                <a:spcAft>
                  <a:spcPts val="0"/>
                </a:spcAft>
                <a:buNone/>
              </a:pPr>
              <a:r>
                <a:rPr lang="en-GB">
                  <a:latin typeface="Times New Roman"/>
                  <a:ea typeface="Times New Roman"/>
                  <a:cs typeface="Times New Roman"/>
                  <a:sym typeface="Times New Roman"/>
                </a:rPr>
                <a:t>(Đơn vị vận hành)}</a:t>
              </a:r>
              <a:endParaRPr>
                <a:latin typeface="Times New Roman"/>
                <a:ea typeface="Times New Roman"/>
                <a:cs typeface="Times New Roman"/>
                <a:sym typeface="Times New Roman"/>
              </a:endParaRPr>
            </a:p>
          </p:txBody>
        </p:sp>
      </p:grpSp>
      <p:sp>
        <p:nvSpPr>
          <p:cNvPr id="1568" name="Google Shape;1568;p98"/>
          <p:cNvSpPr/>
          <p:nvPr/>
        </p:nvSpPr>
        <p:spPr>
          <a:xfrm flipH="1" rot="10800000">
            <a:off x="4885387" y="4582498"/>
            <a:ext cx="1776000" cy="7635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98"/>
          <p:cNvSpPr txBox="1"/>
          <p:nvPr/>
        </p:nvSpPr>
        <p:spPr>
          <a:xfrm>
            <a:off x="4871250" y="4553398"/>
            <a:ext cx="1790100" cy="763500"/>
          </a:xfrm>
          <a:prstGeom prst="rect">
            <a:avLst/>
          </a:prstGeom>
          <a:noFill/>
          <a:ln>
            <a:noFill/>
          </a:ln>
        </p:spPr>
        <p:txBody>
          <a:bodyPr anchorCtr="0" anchor="t" bIns="91425" lIns="54000" spcFirstLastPara="1" rIns="18000"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a:t>
            </a:r>
            <a:r>
              <a:rPr lang="en-GB" u="sng">
                <a:latin typeface="Times New Roman"/>
                <a:ea typeface="Times New Roman"/>
                <a:cs typeface="Times New Roman"/>
                <a:sym typeface="Times New Roman"/>
              </a:rPr>
              <a:t>x: self.parent</a:t>
            </a:r>
            <a:endParaRPr u="sng">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GB">
                <a:latin typeface="Times New Roman"/>
                <a:ea typeface="Times New Roman"/>
                <a:cs typeface="Times New Roman"/>
                <a:sym typeface="Times New Roman"/>
              </a:rPr>
              <a:t>x-&gt;notEmpty and</a:t>
            </a:r>
            <a:endParaRPr>
              <a:latin typeface="Times New Roman"/>
              <a:ea typeface="Times New Roman"/>
              <a:cs typeface="Times New Roman"/>
              <a:sym typeface="Times New Roman"/>
            </a:endParaRPr>
          </a:p>
          <a:p>
            <a:pPr indent="0" lvl="0" marL="0" rtl="0" algn="l">
              <a:spcBef>
                <a:spcPts val="0"/>
              </a:spcBef>
              <a:spcAft>
                <a:spcPts val="0"/>
              </a:spcAft>
              <a:buNone/>
            </a:pPr>
            <a:r>
              <a:rPr lang="en-GB">
                <a:latin typeface="Times New Roman"/>
                <a:ea typeface="Times New Roman"/>
                <a:cs typeface="Times New Roman"/>
                <a:sym typeface="Times New Roman"/>
              </a:rPr>
              <a:t>x.oclType = Vùng}</a:t>
            </a:r>
            <a:endParaRPr>
              <a:latin typeface="Times New Roman"/>
              <a:ea typeface="Times New Roman"/>
              <a:cs typeface="Times New Roman"/>
              <a:sym typeface="Times New Roman"/>
            </a:endParaRPr>
          </a:p>
        </p:txBody>
      </p:sp>
      <p:sp>
        <p:nvSpPr>
          <p:cNvPr id="1570" name="Google Shape;1570;p98"/>
          <p:cNvSpPr/>
          <p:nvPr/>
        </p:nvSpPr>
        <p:spPr>
          <a:xfrm flipH="1" rot="10800000">
            <a:off x="6863648" y="4582498"/>
            <a:ext cx="1931400" cy="763500"/>
          </a:xfrm>
          <a:prstGeom prst="foldedCorner">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98"/>
          <p:cNvSpPr txBox="1"/>
          <p:nvPr/>
        </p:nvSpPr>
        <p:spPr>
          <a:xfrm>
            <a:off x="6848274" y="4553398"/>
            <a:ext cx="1946700" cy="763500"/>
          </a:xfrm>
          <a:prstGeom prst="rect">
            <a:avLst/>
          </a:prstGeom>
          <a:noFill/>
          <a:ln>
            <a:noFill/>
          </a:ln>
        </p:spPr>
        <p:txBody>
          <a:bodyPr anchorCtr="0" anchor="t" bIns="91425" lIns="54000" spcFirstLastPara="1" rIns="18000"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a:t>
            </a:r>
            <a:r>
              <a:rPr lang="en-GB" u="sng">
                <a:latin typeface="Times New Roman"/>
                <a:ea typeface="Times New Roman"/>
                <a:cs typeface="Times New Roman"/>
                <a:sym typeface="Times New Roman"/>
              </a:rPr>
              <a:t>x: self.parent</a:t>
            </a:r>
            <a:endParaRPr u="sng">
              <a:latin typeface="Times New Roman"/>
              <a:ea typeface="Times New Roman"/>
              <a:cs typeface="Times New Roman"/>
              <a:sym typeface="Times New Roman"/>
            </a:endParaRPr>
          </a:p>
          <a:p>
            <a:pPr indent="0" lvl="0" marL="0" rtl="0" algn="l">
              <a:spcBef>
                <a:spcPts val="0"/>
              </a:spcBef>
              <a:spcAft>
                <a:spcPts val="0"/>
              </a:spcAft>
              <a:buNone/>
            </a:pPr>
            <a:r>
              <a:rPr lang="en-GB">
                <a:latin typeface="Times New Roman"/>
                <a:ea typeface="Times New Roman"/>
                <a:cs typeface="Times New Roman"/>
                <a:sym typeface="Times New Roman"/>
              </a:rPr>
              <a:t>x-&gt;notEmpty and</a:t>
            </a:r>
            <a:endParaRPr>
              <a:latin typeface="Times New Roman"/>
              <a:ea typeface="Times New Roman"/>
              <a:cs typeface="Times New Roman"/>
              <a:sym typeface="Times New Roman"/>
            </a:endParaRPr>
          </a:p>
          <a:p>
            <a:pPr indent="0" lvl="0" marL="0" rtl="0" algn="l">
              <a:spcBef>
                <a:spcPts val="0"/>
              </a:spcBef>
              <a:spcAft>
                <a:spcPts val="0"/>
              </a:spcAft>
              <a:buNone/>
            </a:pPr>
            <a:r>
              <a:rPr lang="en-GB">
                <a:latin typeface="Times New Roman"/>
                <a:ea typeface="Times New Roman"/>
                <a:cs typeface="Times New Roman"/>
                <a:sym typeface="Times New Roman"/>
              </a:rPr>
              <a:t>x.oclType = (</a:t>
            </a:r>
            <a:r>
              <a:rPr lang="en-GB">
                <a:latin typeface="Times New Roman"/>
                <a:ea typeface="Times New Roman"/>
                <a:cs typeface="Times New Roman"/>
                <a:sym typeface="Times New Roman"/>
              </a:rPr>
              <a:t>Chi Nhánh)</a:t>
            </a: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cxnSp>
        <p:nvCxnSpPr>
          <p:cNvPr id="1572" name="Google Shape;1572;p98"/>
          <p:cNvCxnSpPr>
            <a:stCxn id="1544" idx="2"/>
            <a:endCxn id="1564" idx="0"/>
          </p:cNvCxnSpPr>
          <p:nvPr/>
        </p:nvCxnSpPr>
        <p:spPr>
          <a:xfrm flipH="1">
            <a:off x="1257950" y="4094573"/>
            <a:ext cx="169500" cy="522600"/>
          </a:xfrm>
          <a:prstGeom prst="straightConnector1">
            <a:avLst/>
          </a:prstGeom>
          <a:noFill/>
          <a:ln cap="flat" cmpd="sng" w="9525">
            <a:solidFill>
              <a:schemeClr val="dk2"/>
            </a:solidFill>
            <a:prstDash val="dash"/>
            <a:round/>
            <a:headEnd len="med" w="med" type="none"/>
            <a:tailEnd len="med" w="med" type="none"/>
          </a:ln>
        </p:spPr>
      </p:cxnSp>
      <p:cxnSp>
        <p:nvCxnSpPr>
          <p:cNvPr id="1573" name="Google Shape;1573;p98"/>
          <p:cNvCxnSpPr>
            <a:stCxn id="1546" idx="2"/>
            <a:endCxn id="1566" idx="2"/>
          </p:cNvCxnSpPr>
          <p:nvPr/>
        </p:nvCxnSpPr>
        <p:spPr>
          <a:xfrm>
            <a:off x="3075950" y="4094573"/>
            <a:ext cx="462300" cy="488100"/>
          </a:xfrm>
          <a:prstGeom prst="straightConnector1">
            <a:avLst/>
          </a:prstGeom>
          <a:noFill/>
          <a:ln cap="flat" cmpd="sng" w="9525">
            <a:solidFill>
              <a:schemeClr val="dk2"/>
            </a:solidFill>
            <a:prstDash val="dash"/>
            <a:round/>
            <a:headEnd len="med" w="med" type="none"/>
            <a:tailEnd len="med" w="med" type="none"/>
          </a:ln>
        </p:spPr>
      </p:cxnSp>
      <p:cxnSp>
        <p:nvCxnSpPr>
          <p:cNvPr id="1574" name="Google Shape;1574;p98"/>
          <p:cNvCxnSpPr>
            <a:stCxn id="1547" idx="2"/>
            <a:endCxn id="1569" idx="0"/>
          </p:cNvCxnSpPr>
          <p:nvPr/>
        </p:nvCxnSpPr>
        <p:spPr>
          <a:xfrm>
            <a:off x="5379350" y="4094573"/>
            <a:ext cx="387000" cy="458700"/>
          </a:xfrm>
          <a:prstGeom prst="straightConnector1">
            <a:avLst/>
          </a:prstGeom>
          <a:noFill/>
          <a:ln cap="flat" cmpd="sng" w="9525">
            <a:solidFill>
              <a:schemeClr val="dk2"/>
            </a:solidFill>
            <a:prstDash val="dash"/>
            <a:round/>
            <a:headEnd len="med" w="med" type="none"/>
            <a:tailEnd len="med" w="med" type="none"/>
          </a:ln>
        </p:spPr>
      </p:cxnSp>
      <p:cxnSp>
        <p:nvCxnSpPr>
          <p:cNvPr id="1575" name="Google Shape;1575;p98"/>
          <p:cNvCxnSpPr>
            <a:stCxn id="1545" idx="2"/>
            <a:endCxn id="1571" idx="0"/>
          </p:cNvCxnSpPr>
          <p:nvPr/>
        </p:nvCxnSpPr>
        <p:spPr>
          <a:xfrm>
            <a:off x="7071950" y="4094573"/>
            <a:ext cx="749700" cy="458700"/>
          </a:xfrm>
          <a:prstGeom prst="straightConnector1">
            <a:avLst/>
          </a:prstGeom>
          <a:noFill/>
          <a:ln cap="flat" cmpd="sng" w="9525">
            <a:solidFill>
              <a:schemeClr val="dk2"/>
            </a:solidFill>
            <a:prstDash val="dash"/>
            <a:round/>
            <a:headEnd len="med" w="med" type="none"/>
            <a:tailEnd len="med" w="med" type="none"/>
          </a:ln>
        </p:spPr>
      </p:cxnSp>
      <p:sp>
        <p:nvSpPr>
          <p:cNvPr id="1576" name="Google Shape;1576;p98"/>
          <p:cNvSpPr txBox="1"/>
          <p:nvPr/>
        </p:nvSpPr>
        <p:spPr>
          <a:xfrm>
            <a:off x="311750" y="5648850"/>
            <a:ext cx="8520600" cy="87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2600">
                <a:solidFill>
                  <a:srgbClr val="1155CC"/>
                </a:solidFill>
                <a:latin typeface="Times New Roman"/>
                <a:ea typeface="Times New Roman"/>
                <a:cs typeface="Times New Roman"/>
                <a:sym typeface="Times New Roman"/>
              </a:rPr>
              <a:t>Có ích trong trường hợp cần thay đổi cấu trúc phân cấp, ví dụ xóa mức vùng</a:t>
            </a:r>
            <a:endParaRPr i="1" sz="2600">
              <a:solidFill>
                <a:srgbClr val="1155CC"/>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0" name="Shape 1580"/>
        <p:cNvGrpSpPr/>
        <p:nvPr/>
      </p:nvGrpSpPr>
      <p:grpSpPr>
        <a:xfrm>
          <a:off x="0" y="0"/>
          <a:ext cx="0" cy="0"/>
          <a:chOff x="0" y="0"/>
          <a:chExt cx="0" cy="0"/>
        </a:xfrm>
      </p:grpSpPr>
      <p:sp>
        <p:nvSpPr>
          <p:cNvPr id="1581" name="Google Shape;1581;p99"/>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3.24. Các đối tượng phân cấp tổ chức</a:t>
            </a:r>
            <a:endParaRPr/>
          </a:p>
        </p:txBody>
      </p:sp>
      <p:sp>
        <p:nvSpPr>
          <p:cNvPr id="1582" name="Google Shape;1582;p9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583" name="Google Shape;1583;p99"/>
          <p:cNvSpPr/>
          <p:nvPr/>
        </p:nvSpPr>
        <p:spPr>
          <a:xfrm>
            <a:off x="3446700" y="1057625"/>
            <a:ext cx="2250600" cy="6648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800" u="sng"/>
              <a:t>_:Đơn vị vận hành</a:t>
            </a:r>
            <a:endParaRPr sz="1800" u="sng"/>
          </a:p>
        </p:txBody>
      </p:sp>
      <p:sp>
        <p:nvSpPr>
          <p:cNvPr id="1584" name="Google Shape;1584;p99"/>
          <p:cNvSpPr/>
          <p:nvPr/>
        </p:nvSpPr>
        <p:spPr>
          <a:xfrm>
            <a:off x="3795300" y="2280100"/>
            <a:ext cx="1553400" cy="6648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800" u="sng"/>
              <a:t>_:</a:t>
            </a:r>
            <a:r>
              <a:rPr lang="en-GB" sz="1800" u="sng"/>
              <a:t>Vùng</a:t>
            </a:r>
            <a:endParaRPr sz="1800" u="sng"/>
          </a:p>
        </p:txBody>
      </p:sp>
      <p:sp>
        <p:nvSpPr>
          <p:cNvPr id="1585" name="Google Shape;1585;p99"/>
          <p:cNvSpPr/>
          <p:nvPr/>
        </p:nvSpPr>
        <p:spPr>
          <a:xfrm>
            <a:off x="1828150" y="3429000"/>
            <a:ext cx="1553400" cy="6648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800" u="sng"/>
              <a:t>_:</a:t>
            </a:r>
            <a:r>
              <a:rPr lang="en-GB" sz="1800" u="sng"/>
              <a:t>Chi nhánh</a:t>
            </a:r>
            <a:endParaRPr sz="1800" u="sng"/>
          </a:p>
        </p:txBody>
      </p:sp>
      <p:sp>
        <p:nvSpPr>
          <p:cNvPr id="1586" name="Google Shape;1586;p99"/>
          <p:cNvSpPr/>
          <p:nvPr/>
        </p:nvSpPr>
        <p:spPr>
          <a:xfrm>
            <a:off x="5960575" y="3561475"/>
            <a:ext cx="1553400" cy="6648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800" u="sng"/>
              <a:t>_:Chi nhánh</a:t>
            </a:r>
            <a:endParaRPr sz="1800" u="sng"/>
          </a:p>
        </p:txBody>
      </p:sp>
      <p:sp>
        <p:nvSpPr>
          <p:cNvPr id="1587" name="Google Shape;1587;p99"/>
          <p:cNvSpPr/>
          <p:nvPr/>
        </p:nvSpPr>
        <p:spPr>
          <a:xfrm>
            <a:off x="556800" y="4898900"/>
            <a:ext cx="1553400" cy="6648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800" u="sng"/>
              <a:t>_:C</a:t>
            </a:r>
            <a:r>
              <a:rPr lang="en-GB" sz="1800" u="sng"/>
              <a:t>ửa hàng</a:t>
            </a:r>
            <a:endParaRPr sz="1800" u="sng"/>
          </a:p>
        </p:txBody>
      </p:sp>
      <p:sp>
        <p:nvSpPr>
          <p:cNvPr id="1588" name="Google Shape;1588;p99"/>
          <p:cNvSpPr/>
          <p:nvPr/>
        </p:nvSpPr>
        <p:spPr>
          <a:xfrm>
            <a:off x="2919000" y="4898900"/>
            <a:ext cx="1553400" cy="6648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800" u="sng"/>
              <a:t>_:Cửa hàng</a:t>
            </a:r>
            <a:endParaRPr sz="1800" u="sng"/>
          </a:p>
        </p:txBody>
      </p:sp>
      <p:sp>
        <p:nvSpPr>
          <p:cNvPr id="1589" name="Google Shape;1589;p99"/>
          <p:cNvSpPr/>
          <p:nvPr/>
        </p:nvSpPr>
        <p:spPr>
          <a:xfrm>
            <a:off x="4900200" y="4898900"/>
            <a:ext cx="1553400" cy="6648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800" u="sng"/>
              <a:t>_:Cửa hàng</a:t>
            </a:r>
            <a:endParaRPr sz="1800" u="sng"/>
          </a:p>
        </p:txBody>
      </p:sp>
      <p:sp>
        <p:nvSpPr>
          <p:cNvPr id="1590" name="Google Shape;1590;p99"/>
          <p:cNvSpPr/>
          <p:nvPr/>
        </p:nvSpPr>
        <p:spPr>
          <a:xfrm>
            <a:off x="6957600" y="4898900"/>
            <a:ext cx="1553400" cy="664800"/>
          </a:xfrm>
          <a:prstGeom prst="rect">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800" u="sng"/>
              <a:t>_:Cửa hàng</a:t>
            </a:r>
            <a:endParaRPr sz="1800" u="sng"/>
          </a:p>
        </p:txBody>
      </p:sp>
      <p:cxnSp>
        <p:nvCxnSpPr>
          <p:cNvPr id="1591" name="Google Shape;1591;p99"/>
          <p:cNvCxnSpPr>
            <a:stCxn id="1585" idx="0"/>
            <a:endCxn id="1584" idx="1"/>
          </p:cNvCxnSpPr>
          <p:nvPr/>
        </p:nvCxnSpPr>
        <p:spPr>
          <a:xfrm rot="-5400000">
            <a:off x="2791750" y="2425500"/>
            <a:ext cx="816600" cy="1190400"/>
          </a:xfrm>
          <a:prstGeom prst="bentConnector2">
            <a:avLst/>
          </a:prstGeom>
          <a:noFill/>
          <a:ln cap="flat" cmpd="sng" w="9525">
            <a:solidFill>
              <a:schemeClr val="dk2"/>
            </a:solidFill>
            <a:prstDash val="solid"/>
            <a:round/>
            <a:headEnd len="med" w="med" type="none"/>
            <a:tailEnd len="med" w="med" type="none"/>
          </a:ln>
        </p:spPr>
      </p:cxnSp>
      <p:cxnSp>
        <p:nvCxnSpPr>
          <p:cNvPr id="1592" name="Google Shape;1592;p99"/>
          <p:cNvCxnSpPr>
            <a:stCxn id="1586" idx="0"/>
            <a:endCxn id="1584" idx="3"/>
          </p:cNvCxnSpPr>
          <p:nvPr/>
        </p:nvCxnSpPr>
        <p:spPr>
          <a:xfrm flipH="1" rot="5400000">
            <a:off x="5568475" y="2392675"/>
            <a:ext cx="948900" cy="1388700"/>
          </a:xfrm>
          <a:prstGeom prst="bentConnector2">
            <a:avLst/>
          </a:prstGeom>
          <a:noFill/>
          <a:ln cap="flat" cmpd="sng" w="9525">
            <a:solidFill>
              <a:schemeClr val="dk2"/>
            </a:solidFill>
            <a:prstDash val="solid"/>
            <a:round/>
            <a:headEnd len="med" w="med" type="none"/>
            <a:tailEnd len="med" w="med" type="none"/>
          </a:ln>
        </p:spPr>
      </p:cxnSp>
      <p:cxnSp>
        <p:nvCxnSpPr>
          <p:cNvPr id="1593" name="Google Shape;1593;p99"/>
          <p:cNvCxnSpPr>
            <a:stCxn id="1587" idx="0"/>
            <a:endCxn id="1585" idx="1"/>
          </p:cNvCxnSpPr>
          <p:nvPr/>
        </p:nvCxnSpPr>
        <p:spPr>
          <a:xfrm rot="-5400000">
            <a:off x="1012050" y="4082750"/>
            <a:ext cx="1137600" cy="494700"/>
          </a:xfrm>
          <a:prstGeom prst="bentConnector2">
            <a:avLst/>
          </a:prstGeom>
          <a:noFill/>
          <a:ln cap="flat" cmpd="sng" w="9525">
            <a:solidFill>
              <a:schemeClr val="dk2"/>
            </a:solidFill>
            <a:prstDash val="solid"/>
            <a:round/>
            <a:headEnd len="med" w="med" type="none"/>
            <a:tailEnd len="med" w="med" type="none"/>
          </a:ln>
        </p:spPr>
      </p:cxnSp>
      <p:cxnSp>
        <p:nvCxnSpPr>
          <p:cNvPr id="1594" name="Google Shape;1594;p99"/>
          <p:cNvCxnSpPr>
            <a:stCxn id="1588" idx="0"/>
            <a:endCxn id="1585" idx="3"/>
          </p:cNvCxnSpPr>
          <p:nvPr/>
        </p:nvCxnSpPr>
        <p:spPr>
          <a:xfrm flipH="1" rot="5400000">
            <a:off x="2969850" y="4173050"/>
            <a:ext cx="1137600" cy="314100"/>
          </a:xfrm>
          <a:prstGeom prst="bentConnector2">
            <a:avLst/>
          </a:prstGeom>
          <a:noFill/>
          <a:ln cap="flat" cmpd="sng" w="9525">
            <a:solidFill>
              <a:schemeClr val="dk2"/>
            </a:solidFill>
            <a:prstDash val="solid"/>
            <a:round/>
            <a:headEnd len="med" w="med" type="none"/>
            <a:tailEnd len="med" w="med" type="none"/>
          </a:ln>
        </p:spPr>
      </p:cxnSp>
      <p:cxnSp>
        <p:nvCxnSpPr>
          <p:cNvPr id="1595" name="Google Shape;1595;p99"/>
          <p:cNvCxnSpPr>
            <a:stCxn id="1589" idx="0"/>
            <a:endCxn id="1586" idx="1"/>
          </p:cNvCxnSpPr>
          <p:nvPr/>
        </p:nvCxnSpPr>
        <p:spPr>
          <a:xfrm rot="-5400000">
            <a:off x="5316300" y="4254500"/>
            <a:ext cx="1005000" cy="283800"/>
          </a:xfrm>
          <a:prstGeom prst="bentConnector2">
            <a:avLst/>
          </a:prstGeom>
          <a:noFill/>
          <a:ln cap="flat" cmpd="sng" w="9525">
            <a:solidFill>
              <a:schemeClr val="dk2"/>
            </a:solidFill>
            <a:prstDash val="solid"/>
            <a:round/>
            <a:headEnd len="med" w="med" type="none"/>
            <a:tailEnd len="med" w="med" type="none"/>
          </a:ln>
        </p:spPr>
      </p:cxnSp>
      <p:cxnSp>
        <p:nvCxnSpPr>
          <p:cNvPr id="1596" name="Google Shape;1596;p99"/>
          <p:cNvCxnSpPr>
            <a:stCxn id="1590" idx="0"/>
            <a:endCxn id="1586" idx="3"/>
          </p:cNvCxnSpPr>
          <p:nvPr/>
        </p:nvCxnSpPr>
        <p:spPr>
          <a:xfrm flipH="1" rot="5400000">
            <a:off x="7121700" y="4286300"/>
            <a:ext cx="1005000" cy="220200"/>
          </a:xfrm>
          <a:prstGeom prst="bentConnector2">
            <a:avLst/>
          </a:prstGeom>
          <a:noFill/>
          <a:ln cap="flat" cmpd="sng" w="9525">
            <a:solidFill>
              <a:schemeClr val="dk2"/>
            </a:solidFill>
            <a:prstDash val="solid"/>
            <a:round/>
            <a:headEnd len="med" w="med" type="none"/>
            <a:tailEnd len="med" w="med" type="none"/>
          </a:ln>
        </p:spPr>
      </p:cxnSp>
      <p:cxnSp>
        <p:nvCxnSpPr>
          <p:cNvPr id="1597" name="Google Shape;1597;p99"/>
          <p:cNvCxnSpPr>
            <a:stCxn id="1584" idx="0"/>
            <a:endCxn id="1583" idx="2"/>
          </p:cNvCxnSpPr>
          <p:nvPr/>
        </p:nvCxnSpPr>
        <p:spPr>
          <a:xfrm rot="10800000">
            <a:off x="4572000" y="1722400"/>
            <a:ext cx="0" cy="5577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1" name="Shape 1601"/>
        <p:cNvGrpSpPr/>
        <p:nvPr/>
      </p:nvGrpSpPr>
      <p:grpSpPr>
        <a:xfrm>
          <a:off x="0" y="0"/>
          <a:ext cx="0" cy="0"/>
          <a:chOff x="0" y="0"/>
          <a:chExt cx="0" cy="0"/>
        </a:xfrm>
      </p:grpSpPr>
      <p:sp>
        <p:nvSpPr>
          <p:cNvPr id="1602" name="Google Shape;1602;p100"/>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a:t>
            </a:r>
            <a:r>
              <a:rPr lang="en-GB"/>
              <a:t>í dụ 3.25. Mẫu đơn hàng</a:t>
            </a:r>
            <a:endParaRPr/>
          </a:p>
        </p:txBody>
      </p:sp>
      <p:sp>
        <p:nvSpPr>
          <p:cNvPr id="1603" name="Google Shape;1603;p10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04" name="Google Shape;1604;p100"/>
          <p:cNvSpPr/>
          <p:nvPr/>
        </p:nvSpPr>
        <p:spPr>
          <a:xfrm>
            <a:off x="412900" y="2129550"/>
            <a:ext cx="1238700" cy="587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Sản phẩm</a:t>
            </a:r>
            <a:endParaRPr b="1" sz="1800"/>
          </a:p>
        </p:txBody>
      </p:sp>
      <p:sp>
        <p:nvSpPr>
          <p:cNvPr id="1605" name="Google Shape;1605;p100"/>
          <p:cNvSpPr/>
          <p:nvPr/>
        </p:nvSpPr>
        <p:spPr>
          <a:xfrm>
            <a:off x="2489722" y="2129550"/>
            <a:ext cx="1238700" cy="587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Mục hàng</a:t>
            </a:r>
            <a:endParaRPr b="1" sz="1800"/>
          </a:p>
        </p:txBody>
      </p:sp>
      <p:sp>
        <p:nvSpPr>
          <p:cNvPr id="1606" name="Google Shape;1606;p100"/>
          <p:cNvSpPr/>
          <p:nvPr/>
        </p:nvSpPr>
        <p:spPr>
          <a:xfrm>
            <a:off x="4566544" y="2129550"/>
            <a:ext cx="1238700" cy="587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Đơn hàng</a:t>
            </a:r>
            <a:endParaRPr b="1" sz="1800"/>
          </a:p>
        </p:txBody>
      </p:sp>
      <p:sp>
        <p:nvSpPr>
          <p:cNvPr id="1607" name="Google Shape;1607;p100"/>
          <p:cNvSpPr/>
          <p:nvPr/>
        </p:nvSpPr>
        <p:spPr>
          <a:xfrm>
            <a:off x="6732958" y="2129550"/>
            <a:ext cx="1238700" cy="587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Khách hàng</a:t>
            </a:r>
            <a:endParaRPr b="1" sz="1800"/>
          </a:p>
        </p:txBody>
      </p:sp>
      <p:sp>
        <p:nvSpPr>
          <p:cNvPr id="1608" name="Google Shape;1608;p100"/>
          <p:cNvSpPr/>
          <p:nvPr/>
        </p:nvSpPr>
        <p:spPr>
          <a:xfrm>
            <a:off x="5943235" y="3348750"/>
            <a:ext cx="1238700" cy="587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Cá nhân</a:t>
            </a:r>
            <a:endParaRPr b="1" sz="1800"/>
          </a:p>
        </p:txBody>
      </p:sp>
      <p:sp>
        <p:nvSpPr>
          <p:cNvPr id="1609" name="Google Shape;1609;p100"/>
          <p:cNvSpPr/>
          <p:nvPr/>
        </p:nvSpPr>
        <p:spPr>
          <a:xfrm>
            <a:off x="7679232" y="3272550"/>
            <a:ext cx="1238700" cy="587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t>Công ty</a:t>
            </a:r>
            <a:endParaRPr b="1" sz="1800"/>
          </a:p>
        </p:txBody>
      </p:sp>
      <p:sp>
        <p:nvSpPr>
          <p:cNvPr id="1610" name="Google Shape;1610;p100"/>
          <p:cNvSpPr/>
          <p:nvPr/>
        </p:nvSpPr>
        <p:spPr>
          <a:xfrm>
            <a:off x="7020150" y="2716625"/>
            <a:ext cx="225900" cy="1461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1611" name="Google Shape;1611;p100"/>
          <p:cNvSpPr/>
          <p:nvPr/>
        </p:nvSpPr>
        <p:spPr>
          <a:xfrm>
            <a:off x="7477350" y="2716625"/>
            <a:ext cx="225900" cy="1461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1612" name="Google Shape;1612;p100"/>
          <p:cNvCxnSpPr>
            <a:stCxn id="1608" idx="0"/>
            <a:endCxn id="1610" idx="3"/>
          </p:cNvCxnSpPr>
          <p:nvPr/>
        </p:nvCxnSpPr>
        <p:spPr>
          <a:xfrm rot="-5400000">
            <a:off x="6604885" y="2820450"/>
            <a:ext cx="486000" cy="570600"/>
          </a:xfrm>
          <a:prstGeom prst="bentConnector3">
            <a:avLst>
              <a:gd fmla="val 50003" name="adj1"/>
            </a:avLst>
          </a:prstGeom>
          <a:noFill/>
          <a:ln cap="flat" cmpd="sng" w="9525">
            <a:solidFill>
              <a:schemeClr val="dk2"/>
            </a:solidFill>
            <a:prstDash val="solid"/>
            <a:round/>
            <a:headEnd len="med" w="med" type="none"/>
            <a:tailEnd len="med" w="med" type="none"/>
          </a:ln>
        </p:spPr>
      </p:cxnSp>
      <p:cxnSp>
        <p:nvCxnSpPr>
          <p:cNvPr id="1613" name="Google Shape;1613;p100"/>
          <p:cNvCxnSpPr>
            <a:stCxn id="1609" idx="0"/>
            <a:endCxn id="1611" idx="3"/>
          </p:cNvCxnSpPr>
          <p:nvPr/>
        </p:nvCxnSpPr>
        <p:spPr>
          <a:xfrm flipH="1" rot="5400000">
            <a:off x="7739532" y="2713500"/>
            <a:ext cx="409800" cy="708300"/>
          </a:xfrm>
          <a:prstGeom prst="bentConnector3">
            <a:avLst>
              <a:gd fmla="val 50003" name="adj1"/>
            </a:avLst>
          </a:prstGeom>
          <a:noFill/>
          <a:ln cap="flat" cmpd="sng" w="9525">
            <a:solidFill>
              <a:schemeClr val="dk2"/>
            </a:solidFill>
            <a:prstDash val="solid"/>
            <a:round/>
            <a:headEnd len="med" w="med" type="none"/>
            <a:tailEnd len="med" w="med" type="none"/>
          </a:ln>
        </p:spPr>
      </p:cxnSp>
      <p:cxnSp>
        <p:nvCxnSpPr>
          <p:cNvPr id="1614" name="Google Shape;1614;p100"/>
          <p:cNvCxnSpPr>
            <a:stCxn id="1604" idx="3"/>
            <a:endCxn id="1605" idx="1"/>
          </p:cNvCxnSpPr>
          <p:nvPr/>
        </p:nvCxnSpPr>
        <p:spPr>
          <a:xfrm>
            <a:off x="1651600" y="2423100"/>
            <a:ext cx="838200" cy="0"/>
          </a:xfrm>
          <a:prstGeom prst="straightConnector1">
            <a:avLst/>
          </a:prstGeom>
          <a:noFill/>
          <a:ln cap="flat" cmpd="sng" w="9525">
            <a:solidFill>
              <a:schemeClr val="dk2"/>
            </a:solidFill>
            <a:prstDash val="solid"/>
            <a:round/>
            <a:headEnd len="med" w="med" type="none"/>
            <a:tailEnd len="med" w="med" type="none"/>
          </a:ln>
        </p:spPr>
      </p:cxnSp>
      <p:cxnSp>
        <p:nvCxnSpPr>
          <p:cNvPr id="1615" name="Google Shape;1615;p100"/>
          <p:cNvCxnSpPr>
            <a:stCxn id="1605" idx="3"/>
            <a:endCxn id="1606" idx="1"/>
          </p:cNvCxnSpPr>
          <p:nvPr/>
        </p:nvCxnSpPr>
        <p:spPr>
          <a:xfrm>
            <a:off x="3728422" y="2423100"/>
            <a:ext cx="838200" cy="0"/>
          </a:xfrm>
          <a:prstGeom prst="straightConnector1">
            <a:avLst/>
          </a:prstGeom>
          <a:noFill/>
          <a:ln cap="flat" cmpd="sng" w="9525">
            <a:solidFill>
              <a:schemeClr val="dk2"/>
            </a:solidFill>
            <a:prstDash val="solid"/>
            <a:round/>
            <a:headEnd len="med" w="med" type="none"/>
            <a:tailEnd len="med" w="med" type="none"/>
          </a:ln>
        </p:spPr>
      </p:cxnSp>
      <p:cxnSp>
        <p:nvCxnSpPr>
          <p:cNvPr id="1616" name="Google Shape;1616;p100"/>
          <p:cNvCxnSpPr>
            <a:stCxn id="1606" idx="3"/>
            <a:endCxn id="1607" idx="1"/>
          </p:cNvCxnSpPr>
          <p:nvPr/>
        </p:nvCxnSpPr>
        <p:spPr>
          <a:xfrm>
            <a:off x="5805244" y="2423100"/>
            <a:ext cx="927600" cy="0"/>
          </a:xfrm>
          <a:prstGeom prst="straightConnector1">
            <a:avLst/>
          </a:prstGeom>
          <a:noFill/>
          <a:ln cap="flat" cmpd="sng" w="9525">
            <a:solidFill>
              <a:schemeClr val="dk2"/>
            </a:solidFill>
            <a:prstDash val="solid"/>
            <a:round/>
            <a:headEnd len="med" w="med" type="none"/>
            <a:tailEnd len="med" w="med" type="none"/>
          </a:ln>
        </p:spPr>
      </p:cxnSp>
      <p:sp>
        <p:nvSpPr>
          <p:cNvPr id="1617" name="Google Shape;1617;p100"/>
          <p:cNvSpPr txBox="1"/>
          <p:nvPr/>
        </p:nvSpPr>
        <p:spPr>
          <a:xfrm>
            <a:off x="5917028" y="2013275"/>
            <a:ext cx="7083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&lt;Tạo</a:t>
            </a:r>
            <a:endParaRPr sz="1800">
              <a:solidFill>
                <a:schemeClr val="dk2"/>
              </a:solidFill>
              <a:latin typeface="Times New Roman"/>
              <a:ea typeface="Times New Roman"/>
              <a:cs typeface="Times New Roman"/>
              <a:sym typeface="Times New Roman"/>
            </a:endParaRPr>
          </a:p>
        </p:txBody>
      </p:sp>
      <p:sp>
        <p:nvSpPr>
          <p:cNvPr id="1618" name="Google Shape;1618;p100"/>
          <p:cNvSpPr txBox="1"/>
          <p:nvPr/>
        </p:nvSpPr>
        <p:spPr>
          <a:xfrm>
            <a:off x="5752088" y="2318075"/>
            <a:ext cx="5916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a:t>
            </a:r>
            <a:endParaRPr sz="1800">
              <a:solidFill>
                <a:schemeClr val="dk2"/>
              </a:solidFill>
              <a:latin typeface="Times New Roman"/>
              <a:ea typeface="Times New Roman"/>
              <a:cs typeface="Times New Roman"/>
              <a:sym typeface="Times New Roman"/>
            </a:endParaRPr>
          </a:p>
        </p:txBody>
      </p:sp>
      <p:sp>
        <p:nvSpPr>
          <p:cNvPr id="1619" name="Google Shape;1619;p100"/>
          <p:cNvSpPr txBox="1"/>
          <p:nvPr/>
        </p:nvSpPr>
        <p:spPr>
          <a:xfrm>
            <a:off x="6477760" y="2318075"/>
            <a:ext cx="5916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a:t>
            </a:r>
            <a:endParaRPr sz="1800">
              <a:solidFill>
                <a:schemeClr val="dk2"/>
              </a:solidFill>
              <a:latin typeface="Times New Roman"/>
              <a:ea typeface="Times New Roman"/>
              <a:cs typeface="Times New Roman"/>
              <a:sym typeface="Times New Roman"/>
            </a:endParaRPr>
          </a:p>
        </p:txBody>
      </p:sp>
      <p:sp>
        <p:nvSpPr>
          <p:cNvPr id="1620" name="Google Shape;1620;p100"/>
          <p:cNvSpPr txBox="1"/>
          <p:nvPr/>
        </p:nvSpPr>
        <p:spPr>
          <a:xfrm>
            <a:off x="3733806" y="2013275"/>
            <a:ext cx="8382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Chứa</a:t>
            </a:r>
            <a:endParaRPr sz="1800">
              <a:solidFill>
                <a:schemeClr val="dk2"/>
              </a:solidFill>
              <a:latin typeface="Times New Roman"/>
              <a:ea typeface="Times New Roman"/>
              <a:cs typeface="Times New Roman"/>
              <a:sym typeface="Times New Roman"/>
            </a:endParaRPr>
          </a:p>
        </p:txBody>
      </p:sp>
      <p:sp>
        <p:nvSpPr>
          <p:cNvPr id="1621" name="Google Shape;1621;p100"/>
          <p:cNvSpPr txBox="1"/>
          <p:nvPr/>
        </p:nvSpPr>
        <p:spPr>
          <a:xfrm>
            <a:off x="3694688" y="2318075"/>
            <a:ext cx="5916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a:t>
            </a:r>
            <a:endParaRPr sz="1800">
              <a:solidFill>
                <a:schemeClr val="dk2"/>
              </a:solidFill>
              <a:latin typeface="Times New Roman"/>
              <a:ea typeface="Times New Roman"/>
              <a:cs typeface="Times New Roman"/>
              <a:sym typeface="Times New Roman"/>
            </a:endParaRPr>
          </a:p>
        </p:txBody>
      </p:sp>
      <p:sp>
        <p:nvSpPr>
          <p:cNvPr id="1622" name="Google Shape;1622;p100"/>
          <p:cNvSpPr txBox="1"/>
          <p:nvPr/>
        </p:nvSpPr>
        <p:spPr>
          <a:xfrm>
            <a:off x="4267960" y="2318075"/>
            <a:ext cx="5916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1</a:t>
            </a:r>
            <a:endParaRPr sz="1800">
              <a:solidFill>
                <a:schemeClr val="dk2"/>
              </a:solidFill>
              <a:latin typeface="Times New Roman"/>
              <a:ea typeface="Times New Roman"/>
              <a:cs typeface="Times New Roman"/>
              <a:sym typeface="Times New Roman"/>
            </a:endParaRPr>
          </a:p>
        </p:txBody>
      </p:sp>
      <p:sp>
        <p:nvSpPr>
          <p:cNvPr id="1623" name="Google Shape;1623;p100"/>
          <p:cNvSpPr txBox="1"/>
          <p:nvPr/>
        </p:nvSpPr>
        <p:spPr>
          <a:xfrm>
            <a:off x="2246888" y="2318075"/>
            <a:ext cx="5916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a:t>
            </a:r>
            <a:endParaRPr sz="1800">
              <a:solidFill>
                <a:schemeClr val="dk2"/>
              </a:solidFill>
              <a:latin typeface="Times New Roman"/>
              <a:ea typeface="Times New Roman"/>
              <a:cs typeface="Times New Roman"/>
              <a:sym typeface="Times New Roman"/>
            </a:endParaRPr>
          </a:p>
        </p:txBody>
      </p:sp>
      <p:sp>
        <p:nvSpPr>
          <p:cNvPr id="1624" name="Google Shape;1624;p100"/>
          <p:cNvSpPr txBox="1"/>
          <p:nvPr/>
        </p:nvSpPr>
        <p:spPr>
          <a:xfrm>
            <a:off x="1600960" y="2318075"/>
            <a:ext cx="5916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1</a:t>
            </a:r>
            <a:endParaRPr sz="1800">
              <a:solidFill>
                <a:schemeClr val="dk2"/>
              </a:solidFill>
              <a:latin typeface="Times New Roman"/>
              <a:ea typeface="Times New Roman"/>
              <a:cs typeface="Times New Roman"/>
              <a:sym typeface="Times New Roman"/>
            </a:endParaRPr>
          </a:p>
        </p:txBody>
      </p:sp>
      <p:sp>
        <p:nvSpPr>
          <p:cNvPr id="1625" name="Google Shape;1625;p100"/>
          <p:cNvSpPr txBox="1"/>
          <p:nvPr/>
        </p:nvSpPr>
        <p:spPr>
          <a:xfrm>
            <a:off x="1752606" y="2013275"/>
            <a:ext cx="8382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Chứa</a:t>
            </a:r>
            <a:endParaRPr sz="1800">
              <a:solidFill>
                <a:schemeClr val="dk2"/>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9" name="Shape 1629"/>
        <p:cNvGrpSpPr/>
        <p:nvPr/>
      </p:nvGrpSpPr>
      <p:grpSpPr>
        <a:xfrm>
          <a:off x="0" y="0"/>
          <a:ext cx="0" cy="0"/>
          <a:chOff x="0" y="0"/>
          <a:chExt cx="0" cy="0"/>
        </a:xfrm>
      </p:grpSpPr>
      <p:sp>
        <p:nvSpPr>
          <p:cNvPr id="1630" name="Google Shape;1630;p101"/>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1631" name="Google Shape;1631;p101"/>
          <p:cNvSpPr txBox="1"/>
          <p:nvPr>
            <p:ph idx="1" type="body"/>
          </p:nvPr>
        </p:nvSpPr>
        <p:spPr>
          <a:xfrm>
            <a:off x="311700" y="910800"/>
            <a:ext cx="8520600" cy="5330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Các khái niệm</a:t>
            </a:r>
            <a:endParaRPr/>
          </a:p>
          <a:p>
            <a:pPr indent="-381000" lvl="0" marL="457200" rtl="0" algn="l">
              <a:spcBef>
                <a:spcPts val="0"/>
              </a:spcBef>
              <a:spcAft>
                <a:spcPts val="0"/>
              </a:spcAft>
              <a:buSzPts val="2400"/>
              <a:buChar char="●"/>
            </a:pPr>
            <a:r>
              <a:rPr lang="en-GB"/>
              <a:t>Các kỹ thuật</a:t>
            </a:r>
            <a:endParaRPr/>
          </a:p>
          <a:p>
            <a:pPr indent="-381000" lvl="0" marL="457200" rtl="0" algn="l">
              <a:spcBef>
                <a:spcPts val="0"/>
              </a:spcBef>
              <a:spcAft>
                <a:spcPts val="0"/>
              </a:spcAft>
              <a:buSzPts val="2400"/>
              <a:buChar char="●"/>
            </a:pPr>
            <a:r>
              <a:rPr lang="en-GB"/>
              <a:t>Các </a:t>
            </a:r>
            <a:r>
              <a:rPr lang="en-GB"/>
              <a:t>sơ đồ</a:t>
            </a:r>
            <a:endParaRPr/>
          </a:p>
          <a:p>
            <a:pPr indent="-381000" lvl="0" marL="457200" rtl="0" algn="l">
              <a:spcBef>
                <a:spcPts val="0"/>
              </a:spcBef>
              <a:spcAft>
                <a:spcPts val="0"/>
              </a:spcAft>
              <a:buSzPts val="2400"/>
              <a:buChar char="●"/>
            </a:pPr>
            <a:r>
              <a:rPr lang="en-GB"/>
              <a:t>Mô tả ràng buộc với OCL</a:t>
            </a:r>
            <a:endParaRPr/>
          </a:p>
          <a:p>
            <a:pPr indent="-381000" lvl="0" marL="457200" rtl="0" algn="l">
              <a:spcBef>
                <a:spcPts val="0"/>
              </a:spcBef>
              <a:spcAft>
                <a:spcPts val="0"/>
              </a:spcAft>
              <a:buSzPts val="2400"/>
              <a:buChar char="●"/>
            </a:pPr>
            <a:r>
              <a:rPr lang="en-GB"/>
              <a:t>Đặc tả lớp với thẻ CRC</a:t>
            </a:r>
            <a:endParaRPr/>
          </a:p>
          <a:p>
            <a:pPr indent="-381000" lvl="0" marL="457200" rtl="0" algn="l">
              <a:spcBef>
                <a:spcPts val="0"/>
              </a:spcBef>
              <a:spcAft>
                <a:spcPts val="0"/>
              </a:spcAft>
              <a:buSzPts val="2400"/>
              <a:buChar char="●"/>
            </a:pPr>
            <a:r>
              <a:rPr lang="en-GB"/>
              <a:t>Mẫu phân tích</a:t>
            </a:r>
            <a:endParaRPr/>
          </a:p>
          <a:p>
            <a:pPr indent="-381000" lvl="0" marL="457200" rtl="0" algn="l">
              <a:spcBef>
                <a:spcPts val="0"/>
              </a:spcBef>
              <a:spcAft>
                <a:spcPts val="0"/>
              </a:spcAft>
              <a:buSzPts val="2400"/>
              <a:buChar char="●"/>
            </a:pPr>
            <a:r>
              <a:rPr lang="en-GB"/>
              <a:t>Bài tập</a:t>
            </a:r>
            <a:endParaRPr/>
          </a:p>
        </p:txBody>
      </p:sp>
      <p:sp>
        <p:nvSpPr>
          <p:cNvPr id="1632" name="Google Shape;1632;p10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33" name="Google Shape;1633;p101"/>
          <p:cNvSpPr/>
          <p:nvPr/>
        </p:nvSpPr>
        <p:spPr>
          <a:xfrm>
            <a:off x="366525" y="3321610"/>
            <a:ext cx="49452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7" name="Shape 1637"/>
        <p:cNvGrpSpPr/>
        <p:nvPr/>
      </p:nvGrpSpPr>
      <p:grpSpPr>
        <a:xfrm>
          <a:off x="0" y="0"/>
          <a:ext cx="0" cy="0"/>
          <a:chOff x="0" y="0"/>
          <a:chExt cx="0" cy="0"/>
        </a:xfrm>
      </p:grpSpPr>
      <p:sp>
        <p:nvSpPr>
          <p:cNvPr id="1638" name="Google Shape;1638;p102"/>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a:t>
            </a:r>
            <a:r>
              <a:rPr lang="en-GB"/>
              <a:t>ài tập</a:t>
            </a:r>
            <a:endParaRPr/>
          </a:p>
        </p:txBody>
      </p:sp>
      <p:sp>
        <p:nvSpPr>
          <p:cNvPr id="1639" name="Google Shape;1639;p10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40" name="Google Shape;1640;p102"/>
          <p:cNvSpPr txBox="1"/>
          <p:nvPr/>
        </p:nvSpPr>
        <p:spPr>
          <a:xfrm>
            <a:off x="288625" y="837675"/>
            <a:ext cx="8527800" cy="7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chemeClr val="dk2"/>
                </a:solidFill>
                <a:latin typeface="Times New Roman"/>
                <a:ea typeface="Times New Roman"/>
                <a:cs typeface="Times New Roman"/>
                <a:sym typeface="Times New Roman"/>
              </a:rPr>
              <a:t>Xác định các thành phần thông tin, biểu diễn dữ liệu bằng đối tượng, vẽ </a:t>
            </a:r>
            <a:r>
              <a:rPr i="1" lang="en-GB" sz="2400">
                <a:solidFill>
                  <a:schemeClr val="dk2"/>
                </a:solidFill>
                <a:latin typeface="Times New Roman"/>
                <a:ea typeface="Times New Roman"/>
                <a:cs typeface="Times New Roman"/>
                <a:sym typeface="Times New Roman"/>
              </a:rPr>
              <a:t>sơ đồ</a:t>
            </a:r>
            <a:r>
              <a:rPr i="1" lang="en-GB" sz="2400">
                <a:solidFill>
                  <a:schemeClr val="dk2"/>
                </a:solidFill>
                <a:latin typeface="Times New Roman"/>
                <a:ea typeface="Times New Roman"/>
                <a:cs typeface="Times New Roman"/>
                <a:sym typeface="Times New Roman"/>
              </a:rPr>
              <a:t> lớp.</a:t>
            </a:r>
            <a:endParaRPr i="1" sz="2400">
              <a:solidFill>
                <a:schemeClr val="dk2"/>
              </a:solidFill>
              <a:latin typeface="Times New Roman"/>
              <a:ea typeface="Times New Roman"/>
              <a:cs typeface="Times New Roman"/>
              <a:sym typeface="Times New Roman"/>
            </a:endParaRPr>
          </a:p>
        </p:txBody>
      </p:sp>
      <p:pic>
        <p:nvPicPr>
          <p:cNvPr id="1641" name="Google Shape;1641;p102"/>
          <p:cNvPicPr preferRelativeResize="0"/>
          <p:nvPr/>
        </p:nvPicPr>
        <p:blipFill>
          <a:blip r:embed="rId3">
            <a:alphaModFix/>
          </a:blip>
          <a:stretch>
            <a:fillRect/>
          </a:stretch>
        </p:blipFill>
        <p:spPr>
          <a:xfrm>
            <a:off x="1929525" y="1741475"/>
            <a:ext cx="5525902" cy="4928326"/>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5" name="Shape 1645"/>
        <p:cNvGrpSpPr/>
        <p:nvPr/>
      </p:nvGrpSpPr>
      <p:grpSpPr>
        <a:xfrm>
          <a:off x="0" y="0"/>
          <a:ext cx="0" cy="0"/>
          <a:chOff x="0" y="0"/>
          <a:chExt cx="0" cy="0"/>
        </a:xfrm>
      </p:grpSpPr>
      <p:sp>
        <p:nvSpPr>
          <p:cNvPr id="1646" name="Google Shape;1646;p103"/>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Xác định đối tượng và vẽ </a:t>
            </a:r>
            <a:r>
              <a:rPr lang="en-GB"/>
              <a:t>sơ đồ</a:t>
            </a:r>
            <a:r>
              <a:rPr lang="en-GB"/>
              <a:t> lớp</a:t>
            </a:r>
            <a:endParaRPr/>
          </a:p>
        </p:txBody>
      </p:sp>
      <p:sp>
        <p:nvSpPr>
          <p:cNvPr id="1647" name="Google Shape;1647;p10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48" name="Google Shape;1648;p103"/>
          <p:cNvSpPr txBox="1"/>
          <p:nvPr/>
        </p:nvSpPr>
        <p:spPr>
          <a:xfrm>
            <a:off x="288625" y="837675"/>
            <a:ext cx="8527800" cy="7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chemeClr val="dk2"/>
                </a:solidFill>
                <a:latin typeface="Times New Roman"/>
                <a:ea typeface="Times New Roman"/>
                <a:cs typeface="Times New Roman"/>
                <a:sym typeface="Times New Roman"/>
              </a:rPr>
              <a:t>Xác định các thành phần thông tin, biểu diễn dữ liệu bằng đối tượng, vẽ </a:t>
            </a:r>
            <a:r>
              <a:rPr i="1" lang="en-GB" sz="2400">
                <a:solidFill>
                  <a:schemeClr val="dk2"/>
                </a:solidFill>
                <a:latin typeface="Times New Roman"/>
                <a:ea typeface="Times New Roman"/>
                <a:cs typeface="Times New Roman"/>
                <a:sym typeface="Times New Roman"/>
              </a:rPr>
              <a:t>sơ đồ</a:t>
            </a:r>
            <a:r>
              <a:rPr i="1" lang="en-GB" sz="2400">
                <a:solidFill>
                  <a:schemeClr val="dk2"/>
                </a:solidFill>
                <a:latin typeface="Times New Roman"/>
                <a:ea typeface="Times New Roman"/>
                <a:cs typeface="Times New Roman"/>
                <a:sym typeface="Times New Roman"/>
              </a:rPr>
              <a:t> lớp.</a:t>
            </a:r>
            <a:endParaRPr i="1" sz="2400">
              <a:solidFill>
                <a:schemeClr val="dk2"/>
              </a:solidFill>
              <a:latin typeface="Times New Roman"/>
              <a:ea typeface="Times New Roman"/>
              <a:cs typeface="Times New Roman"/>
              <a:sym typeface="Times New Roman"/>
            </a:endParaRPr>
          </a:p>
        </p:txBody>
      </p:sp>
      <p:pic>
        <p:nvPicPr>
          <p:cNvPr id="1649" name="Google Shape;1649;p103"/>
          <p:cNvPicPr preferRelativeResize="0"/>
          <p:nvPr/>
        </p:nvPicPr>
        <p:blipFill>
          <a:blip r:embed="rId3">
            <a:alphaModFix/>
          </a:blip>
          <a:stretch>
            <a:fillRect/>
          </a:stretch>
        </p:blipFill>
        <p:spPr>
          <a:xfrm>
            <a:off x="1929525" y="1741475"/>
            <a:ext cx="5525902" cy="4928326"/>
          </a:xfrm>
          <a:prstGeom prst="rect">
            <a:avLst/>
          </a:prstGeom>
          <a:noFill/>
          <a:ln>
            <a:noFill/>
          </a:ln>
        </p:spPr>
      </p:pic>
      <p:sp>
        <p:nvSpPr>
          <p:cNvPr id="1650" name="Google Shape;1650;p103"/>
          <p:cNvSpPr/>
          <p:nvPr/>
        </p:nvSpPr>
        <p:spPr>
          <a:xfrm>
            <a:off x="1946475" y="1686475"/>
            <a:ext cx="2158800" cy="6678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1651" name="Google Shape;1651;p103"/>
          <p:cNvSpPr/>
          <p:nvPr/>
        </p:nvSpPr>
        <p:spPr>
          <a:xfrm>
            <a:off x="3878650" y="2524675"/>
            <a:ext cx="1884600" cy="5931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1652" name="Google Shape;1652;p103"/>
          <p:cNvSpPr/>
          <p:nvPr/>
        </p:nvSpPr>
        <p:spPr>
          <a:xfrm>
            <a:off x="2390425" y="3231167"/>
            <a:ext cx="2370900" cy="4518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1653" name="Google Shape;1653;p103"/>
          <p:cNvSpPr/>
          <p:nvPr/>
        </p:nvSpPr>
        <p:spPr>
          <a:xfrm>
            <a:off x="2009425" y="4145593"/>
            <a:ext cx="5445900" cy="1500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7" name="Shape 1657"/>
        <p:cNvGrpSpPr/>
        <p:nvPr/>
      </p:nvGrpSpPr>
      <p:grpSpPr>
        <a:xfrm>
          <a:off x="0" y="0"/>
          <a:ext cx="0" cy="0"/>
          <a:chOff x="0" y="0"/>
          <a:chExt cx="0" cy="0"/>
        </a:xfrm>
      </p:grpSpPr>
      <p:sp>
        <p:nvSpPr>
          <p:cNvPr id="1658" name="Google Shape;1658;p104"/>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a:t>
            </a:r>
            <a:r>
              <a:rPr lang="en-GB"/>
              <a:t> đối tượng</a:t>
            </a:r>
            <a:endParaRPr/>
          </a:p>
        </p:txBody>
      </p:sp>
      <p:sp>
        <p:nvSpPr>
          <p:cNvPr id="1659" name="Google Shape;1659;p10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60" name="Google Shape;1660;p104"/>
          <p:cNvSpPr/>
          <p:nvPr/>
        </p:nvSpPr>
        <p:spPr>
          <a:xfrm>
            <a:off x="565100" y="1295400"/>
            <a:ext cx="29400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u="sng"/>
              <a:t>:</a:t>
            </a:r>
            <a:r>
              <a:rPr b="1" lang="en-GB" u="sng"/>
              <a:t>Công ty</a:t>
            </a:r>
            <a:endParaRPr b="1" u="sng"/>
          </a:p>
        </p:txBody>
      </p:sp>
      <p:sp>
        <p:nvSpPr>
          <p:cNvPr id="1661" name="Google Shape;1661;p104"/>
          <p:cNvSpPr/>
          <p:nvPr/>
        </p:nvSpPr>
        <p:spPr>
          <a:xfrm>
            <a:off x="565100" y="1676400"/>
            <a:ext cx="2940300" cy="763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tên = “Công ty cổ phần Thanh Hà”</a:t>
            </a:r>
            <a:endParaRPr/>
          </a:p>
          <a:p>
            <a:pPr indent="0" lvl="0" marL="0" rtl="0" algn="l">
              <a:spcBef>
                <a:spcPts val="0"/>
              </a:spcBef>
              <a:spcAft>
                <a:spcPts val="0"/>
              </a:spcAft>
              <a:buNone/>
            </a:pPr>
            <a:r>
              <a:rPr lang="en-GB"/>
              <a:t>địa_chỉ = “Số 123, Phường Yên Hòa"</a:t>
            </a:r>
            <a:endParaRPr/>
          </a:p>
        </p:txBody>
      </p:sp>
      <p:sp>
        <p:nvSpPr>
          <p:cNvPr id="1662" name="Google Shape;1662;p104"/>
          <p:cNvSpPr/>
          <p:nvPr/>
        </p:nvSpPr>
        <p:spPr>
          <a:xfrm>
            <a:off x="3460700" y="3048000"/>
            <a:ext cx="18165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u="sng"/>
              <a:t>:</a:t>
            </a:r>
            <a:r>
              <a:rPr b="1" lang="en-GB" u="sng"/>
              <a:t>Phiếu Xuất Kho</a:t>
            </a:r>
            <a:endParaRPr b="1" u="sng"/>
          </a:p>
        </p:txBody>
      </p:sp>
      <p:sp>
        <p:nvSpPr>
          <p:cNvPr id="1663" name="Google Shape;1663;p104"/>
          <p:cNvSpPr/>
          <p:nvPr/>
        </p:nvSpPr>
        <p:spPr>
          <a:xfrm>
            <a:off x="3460700" y="3429000"/>
            <a:ext cx="1816800" cy="763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id = XK0026</a:t>
            </a:r>
            <a:endParaRPr/>
          </a:p>
          <a:p>
            <a:pPr indent="0" lvl="0" marL="0" rtl="0" algn="l">
              <a:spcBef>
                <a:spcPts val="0"/>
              </a:spcBef>
              <a:spcAft>
                <a:spcPts val="0"/>
              </a:spcAft>
              <a:buNone/>
            </a:pPr>
            <a:r>
              <a:rPr lang="en-GB"/>
              <a:t>ngày</a:t>
            </a:r>
            <a:r>
              <a:rPr lang="en-GB"/>
              <a:t> = </a:t>
            </a:r>
            <a:r>
              <a:rPr lang="en-GB"/>
              <a:t>19/3/2001</a:t>
            </a:r>
            <a:endParaRPr/>
          </a:p>
          <a:p>
            <a:pPr indent="0" lvl="0" marL="0" rtl="0" algn="l">
              <a:spcBef>
                <a:spcPts val="0"/>
              </a:spcBef>
              <a:spcAft>
                <a:spcPts val="0"/>
              </a:spcAft>
              <a:buNone/>
            </a:pPr>
            <a:r>
              <a:rPr lang="en-GB"/>
              <a:t>kho = K1</a:t>
            </a:r>
            <a:endParaRPr/>
          </a:p>
          <a:p>
            <a:pPr indent="0" lvl="0" marL="0" rtl="0" algn="l">
              <a:spcBef>
                <a:spcPts val="0"/>
              </a:spcBef>
              <a:spcAft>
                <a:spcPts val="0"/>
              </a:spcAft>
              <a:buNone/>
            </a:pPr>
            <a:r>
              <a:t/>
            </a:r>
            <a:endParaRPr/>
          </a:p>
        </p:txBody>
      </p:sp>
      <p:sp>
        <p:nvSpPr>
          <p:cNvPr id="1664" name="Google Shape;1664;p104"/>
          <p:cNvSpPr/>
          <p:nvPr/>
        </p:nvSpPr>
        <p:spPr>
          <a:xfrm>
            <a:off x="4298900" y="1295400"/>
            <a:ext cx="21795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u="sng"/>
              <a:t>:</a:t>
            </a:r>
            <a:r>
              <a:rPr b="1" lang="en-GB" u="sng"/>
              <a:t>Khách hàng</a:t>
            </a:r>
            <a:endParaRPr b="1" u="sng"/>
          </a:p>
        </p:txBody>
      </p:sp>
      <p:sp>
        <p:nvSpPr>
          <p:cNvPr id="1665" name="Google Shape;1665;p104"/>
          <p:cNvSpPr/>
          <p:nvPr/>
        </p:nvSpPr>
        <p:spPr>
          <a:xfrm>
            <a:off x="4298900" y="1676400"/>
            <a:ext cx="2179800" cy="763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họ_tên</a:t>
            </a:r>
            <a:r>
              <a:rPr lang="en-GB"/>
              <a:t> = </a:t>
            </a:r>
            <a:r>
              <a:rPr lang="en-GB"/>
              <a:t>Nguyễn Văn A</a:t>
            </a:r>
            <a:endParaRPr/>
          </a:p>
          <a:p>
            <a:pPr indent="0" lvl="0" marL="0" rtl="0" algn="l">
              <a:spcBef>
                <a:spcPts val="0"/>
              </a:spcBef>
              <a:spcAft>
                <a:spcPts val="0"/>
              </a:spcAft>
              <a:buNone/>
            </a:pPr>
            <a:r>
              <a:rPr lang="en-GB"/>
              <a:t>nợ = 156</a:t>
            </a:r>
            <a:endParaRPr/>
          </a:p>
          <a:p>
            <a:pPr indent="0" lvl="0" marL="0" rtl="0" algn="l">
              <a:spcBef>
                <a:spcPts val="0"/>
              </a:spcBef>
              <a:spcAft>
                <a:spcPts val="0"/>
              </a:spcAft>
              <a:buNone/>
            </a:pPr>
            <a:r>
              <a:rPr lang="en-GB"/>
              <a:t>có = 135</a:t>
            </a:r>
            <a:endParaRPr/>
          </a:p>
          <a:p>
            <a:pPr indent="0" lvl="0" marL="0" rtl="0" algn="l">
              <a:spcBef>
                <a:spcPts val="0"/>
              </a:spcBef>
              <a:spcAft>
                <a:spcPts val="0"/>
              </a:spcAft>
              <a:buNone/>
            </a:pPr>
            <a:r>
              <a:t/>
            </a:r>
            <a:endParaRPr/>
          </a:p>
        </p:txBody>
      </p:sp>
      <p:sp>
        <p:nvSpPr>
          <p:cNvPr id="1666" name="Google Shape;1666;p104"/>
          <p:cNvSpPr/>
          <p:nvPr/>
        </p:nvSpPr>
        <p:spPr>
          <a:xfrm>
            <a:off x="6508700" y="3048000"/>
            <a:ext cx="14247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u="sng"/>
              <a:t>:</a:t>
            </a:r>
            <a:r>
              <a:rPr b="1" lang="en-GB" u="sng"/>
              <a:t>Hóa đơn</a:t>
            </a:r>
            <a:endParaRPr b="1" u="sng"/>
          </a:p>
        </p:txBody>
      </p:sp>
      <p:sp>
        <p:nvSpPr>
          <p:cNvPr id="1667" name="Google Shape;1667;p104"/>
          <p:cNvSpPr/>
          <p:nvPr/>
        </p:nvSpPr>
        <p:spPr>
          <a:xfrm>
            <a:off x="6508700" y="3429000"/>
            <a:ext cx="1425000" cy="378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id = 0000023</a:t>
            </a:r>
            <a:endParaRPr/>
          </a:p>
          <a:p>
            <a:pPr indent="0" lvl="0" marL="0" rtl="0" algn="l">
              <a:spcBef>
                <a:spcPts val="0"/>
              </a:spcBef>
              <a:spcAft>
                <a:spcPts val="0"/>
              </a:spcAft>
              <a:buNone/>
            </a:pPr>
            <a:r>
              <a:t/>
            </a:r>
            <a:endParaRPr/>
          </a:p>
        </p:txBody>
      </p:sp>
      <p:sp>
        <p:nvSpPr>
          <p:cNvPr id="1668" name="Google Shape;1668;p104"/>
          <p:cNvSpPr/>
          <p:nvPr/>
        </p:nvSpPr>
        <p:spPr>
          <a:xfrm>
            <a:off x="336500" y="4724400"/>
            <a:ext cx="14247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u="sng"/>
              <a:t>:</a:t>
            </a:r>
            <a:r>
              <a:rPr b="1" lang="en-GB" u="sng"/>
              <a:t>Mục xuất</a:t>
            </a:r>
            <a:endParaRPr b="1" u="sng"/>
          </a:p>
        </p:txBody>
      </p:sp>
      <p:sp>
        <p:nvSpPr>
          <p:cNvPr id="1669" name="Google Shape;1669;p104"/>
          <p:cNvSpPr/>
          <p:nvPr/>
        </p:nvSpPr>
        <p:spPr>
          <a:xfrm>
            <a:off x="336500" y="5105400"/>
            <a:ext cx="1425000" cy="763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đơn_vị = Bao</a:t>
            </a:r>
            <a:endParaRPr/>
          </a:p>
          <a:p>
            <a:pPr indent="0" lvl="0" marL="0" rtl="0" algn="l">
              <a:spcBef>
                <a:spcPts val="0"/>
              </a:spcBef>
              <a:spcAft>
                <a:spcPts val="0"/>
              </a:spcAft>
              <a:buNone/>
            </a:pPr>
            <a:r>
              <a:rPr lang="en-GB"/>
              <a:t>yêu_cầu=6</a:t>
            </a:r>
            <a:endParaRPr/>
          </a:p>
          <a:p>
            <a:pPr indent="0" lvl="0" marL="0" rtl="0" algn="l">
              <a:spcBef>
                <a:spcPts val="0"/>
              </a:spcBef>
              <a:spcAft>
                <a:spcPts val="0"/>
              </a:spcAft>
              <a:buNone/>
            </a:pPr>
            <a:r>
              <a:rPr lang="en-GB"/>
              <a:t>thực_xuất=6</a:t>
            </a:r>
            <a:endParaRPr/>
          </a:p>
        </p:txBody>
      </p:sp>
      <p:sp>
        <p:nvSpPr>
          <p:cNvPr id="1670" name="Google Shape;1670;p104"/>
          <p:cNvSpPr/>
          <p:nvPr/>
        </p:nvSpPr>
        <p:spPr>
          <a:xfrm>
            <a:off x="4375100" y="4724400"/>
            <a:ext cx="14247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u="sng"/>
              <a:t>:Mục xuất</a:t>
            </a:r>
            <a:endParaRPr b="1" u="sng"/>
          </a:p>
        </p:txBody>
      </p:sp>
      <p:sp>
        <p:nvSpPr>
          <p:cNvPr id="1671" name="Google Shape;1671;p104"/>
          <p:cNvSpPr/>
          <p:nvPr/>
        </p:nvSpPr>
        <p:spPr>
          <a:xfrm>
            <a:off x="4375100" y="5105400"/>
            <a:ext cx="1425000" cy="763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đơn_vị = </a:t>
            </a:r>
            <a:r>
              <a:rPr lang="en-GB"/>
              <a:t>Cây</a:t>
            </a:r>
            <a:endParaRPr/>
          </a:p>
          <a:p>
            <a:pPr indent="0" lvl="0" marL="0" rtl="0" algn="l">
              <a:spcBef>
                <a:spcPts val="0"/>
              </a:spcBef>
              <a:spcAft>
                <a:spcPts val="0"/>
              </a:spcAft>
              <a:buNone/>
            </a:pPr>
            <a:r>
              <a:rPr lang="en-GB"/>
              <a:t>yêu_cầu=</a:t>
            </a:r>
            <a:r>
              <a:rPr lang="en-GB"/>
              <a:t>10</a:t>
            </a:r>
            <a:endParaRPr/>
          </a:p>
          <a:p>
            <a:pPr indent="0" lvl="0" marL="0" rtl="0" algn="l">
              <a:spcBef>
                <a:spcPts val="0"/>
              </a:spcBef>
              <a:spcAft>
                <a:spcPts val="0"/>
              </a:spcAft>
              <a:buNone/>
            </a:pPr>
            <a:r>
              <a:rPr lang="en-GB"/>
              <a:t>thực_xuất=</a:t>
            </a:r>
            <a:r>
              <a:rPr lang="en-GB"/>
              <a:t>10</a:t>
            </a:r>
            <a:endParaRPr/>
          </a:p>
        </p:txBody>
      </p:sp>
      <p:sp>
        <p:nvSpPr>
          <p:cNvPr id="1672" name="Google Shape;1672;p104"/>
          <p:cNvSpPr/>
          <p:nvPr/>
        </p:nvSpPr>
        <p:spPr>
          <a:xfrm>
            <a:off x="2626325" y="4724400"/>
            <a:ext cx="15732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u="sng"/>
              <a:t>:</a:t>
            </a:r>
            <a:r>
              <a:rPr b="1" lang="en-GB" u="sng"/>
              <a:t>Sản phẩm</a:t>
            </a:r>
            <a:endParaRPr b="1" u="sng"/>
          </a:p>
        </p:txBody>
      </p:sp>
      <p:sp>
        <p:nvSpPr>
          <p:cNvPr id="1673" name="Google Shape;1673;p104"/>
          <p:cNvSpPr/>
          <p:nvPr/>
        </p:nvSpPr>
        <p:spPr>
          <a:xfrm>
            <a:off x="2626325" y="5105400"/>
            <a:ext cx="1573500" cy="654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id=HP-30</a:t>
            </a:r>
            <a:endParaRPr/>
          </a:p>
          <a:p>
            <a:pPr indent="0" lvl="0" marL="0" rtl="0" algn="l">
              <a:spcBef>
                <a:spcPts val="0"/>
              </a:spcBef>
              <a:spcAft>
                <a:spcPts val="0"/>
              </a:spcAft>
              <a:buNone/>
            </a:pPr>
            <a:r>
              <a:rPr lang="en-GB"/>
              <a:t>tên=Xi măng HP</a:t>
            </a:r>
            <a:endParaRPr/>
          </a:p>
        </p:txBody>
      </p:sp>
      <p:sp>
        <p:nvSpPr>
          <p:cNvPr id="1674" name="Google Shape;1674;p104"/>
          <p:cNvSpPr/>
          <p:nvPr/>
        </p:nvSpPr>
        <p:spPr>
          <a:xfrm>
            <a:off x="6741125" y="4724400"/>
            <a:ext cx="15732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u="sng"/>
              <a:t>:Sản phẩm</a:t>
            </a:r>
            <a:endParaRPr b="1" u="sng"/>
          </a:p>
        </p:txBody>
      </p:sp>
      <p:sp>
        <p:nvSpPr>
          <p:cNvPr id="1675" name="Google Shape;1675;p104"/>
          <p:cNvSpPr/>
          <p:nvPr/>
        </p:nvSpPr>
        <p:spPr>
          <a:xfrm>
            <a:off x="6741125" y="5105400"/>
            <a:ext cx="1573500" cy="654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id=</a:t>
            </a:r>
            <a:r>
              <a:rPr lang="en-GB"/>
              <a:t>P12</a:t>
            </a:r>
            <a:endParaRPr/>
          </a:p>
          <a:p>
            <a:pPr indent="0" lvl="0" marL="0" rtl="0" algn="l">
              <a:spcBef>
                <a:spcPts val="0"/>
              </a:spcBef>
              <a:spcAft>
                <a:spcPts val="0"/>
              </a:spcAft>
              <a:buNone/>
            </a:pPr>
            <a:r>
              <a:rPr lang="en-GB"/>
              <a:t>tên=</a:t>
            </a:r>
            <a:r>
              <a:rPr lang="en-GB"/>
              <a:t>Thép cây</a:t>
            </a:r>
            <a:endParaRPr/>
          </a:p>
        </p:txBody>
      </p:sp>
      <p:cxnSp>
        <p:nvCxnSpPr>
          <p:cNvPr id="1676" name="Google Shape;1676;p104"/>
          <p:cNvCxnSpPr>
            <a:stCxn id="1662" idx="1"/>
            <a:endCxn id="1661" idx="2"/>
          </p:cNvCxnSpPr>
          <p:nvPr/>
        </p:nvCxnSpPr>
        <p:spPr>
          <a:xfrm rot="10800000">
            <a:off x="2035400" y="2439900"/>
            <a:ext cx="1425300" cy="797400"/>
          </a:xfrm>
          <a:prstGeom prst="bentConnector2">
            <a:avLst/>
          </a:prstGeom>
          <a:noFill/>
          <a:ln cap="flat" cmpd="sng" w="9525">
            <a:solidFill>
              <a:schemeClr val="dk2"/>
            </a:solidFill>
            <a:prstDash val="solid"/>
            <a:round/>
            <a:headEnd len="med" w="med" type="none"/>
            <a:tailEnd len="med" w="med" type="none"/>
          </a:ln>
        </p:spPr>
      </p:cxnSp>
      <p:cxnSp>
        <p:nvCxnSpPr>
          <p:cNvPr id="1677" name="Google Shape;1677;p104"/>
          <p:cNvCxnSpPr>
            <a:stCxn id="1662" idx="0"/>
            <a:endCxn id="1665" idx="2"/>
          </p:cNvCxnSpPr>
          <p:nvPr/>
        </p:nvCxnSpPr>
        <p:spPr>
          <a:xfrm rot="-5400000">
            <a:off x="4574900" y="2233950"/>
            <a:ext cx="608100" cy="1020000"/>
          </a:xfrm>
          <a:prstGeom prst="bentConnector3">
            <a:avLst>
              <a:gd fmla="val 50000" name="adj1"/>
            </a:avLst>
          </a:prstGeom>
          <a:noFill/>
          <a:ln cap="flat" cmpd="sng" w="9525">
            <a:solidFill>
              <a:schemeClr val="dk2"/>
            </a:solidFill>
            <a:prstDash val="solid"/>
            <a:round/>
            <a:headEnd len="med" w="med" type="none"/>
            <a:tailEnd len="med" w="med" type="none"/>
          </a:ln>
        </p:spPr>
      </p:cxnSp>
      <p:cxnSp>
        <p:nvCxnSpPr>
          <p:cNvPr id="1678" name="Google Shape;1678;p104"/>
          <p:cNvCxnSpPr>
            <a:stCxn id="1663" idx="3"/>
            <a:endCxn id="1667" idx="1"/>
          </p:cNvCxnSpPr>
          <p:nvPr/>
        </p:nvCxnSpPr>
        <p:spPr>
          <a:xfrm flipH="1" rot="10800000">
            <a:off x="5277500" y="3618450"/>
            <a:ext cx="1231200" cy="192300"/>
          </a:xfrm>
          <a:prstGeom prst="bentConnector3">
            <a:avLst>
              <a:gd fmla="val 50000" name="adj1"/>
            </a:avLst>
          </a:prstGeom>
          <a:noFill/>
          <a:ln cap="flat" cmpd="sng" w="9525">
            <a:solidFill>
              <a:schemeClr val="dk2"/>
            </a:solidFill>
            <a:prstDash val="solid"/>
            <a:round/>
            <a:headEnd len="med" w="med" type="none"/>
            <a:tailEnd len="med" w="med" type="none"/>
          </a:ln>
        </p:spPr>
      </p:cxnSp>
      <p:cxnSp>
        <p:nvCxnSpPr>
          <p:cNvPr id="1679" name="Google Shape;1679;p104"/>
          <p:cNvCxnSpPr>
            <a:stCxn id="1663" idx="1"/>
            <a:endCxn id="1668" idx="0"/>
          </p:cNvCxnSpPr>
          <p:nvPr/>
        </p:nvCxnSpPr>
        <p:spPr>
          <a:xfrm flipH="1">
            <a:off x="1048700" y="3810750"/>
            <a:ext cx="2412000" cy="913800"/>
          </a:xfrm>
          <a:prstGeom prst="bentConnector2">
            <a:avLst/>
          </a:prstGeom>
          <a:noFill/>
          <a:ln cap="flat" cmpd="sng" w="9525">
            <a:solidFill>
              <a:schemeClr val="dk2"/>
            </a:solidFill>
            <a:prstDash val="solid"/>
            <a:round/>
            <a:headEnd len="med" w="med" type="none"/>
            <a:tailEnd len="med" w="med" type="none"/>
          </a:ln>
        </p:spPr>
      </p:cxnSp>
      <p:cxnSp>
        <p:nvCxnSpPr>
          <p:cNvPr id="1680" name="Google Shape;1680;p104"/>
          <p:cNvCxnSpPr>
            <a:stCxn id="1663" idx="2"/>
            <a:endCxn id="1670" idx="0"/>
          </p:cNvCxnSpPr>
          <p:nvPr/>
        </p:nvCxnSpPr>
        <p:spPr>
          <a:xfrm flipH="1" rot="-5400000">
            <a:off x="4462250" y="4099350"/>
            <a:ext cx="531900" cy="718200"/>
          </a:xfrm>
          <a:prstGeom prst="bentConnector3">
            <a:avLst>
              <a:gd fmla="val 50000" name="adj1"/>
            </a:avLst>
          </a:prstGeom>
          <a:noFill/>
          <a:ln cap="flat" cmpd="sng" w="9525">
            <a:solidFill>
              <a:schemeClr val="dk2"/>
            </a:solidFill>
            <a:prstDash val="solid"/>
            <a:round/>
            <a:headEnd len="med" w="med" type="none"/>
            <a:tailEnd len="med" w="med" type="none"/>
          </a:ln>
        </p:spPr>
      </p:cxnSp>
      <p:cxnSp>
        <p:nvCxnSpPr>
          <p:cNvPr id="1681" name="Google Shape;1681;p104"/>
          <p:cNvCxnSpPr>
            <a:stCxn id="1668" idx="3"/>
            <a:endCxn id="1672" idx="1"/>
          </p:cNvCxnSpPr>
          <p:nvPr/>
        </p:nvCxnSpPr>
        <p:spPr>
          <a:xfrm>
            <a:off x="1761200" y="4913700"/>
            <a:ext cx="865200" cy="0"/>
          </a:xfrm>
          <a:prstGeom prst="straightConnector1">
            <a:avLst/>
          </a:prstGeom>
          <a:noFill/>
          <a:ln cap="flat" cmpd="sng" w="9525">
            <a:solidFill>
              <a:schemeClr val="dk2"/>
            </a:solidFill>
            <a:prstDash val="solid"/>
            <a:round/>
            <a:headEnd len="med" w="med" type="none"/>
            <a:tailEnd len="med" w="med" type="none"/>
          </a:ln>
        </p:spPr>
      </p:cxnSp>
      <p:cxnSp>
        <p:nvCxnSpPr>
          <p:cNvPr id="1682" name="Google Shape;1682;p104"/>
          <p:cNvCxnSpPr>
            <a:stCxn id="1670" idx="3"/>
            <a:endCxn id="1674" idx="1"/>
          </p:cNvCxnSpPr>
          <p:nvPr/>
        </p:nvCxnSpPr>
        <p:spPr>
          <a:xfrm>
            <a:off x="5799800" y="4913700"/>
            <a:ext cx="941400" cy="0"/>
          </a:xfrm>
          <a:prstGeom prst="straightConnector1">
            <a:avLst/>
          </a:prstGeom>
          <a:noFill/>
          <a:ln cap="flat" cmpd="sng" w="9525">
            <a:solidFill>
              <a:schemeClr val="dk2"/>
            </a:solidFill>
            <a:prstDash val="solid"/>
            <a:round/>
            <a:headEnd len="med" w="med" type="none"/>
            <a:tailEnd len="med" w="med" type="none"/>
          </a:ln>
        </p:spPr>
      </p:cxnSp>
      <p:sp>
        <p:nvSpPr>
          <p:cNvPr id="1683" name="Google Shape;1683;p104"/>
          <p:cNvSpPr txBox="1"/>
          <p:nvPr/>
        </p:nvSpPr>
        <p:spPr>
          <a:xfrm>
            <a:off x="2306275" y="2838750"/>
            <a:ext cx="10713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chemeClr val="dk2"/>
                </a:solidFill>
                <a:latin typeface="Times New Roman"/>
                <a:ea typeface="Times New Roman"/>
                <a:cs typeface="Times New Roman"/>
                <a:sym typeface="Times New Roman"/>
              </a:rPr>
              <a:t>thuộc về </a:t>
            </a:r>
            <a:endParaRPr i="1" sz="1800">
              <a:solidFill>
                <a:schemeClr val="dk2"/>
              </a:solidFill>
              <a:latin typeface="Times New Roman"/>
              <a:ea typeface="Times New Roman"/>
              <a:cs typeface="Times New Roman"/>
              <a:sym typeface="Times New Roman"/>
            </a:endParaRPr>
          </a:p>
        </p:txBody>
      </p:sp>
      <p:sp>
        <p:nvSpPr>
          <p:cNvPr id="1684" name="Google Shape;1684;p104"/>
          <p:cNvSpPr txBox="1"/>
          <p:nvPr/>
        </p:nvSpPr>
        <p:spPr>
          <a:xfrm>
            <a:off x="3783225" y="2381550"/>
            <a:ext cx="13470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chemeClr val="dk2"/>
                </a:solidFill>
                <a:latin typeface="Times New Roman"/>
                <a:ea typeface="Times New Roman"/>
                <a:cs typeface="Times New Roman"/>
                <a:sym typeface="Times New Roman"/>
              </a:rPr>
              <a:t>người nhận</a:t>
            </a:r>
            <a:endParaRPr i="1" sz="1800">
              <a:solidFill>
                <a:schemeClr val="dk2"/>
              </a:solidFill>
              <a:latin typeface="Times New Roman"/>
              <a:ea typeface="Times New Roman"/>
              <a:cs typeface="Times New Roman"/>
              <a:sym typeface="Times New Roman"/>
            </a:endParaRPr>
          </a:p>
        </p:txBody>
      </p:sp>
      <p:sp>
        <p:nvSpPr>
          <p:cNvPr id="1685" name="Google Shape;1685;p104"/>
          <p:cNvSpPr txBox="1"/>
          <p:nvPr/>
        </p:nvSpPr>
        <p:spPr>
          <a:xfrm>
            <a:off x="5307225" y="3143550"/>
            <a:ext cx="13470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chemeClr val="dk2"/>
                </a:solidFill>
                <a:latin typeface="Times New Roman"/>
                <a:ea typeface="Times New Roman"/>
                <a:cs typeface="Times New Roman"/>
                <a:sym typeface="Times New Roman"/>
              </a:rPr>
              <a:t>lý do</a:t>
            </a:r>
            <a:endParaRPr i="1" sz="1800">
              <a:solidFill>
                <a:schemeClr val="dk2"/>
              </a:solidFill>
              <a:latin typeface="Times New Roman"/>
              <a:ea typeface="Times New Roman"/>
              <a:cs typeface="Times New Roman"/>
              <a:sym typeface="Times New Roman"/>
            </a:endParaRPr>
          </a:p>
        </p:txBody>
      </p:sp>
      <p:sp>
        <p:nvSpPr>
          <p:cNvPr id="1686" name="Google Shape;1686;p104"/>
          <p:cNvSpPr txBox="1"/>
          <p:nvPr/>
        </p:nvSpPr>
        <p:spPr>
          <a:xfrm>
            <a:off x="4361682" y="4081804"/>
            <a:ext cx="13470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chemeClr val="dk2"/>
                </a:solidFill>
                <a:latin typeface="Times New Roman"/>
                <a:ea typeface="Times New Roman"/>
                <a:cs typeface="Times New Roman"/>
                <a:sym typeface="Times New Roman"/>
              </a:rPr>
              <a:t>có chứa</a:t>
            </a:r>
            <a:endParaRPr i="1" sz="1800">
              <a:solidFill>
                <a:schemeClr val="dk2"/>
              </a:solidFill>
              <a:latin typeface="Times New Roman"/>
              <a:ea typeface="Times New Roman"/>
              <a:cs typeface="Times New Roman"/>
              <a:sym typeface="Times New Roman"/>
            </a:endParaRPr>
          </a:p>
        </p:txBody>
      </p:sp>
      <p:sp>
        <p:nvSpPr>
          <p:cNvPr id="1687" name="Google Shape;1687;p104"/>
          <p:cNvSpPr txBox="1"/>
          <p:nvPr/>
        </p:nvSpPr>
        <p:spPr>
          <a:xfrm>
            <a:off x="2411625" y="3448350"/>
            <a:ext cx="13470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chemeClr val="dk2"/>
                </a:solidFill>
                <a:latin typeface="Times New Roman"/>
                <a:ea typeface="Times New Roman"/>
                <a:cs typeface="Times New Roman"/>
                <a:sym typeface="Times New Roman"/>
              </a:rPr>
              <a:t>có chứa</a:t>
            </a:r>
            <a:endParaRPr i="1" sz="1800">
              <a:solidFill>
                <a:schemeClr val="dk2"/>
              </a:solidFill>
              <a:latin typeface="Times New Roman"/>
              <a:ea typeface="Times New Roman"/>
              <a:cs typeface="Times New Roman"/>
              <a:sym typeface="Times New Roman"/>
            </a:endParaRPr>
          </a:p>
        </p:txBody>
      </p:sp>
      <p:sp>
        <p:nvSpPr>
          <p:cNvPr id="1688" name="Google Shape;1688;p104"/>
          <p:cNvSpPr txBox="1"/>
          <p:nvPr/>
        </p:nvSpPr>
        <p:spPr>
          <a:xfrm>
            <a:off x="1754317" y="4539004"/>
            <a:ext cx="13470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chemeClr val="dk2"/>
                </a:solidFill>
                <a:latin typeface="Times New Roman"/>
                <a:ea typeface="Times New Roman"/>
                <a:cs typeface="Times New Roman"/>
                <a:sym typeface="Times New Roman"/>
              </a:rPr>
              <a:t>gắn với</a:t>
            </a:r>
            <a:endParaRPr i="1" sz="1800">
              <a:solidFill>
                <a:schemeClr val="dk2"/>
              </a:solidFill>
              <a:latin typeface="Times New Roman"/>
              <a:ea typeface="Times New Roman"/>
              <a:cs typeface="Times New Roman"/>
              <a:sym typeface="Times New Roman"/>
            </a:endParaRPr>
          </a:p>
        </p:txBody>
      </p:sp>
      <p:sp>
        <p:nvSpPr>
          <p:cNvPr id="1689" name="Google Shape;1689;p104"/>
          <p:cNvSpPr txBox="1"/>
          <p:nvPr/>
        </p:nvSpPr>
        <p:spPr>
          <a:xfrm>
            <a:off x="5804848" y="4539000"/>
            <a:ext cx="9414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chemeClr val="dk2"/>
                </a:solidFill>
                <a:latin typeface="Times New Roman"/>
                <a:ea typeface="Times New Roman"/>
                <a:cs typeface="Times New Roman"/>
                <a:sym typeface="Times New Roman"/>
              </a:rPr>
              <a:t>gắn với</a:t>
            </a:r>
            <a:endParaRPr i="1" sz="1800">
              <a:solidFill>
                <a:schemeClr val="dk2"/>
              </a:solidFill>
              <a:latin typeface="Times New Roman"/>
              <a:ea typeface="Times New Roman"/>
              <a:cs typeface="Times New Roman"/>
              <a:sym typeface="Times New Roman"/>
            </a:endParaRPr>
          </a:p>
        </p:txBody>
      </p:sp>
      <p:sp>
        <p:nvSpPr>
          <p:cNvPr id="1690" name="Google Shape;1690;p104"/>
          <p:cNvSpPr txBox="1"/>
          <p:nvPr/>
        </p:nvSpPr>
        <p:spPr>
          <a:xfrm>
            <a:off x="312475" y="6135225"/>
            <a:ext cx="82176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200">
                <a:solidFill>
                  <a:schemeClr val="dk2"/>
                </a:solidFill>
                <a:latin typeface="Times New Roman"/>
                <a:ea typeface="Times New Roman"/>
                <a:cs typeface="Times New Roman"/>
                <a:sym typeface="Times New Roman"/>
              </a:rPr>
              <a:t>!Lưu ý:</a:t>
            </a:r>
            <a:r>
              <a:rPr lang="en-GB" sz="2200">
                <a:solidFill>
                  <a:schemeClr val="dk2"/>
                </a:solidFill>
                <a:latin typeface="Times New Roman"/>
                <a:ea typeface="Times New Roman"/>
                <a:cs typeface="Times New Roman"/>
                <a:sym typeface="Times New Roman"/>
              </a:rPr>
              <a:t> Lời giải để tham khảo, không phải mẫu.</a:t>
            </a:r>
            <a:endParaRPr sz="2200">
              <a:solidFill>
                <a:schemeClr val="dk2"/>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4" name="Shape 1694"/>
        <p:cNvGrpSpPr/>
        <p:nvPr/>
      </p:nvGrpSpPr>
      <p:grpSpPr>
        <a:xfrm>
          <a:off x="0" y="0"/>
          <a:ext cx="0" cy="0"/>
          <a:chOff x="0" y="0"/>
          <a:chExt cx="0" cy="0"/>
        </a:xfrm>
      </p:grpSpPr>
      <p:sp>
        <p:nvSpPr>
          <p:cNvPr id="1695" name="Google Shape;1695;p105"/>
          <p:cNvSpPr txBox="1"/>
          <p:nvPr>
            <p:ph type="title"/>
          </p:nvPr>
        </p:nvSpPr>
        <p:spPr>
          <a:xfrm>
            <a:off x="311700" y="187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a:t>
            </a:r>
            <a:r>
              <a:rPr lang="en-GB"/>
              <a:t> lớp</a:t>
            </a:r>
            <a:endParaRPr/>
          </a:p>
        </p:txBody>
      </p:sp>
      <p:sp>
        <p:nvSpPr>
          <p:cNvPr id="1696" name="Google Shape;1696;p10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97" name="Google Shape;1697;p105"/>
          <p:cNvSpPr/>
          <p:nvPr/>
        </p:nvSpPr>
        <p:spPr>
          <a:xfrm>
            <a:off x="4756100" y="1295400"/>
            <a:ext cx="9399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t>Công ty</a:t>
            </a:r>
            <a:endParaRPr b="1"/>
          </a:p>
        </p:txBody>
      </p:sp>
      <p:sp>
        <p:nvSpPr>
          <p:cNvPr id="1698" name="Google Shape;1698;p105"/>
          <p:cNvSpPr/>
          <p:nvPr/>
        </p:nvSpPr>
        <p:spPr>
          <a:xfrm>
            <a:off x="4756100" y="1676400"/>
            <a:ext cx="940200" cy="763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tên</a:t>
            </a:r>
            <a:endParaRPr/>
          </a:p>
          <a:p>
            <a:pPr indent="0" lvl="0" marL="0" rtl="0" algn="l">
              <a:spcBef>
                <a:spcPts val="0"/>
              </a:spcBef>
              <a:spcAft>
                <a:spcPts val="0"/>
              </a:spcAft>
              <a:buNone/>
            </a:pPr>
            <a:r>
              <a:rPr lang="en-GB"/>
              <a:t>địa chỉ</a:t>
            </a:r>
            <a:endParaRPr/>
          </a:p>
        </p:txBody>
      </p:sp>
      <p:sp>
        <p:nvSpPr>
          <p:cNvPr id="1699" name="Google Shape;1699;p105"/>
          <p:cNvSpPr/>
          <p:nvPr/>
        </p:nvSpPr>
        <p:spPr>
          <a:xfrm>
            <a:off x="5582394" y="3429000"/>
            <a:ext cx="15897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t>Phiếu Xuất Kho</a:t>
            </a:r>
            <a:endParaRPr b="1"/>
          </a:p>
        </p:txBody>
      </p:sp>
      <p:sp>
        <p:nvSpPr>
          <p:cNvPr id="1700" name="Google Shape;1700;p105"/>
          <p:cNvSpPr/>
          <p:nvPr/>
        </p:nvSpPr>
        <p:spPr>
          <a:xfrm>
            <a:off x="5582394" y="3810000"/>
            <a:ext cx="1590000" cy="763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id</a:t>
            </a:r>
            <a:endParaRPr/>
          </a:p>
          <a:p>
            <a:pPr indent="0" lvl="0" marL="0" rtl="0" algn="l">
              <a:spcBef>
                <a:spcPts val="0"/>
              </a:spcBef>
              <a:spcAft>
                <a:spcPts val="0"/>
              </a:spcAft>
              <a:buNone/>
            </a:pPr>
            <a:r>
              <a:rPr lang="en-GB"/>
              <a:t>ngày</a:t>
            </a:r>
            <a:endParaRPr/>
          </a:p>
          <a:p>
            <a:pPr indent="0" lvl="0" marL="0" rtl="0" algn="l">
              <a:spcBef>
                <a:spcPts val="0"/>
              </a:spcBef>
              <a:spcAft>
                <a:spcPts val="0"/>
              </a:spcAft>
              <a:buNone/>
            </a:pPr>
            <a:r>
              <a:rPr lang="en-GB"/>
              <a:t>kho</a:t>
            </a:r>
            <a:endParaRPr/>
          </a:p>
          <a:p>
            <a:pPr indent="0" lvl="0" marL="0" rtl="0" algn="l">
              <a:spcBef>
                <a:spcPts val="0"/>
              </a:spcBef>
              <a:spcAft>
                <a:spcPts val="0"/>
              </a:spcAft>
              <a:buNone/>
            </a:pPr>
            <a:r>
              <a:t/>
            </a:r>
            <a:endParaRPr/>
          </a:p>
        </p:txBody>
      </p:sp>
      <p:sp>
        <p:nvSpPr>
          <p:cNvPr id="1701" name="Google Shape;1701;p105"/>
          <p:cNvSpPr/>
          <p:nvPr/>
        </p:nvSpPr>
        <p:spPr>
          <a:xfrm>
            <a:off x="6882075" y="1261600"/>
            <a:ext cx="13005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t>Khách hàng</a:t>
            </a:r>
            <a:endParaRPr b="1"/>
          </a:p>
        </p:txBody>
      </p:sp>
      <p:sp>
        <p:nvSpPr>
          <p:cNvPr id="1702" name="Google Shape;1702;p105"/>
          <p:cNvSpPr/>
          <p:nvPr/>
        </p:nvSpPr>
        <p:spPr>
          <a:xfrm>
            <a:off x="6882075" y="1642600"/>
            <a:ext cx="1300500" cy="763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họ tên</a:t>
            </a:r>
            <a:endParaRPr/>
          </a:p>
          <a:p>
            <a:pPr indent="0" lvl="0" marL="0" rtl="0" algn="l">
              <a:spcBef>
                <a:spcPts val="0"/>
              </a:spcBef>
              <a:spcAft>
                <a:spcPts val="0"/>
              </a:spcAft>
              <a:buNone/>
            </a:pPr>
            <a:r>
              <a:rPr lang="en-GB"/>
              <a:t>ghi </a:t>
            </a:r>
            <a:r>
              <a:rPr lang="en-GB"/>
              <a:t>nợ</a:t>
            </a:r>
            <a:endParaRPr/>
          </a:p>
          <a:p>
            <a:pPr indent="0" lvl="0" marL="0" rtl="0" algn="l">
              <a:spcBef>
                <a:spcPts val="0"/>
              </a:spcBef>
              <a:spcAft>
                <a:spcPts val="0"/>
              </a:spcAft>
              <a:buNone/>
            </a:pPr>
            <a:r>
              <a:rPr lang="en-GB"/>
              <a:t>ghi </a:t>
            </a:r>
            <a:r>
              <a:rPr lang="en-GB"/>
              <a:t>có</a:t>
            </a:r>
            <a:endParaRPr/>
          </a:p>
          <a:p>
            <a:pPr indent="0" lvl="0" marL="0" rtl="0" algn="l">
              <a:spcBef>
                <a:spcPts val="0"/>
              </a:spcBef>
              <a:spcAft>
                <a:spcPts val="0"/>
              </a:spcAft>
              <a:buNone/>
            </a:pPr>
            <a:r>
              <a:t/>
            </a:r>
            <a:endParaRPr/>
          </a:p>
        </p:txBody>
      </p:sp>
      <p:sp>
        <p:nvSpPr>
          <p:cNvPr id="1703" name="Google Shape;1703;p105"/>
          <p:cNvSpPr/>
          <p:nvPr/>
        </p:nvSpPr>
        <p:spPr>
          <a:xfrm>
            <a:off x="7639794" y="3381375"/>
            <a:ext cx="10539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t>Hóa đơn</a:t>
            </a:r>
            <a:endParaRPr b="1"/>
          </a:p>
        </p:txBody>
      </p:sp>
      <p:sp>
        <p:nvSpPr>
          <p:cNvPr id="1704" name="Google Shape;1704;p105"/>
          <p:cNvSpPr/>
          <p:nvPr/>
        </p:nvSpPr>
        <p:spPr>
          <a:xfrm>
            <a:off x="7639794" y="3762375"/>
            <a:ext cx="1054200" cy="378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id</a:t>
            </a:r>
            <a:endParaRPr/>
          </a:p>
        </p:txBody>
      </p:sp>
      <p:sp>
        <p:nvSpPr>
          <p:cNvPr id="1705" name="Google Shape;1705;p105"/>
          <p:cNvSpPr/>
          <p:nvPr/>
        </p:nvSpPr>
        <p:spPr>
          <a:xfrm>
            <a:off x="3232100" y="3429000"/>
            <a:ext cx="14247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t>Mục xuất</a:t>
            </a:r>
            <a:endParaRPr b="1"/>
          </a:p>
        </p:txBody>
      </p:sp>
      <p:sp>
        <p:nvSpPr>
          <p:cNvPr id="1706" name="Google Shape;1706;p105"/>
          <p:cNvSpPr/>
          <p:nvPr/>
        </p:nvSpPr>
        <p:spPr>
          <a:xfrm>
            <a:off x="3232100" y="3810000"/>
            <a:ext cx="1425000" cy="763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đơn vị</a:t>
            </a:r>
            <a:endParaRPr/>
          </a:p>
          <a:p>
            <a:pPr indent="0" lvl="0" marL="0" rtl="0" algn="l">
              <a:spcBef>
                <a:spcPts val="0"/>
              </a:spcBef>
              <a:spcAft>
                <a:spcPts val="0"/>
              </a:spcAft>
              <a:buNone/>
            </a:pPr>
            <a:r>
              <a:rPr lang="en-GB"/>
              <a:t>yêu cầu</a:t>
            </a:r>
            <a:endParaRPr/>
          </a:p>
          <a:p>
            <a:pPr indent="0" lvl="0" marL="0" rtl="0" algn="l">
              <a:spcBef>
                <a:spcPts val="0"/>
              </a:spcBef>
              <a:spcAft>
                <a:spcPts val="0"/>
              </a:spcAft>
              <a:buNone/>
            </a:pPr>
            <a:r>
              <a:rPr lang="en-GB"/>
              <a:t>thực xuất</a:t>
            </a:r>
            <a:endParaRPr/>
          </a:p>
        </p:txBody>
      </p:sp>
      <p:sp>
        <p:nvSpPr>
          <p:cNvPr id="1707" name="Google Shape;1707;p105"/>
          <p:cNvSpPr/>
          <p:nvPr/>
        </p:nvSpPr>
        <p:spPr>
          <a:xfrm>
            <a:off x="957075" y="3457575"/>
            <a:ext cx="1299900" cy="378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t>Sản phẩm</a:t>
            </a:r>
            <a:endParaRPr b="1"/>
          </a:p>
        </p:txBody>
      </p:sp>
      <p:sp>
        <p:nvSpPr>
          <p:cNvPr id="1708" name="Google Shape;1708;p105"/>
          <p:cNvSpPr/>
          <p:nvPr/>
        </p:nvSpPr>
        <p:spPr>
          <a:xfrm>
            <a:off x="957075" y="3838575"/>
            <a:ext cx="1300500" cy="654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id</a:t>
            </a:r>
            <a:endParaRPr/>
          </a:p>
          <a:p>
            <a:pPr indent="0" lvl="0" marL="0" rtl="0" algn="l">
              <a:spcBef>
                <a:spcPts val="0"/>
              </a:spcBef>
              <a:spcAft>
                <a:spcPts val="0"/>
              </a:spcAft>
              <a:buNone/>
            </a:pPr>
            <a:r>
              <a:rPr lang="en-GB"/>
              <a:t>tên</a:t>
            </a:r>
            <a:endParaRPr/>
          </a:p>
        </p:txBody>
      </p:sp>
      <p:sp>
        <p:nvSpPr>
          <p:cNvPr id="1709" name="Google Shape;1709;p105"/>
          <p:cNvSpPr/>
          <p:nvPr/>
        </p:nvSpPr>
        <p:spPr>
          <a:xfrm>
            <a:off x="7174700" y="3490900"/>
            <a:ext cx="190500" cy="166800"/>
          </a:xfrm>
          <a:prstGeom prst="diamon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1710" name="Google Shape;1710;p105"/>
          <p:cNvCxnSpPr>
            <a:stCxn id="1703" idx="1"/>
            <a:endCxn id="1709" idx="3"/>
          </p:cNvCxnSpPr>
          <p:nvPr/>
        </p:nvCxnSpPr>
        <p:spPr>
          <a:xfrm flipH="1">
            <a:off x="7365294" y="3570675"/>
            <a:ext cx="274500" cy="3600"/>
          </a:xfrm>
          <a:prstGeom prst="straightConnector1">
            <a:avLst/>
          </a:prstGeom>
          <a:noFill/>
          <a:ln cap="flat" cmpd="sng" w="9525">
            <a:solidFill>
              <a:schemeClr val="dk2"/>
            </a:solidFill>
            <a:prstDash val="solid"/>
            <a:round/>
            <a:headEnd len="med" w="med" type="none"/>
            <a:tailEnd len="med" w="med" type="none"/>
          </a:ln>
        </p:spPr>
      </p:cxnSp>
      <p:sp>
        <p:nvSpPr>
          <p:cNvPr id="1711" name="Google Shape;1711;p105"/>
          <p:cNvSpPr/>
          <p:nvPr/>
        </p:nvSpPr>
        <p:spPr>
          <a:xfrm>
            <a:off x="5381619" y="3538525"/>
            <a:ext cx="190500" cy="166800"/>
          </a:xfrm>
          <a:prstGeom prst="diamond">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1712" name="Google Shape;1712;p105"/>
          <p:cNvCxnSpPr>
            <a:stCxn id="1705" idx="3"/>
            <a:endCxn id="1711" idx="1"/>
          </p:cNvCxnSpPr>
          <p:nvPr/>
        </p:nvCxnSpPr>
        <p:spPr>
          <a:xfrm>
            <a:off x="4656800" y="3618300"/>
            <a:ext cx="724800" cy="3600"/>
          </a:xfrm>
          <a:prstGeom prst="straightConnector1">
            <a:avLst/>
          </a:prstGeom>
          <a:noFill/>
          <a:ln cap="flat" cmpd="sng" w="9525">
            <a:solidFill>
              <a:schemeClr val="dk2"/>
            </a:solidFill>
            <a:prstDash val="solid"/>
            <a:round/>
            <a:headEnd len="med" w="med" type="none"/>
            <a:tailEnd len="med" w="med" type="none"/>
          </a:ln>
        </p:spPr>
      </p:cxnSp>
      <p:sp>
        <p:nvSpPr>
          <p:cNvPr id="1713" name="Google Shape;1713;p105"/>
          <p:cNvSpPr/>
          <p:nvPr/>
        </p:nvSpPr>
        <p:spPr>
          <a:xfrm>
            <a:off x="3007513" y="3574244"/>
            <a:ext cx="190500" cy="166800"/>
          </a:xfrm>
          <a:prstGeom prst="diamon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1714" name="Google Shape;1714;p105"/>
          <p:cNvCxnSpPr>
            <a:stCxn id="1707" idx="3"/>
            <a:endCxn id="1713" idx="1"/>
          </p:cNvCxnSpPr>
          <p:nvPr/>
        </p:nvCxnSpPr>
        <p:spPr>
          <a:xfrm>
            <a:off x="2256975" y="3646875"/>
            <a:ext cx="750600" cy="10800"/>
          </a:xfrm>
          <a:prstGeom prst="straightConnector1">
            <a:avLst/>
          </a:prstGeom>
          <a:noFill/>
          <a:ln cap="flat" cmpd="sng" w="9525">
            <a:solidFill>
              <a:schemeClr val="dk2"/>
            </a:solidFill>
            <a:prstDash val="solid"/>
            <a:round/>
            <a:headEnd len="med" w="med" type="none"/>
            <a:tailEnd len="med" w="med" type="none"/>
          </a:ln>
        </p:spPr>
      </p:cxnSp>
      <p:cxnSp>
        <p:nvCxnSpPr>
          <p:cNvPr id="1715" name="Google Shape;1715;p105"/>
          <p:cNvCxnSpPr>
            <a:endCxn id="1702" idx="2"/>
          </p:cNvCxnSpPr>
          <p:nvPr/>
        </p:nvCxnSpPr>
        <p:spPr>
          <a:xfrm flipH="1" rot="10800000">
            <a:off x="6679125" y="2406100"/>
            <a:ext cx="853200" cy="1014300"/>
          </a:xfrm>
          <a:prstGeom prst="straightConnector1">
            <a:avLst/>
          </a:prstGeom>
          <a:noFill/>
          <a:ln cap="flat" cmpd="sng" w="9525">
            <a:solidFill>
              <a:schemeClr val="dk2"/>
            </a:solidFill>
            <a:prstDash val="solid"/>
            <a:round/>
            <a:headEnd len="med" w="med" type="none"/>
            <a:tailEnd len="med" w="med" type="none"/>
          </a:ln>
        </p:spPr>
      </p:cxnSp>
      <p:cxnSp>
        <p:nvCxnSpPr>
          <p:cNvPr id="1716" name="Google Shape;1716;p105"/>
          <p:cNvCxnSpPr>
            <a:stCxn id="1698" idx="2"/>
          </p:cNvCxnSpPr>
          <p:nvPr/>
        </p:nvCxnSpPr>
        <p:spPr>
          <a:xfrm>
            <a:off x="5226200" y="2439900"/>
            <a:ext cx="645900" cy="991500"/>
          </a:xfrm>
          <a:prstGeom prst="straightConnector1">
            <a:avLst/>
          </a:prstGeom>
          <a:noFill/>
          <a:ln cap="flat" cmpd="sng" w="9525">
            <a:solidFill>
              <a:schemeClr val="dk2"/>
            </a:solidFill>
            <a:prstDash val="solid"/>
            <a:round/>
            <a:headEnd len="med" w="med" type="none"/>
            <a:tailEnd len="med" w="med" type="none"/>
          </a:ln>
        </p:spPr>
      </p:cxnSp>
      <p:sp>
        <p:nvSpPr>
          <p:cNvPr id="1717" name="Google Shape;1717;p105"/>
          <p:cNvSpPr txBox="1"/>
          <p:nvPr/>
        </p:nvSpPr>
        <p:spPr>
          <a:xfrm>
            <a:off x="4602081" y="2717000"/>
            <a:ext cx="1053900" cy="3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bên bán</a:t>
            </a:r>
            <a:endParaRPr sz="1800">
              <a:solidFill>
                <a:schemeClr val="dk2"/>
              </a:solidFill>
              <a:latin typeface="Times New Roman"/>
              <a:ea typeface="Times New Roman"/>
              <a:cs typeface="Times New Roman"/>
              <a:sym typeface="Times New Roman"/>
            </a:endParaRPr>
          </a:p>
        </p:txBody>
      </p:sp>
      <p:sp>
        <p:nvSpPr>
          <p:cNvPr id="1718" name="Google Shape;1718;p105"/>
          <p:cNvSpPr txBox="1"/>
          <p:nvPr/>
        </p:nvSpPr>
        <p:spPr>
          <a:xfrm>
            <a:off x="7103981" y="2717000"/>
            <a:ext cx="1053900" cy="3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bên mua</a:t>
            </a:r>
            <a:endParaRPr sz="1800">
              <a:solidFill>
                <a:schemeClr val="dk2"/>
              </a:solidFill>
              <a:latin typeface="Times New Roman"/>
              <a:ea typeface="Times New Roman"/>
              <a:cs typeface="Times New Roman"/>
              <a:sym typeface="Times New Roman"/>
            </a:endParaRPr>
          </a:p>
        </p:txBody>
      </p:sp>
      <p:sp>
        <p:nvSpPr>
          <p:cNvPr id="1719" name="Google Shape;1719;p105"/>
          <p:cNvSpPr txBox="1"/>
          <p:nvPr/>
        </p:nvSpPr>
        <p:spPr>
          <a:xfrm>
            <a:off x="5364079" y="2336000"/>
            <a:ext cx="332100" cy="3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1</a:t>
            </a:r>
            <a:endParaRPr sz="1800">
              <a:solidFill>
                <a:schemeClr val="dk2"/>
              </a:solidFill>
              <a:latin typeface="Times New Roman"/>
              <a:ea typeface="Times New Roman"/>
              <a:cs typeface="Times New Roman"/>
              <a:sym typeface="Times New Roman"/>
            </a:endParaRPr>
          </a:p>
        </p:txBody>
      </p:sp>
      <p:sp>
        <p:nvSpPr>
          <p:cNvPr id="1720" name="Google Shape;1720;p105"/>
          <p:cNvSpPr txBox="1"/>
          <p:nvPr/>
        </p:nvSpPr>
        <p:spPr>
          <a:xfrm>
            <a:off x="5821279" y="3021800"/>
            <a:ext cx="332100" cy="3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a:t>
            </a:r>
            <a:endParaRPr sz="1800">
              <a:solidFill>
                <a:schemeClr val="dk2"/>
              </a:solidFill>
              <a:latin typeface="Times New Roman"/>
              <a:ea typeface="Times New Roman"/>
              <a:cs typeface="Times New Roman"/>
              <a:sym typeface="Times New Roman"/>
            </a:endParaRPr>
          </a:p>
        </p:txBody>
      </p:sp>
      <p:sp>
        <p:nvSpPr>
          <p:cNvPr id="1721" name="Google Shape;1721;p105"/>
          <p:cNvSpPr txBox="1"/>
          <p:nvPr/>
        </p:nvSpPr>
        <p:spPr>
          <a:xfrm>
            <a:off x="7040479" y="2336000"/>
            <a:ext cx="332100" cy="3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1</a:t>
            </a:r>
            <a:endParaRPr sz="1800">
              <a:solidFill>
                <a:schemeClr val="dk2"/>
              </a:solidFill>
              <a:latin typeface="Times New Roman"/>
              <a:ea typeface="Times New Roman"/>
              <a:cs typeface="Times New Roman"/>
              <a:sym typeface="Times New Roman"/>
            </a:endParaRPr>
          </a:p>
        </p:txBody>
      </p:sp>
      <p:sp>
        <p:nvSpPr>
          <p:cNvPr id="1722" name="Google Shape;1722;p105"/>
          <p:cNvSpPr txBox="1"/>
          <p:nvPr/>
        </p:nvSpPr>
        <p:spPr>
          <a:xfrm>
            <a:off x="6540946" y="3021800"/>
            <a:ext cx="332100" cy="3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a:t>
            </a:r>
            <a:endParaRPr sz="1800">
              <a:solidFill>
                <a:schemeClr val="dk2"/>
              </a:solidFill>
              <a:latin typeface="Times New Roman"/>
              <a:ea typeface="Times New Roman"/>
              <a:cs typeface="Times New Roman"/>
              <a:sym typeface="Times New Roman"/>
            </a:endParaRPr>
          </a:p>
        </p:txBody>
      </p:sp>
      <p:sp>
        <p:nvSpPr>
          <p:cNvPr id="1723" name="Google Shape;1723;p105"/>
          <p:cNvSpPr txBox="1"/>
          <p:nvPr/>
        </p:nvSpPr>
        <p:spPr>
          <a:xfrm>
            <a:off x="312475" y="6135225"/>
            <a:ext cx="82176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200">
                <a:solidFill>
                  <a:schemeClr val="dk2"/>
                </a:solidFill>
                <a:latin typeface="Times New Roman"/>
                <a:ea typeface="Times New Roman"/>
                <a:cs typeface="Times New Roman"/>
                <a:sym typeface="Times New Roman"/>
              </a:rPr>
              <a:t>!Lưu ý:</a:t>
            </a:r>
            <a:r>
              <a:rPr lang="en-GB" sz="2200">
                <a:solidFill>
                  <a:schemeClr val="dk2"/>
                </a:solidFill>
                <a:latin typeface="Times New Roman"/>
                <a:ea typeface="Times New Roman"/>
                <a:cs typeface="Times New Roman"/>
                <a:sym typeface="Times New Roman"/>
              </a:rPr>
              <a:t> Lời giải </a:t>
            </a:r>
            <a:r>
              <a:rPr lang="en-GB" sz="2200">
                <a:solidFill>
                  <a:schemeClr val="dk2"/>
                </a:solidFill>
                <a:latin typeface="Times New Roman"/>
                <a:ea typeface="Times New Roman"/>
                <a:cs typeface="Times New Roman"/>
                <a:sym typeface="Times New Roman"/>
              </a:rPr>
              <a:t>để</a:t>
            </a:r>
            <a:r>
              <a:rPr lang="en-GB" sz="2200">
                <a:solidFill>
                  <a:schemeClr val="dk2"/>
                </a:solidFill>
                <a:latin typeface="Times New Roman"/>
                <a:ea typeface="Times New Roman"/>
                <a:cs typeface="Times New Roman"/>
                <a:sym typeface="Times New Roman"/>
              </a:rPr>
              <a:t> tham khảo, không phải mẫu.</a:t>
            </a:r>
            <a:endParaRPr sz="2200">
              <a:solidFill>
                <a:schemeClr val="dk2"/>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7" name="Shape 1727"/>
        <p:cNvGrpSpPr/>
        <p:nvPr/>
      </p:nvGrpSpPr>
      <p:grpSpPr>
        <a:xfrm>
          <a:off x="0" y="0"/>
          <a:ext cx="0" cy="0"/>
          <a:chOff x="0" y="0"/>
          <a:chExt cx="0" cy="0"/>
        </a:xfrm>
      </p:grpSpPr>
      <p:sp>
        <p:nvSpPr>
          <p:cNvPr id="1728" name="Google Shape;1728;p10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729" name="Google Shape;1729;p106"/>
          <p:cNvPicPr preferRelativeResize="0"/>
          <p:nvPr/>
        </p:nvPicPr>
        <p:blipFill rotWithShape="1">
          <a:blip r:embed="rId3">
            <a:alphaModFix/>
          </a:blip>
          <a:srcRect b="0" l="0" r="0" t="0"/>
          <a:stretch/>
        </p:blipFill>
        <p:spPr>
          <a:xfrm>
            <a:off x="2779680" y="1531800"/>
            <a:ext cx="3565079" cy="41032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