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31B5337-AF07-4DFE-8536-8FE1F6F5EA00}">
  <a:tblStyle styleId="{D31B5337-AF07-4DFE-8536-8FE1F6F5EA0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d0d106feaa_0_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d0d106fea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d0d13cd312_0_44:notes"/>
          <p:cNvSpPr/>
          <p:nvPr>
            <p:ph idx="2" type="sldImg"/>
          </p:nvPr>
        </p:nvSpPr>
        <p:spPr>
          <a:xfrm>
            <a:off x="11433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d0d13cd312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131a29648b4_0_0:notes"/>
          <p:cNvSpPr/>
          <p:nvPr>
            <p:ph idx="2" type="sldImg"/>
          </p:nvPr>
        </p:nvSpPr>
        <p:spPr>
          <a:xfrm>
            <a:off x="11433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131a29648b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131a29648b4_0_7:notes"/>
          <p:cNvSpPr/>
          <p:nvPr>
            <p:ph idx="2" type="sldImg"/>
          </p:nvPr>
        </p:nvSpPr>
        <p:spPr>
          <a:xfrm>
            <a:off x="11433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131a29648b4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d0d13cd312_0_0:notes"/>
          <p:cNvSpPr/>
          <p:nvPr>
            <p:ph idx="2" type="sldImg"/>
          </p:nvPr>
        </p:nvSpPr>
        <p:spPr>
          <a:xfrm>
            <a:off x="11433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d0d13cd31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22585ded51c_0_1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22585ded51c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12e39d56df9_0_8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12e39d56df9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12c2a432584_0_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12c2a43258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12c2a432584_0_7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12c2a432584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12c2a432584_0_15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12c2a432584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12c2a432584_0_24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12c2a432584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12e39d56df9_0_14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12e39d56df9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12e39d56df9_0_2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12e39d56df9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12e39d56df9_0_26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12e39d56df9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131a29648b4_0_14:notes"/>
          <p:cNvSpPr/>
          <p:nvPr>
            <p:ph idx="2" type="sldImg"/>
          </p:nvPr>
        </p:nvSpPr>
        <p:spPr>
          <a:xfrm>
            <a:off x="11433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131a29648b4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1301310ff6e_1_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1301310ff6e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12c2a432584_0_52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12c2a432584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12c2a432584_0_6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12c2a432584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12c2a432584_0_68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12c2a432584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12c2a432584_0_76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12c2a432584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12e39d56df9_0_38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12e39d56df9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12e39d56df9_0_44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12e39d56df9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12e39d56df9_0_51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12e39d56df9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12f7f353c56_0_235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12f7f353c56_0_2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992767"/>
            <a:ext cx="8520600" cy="273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3778833"/>
            <a:ext cx="8520600" cy="105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867800"/>
            <a:ext cx="8520600" cy="112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1869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874800"/>
            <a:ext cx="8520600" cy="549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68300" lvl="1" marL="914400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1869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536633"/>
            <a:ext cx="39999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536633"/>
            <a:ext cx="39999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1869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852800"/>
            <a:ext cx="2808000" cy="423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600200"/>
            <a:ext cx="6367800" cy="54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67"/>
            <a:ext cx="457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644233"/>
            <a:ext cx="4045200" cy="1976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3737433"/>
            <a:ext cx="4045200" cy="164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965433"/>
            <a:ext cx="3837000" cy="492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68300" lvl="1" marL="914400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5640767"/>
            <a:ext cx="5998800" cy="80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474833"/>
            <a:ext cx="8520600" cy="2618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4202967"/>
            <a:ext cx="8520600" cy="173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68300" lvl="1" marL="914400" algn="ctr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indent="-342900" lvl="2" marL="1371600" algn="ctr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1869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088500"/>
            <a:ext cx="8520600" cy="51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400"/>
              <a:buChar char="●"/>
              <a:defRPr sz="2400">
                <a:solidFill>
                  <a:srgbClr val="666666"/>
                </a:solidFill>
              </a:defRPr>
            </a:lvl1pPr>
            <a:lvl2pPr indent="-3683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200"/>
              <a:buChar char="○"/>
              <a:defRPr sz="2200">
                <a:solidFill>
                  <a:srgbClr val="666666"/>
                </a:solidFill>
              </a:defRPr>
            </a:lvl2pPr>
            <a:lvl3pPr indent="-3429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800"/>
              <a:buChar char="■"/>
              <a:defRPr sz="1800">
                <a:solidFill>
                  <a:srgbClr val="666666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Char char="●"/>
              <a:defRPr>
                <a:solidFill>
                  <a:srgbClr val="666666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666666"/>
              </a:buClr>
              <a:buSzPts val="1400"/>
              <a:buChar char="○"/>
              <a:defRPr>
                <a:solidFill>
                  <a:srgbClr val="666666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666666"/>
              </a:buClr>
              <a:buSzPts val="1400"/>
              <a:buChar char="■"/>
              <a:defRPr>
                <a:solidFill>
                  <a:srgbClr val="666666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666666"/>
              </a:buClr>
              <a:buSzPts val="1400"/>
              <a:buChar char="●"/>
              <a:defRPr>
                <a:solidFill>
                  <a:srgbClr val="666666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666666"/>
              </a:buClr>
              <a:buSzPts val="1400"/>
              <a:buChar char="○"/>
              <a:defRPr>
                <a:solidFill>
                  <a:srgbClr val="666666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666666"/>
              </a:buClr>
              <a:buSzPts val="1400"/>
              <a:buChar char="■"/>
              <a:defRPr>
                <a:solidFill>
                  <a:srgbClr val="666666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777075"/>
            <a:ext cx="8520600" cy="206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200"/>
              <a:t>Phân tích </a:t>
            </a:r>
            <a:r>
              <a:rPr lang="en-GB" sz="4200"/>
              <a:t>và</a:t>
            </a:r>
            <a:r>
              <a:rPr lang="en-GB" sz="4200"/>
              <a:t> thiết kế </a:t>
            </a:r>
            <a:r>
              <a:rPr lang="en-GB" sz="4200"/>
              <a:t>h</a:t>
            </a:r>
            <a:r>
              <a:rPr lang="en-GB" sz="4200"/>
              <a:t>ệ thống</a:t>
            </a:r>
            <a:endParaRPr sz="4200"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3778827"/>
            <a:ext cx="8520600" cy="81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600"/>
              <a:t>Giảng viên: Nguyễn Bá Ngọc</a:t>
            </a:r>
            <a:endParaRPr sz="2600"/>
          </a:p>
        </p:txBody>
      </p:sp>
      <p:sp>
        <p:nvSpPr>
          <p:cNvPr id="56" name="Google Shape;56;p13"/>
          <p:cNvSpPr txBox="1"/>
          <p:nvPr/>
        </p:nvSpPr>
        <p:spPr>
          <a:xfrm>
            <a:off x="125" y="6116250"/>
            <a:ext cx="9144000" cy="6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600"/>
              <a:t>Hà Nội-2021</a:t>
            </a:r>
            <a:endParaRPr sz="2600"/>
          </a:p>
        </p:txBody>
      </p:sp>
      <p:sp>
        <p:nvSpPr>
          <p:cNvPr id="57" name="Google Shape;57;p13"/>
          <p:cNvSpPr txBox="1"/>
          <p:nvPr/>
        </p:nvSpPr>
        <p:spPr>
          <a:xfrm>
            <a:off x="491750" y="4667625"/>
            <a:ext cx="3857100" cy="10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311700" y="2867800"/>
            <a:ext cx="8520600" cy="112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Chuyển sang thiết kế</a:t>
            </a:r>
            <a:endParaRPr/>
          </a:p>
        </p:txBody>
      </p:sp>
      <p:sp>
        <p:nvSpPr>
          <p:cNvPr id="63" name="Google Shape;63;p1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1869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Nội dung</a:t>
            </a:r>
            <a:endParaRPr/>
          </a:p>
        </p:txBody>
      </p:sp>
      <p:sp>
        <p:nvSpPr>
          <p:cNvPr id="69" name="Google Shape;69;p15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0" name="Google Shape;70;p15"/>
          <p:cNvSpPr txBox="1"/>
          <p:nvPr>
            <p:ph idx="1" type="body"/>
          </p:nvPr>
        </p:nvSpPr>
        <p:spPr>
          <a:xfrm>
            <a:off x="311700" y="874800"/>
            <a:ext cx="8520600" cy="549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/>
              <a:t>Cân bằng các mô hình phân tích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/>
              <a:t>Lựa chọn chiến lược thiết kế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>
            <a:off x="311700" y="1869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Nội dung</a:t>
            </a:r>
            <a:endParaRPr/>
          </a:p>
        </p:txBody>
      </p:sp>
      <p:sp>
        <p:nvSpPr>
          <p:cNvPr id="76" name="Google Shape;76;p16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6"/>
          <p:cNvSpPr txBox="1"/>
          <p:nvPr>
            <p:ph idx="1" type="body"/>
          </p:nvPr>
        </p:nvSpPr>
        <p:spPr>
          <a:xfrm>
            <a:off x="311700" y="874800"/>
            <a:ext cx="8520600" cy="549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/>
              <a:t>Cân bằng các mô hình phân tích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/>
              <a:t>Lựa chọn chiến lược thiết kế</a:t>
            </a:r>
            <a:endParaRPr/>
          </a:p>
        </p:txBody>
      </p:sp>
      <p:sp>
        <p:nvSpPr>
          <p:cNvPr id="78" name="Google Shape;78;p16"/>
          <p:cNvSpPr/>
          <p:nvPr/>
        </p:nvSpPr>
        <p:spPr>
          <a:xfrm>
            <a:off x="357900" y="767547"/>
            <a:ext cx="6629700" cy="831900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 txBox="1"/>
          <p:nvPr>
            <p:ph type="title"/>
          </p:nvPr>
        </p:nvSpPr>
        <p:spPr>
          <a:xfrm>
            <a:off x="311700" y="1869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Chuyển từ phân tích sang thiết kế</a:t>
            </a:r>
            <a:endParaRPr/>
          </a:p>
        </p:txBody>
      </p:sp>
      <p:sp>
        <p:nvSpPr>
          <p:cNvPr id="84" name="Google Shape;84;p17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5" name="Google Shape;85;p17"/>
          <p:cNvSpPr/>
          <p:nvPr/>
        </p:nvSpPr>
        <p:spPr>
          <a:xfrm>
            <a:off x="3818825" y="3354675"/>
            <a:ext cx="1304700" cy="4551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6" name="Google Shape;86;p17"/>
          <p:cNvCxnSpPr/>
          <p:nvPr/>
        </p:nvCxnSpPr>
        <p:spPr>
          <a:xfrm>
            <a:off x="4571525" y="1115133"/>
            <a:ext cx="0" cy="5213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87" name="Google Shape;87;p17"/>
          <p:cNvSpPr txBox="1"/>
          <p:nvPr/>
        </p:nvSpPr>
        <p:spPr>
          <a:xfrm>
            <a:off x="356850" y="845625"/>
            <a:ext cx="16344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/>
              <a:t>Phân tích</a:t>
            </a:r>
            <a:endParaRPr b="1" sz="2200"/>
          </a:p>
        </p:txBody>
      </p:sp>
      <p:sp>
        <p:nvSpPr>
          <p:cNvPr id="88" name="Google Shape;88;p17"/>
          <p:cNvSpPr txBox="1"/>
          <p:nvPr/>
        </p:nvSpPr>
        <p:spPr>
          <a:xfrm>
            <a:off x="5287075" y="835375"/>
            <a:ext cx="1512000" cy="59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/>
              <a:t>Thiết kế</a:t>
            </a:r>
            <a:endParaRPr b="1" sz="2200"/>
          </a:p>
        </p:txBody>
      </p:sp>
      <p:sp>
        <p:nvSpPr>
          <p:cNvPr id="89" name="Google Shape;89;p17"/>
          <p:cNvSpPr/>
          <p:nvPr/>
        </p:nvSpPr>
        <p:spPr>
          <a:xfrm>
            <a:off x="425150" y="1431075"/>
            <a:ext cx="3317400" cy="50616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7"/>
          <p:cNvSpPr/>
          <p:nvPr/>
        </p:nvSpPr>
        <p:spPr>
          <a:xfrm>
            <a:off x="613325" y="1598967"/>
            <a:ext cx="1407900" cy="1059300"/>
          </a:xfrm>
          <a:prstGeom prst="rect">
            <a:avLst/>
          </a:prstGeom>
          <a:solidFill>
            <a:srgbClr val="E6B8A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Sơ đồ lớp</a:t>
            </a:r>
            <a:endParaRPr sz="1800"/>
          </a:p>
        </p:txBody>
      </p:sp>
      <p:sp>
        <p:nvSpPr>
          <p:cNvPr id="91" name="Google Shape;91;p17"/>
          <p:cNvSpPr/>
          <p:nvPr/>
        </p:nvSpPr>
        <p:spPr>
          <a:xfrm>
            <a:off x="2202350" y="1598967"/>
            <a:ext cx="1407900" cy="1059300"/>
          </a:xfrm>
          <a:prstGeom prst="rect">
            <a:avLst/>
          </a:prstGeom>
          <a:solidFill>
            <a:srgbClr val="E6B8A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Sơ</a:t>
            </a:r>
            <a:r>
              <a:rPr lang="en-GB" sz="1800"/>
              <a:t> đồ c</a:t>
            </a:r>
            <a:r>
              <a:rPr lang="en-GB" sz="1800"/>
              <a:t>a sử dụng</a:t>
            </a:r>
            <a:endParaRPr sz="1800"/>
          </a:p>
        </p:txBody>
      </p:sp>
      <p:sp>
        <p:nvSpPr>
          <p:cNvPr id="92" name="Google Shape;92;p17"/>
          <p:cNvSpPr/>
          <p:nvPr/>
        </p:nvSpPr>
        <p:spPr>
          <a:xfrm>
            <a:off x="2202350" y="2749500"/>
            <a:ext cx="1407900" cy="1059300"/>
          </a:xfrm>
          <a:prstGeom prst="rect">
            <a:avLst/>
          </a:prstGeom>
          <a:solidFill>
            <a:srgbClr val="E6B8A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Đặc tả ca sử dụng</a:t>
            </a:r>
            <a:endParaRPr sz="1800"/>
          </a:p>
        </p:txBody>
      </p:sp>
      <p:sp>
        <p:nvSpPr>
          <p:cNvPr id="93" name="Google Shape;93;p17"/>
          <p:cNvSpPr/>
          <p:nvPr/>
        </p:nvSpPr>
        <p:spPr>
          <a:xfrm>
            <a:off x="2202350" y="3900033"/>
            <a:ext cx="1407900" cy="1059300"/>
          </a:xfrm>
          <a:prstGeom prst="rect">
            <a:avLst/>
          </a:prstGeom>
          <a:solidFill>
            <a:srgbClr val="E6B8A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Sơ đồ hoạt động</a:t>
            </a:r>
            <a:endParaRPr sz="1800"/>
          </a:p>
        </p:txBody>
      </p:sp>
      <p:sp>
        <p:nvSpPr>
          <p:cNvPr id="94" name="Google Shape;94;p17"/>
          <p:cNvSpPr/>
          <p:nvPr/>
        </p:nvSpPr>
        <p:spPr>
          <a:xfrm>
            <a:off x="613325" y="2749500"/>
            <a:ext cx="1407900" cy="1059300"/>
          </a:xfrm>
          <a:prstGeom prst="rect">
            <a:avLst/>
          </a:prstGeom>
          <a:solidFill>
            <a:srgbClr val="E6B8A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Thẻ CRCs</a:t>
            </a:r>
            <a:endParaRPr sz="1800"/>
          </a:p>
        </p:txBody>
      </p:sp>
      <p:sp>
        <p:nvSpPr>
          <p:cNvPr id="95" name="Google Shape;95;p17"/>
          <p:cNvSpPr/>
          <p:nvPr/>
        </p:nvSpPr>
        <p:spPr>
          <a:xfrm>
            <a:off x="613325" y="3900033"/>
            <a:ext cx="1407900" cy="1059300"/>
          </a:xfrm>
          <a:prstGeom prst="rect">
            <a:avLst/>
          </a:prstGeom>
          <a:solidFill>
            <a:srgbClr val="E6B8A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Sơ đồ tuần tự</a:t>
            </a:r>
            <a:endParaRPr sz="1800"/>
          </a:p>
        </p:txBody>
      </p:sp>
      <p:sp>
        <p:nvSpPr>
          <p:cNvPr id="96" name="Google Shape;96;p17"/>
          <p:cNvSpPr/>
          <p:nvPr/>
        </p:nvSpPr>
        <p:spPr>
          <a:xfrm>
            <a:off x="613325" y="5050567"/>
            <a:ext cx="1407900" cy="1059300"/>
          </a:xfrm>
          <a:prstGeom prst="rect">
            <a:avLst/>
          </a:prstGeom>
          <a:solidFill>
            <a:srgbClr val="E6B8A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Sơ</a:t>
            </a:r>
            <a:r>
              <a:rPr lang="en-GB" sz="1800"/>
              <a:t> đồ m</a:t>
            </a:r>
            <a:r>
              <a:rPr lang="en-GB" sz="1800"/>
              <a:t>áy trạng thái</a:t>
            </a:r>
            <a:endParaRPr sz="1800"/>
          </a:p>
        </p:txBody>
      </p:sp>
      <p:sp>
        <p:nvSpPr>
          <p:cNvPr id="97" name="Google Shape;97;p17"/>
          <p:cNvSpPr/>
          <p:nvPr/>
        </p:nvSpPr>
        <p:spPr>
          <a:xfrm>
            <a:off x="2202350" y="5050567"/>
            <a:ext cx="1407900" cy="1059300"/>
          </a:xfrm>
          <a:prstGeom prst="rect">
            <a:avLst/>
          </a:prstGeom>
          <a:solidFill>
            <a:srgbClr val="E6B8A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Sơ</a:t>
            </a:r>
            <a:r>
              <a:rPr lang="en-GB" sz="1800"/>
              <a:t> đồ g</a:t>
            </a:r>
            <a:r>
              <a:rPr lang="en-GB" sz="1800"/>
              <a:t>iao tiếp</a:t>
            </a:r>
            <a:endParaRPr sz="1800"/>
          </a:p>
        </p:txBody>
      </p:sp>
      <p:sp>
        <p:nvSpPr>
          <p:cNvPr id="98" name="Google Shape;98;p17"/>
          <p:cNvSpPr/>
          <p:nvPr/>
        </p:nvSpPr>
        <p:spPr>
          <a:xfrm>
            <a:off x="5454350" y="1431200"/>
            <a:ext cx="3317400" cy="50616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7"/>
          <p:cNvSpPr/>
          <p:nvPr/>
        </p:nvSpPr>
        <p:spPr>
          <a:xfrm>
            <a:off x="5642525" y="2691167"/>
            <a:ext cx="1407900" cy="10593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Hợp đồng thông điệp</a:t>
            </a:r>
            <a:endParaRPr sz="1800"/>
          </a:p>
        </p:txBody>
      </p:sp>
      <p:sp>
        <p:nvSpPr>
          <p:cNvPr id="100" name="Google Shape;100;p17"/>
          <p:cNvSpPr/>
          <p:nvPr/>
        </p:nvSpPr>
        <p:spPr>
          <a:xfrm>
            <a:off x="7231550" y="5066567"/>
            <a:ext cx="1407900" cy="10593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Sơ đồ triển khai</a:t>
            </a:r>
            <a:endParaRPr sz="1800"/>
          </a:p>
        </p:txBody>
      </p:sp>
      <p:sp>
        <p:nvSpPr>
          <p:cNvPr id="101" name="Google Shape;101;p17"/>
          <p:cNvSpPr/>
          <p:nvPr/>
        </p:nvSpPr>
        <p:spPr>
          <a:xfrm>
            <a:off x="7231550" y="3878871"/>
            <a:ext cx="1407900" cy="10593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Sơ đồ gói</a:t>
            </a:r>
            <a:endParaRPr sz="1800"/>
          </a:p>
        </p:txBody>
      </p:sp>
      <p:sp>
        <p:nvSpPr>
          <p:cNvPr id="102" name="Google Shape;102;p17"/>
          <p:cNvSpPr/>
          <p:nvPr/>
        </p:nvSpPr>
        <p:spPr>
          <a:xfrm>
            <a:off x="5642525" y="3878871"/>
            <a:ext cx="1407900" cy="10593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CSDL</a:t>
            </a:r>
            <a:endParaRPr sz="1800"/>
          </a:p>
        </p:txBody>
      </p:sp>
      <p:sp>
        <p:nvSpPr>
          <p:cNvPr id="103" name="Google Shape;103;p17"/>
          <p:cNvSpPr/>
          <p:nvPr/>
        </p:nvSpPr>
        <p:spPr>
          <a:xfrm>
            <a:off x="5656477" y="5064981"/>
            <a:ext cx="1407900" cy="10593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Nguyên mẫu giao diện</a:t>
            </a:r>
            <a:endParaRPr sz="1800"/>
          </a:p>
        </p:txBody>
      </p:sp>
      <p:sp>
        <p:nvSpPr>
          <p:cNvPr id="104" name="Google Shape;104;p17"/>
          <p:cNvSpPr/>
          <p:nvPr/>
        </p:nvSpPr>
        <p:spPr>
          <a:xfrm>
            <a:off x="7231550" y="2691167"/>
            <a:ext cx="1407900" cy="10593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Sơ đồ thành phần</a:t>
            </a:r>
            <a:endParaRPr sz="1800"/>
          </a:p>
        </p:txBody>
      </p:sp>
      <p:sp>
        <p:nvSpPr>
          <p:cNvPr id="105" name="Google Shape;105;p17"/>
          <p:cNvSpPr txBox="1"/>
          <p:nvPr/>
        </p:nvSpPr>
        <p:spPr>
          <a:xfrm>
            <a:off x="1905725" y="6055375"/>
            <a:ext cx="1304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/>
              <a:t>…</a:t>
            </a:r>
            <a:endParaRPr b="1" sz="1800"/>
          </a:p>
        </p:txBody>
      </p:sp>
      <p:sp>
        <p:nvSpPr>
          <p:cNvPr id="106" name="Google Shape;106;p17"/>
          <p:cNvSpPr txBox="1"/>
          <p:nvPr/>
        </p:nvSpPr>
        <p:spPr>
          <a:xfrm>
            <a:off x="6934925" y="6055375"/>
            <a:ext cx="1304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/>
              <a:t>…</a:t>
            </a:r>
            <a:endParaRPr b="1" sz="1800"/>
          </a:p>
        </p:txBody>
      </p:sp>
      <p:sp>
        <p:nvSpPr>
          <p:cNvPr id="107" name="Google Shape;107;p17"/>
          <p:cNvSpPr/>
          <p:nvPr/>
        </p:nvSpPr>
        <p:spPr>
          <a:xfrm>
            <a:off x="5656475" y="1588307"/>
            <a:ext cx="2982900" cy="10002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Ca sử dụng thực tế</a:t>
            </a:r>
            <a:endParaRPr sz="18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8"/>
          <p:cNvSpPr txBox="1"/>
          <p:nvPr>
            <p:ph type="title"/>
          </p:nvPr>
        </p:nvSpPr>
        <p:spPr>
          <a:xfrm>
            <a:off x="311700" y="1869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Các góc nhìn</a:t>
            </a:r>
            <a:endParaRPr/>
          </a:p>
        </p:txBody>
      </p:sp>
      <p:sp>
        <p:nvSpPr>
          <p:cNvPr id="113" name="Google Shape;113;p18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14" name="Google Shape;114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02028" y="1331481"/>
            <a:ext cx="4168583" cy="3894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4254" y="1331475"/>
            <a:ext cx="4519824" cy="3894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9"/>
          <p:cNvSpPr txBox="1"/>
          <p:nvPr>
            <p:ph type="title"/>
          </p:nvPr>
        </p:nvSpPr>
        <p:spPr>
          <a:xfrm>
            <a:off x="311700" y="1869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Sự</a:t>
            </a:r>
            <a:r>
              <a:rPr lang="en-GB"/>
              <a:t> gắn kết giữa các mô hình</a:t>
            </a:r>
            <a:endParaRPr/>
          </a:p>
        </p:txBody>
      </p:sp>
      <p:sp>
        <p:nvSpPr>
          <p:cNvPr id="121" name="Google Shape;121;p19"/>
          <p:cNvSpPr txBox="1"/>
          <p:nvPr>
            <p:ph idx="1" type="body"/>
          </p:nvPr>
        </p:nvSpPr>
        <p:spPr>
          <a:xfrm>
            <a:off x="311700" y="874800"/>
            <a:ext cx="8520600" cy="549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just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/>
              <a:t>Chúng ta mô hình hóa hệ thống từ nhiều góc nhìn: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/>
              <a:t>Mô hình từ mỗi góc nhìn có thể tập trung vào 1 khía cạnh khác nhau, đáp ứng nhu cầu thông tin khác nhau.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/>
              <a:t>Một </a:t>
            </a:r>
            <a:r>
              <a:rPr lang="en-GB"/>
              <a:t>t</a:t>
            </a:r>
            <a:r>
              <a:rPr lang="en-GB"/>
              <a:t>hành phần hệ thống có thể</a:t>
            </a:r>
            <a:r>
              <a:rPr lang="en-GB"/>
              <a:t> </a:t>
            </a:r>
            <a:r>
              <a:rPr lang="en-GB"/>
              <a:t>xuất hiện</a:t>
            </a:r>
            <a:r>
              <a:rPr lang="en-GB"/>
              <a:t> nhiều lần trong các mô hình khác nhau. </a:t>
            </a:r>
            <a:endParaRPr/>
          </a:p>
          <a:p>
            <a:pPr indent="-342900" lvl="2" marL="1371600" rtl="0" algn="just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en-GB"/>
              <a:t>Ví dụ: Các hoạt động, </a:t>
            </a:r>
            <a:r>
              <a:rPr lang="en-GB"/>
              <a:t>luồng sự kiện</a:t>
            </a:r>
            <a:r>
              <a:rPr lang="en-GB"/>
              <a:t> và các thông điệp, v.v..</a:t>
            </a:r>
            <a:endParaRPr/>
          </a:p>
          <a:p>
            <a:pPr indent="-381000" lvl="0" marL="457200" rtl="0" algn="just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/>
              <a:t>Cần đảm bảo tính nhất quán giữa các biểu diễn và đảm bảo tính lô-gic giữa những nội dung liên quan - </a:t>
            </a:r>
            <a:r>
              <a:rPr lang="en-GB"/>
              <a:t>Tính cân bằng giữa các mô hình</a:t>
            </a:r>
            <a:r>
              <a:rPr lang="en-GB"/>
              <a:t>.</a:t>
            </a:r>
            <a:endParaRPr/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i="1" lang="en-GB">
                <a:solidFill>
                  <a:srgbClr val="1155CC"/>
                </a:solidFill>
              </a:rPr>
              <a:t>Thử</a:t>
            </a:r>
            <a:r>
              <a:rPr i="1" lang="en-GB">
                <a:solidFill>
                  <a:srgbClr val="1155CC"/>
                </a:solidFill>
              </a:rPr>
              <a:t> </a:t>
            </a:r>
            <a:r>
              <a:rPr i="1" lang="en-GB">
                <a:solidFill>
                  <a:srgbClr val="1155CC"/>
                </a:solidFill>
              </a:rPr>
              <a:t>kết hợp, kiểm tra và giá</a:t>
            </a:r>
            <a:r>
              <a:rPr i="1" lang="en-GB">
                <a:solidFill>
                  <a:srgbClr val="1155CC"/>
                </a:solidFill>
              </a:rPr>
              <a:t> </a:t>
            </a:r>
            <a:r>
              <a:rPr i="1" lang="en-GB">
                <a:solidFill>
                  <a:srgbClr val="1155CC"/>
                </a:solidFill>
              </a:rPr>
              <a:t>các mô hình phân tích trước khi bắt đầu các hoạt động thiết kế</a:t>
            </a:r>
            <a:endParaRPr i="1">
              <a:solidFill>
                <a:srgbClr val="1155CC"/>
              </a:solidFill>
            </a:endParaRPr>
          </a:p>
        </p:txBody>
      </p:sp>
      <p:sp>
        <p:nvSpPr>
          <p:cNvPr id="122" name="Google Shape;122;p19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0"/>
          <p:cNvSpPr txBox="1"/>
          <p:nvPr>
            <p:ph type="title"/>
          </p:nvPr>
        </p:nvSpPr>
        <p:spPr>
          <a:xfrm>
            <a:off x="311700" y="1869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Cân bằng các mô hình phân tích</a:t>
            </a:r>
            <a:endParaRPr/>
          </a:p>
        </p:txBody>
      </p:sp>
      <p:sp>
        <p:nvSpPr>
          <p:cNvPr id="128" name="Google Shape;128;p2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9" name="Google Shape;129;p20"/>
          <p:cNvSpPr txBox="1"/>
          <p:nvPr>
            <p:ph idx="1" type="body"/>
          </p:nvPr>
        </p:nvSpPr>
        <p:spPr>
          <a:xfrm>
            <a:off x="311700" y="874800"/>
            <a:ext cx="8520600" cy="549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 sz="2400">
                <a:highlight>
                  <a:srgbClr val="FFFFFF"/>
                </a:highlight>
              </a:rPr>
              <a:t>Được thực hiện bởi 1 đội gồm người phân tích, người thiết kế và khách hàng.</a:t>
            </a:r>
            <a:endParaRPr sz="2400">
              <a:highlight>
                <a:srgbClr val="FFFFFF"/>
              </a:highlight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 sz="2400">
                <a:highlight>
                  <a:srgbClr val="FFFFFF"/>
                </a:highlight>
              </a:rPr>
              <a:t>Các mục đích:</a:t>
            </a:r>
            <a:endParaRPr sz="2400">
              <a:highlight>
                <a:srgbClr val="FFFFFF"/>
              </a:highlight>
            </a:endParaRPr>
          </a:p>
          <a:p>
            <a:pPr indent="-3683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>
                <a:highlight>
                  <a:srgbClr val="FFFFFF"/>
                </a:highlight>
              </a:rPr>
              <a:t>Kiểm tra tính đúng đắn của các mô hình</a:t>
            </a:r>
            <a:endParaRPr>
              <a:highlight>
                <a:srgbClr val="FFFFFF"/>
              </a:highlight>
            </a:endParaRPr>
          </a:p>
          <a:p>
            <a:pPr indent="-3683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 sz="2400">
                <a:highlight>
                  <a:srgbClr val="FFFFFF"/>
                </a:highlight>
              </a:rPr>
              <a:t>Tìm lỗi và điều chỉnh kịp thời</a:t>
            </a:r>
            <a:endParaRPr sz="2400">
              <a:highlight>
                <a:srgbClr val="FFFFFF"/>
              </a:highlight>
            </a:endParaRPr>
          </a:p>
          <a:p>
            <a:pPr indent="0" lvl="0" marL="0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i="1" lang="en-GB" sz="2400">
                <a:solidFill>
                  <a:srgbClr val="E69138"/>
                </a:solidFill>
                <a:highlight>
                  <a:srgbClr val="FFFFFF"/>
                </a:highlight>
              </a:rPr>
              <a:t>Tiềm ẩn trách nhiệm đối với người phân tích vì những lỗi được phát hiện.</a:t>
            </a:r>
            <a:endParaRPr i="1" sz="2400">
              <a:solidFill>
                <a:srgbClr val="E69138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1"/>
          <p:cNvSpPr txBox="1"/>
          <p:nvPr>
            <p:ph type="title"/>
          </p:nvPr>
        </p:nvSpPr>
        <p:spPr>
          <a:xfrm>
            <a:off x="311700" y="1869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Cân bằng các mô hình chức năng</a:t>
            </a:r>
            <a:endParaRPr/>
          </a:p>
        </p:txBody>
      </p:sp>
      <p:sp>
        <p:nvSpPr>
          <p:cNvPr id="135" name="Google Shape;135;p21"/>
          <p:cNvSpPr txBox="1"/>
          <p:nvPr>
            <p:ph idx="1" type="body"/>
          </p:nvPr>
        </p:nvSpPr>
        <p:spPr>
          <a:xfrm>
            <a:off x="311700" y="874800"/>
            <a:ext cx="8520600" cy="549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83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AutoNum type="arabicPeriod"/>
            </a:pPr>
            <a:r>
              <a:rPr lang="en-GB" sz="2200">
                <a:highlight>
                  <a:srgbClr val="FFFFFF"/>
                </a:highlight>
              </a:rPr>
              <a:t>Có thể ánh xạ 2 chiều giữa c</a:t>
            </a:r>
            <a:r>
              <a:rPr lang="en-GB" sz="2200">
                <a:highlight>
                  <a:srgbClr val="FFFFFF"/>
                </a:highlight>
              </a:rPr>
              <a:t>ác sự kiện trong các đặc tả ca sử dụng và các hoạt động trong sơ đồ hoạt động.</a:t>
            </a:r>
            <a:endParaRPr sz="2200">
              <a:highlight>
                <a:srgbClr val="FFFFFF"/>
              </a:highlight>
            </a:endParaRPr>
          </a:p>
          <a:p>
            <a:pPr indent="-3683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AutoNum type="arabicPeriod"/>
            </a:pPr>
            <a:r>
              <a:rPr lang="en-GB" sz="2200">
                <a:highlight>
                  <a:srgbClr val="FFFFFF"/>
                </a:highlight>
              </a:rPr>
              <a:t>Các nút đối tượng (nếu có) trong sơ đồ hoạt động phải được sử dụng trong đặc tả ca sử dụng.</a:t>
            </a:r>
            <a:endParaRPr sz="2200">
              <a:highlight>
                <a:srgbClr val="FFFFFF"/>
              </a:highlight>
            </a:endParaRPr>
          </a:p>
          <a:p>
            <a:pPr indent="-3683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AutoNum type="arabicPeriod"/>
            </a:pPr>
            <a:r>
              <a:rPr lang="en-GB" sz="2200">
                <a:highlight>
                  <a:srgbClr val="FFFFFF"/>
                </a:highlight>
              </a:rPr>
              <a:t>Thứ tự của các sự kiện trong đặc tả ca sử dụng phải nhất quán với thứ tự của các hoạt động trong sơ đồ hoạt động.</a:t>
            </a:r>
            <a:endParaRPr sz="2200">
              <a:highlight>
                <a:srgbClr val="FFFFFF"/>
              </a:highlight>
            </a:endParaRPr>
          </a:p>
          <a:p>
            <a:pPr indent="-3683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AutoNum type="arabicPeriod"/>
            </a:pPr>
            <a:r>
              <a:rPr lang="en-GB" sz="2200">
                <a:highlight>
                  <a:srgbClr val="FFFFFF"/>
                </a:highlight>
              </a:rPr>
              <a:t>Đảm bảo tương ứng 1-1 giữa các ca sử dụng trong sơ đồ ca sử dụng tổng quan và các đặc tả ca sử dụng.</a:t>
            </a:r>
            <a:endParaRPr sz="2200">
              <a:highlight>
                <a:srgbClr val="FFFFFF"/>
              </a:highlight>
            </a:endParaRPr>
          </a:p>
          <a:p>
            <a:pPr indent="-3683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AutoNum type="arabicPeriod"/>
            </a:pPr>
            <a:r>
              <a:rPr lang="en-GB" sz="2200">
                <a:highlight>
                  <a:srgbClr val="FFFFFF"/>
                </a:highlight>
              </a:rPr>
              <a:t>Các tác nhân có trong đặc tả ca sử dụng phải được biểu diễn trên sơ đồ ca sử dụng.</a:t>
            </a:r>
            <a:endParaRPr sz="2200">
              <a:highlight>
                <a:srgbClr val="FFFFFF"/>
              </a:highlight>
            </a:endParaRPr>
          </a:p>
          <a:p>
            <a:pPr indent="-3683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AutoNum type="arabicPeriod"/>
            </a:pPr>
            <a:r>
              <a:rPr lang="en-GB" sz="2200">
                <a:highlight>
                  <a:srgbClr val="FFFFFF"/>
                </a:highlight>
              </a:rPr>
              <a:t>Các cổ đông có trong đặc tả ca sử dụng phải được biểu diễn như các tác nhân trên sơ đồ ca sử dụng.</a:t>
            </a:r>
            <a:endParaRPr sz="2200">
              <a:highlight>
                <a:srgbClr val="FFFFFF"/>
              </a:highlight>
            </a:endParaRPr>
          </a:p>
          <a:p>
            <a:pPr indent="-3683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AutoNum type="arabicPeriod"/>
            </a:pPr>
            <a:r>
              <a:rPr lang="en-GB" sz="2200">
                <a:highlight>
                  <a:srgbClr val="FFFFFF"/>
                </a:highlight>
              </a:rPr>
              <a:t>Các mối quan hệ có trong đặc tả ca sử dụng phải nhất quán với các mối quan hệ có trong sơ đồ ca sử dụng.</a:t>
            </a:r>
            <a:endParaRPr sz="2200"/>
          </a:p>
        </p:txBody>
      </p:sp>
      <p:sp>
        <p:nvSpPr>
          <p:cNvPr id="136" name="Google Shape;136;p2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2"/>
          <p:cNvSpPr txBox="1"/>
          <p:nvPr>
            <p:ph type="title"/>
          </p:nvPr>
        </p:nvSpPr>
        <p:spPr>
          <a:xfrm>
            <a:off x="311700" y="1869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Cân bằng các mô hình cấu trúc</a:t>
            </a:r>
            <a:endParaRPr/>
          </a:p>
        </p:txBody>
      </p:sp>
      <p:sp>
        <p:nvSpPr>
          <p:cNvPr id="142" name="Google Shape;142;p22"/>
          <p:cNvSpPr txBox="1"/>
          <p:nvPr>
            <p:ph idx="1" type="body"/>
          </p:nvPr>
        </p:nvSpPr>
        <p:spPr>
          <a:xfrm>
            <a:off x="311700" y="874800"/>
            <a:ext cx="8520600" cy="549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83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AutoNum type="arabicPeriod"/>
            </a:pPr>
            <a:r>
              <a:rPr lang="en-GB" sz="2200">
                <a:highlight>
                  <a:srgbClr val="FFFFFF"/>
                </a:highlight>
              </a:rPr>
              <a:t>Tương ứng 1-1 giữa các thẻ CRC và các lớp trên </a:t>
            </a:r>
            <a:r>
              <a:rPr lang="en-GB" sz="2200">
                <a:highlight>
                  <a:srgbClr val="FFFFFF"/>
                </a:highlight>
              </a:rPr>
              <a:t>sơ đồ</a:t>
            </a:r>
            <a:r>
              <a:rPr lang="en-GB" sz="2200">
                <a:highlight>
                  <a:srgbClr val="FFFFFF"/>
                </a:highlight>
              </a:rPr>
              <a:t> lớp.</a:t>
            </a:r>
            <a:endParaRPr sz="2200">
              <a:highlight>
                <a:srgbClr val="FFFFFF"/>
              </a:highlight>
            </a:endParaRPr>
          </a:p>
          <a:p>
            <a:pPr indent="-3683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AutoNum type="arabicPeriod"/>
            </a:pPr>
            <a:r>
              <a:rPr lang="en-GB" sz="2200">
                <a:highlight>
                  <a:srgbClr val="FFFFFF"/>
                </a:highlight>
              </a:rPr>
              <a:t>Các trách nhiệm được liệt kê trong thẻ CRC phải được thể hiện bằng các phương thức trong </a:t>
            </a:r>
            <a:r>
              <a:rPr lang="en-GB" sz="2200">
                <a:highlight>
                  <a:srgbClr val="FFFFFF"/>
                </a:highlight>
              </a:rPr>
              <a:t>sơ đồ</a:t>
            </a:r>
            <a:r>
              <a:rPr lang="en-GB" sz="2200">
                <a:highlight>
                  <a:srgbClr val="FFFFFF"/>
                </a:highlight>
              </a:rPr>
              <a:t> lớp.</a:t>
            </a:r>
            <a:endParaRPr sz="2200">
              <a:highlight>
                <a:srgbClr val="FFFFFF"/>
              </a:highlight>
            </a:endParaRPr>
          </a:p>
          <a:p>
            <a:pPr indent="-3683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AutoNum type="arabicPeriod"/>
            </a:pPr>
            <a:r>
              <a:rPr lang="en-GB" sz="2200">
                <a:highlight>
                  <a:srgbClr val="FFFFFF"/>
                </a:highlight>
              </a:rPr>
              <a:t>Các đối tác trong thẻ CRC được thể hiện bằng mối quan hệ liên kết trong </a:t>
            </a:r>
            <a:r>
              <a:rPr lang="en-GB" sz="2200">
                <a:highlight>
                  <a:srgbClr val="FFFFFF"/>
                </a:highlight>
              </a:rPr>
              <a:t>sơ đồ</a:t>
            </a:r>
            <a:r>
              <a:rPr lang="en-GB" sz="2200">
                <a:highlight>
                  <a:srgbClr val="FFFFFF"/>
                </a:highlight>
              </a:rPr>
              <a:t> lớp.</a:t>
            </a:r>
            <a:endParaRPr sz="2200">
              <a:highlight>
                <a:srgbClr val="FFFFFF"/>
              </a:highlight>
            </a:endParaRPr>
          </a:p>
          <a:p>
            <a:pPr indent="-3683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AutoNum type="arabicPeriod"/>
            </a:pPr>
            <a:r>
              <a:rPr lang="en-GB" sz="2200">
                <a:highlight>
                  <a:srgbClr val="FFFFFF"/>
                </a:highlight>
              </a:rPr>
              <a:t>Các thuộc tính được liệt kê trong các thẻ CRC phải được gắn kết với các thuộc tính trong lớp trên </a:t>
            </a:r>
            <a:r>
              <a:rPr lang="en-GB" sz="2200">
                <a:highlight>
                  <a:srgbClr val="FFFFFF"/>
                </a:highlight>
              </a:rPr>
              <a:t>sơ đồ</a:t>
            </a:r>
            <a:r>
              <a:rPr lang="en-GB" sz="2200">
                <a:highlight>
                  <a:srgbClr val="FFFFFF"/>
                </a:highlight>
              </a:rPr>
              <a:t> lớp.</a:t>
            </a:r>
            <a:endParaRPr sz="2200">
              <a:highlight>
                <a:srgbClr val="FFFFFF"/>
              </a:highlight>
            </a:endParaRPr>
          </a:p>
          <a:p>
            <a:pPr indent="-3683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AutoNum type="arabicPeriod"/>
            </a:pPr>
            <a:r>
              <a:rPr lang="en-GB" sz="2200">
                <a:highlight>
                  <a:srgbClr val="FFFFFF"/>
                </a:highlight>
              </a:rPr>
              <a:t>Các thuộc tính có kiểu là lớp khác được biểu diễn bằng quan hệ tổng hợp giữa các lớp.</a:t>
            </a:r>
            <a:endParaRPr sz="2200">
              <a:highlight>
                <a:srgbClr val="FFFFFF"/>
              </a:highlight>
            </a:endParaRPr>
          </a:p>
          <a:p>
            <a:pPr indent="-3683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AutoNum type="arabicPeriod"/>
            </a:pPr>
            <a:r>
              <a:rPr lang="en-GB" sz="2200">
                <a:highlight>
                  <a:srgbClr val="FFFFFF"/>
                </a:highlight>
              </a:rPr>
              <a:t>Các mối quan hệ trong các thẻ CRC phải nhất quán với các mối quan hệ được biểu diễn trong </a:t>
            </a:r>
            <a:r>
              <a:rPr lang="en-GB" sz="2200">
                <a:highlight>
                  <a:srgbClr val="FFFFFF"/>
                </a:highlight>
              </a:rPr>
              <a:t>sơ đồ</a:t>
            </a:r>
            <a:r>
              <a:rPr lang="en-GB" sz="2200">
                <a:highlight>
                  <a:srgbClr val="FFFFFF"/>
                </a:highlight>
              </a:rPr>
              <a:t> lớp.</a:t>
            </a:r>
            <a:endParaRPr sz="2200">
              <a:highlight>
                <a:srgbClr val="FFFFFF"/>
              </a:highlight>
            </a:endParaRPr>
          </a:p>
          <a:p>
            <a:pPr indent="-3683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AutoNum type="arabicPeriod"/>
            </a:pPr>
            <a:r>
              <a:rPr lang="en-GB" sz="2200">
                <a:highlight>
                  <a:srgbClr val="FFFFFF"/>
                </a:highlight>
              </a:rPr>
              <a:t>Chỉ sử dụng các lớp liên kết cho các liên kết có các thuộc tính không có trong cả 2 lớp.</a:t>
            </a:r>
            <a:endParaRPr sz="2200">
              <a:highlight>
                <a:srgbClr val="FFFFFF"/>
              </a:highlight>
            </a:endParaRPr>
          </a:p>
          <a:p>
            <a:pPr indent="-3683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AutoNum type="arabicPeriod"/>
            </a:pPr>
            <a:r>
              <a:rPr lang="en-GB" sz="2200">
                <a:highlight>
                  <a:srgbClr val="FFFFFF"/>
                </a:highlight>
              </a:rPr>
              <a:t>Các </a:t>
            </a:r>
            <a:r>
              <a:rPr lang="en-GB" sz="2200">
                <a:highlight>
                  <a:srgbClr val="FFFFFF"/>
                </a:highlight>
              </a:rPr>
              <a:t>sơ đồ</a:t>
            </a:r>
            <a:r>
              <a:rPr lang="en-GB" sz="2200">
                <a:highlight>
                  <a:srgbClr val="FFFFFF"/>
                </a:highlight>
              </a:rPr>
              <a:t> đối tượng phải tương thích với </a:t>
            </a:r>
            <a:r>
              <a:rPr lang="en-GB" sz="2200">
                <a:highlight>
                  <a:srgbClr val="FFFFFF"/>
                </a:highlight>
              </a:rPr>
              <a:t>sơ đồ</a:t>
            </a:r>
            <a:r>
              <a:rPr lang="en-GB" sz="2200">
                <a:highlight>
                  <a:srgbClr val="FFFFFF"/>
                </a:highlight>
              </a:rPr>
              <a:t> lớp: Thuộc tính, cơ số, liên kết.</a:t>
            </a:r>
            <a:endParaRPr sz="2200">
              <a:highlight>
                <a:srgbClr val="FFFFFF"/>
              </a:highlight>
            </a:endParaRPr>
          </a:p>
        </p:txBody>
      </p:sp>
      <p:sp>
        <p:nvSpPr>
          <p:cNvPr id="143" name="Google Shape;143;p2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3"/>
          <p:cNvSpPr txBox="1"/>
          <p:nvPr>
            <p:ph idx="1" type="body"/>
          </p:nvPr>
        </p:nvSpPr>
        <p:spPr>
          <a:xfrm>
            <a:off x="311700" y="874800"/>
            <a:ext cx="8520600" cy="549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83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AutoNum type="arabicPeriod"/>
            </a:pPr>
            <a:r>
              <a:rPr lang="en-GB" sz="2200">
                <a:highlight>
                  <a:srgbClr val="FFFFFF"/>
                </a:highlight>
              </a:rPr>
              <a:t>Cùng tác nhân &amp; đối tượng trong mỗi cặp </a:t>
            </a:r>
            <a:r>
              <a:rPr lang="en-GB" sz="2200">
                <a:highlight>
                  <a:srgbClr val="FFFFFF"/>
                </a:highlight>
              </a:rPr>
              <a:t>sơ đồ</a:t>
            </a:r>
            <a:r>
              <a:rPr lang="en-GB" sz="2200">
                <a:highlight>
                  <a:srgbClr val="FFFFFF"/>
                </a:highlight>
              </a:rPr>
              <a:t> tuần tự và </a:t>
            </a:r>
            <a:r>
              <a:rPr lang="en-GB" sz="2200">
                <a:highlight>
                  <a:srgbClr val="FFFFFF"/>
                </a:highlight>
              </a:rPr>
              <a:t>sơ đồ</a:t>
            </a:r>
            <a:r>
              <a:rPr lang="en-GB" sz="2200">
                <a:highlight>
                  <a:srgbClr val="FFFFFF"/>
                </a:highlight>
              </a:rPr>
              <a:t> giao tiếp tương ứng.</a:t>
            </a:r>
            <a:endParaRPr sz="2200">
              <a:highlight>
                <a:srgbClr val="FFFFFF"/>
              </a:highlight>
            </a:endParaRPr>
          </a:p>
          <a:p>
            <a:pPr indent="-3683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AutoNum type="arabicPeriod"/>
            </a:pPr>
            <a:r>
              <a:rPr lang="en-GB" sz="2200">
                <a:highlight>
                  <a:srgbClr val="FFFFFF"/>
                </a:highlight>
              </a:rPr>
              <a:t>Cùng thông điệp </a:t>
            </a:r>
            <a:r>
              <a:rPr lang="en-GB" sz="2200">
                <a:highlight>
                  <a:schemeClr val="lt1"/>
                </a:highlight>
              </a:rPr>
              <a:t>(tên, tham số, nguồn, đích, điều kiện bảo vệ) </a:t>
            </a:r>
            <a:r>
              <a:rPr lang="en-GB" sz="2200">
                <a:highlight>
                  <a:srgbClr val="FFFFFF"/>
                </a:highlight>
              </a:rPr>
              <a:t>trong mỗi cặp </a:t>
            </a:r>
            <a:r>
              <a:rPr lang="en-GB" sz="2200">
                <a:highlight>
                  <a:srgbClr val="FFFFFF"/>
                </a:highlight>
              </a:rPr>
              <a:t>sơ đồ</a:t>
            </a:r>
            <a:r>
              <a:rPr lang="en-GB" sz="2200">
                <a:highlight>
                  <a:srgbClr val="FFFFFF"/>
                </a:highlight>
              </a:rPr>
              <a:t> tuần tự và </a:t>
            </a:r>
            <a:r>
              <a:rPr lang="en-GB" sz="2200">
                <a:highlight>
                  <a:srgbClr val="FFFFFF"/>
                </a:highlight>
              </a:rPr>
              <a:t>sơ đồ</a:t>
            </a:r>
            <a:r>
              <a:rPr lang="en-GB" sz="2200">
                <a:highlight>
                  <a:srgbClr val="FFFFFF"/>
                </a:highlight>
              </a:rPr>
              <a:t> giao tiếp tương ứng.</a:t>
            </a:r>
            <a:endParaRPr sz="2200">
              <a:highlight>
                <a:srgbClr val="FFFFFF"/>
              </a:highlight>
            </a:endParaRPr>
          </a:p>
          <a:p>
            <a:pPr indent="-3683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AutoNum type="arabicPeriod"/>
            </a:pPr>
            <a:r>
              <a:rPr lang="en-GB" sz="2200">
                <a:highlight>
                  <a:srgbClr val="FFFFFF"/>
                </a:highlight>
              </a:rPr>
              <a:t>Cùng thứ tự thông điệp trong mỗi cặp </a:t>
            </a:r>
            <a:r>
              <a:rPr lang="en-GB" sz="2200">
                <a:highlight>
                  <a:srgbClr val="FFFFFF"/>
                </a:highlight>
              </a:rPr>
              <a:t>sơ đồ</a:t>
            </a:r>
            <a:r>
              <a:rPr lang="en-GB" sz="2200">
                <a:highlight>
                  <a:srgbClr val="FFFFFF"/>
                </a:highlight>
              </a:rPr>
              <a:t> tuần tự (theo trục thời gian) và </a:t>
            </a:r>
            <a:r>
              <a:rPr lang="en-GB" sz="2200">
                <a:highlight>
                  <a:srgbClr val="FFFFFF"/>
                </a:highlight>
              </a:rPr>
              <a:t>sơ đồ</a:t>
            </a:r>
            <a:r>
              <a:rPr lang="en-GB" sz="2200">
                <a:highlight>
                  <a:srgbClr val="FFFFFF"/>
                </a:highlight>
              </a:rPr>
              <a:t> giao tiếp (số thứ tự) tương ứng.</a:t>
            </a:r>
            <a:endParaRPr sz="2200">
              <a:highlight>
                <a:srgbClr val="FFFFFF"/>
              </a:highlight>
            </a:endParaRPr>
          </a:p>
          <a:p>
            <a:pPr indent="-3683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AutoNum type="arabicPeriod"/>
            </a:pPr>
            <a:r>
              <a:rPr lang="en-GB" sz="2200">
                <a:highlight>
                  <a:srgbClr val="FFFFFF"/>
                </a:highlight>
              </a:rPr>
              <a:t>Các bước chuyển trạng thái trong </a:t>
            </a:r>
            <a:r>
              <a:rPr lang="en-GB" sz="2200">
                <a:highlight>
                  <a:srgbClr val="FFFFFF"/>
                </a:highlight>
              </a:rPr>
              <a:t>sơ đồ</a:t>
            </a:r>
            <a:r>
              <a:rPr lang="en-GB" sz="2200">
                <a:highlight>
                  <a:srgbClr val="FFFFFF"/>
                </a:highlight>
              </a:rPr>
              <a:t> máy trạng thái phải gắn kết với các thông điệp trong các </a:t>
            </a:r>
            <a:r>
              <a:rPr lang="en-GB" sz="2200">
                <a:highlight>
                  <a:srgbClr val="FFFFFF"/>
                </a:highlight>
              </a:rPr>
              <a:t>sơ đồ</a:t>
            </a:r>
            <a:r>
              <a:rPr lang="en-GB" sz="2200">
                <a:highlight>
                  <a:srgbClr val="FFFFFF"/>
                </a:highlight>
              </a:rPr>
              <a:t> tương tác (tuần tự hoặc giao tiếp).</a:t>
            </a:r>
            <a:endParaRPr sz="2200">
              <a:highlight>
                <a:srgbClr val="FFFFFF"/>
              </a:highlight>
            </a:endParaRPr>
          </a:p>
          <a:p>
            <a:pPr indent="-3683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AutoNum type="arabicPeriod"/>
            </a:pPr>
            <a:r>
              <a:rPr lang="en-GB" sz="2200">
                <a:highlight>
                  <a:srgbClr val="FFFFFF"/>
                </a:highlight>
              </a:rPr>
              <a:t>Các g</a:t>
            </a:r>
            <a:r>
              <a:rPr lang="en-GB" sz="2200">
                <a:highlight>
                  <a:srgbClr val="FFFFFF"/>
                </a:highlight>
              </a:rPr>
              <a:t>iá trị trong ma trận CRUD(E) phải gắn kết với các thông điệp trong các </a:t>
            </a:r>
            <a:r>
              <a:rPr lang="en-GB" sz="2200">
                <a:highlight>
                  <a:srgbClr val="FFFFFF"/>
                </a:highlight>
              </a:rPr>
              <a:t>sơ đồ</a:t>
            </a:r>
            <a:r>
              <a:rPr lang="en-GB" sz="2200">
                <a:highlight>
                  <a:srgbClr val="FFFFFF"/>
                </a:highlight>
              </a:rPr>
              <a:t> tương tác.</a:t>
            </a:r>
            <a:endParaRPr sz="2200">
              <a:highlight>
                <a:srgbClr val="FFFFFF"/>
              </a:highlight>
            </a:endParaRPr>
          </a:p>
        </p:txBody>
      </p:sp>
      <p:sp>
        <p:nvSpPr>
          <p:cNvPr id="149" name="Google Shape;149;p23"/>
          <p:cNvSpPr txBox="1"/>
          <p:nvPr>
            <p:ph type="title"/>
          </p:nvPr>
        </p:nvSpPr>
        <p:spPr>
          <a:xfrm>
            <a:off x="311700" y="1869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Cân bằng các mô hình hành vi</a:t>
            </a:r>
            <a:endParaRPr/>
          </a:p>
        </p:txBody>
      </p:sp>
      <p:sp>
        <p:nvSpPr>
          <p:cNvPr id="150" name="Google Shape;150;p23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4"/>
          <p:cNvSpPr txBox="1"/>
          <p:nvPr>
            <p:ph type="title"/>
          </p:nvPr>
        </p:nvSpPr>
        <p:spPr>
          <a:xfrm>
            <a:off x="311700" y="1869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Các mô hình chức năng &amp; cấu trúc</a:t>
            </a:r>
            <a:endParaRPr/>
          </a:p>
        </p:txBody>
      </p:sp>
      <p:sp>
        <p:nvSpPr>
          <p:cNvPr id="156" name="Google Shape;156;p24"/>
          <p:cNvSpPr txBox="1"/>
          <p:nvPr>
            <p:ph idx="1" type="body"/>
          </p:nvPr>
        </p:nvSpPr>
        <p:spPr>
          <a:xfrm>
            <a:off x="311700" y="874800"/>
            <a:ext cx="8520600" cy="549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just"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-GB"/>
              <a:t>Mỗi lớp trên </a:t>
            </a:r>
            <a:r>
              <a:rPr lang="en-GB"/>
              <a:t>sơ đồ</a:t>
            </a:r>
            <a:r>
              <a:rPr lang="en-GB"/>
              <a:t> lớp phải được gắn với ít nhất 1 ca sử dụng</a:t>
            </a:r>
            <a:endParaRPr/>
          </a:p>
          <a:p>
            <a:pPr indent="-381000" lvl="0" marL="457200" rtl="0" algn="just"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-GB"/>
              <a:t>Mỗi hoạt động trong </a:t>
            </a:r>
            <a:r>
              <a:rPr lang="en-GB"/>
              <a:t>sơ đồ</a:t>
            </a:r>
            <a:r>
              <a:rPr lang="en-GB"/>
              <a:t> hoạt động và mỗi sự kiện trong đặc tả ca sử dụng phải được gắn kết với ít nhất 1 phương thức trên </a:t>
            </a:r>
            <a:r>
              <a:rPr lang="en-GB"/>
              <a:t>sơ đồ</a:t>
            </a:r>
            <a:r>
              <a:rPr lang="en-GB"/>
              <a:t> lớp.</a:t>
            </a:r>
            <a:endParaRPr/>
          </a:p>
          <a:p>
            <a:pPr indent="-381000" lvl="0" marL="457200" rtl="0" algn="just"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-GB"/>
              <a:t>Mỗi nút đối tượng trên </a:t>
            </a:r>
            <a:r>
              <a:rPr lang="en-GB"/>
              <a:t>sơ đồ</a:t>
            </a:r>
            <a:r>
              <a:rPr lang="en-GB"/>
              <a:t> hoạt động phải là 1 thuộc tính hoặc 1 đối tượng thuộc lớp có trong </a:t>
            </a:r>
            <a:r>
              <a:rPr lang="en-GB"/>
              <a:t>sơ đồ</a:t>
            </a:r>
            <a:r>
              <a:rPr lang="en-GB"/>
              <a:t> lớp</a:t>
            </a:r>
            <a:endParaRPr/>
          </a:p>
          <a:p>
            <a:pPr indent="-381000" lvl="0" marL="457200" rtl="0" algn="just"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-GB"/>
              <a:t>Mỗi thuộc tính hoặc 1 mối quan hệ trên </a:t>
            </a:r>
            <a:r>
              <a:rPr lang="en-GB"/>
              <a:t>sơ đồ</a:t>
            </a:r>
            <a:r>
              <a:rPr lang="en-GB"/>
              <a:t> lớp phải được gắn kết với ít nhất 1 chủ thể</a:t>
            </a:r>
            <a:r>
              <a:rPr lang="en-GB"/>
              <a:t> hoặc đối tượng</a:t>
            </a:r>
            <a:r>
              <a:rPr lang="en-GB"/>
              <a:t> của 1 sự kiện trong đặc tả ca sử dụng.</a:t>
            </a:r>
            <a:endParaRPr/>
          </a:p>
        </p:txBody>
      </p:sp>
      <p:sp>
        <p:nvSpPr>
          <p:cNvPr id="157" name="Google Shape;157;p2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5"/>
          <p:cNvSpPr txBox="1"/>
          <p:nvPr>
            <p:ph type="title"/>
          </p:nvPr>
        </p:nvSpPr>
        <p:spPr>
          <a:xfrm>
            <a:off x="311700" y="1869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Các mô hình c</a:t>
            </a:r>
            <a:r>
              <a:rPr lang="en-GB"/>
              <a:t>hức năng &amp; h</a:t>
            </a:r>
            <a:r>
              <a:rPr lang="en-GB"/>
              <a:t>ành vi</a:t>
            </a:r>
            <a:endParaRPr/>
          </a:p>
        </p:txBody>
      </p:sp>
      <p:sp>
        <p:nvSpPr>
          <p:cNvPr id="163" name="Google Shape;163;p25"/>
          <p:cNvSpPr txBox="1"/>
          <p:nvPr>
            <p:ph idx="1" type="body"/>
          </p:nvPr>
        </p:nvSpPr>
        <p:spPr>
          <a:xfrm>
            <a:off x="311700" y="874800"/>
            <a:ext cx="8520600" cy="549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just"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-GB"/>
              <a:t>Các </a:t>
            </a:r>
            <a:r>
              <a:rPr lang="en-GB"/>
              <a:t>sơ đồ</a:t>
            </a:r>
            <a:r>
              <a:rPr lang="en-GB"/>
              <a:t> tương tác phải được gắn với ca sử dụng</a:t>
            </a:r>
            <a:endParaRPr/>
          </a:p>
          <a:p>
            <a:pPr indent="-381000" lvl="0" marL="457200" rtl="0" algn="just"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-GB"/>
              <a:t>Các tác nhân trong các </a:t>
            </a:r>
            <a:r>
              <a:rPr lang="en-GB"/>
              <a:t>sơ đồ</a:t>
            </a:r>
            <a:r>
              <a:rPr lang="en-GB"/>
              <a:t> tương tác hoặc ma trận CRUD(E) phải được gắn với các tác nhân trong ca sử dụng</a:t>
            </a:r>
            <a:endParaRPr/>
          </a:p>
          <a:p>
            <a:pPr indent="-381000" lvl="0" marL="457200" rtl="0" algn="just"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-GB"/>
              <a:t>Các thông điệp trong các </a:t>
            </a:r>
            <a:r>
              <a:rPr lang="en-GB"/>
              <a:t>sơ đồ</a:t>
            </a:r>
            <a:r>
              <a:rPr lang="en-GB"/>
              <a:t> tương tác, các bước chuyển trong máy trạng thái và các giá trị trong ma trận CRUD(E) phải gắn kết với các hoạt động trong </a:t>
            </a:r>
            <a:r>
              <a:rPr lang="en-GB"/>
              <a:t>sơ đồ</a:t>
            </a:r>
            <a:r>
              <a:rPr lang="en-GB"/>
              <a:t> hoạt động và các sự kiện trong đặc tả ca sử dụng.</a:t>
            </a:r>
            <a:endParaRPr/>
          </a:p>
          <a:p>
            <a:pPr indent="-381000" lvl="0" marL="457200" rtl="0" algn="just"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-GB"/>
              <a:t>Tất cả các đối tượng phức tạp trong các </a:t>
            </a:r>
            <a:r>
              <a:rPr lang="en-GB"/>
              <a:t>sơ đồ</a:t>
            </a:r>
            <a:r>
              <a:rPr lang="en-GB"/>
              <a:t> hoạt động phải được biểu diễn bằng </a:t>
            </a:r>
            <a:r>
              <a:rPr lang="en-GB"/>
              <a:t>sơ đồ</a:t>
            </a:r>
            <a:r>
              <a:rPr lang="en-GB"/>
              <a:t> máy trạng thái.</a:t>
            </a:r>
            <a:endParaRPr/>
          </a:p>
        </p:txBody>
      </p:sp>
      <p:sp>
        <p:nvSpPr>
          <p:cNvPr id="164" name="Google Shape;164;p25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6"/>
          <p:cNvSpPr txBox="1"/>
          <p:nvPr>
            <p:ph type="title"/>
          </p:nvPr>
        </p:nvSpPr>
        <p:spPr>
          <a:xfrm>
            <a:off x="311700" y="1869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Các mô hình cấu trúc</a:t>
            </a:r>
            <a:r>
              <a:rPr lang="en-GB"/>
              <a:t> &amp; hành vi</a:t>
            </a:r>
            <a:endParaRPr/>
          </a:p>
        </p:txBody>
      </p:sp>
      <p:sp>
        <p:nvSpPr>
          <p:cNvPr id="170" name="Google Shape;170;p26"/>
          <p:cNvSpPr txBox="1"/>
          <p:nvPr>
            <p:ph idx="1" type="body"/>
          </p:nvPr>
        </p:nvSpPr>
        <p:spPr>
          <a:xfrm>
            <a:off x="311700" y="874800"/>
            <a:ext cx="8520600" cy="549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AutoNum type="arabicPeriod"/>
            </a:pPr>
            <a:r>
              <a:rPr lang="en-GB" sz="2200"/>
              <a:t>S</a:t>
            </a:r>
            <a:r>
              <a:rPr lang="en-GB" sz="2200"/>
              <a:t>ơ đồ</a:t>
            </a:r>
            <a:r>
              <a:rPr lang="en-GB" sz="2200"/>
              <a:t> máy trạng thái phải được gắn với đối tượng thuộc lớp có trong </a:t>
            </a:r>
            <a:r>
              <a:rPr lang="en-GB" sz="2200"/>
              <a:t>sơ đồ</a:t>
            </a:r>
            <a:r>
              <a:rPr lang="en-GB" sz="2200"/>
              <a:t> lớp</a:t>
            </a:r>
            <a:endParaRPr sz="2200"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AutoNum type="arabicPeriod"/>
            </a:pPr>
            <a:r>
              <a:rPr lang="en-GB" sz="2200"/>
              <a:t>Các đối tượng trong các </a:t>
            </a:r>
            <a:r>
              <a:rPr lang="en-GB" sz="2200"/>
              <a:t>sơ đồ</a:t>
            </a:r>
            <a:r>
              <a:rPr lang="en-GB" sz="2200"/>
              <a:t> tương tác phải thuộc lớp có trong </a:t>
            </a:r>
            <a:r>
              <a:rPr lang="en-GB" sz="2200"/>
              <a:t>sơ đồ</a:t>
            </a:r>
            <a:r>
              <a:rPr lang="en-GB" sz="2200"/>
              <a:t> lớp.</a:t>
            </a:r>
            <a:endParaRPr sz="2200"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AutoNum type="arabicPeriod"/>
            </a:pPr>
            <a:r>
              <a:rPr lang="en-GB" sz="2200"/>
              <a:t>Các thông điệp trong các </a:t>
            </a:r>
            <a:r>
              <a:rPr lang="en-GB" sz="2200"/>
              <a:t>sơ đồ</a:t>
            </a:r>
            <a:r>
              <a:rPr lang="en-GB" sz="2200"/>
              <a:t> tương tác và các bước chuyển trong </a:t>
            </a:r>
            <a:r>
              <a:rPr lang="en-GB" sz="2200"/>
              <a:t>sơ đồ</a:t>
            </a:r>
            <a:r>
              <a:rPr lang="en-GB" sz="2200"/>
              <a:t> máy trạng thái phải được gắn với phương thức trong lớp.</a:t>
            </a:r>
            <a:endParaRPr sz="2200"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AutoNum type="arabicPeriod"/>
            </a:pPr>
            <a:r>
              <a:rPr lang="en-GB" sz="2200"/>
              <a:t>Các trạng thái của đối tượng trong </a:t>
            </a:r>
            <a:r>
              <a:rPr lang="en-GB" sz="2200"/>
              <a:t>sơ đồ</a:t>
            </a:r>
            <a:r>
              <a:rPr lang="en-GB" sz="2200"/>
              <a:t> máy trạng thái phải được biểu diễn bằng các thành phần trong sơ đồ lớp.</a:t>
            </a:r>
            <a:endParaRPr sz="2200"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AutoNum type="arabicPeriod"/>
            </a:pPr>
            <a:r>
              <a:rPr lang="en-GB" sz="2200"/>
              <a:t>Các đối tượng trong ma trận CRUD(E) phải thuộc lớp có trong  sơ đồ lớp.</a:t>
            </a:r>
            <a:endParaRPr sz="2200"/>
          </a:p>
        </p:txBody>
      </p:sp>
      <p:sp>
        <p:nvSpPr>
          <p:cNvPr id="171" name="Google Shape;171;p26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7"/>
          <p:cNvSpPr txBox="1"/>
          <p:nvPr>
            <p:ph type="title"/>
          </p:nvPr>
        </p:nvSpPr>
        <p:spPr>
          <a:xfrm>
            <a:off x="311700" y="1869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Nội dung</a:t>
            </a:r>
            <a:endParaRPr/>
          </a:p>
        </p:txBody>
      </p:sp>
      <p:sp>
        <p:nvSpPr>
          <p:cNvPr id="177" name="Google Shape;177;p27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78" name="Google Shape;178;p27"/>
          <p:cNvSpPr txBox="1"/>
          <p:nvPr>
            <p:ph idx="1" type="body"/>
          </p:nvPr>
        </p:nvSpPr>
        <p:spPr>
          <a:xfrm>
            <a:off x="311700" y="874800"/>
            <a:ext cx="8520600" cy="549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/>
              <a:t>Cân bằng các mô hình phân tích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/>
              <a:t>Lựa chọn chiến lược thiết kế</a:t>
            </a:r>
            <a:endParaRPr/>
          </a:p>
        </p:txBody>
      </p:sp>
      <p:sp>
        <p:nvSpPr>
          <p:cNvPr id="179" name="Google Shape;179;p27"/>
          <p:cNvSpPr/>
          <p:nvPr/>
        </p:nvSpPr>
        <p:spPr>
          <a:xfrm>
            <a:off x="357900" y="1232160"/>
            <a:ext cx="6629700" cy="831900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8"/>
          <p:cNvSpPr txBox="1"/>
          <p:nvPr>
            <p:ph type="title"/>
          </p:nvPr>
        </p:nvSpPr>
        <p:spPr>
          <a:xfrm>
            <a:off x="311700" y="1869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Các chiến lược thiết kế</a:t>
            </a:r>
            <a:endParaRPr/>
          </a:p>
        </p:txBody>
      </p:sp>
      <p:sp>
        <p:nvSpPr>
          <p:cNvPr id="185" name="Google Shape;185;p28"/>
          <p:cNvSpPr txBox="1"/>
          <p:nvPr>
            <p:ph idx="1" type="body"/>
          </p:nvPr>
        </p:nvSpPr>
        <p:spPr>
          <a:xfrm>
            <a:off x="311700" y="874800"/>
            <a:ext cx="8520600" cy="549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/>
              <a:t>Phát triển riêng - Xây dựng </a:t>
            </a:r>
            <a:r>
              <a:rPr lang="en-GB"/>
              <a:t>hoàn toàn </a:t>
            </a:r>
            <a:r>
              <a:rPr lang="en-GB"/>
              <a:t>trong phạm vi nội bộ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/>
              <a:t>Mua gói ứng dụng</a:t>
            </a:r>
            <a:endParaRPr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/>
              <a:t>Các ứng dụng văn phòng (trình soạn thảo, bảng tính, v.v..)</a:t>
            </a:r>
            <a:endParaRPr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/>
              <a:t>Hệ thống quản lý nhân sự, </a:t>
            </a:r>
            <a:r>
              <a:rPr lang="en-GB"/>
              <a:t>quản lý kinh doanh, </a:t>
            </a:r>
            <a:r>
              <a:rPr lang="en-GB"/>
              <a:t>v.v..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/>
              <a:t>Tích hợp hệ thống</a:t>
            </a:r>
            <a:endParaRPr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/>
              <a:t>Hệ thống bán hàng và hệ thống quản lý hóa đơn, v.v..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/>
              <a:t>Thuê đối tác (gia công phần mềm)</a:t>
            </a:r>
            <a:endParaRPr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/>
              <a:t>Hợp tác phát triển các tính năng không yêu cầu giữ bí mật</a:t>
            </a:r>
            <a:endParaRPr/>
          </a:p>
        </p:txBody>
      </p:sp>
      <p:sp>
        <p:nvSpPr>
          <p:cNvPr id="186" name="Google Shape;186;p28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9"/>
          <p:cNvSpPr txBox="1"/>
          <p:nvPr>
            <p:ph type="title"/>
          </p:nvPr>
        </p:nvSpPr>
        <p:spPr>
          <a:xfrm>
            <a:off x="311700" y="1869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Phát triển riêng</a:t>
            </a:r>
            <a:endParaRPr/>
          </a:p>
        </p:txBody>
      </p:sp>
      <p:sp>
        <p:nvSpPr>
          <p:cNvPr id="192" name="Google Shape;192;p29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93" name="Google Shape;193;p29"/>
          <p:cNvSpPr txBox="1"/>
          <p:nvPr>
            <p:ph idx="1" type="body"/>
          </p:nvPr>
        </p:nvSpPr>
        <p:spPr>
          <a:xfrm>
            <a:off x="311700" y="874800"/>
            <a:ext cx="8520600" cy="549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>
                <a:highlight>
                  <a:srgbClr val="FFFFFF"/>
                </a:highlight>
              </a:rPr>
              <a:t>Có thể đáp ứng những yêu cầu chuyên sâu.</a:t>
            </a:r>
            <a:endParaRPr>
              <a:highlight>
                <a:srgbClr val="FFFFFF"/>
              </a:highlight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>
                <a:highlight>
                  <a:srgbClr val="FFFFFF"/>
                </a:highlight>
              </a:rPr>
              <a:t>Có thể linh động và sáng tạo trong giải quyết vấn đề.</a:t>
            </a:r>
            <a:endParaRPr>
              <a:highlight>
                <a:srgbClr val="FFFFFF"/>
              </a:highlight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>
                <a:highlight>
                  <a:srgbClr val="FFFFFF"/>
                </a:highlight>
              </a:rPr>
              <a:t>Dễ dàng thay đổi các thành phần.</a:t>
            </a:r>
            <a:endParaRPr>
              <a:highlight>
                <a:srgbClr val="FFFFFF"/>
              </a:highlight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>
                <a:highlight>
                  <a:srgbClr val="FFFFFF"/>
                </a:highlight>
              </a:rPr>
              <a:t>Phát triển các kỹ năng cá nhân.</a:t>
            </a:r>
            <a:endParaRPr>
              <a:highlight>
                <a:srgbClr val="FFFFFF"/>
              </a:highlight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>
                <a:highlight>
                  <a:srgbClr val="FFFFFF"/>
                </a:highlight>
              </a:rPr>
              <a:t>Phụ thuộc vào năng lực của ban CNTT.</a:t>
            </a:r>
            <a:endParaRPr>
              <a:highlight>
                <a:srgbClr val="FFFFFF"/>
              </a:highlight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>
                <a:highlight>
                  <a:srgbClr val="FFFFFF"/>
                </a:highlight>
              </a:rPr>
              <a:t>Có thể tạo thêm rủi ro đáng kể.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0"/>
          <p:cNvSpPr txBox="1"/>
          <p:nvPr>
            <p:ph type="title"/>
          </p:nvPr>
        </p:nvSpPr>
        <p:spPr>
          <a:xfrm>
            <a:off x="311700" y="1869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Mua gói phần mềm</a:t>
            </a:r>
            <a:endParaRPr/>
          </a:p>
        </p:txBody>
      </p:sp>
      <p:sp>
        <p:nvSpPr>
          <p:cNvPr id="199" name="Google Shape;199;p30"/>
          <p:cNvSpPr txBox="1"/>
          <p:nvPr>
            <p:ph idx="1" type="body"/>
          </p:nvPr>
        </p:nvSpPr>
        <p:spPr>
          <a:xfrm>
            <a:off x="311700" y="874800"/>
            <a:ext cx="8520600" cy="549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>
                <a:highlight>
                  <a:srgbClr val="FFFFFF"/>
                </a:highlight>
              </a:rPr>
              <a:t>Mua phần mềm </a:t>
            </a:r>
            <a:r>
              <a:rPr lang="en-GB">
                <a:highlight>
                  <a:srgbClr val="FFFFFF"/>
                </a:highlight>
              </a:rPr>
              <a:t>có </a:t>
            </a:r>
            <a:r>
              <a:rPr lang="en-GB">
                <a:highlight>
                  <a:srgbClr val="FFFFFF"/>
                </a:highlight>
              </a:rPr>
              <a:t>trên thị trường (ví dụ phần mềm kế toán).</a:t>
            </a:r>
            <a:endParaRPr>
              <a:highlight>
                <a:srgbClr val="FFFFFF"/>
              </a:highlight>
            </a:endParaRPr>
          </a:p>
          <a:p>
            <a:pPr indent="-3810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>
                <a:highlight>
                  <a:schemeClr val="lt1"/>
                </a:highlight>
              </a:rPr>
              <a:t>C</a:t>
            </a:r>
            <a:r>
              <a:rPr lang="en-GB">
                <a:highlight>
                  <a:schemeClr val="lt1"/>
                </a:highlight>
              </a:rPr>
              <a:t>ó phạm vi từ 1 thành phần, 1 công cụ đến cả 1 hệ thống thông tin hoàn thiện.</a:t>
            </a:r>
            <a:endParaRPr>
              <a:highlight>
                <a:srgbClr val="FFFFFF"/>
              </a:highlight>
            </a:endParaRPr>
          </a:p>
          <a:p>
            <a:pPr indent="-3810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>
                <a:highlight>
                  <a:srgbClr val="FFFFFF"/>
                </a:highlight>
              </a:rPr>
              <a:t>Có thể hiệu quả nếu phù hợp với nghiệp vụ</a:t>
            </a:r>
            <a:endParaRPr>
              <a:highlight>
                <a:srgbClr val="FFFFFF"/>
              </a:highlight>
            </a:endParaRPr>
          </a:p>
          <a:p>
            <a:pPr indent="-3810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>
                <a:highlight>
                  <a:srgbClr val="FFFFFF"/>
                </a:highlight>
              </a:rPr>
              <a:t>Có thể đã được kiểm tra và thử nghiệm kỹ.</a:t>
            </a:r>
            <a:endParaRPr>
              <a:highlight>
                <a:srgbClr val="FFFFFF"/>
              </a:highlight>
            </a:endParaRPr>
          </a:p>
          <a:p>
            <a:pPr indent="-3810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>
                <a:highlight>
                  <a:srgbClr val="FFFFFF"/>
                </a:highlight>
              </a:rPr>
              <a:t>Nhưng có thể phải chấp nhận chức năng như được cung cấp.</a:t>
            </a:r>
            <a:endParaRPr>
              <a:highlight>
                <a:srgbClr val="FFFFFF"/>
              </a:highlight>
            </a:endParaRPr>
          </a:p>
          <a:p>
            <a:pPr indent="-368300" lvl="1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>
                <a:highlight>
                  <a:srgbClr val="FFFFFF"/>
                </a:highlight>
              </a:rPr>
              <a:t>Rủi ro phải thay đổi quy trình nghiệp vụ.</a:t>
            </a:r>
            <a:endParaRPr>
              <a:highlight>
                <a:srgbClr val="FFFFFF"/>
              </a:highlight>
            </a:endParaRPr>
          </a:p>
          <a:p>
            <a:pPr indent="-3810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>
                <a:highlight>
                  <a:srgbClr val="FFFFFF"/>
                </a:highlight>
              </a:rPr>
              <a:t>Có thể phải tùy chỉnh đáng kể hoặc phát triển các thành phần ghép nối/thay thế.</a:t>
            </a:r>
            <a:endParaRPr/>
          </a:p>
        </p:txBody>
      </p:sp>
      <p:sp>
        <p:nvSpPr>
          <p:cNvPr id="200" name="Google Shape;200;p3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1"/>
          <p:cNvSpPr txBox="1"/>
          <p:nvPr>
            <p:ph type="title"/>
          </p:nvPr>
        </p:nvSpPr>
        <p:spPr>
          <a:xfrm>
            <a:off x="311700" y="1869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Tích hợp hệ thống</a:t>
            </a:r>
            <a:endParaRPr/>
          </a:p>
        </p:txBody>
      </p:sp>
      <p:sp>
        <p:nvSpPr>
          <p:cNvPr id="206" name="Google Shape;206;p31"/>
          <p:cNvSpPr txBox="1"/>
          <p:nvPr>
            <p:ph idx="1" type="body"/>
          </p:nvPr>
        </p:nvSpPr>
        <p:spPr>
          <a:xfrm>
            <a:off x="311700" y="874800"/>
            <a:ext cx="8520600" cy="549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>
                <a:highlight>
                  <a:srgbClr val="FFFFFF"/>
                </a:highlight>
              </a:rPr>
              <a:t>Kết hợp các gói, hệ thống cũ, và phần mềm mới</a:t>
            </a:r>
            <a:endParaRPr>
              <a:highlight>
                <a:srgbClr val="FFFFFF"/>
              </a:highlight>
            </a:endParaRPr>
          </a:p>
          <a:p>
            <a:pPr indent="-3683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>
                <a:highlight>
                  <a:srgbClr val="FFFFFF"/>
                </a:highlight>
              </a:rPr>
              <a:t>Không hiếm trường hợp mua phần mềm có sẵn và thuê đối tác tích hợp nó với hệ thống hiện có</a:t>
            </a:r>
            <a:endParaRPr>
              <a:highlight>
                <a:srgbClr val="FFFFFF"/>
              </a:highlight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>
                <a:highlight>
                  <a:srgbClr val="FFFFFF"/>
                </a:highlight>
              </a:rPr>
              <a:t>Thách thức chủ yếu là tích hợp dữ liệu</a:t>
            </a:r>
            <a:endParaRPr>
              <a:highlight>
                <a:srgbClr val="FFFFFF"/>
              </a:highlight>
            </a:endParaRPr>
          </a:p>
          <a:p>
            <a:pPr indent="-3683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>
                <a:highlight>
                  <a:srgbClr val="FFFFFF"/>
                </a:highlight>
              </a:rPr>
              <a:t>Có thể yêu cầu chuyển đổi dữ liệu</a:t>
            </a:r>
            <a:endParaRPr>
              <a:highlight>
                <a:srgbClr val="FFFFFF"/>
              </a:highlight>
            </a:endParaRPr>
          </a:p>
          <a:p>
            <a:pPr indent="-3683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>
                <a:highlight>
                  <a:srgbClr val="FFFFFF"/>
                </a:highlight>
              </a:rPr>
              <a:t>Có thể phải sử dụng gói phần mềm bổ xung để viết dữ liệu theo cùng định dạng với hệ thống cũ</a:t>
            </a:r>
            <a:endParaRPr>
              <a:highlight>
                <a:srgbClr val="FFFFFF"/>
              </a:highlight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>
                <a:highlight>
                  <a:srgbClr val="FFFFFF"/>
                </a:highlight>
              </a:rPr>
              <a:t>Kỹ thuật đóng gói</a:t>
            </a:r>
            <a:endParaRPr>
              <a:highlight>
                <a:srgbClr val="FFFFFF"/>
              </a:highlight>
            </a:endParaRPr>
          </a:p>
          <a:p>
            <a:pPr indent="-3683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>
                <a:highlight>
                  <a:srgbClr val="FFFFFF"/>
                </a:highlight>
              </a:rPr>
              <a:t>Đóng gói hệ thống cũ và cung cấp các API để hệ thống mới có thể tương tác với nó.</a:t>
            </a:r>
            <a:endParaRPr>
              <a:highlight>
                <a:srgbClr val="FFFFFF"/>
              </a:highlight>
            </a:endParaRPr>
          </a:p>
          <a:p>
            <a:pPr indent="-3683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>
                <a:highlight>
                  <a:srgbClr val="FFFFFF"/>
                </a:highlight>
              </a:rPr>
              <a:t>Tránh can thiệp vào hệ thống hiện có.</a:t>
            </a:r>
            <a:endParaRPr>
              <a:highlight>
                <a:srgbClr val="FFFFFF"/>
              </a:highlight>
            </a:endParaRPr>
          </a:p>
        </p:txBody>
      </p:sp>
      <p:sp>
        <p:nvSpPr>
          <p:cNvPr id="207" name="Google Shape;207;p3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2"/>
          <p:cNvSpPr txBox="1"/>
          <p:nvPr>
            <p:ph type="title"/>
          </p:nvPr>
        </p:nvSpPr>
        <p:spPr>
          <a:xfrm>
            <a:off x="311700" y="1869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Gia công phần mềm</a:t>
            </a:r>
            <a:endParaRPr/>
          </a:p>
        </p:txBody>
      </p:sp>
      <p:sp>
        <p:nvSpPr>
          <p:cNvPr id="213" name="Google Shape;213;p32"/>
          <p:cNvSpPr txBox="1"/>
          <p:nvPr>
            <p:ph idx="1" type="body"/>
          </p:nvPr>
        </p:nvSpPr>
        <p:spPr>
          <a:xfrm>
            <a:off x="311700" y="874800"/>
            <a:ext cx="8520600" cy="549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>
                <a:highlight>
                  <a:srgbClr val="FFFFFF"/>
                </a:highlight>
              </a:rPr>
              <a:t>Thuê </a:t>
            </a:r>
            <a:r>
              <a:rPr lang="en-GB">
                <a:highlight>
                  <a:srgbClr val="FFFFFF"/>
                </a:highlight>
              </a:rPr>
              <a:t>1 công ty - đối tác </a:t>
            </a:r>
            <a:r>
              <a:rPr lang="en-GB">
                <a:highlight>
                  <a:srgbClr val="FFFFFF"/>
                </a:highlight>
              </a:rPr>
              <a:t>xây dựng hệ thống</a:t>
            </a:r>
            <a:endParaRPr>
              <a:highlight>
                <a:srgbClr val="FFFFFF"/>
              </a:highlight>
            </a:endParaRPr>
          </a:p>
          <a:p>
            <a:pPr indent="-3810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>
                <a:highlight>
                  <a:schemeClr val="lt1"/>
                </a:highlight>
              </a:rPr>
              <a:t>C</a:t>
            </a:r>
            <a:r>
              <a:rPr lang="en-GB">
                <a:highlight>
                  <a:schemeClr val="lt1"/>
                </a:highlight>
              </a:rPr>
              <a:t>ó thể mở rộng các tài nguyên và kỹ năng hiện có.</a:t>
            </a:r>
            <a:endParaRPr>
              <a:highlight>
                <a:srgbClr val="FFFFFF"/>
              </a:highlight>
            </a:endParaRPr>
          </a:p>
          <a:p>
            <a:pPr indent="-3810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>
                <a:highlight>
                  <a:srgbClr val="FFFFFF"/>
                </a:highlight>
              </a:rPr>
              <a:t>Yêu cầu uy tín, trao đổi thông tin 2 chiều.</a:t>
            </a:r>
            <a:endParaRPr>
              <a:highlight>
                <a:srgbClr val="FFFFFF"/>
              </a:highlight>
            </a:endParaRPr>
          </a:p>
          <a:p>
            <a:pPr indent="-3810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>
                <a:highlight>
                  <a:srgbClr val="FFFFFF"/>
                </a:highlight>
              </a:rPr>
              <a:t>Nhưng có rủi ro mất kiểm soát trong chia sẻ thông tin quan trọng, chuyển giao công nghệ.</a:t>
            </a:r>
            <a:endParaRPr>
              <a:highlight>
                <a:srgbClr val="FFFFFF"/>
              </a:highlight>
            </a:endParaRPr>
          </a:p>
          <a:p>
            <a:pPr indent="-3810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>
                <a:highlight>
                  <a:srgbClr val="FFFFFF"/>
                </a:highlight>
              </a:rPr>
              <a:t>Cần thận trọng lựa chọn đối tác, thận trọng chuẩn bị hợp đồng và phương thức thanh toán.</a:t>
            </a:r>
            <a:endParaRPr>
              <a:highlight>
                <a:srgbClr val="FFFFFF"/>
              </a:highlight>
            </a:endParaRPr>
          </a:p>
          <a:p>
            <a:pPr indent="0" lvl="0" marL="0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i="1" lang="en-GB">
                <a:solidFill>
                  <a:srgbClr val="B45F06"/>
                </a:solidFill>
                <a:highlight>
                  <a:schemeClr val="lt1"/>
                </a:highlight>
              </a:rPr>
              <a:t>Không thuê gia công những gì không nắm vững</a:t>
            </a:r>
            <a:endParaRPr i="1">
              <a:solidFill>
                <a:srgbClr val="B45F06"/>
              </a:solidFill>
            </a:endParaRPr>
          </a:p>
        </p:txBody>
      </p:sp>
      <p:sp>
        <p:nvSpPr>
          <p:cNvPr id="214" name="Google Shape;214;p3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3"/>
          <p:cNvSpPr txBox="1"/>
          <p:nvPr>
            <p:ph type="title"/>
          </p:nvPr>
        </p:nvSpPr>
        <p:spPr>
          <a:xfrm>
            <a:off x="311700" y="1869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Gia công phần mềm</a:t>
            </a:r>
            <a:r>
              <a:rPr baseline="-25000" lang="en-GB"/>
              <a:t>(2)</a:t>
            </a:r>
            <a:endParaRPr baseline="-25000"/>
          </a:p>
        </p:txBody>
      </p:sp>
      <p:sp>
        <p:nvSpPr>
          <p:cNvPr id="220" name="Google Shape;220;p33"/>
          <p:cNvSpPr txBox="1"/>
          <p:nvPr>
            <p:ph idx="1" type="body"/>
          </p:nvPr>
        </p:nvSpPr>
        <p:spPr>
          <a:xfrm>
            <a:off x="311700" y="874800"/>
            <a:ext cx="8520600" cy="549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highlight>
                  <a:srgbClr val="FFFFFF"/>
                </a:highlight>
              </a:rPr>
              <a:t>C</a:t>
            </a:r>
            <a:r>
              <a:rPr lang="en-GB">
                <a:highlight>
                  <a:srgbClr val="FFFFFF"/>
                </a:highlight>
              </a:rPr>
              <a:t>ác dạng hợp đồng:</a:t>
            </a:r>
            <a:endParaRPr>
              <a:highlight>
                <a:srgbClr val="FFFFFF"/>
              </a:highlight>
            </a:endParaRPr>
          </a:p>
          <a:p>
            <a:pPr indent="-3810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>
                <a:highlight>
                  <a:srgbClr val="FFFFFF"/>
                </a:highlight>
              </a:rPr>
              <a:t>Thời gian-và-Thỏa thuận: Thanh toán theo thời gian và các khoản chi</a:t>
            </a:r>
            <a:endParaRPr>
              <a:highlight>
                <a:srgbClr val="FFFFFF"/>
              </a:highlight>
            </a:endParaRPr>
          </a:p>
          <a:p>
            <a:pPr indent="-3810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>
                <a:highlight>
                  <a:srgbClr val="FFFFFF"/>
                </a:highlight>
              </a:rPr>
              <a:t>Giá cố định: Thanh toán theo giá như đã thỏa thuận</a:t>
            </a:r>
            <a:endParaRPr>
              <a:highlight>
                <a:srgbClr val="FFFFFF"/>
              </a:highlight>
            </a:endParaRPr>
          </a:p>
          <a:p>
            <a:pPr indent="-3810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>
                <a:highlight>
                  <a:srgbClr val="FFFFFF"/>
                </a:highlight>
              </a:rPr>
              <a:t>Giá trị tăng cường: Thanh toán theo % lợi nhuận.</a:t>
            </a:r>
            <a:endParaRPr/>
          </a:p>
        </p:txBody>
      </p:sp>
      <p:sp>
        <p:nvSpPr>
          <p:cNvPr id="221" name="Google Shape;221;p33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4"/>
          <p:cNvSpPr txBox="1"/>
          <p:nvPr>
            <p:ph type="title"/>
          </p:nvPr>
        </p:nvSpPr>
        <p:spPr>
          <a:xfrm>
            <a:off x="311700" y="1869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Lựa chọn chiến lược thiết kế</a:t>
            </a:r>
            <a:endParaRPr/>
          </a:p>
        </p:txBody>
      </p:sp>
      <p:sp>
        <p:nvSpPr>
          <p:cNvPr id="227" name="Google Shape;227;p3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graphicFrame>
        <p:nvGraphicFramePr>
          <p:cNvPr id="228" name="Google Shape;228;p34"/>
          <p:cNvGraphicFramePr/>
          <p:nvPr/>
        </p:nvGraphicFramePr>
        <p:xfrm>
          <a:off x="311700" y="874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{D31B5337-AF07-4DFE-8536-8FE1F6F5EA00}</a:tableStyleId>
              </a:tblPr>
              <a:tblGrid>
                <a:gridCol w="1792100"/>
                <a:gridCol w="2331275"/>
                <a:gridCol w="2275475"/>
                <a:gridCol w="2121750"/>
              </a:tblGrid>
              <a:tr h="427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/>
                    </a:p>
                  </a:txBody>
                  <a:tcPr marT="54000" marB="54000" marR="54000" marL="540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2200"/>
                        <a:t>Phát triển riêng</a:t>
                      </a:r>
                      <a:endParaRPr b="1" sz="2200"/>
                    </a:p>
                  </a:txBody>
                  <a:tcPr marT="54000" marB="54000" marR="54000" marL="540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2200"/>
                        <a:t>Sử dụng gói phần mềm</a:t>
                      </a:r>
                      <a:endParaRPr b="1" sz="2200"/>
                    </a:p>
                  </a:txBody>
                  <a:tcPr marT="54000" marB="54000" marR="54000" marL="540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2200"/>
                        <a:t>Gia công</a:t>
                      </a:r>
                      <a:endParaRPr b="1" sz="2200"/>
                    </a:p>
                  </a:txBody>
                  <a:tcPr marT="54000" marB="54000" marR="54000" marL="54000"/>
                </a:tc>
              </a:tr>
              <a:tr h="427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2200"/>
                        <a:t>Nhu cầu nghiệp vụ</a:t>
                      </a:r>
                      <a:endParaRPr b="1" sz="2200"/>
                    </a:p>
                  </a:txBody>
                  <a:tcPr marT="54000" marB="54000" marR="54000" marL="540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/>
                        <a:t>Duy nhất</a:t>
                      </a:r>
                      <a:endParaRPr sz="1800"/>
                    </a:p>
                  </a:txBody>
                  <a:tcPr marT="54000" marB="54000" marR="54000" marL="540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/>
                        <a:t>Phổ biến</a:t>
                      </a:r>
                      <a:endParaRPr sz="1800"/>
                    </a:p>
                  </a:txBody>
                  <a:tcPr marT="54000" marB="54000" marR="54000" marL="540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/>
                        <a:t>Không phải cốt lõi</a:t>
                      </a:r>
                      <a:endParaRPr sz="1800"/>
                    </a:p>
                  </a:txBody>
                  <a:tcPr marT="54000" marB="54000" marR="54000" marL="54000"/>
                </a:tc>
              </a:tr>
              <a:tr h="427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2200"/>
                        <a:t>Chuyên môn hiện có</a:t>
                      </a:r>
                      <a:endParaRPr b="1" sz="2200"/>
                    </a:p>
                  </a:txBody>
                  <a:tcPr marT="54000" marB="54000" marR="54000" marL="540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/>
                        <a:t>Có nghiệp vụ và kỹ thuật</a:t>
                      </a:r>
                      <a:endParaRPr sz="1800"/>
                    </a:p>
                  </a:txBody>
                  <a:tcPr marT="54000" marB="54000" marR="54000" marL="540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/>
                        <a:t>Không có kỹ thuật</a:t>
                      </a:r>
                      <a:endParaRPr sz="1800"/>
                    </a:p>
                  </a:txBody>
                  <a:tcPr marT="54000" marB="54000" marR="54000" marL="540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/>
                        <a:t>Không có nghiệp vụ hoặc kỹ thuật</a:t>
                      </a:r>
                      <a:endParaRPr sz="1800"/>
                    </a:p>
                  </a:txBody>
                  <a:tcPr marT="54000" marB="54000" marR="54000" marL="54000"/>
                </a:tc>
              </a:tr>
              <a:tr h="493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2200"/>
                        <a:t>Kỹ năng dự án</a:t>
                      </a:r>
                      <a:endParaRPr b="1" sz="2200"/>
                    </a:p>
                  </a:txBody>
                  <a:tcPr marT="54000" marB="54000" marR="54000" marL="540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/>
                        <a:t>Có mong muốn phát triển kỹ năng liên quan</a:t>
                      </a:r>
                      <a:endParaRPr sz="1800"/>
                    </a:p>
                  </a:txBody>
                  <a:tcPr marT="54000" marB="54000" marR="54000" marL="540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/>
                        <a:t>Phát triển kỹ năng không nằm trong chiến lược</a:t>
                      </a:r>
                      <a:endParaRPr sz="1800"/>
                    </a:p>
                  </a:txBody>
                  <a:tcPr marT="54000" marB="54000" marR="54000" marL="540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/>
                        <a:t>Quyết định gia công là 1 quyết định chiến lược</a:t>
                      </a:r>
                      <a:endParaRPr sz="1800"/>
                    </a:p>
                  </a:txBody>
                  <a:tcPr marT="54000" marB="54000" marR="54000" marL="54000"/>
                </a:tc>
              </a:tr>
              <a:tr h="493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2200"/>
                        <a:t>Người quản lý dự án</a:t>
                      </a:r>
                      <a:endParaRPr b="1" sz="2200"/>
                    </a:p>
                  </a:txBody>
                  <a:tcPr marT="54000" marB="54000" marR="54000" marL="540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/>
                        <a:t>Có </a:t>
                      </a:r>
                      <a:r>
                        <a:rPr lang="en-GB" sz="1800"/>
                        <a:t>trình độ cao</a:t>
                      </a:r>
                      <a:r>
                        <a:rPr lang="en-GB" sz="1800"/>
                        <a:t> và phương pháp phát triển đã được kiểm chứng</a:t>
                      </a:r>
                      <a:endParaRPr sz="1800"/>
                    </a:p>
                  </a:txBody>
                  <a:tcPr marT="54000" marB="54000" marR="54000" marL="540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/>
                        <a:t>Có thể điều phối công việc của nhà cung cấp</a:t>
                      </a:r>
                      <a:endParaRPr sz="1800"/>
                    </a:p>
                  </a:txBody>
                  <a:tcPr marT="54000" marB="54000" marR="54000" marL="540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/>
                        <a:t>Có trình độ cao trong môi trường của đối tác</a:t>
                      </a:r>
                      <a:endParaRPr sz="1800"/>
                    </a:p>
                  </a:txBody>
                  <a:tcPr marT="54000" marB="54000" marR="54000" marL="54000"/>
                </a:tc>
              </a:tr>
              <a:tr h="427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2200"/>
                        <a:t>Khung thời gian</a:t>
                      </a:r>
                      <a:endParaRPr b="1" sz="2200"/>
                    </a:p>
                  </a:txBody>
                  <a:tcPr marT="54000" marB="54000" marR="54000" marL="540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/>
                        <a:t>Linh động</a:t>
                      </a:r>
                      <a:endParaRPr sz="1800"/>
                    </a:p>
                  </a:txBody>
                  <a:tcPr marT="54000" marB="54000" marR="54000" marL="540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/>
                        <a:t>Ngắn</a:t>
                      </a:r>
                      <a:endParaRPr sz="1800"/>
                    </a:p>
                  </a:txBody>
                  <a:tcPr marT="54000" marB="54000" marR="54000" marL="540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/>
                        <a:t>Ngắn hoặc linh động</a:t>
                      </a:r>
                      <a:endParaRPr sz="1800"/>
                    </a:p>
                  </a:txBody>
                  <a:tcPr marT="54000" marB="54000" marR="54000" marL="54000"/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5"/>
          <p:cNvSpPr txBox="1"/>
          <p:nvPr>
            <p:ph type="title"/>
          </p:nvPr>
        </p:nvSpPr>
        <p:spPr>
          <a:xfrm>
            <a:off x="311700" y="1869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Lựa chọn chiến lược thực hiện</a:t>
            </a:r>
            <a:endParaRPr/>
          </a:p>
        </p:txBody>
      </p:sp>
      <p:sp>
        <p:nvSpPr>
          <p:cNvPr id="234" name="Google Shape;234;p35"/>
          <p:cNvSpPr txBox="1"/>
          <p:nvPr>
            <p:ph idx="1" type="body"/>
          </p:nvPr>
        </p:nvSpPr>
        <p:spPr>
          <a:xfrm>
            <a:off x="311700" y="874800"/>
            <a:ext cx="8520600" cy="549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/>
              <a:t>Xác định các công cụ và kỹ thuật cần để tự phát triển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/>
              <a:t>Xác định các gói phù hợp với nhu cầu người dùng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/>
              <a:t>Tìm các công ty có thể xây dựng hệ thống theo hợp đồng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/>
              <a:t>Tạo ma trận lựa chọn để cân nhắc các ưu điểm và nhược điểm của mỗi lựa chọn</a:t>
            </a:r>
            <a:endParaRPr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/>
              <a:t>Kết hợp với tính khả thi kỹ thuật, kinh tế, và tổ chức</a:t>
            </a:r>
            <a:endParaRPr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/>
              <a:t>Sử dụng cơ chế yêu cầu đề xuất (RFP) và yêu cầu thông tin (RFI) để thu thập ước lượng kinh phí &amp; thời gian từ những nhà cung cấp tiềm năng</a:t>
            </a:r>
            <a:endParaRPr/>
          </a:p>
        </p:txBody>
      </p:sp>
      <p:sp>
        <p:nvSpPr>
          <p:cNvPr id="235" name="Google Shape;235;p35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6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241" name="Google Shape;241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79680" y="1531800"/>
            <a:ext cx="3565079" cy="41032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