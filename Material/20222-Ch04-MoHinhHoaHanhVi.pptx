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FAA6BB-E2A7-4351-8BDD-0555BAA26764}">
  <a:tblStyle styleId="{63FAA6BB-E2A7-4351-8BDD-0555BAA267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3c5e734d0_0_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3c5e734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3c5e734d0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3c5e734d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3408b856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3408b85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ee1a95c90d_0_3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ee1a95c90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249b7d3ec1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249b7d3e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1b2c3f7ed3_1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1b2c3f7ed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571da57d6_0_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571da57d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571da57d6_0_3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3571da57d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f3e3a06b1d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f3e3a06b1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f3e3a06b1d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f3e3a06b1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4b2dcc273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4b2dcc2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24b2dcc273_0_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24b2dcc27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f3e3a06b1d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f3e3a06b1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249b7d3ec1_0_3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249b7d3ec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f3e3a06b1d_0_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f3e3a06b1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f3e3a06b1d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f3e3a06b1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f3e3a06b1d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f3e3a06b1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b2d249854_6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b2d249854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3571da57d6_0_20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3571da57d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3571da57d6_0_29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3571da57d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3571da57d6_0_23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3571da57d6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3571da57d6_0_33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3571da57d6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83c5e734d0_0_9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83c5e734d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83c5e734d0_0_7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83c5e734d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83c5e734d0_0_1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83c5e734d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9b2d249854_6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9b2d249854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43408b8566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43408b856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83c5e734d0_0_10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83c5e734d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3571da57d6_0_39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3571da57d6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83c5e734d0_0_24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83c5e734d0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f3e3a06b1d_0_10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f3e3a06b1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83c5e734d0_0_12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83c5e734d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f3e3a06b1d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f3e3a06b1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83c5e734d0_0_13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83c5e734d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3571da57d6_0_49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3571da57d6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3571da57d6_0_5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3571da57d6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83c5e734d0_0_24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83c5e734d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3571da57d6_0_58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3571da57d6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220b9c6e88_3_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220b9c6e88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3571da57d6_0_62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33571da57d6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9b2d249854_6_7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9b2d249854_6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f3e3a06b1d_0_12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f3e3a06b1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83c5e734d0_0_32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83c5e734d0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83c5e734d0_0_3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83c5e734d0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ee1a95c90d_0_6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ee1a95c90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83c5e734d0_0_35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83c5e734d0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83c5e734d0_0_26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83c5e734d0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f3e3a06b1d_0_1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f3e3a06b1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361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311700" y="1017800"/>
            <a:ext cx="8520600" cy="52659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Font typeface="Times New Roman"/>
              <a:buChar char="●"/>
              <a:defRPr sz="2400">
                <a:solidFill>
                  <a:schemeClr val="dk2"/>
                </a:solidFill>
                <a:latin typeface="Times New Roman"/>
                <a:ea typeface="Times New Roman"/>
                <a:cs typeface="Times New Roman"/>
                <a:sym typeface="Times New Roman"/>
              </a:defRPr>
            </a:lvl1pPr>
            <a:lvl2pPr indent="-368300" lvl="1" marL="914400">
              <a:lnSpc>
                <a:spcPct val="115000"/>
              </a:lnSpc>
              <a:spcBef>
                <a:spcPts val="0"/>
              </a:spcBef>
              <a:spcAft>
                <a:spcPts val="0"/>
              </a:spcAft>
              <a:buClr>
                <a:schemeClr val="dk2"/>
              </a:buClr>
              <a:buSzPts val="2200"/>
              <a:buFont typeface="Times New Roman"/>
              <a:buChar char="○"/>
              <a:defRPr sz="2200">
                <a:solidFill>
                  <a:schemeClr val="dk2"/>
                </a:solidFill>
                <a:latin typeface="Times New Roman"/>
                <a:ea typeface="Times New Roman"/>
                <a:cs typeface="Times New Roman"/>
                <a:sym typeface="Times New Roman"/>
              </a:defRPr>
            </a:lvl2pPr>
            <a:lvl3pPr indent="-342900" lvl="2" marL="137160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3pPr>
            <a:lvl4pPr indent="-317500" lvl="3" marL="18288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indent="-317500" lvl="4" marL="22860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indent="-317500" lvl="5" marL="27432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indent="-317500" lvl="6" marL="32004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indent="-317500" lvl="7" marL="36576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indent="-317500" lvl="8" marL="4114800">
              <a:lnSpc>
                <a:spcPct val="115000"/>
              </a:lnSpc>
              <a:spcBef>
                <a:spcPts val="1600"/>
              </a:spcBef>
              <a:spcAft>
                <a:spcPts val="160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48467"/>
            <a:ext cx="8520600" cy="31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3600"/>
          </a:p>
          <a:p>
            <a:pPr indent="0" lvl="0" marL="0" rtl="0" algn="l">
              <a:spcBef>
                <a:spcPts val="0"/>
              </a:spcBef>
              <a:spcAft>
                <a:spcPts val="0"/>
              </a:spcAft>
              <a:buNone/>
            </a:pPr>
            <a:r>
              <a:rPr lang="en-GB"/>
              <a:t>Phân tích </a:t>
            </a:r>
            <a:r>
              <a:rPr lang="en-GB"/>
              <a:t>và</a:t>
            </a:r>
            <a:r>
              <a:rPr lang="en-GB"/>
              <a:t> thiết kế Hệ thống</a:t>
            </a:r>
            <a:endParaRPr/>
          </a:p>
        </p:txBody>
      </p:sp>
      <p:sp>
        <p:nvSpPr>
          <p:cNvPr id="55" name="Google Shape;55;p13"/>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a:t>Gi</a:t>
            </a:r>
            <a:r>
              <a:rPr lang="en-GB"/>
              <a:t>ảng viên: </a:t>
            </a:r>
            <a:r>
              <a:rPr lang="en-GB"/>
              <a:t>Nguyễn Bá Ngọc</a:t>
            </a:r>
            <a:endParaRPr/>
          </a:p>
        </p:txBody>
      </p:sp>
      <p:sp>
        <p:nvSpPr>
          <p:cNvPr id="56" name="Google Shape;56;p13"/>
          <p:cNvSpPr txBox="1"/>
          <p:nvPr/>
        </p:nvSpPr>
        <p:spPr>
          <a:xfrm>
            <a:off x="125" y="5969400"/>
            <a:ext cx="914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800">
                <a:latin typeface="Times New Roman"/>
                <a:ea typeface="Times New Roman"/>
                <a:cs typeface="Times New Roman"/>
                <a:sym typeface="Times New Roman"/>
              </a:rPr>
              <a:t>Hà Nội</a:t>
            </a:r>
            <a:r>
              <a:rPr lang="en-GB" sz="2800">
                <a:latin typeface="Times New Roman"/>
                <a:ea typeface="Times New Roman"/>
                <a:cs typeface="Times New Roman"/>
                <a:sym typeface="Times New Roman"/>
              </a:rPr>
              <a:t>-2021</a:t>
            </a:r>
            <a:endParaRPr sz="2800">
              <a:latin typeface="Times New Roman"/>
              <a:ea typeface="Times New Roman"/>
              <a:cs typeface="Times New Roman"/>
              <a:sym typeface="Times New Roman"/>
            </a:endParaRPr>
          </a:p>
        </p:txBody>
      </p:sp>
      <p:sp>
        <p:nvSpPr>
          <p:cNvPr id="57" name="Google Shape;57;p13"/>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latin typeface="Times New Roman"/>
                <a:ea typeface="Times New Roman"/>
                <a:cs typeface="Times New Roman"/>
                <a:sym typeface="Times New Roman"/>
              </a:rPr>
              <a:t>Chương 4</a:t>
            </a:r>
            <a:endParaRPr sz="3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4</a:t>
            </a:r>
            <a:endParaRPr/>
          </a:p>
          <a:p>
            <a:pPr indent="0" lvl="0" marL="0" rtl="0" algn="ctr">
              <a:spcBef>
                <a:spcPts val="0"/>
              </a:spcBef>
              <a:spcAft>
                <a:spcPts val="0"/>
              </a:spcAft>
              <a:buNone/>
            </a:pPr>
            <a:r>
              <a:rPr lang="en-GB"/>
              <a:t>         Mô hình hóa h</a:t>
            </a:r>
            <a:r>
              <a:rPr lang="en-GB"/>
              <a:t>ành vi</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Hành vi của hệ thống hướng đối tượng</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 name="Google Shape;70;p15"/>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Đặc điểm cơ bản: </a:t>
            </a:r>
            <a:r>
              <a:rPr i="1" lang="en-GB"/>
              <a:t>Hệ thống hướng đối tượng bao gồm nhiều đối tượng tương tác dựa trên cơ chế truyền thông điệp để đáp ứng các tương tác với tác nhân.</a:t>
            </a:r>
            <a:endParaRPr i="1"/>
          </a:p>
          <a:p>
            <a:pPr indent="-381000" lvl="0" marL="457200" rtl="0" algn="l">
              <a:spcBef>
                <a:spcPts val="0"/>
              </a:spcBef>
              <a:spcAft>
                <a:spcPts val="0"/>
              </a:spcAft>
              <a:buSzPts val="2400"/>
              <a:buChar char="●"/>
            </a:pPr>
            <a:r>
              <a:rPr lang="en-GB"/>
              <a:t>Các vấn đề mô hình hóa:</a:t>
            </a:r>
            <a:endParaRPr/>
          </a:p>
          <a:p>
            <a:pPr indent="-368300" lvl="1" marL="914400" rtl="0" algn="l">
              <a:spcBef>
                <a:spcPts val="0"/>
              </a:spcBef>
              <a:spcAft>
                <a:spcPts val="0"/>
              </a:spcAft>
              <a:buSzPts val="2200"/>
              <a:buChar char="○"/>
            </a:pPr>
            <a:r>
              <a:rPr lang="en-GB"/>
              <a:t>Mô hình hóa tương tác giữa các tác nhân và hệ thống</a:t>
            </a:r>
            <a:endParaRPr/>
          </a:p>
          <a:p>
            <a:pPr indent="-368300" lvl="1" marL="914400" rtl="0" algn="l">
              <a:spcBef>
                <a:spcPts val="0"/>
              </a:spcBef>
              <a:spcAft>
                <a:spcPts val="0"/>
              </a:spcAft>
              <a:buSzPts val="2200"/>
              <a:buChar char="○"/>
            </a:pPr>
            <a:r>
              <a:rPr lang="en-GB"/>
              <a:t>Mô hình hóa tương tác giữa các đối tượng trong hệ thống nhằm đáp ứng các hoạt động nghiệp vụ</a:t>
            </a:r>
            <a:endParaRPr/>
          </a:p>
          <a:p>
            <a:pPr indent="-368300" lvl="1" marL="914400" rtl="0" algn="l">
              <a:spcBef>
                <a:spcPts val="0"/>
              </a:spcBef>
              <a:spcAft>
                <a:spcPts val="0"/>
              </a:spcAft>
              <a:buSzPts val="2200"/>
              <a:buChar char="○"/>
            </a:pPr>
            <a:r>
              <a:rPr lang="en-GB"/>
              <a:t>Mô hình hóa sự biến đổi trạng thái của đối tượng theo tiến trình nghiệp vụ.</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 name="Google Shape;77;p16"/>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Biểu diễn trạng thái của đối tượng</a:t>
            </a:r>
            <a:endParaRPr b="1"/>
          </a:p>
          <a:p>
            <a:pPr indent="-368300" lvl="1" marL="914400" rtl="0" algn="l">
              <a:spcBef>
                <a:spcPts val="0"/>
              </a:spcBef>
              <a:spcAft>
                <a:spcPts val="0"/>
              </a:spcAft>
              <a:buSzPts val="2200"/>
              <a:buChar char="○"/>
            </a:pPr>
            <a:r>
              <a:rPr lang="en-GB"/>
              <a:t>Sơ đồ máy trạng thái</a:t>
            </a:r>
            <a:endParaRPr/>
          </a:p>
          <a:p>
            <a:pPr indent="-381000" lvl="0" marL="457200" rtl="0" algn="l">
              <a:spcBef>
                <a:spcPts val="0"/>
              </a:spcBef>
              <a:spcAft>
                <a:spcPts val="0"/>
              </a:spcAft>
              <a:buSzPts val="2400"/>
              <a:buChar char="●"/>
            </a:pPr>
            <a:r>
              <a:rPr lang="en-GB"/>
              <a:t>Các mô hình tương tác</a:t>
            </a:r>
            <a:endParaRPr/>
          </a:p>
          <a:p>
            <a:pPr indent="-368300" lvl="1" marL="914400" rtl="0" algn="l">
              <a:spcBef>
                <a:spcPts val="0"/>
              </a:spcBef>
              <a:spcAft>
                <a:spcPts val="0"/>
              </a:spcAft>
              <a:buSzPts val="2200"/>
              <a:buChar char="○"/>
            </a:pPr>
            <a:r>
              <a:rPr lang="en-GB"/>
              <a:t>Sơ đồ</a:t>
            </a:r>
            <a:r>
              <a:rPr lang="en-GB"/>
              <a:t> tuần tự</a:t>
            </a:r>
            <a:endParaRPr/>
          </a:p>
          <a:p>
            <a:pPr indent="-368300" lvl="1" marL="914400" rtl="0" algn="l">
              <a:spcBef>
                <a:spcPts val="0"/>
              </a:spcBef>
              <a:spcAft>
                <a:spcPts val="0"/>
              </a:spcAft>
              <a:buSzPts val="2200"/>
              <a:buChar char="○"/>
            </a:pPr>
            <a:r>
              <a:rPr lang="en-GB"/>
              <a:t>Sơ đồ</a:t>
            </a:r>
            <a:r>
              <a:rPr lang="en-GB"/>
              <a:t> giao tiếp</a:t>
            </a:r>
            <a:endParaRPr/>
          </a:p>
          <a:p>
            <a:pPr indent="-381000" lvl="0" marL="457200" rtl="0" algn="l">
              <a:spcBef>
                <a:spcPts val="0"/>
              </a:spcBef>
              <a:spcAft>
                <a:spcPts val="0"/>
              </a:spcAft>
              <a:buSzPts val="2400"/>
              <a:buChar char="●"/>
            </a:pPr>
            <a:r>
              <a:rPr lang="en-GB"/>
              <a:t>Kỹ thuật phát hiện các mối quan hệ</a:t>
            </a:r>
            <a:endParaRPr/>
          </a:p>
          <a:p>
            <a:pPr indent="-368300" lvl="1" marL="914400" rtl="0" algn="l">
              <a:spcBef>
                <a:spcPts val="0"/>
              </a:spcBef>
              <a:spcAft>
                <a:spcPts val="0"/>
              </a:spcAft>
              <a:buSzPts val="2200"/>
              <a:buChar char="○"/>
            </a:pPr>
            <a:r>
              <a:rPr lang="en-GB"/>
              <a:t>Phân tích ma trận CRUD(E)</a:t>
            </a:r>
            <a:endParaRPr/>
          </a:p>
          <a:p>
            <a:pPr indent="-381000" lvl="0" marL="457200" rtl="0" algn="l">
              <a:spcBef>
                <a:spcPts val="0"/>
              </a:spcBef>
              <a:spcAft>
                <a:spcPts val="0"/>
              </a:spcAft>
              <a:buSzPts val="2400"/>
              <a:buChar char="●"/>
            </a:pPr>
            <a:r>
              <a:rPr lang="en-GB"/>
              <a:t>Tổng kết các nội dung phân tích</a:t>
            </a:r>
            <a:endParaRPr/>
          </a:p>
        </p:txBody>
      </p:sp>
      <p:sp>
        <p:nvSpPr>
          <p:cNvPr id="78" name="Google Shape;78;p16"/>
          <p:cNvSpPr/>
          <p:nvPr/>
        </p:nvSpPr>
        <p:spPr>
          <a:xfrm>
            <a:off x="446275" y="1338361"/>
            <a:ext cx="5314800" cy="7635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máy trạng thái</a:t>
            </a:r>
            <a:endParaRPr/>
          </a:p>
        </p:txBody>
      </p:sp>
      <p:sp>
        <p:nvSpPr>
          <p:cNvPr id="84" name="Google Shape;84;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5" name="Google Shape;85;p17"/>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Biểu diễn các trạng thái và sự thay đổi trạng thái của đối tượng</a:t>
            </a:r>
            <a:endParaRPr/>
          </a:p>
          <a:p>
            <a:pPr indent="-381000" lvl="0" marL="457200" rtl="0" algn="just">
              <a:spcBef>
                <a:spcPts val="0"/>
              </a:spcBef>
              <a:spcAft>
                <a:spcPts val="0"/>
              </a:spcAft>
              <a:buSzPts val="2400"/>
              <a:buChar char="●"/>
            </a:pPr>
            <a:r>
              <a:rPr lang="en-GB"/>
              <a:t>Thường được sử dụng để biểu diễn trạng thái của các đối tượng trọng tâm, xuất hiện trong nhiều ca sử dụng.</a:t>
            </a:r>
            <a:endParaRPr/>
          </a:p>
          <a:p>
            <a:pPr indent="-368300" lvl="1" marL="914400" rtl="0" algn="just">
              <a:spcBef>
                <a:spcPts val="0"/>
              </a:spcBef>
              <a:spcAft>
                <a:spcPts val="0"/>
              </a:spcAft>
              <a:buSzPts val="2200"/>
              <a:buChar char="○"/>
            </a:pPr>
            <a:r>
              <a:rPr lang="en-GB"/>
              <a:t>Trạng thái của đối tượng được quan tâm trong các hoạt động nghiệp vụ,</a:t>
            </a:r>
            <a:endParaRPr/>
          </a:p>
          <a:p>
            <a:pPr indent="-368300" lvl="1" marL="914400" rtl="0" algn="just">
              <a:spcBef>
                <a:spcPts val="0"/>
              </a:spcBef>
              <a:spcAft>
                <a:spcPts val="0"/>
              </a:spcAft>
              <a:buSzPts val="2200"/>
              <a:buChar char="○"/>
            </a:pPr>
            <a:r>
              <a:rPr lang="en-GB"/>
              <a:t>Có liên quan đến các công việc nghiệp vụ, …</a:t>
            </a:r>
            <a:endParaRPr/>
          </a:p>
        </p:txBody>
      </p:sp>
      <p:sp>
        <p:nvSpPr>
          <p:cNvPr id="86" name="Google Shape;86;p17"/>
          <p:cNvSpPr txBox="1"/>
          <p:nvPr/>
        </p:nvSpPr>
        <p:spPr>
          <a:xfrm>
            <a:off x="549500" y="4007475"/>
            <a:ext cx="7923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latin typeface="Times New Roman"/>
                <a:ea typeface="Times New Roman"/>
                <a:cs typeface="Times New Roman"/>
                <a:sym typeface="Times New Roman"/>
              </a:rPr>
              <a:t>Dạo này thế nào? Có gì mới không? …</a:t>
            </a:r>
            <a:endParaRPr i="1" sz="2400">
              <a:solidFill>
                <a:srgbClr val="1155CC"/>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 name="Google Shape;92;p18"/>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tiêu biểu </a:t>
            </a:r>
            <a:endParaRPr/>
          </a:p>
        </p:txBody>
      </p:sp>
      <p:sp>
        <p:nvSpPr>
          <p:cNvPr id="93" name="Google Shape;93;p18"/>
          <p:cNvSpPr txBox="1"/>
          <p:nvPr>
            <p:ph idx="4294967295" type="body"/>
          </p:nvPr>
        </p:nvSpPr>
        <p:spPr>
          <a:xfrm>
            <a:off x="269525" y="1052075"/>
            <a:ext cx="7710600" cy="5449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Trạng thái: 1 giai đoạn trong 1 tiến trình, kết quả xử lý hiện tại</a:t>
            </a:r>
            <a:endParaRPr/>
          </a:p>
          <a:p>
            <a:pPr indent="-368300" lvl="1" marL="914400" rtl="0" algn="l">
              <a:spcBef>
                <a:spcPts val="0"/>
              </a:spcBef>
              <a:spcAft>
                <a:spcPts val="0"/>
              </a:spcAft>
              <a:buSzPts val="2200"/>
              <a:buChar char="○"/>
            </a:pPr>
            <a:r>
              <a:rPr lang="en-GB"/>
              <a:t>Có liên quan tới các công việc nghiệp vụ.</a:t>
            </a:r>
            <a:endParaRPr/>
          </a:p>
          <a:p>
            <a:pPr indent="-368300" lvl="1" marL="914400" rtl="0" algn="l">
              <a:spcBef>
                <a:spcPts val="0"/>
              </a:spcBef>
              <a:spcAft>
                <a:spcPts val="0"/>
              </a:spcAft>
              <a:buSzPts val="2200"/>
              <a:buChar char="○"/>
            </a:pPr>
            <a:r>
              <a:rPr lang="en-GB"/>
              <a:t>Bộ giá trị của các thuộc tính của đối tượng thỏa mãn các điều kiện nhất định.</a:t>
            </a:r>
            <a:endParaRPr/>
          </a:p>
          <a:p>
            <a:pPr indent="-381000" lvl="0" marL="457200" rtl="0" algn="l">
              <a:spcBef>
                <a:spcPts val="0"/>
              </a:spcBef>
              <a:spcAft>
                <a:spcPts val="0"/>
              </a:spcAft>
              <a:buSzPts val="2400"/>
              <a:buChar char="●"/>
            </a:pPr>
            <a:r>
              <a:rPr lang="en-GB"/>
              <a:t>Sự thay đổi trạng thái của đối tượng:  </a:t>
            </a:r>
            <a:endParaRPr/>
          </a:p>
          <a:p>
            <a:pPr indent="-368300" lvl="1" marL="914400" rtl="0" algn="l">
              <a:spcBef>
                <a:spcPts val="0"/>
              </a:spcBef>
              <a:spcAft>
                <a:spcPts val="0"/>
              </a:spcAft>
              <a:buSzPts val="2200"/>
              <a:buChar char="○"/>
            </a:pPr>
            <a:r>
              <a:rPr lang="en-GB"/>
              <a:t>Bước chuyển: Từ 1 trạng thái nguồn sang 1 trạng thái đích, theo chiều mũi tên.</a:t>
            </a:r>
            <a:endParaRPr/>
          </a:p>
          <a:p>
            <a:pPr indent="-368300" lvl="1" marL="914400" rtl="0" algn="l">
              <a:spcBef>
                <a:spcPts val="0"/>
              </a:spcBef>
              <a:spcAft>
                <a:spcPts val="0"/>
              </a:spcAft>
              <a:buSzPts val="2200"/>
              <a:buChar char="○"/>
            </a:pPr>
            <a:r>
              <a:rPr lang="en-GB"/>
              <a:t>Mô tả chi tiết:</a:t>
            </a:r>
            <a:endParaRPr/>
          </a:p>
          <a:p>
            <a:pPr indent="-342900" lvl="2" marL="1371600" rtl="0" algn="l">
              <a:spcBef>
                <a:spcPts val="0"/>
              </a:spcBef>
              <a:spcAft>
                <a:spcPts val="0"/>
              </a:spcAft>
              <a:buSzPts val="1800"/>
              <a:buChar char="■"/>
            </a:pPr>
            <a:r>
              <a:rPr lang="en-GB"/>
              <a:t>Nguyên nhân: Sự kiện, hành động dẫn đến sự thay đổi trạng thái.</a:t>
            </a:r>
            <a:endParaRPr/>
          </a:p>
          <a:p>
            <a:pPr indent="-342900" lvl="2" marL="1371600" rtl="0" algn="l">
              <a:spcBef>
                <a:spcPts val="0"/>
              </a:spcBef>
              <a:spcAft>
                <a:spcPts val="0"/>
              </a:spcAft>
              <a:buSzPts val="1800"/>
              <a:buChar char="■"/>
            </a:pPr>
            <a:r>
              <a:rPr lang="en-GB"/>
              <a:t>Điều kiện bảo vệ: Chỉ chuyển sang trạng thái đích nếu điều kiện bảo vệ được đáp ứng.</a:t>
            </a:r>
            <a:endParaRPr/>
          </a:p>
          <a:p>
            <a:pPr indent="-342900" lvl="2" marL="1371600" rtl="0" algn="l">
              <a:spcBef>
                <a:spcPts val="0"/>
              </a:spcBef>
              <a:spcAft>
                <a:spcPts val="0"/>
              </a:spcAft>
              <a:buSzPts val="1800"/>
              <a:buChar char="■"/>
            </a:pPr>
            <a:r>
              <a:rPr lang="en-GB"/>
              <a:t>Biểu thức hành vi: Cái được thực hiện và hoàn thành trước khi chuyển sang trạng thái đích</a:t>
            </a:r>
            <a:endParaRPr/>
          </a:p>
        </p:txBody>
      </p:sp>
      <p:sp>
        <p:nvSpPr>
          <p:cNvPr id="94" name="Google Shape;94;p18"/>
          <p:cNvSpPr/>
          <p:nvPr/>
        </p:nvSpPr>
        <p:spPr>
          <a:xfrm>
            <a:off x="7951850" y="1187950"/>
            <a:ext cx="969900" cy="47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p:nvPr/>
        </p:nvSpPr>
        <p:spPr>
          <a:xfrm>
            <a:off x="8332850" y="1866825"/>
            <a:ext cx="263400" cy="2634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p:nvPr/>
        </p:nvSpPr>
        <p:spPr>
          <a:xfrm>
            <a:off x="8332850" y="2324025"/>
            <a:ext cx="263400" cy="2634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8"/>
          <p:cNvSpPr/>
          <p:nvPr/>
        </p:nvSpPr>
        <p:spPr>
          <a:xfrm>
            <a:off x="8291300" y="2282500"/>
            <a:ext cx="346500" cy="34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 name="Google Shape;98;p18"/>
          <p:cNvCxnSpPr/>
          <p:nvPr/>
        </p:nvCxnSpPr>
        <p:spPr>
          <a:xfrm>
            <a:off x="7903375" y="4152825"/>
            <a:ext cx="1018200" cy="0"/>
          </a:xfrm>
          <a:prstGeom prst="straightConnector1">
            <a:avLst/>
          </a:prstGeom>
          <a:noFill/>
          <a:ln cap="flat" cmpd="sng" w="19050">
            <a:solidFill>
              <a:schemeClr val="dk2"/>
            </a:solidFill>
            <a:prstDash val="solid"/>
            <a:round/>
            <a:headEnd len="med" w="med" type="none"/>
            <a:tailEnd len="med" w="med" type="triangle"/>
          </a:ln>
        </p:spPr>
      </p:cxnSp>
      <p:sp>
        <p:nvSpPr>
          <p:cNvPr id="99" name="Google Shape;99;p18"/>
          <p:cNvSpPr txBox="1"/>
          <p:nvPr/>
        </p:nvSpPr>
        <p:spPr>
          <a:xfrm>
            <a:off x="7951850" y="3771825"/>
            <a:ext cx="782700" cy="26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4.1a. </a:t>
            </a:r>
            <a:r>
              <a:rPr lang="en-GB"/>
              <a:t>Các</a:t>
            </a:r>
            <a:r>
              <a:rPr lang="en-GB"/>
              <a:t> thành phần </a:t>
            </a:r>
            <a:r>
              <a:rPr lang="en-GB"/>
              <a:t>cơ bản</a:t>
            </a:r>
            <a:endParaRPr/>
          </a:p>
        </p:txBody>
      </p:sp>
      <p:sp>
        <p:nvSpPr>
          <p:cNvPr id="105" name="Google Shape;105;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106" name="Google Shape;106;p19"/>
          <p:cNvCxnSpPr>
            <a:endCxn id="107" idx="4"/>
          </p:cNvCxnSpPr>
          <p:nvPr/>
        </p:nvCxnSpPr>
        <p:spPr>
          <a:xfrm flipH="1" rot="10800000">
            <a:off x="6148511" y="2519268"/>
            <a:ext cx="993000" cy="170400"/>
          </a:xfrm>
          <a:prstGeom prst="straightConnector1">
            <a:avLst/>
          </a:prstGeom>
          <a:noFill/>
          <a:ln cap="flat" cmpd="sng" w="9525">
            <a:solidFill>
              <a:schemeClr val="dk2"/>
            </a:solidFill>
            <a:prstDash val="dash"/>
            <a:round/>
            <a:headEnd len="med" w="med" type="none"/>
            <a:tailEnd len="med" w="med" type="none"/>
          </a:ln>
        </p:spPr>
      </p:cxnSp>
      <p:sp>
        <p:nvSpPr>
          <p:cNvPr id="108" name="Google Shape;108;p19"/>
          <p:cNvSpPr/>
          <p:nvPr/>
        </p:nvSpPr>
        <p:spPr>
          <a:xfrm>
            <a:off x="1343700" y="1879250"/>
            <a:ext cx="6562200" cy="2973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09" name="Google Shape;109;p19"/>
          <p:cNvSpPr/>
          <p:nvPr/>
        </p:nvSpPr>
        <p:spPr>
          <a:xfrm flipH="1" rot="10800000">
            <a:off x="1343690" y="1868375"/>
            <a:ext cx="1041000" cy="354300"/>
          </a:xfrm>
          <a:prstGeom prst="snip1Rect">
            <a:avLst>
              <a:gd fmla="val 4822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10" name="Google Shape;110;p19"/>
          <p:cNvSpPr txBox="1"/>
          <p:nvPr/>
        </p:nvSpPr>
        <p:spPr>
          <a:xfrm>
            <a:off x="1386618" y="1824500"/>
            <a:ext cx="8922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Máy in</a:t>
            </a:r>
            <a:endParaRPr sz="1600">
              <a:solidFill>
                <a:schemeClr val="dk2"/>
              </a:solidFill>
              <a:latin typeface="Times New Roman"/>
              <a:ea typeface="Times New Roman"/>
              <a:cs typeface="Times New Roman"/>
              <a:sym typeface="Times New Roman"/>
            </a:endParaRPr>
          </a:p>
        </p:txBody>
      </p:sp>
      <p:sp>
        <p:nvSpPr>
          <p:cNvPr id="111" name="Google Shape;111;p19"/>
          <p:cNvSpPr/>
          <p:nvPr/>
        </p:nvSpPr>
        <p:spPr>
          <a:xfrm>
            <a:off x="1558350" y="2941757"/>
            <a:ext cx="269400" cy="2694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12" name="Google Shape;112;p19"/>
          <p:cNvSpPr/>
          <p:nvPr/>
        </p:nvSpPr>
        <p:spPr>
          <a:xfrm>
            <a:off x="2653050" y="2759300"/>
            <a:ext cx="892200" cy="62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Tắt</a:t>
            </a:r>
            <a:endParaRPr>
              <a:latin typeface="Times New Roman"/>
              <a:ea typeface="Times New Roman"/>
              <a:cs typeface="Times New Roman"/>
              <a:sym typeface="Times New Roman"/>
            </a:endParaRPr>
          </a:p>
        </p:txBody>
      </p:sp>
      <p:sp>
        <p:nvSpPr>
          <p:cNvPr id="113" name="Google Shape;113;p19"/>
          <p:cNvSpPr/>
          <p:nvPr/>
        </p:nvSpPr>
        <p:spPr>
          <a:xfrm>
            <a:off x="6539250" y="2759300"/>
            <a:ext cx="892200" cy="62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Bật</a:t>
            </a:r>
            <a:endParaRPr>
              <a:latin typeface="Times New Roman"/>
              <a:ea typeface="Times New Roman"/>
              <a:cs typeface="Times New Roman"/>
              <a:sym typeface="Times New Roman"/>
            </a:endParaRPr>
          </a:p>
        </p:txBody>
      </p:sp>
      <p:cxnSp>
        <p:nvCxnSpPr>
          <p:cNvPr id="114" name="Google Shape;114;p19"/>
          <p:cNvCxnSpPr>
            <a:endCxn id="113" idx="1"/>
          </p:cNvCxnSpPr>
          <p:nvPr/>
        </p:nvCxnSpPr>
        <p:spPr>
          <a:xfrm>
            <a:off x="3545250" y="3070100"/>
            <a:ext cx="2994000" cy="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9"/>
          <p:cNvCxnSpPr>
            <a:stCxn id="113" idx="2"/>
            <a:endCxn id="112" idx="2"/>
          </p:cNvCxnSpPr>
          <p:nvPr/>
        </p:nvCxnSpPr>
        <p:spPr>
          <a:xfrm rot="5400000">
            <a:off x="5041950" y="1438100"/>
            <a:ext cx="600" cy="3886200"/>
          </a:xfrm>
          <a:prstGeom prst="bentConnector3">
            <a:avLst>
              <a:gd fmla="val 93158333" name="adj1"/>
            </a:avLst>
          </a:prstGeom>
          <a:noFill/>
          <a:ln cap="flat" cmpd="sng" w="9525">
            <a:solidFill>
              <a:schemeClr val="dk2"/>
            </a:solidFill>
            <a:prstDash val="solid"/>
            <a:round/>
            <a:headEnd len="med" w="med" type="none"/>
            <a:tailEnd len="med" w="med" type="triangle"/>
          </a:ln>
        </p:spPr>
      </p:cxnSp>
      <p:sp>
        <p:nvSpPr>
          <p:cNvPr id="116" name="Google Shape;116;p19"/>
          <p:cNvSpPr txBox="1"/>
          <p:nvPr/>
        </p:nvSpPr>
        <p:spPr>
          <a:xfrm>
            <a:off x="4445350" y="3881900"/>
            <a:ext cx="12636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tắt</a:t>
            </a:r>
            <a:endParaRPr sz="1600">
              <a:solidFill>
                <a:schemeClr val="dk2"/>
              </a:solidFill>
              <a:latin typeface="Times New Roman"/>
              <a:ea typeface="Times New Roman"/>
              <a:cs typeface="Times New Roman"/>
              <a:sym typeface="Times New Roman"/>
            </a:endParaRPr>
          </a:p>
        </p:txBody>
      </p:sp>
      <p:sp>
        <p:nvSpPr>
          <p:cNvPr id="117" name="Google Shape;117;p19"/>
          <p:cNvSpPr txBox="1"/>
          <p:nvPr/>
        </p:nvSpPr>
        <p:spPr>
          <a:xfrm>
            <a:off x="3530950" y="2662700"/>
            <a:ext cx="3008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bật: [An toàn]/Khởi động</a:t>
            </a:r>
            <a:endParaRPr sz="1600">
              <a:solidFill>
                <a:schemeClr val="dk2"/>
              </a:solidFill>
              <a:latin typeface="Times New Roman"/>
              <a:ea typeface="Times New Roman"/>
              <a:cs typeface="Times New Roman"/>
              <a:sym typeface="Times New Roman"/>
            </a:endParaRPr>
          </a:p>
        </p:txBody>
      </p:sp>
      <p:sp>
        <p:nvSpPr>
          <p:cNvPr id="118" name="Google Shape;118;p19"/>
          <p:cNvSpPr/>
          <p:nvPr/>
        </p:nvSpPr>
        <p:spPr>
          <a:xfrm>
            <a:off x="321375" y="4014400"/>
            <a:ext cx="1165800" cy="621600"/>
          </a:xfrm>
          <a:prstGeom prst="wedgeRoundRectCallout">
            <a:avLst>
              <a:gd fmla="val 67153" name="adj1"/>
              <a:gd fmla="val -172720" name="adj2"/>
              <a:gd fmla="val 0" name="adj3"/>
            </a:avLst>
          </a:prstGeom>
          <a:solidFill>
            <a:srgbClr val="F3F3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Trạng thái bắt đầu</a:t>
            </a:r>
            <a:endParaRPr/>
          </a:p>
        </p:txBody>
      </p:sp>
      <p:sp>
        <p:nvSpPr>
          <p:cNvPr id="119" name="Google Shape;119;p19"/>
          <p:cNvSpPr/>
          <p:nvPr/>
        </p:nvSpPr>
        <p:spPr>
          <a:xfrm>
            <a:off x="2289600" y="1633050"/>
            <a:ext cx="993000" cy="524700"/>
          </a:xfrm>
          <a:prstGeom prst="wedgeRectCallout">
            <a:avLst>
              <a:gd fmla="val 3985" name="adj1"/>
              <a:gd fmla="val 172784" name="adj2"/>
            </a:avLst>
          </a:prstGeom>
          <a:solidFill>
            <a:srgbClr val="F3F3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Một trạng thái </a:t>
            </a:r>
            <a:endParaRPr/>
          </a:p>
        </p:txBody>
      </p:sp>
      <p:sp>
        <p:nvSpPr>
          <p:cNvPr id="107" name="Google Shape;107;p19"/>
          <p:cNvSpPr/>
          <p:nvPr/>
        </p:nvSpPr>
        <p:spPr>
          <a:xfrm>
            <a:off x="6951950" y="1707825"/>
            <a:ext cx="1314300" cy="524700"/>
          </a:xfrm>
          <a:prstGeom prst="wedgeRectCallout">
            <a:avLst>
              <a:gd fmla="val -35577" name="adj1"/>
              <a:gd fmla="val 104649" name="adj2"/>
            </a:avLst>
          </a:prstGeom>
          <a:solidFill>
            <a:srgbClr val="F3F3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Hành động</a:t>
            </a:r>
            <a:endParaRPr/>
          </a:p>
        </p:txBody>
      </p:sp>
      <p:sp>
        <p:nvSpPr>
          <p:cNvPr id="120" name="Google Shape;120;p19"/>
          <p:cNvSpPr/>
          <p:nvPr/>
        </p:nvSpPr>
        <p:spPr>
          <a:xfrm>
            <a:off x="3508800" y="1633050"/>
            <a:ext cx="1263600" cy="524700"/>
          </a:xfrm>
          <a:prstGeom prst="wedgeRectCallout">
            <a:avLst>
              <a:gd fmla="val 3985" name="adj1"/>
              <a:gd fmla="val 172784" name="adj2"/>
            </a:avLst>
          </a:prstGeom>
          <a:solidFill>
            <a:srgbClr val="F3F3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Hành động/ sự kiện</a:t>
            </a:r>
            <a:endParaRPr/>
          </a:p>
        </p:txBody>
      </p:sp>
      <p:cxnSp>
        <p:nvCxnSpPr>
          <p:cNvPr id="121" name="Google Shape;121;p19"/>
          <p:cNvCxnSpPr>
            <a:stCxn id="111" idx="6"/>
            <a:endCxn id="112" idx="1"/>
          </p:cNvCxnSpPr>
          <p:nvPr/>
        </p:nvCxnSpPr>
        <p:spPr>
          <a:xfrm flipH="1" rot="10800000">
            <a:off x="1827750" y="3070157"/>
            <a:ext cx="825300" cy="6300"/>
          </a:xfrm>
          <a:prstGeom prst="straightConnector1">
            <a:avLst/>
          </a:prstGeom>
          <a:noFill/>
          <a:ln cap="flat" cmpd="sng" w="9525">
            <a:solidFill>
              <a:schemeClr val="dk2"/>
            </a:solidFill>
            <a:prstDash val="solid"/>
            <a:round/>
            <a:headEnd len="med" w="med" type="none"/>
            <a:tailEnd len="med" w="med" type="triangle"/>
          </a:ln>
        </p:spPr>
      </p:cxnSp>
      <p:sp>
        <p:nvSpPr>
          <p:cNvPr id="122" name="Google Shape;122;p19"/>
          <p:cNvSpPr/>
          <p:nvPr/>
        </p:nvSpPr>
        <p:spPr>
          <a:xfrm>
            <a:off x="5110325" y="1705992"/>
            <a:ext cx="1582500" cy="524700"/>
          </a:xfrm>
          <a:prstGeom prst="wedgeRectCallout">
            <a:avLst>
              <a:gd fmla="val -38442" name="adj1"/>
              <a:gd fmla="val 130290" name="adj2"/>
            </a:avLst>
          </a:prstGeom>
          <a:solidFill>
            <a:srgbClr val="F3F3F3"/>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Điều kiện bảo vệ</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p:nvPr/>
        </p:nvSpPr>
        <p:spPr>
          <a:xfrm>
            <a:off x="45100" y="1367300"/>
            <a:ext cx="9036600" cy="352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28" name="Google Shape;128;p20"/>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4.1b. Trạng thái đơn hàng</a:t>
            </a:r>
            <a:endParaRPr/>
          </a:p>
        </p:txBody>
      </p:sp>
      <p:sp>
        <p:nvSpPr>
          <p:cNvPr id="129" name="Google Shape;129;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0" name="Google Shape;130;p20"/>
          <p:cNvSpPr/>
          <p:nvPr/>
        </p:nvSpPr>
        <p:spPr>
          <a:xfrm>
            <a:off x="4488225" y="5441300"/>
            <a:ext cx="1718100" cy="595800"/>
          </a:xfrm>
          <a:prstGeom prst="wedgeRoundRectCallout">
            <a:avLst>
              <a:gd fmla="val -18954" name="adj1"/>
              <a:gd fmla="val -6860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Trạng thái kết thúc</a:t>
            </a:r>
            <a:endParaRPr/>
          </a:p>
        </p:txBody>
      </p:sp>
      <p:cxnSp>
        <p:nvCxnSpPr>
          <p:cNvPr id="131" name="Google Shape;131;p20"/>
          <p:cNvCxnSpPr>
            <a:stCxn id="132" idx="5"/>
            <a:endCxn id="130" idx="4"/>
          </p:cNvCxnSpPr>
          <p:nvPr/>
        </p:nvCxnSpPr>
        <p:spPr>
          <a:xfrm>
            <a:off x="3215148" y="4592114"/>
            <a:ext cx="1806600" cy="738300"/>
          </a:xfrm>
          <a:prstGeom prst="straightConnector1">
            <a:avLst/>
          </a:prstGeom>
          <a:noFill/>
          <a:ln cap="flat" cmpd="sng" w="9525">
            <a:solidFill>
              <a:schemeClr val="dk2"/>
            </a:solidFill>
            <a:prstDash val="dash"/>
            <a:round/>
            <a:headEnd len="med" w="med" type="none"/>
            <a:tailEnd len="med" w="med" type="none"/>
          </a:ln>
        </p:spPr>
      </p:cxnSp>
      <p:sp>
        <p:nvSpPr>
          <p:cNvPr id="133" name="Google Shape;133;p20"/>
          <p:cNvSpPr/>
          <p:nvPr/>
        </p:nvSpPr>
        <p:spPr>
          <a:xfrm flipH="1" rot="10800000">
            <a:off x="45090" y="1365022"/>
            <a:ext cx="1041000" cy="354300"/>
          </a:xfrm>
          <a:prstGeom prst="snip1Rect">
            <a:avLst>
              <a:gd fmla="val 4822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34" name="Google Shape;134;p20"/>
          <p:cNvSpPr txBox="1"/>
          <p:nvPr/>
        </p:nvSpPr>
        <p:spPr>
          <a:xfrm>
            <a:off x="88027" y="1321147"/>
            <a:ext cx="11376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Đơn hàng</a:t>
            </a:r>
            <a:endParaRPr sz="1600">
              <a:solidFill>
                <a:schemeClr val="dk2"/>
              </a:solidFill>
              <a:latin typeface="Times New Roman"/>
              <a:ea typeface="Times New Roman"/>
              <a:cs typeface="Times New Roman"/>
              <a:sym typeface="Times New Roman"/>
            </a:endParaRPr>
          </a:p>
        </p:txBody>
      </p:sp>
      <p:sp>
        <p:nvSpPr>
          <p:cNvPr id="135" name="Google Shape;135;p20"/>
          <p:cNvSpPr/>
          <p:nvPr/>
        </p:nvSpPr>
        <p:spPr>
          <a:xfrm>
            <a:off x="141675" y="2526408"/>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36" name="Google Shape;136;p20"/>
          <p:cNvSpPr/>
          <p:nvPr/>
        </p:nvSpPr>
        <p:spPr>
          <a:xfrm>
            <a:off x="976650" y="2429825"/>
            <a:ext cx="9111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Đang được tạo</a:t>
            </a:r>
            <a:endParaRPr>
              <a:latin typeface="Times New Roman"/>
              <a:ea typeface="Times New Roman"/>
              <a:cs typeface="Times New Roman"/>
              <a:sym typeface="Times New Roman"/>
            </a:endParaRPr>
          </a:p>
        </p:txBody>
      </p:sp>
      <p:sp>
        <p:nvSpPr>
          <p:cNvPr id="137" name="Google Shape;137;p20"/>
          <p:cNvSpPr txBox="1"/>
          <p:nvPr/>
        </p:nvSpPr>
        <p:spPr>
          <a:xfrm>
            <a:off x="379950" y="2041325"/>
            <a:ext cx="8478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a:t>
            </a:r>
            <a:r>
              <a:rPr lang="en-GB">
                <a:solidFill>
                  <a:schemeClr val="dk2"/>
                </a:solidFill>
                <a:latin typeface="Times New Roman"/>
                <a:ea typeface="Times New Roman"/>
                <a:cs typeface="Times New Roman"/>
                <a:sym typeface="Times New Roman"/>
              </a:rPr>
              <a:t>ạo đơn hàng</a:t>
            </a:r>
            <a:endParaRPr>
              <a:solidFill>
                <a:schemeClr val="dk2"/>
              </a:solidFill>
              <a:latin typeface="Times New Roman"/>
              <a:ea typeface="Times New Roman"/>
              <a:cs typeface="Times New Roman"/>
              <a:sym typeface="Times New Roman"/>
            </a:endParaRPr>
          </a:p>
        </p:txBody>
      </p:sp>
      <p:sp>
        <p:nvSpPr>
          <p:cNvPr id="138" name="Google Shape;138;p20"/>
          <p:cNvSpPr/>
          <p:nvPr/>
        </p:nvSpPr>
        <p:spPr>
          <a:xfrm>
            <a:off x="2576850" y="2429825"/>
            <a:ext cx="8478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Được yêu cầu</a:t>
            </a:r>
            <a:endParaRPr>
              <a:latin typeface="Times New Roman"/>
              <a:ea typeface="Times New Roman"/>
              <a:cs typeface="Times New Roman"/>
              <a:sym typeface="Times New Roman"/>
            </a:endParaRPr>
          </a:p>
        </p:txBody>
      </p:sp>
      <p:sp>
        <p:nvSpPr>
          <p:cNvPr id="139" name="Google Shape;139;p20"/>
          <p:cNvSpPr/>
          <p:nvPr/>
        </p:nvSpPr>
        <p:spPr>
          <a:xfrm>
            <a:off x="4405650" y="2429825"/>
            <a:ext cx="9111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Đang </a:t>
            </a:r>
            <a:r>
              <a:rPr lang="en-GB">
                <a:latin typeface="Times New Roman"/>
                <a:ea typeface="Times New Roman"/>
                <a:cs typeface="Times New Roman"/>
                <a:sym typeface="Times New Roman"/>
              </a:rPr>
              <a:t>xử lý</a:t>
            </a:r>
            <a:endParaRPr>
              <a:latin typeface="Times New Roman"/>
              <a:ea typeface="Times New Roman"/>
              <a:cs typeface="Times New Roman"/>
              <a:sym typeface="Times New Roman"/>
            </a:endParaRPr>
          </a:p>
        </p:txBody>
      </p:sp>
      <p:sp>
        <p:nvSpPr>
          <p:cNvPr id="140" name="Google Shape;140;p20"/>
          <p:cNvSpPr/>
          <p:nvPr/>
        </p:nvSpPr>
        <p:spPr>
          <a:xfrm>
            <a:off x="6158250" y="2429825"/>
            <a:ext cx="9111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Đã tiếp nhận</a:t>
            </a:r>
            <a:endParaRPr>
              <a:latin typeface="Times New Roman"/>
              <a:ea typeface="Times New Roman"/>
              <a:cs typeface="Times New Roman"/>
              <a:sym typeface="Times New Roman"/>
            </a:endParaRPr>
          </a:p>
        </p:txBody>
      </p:sp>
      <p:sp>
        <p:nvSpPr>
          <p:cNvPr id="141" name="Google Shape;141;p20"/>
          <p:cNvSpPr/>
          <p:nvPr/>
        </p:nvSpPr>
        <p:spPr>
          <a:xfrm>
            <a:off x="7987050" y="2429825"/>
            <a:ext cx="9111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Đang giao</a:t>
            </a:r>
            <a:endParaRPr>
              <a:latin typeface="Times New Roman"/>
              <a:ea typeface="Times New Roman"/>
              <a:cs typeface="Times New Roman"/>
              <a:sym typeface="Times New Roman"/>
            </a:endParaRPr>
          </a:p>
        </p:txBody>
      </p:sp>
      <p:sp>
        <p:nvSpPr>
          <p:cNvPr id="142" name="Google Shape;142;p20"/>
          <p:cNvSpPr/>
          <p:nvPr/>
        </p:nvSpPr>
        <p:spPr>
          <a:xfrm>
            <a:off x="7997782" y="3496625"/>
            <a:ext cx="9111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Đã nhận</a:t>
            </a:r>
            <a:endParaRPr>
              <a:latin typeface="Times New Roman"/>
              <a:ea typeface="Times New Roman"/>
              <a:cs typeface="Times New Roman"/>
              <a:sym typeface="Times New Roman"/>
            </a:endParaRPr>
          </a:p>
        </p:txBody>
      </p:sp>
      <p:sp>
        <p:nvSpPr>
          <p:cNvPr id="143" name="Google Shape;143;p20"/>
          <p:cNvSpPr/>
          <p:nvPr/>
        </p:nvSpPr>
        <p:spPr>
          <a:xfrm>
            <a:off x="2523150" y="3420425"/>
            <a:ext cx="1137600" cy="483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Lỗi thanh toán</a:t>
            </a:r>
            <a:endParaRPr>
              <a:latin typeface="Times New Roman"/>
              <a:ea typeface="Times New Roman"/>
              <a:cs typeface="Times New Roman"/>
              <a:sym typeface="Times New Roman"/>
            </a:endParaRPr>
          </a:p>
        </p:txBody>
      </p:sp>
      <p:sp>
        <p:nvSpPr>
          <p:cNvPr id="144" name="Google Shape;144;p20"/>
          <p:cNvSpPr/>
          <p:nvPr/>
        </p:nvSpPr>
        <p:spPr>
          <a:xfrm>
            <a:off x="2982540" y="4355208"/>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45" name="Google Shape;145;p20"/>
          <p:cNvCxnSpPr>
            <a:stCxn id="135" idx="6"/>
            <a:endCxn id="136" idx="1"/>
          </p:cNvCxnSpPr>
          <p:nvPr/>
        </p:nvCxnSpPr>
        <p:spPr>
          <a:xfrm flipH="1" rot="10800000">
            <a:off x="379875" y="2644608"/>
            <a:ext cx="596700" cy="900"/>
          </a:xfrm>
          <a:prstGeom prst="straightConnector1">
            <a:avLst/>
          </a:prstGeom>
          <a:noFill/>
          <a:ln cap="flat" cmpd="sng" w="9525">
            <a:solidFill>
              <a:schemeClr val="dk2"/>
            </a:solidFill>
            <a:prstDash val="solid"/>
            <a:round/>
            <a:headEnd len="med" w="med" type="none"/>
            <a:tailEnd len="med" w="med" type="triangle"/>
          </a:ln>
        </p:spPr>
      </p:cxnSp>
      <p:cxnSp>
        <p:nvCxnSpPr>
          <p:cNvPr id="146" name="Google Shape;146;p20"/>
          <p:cNvCxnSpPr>
            <a:stCxn id="136" idx="3"/>
            <a:endCxn id="138" idx="1"/>
          </p:cNvCxnSpPr>
          <p:nvPr/>
        </p:nvCxnSpPr>
        <p:spPr>
          <a:xfrm>
            <a:off x="1887750" y="2644475"/>
            <a:ext cx="6891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20"/>
          <p:cNvCxnSpPr>
            <a:stCxn id="138" idx="3"/>
            <a:endCxn id="139" idx="1"/>
          </p:cNvCxnSpPr>
          <p:nvPr/>
        </p:nvCxnSpPr>
        <p:spPr>
          <a:xfrm>
            <a:off x="3424650" y="2644475"/>
            <a:ext cx="981000" cy="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0"/>
          <p:cNvCxnSpPr>
            <a:stCxn id="140" idx="3"/>
            <a:endCxn id="141" idx="1"/>
          </p:cNvCxnSpPr>
          <p:nvPr/>
        </p:nvCxnSpPr>
        <p:spPr>
          <a:xfrm>
            <a:off x="7069350" y="2644475"/>
            <a:ext cx="917700" cy="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20"/>
          <p:cNvCxnSpPr>
            <a:stCxn id="141" idx="2"/>
            <a:endCxn id="142" idx="0"/>
          </p:cNvCxnSpPr>
          <p:nvPr/>
        </p:nvCxnSpPr>
        <p:spPr>
          <a:xfrm>
            <a:off x="8442600" y="2859125"/>
            <a:ext cx="10800" cy="63750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20"/>
          <p:cNvCxnSpPr>
            <a:stCxn id="151" idx="2"/>
            <a:endCxn id="143" idx="3"/>
          </p:cNvCxnSpPr>
          <p:nvPr/>
        </p:nvCxnSpPr>
        <p:spPr>
          <a:xfrm rot="5400000">
            <a:off x="4218050" y="2871625"/>
            <a:ext cx="233400" cy="1348200"/>
          </a:xfrm>
          <a:prstGeom prst="bentConnector2">
            <a:avLst/>
          </a:prstGeom>
          <a:noFill/>
          <a:ln cap="flat" cmpd="sng" w="9525">
            <a:solidFill>
              <a:schemeClr val="dk2"/>
            </a:solidFill>
            <a:prstDash val="solid"/>
            <a:round/>
            <a:headEnd len="med" w="med" type="none"/>
            <a:tailEnd len="med" w="med" type="triangle"/>
          </a:ln>
        </p:spPr>
      </p:cxnSp>
      <p:cxnSp>
        <p:nvCxnSpPr>
          <p:cNvPr id="152" name="Google Shape;152;p20"/>
          <p:cNvCxnSpPr>
            <a:stCxn id="143" idx="2"/>
            <a:endCxn id="132" idx="0"/>
          </p:cNvCxnSpPr>
          <p:nvPr/>
        </p:nvCxnSpPr>
        <p:spPr>
          <a:xfrm>
            <a:off x="3091950" y="3904325"/>
            <a:ext cx="6000" cy="4047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20"/>
          <p:cNvSpPr txBox="1"/>
          <p:nvPr/>
        </p:nvSpPr>
        <p:spPr>
          <a:xfrm>
            <a:off x="1903950" y="2041325"/>
            <a:ext cx="8478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Gửi</a:t>
            </a:r>
            <a:r>
              <a:rPr lang="en-GB">
                <a:solidFill>
                  <a:schemeClr val="dk2"/>
                </a:solidFill>
                <a:latin typeface="Times New Roman"/>
                <a:ea typeface="Times New Roman"/>
                <a:cs typeface="Times New Roman"/>
                <a:sym typeface="Times New Roman"/>
              </a:rPr>
              <a:t> đơn hàng</a:t>
            </a:r>
            <a:endParaRPr>
              <a:solidFill>
                <a:schemeClr val="dk2"/>
              </a:solidFill>
              <a:latin typeface="Times New Roman"/>
              <a:ea typeface="Times New Roman"/>
              <a:cs typeface="Times New Roman"/>
              <a:sym typeface="Times New Roman"/>
            </a:endParaRPr>
          </a:p>
        </p:txBody>
      </p:sp>
      <p:sp>
        <p:nvSpPr>
          <p:cNvPr id="154" name="Google Shape;154;p20"/>
          <p:cNvSpPr txBox="1"/>
          <p:nvPr/>
        </p:nvSpPr>
        <p:spPr>
          <a:xfrm>
            <a:off x="3427950" y="2041325"/>
            <a:ext cx="9840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Yêu cầu thanh toán</a:t>
            </a:r>
            <a:endParaRPr>
              <a:solidFill>
                <a:schemeClr val="dk2"/>
              </a:solidFill>
              <a:latin typeface="Times New Roman"/>
              <a:ea typeface="Times New Roman"/>
              <a:cs typeface="Times New Roman"/>
              <a:sym typeface="Times New Roman"/>
            </a:endParaRPr>
          </a:p>
        </p:txBody>
      </p:sp>
      <p:sp>
        <p:nvSpPr>
          <p:cNvPr id="155" name="Google Shape;155;p20"/>
          <p:cNvSpPr txBox="1"/>
          <p:nvPr/>
        </p:nvSpPr>
        <p:spPr>
          <a:xfrm>
            <a:off x="5409150" y="3184325"/>
            <a:ext cx="12675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[Thành công]</a:t>
            </a:r>
            <a:endParaRPr>
              <a:solidFill>
                <a:schemeClr val="dk2"/>
              </a:solidFill>
              <a:latin typeface="Times New Roman"/>
              <a:ea typeface="Times New Roman"/>
              <a:cs typeface="Times New Roman"/>
              <a:sym typeface="Times New Roman"/>
            </a:endParaRPr>
          </a:p>
        </p:txBody>
      </p:sp>
      <p:sp>
        <p:nvSpPr>
          <p:cNvPr id="156" name="Google Shape;156;p20"/>
          <p:cNvSpPr txBox="1"/>
          <p:nvPr/>
        </p:nvSpPr>
        <p:spPr>
          <a:xfrm>
            <a:off x="7085550" y="2269925"/>
            <a:ext cx="9048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Bàn giao</a:t>
            </a:r>
            <a:endParaRPr>
              <a:solidFill>
                <a:schemeClr val="dk2"/>
              </a:solidFill>
              <a:latin typeface="Times New Roman"/>
              <a:ea typeface="Times New Roman"/>
              <a:cs typeface="Times New Roman"/>
              <a:sym typeface="Times New Roman"/>
            </a:endParaRPr>
          </a:p>
        </p:txBody>
      </p:sp>
      <p:sp>
        <p:nvSpPr>
          <p:cNvPr id="157" name="Google Shape;157;p20"/>
          <p:cNvSpPr txBox="1"/>
          <p:nvPr/>
        </p:nvSpPr>
        <p:spPr>
          <a:xfrm>
            <a:off x="7542750" y="2955725"/>
            <a:ext cx="10410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Nhận hàng</a:t>
            </a:r>
            <a:endParaRPr>
              <a:solidFill>
                <a:schemeClr val="dk2"/>
              </a:solidFill>
              <a:latin typeface="Times New Roman"/>
              <a:ea typeface="Times New Roman"/>
              <a:cs typeface="Times New Roman"/>
              <a:sym typeface="Times New Roman"/>
            </a:endParaRPr>
          </a:p>
        </p:txBody>
      </p:sp>
      <p:sp>
        <p:nvSpPr>
          <p:cNvPr id="158" name="Google Shape;158;p20"/>
          <p:cNvSpPr txBox="1"/>
          <p:nvPr/>
        </p:nvSpPr>
        <p:spPr>
          <a:xfrm>
            <a:off x="3732750" y="3108125"/>
            <a:ext cx="10893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[Thanh toán thất bại]</a:t>
            </a:r>
            <a:endParaRPr>
              <a:solidFill>
                <a:schemeClr val="dk2"/>
              </a:solidFill>
              <a:latin typeface="Times New Roman"/>
              <a:ea typeface="Times New Roman"/>
              <a:cs typeface="Times New Roman"/>
              <a:sym typeface="Times New Roman"/>
            </a:endParaRPr>
          </a:p>
        </p:txBody>
      </p:sp>
      <p:cxnSp>
        <p:nvCxnSpPr>
          <p:cNvPr id="159" name="Google Shape;159;p20"/>
          <p:cNvCxnSpPr>
            <a:stCxn id="143" idx="0"/>
          </p:cNvCxnSpPr>
          <p:nvPr/>
        </p:nvCxnSpPr>
        <p:spPr>
          <a:xfrm flipH="1" rot="10800000">
            <a:off x="3091950" y="2805425"/>
            <a:ext cx="1267500" cy="615000"/>
          </a:xfrm>
          <a:prstGeom prst="straightConnector1">
            <a:avLst/>
          </a:prstGeom>
          <a:noFill/>
          <a:ln cap="flat" cmpd="sng" w="9525">
            <a:solidFill>
              <a:schemeClr val="dk2"/>
            </a:solidFill>
            <a:prstDash val="solid"/>
            <a:round/>
            <a:headEnd len="med" w="med" type="none"/>
            <a:tailEnd len="med" w="med" type="triangle"/>
          </a:ln>
        </p:spPr>
      </p:cxnSp>
      <p:sp>
        <p:nvSpPr>
          <p:cNvPr id="160" name="Google Shape;160;p20"/>
          <p:cNvSpPr txBox="1"/>
          <p:nvPr/>
        </p:nvSpPr>
        <p:spPr>
          <a:xfrm rot="-1662453">
            <a:off x="3003570" y="2876214"/>
            <a:ext cx="847817" cy="4292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Thử lại</a:t>
            </a:r>
            <a:endParaRPr>
              <a:solidFill>
                <a:schemeClr val="dk2"/>
              </a:solidFill>
              <a:latin typeface="Times New Roman"/>
              <a:ea typeface="Times New Roman"/>
              <a:cs typeface="Times New Roman"/>
              <a:sym typeface="Times New Roman"/>
            </a:endParaRPr>
          </a:p>
        </p:txBody>
      </p:sp>
      <p:cxnSp>
        <p:nvCxnSpPr>
          <p:cNvPr id="161" name="Google Shape;161;p20"/>
          <p:cNvCxnSpPr>
            <a:stCxn id="142" idx="1"/>
            <a:endCxn id="132" idx="6"/>
          </p:cNvCxnSpPr>
          <p:nvPr/>
        </p:nvCxnSpPr>
        <p:spPr>
          <a:xfrm flipH="1">
            <a:off x="3263782" y="3711275"/>
            <a:ext cx="4734000" cy="763500"/>
          </a:xfrm>
          <a:prstGeom prst="straightConnector1">
            <a:avLst/>
          </a:prstGeom>
          <a:noFill/>
          <a:ln cap="flat" cmpd="sng" w="9525">
            <a:solidFill>
              <a:schemeClr val="dk2"/>
            </a:solidFill>
            <a:prstDash val="solid"/>
            <a:round/>
            <a:headEnd len="med" w="med" type="none"/>
            <a:tailEnd len="med" w="med" type="triangle"/>
          </a:ln>
        </p:spPr>
      </p:cxnSp>
      <p:sp>
        <p:nvSpPr>
          <p:cNvPr id="162" name="Google Shape;162;p20"/>
          <p:cNvSpPr txBox="1"/>
          <p:nvPr/>
        </p:nvSpPr>
        <p:spPr>
          <a:xfrm rot="-541265">
            <a:off x="5080045" y="3615153"/>
            <a:ext cx="2139059" cy="42924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Xác nhận nhận hàng</a:t>
            </a:r>
            <a:endParaRPr>
              <a:solidFill>
                <a:schemeClr val="dk2"/>
              </a:solidFill>
              <a:latin typeface="Times New Roman"/>
              <a:ea typeface="Times New Roman"/>
              <a:cs typeface="Times New Roman"/>
              <a:sym typeface="Times New Roman"/>
            </a:endParaRPr>
          </a:p>
        </p:txBody>
      </p:sp>
      <p:sp>
        <p:nvSpPr>
          <p:cNvPr id="132" name="Google Shape;132;p20"/>
          <p:cNvSpPr/>
          <p:nvPr/>
        </p:nvSpPr>
        <p:spPr>
          <a:xfrm>
            <a:off x="2931939" y="4308905"/>
            <a:ext cx="331800" cy="331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51" name="Google Shape;151;p20"/>
          <p:cNvSpPr/>
          <p:nvPr/>
        </p:nvSpPr>
        <p:spPr>
          <a:xfrm>
            <a:off x="4788800" y="3063025"/>
            <a:ext cx="440100" cy="3660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163" name="Google Shape;163;p20"/>
          <p:cNvCxnSpPr>
            <a:endCxn id="151" idx="0"/>
          </p:cNvCxnSpPr>
          <p:nvPr/>
        </p:nvCxnSpPr>
        <p:spPr>
          <a:xfrm>
            <a:off x="5003450" y="2859025"/>
            <a:ext cx="5400" cy="20400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20"/>
          <p:cNvCxnSpPr>
            <a:stCxn id="151" idx="3"/>
            <a:endCxn id="140" idx="1"/>
          </p:cNvCxnSpPr>
          <p:nvPr/>
        </p:nvCxnSpPr>
        <p:spPr>
          <a:xfrm flipH="1" rot="10800000">
            <a:off x="5228900" y="2644525"/>
            <a:ext cx="929400" cy="601500"/>
          </a:xfrm>
          <a:prstGeom prst="bent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0" name="Google Shape;170;p21"/>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trạng thái</a:t>
            </a:r>
            <a:endParaRPr/>
          </a:p>
        </p:txBody>
      </p:sp>
      <p:sp>
        <p:nvSpPr>
          <p:cNvPr id="171" name="Google Shape;171;p21"/>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Trạng thái đơn: Không chứa các thành phần bên trong</a:t>
            </a:r>
            <a:endParaRPr/>
          </a:p>
          <a:p>
            <a:pPr indent="-381000" lvl="0" marL="457200" rtl="0" algn="l">
              <a:spcBef>
                <a:spcPts val="0"/>
              </a:spcBef>
              <a:spcAft>
                <a:spcPts val="0"/>
              </a:spcAft>
              <a:buSzPts val="2400"/>
              <a:buChar char="●"/>
            </a:pPr>
            <a:r>
              <a:rPr lang="en-GB"/>
              <a:t>Trạng thái tổng hợp: Bao gồm nhiều trạng thái con</a:t>
            </a:r>
            <a:endParaRPr/>
          </a:p>
          <a:p>
            <a:pPr indent="-368300" lvl="1" marL="914400" rtl="0" algn="l">
              <a:spcBef>
                <a:spcPts val="0"/>
              </a:spcBef>
              <a:spcAft>
                <a:spcPts val="0"/>
              </a:spcAft>
              <a:buSzPts val="2200"/>
              <a:buChar char="○"/>
            </a:pPr>
            <a:r>
              <a:rPr lang="en-GB"/>
              <a:t>Có thể </a:t>
            </a:r>
            <a:r>
              <a:rPr lang="en-GB"/>
              <a:t>bao gồm máy trạng thái hoàn chỉnh</a:t>
            </a:r>
            <a:endParaRPr/>
          </a:p>
          <a:p>
            <a:pPr indent="-342900" lvl="2" marL="1371600" rtl="0" algn="l">
              <a:spcBef>
                <a:spcPts val="0"/>
              </a:spcBef>
              <a:spcAft>
                <a:spcPts val="0"/>
              </a:spcAft>
              <a:buSzPts val="1800"/>
              <a:buChar char="■"/>
            </a:pPr>
            <a:r>
              <a:rPr lang="en-GB"/>
              <a:t>Có bắt đầu và kết thúc riêng.</a:t>
            </a:r>
            <a:endParaRPr/>
          </a:p>
          <a:p>
            <a:pPr indent="-342900" lvl="2" marL="1371600" rtl="0" algn="l">
              <a:spcBef>
                <a:spcPts val="0"/>
              </a:spcBef>
              <a:spcAft>
                <a:spcPts val="0"/>
              </a:spcAft>
              <a:buSzPts val="1800"/>
              <a:buChar char="■"/>
            </a:pPr>
            <a:r>
              <a:rPr lang="en-GB"/>
              <a:t>Tạo thành các máy trạng thái lồng nhau</a:t>
            </a:r>
            <a:endParaRPr/>
          </a:p>
          <a:p>
            <a:pPr indent="-368300" lvl="1" marL="914400" rtl="0" algn="l">
              <a:spcBef>
                <a:spcPts val="0"/>
              </a:spcBef>
              <a:spcAft>
                <a:spcPts val="0"/>
              </a:spcAft>
              <a:buSzPts val="2200"/>
              <a:buChar char="○"/>
            </a:pPr>
            <a:r>
              <a:rPr lang="en-GB"/>
              <a:t>Có thể bao gồm đúng 1 vùng hoặc nhiều vùng song song</a:t>
            </a:r>
            <a:endParaRPr/>
          </a:p>
          <a:p>
            <a:pPr indent="-381000" lvl="0" marL="457200" rtl="0" algn="l">
              <a:spcBef>
                <a:spcPts val="0"/>
              </a:spcBef>
              <a:spcAft>
                <a:spcPts val="0"/>
              </a:spcAft>
              <a:buSzPts val="2400"/>
              <a:buChar char="●"/>
            </a:pPr>
            <a:r>
              <a:rPr lang="en-GB"/>
              <a:t>Các luồng trạng thái song song được gọi là các trạng thái tổng hợp trực giao (orthogonal)</a:t>
            </a:r>
            <a:endParaRPr/>
          </a:p>
          <a:p>
            <a:pPr indent="-368300" lvl="1" marL="914400" rtl="0" algn="l">
              <a:spcBef>
                <a:spcPts val="0"/>
              </a:spcBef>
              <a:spcAft>
                <a:spcPts val="0"/>
              </a:spcAft>
              <a:buSzPts val="2200"/>
              <a:buChar char="○"/>
            </a:pPr>
            <a:r>
              <a:rPr lang="en-GB"/>
              <a:t>Được sở hữu bởi cùng 1 trạng thái hoặc </a:t>
            </a:r>
            <a:endParaRPr/>
          </a:p>
          <a:p>
            <a:pPr indent="-368300" lvl="1" marL="914400" rtl="0" algn="l">
              <a:spcBef>
                <a:spcPts val="0"/>
              </a:spcBef>
              <a:spcAft>
                <a:spcPts val="0"/>
              </a:spcAft>
              <a:buSzPts val="2200"/>
              <a:buChar char="○"/>
            </a:pPr>
            <a:r>
              <a:rPr lang="en-GB"/>
              <a:t>cùng ở mức đỉnh của 1 máy trạng thái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7" name="Google Shape;177;p22"/>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Vùng</a:t>
            </a:r>
            <a:endParaRPr/>
          </a:p>
        </p:txBody>
      </p:sp>
      <p:sp>
        <p:nvSpPr>
          <p:cNvPr id="178" name="Google Shape;178;p22"/>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trạng thái con </a:t>
            </a:r>
            <a:endParaRPr/>
          </a:p>
          <a:p>
            <a:pPr indent="-368300" lvl="1" marL="914400" rtl="0" algn="l">
              <a:spcBef>
                <a:spcPts val="0"/>
              </a:spcBef>
              <a:spcAft>
                <a:spcPts val="0"/>
              </a:spcAft>
              <a:buSzPts val="2200"/>
              <a:buChar char="○"/>
            </a:pPr>
            <a:r>
              <a:rPr lang="en-GB"/>
              <a:t>Có thể tồn tại đồng thời trong các </a:t>
            </a:r>
            <a:r>
              <a:rPr i="1" lang="en-GB"/>
              <a:t>vùng trực giao</a:t>
            </a:r>
            <a:r>
              <a:rPr lang="en-GB"/>
              <a:t> </a:t>
            </a:r>
            <a:endParaRPr/>
          </a:p>
          <a:p>
            <a:pPr indent="-342900" lvl="2" marL="1371600" rtl="0" algn="l">
              <a:spcBef>
                <a:spcPts val="0"/>
              </a:spcBef>
              <a:spcAft>
                <a:spcPts val="0"/>
              </a:spcAft>
              <a:buSzPts val="1800"/>
              <a:buChar char="■"/>
            </a:pPr>
            <a:r>
              <a:rPr lang="en-GB"/>
              <a:t>Được phân chia bằng các đường đứt nét</a:t>
            </a:r>
            <a:endParaRPr/>
          </a:p>
          <a:p>
            <a:pPr indent="-381000" lvl="0" marL="457200" rtl="0" algn="l">
              <a:spcBef>
                <a:spcPts val="0"/>
              </a:spcBef>
              <a:spcAft>
                <a:spcPts val="0"/>
              </a:spcAft>
              <a:buSzPts val="2400"/>
              <a:buChar char="●"/>
            </a:pPr>
            <a:r>
              <a:rPr lang="en-GB"/>
              <a:t>Được kích hoạt khi đối tượng chuyển tới trạng thái chứa nó</a:t>
            </a:r>
            <a:endParaRPr/>
          </a:p>
        </p:txBody>
      </p:sp>
      <p:sp>
        <p:nvSpPr>
          <p:cNvPr id="179" name="Google Shape;179;p22"/>
          <p:cNvSpPr/>
          <p:nvPr/>
        </p:nvSpPr>
        <p:spPr>
          <a:xfrm>
            <a:off x="3227450" y="3030625"/>
            <a:ext cx="2223600" cy="128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 name="Google Shape;180;p22"/>
          <p:cNvCxnSpPr/>
          <p:nvPr/>
        </p:nvCxnSpPr>
        <p:spPr>
          <a:xfrm>
            <a:off x="3227450" y="3314650"/>
            <a:ext cx="2230500" cy="0"/>
          </a:xfrm>
          <a:prstGeom prst="straightConnector1">
            <a:avLst/>
          </a:prstGeom>
          <a:noFill/>
          <a:ln cap="flat" cmpd="sng" w="9525">
            <a:solidFill>
              <a:schemeClr val="dk2"/>
            </a:solidFill>
            <a:prstDash val="solid"/>
            <a:round/>
            <a:headEnd len="med" w="med" type="none"/>
            <a:tailEnd len="med" w="med" type="none"/>
          </a:ln>
        </p:spPr>
      </p:cxnSp>
      <p:sp>
        <p:nvSpPr>
          <p:cNvPr id="181" name="Google Shape;181;p22"/>
          <p:cNvSpPr txBox="1"/>
          <p:nvPr/>
        </p:nvSpPr>
        <p:spPr>
          <a:xfrm>
            <a:off x="4862300" y="4353725"/>
            <a:ext cx="443400" cy="2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cxnSp>
        <p:nvCxnSpPr>
          <p:cNvPr id="182" name="Google Shape;182;p22"/>
          <p:cNvCxnSpPr/>
          <p:nvPr/>
        </p:nvCxnSpPr>
        <p:spPr>
          <a:xfrm>
            <a:off x="3227450" y="3796116"/>
            <a:ext cx="2223600" cy="0"/>
          </a:xfrm>
          <a:prstGeom prst="straightConnector1">
            <a:avLst/>
          </a:prstGeom>
          <a:noFill/>
          <a:ln cap="flat" cmpd="sng" w="9525">
            <a:solidFill>
              <a:schemeClr val="dk2"/>
            </a:solidFill>
            <a:prstDash val="dash"/>
            <a:round/>
            <a:headEnd len="med" w="med" type="none"/>
            <a:tailEnd len="med" w="med" type="none"/>
          </a:ln>
        </p:spPr>
      </p:cxnSp>
      <p:sp>
        <p:nvSpPr>
          <p:cNvPr id="183" name="Google Shape;183;p22"/>
          <p:cNvSpPr txBox="1"/>
          <p:nvPr/>
        </p:nvSpPr>
        <p:spPr>
          <a:xfrm>
            <a:off x="5887525" y="4187475"/>
            <a:ext cx="1944900" cy="4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2 vùng trực giao tồn tại song song</a:t>
            </a:r>
            <a:endParaRPr i="1" sz="1800">
              <a:latin typeface="Times New Roman"/>
              <a:ea typeface="Times New Roman"/>
              <a:cs typeface="Times New Roman"/>
              <a:sym typeface="Times New Roman"/>
            </a:endParaRPr>
          </a:p>
        </p:txBody>
      </p:sp>
      <p:cxnSp>
        <p:nvCxnSpPr>
          <p:cNvPr id="184" name="Google Shape;184;p22"/>
          <p:cNvCxnSpPr/>
          <p:nvPr/>
        </p:nvCxnSpPr>
        <p:spPr>
          <a:xfrm>
            <a:off x="5147425" y="3572550"/>
            <a:ext cx="1024200" cy="553500"/>
          </a:xfrm>
          <a:prstGeom prst="straightConnector1">
            <a:avLst/>
          </a:prstGeom>
          <a:noFill/>
          <a:ln cap="flat" cmpd="sng" w="9525">
            <a:solidFill>
              <a:schemeClr val="dk2"/>
            </a:solidFill>
            <a:prstDash val="dash"/>
            <a:round/>
            <a:headEnd len="med" w="med" type="none"/>
            <a:tailEnd len="med" w="med" type="none"/>
          </a:ln>
        </p:spPr>
      </p:cxnSp>
      <p:cxnSp>
        <p:nvCxnSpPr>
          <p:cNvPr id="185" name="Google Shape;185;p22"/>
          <p:cNvCxnSpPr/>
          <p:nvPr/>
        </p:nvCxnSpPr>
        <p:spPr>
          <a:xfrm>
            <a:off x="5098975" y="4043150"/>
            <a:ext cx="1003500" cy="2214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4.2. Trạng thái tổng hợp đơn</a:t>
            </a:r>
            <a:endParaRPr/>
          </a:p>
        </p:txBody>
      </p:sp>
      <p:sp>
        <p:nvSpPr>
          <p:cNvPr id="191" name="Google Shape;191;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2" name="Google Shape;192;p23"/>
          <p:cNvSpPr/>
          <p:nvPr/>
        </p:nvSpPr>
        <p:spPr>
          <a:xfrm>
            <a:off x="447225" y="5297650"/>
            <a:ext cx="2765700" cy="919200"/>
          </a:xfrm>
          <a:prstGeom prst="wedgeRectCallout">
            <a:avLst>
              <a:gd fmla="val 34094" name="adj1"/>
              <a:gd fmla="val -79888" name="adj2"/>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rgbClr val="666666"/>
                </a:solidFill>
              </a:rPr>
              <a:t>Trạng thái tổng hợp với 1 vùng</a:t>
            </a:r>
            <a:endParaRPr sz="2200">
              <a:solidFill>
                <a:srgbClr val="666666"/>
              </a:solidFill>
            </a:endParaRPr>
          </a:p>
        </p:txBody>
      </p:sp>
      <p:cxnSp>
        <p:nvCxnSpPr>
          <p:cNvPr id="193" name="Google Shape;193;p23"/>
          <p:cNvCxnSpPr/>
          <p:nvPr/>
        </p:nvCxnSpPr>
        <p:spPr>
          <a:xfrm flipH="1">
            <a:off x="3154013" y="3385520"/>
            <a:ext cx="2450100" cy="1637400"/>
          </a:xfrm>
          <a:prstGeom prst="straightConnector1">
            <a:avLst/>
          </a:prstGeom>
          <a:noFill/>
          <a:ln cap="flat" cmpd="sng" w="9525">
            <a:solidFill>
              <a:schemeClr val="dk2"/>
            </a:solidFill>
            <a:prstDash val="dash"/>
            <a:round/>
            <a:headEnd len="med" w="med" type="none"/>
            <a:tailEnd len="med" w="med" type="none"/>
          </a:ln>
        </p:spPr>
      </p:cxnSp>
      <p:sp>
        <p:nvSpPr>
          <p:cNvPr id="194" name="Google Shape;194;p23"/>
          <p:cNvSpPr txBox="1"/>
          <p:nvPr/>
        </p:nvSpPr>
        <p:spPr>
          <a:xfrm>
            <a:off x="3994600" y="5174800"/>
            <a:ext cx="4837800" cy="98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i="1" lang="en-GB" sz="2200">
                <a:solidFill>
                  <a:schemeClr val="dk2"/>
                </a:solidFill>
                <a:latin typeface="Times New Roman"/>
                <a:ea typeface="Times New Roman"/>
                <a:cs typeface="Times New Roman"/>
                <a:sym typeface="Times New Roman"/>
              </a:rPr>
              <a:t>Trong</a:t>
            </a:r>
            <a:r>
              <a:rPr i="1" lang="en-GB" sz="2200">
                <a:solidFill>
                  <a:schemeClr val="dk2"/>
                </a:solidFill>
                <a:latin typeface="Times New Roman"/>
                <a:ea typeface="Times New Roman"/>
                <a:cs typeface="Times New Roman"/>
                <a:sym typeface="Times New Roman"/>
              </a:rPr>
              <a:t> trạng thái bật, máy in có thể ở trạng thái Chờ hoặc Hoạt động.</a:t>
            </a:r>
            <a:endParaRPr i="1" sz="2200">
              <a:latin typeface="Times New Roman"/>
              <a:ea typeface="Times New Roman"/>
              <a:cs typeface="Times New Roman"/>
              <a:sym typeface="Times New Roman"/>
            </a:endParaRPr>
          </a:p>
        </p:txBody>
      </p:sp>
      <p:sp>
        <p:nvSpPr>
          <p:cNvPr id="195" name="Google Shape;195;p23"/>
          <p:cNvSpPr/>
          <p:nvPr/>
        </p:nvSpPr>
        <p:spPr>
          <a:xfrm>
            <a:off x="5239775" y="1885000"/>
            <a:ext cx="3461100" cy="1950900"/>
          </a:xfrm>
          <a:prstGeom prst="roundRect">
            <a:avLst>
              <a:gd fmla="val 11816"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6" name="Google Shape;196;p23"/>
          <p:cNvCxnSpPr/>
          <p:nvPr/>
        </p:nvCxnSpPr>
        <p:spPr>
          <a:xfrm>
            <a:off x="5239775" y="2317320"/>
            <a:ext cx="3471600" cy="0"/>
          </a:xfrm>
          <a:prstGeom prst="straightConnector1">
            <a:avLst/>
          </a:prstGeom>
          <a:noFill/>
          <a:ln cap="flat" cmpd="sng" w="9525">
            <a:solidFill>
              <a:schemeClr val="dk2"/>
            </a:solidFill>
            <a:prstDash val="solid"/>
            <a:round/>
            <a:headEnd len="med" w="med" type="none"/>
            <a:tailEnd len="med" w="med" type="none"/>
          </a:ln>
        </p:spPr>
      </p:cxnSp>
      <p:sp>
        <p:nvSpPr>
          <p:cNvPr id="197" name="Google Shape;197;p23"/>
          <p:cNvSpPr txBox="1"/>
          <p:nvPr/>
        </p:nvSpPr>
        <p:spPr>
          <a:xfrm>
            <a:off x="6721700" y="1826650"/>
            <a:ext cx="6441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latin typeface="Times New Roman"/>
                <a:ea typeface="Times New Roman"/>
                <a:cs typeface="Times New Roman"/>
                <a:sym typeface="Times New Roman"/>
              </a:rPr>
              <a:t>Bật</a:t>
            </a:r>
            <a:endParaRPr sz="2200">
              <a:solidFill>
                <a:schemeClr val="dk2"/>
              </a:solidFill>
              <a:latin typeface="Times New Roman"/>
              <a:ea typeface="Times New Roman"/>
              <a:cs typeface="Times New Roman"/>
              <a:sym typeface="Times New Roman"/>
            </a:endParaRPr>
          </a:p>
        </p:txBody>
      </p:sp>
      <p:sp>
        <p:nvSpPr>
          <p:cNvPr id="198" name="Google Shape;198;p23"/>
          <p:cNvSpPr/>
          <p:nvPr/>
        </p:nvSpPr>
        <p:spPr>
          <a:xfrm>
            <a:off x="5399475" y="2678808"/>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99" name="Google Shape;199;p23"/>
          <p:cNvSpPr/>
          <p:nvPr/>
        </p:nvSpPr>
        <p:spPr>
          <a:xfrm>
            <a:off x="5941441" y="25822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Chờ</a:t>
            </a:r>
            <a:endParaRPr>
              <a:latin typeface="Times New Roman"/>
              <a:ea typeface="Times New Roman"/>
              <a:cs typeface="Times New Roman"/>
              <a:sym typeface="Times New Roman"/>
            </a:endParaRPr>
          </a:p>
        </p:txBody>
      </p:sp>
      <p:cxnSp>
        <p:nvCxnSpPr>
          <p:cNvPr id="200" name="Google Shape;200;p23"/>
          <p:cNvCxnSpPr>
            <a:stCxn id="198" idx="6"/>
            <a:endCxn id="199" idx="1"/>
          </p:cNvCxnSpPr>
          <p:nvPr/>
        </p:nvCxnSpPr>
        <p:spPr>
          <a:xfrm flipH="1" rot="10800000">
            <a:off x="5637675" y="2797008"/>
            <a:ext cx="303900" cy="900"/>
          </a:xfrm>
          <a:prstGeom prst="straightConnector1">
            <a:avLst/>
          </a:prstGeom>
          <a:noFill/>
          <a:ln cap="flat" cmpd="sng" w="9525">
            <a:solidFill>
              <a:schemeClr val="dk2"/>
            </a:solidFill>
            <a:prstDash val="solid"/>
            <a:round/>
            <a:headEnd len="med" w="med" type="none"/>
            <a:tailEnd len="med" w="med" type="triangle"/>
          </a:ln>
        </p:spPr>
      </p:cxnSp>
      <p:sp>
        <p:nvSpPr>
          <p:cNvPr id="201" name="Google Shape;201;p23"/>
          <p:cNvSpPr/>
          <p:nvPr/>
        </p:nvSpPr>
        <p:spPr>
          <a:xfrm>
            <a:off x="7694041" y="25822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Hoạt động</a:t>
            </a:r>
            <a:endParaRPr>
              <a:latin typeface="Times New Roman"/>
              <a:ea typeface="Times New Roman"/>
              <a:cs typeface="Times New Roman"/>
              <a:sym typeface="Times New Roman"/>
            </a:endParaRPr>
          </a:p>
        </p:txBody>
      </p:sp>
      <p:cxnSp>
        <p:nvCxnSpPr>
          <p:cNvPr id="202" name="Google Shape;202;p23"/>
          <p:cNvCxnSpPr>
            <a:stCxn id="199" idx="3"/>
            <a:endCxn id="201" idx="1"/>
          </p:cNvCxnSpPr>
          <p:nvPr/>
        </p:nvCxnSpPr>
        <p:spPr>
          <a:xfrm>
            <a:off x="6666841" y="2796875"/>
            <a:ext cx="1027200" cy="0"/>
          </a:xfrm>
          <a:prstGeom prst="straightConnector1">
            <a:avLst/>
          </a:prstGeom>
          <a:noFill/>
          <a:ln cap="flat" cmpd="sng" w="9525">
            <a:solidFill>
              <a:schemeClr val="dk2"/>
            </a:solidFill>
            <a:prstDash val="solid"/>
            <a:round/>
            <a:headEnd len="med" w="med" type="none"/>
            <a:tailEnd len="med" w="med" type="triangle"/>
          </a:ln>
        </p:spPr>
      </p:cxnSp>
      <p:sp>
        <p:nvSpPr>
          <p:cNvPr id="203" name="Google Shape;203;p23"/>
          <p:cNvSpPr txBox="1"/>
          <p:nvPr/>
        </p:nvSpPr>
        <p:spPr>
          <a:xfrm>
            <a:off x="6704525" y="2419075"/>
            <a:ext cx="11268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In tài liệu</a:t>
            </a:r>
            <a:endParaRPr sz="1600">
              <a:solidFill>
                <a:schemeClr val="dk2"/>
              </a:solidFill>
              <a:latin typeface="Times New Roman"/>
              <a:ea typeface="Times New Roman"/>
              <a:cs typeface="Times New Roman"/>
              <a:sym typeface="Times New Roman"/>
            </a:endParaRPr>
          </a:p>
        </p:txBody>
      </p:sp>
      <p:sp>
        <p:nvSpPr>
          <p:cNvPr id="204" name="Google Shape;204;p23"/>
          <p:cNvSpPr txBox="1"/>
          <p:nvPr/>
        </p:nvSpPr>
        <p:spPr>
          <a:xfrm>
            <a:off x="6552125" y="3333475"/>
            <a:ext cx="13221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[hoàn thành]</a:t>
            </a:r>
            <a:endParaRPr sz="1600">
              <a:solidFill>
                <a:schemeClr val="dk2"/>
              </a:solidFill>
              <a:latin typeface="Times New Roman"/>
              <a:ea typeface="Times New Roman"/>
              <a:cs typeface="Times New Roman"/>
              <a:sym typeface="Times New Roman"/>
            </a:endParaRPr>
          </a:p>
        </p:txBody>
      </p:sp>
      <p:sp>
        <p:nvSpPr>
          <p:cNvPr id="205" name="Google Shape;205;p23"/>
          <p:cNvSpPr txBox="1"/>
          <p:nvPr/>
        </p:nvSpPr>
        <p:spPr>
          <a:xfrm>
            <a:off x="2208725" y="2495275"/>
            <a:ext cx="30288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bật: [An toàn]/Khởi động</a:t>
            </a:r>
            <a:endParaRPr sz="1600">
              <a:solidFill>
                <a:schemeClr val="dk2"/>
              </a:solidFill>
              <a:latin typeface="Times New Roman"/>
              <a:ea typeface="Times New Roman"/>
              <a:cs typeface="Times New Roman"/>
              <a:sym typeface="Times New Roman"/>
            </a:endParaRPr>
          </a:p>
        </p:txBody>
      </p:sp>
      <p:sp>
        <p:nvSpPr>
          <p:cNvPr id="206" name="Google Shape;206;p23"/>
          <p:cNvSpPr/>
          <p:nvPr/>
        </p:nvSpPr>
        <p:spPr>
          <a:xfrm>
            <a:off x="1369450" y="2615525"/>
            <a:ext cx="725400" cy="472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Tắt</a:t>
            </a:r>
            <a:endParaRPr>
              <a:latin typeface="Times New Roman"/>
              <a:ea typeface="Times New Roman"/>
              <a:cs typeface="Times New Roman"/>
              <a:sym typeface="Times New Roman"/>
            </a:endParaRPr>
          </a:p>
        </p:txBody>
      </p:sp>
      <p:sp>
        <p:nvSpPr>
          <p:cNvPr id="207" name="Google Shape;207;p23"/>
          <p:cNvSpPr txBox="1"/>
          <p:nvPr/>
        </p:nvSpPr>
        <p:spPr>
          <a:xfrm>
            <a:off x="3275525" y="3714475"/>
            <a:ext cx="13221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tắt</a:t>
            </a:r>
            <a:endParaRPr sz="1600">
              <a:solidFill>
                <a:schemeClr val="dk2"/>
              </a:solidFill>
              <a:latin typeface="Times New Roman"/>
              <a:ea typeface="Times New Roman"/>
              <a:cs typeface="Times New Roman"/>
              <a:sym typeface="Times New Roman"/>
            </a:endParaRPr>
          </a:p>
        </p:txBody>
      </p:sp>
      <p:cxnSp>
        <p:nvCxnSpPr>
          <p:cNvPr id="208" name="Google Shape;208;p23"/>
          <p:cNvCxnSpPr>
            <a:stCxn id="206" idx="3"/>
            <a:endCxn id="195" idx="1"/>
          </p:cNvCxnSpPr>
          <p:nvPr/>
        </p:nvCxnSpPr>
        <p:spPr>
          <a:xfrm>
            <a:off x="2094850" y="2851625"/>
            <a:ext cx="3144900" cy="8700"/>
          </a:xfrm>
          <a:prstGeom prst="straightConnector1">
            <a:avLst/>
          </a:prstGeom>
          <a:noFill/>
          <a:ln cap="flat" cmpd="sng" w="9525">
            <a:solidFill>
              <a:schemeClr val="dk2"/>
            </a:solidFill>
            <a:prstDash val="solid"/>
            <a:round/>
            <a:headEnd len="med" w="med" type="none"/>
            <a:tailEnd len="med" w="med" type="triangle"/>
          </a:ln>
        </p:spPr>
      </p:cxnSp>
      <p:sp>
        <p:nvSpPr>
          <p:cNvPr id="209" name="Google Shape;209;p23"/>
          <p:cNvSpPr/>
          <p:nvPr/>
        </p:nvSpPr>
        <p:spPr>
          <a:xfrm>
            <a:off x="522675" y="2733543"/>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10" name="Google Shape;210;p23"/>
          <p:cNvCxnSpPr>
            <a:stCxn id="209" idx="6"/>
            <a:endCxn id="206" idx="1"/>
          </p:cNvCxnSpPr>
          <p:nvPr/>
        </p:nvCxnSpPr>
        <p:spPr>
          <a:xfrm flipH="1" rot="10800000">
            <a:off x="760875" y="2851743"/>
            <a:ext cx="608700" cy="900"/>
          </a:xfrm>
          <a:prstGeom prst="straightConnector1">
            <a:avLst/>
          </a:prstGeom>
          <a:noFill/>
          <a:ln cap="flat" cmpd="sng" w="9525">
            <a:solidFill>
              <a:schemeClr val="dk2"/>
            </a:solidFill>
            <a:prstDash val="solid"/>
            <a:round/>
            <a:headEnd len="med" w="med" type="none"/>
            <a:tailEnd len="med" w="med" type="triangle"/>
          </a:ln>
        </p:spPr>
      </p:cxnSp>
      <p:cxnSp>
        <p:nvCxnSpPr>
          <p:cNvPr id="211" name="Google Shape;211;p23"/>
          <p:cNvCxnSpPr>
            <a:stCxn id="201" idx="2"/>
            <a:endCxn id="199" idx="2"/>
          </p:cNvCxnSpPr>
          <p:nvPr/>
        </p:nvCxnSpPr>
        <p:spPr>
          <a:xfrm rot="5400000">
            <a:off x="7180141" y="2135525"/>
            <a:ext cx="600" cy="1752600"/>
          </a:xfrm>
          <a:prstGeom prst="bentConnector3">
            <a:avLst>
              <a:gd fmla="val 56879167" name="adj1"/>
            </a:avLst>
          </a:prstGeom>
          <a:noFill/>
          <a:ln cap="flat" cmpd="sng" w="9525">
            <a:solidFill>
              <a:schemeClr val="dk2"/>
            </a:solidFill>
            <a:prstDash val="solid"/>
            <a:round/>
            <a:headEnd len="med" w="med" type="none"/>
            <a:tailEnd len="med" w="med" type="triangle"/>
          </a:ln>
        </p:spPr>
      </p:cxnSp>
      <p:cxnSp>
        <p:nvCxnSpPr>
          <p:cNvPr id="212" name="Google Shape;212;p23"/>
          <p:cNvCxnSpPr>
            <a:stCxn id="195" idx="2"/>
            <a:endCxn id="206" idx="2"/>
          </p:cNvCxnSpPr>
          <p:nvPr/>
        </p:nvCxnSpPr>
        <p:spPr>
          <a:xfrm flipH="1" rot="5400000">
            <a:off x="3977075" y="842650"/>
            <a:ext cx="748200" cy="5238300"/>
          </a:xfrm>
          <a:prstGeom prst="bentConnector3">
            <a:avLst>
              <a:gd fmla="val -31826"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p:nvPr/>
        </p:nvSpPr>
        <p:spPr>
          <a:xfrm>
            <a:off x="3639575" y="1431700"/>
            <a:ext cx="3727800" cy="3219600"/>
          </a:xfrm>
          <a:prstGeom prst="roundRect">
            <a:avLst>
              <a:gd fmla="val 11816"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txBox="1"/>
          <p:nvPr>
            <p:ph idx="4294967295" type="title"/>
          </p:nvPr>
        </p:nvSpPr>
        <p:spPr>
          <a:xfrm>
            <a:off x="311700" y="150176"/>
            <a:ext cx="8520600" cy="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4.3. Trạng thái tổng hợp trực giao</a:t>
            </a:r>
            <a:endParaRPr baseline="-25000"/>
          </a:p>
        </p:txBody>
      </p:sp>
      <p:sp>
        <p:nvSpPr>
          <p:cNvPr id="219" name="Google Shape;219;p24"/>
          <p:cNvSpPr txBox="1"/>
          <p:nvPr>
            <p:ph idx="4294967295" type="body"/>
          </p:nvPr>
        </p:nvSpPr>
        <p:spPr>
          <a:xfrm>
            <a:off x="311700" y="4840025"/>
            <a:ext cx="8655900" cy="1527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Mỗi luồng (diễn ra đồng thời) nằm trong 1 vùng trực giao</a:t>
            </a:r>
            <a:endParaRPr/>
          </a:p>
          <a:p>
            <a:pPr indent="-381000" lvl="0" marL="457200" rtl="0" algn="l">
              <a:spcBef>
                <a:spcPts val="0"/>
              </a:spcBef>
              <a:spcAft>
                <a:spcPts val="0"/>
              </a:spcAft>
              <a:buSzPts val="2400"/>
              <a:buChar char="●"/>
            </a:pPr>
            <a:r>
              <a:rPr lang="en-GB"/>
              <a:t>Mô tả đối tượng có nhiều luồng trạng thái song song</a:t>
            </a:r>
            <a:endParaRPr/>
          </a:p>
          <a:p>
            <a:pPr indent="-368300" lvl="1" marL="914400" rtl="0" algn="l">
              <a:spcBef>
                <a:spcPts val="0"/>
              </a:spcBef>
              <a:spcAft>
                <a:spcPts val="0"/>
              </a:spcAft>
              <a:buSzPts val="2200"/>
              <a:buChar char="○"/>
            </a:pPr>
            <a:r>
              <a:rPr lang="en-GB"/>
              <a:t>Cho các thành phần (mô-đun) khác nhau của đối tượng</a:t>
            </a:r>
            <a:endParaRPr/>
          </a:p>
        </p:txBody>
      </p:sp>
      <p:sp>
        <p:nvSpPr>
          <p:cNvPr id="220" name="Google Shape;220;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221" name="Google Shape;221;p24"/>
          <p:cNvCxnSpPr/>
          <p:nvPr/>
        </p:nvCxnSpPr>
        <p:spPr>
          <a:xfrm flipH="1">
            <a:off x="6956725" y="1847050"/>
            <a:ext cx="421800" cy="314400"/>
          </a:xfrm>
          <a:prstGeom prst="straightConnector1">
            <a:avLst/>
          </a:prstGeom>
          <a:noFill/>
          <a:ln cap="flat" cmpd="sng" w="9525">
            <a:solidFill>
              <a:schemeClr val="dk2"/>
            </a:solidFill>
            <a:prstDash val="dash"/>
            <a:round/>
            <a:headEnd len="med" w="med" type="none"/>
            <a:tailEnd len="med" w="med" type="none"/>
          </a:ln>
        </p:spPr>
      </p:cxnSp>
      <p:cxnSp>
        <p:nvCxnSpPr>
          <p:cNvPr id="222" name="Google Shape;222;p24"/>
          <p:cNvCxnSpPr/>
          <p:nvPr/>
        </p:nvCxnSpPr>
        <p:spPr>
          <a:xfrm flipH="1">
            <a:off x="6988875" y="2072425"/>
            <a:ext cx="904800" cy="1849200"/>
          </a:xfrm>
          <a:prstGeom prst="straightConnector1">
            <a:avLst/>
          </a:prstGeom>
          <a:noFill/>
          <a:ln cap="flat" cmpd="sng" w="9525">
            <a:solidFill>
              <a:schemeClr val="dk2"/>
            </a:solidFill>
            <a:prstDash val="dash"/>
            <a:round/>
            <a:headEnd len="med" w="med" type="none"/>
            <a:tailEnd len="med" w="med" type="none"/>
          </a:ln>
        </p:spPr>
      </p:cxnSp>
      <p:sp>
        <p:nvSpPr>
          <p:cNvPr id="223" name="Google Shape;223;p24"/>
          <p:cNvSpPr txBox="1"/>
          <p:nvPr/>
        </p:nvSpPr>
        <p:spPr>
          <a:xfrm rot="-667">
            <a:off x="7443525" y="2602259"/>
            <a:ext cx="1545900" cy="9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Biểu diễn các luồng trạng thái song song</a:t>
            </a:r>
            <a:endParaRPr i="1" sz="1600">
              <a:latin typeface="Times New Roman"/>
              <a:ea typeface="Times New Roman"/>
              <a:cs typeface="Times New Roman"/>
              <a:sym typeface="Times New Roman"/>
            </a:endParaRPr>
          </a:p>
        </p:txBody>
      </p:sp>
      <p:sp>
        <p:nvSpPr>
          <p:cNvPr id="224" name="Google Shape;224;p24"/>
          <p:cNvSpPr/>
          <p:nvPr/>
        </p:nvSpPr>
        <p:spPr>
          <a:xfrm>
            <a:off x="7390325" y="835125"/>
            <a:ext cx="1672056" cy="1223316"/>
          </a:xfrm>
          <a:prstGeom prst="clou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GB" sz="1600">
                <a:solidFill>
                  <a:schemeClr val="dk1"/>
                </a:solidFill>
              </a:rPr>
              <a:t>Các vùng trực giao</a:t>
            </a:r>
            <a:endParaRPr>
              <a:latin typeface="Times New Roman"/>
              <a:ea typeface="Times New Roman"/>
              <a:cs typeface="Times New Roman"/>
              <a:sym typeface="Times New Roman"/>
            </a:endParaRPr>
          </a:p>
        </p:txBody>
      </p:sp>
      <p:cxnSp>
        <p:nvCxnSpPr>
          <p:cNvPr id="225" name="Google Shape;225;p24"/>
          <p:cNvCxnSpPr/>
          <p:nvPr/>
        </p:nvCxnSpPr>
        <p:spPr>
          <a:xfrm>
            <a:off x="3639575" y="1936320"/>
            <a:ext cx="3738900" cy="0"/>
          </a:xfrm>
          <a:prstGeom prst="straightConnector1">
            <a:avLst/>
          </a:prstGeom>
          <a:noFill/>
          <a:ln cap="flat" cmpd="sng" w="9525">
            <a:solidFill>
              <a:schemeClr val="dk2"/>
            </a:solidFill>
            <a:prstDash val="solid"/>
            <a:round/>
            <a:headEnd len="med" w="med" type="none"/>
            <a:tailEnd len="med" w="med" type="none"/>
          </a:ln>
        </p:spPr>
      </p:cxnSp>
      <p:sp>
        <p:nvSpPr>
          <p:cNvPr id="226" name="Google Shape;226;p24"/>
          <p:cNvSpPr txBox="1"/>
          <p:nvPr/>
        </p:nvSpPr>
        <p:spPr>
          <a:xfrm>
            <a:off x="5121500" y="1445650"/>
            <a:ext cx="6441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latin typeface="Times New Roman"/>
                <a:ea typeface="Times New Roman"/>
                <a:cs typeface="Times New Roman"/>
                <a:sym typeface="Times New Roman"/>
              </a:rPr>
              <a:t>Bật</a:t>
            </a:r>
            <a:endParaRPr sz="2200">
              <a:solidFill>
                <a:schemeClr val="dk2"/>
              </a:solidFill>
              <a:latin typeface="Times New Roman"/>
              <a:ea typeface="Times New Roman"/>
              <a:cs typeface="Times New Roman"/>
              <a:sym typeface="Times New Roman"/>
            </a:endParaRPr>
          </a:p>
        </p:txBody>
      </p:sp>
      <p:sp>
        <p:nvSpPr>
          <p:cNvPr id="227" name="Google Shape;227;p24"/>
          <p:cNvSpPr/>
          <p:nvPr/>
        </p:nvSpPr>
        <p:spPr>
          <a:xfrm>
            <a:off x="3799275" y="3669408"/>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28" name="Google Shape;228;p24"/>
          <p:cNvSpPr/>
          <p:nvPr/>
        </p:nvSpPr>
        <p:spPr>
          <a:xfrm>
            <a:off x="4341241" y="35728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Chờ</a:t>
            </a:r>
            <a:endParaRPr>
              <a:latin typeface="Times New Roman"/>
              <a:ea typeface="Times New Roman"/>
              <a:cs typeface="Times New Roman"/>
              <a:sym typeface="Times New Roman"/>
            </a:endParaRPr>
          </a:p>
        </p:txBody>
      </p:sp>
      <p:cxnSp>
        <p:nvCxnSpPr>
          <p:cNvPr id="229" name="Google Shape;229;p24"/>
          <p:cNvCxnSpPr>
            <a:stCxn id="227" idx="6"/>
            <a:endCxn id="228" idx="1"/>
          </p:cNvCxnSpPr>
          <p:nvPr/>
        </p:nvCxnSpPr>
        <p:spPr>
          <a:xfrm flipH="1" rot="10800000">
            <a:off x="4037475" y="3787608"/>
            <a:ext cx="303900" cy="900"/>
          </a:xfrm>
          <a:prstGeom prst="straightConnector1">
            <a:avLst/>
          </a:prstGeom>
          <a:noFill/>
          <a:ln cap="flat" cmpd="sng" w="9525">
            <a:solidFill>
              <a:schemeClr val="dk2"/>
            </a:solidFill>
            <a:prstDash val="solid"/>
            <a:round/>
            <a:headEnd len="med" w="med" type="none"/>
            <a:tailEnd len="med" w="med" type="triangle"/>
          </a:ln>
        </p:spPr>
      </p:cxnSp>
      <p:sp>
        <p:nvSpPr>
          <p:cNvPr id="230" name="Google Shape;230;p24"/>
          <p:cNvSpPr/>
          <p:nvPr/>
        </p:nvSpPr>
        <p:spPr>
          <a:xfrm>
            <a:off x="6093841" y="35728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Hoạt động</a:t>
            </a:r>
            <a:endParaRPr>
              <a:latin typeface="Times New Roman"/>
              <a:ea typeface="Times New Roman"/>
              <a:cs typeface="Times New Roman"/>
              <a:sym typeface="Times New Roman"/>
            </a:endParaRPr>
          </a:p>
        </p:txBody>
      </p:sp>
      <p:cxnSp>
        <p:nvCxnSpPr>
          <p:cNvPr id="231" name="Google Shape;231;p24"/>
          <p:cNvCxnSpPr>
            <a:stCxn id="228" idx="3"/>
            <a:endCxn id="230" idx="1"/>
          </p:cNvCxnSpPr>
          <p:nvPr/>
        </p:nvCxnSpPr>
        <p:spPr>
          <a:xfrm>
            <a:off x="5066641" y="3787475"/>
            <a:ext cx="1027200" cy="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24"/>
          <p:cNvSpPr txBox="1"/>
          <p:nvPr/>
        </p:nvSpPr>
        <p:spPr>
          <a:xfrm>
            <a:off x="5104325" y="3409675"/>
            <a:ext cx="11268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In tài liệu</a:t>
            </a:r>
            <a:endParaRPr sz="1600">
              <a:solidFill>
                <a:schemeClr val="dk2"/>
              </a:solidFill>
              <a:latin typeface="Times New Roman"/>
              <a:ea typeface="Times New Roman"/>
              <a:cs typeface="Times New Roman"/>
              <a:sym typeface="Times New Roman"/>
            </a:endParaRPr>
          </a:p>
        </p:txBody>
      </p:sp>
      <p:sp>
        <p:nvSpPr>
          <p:cNvPr id="233" name="Google Shape;233;p24"/>
          <p:cNvSpPr txBox="1"/>
          <p:nvPr/>
        </p:nvSpPr>
        <p:spPr>
          <a:xfrm>
            <a:off x="4951925" y="4171675"/>
            <a:ext cx="13221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[hoàn thành]</a:t>
            </a:r>
            <a:endParaRPr sz="1600">
              <a:solidFill>
                <a:schemeClr val="dk2"/>
              </a:solidFill>
              <a:latin typeface="Times New Roman"/>
              <a:ea typeface="Times New Roman"/>
              <a:cs typeface="Times New Roman"/>
              <a:sym typeface="Times New Roman"/>
            </a:endParaRPr>
          </a:p>
        </p:txBody>
      </p:sp>
      <p:sp>
        <p:nvSpPr>
          <p:cNvPr id="234" name="Google Shape;234;p24"/>
          <p:cNvSpPr txBox="1"/>
          <p:nvPr/>
        </p:nvSpPr>
        <p:spPr>
          <a:xfrm>
            <a:off x="1751525" y="2361475"/>
            <a:ext cx="2034900" cy="6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bật: </a:t>
            </a:r>
            <a:endParaRPr sz="16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[An toàn]/Khởi động</a:t>
            </a:r>
            <a:endParaRPr sz="1600">
              <a:solidFill>
                <a:schemeClr val="dk2"/>
              </a:solidFill>
              <a:latin typeface="Times New Roman"/>
              <a:ea typeface="Times New Roman"/>
              <a:cs typeface="Times New Roman"/>
              <a:sym typeface="Times New Roman"/>
            </a:endParaRPr>
          </a:p>
        </p:txBody>
      </p:sp>
      <p:sp>
        <p:nvSpPr>
          <p:cNvPr id="235" name="Google Shape;235;p24"/>
          <p:cNvSpPr/>
          <p:nvPr/>
        </p:nvSpPr>
        <p:spPr>
          <a:xfrm>
            <a:off x="1064650" y="2822660"/>
            <a:ext cx="725400" cy="472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Tắt</a:t>
            </a:r>
            <a:endParaRPr>
              <a:latin typeface="Times New Roman"/>
              <a:ea typeface="Times New Roman"/>
              <a:cs typeface="Times New Roman"/>
              <a:sym typeface="Times New Roman"/>
            </a:endParaRPr>
          </a:p>
        </p:txBody>
      </p:sp>
      <p:sp>
        <p:nvSpPr>
          <p:cNvPr id="236" name="Google Shape;236;p24"/>
          <p:cNvSpPr txBox="1"/>
          <p:nvPr/>
        </p:nvSpPr>
        <p:spPr>
          <a:xfrm>
            <a:off x="1675325" y="4476475"/>
            <a:ext cx="13221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Bấm nút tắt</a:t>
            </a:r>
            <a:endParaRPr sz="1600">
              <a:solidFill>
                <a:schemeClr val="dk2"/>
              </a:solidFill>
              <a:latin typeface="Times New Roman"/>
              <a:ea typeface="Times New Roman"/>
              <a:cs typeface="Times New Roman"/>
              <a:sym typeface="Times New Roman"/>
            </a:endParaRPr>
          </a:p>
        </p:txBody>
      </p:sp>
      <p:cxnSp>
        <p:nvCxnSpPr>
          <p:cNvPr id="237" name="Google Shape;237;p24"/>
          <p:cNvCxnSpPr>
            <a:stCxn id="235" idx="3"/>
            <a:endCxn id="217" idx="1"/>
          </p:cNvCxnSpPr>
          <p:nvPr/>
        </p:nvCxnSpPr>
        <p:spPr>
          <a:xfrm flipH="1" rot="10800000">
            <a:off x="1790050" y="3041360"/>
            <a:ext cx="1849500" cy="17400"/>
          </a:xfrm>
          <a:prstGeom prst="straightConnector1">
            <a:avLst/>
          </a:prstGeom>
          <a:noFill/>
          <a:ln cap="flat" cmpd="sng" w="9525">
            <a:solidFill>
              <a:schemeClr val="dk2"/>
            </a:solidFill>
            <a:prstDash val="solid"/>
            <a:round/>
            <a:headEnd len="med" w="med" type="none"/>
            <a:tailEnd len="med" w="med" type="triangle"/>
          </a:ln>
        </p:spPr>
      </p:cxnSp>
      <p:sp>
        <p:nvSpPr>
          <p:cNvPr id="238" name="Google Shape;238;p24"/>
          <p:cNvSpPr/>
          <p:nvPr/>
        </p:nvSpPr>
        <p:spPr>
          <a:xfrm>
            <a:off x="217875" y="2940679"/>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39" name="Google Shape;239;p24"/>
          <p:cNvCxnSpPr>
            <a:stCxn id="238" idx="6"/>
            <a:endCxn id="235" idx="1"/>
          </p:cNvCxnSpPr>
          <p:nvPr/>
        </p:nvCxnSpPr>
        <p:spPr>
          <a:xfrm flipH="1" rot="10800000">
            <a:off x="456075" y="3058879"/>
            <a:ext cx="608700" cy="900"/>
          </a:xfrm>
          <a:prstGeom prst="straightConnector1">
            <a:avLst/>
          </a:prstGeom>
          <a:noFill/>
          <a:ln cap="flat" cmpd="sng" w="9525">
            <a:solidFill>
              <a:schemeClr val="dk2"/>
            </a:solidFill>
            <a:prstDash val="solid"/>
            <a:round/>
            <a:headEnd len="med" w="med" type="none"/>
            <a:tailEnd len="med" w="med" type="triangle"/>
          </a:ln>
        </p:spPr>
      </p:cxnSp>
      <p:cxnSp>
        <p:nvCxnSpPr>
          <p:cNvPr id="240" name="Google Shape;240;p24"/>
          <p:cNvCxnSpPr>
            <a:stCxn id="230" idx="2"/>
            <a:endCxn id="228" idx="2"/>
          </p:cNvCxnSpPr>
          <p:nvPr/>
        </p:nvCxnSpPr>
        <p:spPr>
          <a:xfrm rot="5400000">
            <a:off x="5579941" y="3126125"/>
            <a:ext cx="600" cy="17526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41" name="Google Shape;241;p24"/>
          <p:cNvCxnSpPr>
            <a:stCxn id="217" idx="2"/>
            <a:endCxn id="235" idx="2"/>
          </p:cNvCxnSpPr>
          <p:nvPr/>
        </p:nvCxnSpPr>
        <p:spPr>
          <a:xfrm flipH="1" rot="5400000">
            <a:off x="2787275" y="1935100"/>
            <a:ext cx="1356300" cy="4076100"/>
          </a:xfrm>
          <a:prstGeom prst="bentConnector3">
            <a:avLst>
              <a:gd fmla="val -17557" name="adj1"/>
            </a:avLst>
          </a:prstGeom>
          <a:noFill/>
          <a:ln cap="flat" cmpd="sng" w="9525">
            <a:solidFill>
              <a:schemeClr val="dk2"/>
            </a:solidFill>
            <a:prstDash val="solid"/>
            <a:round/>
            <a:headEnd len="med" w="med" type="none"/>
            <a:tailEnd len="med" w="med" type="triangle"/>
          </a:ln>
        </p:spPr>
      </p:cxnSp>
      <p:cxnSp>
        <p:nvCxnSpPr>
          <p:cNvPr id="242" name="Google Shape;242;p24"/>
          <p:cNvCxnSpPr/>
          <p:nvPr/>
        </p:nvCxnSpPr>
        <p:spPr>
          <a:xfrm>
            <a:off x="3639575" y="3417250"/>
            <a:ext cx="3725100" cy="0"/>
          </a:xfrm>
          <a:prstGeom prst="straightConnector1">
            <a:avLst/>
          </a:prstGeom>
          <a:noFill/>
          <a:ln cap="flat" cmpd="sng" w="9525">
            <a:solidFill>
              <a:schemeClr val="dk2"/>
            </a:solidFill>
            <a:prstDash val="dash"/>
            <a:round/>
            <a:headEnd len="med" w="med" type="none"/>
            <a:tailEnd len="med" w="med" type="none"/>
          </a:ln>
        </p:spPr>
      </p:cxnSp>
      <p:sp>
        <p:nvSpPr>
          <p:cNvPr id="243" name="Google Shape;243;p24"/>
          <p:cNvSpPr/>
          <p:nvPr/>
        </p:nvSpPr>
        <p:spPr>
          <a:xfrm>
            <a:off x="3723075" y="2145408"/>
            <a:ext cx="238200" cy="2382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44" name="Google Shape;244;p24"/>
          <p:cNvSpPr/>
          <p:nvPr/>
        </p:nvSpPr>
        <p:spPr>
          <a:xfrm>
            <a:off x="4265041" y="20488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Hết</a:t>
            </a:r>
            <a:endParaRPr>
              <a:latin typeface="Times New Roman"/>
              <a:ea typeface="Times New Roman"/>
              <a:cs typeface="Times New Roman"/>
              <a:sym typeface="Times New Roman"/>
            </a:endParaRPr>
          </a:p>
        </p:txBody>
      </p:sp>
      <p:cxnSp>
        <p:nvCxnSpPr>
          <p:cNvPr id="245" name="Google Shape;245;p24"/>
          <p:cNvCxnSpPr>
            <a:stCxn id="243" idx="6"/>
            <a:endCxn id="244" idx="1"/>
          </p:cNvCxnSpPr>
          <p:nvPr/>
        </p:nvCxnSpPr>
        <p:spPr>
          <a:xfrm flipH="1" rot="10800000">
            <a:off x="3961275" y="2263608"/>
            <a:ext cx="303900" cy="900"/>
          </a:xfrm>
          <a:prstGeom prst="straightConnector1">
            <a:avLst/>
          </a:prstGeom>
          <a:noFill/>
          <a:ln cap="flat" cmpd="sng" w="9525">
            <a:solidFill>
              <a:schemeClr val="dk2"/>
            </a:solidFill>
            <a:prstDash val="solid"/>
            <a:round/>
            <a:headEnd len="med" w="med" type="none"/>
            <a:tailEnd len="med" w="med" type="triangle"/>
          </a:ln>
        </p:spPr>
      </p:cxnSp>
      <p:sp>
        <p:nvSpPr>
          <p:cNvPr id="246" name="Google Shape;246;p24"/>
          <p:cNvSpPr/>
          <p:nvPr/>
        </p:nvSpPr>
        <p:spPr>
          <a:xfrm>
            <a:off x="6017641" y="20488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Đầy</a:t>
            </a:r>
            <a:endParaRPr>
              <a:latin typeface="Times New Roman"/>
              <a:ea typeface="Times New Roman"/>
              <a:cs typeface="Times New Roman"/>
              <a:sym typeface="Times New Roman"/>
            </a:endParaRPr>
          </a:p>
        </p:txBody>
      </p:sp>
      <p:cxnSp>
        <p:nvCxnSpPr>
          <p:cNvPr id="247" name="Google Shape;247;p24"/>
          <p:cNvCxnSpPr>
            <a:stCxn id="244" idx="3"/>
            <a:endCxn id="246" idx="1"/>
          </p:cNvCxnSpPr>
          <p:nvPr/>
        </p:nvCxnSpPr>
        <p:spPr>
          <a:xfrm>
            <a:off x="4990441" y="2263475"/>
            <a:ext cx="1027200" cy="0"/>
          </a:xfrm>
          <a:prstGeom prst="straightConnector1">
            <a:avLst/>
          </a:prstGeom>
          <a:noFill/>
          <a:ln cap="flat" cmpd="sng" w="9525">
            <a:solidFill>
              <a:schemeClr val="dk2"/>
            </a:solidFill>
            <a:prstDash val="solid"/>
            <a:round/>
            <a:headEnd len="med" w="med" type="none"/>
            <a:tailEnd len="med" w="med" type="triangle"/>
          </a:ln>
        </p:spPr>
      </p:cxnSp>
      <p:sp>
        <p:nvSpPr>
          <p:cNvPr id="248" name="Google Shape;248;p24"/>
          <p:cNvSpPr txBox="1"/>
          <p:nvPr/>
        </p:nvSpPr>
        <p:spPr>
          <a:xfrm>
            <a:off x="5028125" y="1885675"/>
            <a:ext cx="5487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Nạp</a:t>
            </a:r>
            <a:endParaRPr sz="1600">
              <a:solidFill>
                <a:schemeClr val="dk2"/>
              </a:solidFill>
              <a:latin typeface="Times New Roman"/>
              <a:ea typeface="Times New Roman"/>
              <a:cs typeface="Times New Roman"/>
              <a:sym typeface="Times New Roman"/>
            </a:endParaRPr>
          </a:p>
        </p:txBody>
      </p:sp>
      <p:sp>
        <p:nvSpPr>
          <p:cNvPr id="249" name="Google Shape;249;p24"/>
          <p:cNvSpPr txBox="1"/>
          <p:nvPr/>
        </p:nvSpPr>
        <p:spPr>
          <a:xfrm>
            <a:off x="4647125" y="2723875"/>
            <a:ext cx="10272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Dùng hết</a:t>
            </a:r>
            <a:endParaRPr sz="1600">
              <a:solidFill>
                <a:schemeClr val="dk2"/>
              </a:solidFill>
              <a:latin typeface="Times New Roman"/>
              <a:ea typeface="Times New Roman"/>
              <a:cs typeface="Times New Roman"/>
              <a:sym typeface="Times New Roman"/>
            </a:endParaRPr>
          </a:p>
        </p:txBody>
      </p:sp>
      <p:cxnSp>
        <p:nvCxnSpPr>
          <p:cNvPr id="250" name="Google Shape;250;p24"/>
          <p:cNvCxnSpPr>
            <a:stCxn id="251" idx="1"/>
            <a:endCxn id="244" idx="2"/>
          </p:cNvCxnSpPr>
          <p:nvPr/>
        </p:nvCxnSpPr>
        <p:spPr>
          <a:xfrm rot="10800000">
            <a:off x="4627741" y="2478275"/>
            <a:ext cx="1389900" cy="623400"/>
          </a:xfrm>
          <a:prstGeom prst="bentConnector2">
            <a:avLst/>
          </a:prstGeom>
          <a:noFill/>
          <a:ln cap="flat" cmpd="sng" w="9525">
            <a:solidFill>
              <a:schemeClr val="dk2"/>
            </a:solidFill>
            <a:prstDash val="solid"/>
            <a:round/>
            <a:headEnd len="med" w="med" type="none"/>
            <a:tailEnd len="med" w="med" type="triangle"/>
          </a:ln>
        </p:spPr>
      </p:cxnSp>
      <p:sp>
        <p:nvSpPr>
          <p:cNvPr id="251" name="Google Shape;251;p24"/>
          <p:cNvSpPr/>
          <p:nvPr/>
        </p:nvSpPr>
        <p:spPr>
          <a:xfrm>
            <a:off x="6017641" y="2887025"/>
            <a:ext cx="725400" cy="42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Còn ít</a:t>
            </a:r>
            <a:endParaRPr>
              <a:latin typeface="Times New Roman"/>
              <a:ea typeface="Times New Roman"/>
              <a:cs typeface="Times New Roman"/>
              <a:sym typeface="Times New Roman"/>
            </a:endParaRPr>
          </a:p>
        </p:txBody>
      </p:sp>
      <p:cxnSp>
        <p:nvCxnSpPr>
          <p:cNvPr id="252" name="Google Shape;252;p24"/>
          <p:cNvCxnSpPr/>
          <p:nvPr/>
        </p:nvCxnSpPr>
        <p:spPr>
          <a:xfrm>
            <a:off x="6608941" y="2478125"/>
            <a:ext cx="0" cy="408900"/>
          </a:xfrm>
          <a:prstGeom prst="straightConnector1">
            <a:avLst/>
          </a:prstGeom>
          <a:noFill/>
          <a:ln cap="flat" cmpd="sng" w="9525">
            <a:solidFill>
              <a:schemeClr val="dk2"/>
            </a:solidFill>
            <a:prstDash val="solid"/>
            <a:round/>
            <a:headEnd len="med" w="med" type="none"/>
            <a:tailEnd len="med" w="med" type="triangle"/>
          </a:ln>
        </p:spPr>
      </p:cxnSp>
      <p:cxnSp>
        <p:nvCxnSpPr>
          <p:cNvPr id="253" name="Google Shape;253;p24"/>
          <p:cNvCxnSpPr/>
          <p:nvPr/>
        </p:nvCxnSpPr>
        <p:spPr>
          <a:xfrm rot="10800000">
            <a:off x="6227941" y="2478125"/>
            <a:ext cx="0" cy="408900"/>
          </a:xfrm>
          <a:prstGeom prst="straightConnector1">
            <a:avLst/>
          </a:prstGeom>
          <a:noFill/>
          <a:ln cap="flat" cmpd="sng" w="9525">
            <a:solidFill>
              <a:schemeClr val="dk2"/>
            </a:solidFill>
            <a:prstDash val="solid"/>
            <a:round/>
            <a:headEnd len="med" w="med" type="none"/>
            <a:tailEnd len="med" w="med" type="triangle"/>
          </a:ln>
        </p:spPr>
      </p:cxnSp>
      <p:sp>
        <p:nvSpPr>
          <p:cNvPr id="254" name="Google Shape;254;p24"/>
          <p:cNvSpPr txBox="1"/>
          <p:nvPr/>
        </p:nvSpPr>
        <p:spPr>
          <a:xfrm>
            <a:off x="5713925" y="2495275"/>
            <a:ext cx="5487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Nạp</a:t>
            </a:r>
            <a:endParaRPr sz="1600">
              <a:solidFill>
                <a:schemeClr val="dk2"/>
              </a:solidFill>
              <a:latin typeface="Times New Roman"/>
              <a:ea typeface="Times New Roman"/>
              <a:cs typeface="Times New Roman"/>
              <a:sym typeface="Times New Roman"/>
            </a:endParaRPr>
          </a:p>
        </p:txBody>
      </p:sp>
      <p:sp>
        <p:nvSpPr>
          <p:cNvPr id="255" name="Google Shape;255;p24"/>
          <p:cNvSpPr txBox="1"/>
          <p:nvPr/>
        </p:nvSpPr>
        <p:spPr>
          <a:xfrm>
            <a:off x="6628325" y="2342875"/>
            <a:ext cx="762000" cy="6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Dùng nhiều</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p:nvPr/>
        </p:nvSpPr>
        <p:spPr>
          <a:xfrm>
            <a:off x="1815918" y="916535"/>
            <a:ext cx="5194500" cy="2683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61" name="Google Shape;261;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2" name="Google Shape;262;p25"/>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4.4. Máy trạng thái lồng nhau</a:t>
            </a:r>
            <a:endParaRPr/>
          </a:p>
        </p:txBody>
      </p:sp>
      <p:sp>
        <p:nvSpPr>
          <p:cNvPr id="263" name="Google Shape;263;p25"/>
          <p:cNvSpPr/>
          <p:nvPr/>
        </p:nvSpPr>
        <p:spPr>
          <a:xfrm flipH="1" rot="10800000">
            <a:off x="1815924" y="916550"/>
            <a:ext cx="2554200" cy="289800"/>
          </a:xfrm>
          <a:prstGeom prst="snip1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64" name="Google Shape;264;p25"/>
          <p:cNvSpPr txBox="1"/>
          <p:nvPr/>
        </p:nvSpPr>
        <p:spPr>
          <a:xfrm>
            <a:off x="1804099" y="862900"/>
            <a:ext cx="2619900" cy="3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ATM</a:t>
            </a:r>
            <a:endParaRPr>
              <a:solidFill>
                <a:schemeClr val="dk1"/>
              </a:solidFill>
              <a:latin typeface="Times New Roman"/>
              <a:ea typeface="Times New Roman"/>
              <a:cs typeface="Times New Roman"/>
              <a:sym typeface="Times New Roman"/>
            </a:endParaRPr>
          </a:p>
        </p:txBody>
      </p:sp>
      <p:sp>
        <p:nvSpPr>
          <p:cNvPr id="265" name="Google Shape;265;p25"/>
          <p:cNvSpPr/>
          <p:nvPr/>
        </p:nvSpPr>
        <p:spPr>
          <a:xfrm>
            <a:off x="2524250" y="1388775"/>
            <a:ext cx="225300" cy="225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66" name="Google Shape;266;p25"/>
          <p:cNvSpPr/>
          <p:nvPr/>
        </p:nvSpPr>
        <p:spPr>
          <a:xfrm>
            <a:off x="3898018" y="1292175"/>
            <a:ext cx="1159200" cy="397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Kiểm tra thẻ</a:t>
            </a:r>
            <a:endParaRPr>
              <a:latin typeface="Times New Roman"/>
              <a:ea typeface="Times New Roman"/>
              <a:cs typeface="Times New Roman"/>
              <a:sym typeface="Times New Roman"/>
            </a:endParaRPr>
          </a:p>
        </p:txBody>
      </p:sp>
      <p:sp>
        <p:nvSpPr>
          <p:cNvPr id="267" name="Google Shape;267;p25"/>
          <p:cNvSpPr/>
          <p:nvPr/>
        </p:nvSpPr>
        <p:spPr>
          <a:xfrm>
            <a:off x="3299150" y="2054175"/>
            <a:ext cx="2346000" cy="473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đọc số tiền: Đọc Số Tiền</a:t>
            </a:r>
            <a:endParaRPr>
              <a:latin typeface="Times New Roman"/>
              <a:ea typeface="Times New Roman"/>
              <a:cs typeface="Times New Roman"/>
              <a:sym typeface="Times New Roman"/>
            </a:endParaRPr>
          </a:p>
        </p:txBody>
      </p:sp>
      <p:sp>
        <p:nvSpPr>
          <p:cNvPr id="268" name="Google Shape;268;p25"/>
          <p:cNvSpPr/>
          <p:nvPr/>
        </p:nvSpPr>
        <p:spPr>
          <a:xfrm>
            <a:off x="2003750" y="3023300"/>
            <a:ext cx="1357500" cy="473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Tạm dừng dịch vụ</a:t>
            </a:r>
            <a:endParaRPr>
              <a:latin typeface="Times New Roman"/>
              <a:ea typeface="Times New Roman"/>
              <a:cs typeface="Times New Roman"/>
              <a:sym typeface="Times New Roman"/>
            </a:endParaRPr>
          </a:p>
        </p:txBody>
      </p:sp>
      <p:sp>
        <p:nvSpPr>
          <p:cNvPr id="269" name="Google Shape;269;p25"/>
          <p:cNvSpPr/>
          <p:nvPr/>
        </p:nvSpPr>
        <p:spPr>
          <a:xfrm>
            <a:off x="3951692" y="3023300"/>
            <a:ext cx="1042200" cy="473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Đã trả tiền</a:t>
            </a:r>
            <a:endParaRPr>
              <a:latin typeface="Times New Roman"/>
              <a:ea typeface="Times New Roman"/>
              <a:cs typeface="Times New Roman"/>
              <a:sym typeface="Times New Roman"/>
            </a:endParaRPr>
          </a:p>
        </p:txBody>
      </p:sp>
      <p:sp>
        <p:nvSpPr>
          <p:cNvPr id="270" name="Google Shape;270;p25"/>
          <p:cNvSpPr/>
          <p:nvPr/>
        </p:nvSpPr>
        <p:spPr>
          <a:xfrm>
            <a:off x="5989750" y="3023300"/>
            <a:ext cx="953100" cy="473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Đã trả thẻ</a:t>
            </a:r>
            <a:endParaRPr>
              <a:latin typeface="Times New Roman"/>
              <a:ea typeface="Times New Roman"/>
              <a:cs typeface="Times New Roman"/>
              <a:sym typeface="Times New Roman"/>
            </a:endParaRPr>
          </a:p>
        </p:txBody>
      </p:sp>
      <p:cxnSp>
        <p:nvCxnSpPr>
          <p:cNvPr id="271" name="Google Shape;271;p25"/>
          <p:cNvCxnSpPr>
            <a:stCxn id="265" idx="6"/>
            <a:endCxn id="266" idx="1"/>
          </p:cNvCxnSpPr>
          <p:nvPr/>
        </p:nvCxnSpPr>
        <p:spPr>
          <a:xfrm flipH="1" rot="10800000">
            <a:off x="2749550" y="1490925"/>
            <a:ext cx="1148400" cy="10500"/>
          </a:xfrm>
          <a:prstGeom prst="straightConnector1">
            <a:avLst/>
          </a:prstGeom>
          <a:noFill/>
          <a:ln cap="flat" cmpd="sng" w="9525">
            <a:solidFill>
              <a:schemeClr val="dk2"/>
            </a:solidFill>
            <a:prstDash val="solid"/>
            <a:round/>
            <a:headEnd len="med" w="med" type="none"/>
            <a:tailEnd len="med" w="med" type="triangle"/>
          </a:ln>
        </p:spPr>
      </p:cxnSp>
      <p:cxnSp>
        <p:nvCxnSpPr>
          <p:cNvPr id="272" name="Google Shape;272;p25"/>
          <p:cNvCxnSpPr>
            <a:stCxn id="266" idx="2"/>
            <a:endCxn id="267" idx="0"/>
          </p:cNvCxnSpPr>
          <p:nvPr/>
        </p:nvCxnSpPr>
        <p:spPr>
          <a:xfrm flipH="1">
            <a:off x="4472218" y="1689375"/>
            <a:ext cx="5400" cy="364800"/>
          </a:xfrm>
          <a:prstGeom prst="straightConnector1">
            <a:avLst/>
          </a:prstGeom>
          <a:noFill/>
          <a:ln cap="flat" cmpd="sng" w="9525">
            <a:solidFill>
              <a:schemeClr val="dk2"/>
            </a:solidFill>
            <a:prstDash val="solid"/>
            <a:round/>
            <a:headEnd len="med" w="med" type="none"/>
            <a:tailEnd len="med" w="med" type="triangle"/>
          </a:ln>
        </p:spPr>
      </p:cxnSp>
      <p:cxnSp>
        <p:nvCxnSpPr>
          <p:cNvPr id="273" name="Google Shape;273;p25"/>
          <p:cNvCxnSpPr>
            <a:stCxn id="267" idx="1"/>
            <a:endCxn id="268" idx="0"/>
          </p:cNvCxnSpPr>
          <p:nvPr/>
        </p:nvCxnSpPr>
        <p:spPr>
          <a:xfrm flipH="1">
            <a:off x="2682650" y="2290875"/>
            <a:ext cx="616500" cy="732300"/>
          </a:xfrm>
          <a:prstGeom prst="bentConnector2">
            <a:avLst/>
          </a:prstGeom>
          <a:noFill/>
          <a:ln cap="flat" cmpd="sng" w="9525">
            <a:solidFill>
              <a:schemeClr val="dk2"/>
            </a:solidFill>
            <a:prstDash val="solid"/>
            <a:round/>
            <a:headEnd len="med" w="med" type="none"/>
            <a:tailEnd len="med" w="med" type="triangle"/>
          </a:ln>
        </p:spPr>
      </p:cxnSp>
      <p:cxnSp>
        <p:nvCxnSpPr>
          <p:cNvPr id="274" name="Google Shape;274;p25"/>
          <p:cNvCxnSpPr>
            <a:stCxn id="267" idx="2"/>
            <a:endCxn id="269" idx="0"/>
          </p:cNvCxnSpPr>
          <p:nvPr/>
        </p:nvCxnSpPr>
        <p:spPr>
          <a:xfrm>
            <a:off x="4472150" y="2527575"/>
            <a:ext cx="600" cy="495600"/>
          </a:xfrm>
          <a:prstGeom prst="straightConnector1">
            <a:avLst/>
          </a:prstGeom>
          <a:noFill/>
          <a:ln cap="flat" cmpd="sng" w="9525">
            <a:solidFill>
              <a:schemeClr val="dk2"/>
            </a:solidFill>
            <a:prstDash val="solid"/>
            <a:round/>
            <a:headEnd len="med" w="med" type="none"/>
            <a:tailEnd len="med" w="med" type="triangle"/>
          </a:ln>
        </p:spPr>
      </p:cxnSp>
      <p:cxnSp>
        <p:nvCxnSpPr>
          <p:cNvPr id="275" name="Google Shape;275;p25"/>
          <p:cNvCxnSpPr>
            <a:stCxn id="276" idx="6"/>
            <a:endCxn id="270" idx="0"/>
          </p:cNvCxnSpPr>
          <p:nvPr/>
        </p:nvCxnSpPr>
        <p:spPr>
          <a:xfrm>
            <a:off x="5749632" y="2299900"/>
            <a:ext cx="716700" cy="723300"/>
          </a:xfrm>
          <a:prstGeom prst="bentConnector2">
            <a:avLst/>
          </a:prstGeom>
          <a:noFill/>
          <a:ln cap="flat" cmpd="sng" w="9525">
            <a:solidFill>
              <a:schemeClr val="dk2"/>
            </a:solidFill>
            <a:prstDash val="solid"/>
            <a:round/>
            <a:headEnd len="med" w="med" type="none"/>
            <a:tailEnd len="med" w="med" type="triangle"/>
          </a:ln>
        </p:spPr>
      </p:cxnSp>
      <p:cxnSp>
        <p:nvCxnSpPr>
          <p:cNvPr id="277" name="Google Shape;277;p25"/>
          <p:cNvCxnSpPr>
            <a:stCxn id="269" idx="3"/>
            <a:endCxn id="270" idx="1"/>
          </p:cNvCxnSpPr>
          <p:nvPr/>
        </p:nvCxnSpPr>
        <p:spPr>
          <a:xfrm>
            <a:off x="4993892" y="3260000"/>
            <a:ext cx="996000" cy="0"/>
          </a:xfrm>
          <a:prstGeom prst="straightConnector1">
            <a:avLst/>
          </a:prstGeom>
          <a:noFill/>
          <a:ln cap="flat" cmpd="sng" w="9525">
            <a:solidFill>
              <a:schemeClr val="dk2"/>
            </a:solidFill>
            <a:prstDash val="solid"/>
            <a:round/>
            <a:headEnd len="med" w="med" type="none"/>
            <a:tailEnd len="med" w="med" type="triangle"/>
          </a:ln>
        </p:spPr>
      </p:cxnSp>
      <p:sp>
        <p:nvSpPr>
          <p:cNvPr id="278" name="Google Shape;278;p25"/>
          <p:cNvSpPr/>
          <p:nvPr/>
        </p:nvSpPr>
        <p:spPr>
          <a:xfrm>
            <a:off x="1761182" y="3921606"/>
            <a:ext cx="5194500" cy="2683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79" name="Google Shape;279;p25"/>
          <p:cNvSpPr/>
          <p:nvPr/>
        </p:nvSpPr>
        <p:spPr>
          <a:xfrm flipH="1" rot="10800000">
            <a:off x="1761188" y="3921620"/>
            <a:ext cx="2554200" cy="289800"/>
          </a:xfrm>
          <a:prstGeom prst="snip1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80" name="Google Shape;280;p25"/>
          <p:cNvSpPr txBox="1"/>
          <p:nvPr/>
        </p:nvSpPr>
        <p:spPr>
          <a:xfrm>
            <a:off x="1749364" y="3867970"/>
            <a:ext cx="2619900" cy="3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Đọc Số Tiền</a:t>
            </a:r>
            <a:endParaRPr>
              <a:solidFill>
                <a:schemeClr val="dk1"/>
              </a:solidFill>
              <a:latin typeface="Times New Roman"/>
              <a:ea typeface="Times New Roman"/>
              <a:cs typeface="Times New Roman"/>
              <a:sym typeface="Times New Roman"/>
            </a:endParaRPr>
          </a:p>
        </p:txBody>
      </p:sp>
      <p:sp>
        <p:nvSpPr>
          <p:cNvPr id="281" name="Google Shape;281;p25"/>
          <p:cNvSpPr/>
          <p:nvPr/>
        </p:nvSpPr>
        <p:spPr>
          <a:xfrm>
            <a:off x="2079950" y="5004500"/>
            <a:ext cx="1219200" cy="591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Chọn số tiền</a:t>
            </a:r>
            <a:endParaRPr>
              <a:latin typeface="Times New Roman"/>
              <a:ea typeface="Times New Roman"/>
              <a:cs typeface="Times New Roman"/>
              <a:sym typeface="Times New Roman"/>
            </a:endParaRPr>
          </a:p>
        </p:txBody>
      </p:sp>
      <p:sp>
        <p:nvSpPr>
          <p:cNvPr id="282" name="Google Shape;282;p25"/>
          <p:cNvSpPr/>
          <p:nvPr/>
        </p:nvSpPr>
        <p:spPr>
          <a:xfrm>
            <a:off x="3908750" y="5918900"/>
            <a:ext cx="1219200" cy="591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Nhập số tiền</a:t>
            </a:r>
            <a:endParaRPr>
              <a:latin typeface="Times New Roman"/>
              <a:ea typeface="Times New Roman"/>
              <a:cs typeface="Times New Roman"/>
              <a:sym typeface="Times New Roman"/>
            </a:endParaRPr>
          </a:p>
        </p:txBody>
      </p:sp>
      <p:sp>
        <p:nvSpPr>
          <p:cNvPr id="283" name="Google Shape;283;p25"/>
          <p:cNvSpPr txBox="1"/>
          <p:nvPr/>
        </p:nvSpPr>
        <p:spPr>
          <a:xfrm>
            <a:off x="4477625" y="4357350"/>
            <a:ext cx="5487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Hủy</a:t>
            </a:r>
            <a:endParaRPr sz="1600">
              <a:solidFill>
                <a:schemeClr val="dk2"/>
              </a:solidFill>
              <a:latin typeface="Times New Roman"/>
              <a:ea typeface="Times New Roman"/>
              <a:cs typeface="Times New Roman"/>
              <a:sym typeface="Times New Roman"/>
            </a:endParaRPr>
          </a:p>
        </p:txBody>
      </p:sp>
      <p:sp>
        <p:nvSpPr>
          <p:cNvPr id="284" name="Google Shape;284;p25"/>
          <p:cNvSpPr/>
          <p:nvPr/>
        </p:nvSpPr>
        <p:spPr>
          <a:xfrm>
            <a:off x="2219450" y="4284375"/>
            <a:ext cx="225300" cy="225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85" name="Google Shape;285;p25"/>
          <p:cNvSpPr/>
          <p:nvPr/>
        </p:nvSpPr>
        <p:spPr>
          <a:xfrm>
            <a:off x="2577912" y="6113175"/>
            <a:ext cx="225300" cy="225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86" name="Google Shape;286;p25"/>
          <p:cNvSpPr/>
          <p:nvPr/>
        </p:nvSpPr>
        <p:spPr>
          <a:xfrm>
            <a:off x="2523187" y="6057358"/>
            <a:ext cx="332700" cy="332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87" name="Google Shape;287;p25"/>
          <p:cNvSpPr/>
          <p:nvPr/>
        </p:nvSpPr>
        <p:spPr>
          <a:xfrm>
            <a:off x="6628350" y="6078825"/>
            <a:ext cx="264300" cy="28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88" name="Google Shape;288;p25"/>
          <p:cNvCxnSpPr>
            <a:stCxn id="287" idx="1"/>
            <a:endCxn id="287" idx="5"/>
          </p:cNvCxnSpPr>
          <p:nvPr/>
        </p:nvCxnSpPr>
        <p:spPr>
          <a:xfrm>
            <a:off x="6667056" y="6121265"/>
            <a:ext cx="186900" cy="204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25"/>
          <p:cNvCxnSpPr>
            <a:stCxn id="287" idx="3"/>
            <a:endCxn id="287" idx="7"/>
          </p:cNvCxnSpPr>
          <p:nvPr/>
        </p:nvCxnSpPr>
        <p:spPr>
          <a:xfrm flipH="1" rot="10800000">
            <a:off x="6667056" y="6121285"/>
            <a:ext cx="186900" cy="2049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25"/>
          <p:cNvCxnSpPr>
            <a:stCxn id="284" idx="4"/>
          </p:cNvCxnSpPr>
          <p:nvPr/>
        </p:nvCxnSpPr>
        <p:spPr>
          <a:xfrm>
            <a:off x="2332100" y="4509675"/>
            <a:ext cx="127800" cy="506700"/>
          </a:xfrm>
          <a:prstGeom prst="straightConnector1">
            <a:avLst/>
          </a:prstGeom>
          <a:noFill/>
          <a:ln cap="flat" cmpd="sng" w="9525">
            <a:solidFill>
              <a:schemeClr val="dk2"/>
            </a:solidFill>
            <a:prstDash val="solid"/>
            <a:round/>
            <a:headEnd len="med" w="med" type="none"/>
            <a:tailEnd len="med" w="med" type="triangle"/>
          </a:ln>
        </p:spPr>
      </p:cxnSp>
      <p:cxnSp>
        <p:nvCxnSpPr>
          <p:cNvPr id="291" name="Google Shape;291;p25"/>
          <p:cNvCxnSpPr>
            <a:stCxn id="281" idx="0"/>
            <a:endCxn id="287" idx="0"/>
          </p:cNvCxnSpPr>
          <p:nvPr/>
        </p:nvCxnSpPr>
        <p:spPr>
          <a:xfrm flipH="1" rot="-5400000">
            <a:off x="4187900" y="3506150"/>
            <a:ext cx="1074300" cy="4071000"/>
          </a:xfrm>
          <a:prstGeom prst="bentConnector3">
            <a:avLst>
              <a:gd fmla="val -22166" name="adj1"/>
            </a:avLst>
          </a:prstGeom>
          <a:noFill/>
          <a:ln cap="flat" cmpd="sng" w="9525">
            <a:solidFill>
              <a:schemeClr val="dk2"/>
            </a:solidFill>
            <a:prstDash val="solid"/>
            <a:round/>
            <a:headEnd len="med" w="med" type="none"/>
            <a:tailEnd len="med" w="med" type="triangle"/>
          </a:ln>
        </p:spPr>
      </p:cxnSp>
      <p:cxnSp>
        <p:nvCxnSpPr>
          <p:cNvPr id="292" name="Google Shape;292;p25"/>
          <p:cNvCxnSpPr>
            <a:stCxn id="281" idx="3"/>
            <a:endCxn id="282" idx="0"/>
          </p:cNvCxnSpPr>
          <p:nvPr/>
        </p:nvCxnSpPr>
        <p:spPr>
          <a:xfrm>
            <a:off x="3299150" y="5300150"/>
            <a:ext cx="1219200" cy="618900"/>
          </a:xfrm>
          <a:prstGeom prst="bentConnector2">
            <a:avLst/>
          </a:prstGeom>
          <a:noFill/>
          <a:ln cap="flat" cmpd="sng" w="9525">
            <a:solidFill>
              <a:schemeClr val="dk2"/>
            </a:solidFill>
            <a:prstDash val="solid"/>
            <a:round/>
            <a:headEnd len="med" w="med" type="none"/>
            <a:tailEnd len="med" w="med" type="triangle"/>
          </a:ln>
        </p:spPr>
      </p:cxnSp>
      <p:cxnSp>
        <p:nvCxnSpPr>
          <p:cNvPr id="293" name="Google Shape;293;p25"/>
          <p:cNvCxnSpPr>
            <a:stCxn id="282" idx="1"/>
            <a:endCxn id="286" idx="6"/>
          </p:cNvCxnSpPr>
          <p:nvPr/>
        </p:nvCxnSpPr>
        <p:spPr>
          <a:xfrm flipH="1">
            <a:off x="2855750" y="6214550"/>
            <a:ext cx="1053000" cy="9300"/>
          </a:xfrm>
          <a:prstGeom prst="straightConnector1">
            <a:avLst/>
          </a:prstGeom>
          <a:noFill/>
          <a:ln cap="flat" cmpd="sng" w="9525">
            <a:solidFill>
              <a:schemeClr val="dk2"/>
            </a:solidFill>
            <a:prstDash val="solid"/>
            <a:round/>
            <a:headEnd len="med" w="med" type="none"/>
            <a:tailEnd len="med" w="med" type="triangle"/>
          </a:ln>
        </p:spPr>
      </p:cxnSp>
      <p:cxnSp>
        <p:nvCxnSpPr>
          <p:cNvPr id="294" name="Google Shape;294;p25"/>
          <p:cNvCxnSpPr>
            <a:stCxn id="281" idx="2"/>
            <a:endCxn id="286" idx="0"/>
          </p:cNvCxnSpPr>
          <p:nvPr/>
        </p:nvCxnSpPr>
        <p:spPr>
          <a:xfrm>
            <a:off x="2689550" y="5595800"/>
            <a:ext cx="0" cy="461700"/>
          </a:xfrm>
          <a:prstGeom prst="straightConnector1">
            <a:avLst/>
          </a:prstGeom>
          <a:noFill/>
          <a:ln cap="flat" cmpd="sng" w="9525">
            <a:solidFill>
              <a:schemeClr val="dk2"/>
            </a:solidFill>
            <a:prstDash val="solid"/>
            <a:round/>
            <a:headEnd len="med" w="med" type="none"/>
            <a:tailEnd len="med" w="med" type="triangle"/>
          </a:ln>
        </p:spPr>
      </p:cxnSp>
      <p:cxnSp>
        <p:nvCxnSpPr>
          <p:cNvPr id="295" name="Google Shape;295;p25"/>
          <p:cNvCxnSpPr>
            <a:stCxn id="282" idx="3"/>
            <a:endCxn id="287" idx="2"/>
          </p:cNvCxnSpPr>
          <p:nvPr/>
        </p:nvCxnSpPr>
        <p:spPr>
          <a:xfrm>
            <a:off x="5127950" y="6214550"/>
            <a:ext cx="1500300" cy="9300"/>
          </a:xfrm>
          <a:prstGeom prst="straightConnector1">
            <a:avLst/>
          </a:prstGeom>
          <a:noFill/>
          <a:ln cap="flat" cmpd="sng" w="9525">
            <a:solidFill>
              <a:schemeClr val="dk2"/>
            </a:solidFill>
            <a:prstDash val="solid"/>
            <a:round/>
            <a:headEnd len="med" w="med" type="none"/>
            <a:tailEnd len="med" w="med" type="triangle"/>
          </a:ln>
        </p:spPr>
      </p:cxnSp>
      <p:sp>
        <p:nvSpPr>
          <p:cNvPr id="296" name="Google Shape;296;p25"/>
          <p:cNvSpPr txBox="1"/>
          <p:nvPr/>
        </p:nvSpPr>
        <p:spPr>
          <a:xfrm>
            <a:off x="2648825" y="5576550"/>
            <a:ext cx="10422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Xác nhận</a:t>
            </a:r>
            <a:endParaRPr sz="1600">
              <a:solidFill>
                <a:schemeClr val="dk2"/>
              </a:solidFill>
              <a:latin typeface="Times New Roman"/>
              <a:ea typeface="Times New Roman"/>
              <a:cs typeface="Times New Roman"/>
              <a:sym typeface="Times New Roman"/>
            </a:endParaRPr>
          </a:p>
        </p:txBody>
      </p:sp>
      <p:sp>
        <p:nvSpPr>
          <p:cNvPr id="297" name="Google Shape;297;p25"/>
          <p:cNvSpPr txBox="1"/>
          <p:nvPr/>
        </p:nvSpPr>
        <p:spPr>
          <a:xfrm>
            <a:off x="2953625" y="5892082"/>
            <a:ext cx="10422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Xác nhận</a:t>
            </a:r>
            <a:endParaRPr sz="1600">
              <a:solidFill>
                <a:schemeClr val="dk2"/>
              </a:solidFill>
              <a:latin typeface="Times New Roman"/>
              <a:ea typeface="Times New Roman"/>
              <a:cs typeface="Times New Roman"/>
              <a:sym typeface="Times New Roman"/>
            </a:endParaRPr>
          </a:p>
        </p:txBody>
      </p:sp>
      <p:sp>
        <p:nvSpPr>
          <p:cNvPr id="298" name="Google Shape;298;p25"/>
          <p:cNvSpPr txBox="1"/>
          <p:nvPr/>
        </p:nvSpPr>
        <p:spPr>
          <a:xfrm>
            <a:off x="5392025" y="5815882"/>
            <a:ext cx="10422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Hủy</a:t>
            </a:r>
            <a:endParaRPr sz="1600">
              <a:solidFill>
                <a:schemeClr val="dk2"/>
              </a:solidFill>
              <a:latin typeface="Times New Roman"/>
              <a:ea typeface="Times New Roman"/>
              <a:cs typeface="Times New Roman"/>
              <a:sym typeface="Times New Roman"/>
            </a:endParaRPr>
          </a:p>
        </p:txBody>
      </p:sp>
      <p:sp>
        <p:nvSpPr>
          <p:cNvPr id="299" name="Google Shape;299;p25"/>
          <p:cNvSpPr txBox="1"/>
          <p:nvPr/>
        </p:nvSpPr>
        <p:spPr>
          <a:xfrm>
            <a:off x="3410825" y="4956225"/>
            <a:ext cx="16464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Cần số tiền khác</a:t>
            </a:r>
            <a:endParaRPr sz="1600">
              <a:solidFill>
                <a:schemeClr val="dk2"/>
              </a:solidFill>
              <a:latin typeface="Times New Roman"/>
              <a:ea typeface="Times New Roman"/>
              <a:cs typeface="Times New Roman"/>
              <a:sym typeface="Times New Roman"/>
            </a:endParaRPr>
          </a:p>
        </p:txBody>
      </p:sp>
      <p:sp>
        <p:nvSpPr>
          <p:cNvPr id="300" name="Google Shape;300;p25"/>
          <p:cNvSpPr txBox="1"/>
          <p:nvPr/>
        </p:nvSpPr>
        <p:spPr>
          <a:xfrm>
            <a:off x="4479778" y="1646350"/>
            <a:ext cx="1053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Nhận thẻ</a:t>
            </a:r>
            <a:endParaRPr sz="1600">
              <a:solidFill>
                <a:schemeClr val="dk2"/>
              </a:solidFill>
              <a:latin typeface="Times New Roman"/>
              <a:ea typeface="Times New Roman"/>
              <a:cs typeface="Times New Roman"/>
              <a:sym typeface="Times New Roman"/>
            </a:endParaRPr>
          </a:p>
        </p:txBody>
      </p:sp>
      <p:sp>
        <p:nvSpPr>
          <p:cNvPr id="301" name="Google Shape;301;p25"/>
          <p:cNvSpPr txBox="1"/>
          <p:nvPr/>
        </p:nvSpPr>
        <p:spPr>
          <a:xfrm>
            <a:off x="4936978" y="2865550"/>
            <a:ext cx="1053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Trả thẻ</a:t>
            </a:r>
            <a:endParaRPr sz="1600">
              <a:solidFill>
                <a:schemeClr val="dk2"/>
              </a:solidFill>
              <a:latin typeface="Times New Roman"/>
              <a:ea typeface="Times New Roman"/>
              <a:cs typeface="Times New Roman"/>
              <a:sym typeface="Times New Roman"/>
            </a:endParaRPr>
          </a:p>
        </p:txBody>
      </p:sp>
      <p:sp>
        <p:nvSpPr>
          <p:cNvPr id="276" name="Google Shape;276;p25"/>
          <p:cNvSpPr/>
          <p:nvPr/>
        </p:nvSpPr>
        <p:spPr>
          <a:xfrm>
            <a:off x="5555832" y="2193700"/>
            <a:ext cx="193800" cy="2124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02" name="Google Shape;302;p25"/>
          <p:cNvCxnSpPr>
            <a:stCxn id="276" idx="1"/>
            <a:endCxn id="276" idx="5"/>
          </p:cNvCxnSpPr>
          <p:nvPr/>
        </p:nvCxnSpPr>
        <p:spPr>
          <a:xfrm>
            <a:off x="5584214" y="2224805"/>
            <a:ext cx="137100" cy="150300"/>
          </a:xfrm>
          <a:prstGeom prst="straightConnector1">
            <a:avLst/>
          </a:prstGeom>
          <a:noFill/>
          <a:ln cap="flat" cmpd="sng" w="9525">
            <a:solidFill>
              <a:schemeClr val="dk2"/>
            </a:solidFill>
            <a:prstDash val="solid"/>
            <a:round/>
            <a:headEnd len="med" w="med" type="none"/>
            <a:tailEnd len="med" w="med" type="none"/>
          </a:ln>
        </p:spPr>
      </p:cxnSp>
      <p:cxnSp>
        <p:nvCxnSpPr>
          <p:cNvPr id="303" name="Google Shape;303;p25"/>
          <p:cNvCxnSpPr>
            <a:stCxn id="276" idx="3"/>
            <a:endCxn id="276" idx="7"/>
          </p:cNvCxnSpPr>
          <p:nvPr/>
        </p:nvCxnSpPr>
        <p:spPr>
          <a:xfrm flipH="1" rot="10800000">
            <a:off x="5584214" y="2224695"/>
            <a:ext cx="137100" cy="150300"/>
          </a:xfrm>
          <a:prstGeom prst="straightConnector1">
            <a:avLst/>
          </a:prstGeom>
          <a:noFill/>
          <a:ln cap="flat" cmpd="sng" w="9525">
            <a:solidFill>
              <a:schemeClr val="dk2"/>
            </a:solidFill>
            <a:prstDash val="solid"/>
            <a:round/>
            <a:headEnd len="med" w="med" type="none"/>
            <a:tailEnd len="med" w="med" type="none"/>
          </a:ln>
        </p:spPr>
      </p:cxnSp>
      <p:sp>
        <p:nvSpPr>
          <p:cNvPr id="304" name="Google Shape;304;p25"/>
          <p:cNvSpPr txBox="1"/>
          <p:nvPr/>
        </p:nvSpPr>
        <p:spPr>
          <a:xfrm>
            <a:off x="5698978" y="1951150"/>
            <a:ext cx="1053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Hủy</a:t>
            </a:r>
            <a:endParaRPr sz="1600">
              <a:solidFill>
                <a:schemeClr val="dk2"/>
              </a:solidFill>
              <a:latin typeface="Times New Roman"/>
              <a:ea typeface="Times New Roman"/>
              <a:cs typeface="Times New Roman"/>
              <a:sym typeface="Times New Roman"/>
            </a:endParaRPr>
          </a:p>
        </p:txBody>
      </p:sp>
      <p:sp>
        <p:nvSpPr>
          <p:cNvPr id="305" name="Google Shape;305;p25"/>
          <p:cNvSpPr txBox="1"/>
          <p:nvPr/>
        </p:nvSpPr>
        <p:spPr>
          <a:xfrm>
            <a:off x="2498578" y="1874950"/>
            <a:ext cx="1053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Sự cố</a:t>
            </a:r>
            <a:endParaRPr sz="1600">
              <a:solidFill>
                <a:schemeClr val="dk2"/>
              </a:solidFill>
              <a:latin typeface="Times New Roman"/>
              <a:ea typeface="Times New Roman"/>
              <a:cs typeface="Times New Roman"/>
              <a:sym typeface="Times New Roman"/>
            </a:endParaRPr>
          </a:p>
        </p:txBody>
      </p:sp>
      <p:sp>
        <p:nvSpPr>
          <p:cNvPr id="306" name="Google Shape;306;p25"/>
          <p:cNvSpPr txBox="1"/>
          <p:nvPr/>
        </p:nvSpPr>
        <p:spPr>
          <a:xfrm>
            <a:off x="4479778" y="2560750"/>
            <a:ext cx="10530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Xuất tiền</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idx="4294967295" type="title"/>
          </p:nvPr>
        </p:nvSpPr>
        <p:spPr>
          <a:xfrm>
            <a:off x="248475" y="212375"/>
            <a:ext cx="8583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bước vẽ </a:t>
            </a:r>
            <a:r>
              <a:rPr lang="en-GB"/>
              <a:t>sơ đồ</a:t>
            </a:r>
            <a:r>
              <a:rPr lang="en-GB"/>
              <a:t> máy trạng thái</a:t>
            </a:r>
            <a:endParaRPr/>
          </a:p>
        </p:txBody>
      </p:sp>
      <p:sp>
        <p:nvSpPr>
          <p:cNvPr id="312" name="Google Shape;312;p26"/>
          <p:cNvSpPr txBox="1"/>
          <p:nvPr>
            <p:ph idx="4294967295" type="body"/>
          </p:nvPr>
        </p:nvSpPr>
        <p:spPr>
          <a:xfrm>
            <a:off x="311700" y="975875"/>
            <a:ext cx="8746200" cy="5594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GB"/>
              <a:t>Nghiên cứu</a:t>
            </a:r>
            <a:r>
              <a:rPr lang="en-GB"/>
              <a:t> </a:t>
            </a:r>
            <a:r>
              <a:rPr lang="en-GB"/>
              <a:t>sơ đồ</a:t>
            </a:r>
            <a:r>
              <a:rPr lang="en-GB"/>
              <a:t> lớp và </a:t>
            </a:r>
            <a:r>
              <a:rPr lang="en-GB"/>
              <a:t>mô hình chức năng, </a:t>
            </a:r>
            <a:r>
              <a:rPr lang="en-GB"/>
              <a:t>xác định </a:t>
            </a:r>
            <a:r>
              <a:rPr lang="en-GB"/>
              <a:t>các đối tượng lĩnh vực có nhiều trạng thái, </a:t>
            </a:r>
            <a:r>
              <a:rPr lang="en-GB"/>
              <a:t>cần </a:t>
            </a:r>
            <a:r>
              <a:rPr lang="en-GB"/>
              <a:t>được </a:t>
            </a:r>
            <a:r>
              <a:rPr lang="en-GB"/>
              <a:t>biểu </a:t>
            </a:r>
            <a:r>
              <a:rPr lang="en-GB"/>
              <a:t>diễn bằng sơ đồ</a:t>
            </a:r>
            <a:r>
              <a:rPr lang="en-GB"/>
              <a:t> máy trạng thái.</a:t>
            </a:r>
            <a:endParaRPr/>
          </a:p>
          <a:p>
            <a:pPr indent="-368300" lvl="1" marL="914400" rtl="0" algn="l">
              <a:spcBef>
                <a:spcPts val="0"/>
              </a:spcBef>
              <a:spcAft>
                <a:spcPts val="0"/>
              </a:spcAft>
              <a:buSzPts val="2200"/>
              <a:buAutoNum type="alphaLcPeriod"/>
            </a:pPr>
            <a:r>
              <a:rPr lang="en-GB"/>
              <a:t>Xuất hiện trong nhiều ca sử dụng.</a:t>
            </a:r>
            <a:endParaRPr/>
          </a:p>
          <a:p>
            <a:pPr indent="-368300" lvl="1" marL="914400" rtl="0" algn="l">
              <a:spcBef>
                <a:spcPts val="0"/>
              </a:spcBef>
              <a:spcAft>
                <a:spcPts val="0"/>
              </a:spcAft>
              <a:buSzPts val="2200"/>
              <a:buAutoNum type="alphaLcPeriod"/>
            </a:pPr>
            <a:r>
              <a:rPr lang="en-GB"/>
              <a:t>Liên quan đến các công việc nghiệp vụ.</a:t>
            </a:r>
            <a:endParaRPr/>
          </a:p>
          <a:p>
            <a:pPr indent="-381000" lvl="0" marL="457200" rtl="0" algn="l">
              <a:spcBef>
                <a:spcPts val="0"/>
              </a:spcBef>
              <a:spcAft>
                <a:spcPts val="0"/>
              </a:spcAft>
              <a:buSzPts val="2400"/>
              <a:buAutoNum type="arabicPeriod"/>
            </a:pPr>
            <a:r>
              <a:rPr lang="en-GB"/>
              <a:t>Lập</a:t>
            </a:r>
            <a:r>
              <a:rPr lang="en-GB"/>
              <a:t> danh sách các trạng thái của đối tượng.</a:t>
            </a:r>
            <a:endParaRPr/>
          </a:p>
          <a:p>
            <a:pPr indent="-381000" lvl="0" marL="457200" rtl="0" algn="l">
              <a:spcBef>
                <a:spcPts val="0"/>
              </a:spcBef>
              <a:spcAft>
                <a:spcPts val="0"/>
              </a:spcAft>
              <a:buSzPts val="2400"/>
              <a:buAutoNum type="arabicPeriod"/>
            </a:pPr>
            <a:r>
              <a:rPr lang="en-GB"/>
              <a:t>Xác định các </a:t>
            </a:r>
            <a:r>
              <a:rPr lang="en-GB"/>
              <a:t>sự kiện</a:t>
            </a:r>
            <a:r>
              <a:rPr lang="en-GB"/>
              <a:t> </a:t>
            </a:r>
            <a:r>
              <a:rPr lang="en-GB"/>
              <a:t>làm </a:t>
            </a:r>
            <a:r>
              <a:rPr lang="en-GB"/>
              <a:t>thay đổi trạng thái </a:t>
            </a:r>
            <a:r>
              <a:rPr lang="en-GB"/>
              <a:t>của đối tượng</a:t>
            </a:r>
            <a:r>
              <a:rPr lang="en-GB"/>
              <a:t>.</a:t>
            </a:r>
            <a:endParaRPr/>
          </a:p>
          <a:p>
            <a:pPr indent="-381000" lvl="0" marL="457200" rtl="0" algn="l">
              <a:spcBef>
                <a:spcPts val="0"/>
              </a:spcBef>
              <a:spcAft>
                <a:spcPts val="0"/>
              </a:spcAft>
              <a:buSzPts val="2400"/>
              <a:buAutoNum type="arabicPeriod"/>
            </a:pPr>
            <a:r>
              <a:rPr lang="en-GB"/>
              <a:t>Thiết lập cấu trúc trạng thái, </a:t>
            </a:r>
            <a:r>
              <a:rPr lang="en-GB"/>
              <a:t>kết hợp nhiều trạng thái nhỏ thành trạng thái tổng hợp nếu có thể.</a:t>
            </a:r>
            <a:endParaRPr/>
          </a:p>
          <a:p>
            <a:pPr indent="-381000" lvl="0" marL="457200" rtl="0" algn="l">
              <a:spcBef>
                <a:spcPts val="0"/>
              </a:spcBef>
              <a:spcAft>
                <a:spcPts val="0"/>
              </a:spcAft>
              <a:buSzPts val="2400"/>
              <a:buAutoNum type="arabicPeriod"/>
            </a:pPr>
            <a:r>
              <a:rPr lang="en-GB"/>
              <a:t>Biểu diễn các bước chuyển trạng thái.</a:t>
            </a:r>
            <a:endParaRPr/>
          </a:p>
          <a:p>
            <a:pPr indent="-381000" lvl="0" marL="457200" rtl="0" algn="l">
              <a:spcBef>
                <a:spcPts val="0"/>
              </a:spcBef>
              <a:spcAft>
                <a:spcPts val="0"/>
              </a:spcAft>
              <a:buSzPts val="2400"/>
              <a:buAutoNum type="arabicPeriod"/>
            </a:pPr>
            <a:r>
              <a:rPr lang="en-GB"/>
              <a:t>Bổ xung các chi tiết cho bước chuyển: </a:t>
            </a:r>
            <a:r>
              <a:rPr lang="en-GB"/>
              <a:t>S</a:t>
            </a:r>
            <a:r>
              <a:rPr lang="en-GB"/>
              <a:t>ự kiện, điều kiện bảo vệ, </a:t>
            </a:r>
            <a:r>
              <a:rPr lang="en-GB"/>
              <a:t>hành động</a:t>
            </a:r>
            <a:r>
              <a:rPr lang="en-GB"/>
              <a:t>.</a:t>
            </a:r>
            <a:endParaRPr/>
          </a:p>
          <a:p>
            <a:pPr indent="-381000" lvl="0" marL="457200" rtl="0" algn="l">
              <a:spcBef>
                <a:spcPts val="0"/>
              </a:spcBef>
              <a:spcAft>
                <a:spcPts val="0"/>
              </a:spcAft>
              <a:buSzPts val="2400"/>
              <a:buAutoNum type="arabicPeriod"/>
            </a:pPr>
            <a:r>
              <a:rPr lang="en-GB"/>
              <a:t>Kiểm tra </a:t>
            </a:r>
            <a:r>
              <a:rPr lang="en-GB"/>
              <a:t>kết quả thu được</a:t>
            </a:r>
            <a:r>
              <a:rPr lang="en-GB"/>
              <a:t>.</a:t>
            </a:r>
            <a:endParaRPr/>
          </a:p>
        </p:txBody>
      </p:sp>
      <p:sp>
        <p:nvSpPr>
          <p:cNvPr id="313" name="Google Shape;313;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19" name="Google Shape;319;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0" name="Google Shape;320;p27"/>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trạng thái của đối tượng</a:t>
            </a:r>
            <a:endParaRPr/>
          </a:p>
          <a:p>
            <a:pPr indent="-368300" lvl="1" marL="914400" rtl="0" algn="l">
              <a:spcBef>
                <a:spcPts val="0"/>
              </a:spcBef>
              <a:spcAft>
                <a:spcPts val="0"/>
              </a:spcAft>
              <a:buSzPts val="2200"/>
              <a:buChar char="○"/>
            </a:pPr>
            <a:r>
              <a:rPr lang="en-GB"/>
              <a:t>Sơ đồ</a:t>
            </a:r>
            <a:r>
              <a:rPr lang="en-GB"/>
              <a:t> máy trạng thái</a:t>
            </a:r>
            <a:endParaRPr/>
          </a:p>
          <a:p>
            <a:pPr indent="-381000" lvl="0" marL="457200" rtl="0" algn="l">
              <a:spcBef>
                <a:spcPts val="0"/>
              </a:spcBef>
              <a:spcAft>
                <a:spcPts val="0"/>
              </a:spcAft>
              <a:buSzPts val="2400"/>
              <a:buChar char="●"/>
            </a:pPr>
            <a:r>
              <a:rPr b="1" lang="en-GB"/>
              <a:t>Các mô hình tương tác</a:t>
            </a:r>
            <a:endParaRPr b="1"/>
          </a:p>
          <a:p>
            <a:pPr indent="-368300" lvl="1" marL="914400" rtl="0" algn="l">
              <a:spcBef>
                <a:spcPts val="0"/>
              </a:spcBef>
              <a:spcAft>
                <a:spcPts val="0"/>
              </a:spcAft>
              <a:buSzPts val="2200"/>
              <a:buChar char="○"/>
            </a:pPr>
            <a:r>
              <a:rPr lang="en-GB"/>
              <a:t>Sơ đồ</a:t>
            </a:r>
            <a:r>
              <a:rPr lang="en-GB"/>
              <a:t> tuần tự</a:t>
            </a:r>
            <a:endParaRPr/>
          </a:p>
          <a:p>
            <a:pPr indent="-368300" lvl="1" marL="914400" rtl="0" algn="l">
              <a:spcBef>
                <a:spcPts val="0"/>
              </a:spcBef>
              <a:spcAft>
                <a:spcPts val="0"/>
              </a:spcAft>
              <a:buSzPts val="2200"/>
              <a:buChar char="○"/>
            </a:pPr>
            <a:r>
              <a:rPr lang="en-GB"/>
              <a:t>Sơ đồ</a:t>
            </a:r>
            <a:r>
              <a:rPr lang="en-GB"/>
              <a:t> giao tiếp</a:t>
            </a:r>
            <a:endParaRPr/>
          </a:p>
          <a:p>
            <a:pPr indent="-381000" lvl="0" marL="457200" rtl="0" algn="l">
              <a:spcBef>
                <a:spcPts val="0"/>
              </a:spcBef>
              <a:spcAft>
                <a:spcPts val="0"/>
              </a:spcAft>
              <a:buSzPts val="2400"/>
              <a:buChar char="●"/>
            </a:pPr>
            <a:r>
              <a:rPr lang="en-GB"/>
              <a:t>Kỹ thuật phát hiện các mối quan hệ</a:t>
            </a:r>
            <a:endParaRPr/>
          </a:p>
          <a:p>
            <a:pPr indent="-368300" lvl="1" marL="914400" rtl="0" algn="l">
              <a:spcBef>
                <a:spcPts val="0"/>
              </a:spcBef>
              <a:spcAft>
                <a:spcPts val="0"/>
              </a:spcAft>
              <a:buSzPts val="2200"/>
              <a:buChar char="○"/>
            </a:pPr>
            <a:r>
              <a:rPr lang="en-GB"/>
              <a:t>Phân tích ma trận CRUD(E)</a:t>
            </a:r>
            <a:endParaRPr/>
          </a:p>
          <a:p>
            <a:pPr indent="-381000" lvl="0" marL="457200" rtl="0" algn="l">
              <a:spcBef>
                <a:spcPts val="0"/>
              </a:spcBef>
              <a:spcAft>
                <a:spcPts val="0"/>
              </a:spcAft>
              <a:buSzPts val="2400"/>
              <a:buChar char="●"/>
            </a:pPr>
            <a:r>
              <a:rPr lang="en-GB"/>
              <a:t>Tổng kết các nội dung phân tích</a:t>
            </a:r>
            <a:endParaRPr/>
          </a:p>
        </p:txBody>
      </p:sp>
      <p:sp>
        <p:nvSpPr>
          <p:cNvPr id="321" name="Google Shape;321;p27"/>
          <p:cNvSpPr/>
          <p:nvPr/>
        </p:nvSpPr>
        <p:spPr>
          <a:xfrm>
            <a:off x="446275" y="2123398"/>
            <a:ext cx="5314800" cy="7635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8"/>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tương tác</a:t>
            </a:r>
            <a:endParaRPr/>
          </a:p>
        </p:txBody>
      </p:sp>
      <p:sp>
        <p:nvSpPr>
          <p:cNvPr id="327" name="Google Shape;327;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8" name="Google Shape;328;p28"/>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tương tác giữa các đối tượng theo cơ chế truyền thông điệp để hoàn thành các hoạt động của người dùng.</a:t>
            </a:r>
            <a:endParaRPr/>
          </a:p>
          <a:p>
            <a:pPr indent="-381000" lvl="0" marL="457200" rtl="0" algn="l">
              <a:spcBef>
                <a:spcPts val="0"/>
              </a:spcBef>
              <a:spcAft>
                <a:spcPts val="0"/>
              </a:spcAft>
              <a:buSzPts val="2400"/>
              <a:buChar char="●"/>
            </a:pPr>
            <a:r>
              <a:rPr lang="en-GB"/>
              <a:t>Sơ đồ tuần tự: </a:t>
            </a:r>
            <a:r>
              <a:rPr lang="en-GB"/>
              <a:t>Dễ theo dõi thứ tự tuần tự của các thông điệp, là l</a:t>
            </a:r>
            <a:r>
              <a:rPr lang="en-GB"/>
              <a:t>oại sơ đồ tương tác được sử dụng phổ biến nhất</a:t>
            </a:r>
            <a:endParaRPr/>
          </a:p>
          <a:p>
            <a:pPr indent="-381000" lvl="0" marL="457200" rtl="0" algn="l">
              <a:spcBef>
                <a:spcPts val="0"/>
              </a:spcBef>
              <a:spcAft>
                <a:spcPts val="0"/>
              </a:spcAft>
              <a:buSzPts val="2400"/>
              <a:buChar char="●"/>
            </a:pPr>
            <a:r>
              <a:rPr lang="en-GB"/>
              <a:t>Sơ đồ giao tiếp: Tự do bố trí các đối tượng, dễ theo dõi quan hệ giữa các đối tượng.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9"/>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thường dùng</a:t>
            </a:r>
            <a:endParaRPr/>
          </a:p>
        </p:txBody>
      </p:sp>
      <p:sp>
        <p:nvSpPr>
          <p:cNvPr id="334" name="Google Shape;334;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5" name="Google Shape;335;p29"/>
          <p:cNvSpPr/>
          <p:nvPr/>
        </p:nvSpPr>
        <p:spPr>
          <a:xfrm>
            <a:off x="671750" y="10454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obj:Class</a:t>
            </a:r>
            <a:endParaRPr/>
          </a:p>
        </p:txBody>
      </p:sp>
      <p:cxnSp>
        <p:nvCxnSpPr>
          <p:cNvPr id="336" name="Google Shape;336;p29"/>
          <p:cNvCxnSpPr>
            <a:stCxn id="335" idx="2"/>
            <a:endCxn id="337" idx="0"/>
          </p:cNvCxnSpPr>
          <p:nvPr/>
        </p:nvCxnSpPr>
        <p:spPr>
          <a:xfrm>
            <a:off x="1152500" y="1475650"/>
            <a:ext cx="9600" cy="771000"/>
          </a:xfrm>
          <a:prstGeom prst="straightConnector1">
            <a:avLst/>
          </a:prstGeom>
          <a:noFill/>
          <a:ln cap="flat" cmpd="sng" w="9525">
            <a:solidFill>
              <a:schemeClr val="dk2"/>
            </a:solidFill>
            <a:prstDash val="dash"/>
            <a:round/>
            <a:headEnd len="med" w="med" type="none"/>
            <a:tailEnd len="med" w="med" type="none"/>
          </a:ln>
        </p:spPr>
      </p:cxnSp>
      <p:sp>
        <p:nvSpPr>
          <p:cNvPr id="337" name="Google Shape;337;p29"/>
          <p:cNvSpPr txBox="1"/>
          <p:nvPr/>
        </p:nvSpPr>
        <p:spPr>
          <a:xfrm>
            <a:off x="530285" y="2246700"/>
            <a:ext cx="1263900" cy="43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Đối tượng sống</a:t>
            </a:r>
            <a:endParaRPr sz="1800">
              <a:latin typeface="Times New Roman"/>
              <a:ea typeface="Times New Roman"/>
              <a:cs typeface="Times New Roman"/>
              <a:sym typeface="Times New Roman"/>
            </a:endParaRPr>
          </a:p>
        </p:txBody>
      </p:sp>
      <p:sp>
        <p:nvSpPr>
          <p:cNvPr id="338" name="Google Shape;338;p29"/>
          <p:cNvSpPr/>
          <p:nvPr/>
        </p:nvSpPr>
        <p:spPr>
          <a:xfrm>
            <a:off x="2348150" y="10454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obj:Class</a:t>
            </a:r>
            <a:endParaRPr/>
          </a:p>
        </p:txBody>
      </p:sp>
      <p:cxnSp>
        <p:nvCxnSpPr>
          <p:cNvPr id="339" name="Google Shape;339;p29"/>
          <p:cNvCxnSpPr/>
          <p:nvPr/>
        </p:nvCxnSpPr>
        <p:spPr>
          <a:xfrm>
            <a:off x="2828900" y="1475650"/>
            <a:ext cx="0" cy="771000"/>
          </a:xfrm>
          <a:prstGeom prst="straightConnector1">
            <a:avLst/>
          </a:prstGeom>
          <a:noFill/>
          <a:ln cap="flat" cmpd="sng" w="9525">
            <a:solidFill>
              <a:schemeClr val="dk2"/>
            </a:solidFill>
            <a:prstDash val="dash"/>
            <a:round/>
            <a:headEnd len="med" w="med" type="none"/>
            <a:tailEnd len="med" w="med" type="none"/>
          </a:ln>
        </p:spPr>
      </p:cxnSp>
      <p:sp>
        <p:nvSpPr>
          <p:cNvPr id="340" name="Google Shape;340;p29"/>
          <p:cNvSpPr txBox="1"/>
          <p:nvPr/>
        </p:nvSpPr>
        <p:spPr>
          <a:xfrm>
            <a:off x="2139750" y="2378929"/>
            <a:ext cx="1371600" cy="46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Xử lý thông điệp</a:t>
            </a:r>
            <a:endParaRPr sz="1800">
              <a:latin typeface="Times New Roman"/>
              <a:ea typeface="Times New Roman"/>
              <a:cs typeface="Times New Roman"/>
              <a:sym typeface="Times New Roman"/>
            </a:endParaRPr>
          </a:p>
        </p:txBody>
      </p:sp>
      <p:sp>
        <p:nvSpPr>
          <p:cNvPr id="341" name="Google Shape;341;p29"/>
          <p:cNvSpPr/>
          <p:nvPr/>
        </p:nvSpPr>
        <p:spPr>
          <a:xfrm>
            <a:off x="2776204" y="1670725"/>
            <a:ext cx="107700" cy="365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671750" y="31073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obj:Class</a:t>
            </a:r>
            <a:endParaRPr/>
          </a:p>
        </p:txBody>
      </p:sp>
      <p:cxnSp>
        <p:nvCxnSpPr>
          <p:cNvPr id="343" name="Google Shape;343;p29"/>
          <p:cNvCxnSpPr>
            <a:stCxn id="342" idx="2"/>
            <a:endCxn id="344" idx="0"/>
          </p:cNvCxnSpPr>
          <p:nvPr/>
        </p:nvCxnSpPr>
        <p:spPr>
          <a:xfrm>
            <a:off x="1152500" y="3537550"/>
            <a:ext cx="0" cy="771000"/>
          </a:xfrm>
          <a:prstGeom prst="straightConnector1">
            <a:avLst/>
          </a:prstGeom>
          <a:noFill/>
          <a:ln cap="flat" cmpd="sng" w="9525">
            <a:solidFill>
              <a:schemeClr val="dk2"/>
            </a:solidFill>
            <a:prstDash val="dash"/>
            <a:round/>
            <a:headEnd len="med" w="med" type="none"/>
            <a:tailEnd len="med" w="med" type="none"/>
          </a:ln>
        </p:spPr>
      </p:cxnSp>
      <p:sp>
        <p:nvSpPr>
          <p:cNvPr id="344" name="Google Shape;344;p29"/>
          <p:cNvSpPr txBox="1"/>
          <p:nvPr/>
        </p:nvSpPr>
        <p:spPr>
          <a:xfrm>
            <a:off x="543996" y="4308600"/>
            <a:ext cx="1217100" cy="43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Bất biến</a:t>
            </a:r>
            <a:endParaRPr sz="1800">
              <a:latin typeface="Times New Roman"/>
              <a:ea typeface="Times New Roman"/>
              <a:cs typeface="Times New Roman"/>
              <a:sym typeface="Times New Roman"/>
            </a:endParaRPr>
          </a:p>
        </p:txBody>
      </p:sp>
      <p:sp>
        <p:nvSpPr>
          <p:cNvPr id="345" name="Google Shape;345;p29"/>
          <p:cNvSpPr/>
          <p:nvPr/>
        </p:nvSpPr>
        <p:spPr>
          <a:xfrm>
            <a:off x="671700" y="3721400"/>
            <a:ext cx="961500" cy="315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p==5</a:t>
            </a:r>
            <a:endParaRPr/>
          </a:p>
        </p:txBody>
      </p:sp>
      <p:sp>
        <p:nvSpPr>
          <p:cNvPr id="346" name="Google Shape;346;p29"/>
          <p:cNvSpPr/>
          <p:nvPr/>
        </p:nvSpPr>
        <p:spPr>
          <a:xfrm>
            <a:off x="4509450" y="10454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obj:Class</a:t>
            </a:r>
            <a:endParaRPr/>
          </a:p>
        </p:txBody>
      </p:sp>
      <p:cxnSp>
        <p:nvCxnSpPr>
          <p:cNvPr id="347" name="Google Shape;347;p29"/>
          <p:cNvCxnSpPr/>
          <p:nvPr/>
        </p:nvCxnSpPr>
        <p:spPr>
          <a:xfrm>
            <a:off x="4990200" y="1475650"/>
            <a:ext cx="0" cy="771000"/>
          </a:xfrm>
          <a:prstGeom prst="straightConnector1">
            <a:avLst/>
          </a:prstGeom>
          <a:noFill/>
          <a:ln cap="flat" cmpd="sng" w="9525">
            <a:solidFill>
              <a:schemeClr val="dk2"/>
            </a:solidFill>
            <a:prstDash val="dash"/>
            <a:round/>
            <a:headEnd len="med" w="med" type="none"/>
            <a:tailEnd len="med" w="med" type="none"/>
          </a:ln>
        </p:spPr>
      </p:cxnSp>
      <p:sp>
        <p:nvSpPr>
          <p:cNvPr id="348" name="Google Shape;348;p29"/>
          <p:cNvSpPr txBox="1"/>
          <p:nvPr/>
        </p:nvSpPr>
        <p:spPr>
          <a:xfrm>
            <a:off x="4175544" y="2378925"/>
            <a:ext cx="1629300" cy="46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Các thông điệp song song</a:t>
            </a:r>
            <a:endParaRPr sz="1800">
              <a:latin typeface="Times New Roman"/>
              <a:ea typeface="Times New Roman"/>
              <a:cs typeface="Times New Roman"/>
              <a:sym typeface="Times New Roman"/>
            </a:endParaRPr>
          </a:p>
        </p:txBody>
      </p:sp>
      <p:sp>
        <p:nvSpPr>
          <p:cNvPr id="349" name="Google Shape;349;p29"/>
          <p:cNvSpPr/>
          <p:nvPr/>
        </p:nvSpPr>
        <p:spPr>
          <a:xfrm>
            <a:off x="4937504" y="1670725"/>
            <a:ext cx="107700" cy="365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0" name="Google Shape;350;p29"/>
          <p:cNvCxnSpPr/>
          <p:nvPr/>
        </p:nvCxnSpPr>
        <p:spPr>
          <a:xfrm>
            <a:off x="4446699" y="1758132"/>
            <a:ext cx="484200" cy="0"/>
          </a:xfrm>
          <a:prstGeom prst="straightConnector1">
            <a:avLst/>
          </a:prstGeom>
          <a:noFill/>
          <a:ln cap="flat" cmpd="sng" w="9525">
            <a:solidFill>
              <a:schemeClr val="dk2"/>
            </a:solidFill>
            <a:prstDash val="solid"/>
            <a:round/>
            <a:headEnd len="med" w="med" type="none"/>
            <a:tailEnd len="med" w="med" type="triangle"/>
          </a:ln>
        </p:spPr>
      </p:cxnSp>
      <p:cxnSp>
        <p:nvCxnSpPr>
          <p:cNvPr id="351" name="Google Shape;351;p29"/>
          <p:cNvCxnSpPr/>
          <p:nvPr/>
        </p:nvCxnSpPr>
        <p:spPr>
          <a:xfrm>
            <a:off x="4446699" y="1910532"/>
            <a:ext cx="484200" cy="0"/>
          </a:xfrm>
          <a:prstGeom prst="straightConnector1">
            <a:avLst/>
          </a:prstGeom>
          <a:noFill/>
          <a:ln cap="flat" cmpd="sng" w="9525">
            <a:solidFill>
              <a:schemeClr val="dk2"/>
            </a:solidFill>
            <a:prstDash val="solid"/>
            <a:round/>
            <a:headEnd len="med" w="med" type="none"/>
            <a:tailEnd len="med" w="med" type="triangle"/>
          </a:ln>
        </p:spPr>
      </p:cxnSp>
      <p:sp>
        <p:nvSpPr>
          <p:cNvPr id="352" name="Google Shape;352;p29"/>
          <p:cNvSpPr/>
          <p:nvPr/>
        </p:nvSpPr>
        <p:spPr>
          <a:xfrm>
            <a:off x="6719250" y="10454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obj:Class</a:t>
            </a:r>
            <a:endParaRPr/>
          </a:p>
        </p:txBody>
      </p:sp>
      <p:cxnSp>
        <p:nvCxnSpPr>
          <p:cNvPr id="353" name="Google Shape;353;p29"/>
          <p:cNvCxnSpPr/>
          <p:nvPr/>
        </p:nvCxnSpPr>
        <p:spPr>
          <a:xfrm>
            <a:off x="7200000" y="1475650"/>
            <a:ext cx="0" cy="771000"/>
          </a:xfrm>
          <a:prstGeom prst="straightConnector1">
            <a:avLst/>
          </a:prstGeom>
          <a:noFill/>
          <a:ln cap="flat" cmpd="sng" w="9525">
            <a:solidFill>
              <a:schemeClr val="dk2"/>
            </a:solidFill>
            <a:prstDash val="dash"/>
            <a:round/>
            <a:headEnd len="med" w="med" type="none"/>
            <a:tailEnd len="med" w="med" type="none"/>
          </a:ln>
        </p:spPr>
      </p:cxnSp>
      <p:sp>
        <p:nvSpPr>
          <p:cNvPr id="354" name="Google Shape;354;p29"/>
          <p:cNvSpPr txBox="1"/>
          <p:nvPr/>
        </p:nvSpPr>
        <p:spPr>
          <a:xfrm>
            <a:off x="6004344" y="2378925"/>
            <a:ext cx="1629300" cy="46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Giới hạn thời gian xử lý</a:t>
            </a:r>
            <a:endParaRPr sz="1800">
              <a:latin typeface="Times New Roman"/>
              <a:ea typeface="Times New Roman"/>
              <a:cs typeface="Times New Roman"/>
              <a:sym typeface="Times New Roman"/>
            </a:endParaRPr>
          </a:p>
        </p:txBody>
      </p:sp>
      <p:sp>
        <p:nvSpPr>
          <p:cNvPr id="355" name="Google Shape;355;p29"/>
          <p:cNvSpPr/>
          <p:nvPr/>
        </p:nvSpPr>
        <p:spPr>
          <a:xfrm>
            <a:off x="7147300" y="1670725"/>
            <a:ext cx="107700" cy="4302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6" name="Google Shape;356;p29"/>
          <p:cNvCxnSpPr/>
          <p:nvPr/>
        </p:nvCxnSpPr>
        <p:spPr>
          <a:xfrm>
            <a:off x="6267728" y="1758132"/>
            <a:ext cx="872700" cy="6600"/>
          </a:xfrm>
          <a:prstGeom prst="straightConnector1">
            <a:avLst/>
          </a:prstGeom>
          <a:noFill/>
          <a:ln cap="flat" cmpd="sng" w="9525">
            <a:solidFill>
              <a:schemeClr val="dk2"/>
            </a:solidFill>
            <a:prstDash val="solid"/>
            <a:round/>
            <a:headEnd len="med" w="med" type="none"/>
            <a:tailEnd len="med" w="med" type="triangle"/>
          </a:ln>
        </p:spPr>
      </p:cxnSp>
      <p:sp>
        <p:nvSpPr>
          <p:cNvPr id="357" name="Google Shape;357;p29"/>
          <p:cNvSpPr txBox="1"/>
          <p:nvPr/>
        </p:nvSpPr>
        <p:spPr>
          <a:xfrm>
            <a:off x="6286687" y="1460057"/>
            <a:ext cx="8001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Yêu cầu</a:t>
            </a:r>
            <a:endParaRPr i="1">
              <a:latin typeface="Times New Roman"/>
              <a:ea typeface="Times New Roman"/>
              <a:cs typeface="Times New Roman"/>
              <a:sym typeface="Times New Roman"/>
            </a:endParaRPr>
          </a:p>
        </p:txBody>
      </p:sp>
      <p:cxnSp>
        <p:nvCxnSpPr>
          <p:cNvPr id="358" name="Google Shape;358;p29"/>
          <p:cNvCxnSpPr/>
          <p:nvPr/>
        </p:nvCxnSpPr>
        <p:spPr>
          <a:xfrm rot="10800000">
            <a:off x="6271106" y="2060825"/>
            <a:ext cx="853800" cy="6600"/>
          </a:xfrm>
          <a:prstGeom prst="straightConnector1">
            <a:avLst/>
          </a:prstGeom>
          <a:noFill/>
          <a:ln cap="flat" cmpd="sng" w="9525">
            <a:solidFill>
              <a:schemeClr val="dk2"/>
            </a:solidFill>
            <a:prstDash val="dash"/>
            <a:round/>
            <a:headEnd len="med" w="med" type="none"/>
            <a:tailEnd len="med" w="med" type="triangle"/>
          </a:ln>
        </p:spPr>
      </p:cxnSp>
      <p:cxnSp>
        <p:nvCxnSpPr>
          <p:cNvPr id="359" name="Google Shape;359;p29"/>
          <p:cNvCxnSpPr/>
          <p:nvPr/>
        </p:nvCxnSpPr>
        <p:spPr>
          <a:xfrm>
            <a:off x="7023475" y="1772635"/>
            <a:ext cx="6600" cy="309300"/>
          </a:xfrm>
          <a:prstGeom prst="straightConnector1">
            <a:avLst/>
          </a:prstGeom>
          <a:noFill/>
          <a:ln cap="flat" cmpd="sng" w="9525">
            <a:solidFill>
              <a:schemeClr val="dk2"/>
            </a:solidFill>
            <a:prstDash val="dash"/>
            <a:round/>
            <a:headEnd len="med" w="med" type="stealth"/>
            <a:tailEnd len="med" w="med" type="stealth"/>
          </a:ln>
        </p:spPr>
      </p:cxnSp>
      <p:sp>
        <p:nvSpPr>
          <p:cNvPr id="360" name="Google Shape;360;p29"/>
          <p:cNvSpPr txBox="1"/>
          <p:nvPr/>
        </p:nvSpPr>
        <p:spPr>
          <a:xfrm>
            <a:off x="6293399" y="1950875"/>
            <a:ext cx="8727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Phản hồi</a:t>
            </a:r>
            <a:endParaRPr i="1">
              <a:latin typeface="Times New Roman"/>
              <a:ea typeface="Times New Roman"/>
              <a:cs typeface="Times New Roman"/>
              <a:sym typeface="Times New Roman"/>
            </a:endParaRPr>
          </a:p>
        </p:txBody>
      </p:sp>
      <p:sp>
        <p:nvSpPr>
          <p:cNvPr id="361" name="Google Shape;361;p29"/>
          <p:cNvSpPr txBox="1"/>
          <p:nvPr/>
        </p:nvSpPr>
        <p:spPr>
          <a:xfrm>
            <a:off x="6412193" y="1702104"/>
            <a:ext cx="8001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200">
                <a:latin typeface="Times New Roman"/>
                <a:ea typeface="Times New Roman"/>
                <a:cs typeface="Times New Roman"/>
                <a:sym typeface="Times New Roman"/>
              </a:rPr>
              <a:t>{d..3*d}</a:t>
            </a:r>
            <a:endParaRPr i="1" sz="1200">
              <a:latin typeface="Times New Roman"/>
              <a:ea typeface="Times New Roman"/>
              <a:cs typeface="Times New Roman"/>
              <a:sym typeface="Times New Roman"/>
            </a:endParaRPr>
          </a:p>
        </p:txBody>
      </p:sp>
      <p:cxnSp>
        <p:nvCxnSpPr>
          <p:cNvPr id="362" name="Google Shape;362;p29"/>
          <p:cNvCxnSpPr/>
          <p:nvPr/>
        </p:nvCxnSpPr>
        <p:spPr>
          <a:xfrm>
            <a:off x="7110438" y="3828863"/>
            <a:ext cx="275700" cy="284700"/>
          </a:xfrm>
          <a:prstGeom prst="straightConnector1">
            <a:avLst/>
          </a:prstGeom>
          <a:noFill/>
          <a:ln cap="flat" cmpd="sng" w="28575">
            <a:solidFill>
              <a:schemeClr val="dk2"/>
            </a:solidFill>
            <a:prstDash val="solid"/>
            <a:round/>
            <a:headEnd len="med" w="med" type="none"/>
            <a:tailEnd len="med" w="med" type="none"/>
          </a:ln>
        </p:spPr>
      </p:cxnSp>
      <p:sp>
        <p:nvSpPr>
          <p:cNvPr id="363" name="Google Shape;363;p29"/>
          <p:cNvSpPr txBox="1"/>
          <p:nvPr/>
        </p:nvSpPr>
        <p:spPr>
          <a:xfrm>
            <a:off x="6336000" y="4322025"/>
            <a:ext cx="1754400" cy="43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Hủy đối tượng</a:t>
            </a:r>
            <a:endParaRPr sz="1800">
              <a:latin typeface="Times New Roman"/>
              <a:ea typeface="Times New Roman"/>
              <a:cs typeface="Times New Roman"/>
              <a:sym typeface="Times New Roman"/>
            </a:endParaRPr>
          </a:p>
        </p:txBody>
      </p:sp>
      <p:cxnSp>
        <p:nvCxnSpPr>
          <p:cNvPr id="364" name="Google Shape;364;p29"/>
          <p:cNvCxnSpPr/>
          <p:nvPr/>
        </p:nvCxnSpPr>
        <p:spPr>
          <a:xfrm rot="5400000">
            <a:off x="7110438" y="3828863"/>
            <a:ext cx="275700" cy="284700"/>
          </a:xfrm>
          <a:prstGeom prst="straightConnector1">
            <a:avLst/>
          </a:prstGeom>
          <a:noFill/>
          <a:ln cap="flat" cmpd="sng" w="28575">
            <a:solidFill>
              <a:schemeClr val="dk2"/>
            </a:solidFill>
            <a:prstDash val="solid"/>
            <a:round/>
            <a:headEnd len="med" w="med" type="none"/>
            <a:tailEnd len="med" w="med" type="none"/>
          </a:ln>
        </p:spPr>
      </p:cxnSp>
      <p:cxnSp>
        <p:nvCxnSpPr>
          <p:cNvPr id="365" name="Google Shape;365;p29"/>
          <p:cNvCxnSpPr/>
          <p:nvPr/>
        </p:nvCxnSpPr>
        <p:spPr>
          <a:xfrm>
            <a:off x="1128950" y="5675650"/>
            <a:ext cx="1190100" cy="0"/>
          </a:xfrm>
          <a:prstGeom prst="straightConnector1">
            <a:avLst/>
          </a:prstGeom>
          <a:noFill/>
          <a:ln cap="flat" cmpd="sng" w="9525">
            <a:solidFill>
              <a:schemeClr val="dk2"/>
            </a:solidFill>
            <a:prstDash val="solid"/>
            <a:round/>
            <a:headEnd len="med" w="med" type="none"/>
            <a:tailEnd len="med" w="med" type="triangle"/>
          </a:ln>
        </p:spPr>
      </p:cxnSp>
      <p:cxnSp>
        <p:nvCxnSpPr>
          <p:cNvPr id="366" name="Google Shape;366;p29"/>
          <p:cNvCxnSpPr/>
          <p:nvPr/>
        </p:nvCxnSpPr>
        <p:spPr>
          <a:xfrm>
            <a:off x="7248300" y="3188300"/>
            <a:ext cx="0" cy="771000"/>
          </a:xfrm>
          <a:prstGeom prst="straightConnector1">
            <a:avLst/>
          </a:prstGeom>
          <a:noFill/>
          <a:ln cap="flat" cmpd="sng" w="9525">
            <a:solidFill>
              <a:schemeClr val="dk2"/>
            </a:solidFill>
            <a:prstDash val="dash"/>
            <a:round/>
            <a:headEnd len="med" w="med" type="none"/>
            <a:tailEnd len="med" w="med" type="none"/>
          </a:ln>
        </p:spPr>
      </p:cxnSp>
      <p:sp>
        <p:nvSpPr>
          <p:cNvPr id="367" name="Google Shape;367;p29"/>
          <p:cNvSpPr txBox="1"/>
          <p:nvPr/>
        </p:nvSpPr>
        <p:spPr>
          <a:xfrm>
            <a:off x="1048300" y="6155300"/>
            <a:ext cx="1263900" cy="43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Thông điệp</a:t>
            </a:r>
            <a:endParaRPr sz="1800">
              <a:latin typeface="Times New Roman"/>
              <a:ea typeface="Times New Roman"/>
              <a:cs typeface="Times New Roman"/>
              <a:sym typeface="Times New Roman"/>
            </a:endParaRPr>
          </a:p>
        </p:txBody>
      </p:sp>
      <p:cxnSp>
        <p:nvCxnSpPr>
          <p:cNvPr id="368" name="Google Shape;368;p29"/>
          <p:cNvCxnSpPr>
            <a:endCxn id="369" idx="2"/>
          </p:cNvCxnSpPr>
          <p:nvPr/>
        </p:nvCxnSpPr>
        <p:spPr>
          <a:xfrm flipH="1" rot="10800000">
            <a:off x="3837375" y="5672422"/>
            <a:ext cx="978300" cy="3300"/>
          </a:xfrm>
          <a:prstGeom prst="straightConnector1">
            <a:avLst/>
          </a:prstGeom>
          <a:noFill/>
          <a:ln cap="flat" cmpd="sng" w="9525">
            <a:solidFill>
              <a:schemeClr val="dk2"/>
            </a:solidFill>
            <a:prstDash val="solid"/>
            <a:round/>
            <a:headEnd len="med" w="med" type="none"/>
            <a:tailEnd len="med" w="med" type="triangle"/>
          </a:ln>
        </p:spPr>
      </p:cxnSp>
      <p:sp>
        <p:nvSpPr>
          <p:cNvPr id="370" name="Google Shape;370;p29"/>
          <p:cNvSpPr txBox="1"/>
          <p:nvPr/>
        </p:nvSpPr>
        <p:spPr>
          <a:xfrm>
            <a:off x="2901750" y="6213600"/>
            <a:ext cx="2265600" cy="36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Thông điệp </a:t>
            </a:r>
            <a:r>
              <a:rPr lang="en-GB" sz="1800">
                <a:latin typeface="Times New Roman"/>
                <a:ea typeface="Times New Roman"/>
                <a:cs typeface="Times New Roman"/>
                <a:sym typeface="Times New Roman"/>
              </a:rPr>
              <a:t>biến mất</a:t>
            </a:r>
            <a:endParaRPr sz="1800">
              <a:latin typeface="Times New Roman"/>
              <a:ea typeface="Times New Roman"/>
              <a:cs typeface="Times New Roman"/>
              <a:sym typeface="Times New Roman"/>
            </a:endParaRPr>
          </a:p>
        </p:txBody>
      </p:sp>
      <p:sp>
        <p:nvSpPr>
          <p:cNvPr id="369" name="Google Shape;369;p29"/>
          <p:cNvSpPr/>
          <p:nvPr/>
        </p:nvSpPr>
        <p:spPr>
          <a:xfrm>
            <a:off x="4815675" y="5595022"/>
            <a:ext cx="154800" cy="154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29"/>
          <p:cNvCxnSpPr>
            <a:stCxn id="372" idx="6"/>
          </p:cNvCxnSpPr>
          <p:nvPr/>
        </p:nvCxnSpPr>
        <p:spPr>
          <a:xfrm>
            <a:off x="5656275" y="5672422"/>
            <a:ext cx="1006200" cy="3300"/>
          </a:xfrm>
          <a:prstGeom prst="straightConnector1">
            <a:avLst/>
          </a:prstGeom>
          <a:noFill/>
          <a:ln cap="flat" cmpd="sng" w="9525">
            <a:solidFill>
              <a:schemeClr val="dk2"/>
            </a:solidFill>
            <a:prstDash val="solid"/>
            <a:round/>
            <a:headEnd len="med" w="med" type="none"/>
            <a:tailEnd len="med" w="med" type="triangle"/>
          </a:ln>
        </p:spPr>
      </p:cxnSp>
      <p:sp>
        <p:nvSpPr>
          <p:cNvPr id="373" name="Google Shape;373;p29"/>
          <p:cNvSpPr txBox="1"/>
          <p:nvPr/>
        </p:nvSpPr>
        <p:spPr>
          <a:xfrm>
            <a:off x="5420800" y="6130882"/>
            <a:ext cx="2094600" cy="52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Thông điệp </a:t>
            </a:r>
            <a:r>
              <a:rPr lang="en-GB" sz="1800">
                <a:latin typeface="Times New Roman"/>
                <a:ea typeface="Times New Roman"/>
                <a:cs typeface="Times New Roman"/>
                <a:sym typeface="Times New Roman"/>
              </a:rPr>
              <a:t>tìm thấy</a:t>
            </a:r>
            <a:endParaRPr sz="1800">
              <a:latin typeface="Times New Roman"/>
              <a:ea typeface="Times New Roman"/>
              <a:cs typeface="Times New Roman"/>
              <a:sym typeface="Times New Roman"/>
            </a:endParaRPr>
          </a:p>
        </p:txBody>
      </p:sp>
      <p:sp>
        <p:nvSpPr>
          <p:cNvPr id="372" name="Google Shape;372;p29"/>
          <p:cNvSpPr/>
          <p:nvPr/>
        </p:nvSpPr>
        <p:spPr>
          <a:xfrm>
            <a:off x="5501475" y="5595022"/>
            <a:ext cx="154800" cy="154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9"/>
          <p:cNvSpPr txBox="1"/>
          <p:nvPr/>
        </p:nvSpPr>
        <p:spPr>
          <a:xfrm>
            <a:off x="1535525" y="1513525"/>
            <a:ext cx="930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Trục thời gian</a:t>
            </a:r>
            <a:endParaRPr i="1">
              <a:latin typeface="Times New Roman"/>
              <a:ea typeface="Times New Roman"/>
              <a:cs typeface="Times New Roman"/>
              <a:sym typeface="Times New Roman"/>
            </a:endParaRPr>
          </a:p>
        </p:txBody>
      </p:sp>
      <p:cxnSp>
        <p:nvCxnSpPr>
          <p:cNvPr id="375" name="Google Shape;375;p29"/>
          <p:cNvCxnSpPr/>
          <p:nvPr/>
        </p:nvCxnSpPr>
        <p:spPr>
          <a:xfrm flipH="1">
            <a:off x="1239300" y="1846050"/>
            <a:ext cx="450300" cy="131700"/>
          </a:xfrm>
          <a:prstGeom prst="straightConnector1">
            <a:avLst/>
          </a:prstGeom>
          <a:noFill/>
          <a:ln cap="flat" cmpd="sng" w="9525">
            <a:solidFill>
              <a:schemeClr val="dk2"/>
            </a:solidFill>
            <a:prstDash val="dash"/>
            <a:round/>
            <a:headEnd len="med" w="med" type="none"/>
            <a:tailEnd len="med" w="med" type="stealth"/>
          </a:ln>
        </p:spPr>
      </p:cxnSp>
      <p:sp>
        <p:nvSpPr>
          <p:cNvPr id="376" name="Google Shape;376;p29"/>
          <p:cNvSpPr/>
          <p:nvPr/>
        </p:nvSpPr>
        <p:spPr>
          <a:xfrm>
            <a:off x="2228175" y="3075150"/>
            <a:ext cx="1546500" cy="571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
          <p:cNvSpPr/>
          <p:nvPr/>
        </p:nvSpPr>
        <p:spPr>
          <a:xfrm>
            <a:off x="2234900" y="3068425"/>
            <a:ext cx="591675" cy="389950"/>
          </a:xfrm>
          <a:custGeom>
            <a:rect b="b" l="l" r="r" t="t"/>
            <a:pathLst>
              <a:path extrusionOk="0" h="15598" w="23667">
                <a:moveTo>
                  <a:pt x="0" y="15598"/>
                </a:moveTo>
                <a:lnTo>
                  <a:pt x="15867" y="15598"/>
                </a:lnTo>
                <a:lnTo>
                  <a:pt x="23667" y="8337"/>
                </a:lnTo>
                <a:lnTo>
                  <a:pt x="23667" y="0"/>
                </a:lnTo>
              </a:path>
            </a:pathLst>
          </a:custGeom>
          <a:noFill/>
          <a:ln cap="flat" cmpd="sng" w="9525">
            <a:solidFill>
              <a:schemeClr val="dk2"/>
            </a:solidFill>
            <a:prstDash val="solid"/>
            <a:round/>
            <a:headEnd len="med" w="med" type="none"/>
            <a:tailEnd len="med" w="med" type="none"/>
          </a:ln>
        </p:spPr>
      </p:sp>
      <p:sp>
        <p:nvSpPr>
          <p:cNvPr id="378" name="Google Shape;378;p29"/>
          <p:cNvSpPr txBox="1"/>
          <p:nvPr/>
        </p:nvSpPr>
        <p:spPr>
          <a:xfrm>
            <a:off x="2228175" y="3075150"/>
            <a:ext cx="591600" cy="36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ref</a:t>
            </a:r>
            <a:endParaRPr sz="1800">
              <a:latin typeface="Times New Roman"/>
              <a:ea typeface="Times New Roman"/>
              <a:cs typeface="Times New Roman"/>
              <a:sym typeface="Times New Roman"/>
            </a:endParaRPr>
          </a:p>
        </p:txBody>
      </p:sp>
      <p:sp>
        <p:nvSpPr>
          <p:cNvPr id="379" name="Google Shape;379;p29"/>
          <p:cNvSpPr txBox="1"/>
          <p:nvPr/>
        </p:nvSpPr>
        <p:spPr>
          <a:xfrm>
            <a:off x="2837775" y="3227550"/>
            <a:ext cx="591600" cy="36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380" name="Google Shape;380;p29"/>
          <p:cNvSpPr txBox="1"/>
          <p:nvPr/>
        </p:nvSpPr>
        <p:spPr>
          <a:xfrm>
            <a:off x="2064600" y="4256225"/>
            <a:ext cx="1958400" cy="52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Tương tác mở rộng</a:t>
            </a:r>
            <a:endParaRPr sz="1800">
              <a:latin typeface="Times New Roman"/>
              <a:ea typeface="Times New Roman"/>
              <a:cs typeface="Times New Roman"/>
              <a:sym typeface="Times New Roman"/>
            </a:endParaRPr>
          </a:p>
        </p:txBody>
      </p:sp>
      <p:sp>
        <p:nvSpPr>
          <p:cNvPr id="381" name="Google Shape;381;p29"/>
          <p:cNvSpPr/>
          <p:nvPr/>
        </p:nvSpPr>
        <p:spPr>
          <a:xfrm>
            <a:off x="4514175" y="3075150"/>
            <a:ext cx="1584600" cy="1201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9"/>
          <p:cNvSpPr/>
          <p:nvPr/>
        </p:nvSpPr>
        <p:spPr>
          <a:xfrm>
            <a:off x="4520900" y="3068425"/>
            <a:ext cx="591675" cy="389950"/>
          </a:xfrm>
          <a:custGeom>
            <a:rect b="b" l="l" r="r" t="t"/>
            <a:pathLst>
              <a:path extrusionOk="0" h="15598" w="23667">
                <a:moveTo>
                  <a:pt x="0" y="15598"/>
                </a:moveTo>
                <a:lnTo>
                  <a:pt x="15867" y="15598"/>
                </a:lnTo>
                <a:lnTo>
                  <a:pt x="23667" y="8337"/>
                </a:lnTo>
                <a:lnTo>
                  <a:pt x="23667" y="0"/>
                </a:lnTo>
              </a:path>
            </a:pathLst>
          </a:custGeom>
          <a:noFill/>
          <a:ln cap="flat" cmpd="sng" w="9525">
            <a:solidFill>
              <a:schemeClr val="dk2"/>
            </a:solidFill>
            <a:prstDash val="solid"/>
            <a:round/>
            <a:headEnd len="med" w="med" type="none"/>
            <a:tailEnd len="med" w="med" type="none"/>
          </a:ln>
        </p:spPr>
      </p:sp>
      <p:sp>
        <p:nvSpPr>
          <p:cNvPr id="383" name="Google Shape;383;p29"/>
          <p:cNvSpPr txBox="1"/>
          <p:nvPr/>
        </p:nvSpPr>
        <p:spPr>
          <a:xfrm>
            <a:off x="4514175" y="3075150"/>
            <a:ext cx="591600" cy="36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ref</a:t>
            </a:r>
            <a:endParaRPr sz="1800">
              <a:latin typeface="Times New Roman"/>
              <a:ea typeface="Times New Roman"/>
              <a:cs typeface="Times New Roman"/>
              <a:sym typeface="Times New Roman"/>
            </a:endParaRPr>
          </a:p>
        </p:txBody>
      </p:sp>
      <p:sp>
        <p:nvSpPr>
          <p:cNvPr id="384" name="Google Shape;384;p29"/>
          <p:cNvSpPr txBox="1"/>
          <p:nvPr/>
        </p:nvSpPr>
        <p:spPr>
          <a:xfrm>
            <a:off x="4274400" y="4256225"/>
            <a:ext cx="1985400" cy="52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Các vùng </a:t>
            </a:r>
            <a:r>
              <a:rPr lang="en-GB" sz="1800">
                <a:latin typeface="Times New Roman"/>
                <a:ea typeface="Times New Roman"/>
                <a:cs typeface="Times New Roman"/>
                <a:sym typeface="Times New Roman"/>
              </a:rPr>
              <a:t>trực giao</a:t>
            </a:r>
            <a:endParaRPr sz="1800">
              <a:latin typeface="Times New Roman"/>
              <a:ea typeface="Times New Roman"/>
              <a:cs typeface="Times New Roman"/>
              <a:sym typeface="Times New Roman"/>
            </a:endParaRPr>
          </a:p>
        </p:txBody>
      </p:sp>
      <p:cxnSp>
        <p:nvCxnSpPr>
          <p:cNvPr id="385" name="Google Shape;385;p29"/>
          <p:cNvCxnSpPr>
            <a:stCxn id="381" idx="1"/>
          </p:cNvCxnSpPr>
          <p:nvPr/>
        </p:nvCxnSpPr>
        <p:spPr>
          <a:xfrm>
            <a:off x="4514175" y="3675750"/>
            <a:ext cx="1584600" cy="0"/>
          </a:xfrm>
          <a:prstGeom prst="straightConnector1">
            <a:avLst/>
          </a:prstGeom>
          <a:noFill/>
          <a:ln cap="flat" cmpd="sng" w="9525">
            <a:solidFill>
              <a:schemeClr val="dk2"/>
            </a:solidFill>
            <a:prstDash val="dash"/>
            <a:round/>
            <a:headEnd len="med" w="med" type="none"/>
            <a:tailEnd len="med" w="med" type="none"/>
          </a:ln>
        </p:spPr>
      </p:cxnSp>
      <p:sp>
        <p:nvSpPr>
          <p:cNvPr id="386" name="Google Shape;386;p29"/>
          <p:cNvSpPr/>
          <p:nvPr/>
        </p:nvSpPr>
        <p:spPr>
          <a:xfrm>
            <a:off x="671750" y="49316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a:t>
            </a:r>
            <a:r>
              <a:rPr lang="en-GB"/>
              <a:t>:Class</a:t>
            </a:r>
            <a:endParaRPr/>
          </a:p>
        </p:txBody>
      </p:sp>
      <p:cxnSp>
        <p:nvCxnSpPr>
          <p:cNvPr id="387" name="Google Shape;387;p29"/>
          <p:cNvCxnSpPr>
            <a:stCxn id="386" idx="2"/>
          </p:cNvCxnSpPr>
          <p:nvPr/>
        </p:nvCxnSpPr>
        <p:spPr>
          <a:xfrm>
            <a:off x="1152500" y="5361850"/>
            <a:ext cx="0" cy="771000"/>
          </a:xfrm>
          <a:prstGeom prst="straightConnector1">
            <a:avLst/>
          </a:prstGeom>
          <a:noFill/>
          <a:ln cap="flat" cmpd="sng" w="9525">
            <a:solidFill>
              <a:schemeClr val="dk2"/>
            </a:solidFill>
            <a:prstDash val="dash"/>
            <a:round/>
            <a:headEnd len="med" w="med" type="none"/>
            <a:tailEnd len="med" w="med" type="none"/>
          </a:ln>
        </p:spPr>
      </p:cxnSp>
      <p:sp>
        <p:nvSpPr>
          <p:cNvPr id="388" name="Google Shape;388;p29"/>
          <p:cNvSpPr/>
          <p:nvPr/>
        </p:nvSpPr>
        <p:spPr>
          <a:xfrm>
            <a:off x="1814750" y="49316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a:t>
            </a:r>
            <a:r>
              <a:rPr lang="en-GB"/>
              <a:t>:Class</a:t>
            </a:r>
            <a:endParaRPr/>
          </a:p>
        </p:txBody>
      </p:sp>
      <p:cxnSp>
        <p:nvCxnSpPr>
          <p:cNvPr id="389" name="Google Shape;389;p29"/>
          <p:cNvCxnSpPr/>
          <p:nvPr/>
        </p:nvCxnSpPr>
        <p:spPr>
          <a:xfrm>
            <a:off x="2350918" y="5361850"/>
            <a:ext cx="0" cy="771000"/>
          </a:xfrm>
          <a:prstGeom prst="straightConnector1">
            <a:avLst/>
          </a:prstGeom>
          <a:noFill/>
          <a:ln cap="flat" cmpd="sng" w="9525">
            <a:solidFill>
              <a:schemeClr val="dk2"/>
            </a:solidFill>
            <a:prstDash val="dash"/>
            <a:round/>
            <a:headEnd len="med" w="med" type="none"/>
            <a:tailEnd len="med" w="med" type="none"/>
          </a:ln>
        </p:spPr>
      </p:cxnSp>
      <p:sp>
        <p:nvSpPr>
          <p:cNvPr id="390" name="Google Shape;390;p29"/>
          <p:cNvSpPr/>
          <p:nvPr/>
        </p:nvSpPr>
        <p:spPr>
          <a:xfrm>
            <a:off x="2295504" y="5626200"/>
            <a:ext cx="107700" cy="365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9"/>
          <p:cNvSpPr txBox="1"/>
          <p:nvPr/>
        </p:nvSpPr>
        <p:spPr>
          <a:xfrm>
            <a:off x="1542103" y="5346250"/>
            <a:ext cx="5916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a:t>
            </a:r>
            <a:endParaRPr i="1">
              <a:latin typeface="Times New Roman"/>
              <a:ea typeface="Times New Roman"/>
              <a:cs typeface="Times New Roman"/>
              <a:sym typeface="Times New Roman"/>
            </a:endParaRPr>
          </a:p>
        </p:txBody>
      </p:sp>
      <p:sp>
        <p:nvSpPr>
          <p:cNvPr id="392" name="Google Shape;392;p29"/>
          <p:cNvSpPr/>
          <p:nvPr/>
        </p:nvSpPr>
        <p:spPr>
          <a:xfrm>
            <a:off x="3338750" y="49316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a:Class</a:t>
            </a:r>
            <a:endParaRPr/>
          </a:p>
        </p:txBody>
      </p:sp>
      <p:cxnSp>
        <p:nvCxnSpPr>
          <p:cNvPr id="393" name="Google Shape;393;p29"/>
          <p:cNvCxnSpPr>
            <a:stCxn id="392" idx="2"/>
          </p:cNvCxnSpPr>
          <p:nvPr/>
        </p:nvCxnSpPr>
        <p:spPr>
          <a:xfrm>
            <a:off x="3819500" y="5361850"/>
            <a:ext cx="0" cy="771000"/>
          </a:xfrm>
          <a:prstGeom prst="straightConnector1">
            <a:avLst/>
          </a:prstGeom>
          <a:noFill/>
          <a:ln cap="flat" cmpd="sng" w="9525">
            <a:solidFill>
              <a:schemeClr val="dk2"/>
            </a:solidFill>
            <a:prstDash val="dash"/>
            <a:round/>
            <a:headEnd len="med" w="med" type="none"/>
            <a:tailEnd len="med" w="med" type="none"/>
          </a:ln>
        </p:spPr>
      </p:cxnSp>
      <p:sp>
        <p:nvSpPr>
          <p:cNvPr id="394" name="Google Shape;394;p29"/>
          <p:cNvSpPr/>
          <p:nvPr/>
        </p:nvSpPr>
        <p:spPr>
          <a:xfrm>
            <a:off x="6158150" y="4931650"/>
            <a:ext cx="9615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a:t>
            </a:r>
            <a:r>
              <a:rPr lang="en-GB"/>
              <a:t>:Class</a:t>
            </a:r>
            <a:endParaRPr/>
          </a:p>
        </p:txBody>
      </p:sp>
      <p:cxnSp>
        <p:nvCxnSpPr>
          <p:cNvPr id="395" name="Google Shape;395;p29"/>
          <p:cNvCxnSpPr>
            <a:stCxn id="394" idx="2"/>
          </p:cNvCxnSpPr>
          <p:nvPr/>
        </p:nvCxnSpPr>
        <p:spPr>
          <a:xfrm>
            <a:off x="6638900" y="5361850"/>
            <a:ext cx="0" cy="7710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1" name="Google Shape;401;p30"/>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Phong cách biểu diễn</a:t>
            </a:r>
            <a:endParaRPr/>
          </a:p>
        </p:txBody>
      </p:sp>
      <p:sp>
        <p:nvSpPr>
          <p:cNvPr id="402" name="Google Shape;402;p30"/>
          <p:cNvSpPr/>
          <p:nvPr/>
        </p:nvSpPr>
        <p:spPr>
          <a:xfrm>
            <a:off x="959375" y="3318099"/>
            <a:ext cx="1917600" cy="858000"/>
          </a:xfrm>
          <a:prstGeom prst="rect">
            <a:avLst/>
          </a:prstGeom>
          <a:noFill/>
          <a:ln cap="flat" cmpd="sng" w="19000">
            <a:solidFill>
              <a:schemeClr val="dk2"/>
            </a:solidFill>
            <a:prstDash val="solid"/>
            <a:round/>
            <a:headEnd len="sm" w="sm" type="none"/>
            <a:tailEnd len="sm" w="sm" type="none"/>
          </a:ln>
        </p:spPr>
        <p:txBody>
          <a:bodyPr anchorCtr="0" anchor="ctr" bIns="182350" lIns="182350" spcFirstLastPara="1" rIns="182350" wrap="square" tIns="182350">
            <a:noAutofit/>
          </a:bodyPr>
          <a:lstStyle/>
          <a:p>
            <a:pPr indent="0" lvl="0" marL="0" rtl="0" algn="ctr">
              <a:spcBef>
                <a:spcPts val="0"/>
              </a:spcBef>
              <a:spcAft>
                <a:spcPts val="0"/>
              </a:spcAft>
              <a:buNone/>
            </a:pPr>
            <a:r>
              <a:rPr lang="en-GB" sz="2068" u="sng"/>
              <a:t>obj:Class</a:t>
            </a:r>
            <a:endParaRPr sz="2068" u="sng"/>
          </a:p>
        </p:txBody>
      </p:sp>
      <p:cxnSp>
        <p:nvCxnSpPr>
          <p:cNvPr id="403" name="Google Shape;403;p30"/>
          <p:cNvCxnSpPr>
            <a:stCxn id="402" idx="2"/>
          </p:cNvCxnSpPr>
          <p:nvPr/>
        </p:nvCxnSpPr>
        <p:spPr>
          <a:xfrm>
            <a:off x="1918175" y="4176099"/>
            <a:ext cx="0" cy="1537500"/>
          </a:xfrm>
          <a:prstGeom prst="straightConnector1">
            <a:avLst/>
          </a:prstGeom>
          <a:noFill/>
          <a:ln cap="flat" cmpd="sng" w="19000">
            <a:solidFill>
              <a:schemeClr val="dk2"/>
            </a:solidFill>
            <a:prstDash val="dash"/>
            <a:round/>
            <a:headEnd len="med" w="med" type="none"/>
            <a:tailEnd len="med" w="med" type="none"/>
          </a:ln>
        </p:spPr>
      </p:cxnSp>
      <p:sp>
        <p:nvSpPr>
          <p:cNvPr id="404" name="Google Shape;404;p30"/>
          <p:cNvSpPr/>
          <p:nvPr/>
        </p:nvSpPr>
        <p:spPr>
          <a:xfrm>
            <a:off x="5325175" y="3318172"/>
            <a:ext cx="1917600" cy="858000"/>
          </a:xfrm>
          <a:prstGeom prst="rect">
            <a:avLst/>
          </a:prstGeom>
          <a:noFill/>
          <a:ln cap="flat" cmpd="sng" w="19000">
            <a:solidFill>
              <a:schemeClr val="dk2"/>
            </a:solidFill>
            <a:prstDash val="solid"/>
            <a:round/>
            <a:headEnd len="sm" w="sm" type="none"/>
            <a:tailEnd len="sm" w="sm" type="none"/>
          </a:ln>
        </p:spPr>
        <p:txBody>
          <a:bodyPr anchorCtr="0" anchor="ctr" bIns="182325" lIns="182325" spcFirstLastPara="1" rIns="182325" wrap="square" tIns="182325">
            <a:noAutofit/>
          </a:bodyPr>
          <a:lstStyle/>
          <a:p>
            <a:pPr indent="0" lvl="0" marL="0" rtl="0" algn="ctr">
              <a:spcBef>
                <a:spcPts val="0"/>
              </a:spcBef>
              <a:spcAft>
                <a:spcPts val="0"/>
              </a:spcAft>
              <a:buNone/>
            </a:pPr>
            <a:r>
              <a:rPr lang="en-GB" sz="2068"/>
              <a:t>obj:Class</a:t>
            </a:r>
            <a:endParaRPr sz="2068"/>
          </a:p>
        </p:txBody>
      </p:sp>
      <p:cxnSp>
        <p:nvCxnSpPr>
          <p:cNvPr id="405" name="Google Shape;405;p30"/>
          <p:cNvCxnSpPr>
            <a:stCxn id="404" idx="2"/>
          </p:cNvCxnSpPr>
          <p:nvPr/>
        </p:nvCxnSpPr>
        <p:spPr>
          <a:xfrm>
            <a:off x="6283975" y="4176172"/>
            <a:ext cx="0" cy="1537500"/>
          </a:xfrm>
          <a:prstGeom prst="straightConnector1">
            <a:avLst/>
          </a:prstGeom>
          <a:noFill/>
          <a:ln cap="flat" cmpd="sng" w="19000">
            <a:solidFill>
              <a:schemeClr val="dk2"/>
            </a:solidFill>
            <a:prstDash val="dash"/>
            <a:round/>
            <a:headEnd len="med" w="med" type="none"/>
            <a:tailEnd len="med" w="med" type="none"/>
          </a:ln>
        </p:spPr>
      </p:cxnSp>
      <p:sp>
        <p:nvSpPr>
          <p:cNvPr id="406" name="Google Shape;406;p30"/>
          <p:cNvSpPr txBox="1"/>
          <p:nvPr/>
        </p:nvSpPr>
        <p:spPr>
          <a:xfrm>
            <a:off x="3289175" y="4384025"/>
            <a:ext cx="1608900" cy="70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latin typeface="Times New Roman"/>
                <a:ea typeface="Times New Roman"/>
                <a:cs typeface="Times New Roman"/>
                <a:sym typeface="Times New Roman"/>
              </a:rPr>
              <a:t>vs.</a:t>
            </a:r>
            <a:endParaRPr b="1" sz="2400">
              <a:solidFill>
                <a:schemeClr val="dk2"/>
              </a:solidFill>
              <a:latin typeface="Times New Roman"/>
              <a:ea typeface="Times New Roman"/>
              <a:cs typeface="Times New Roman"/>
              <a:sym typeface="Times New Roman"/>
            </a:endParaRPr>
          </a:p>
        </p:txBody>
      </p:sp>
      <p:sp>
        <p:nvSpPr>
          <p:cNvPr id="407" name="Google Shape;407;p30"/>
          <p:cNvSpPr txBox="1"/>
          <p:nvPr/>
        </p:nvSpPr>
        <p:spPr>
          <a:xfrm>
            <a:off x="862800" y="5713650"/>
            <a:ext cx="3801000" cy="5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latin typeface="Times New Roman"/>
                <a:ea typeface="Times New Roman"/>
                <a:cs typeface="Times New Roman"/>
                <a:sym typeface="Times New Roman"/>
              </a:rPr>
              <a:t>lifeline - đối tượng sống</a:t>
            </a:r>
            <a:endParaRPr sz="2400">
              <a:solidFill>
                <a:schemeClr val="dk2"/>
              </a:solidFill>
              <a:latin typeface="Times New Roman"/>
              <a:ea typeface="Times New Roman"/>
              <a:cs typeface="Times New Roman"/>
              <a:sym typeface="Times New Roman"/>
            </a:endParaRPr>
          </a:p>
        </p:txBody>
      </p:sp>
      <p:sp>
        <p:nvSpPr>
          <p:cNvPr id="408" name="Google Shape;408;p30"/>
          <p:cNvSpPr/>
          <p:nvPr/>
        </p:nvSpPr>
        <p:spPr>
          <a:xfrm>
            <a:off x="959350" y="1147624"/>
            <a:ext cx="1917600" cy="858000"/>
          </a:xfrm>
          <a:prstGeom prst="rect">
            <a:avLst/>
          </a:prstGeom>
          <a:noFill/>
          <a:ln cap="flat" cmpd="sng" w="19000">
            <a:solidFill>
              <a:schemeClr val="dk2"/>
            </a:solidFill>
            <a:prstDash val="solid"/>
            <a:round/>
            <a:headEnd len="sm" w="sm" type="none"/>
            <a:tailEnd len="sm" w="sm" type="none"/>
          </a:ln>
        </p:spPr>
        <p:txBody>
          <a:bodyPr anchorCtr="0" anchor="ctr" bIns="182350" lIns="182350" spcFirstLastPara="1" rIns="182350" wrap="square" tIns="182350">
            <a:noAutofit/>
          </a:bodyPr>
          <a:lstStyle/>
          <a:p>
            <a:pPr indent="0" lvl="0" marL="0" rtl="0" algn="ctr">
              <a:spcBef>
                <a:spcPts val="0"/>
              </a:spcBef>
              <a:spcAft>
                <a:spcPts val="0"/>
              </a:spcAft>
              <a:buNone/>
            </a:pPr>
            <a:r>
              <a:rPr lang="en-GB" sz="2068" u="sng"/>
              <a:t>obj:Class</a:t>
            </a:r>
            <a:endParaRPr sz="2068" u="sng"/>
          </a:p>
        </p:txBody>
      </p:sp>
      <p:sp>
        <p:nvSpPr>
          <p:cNvPr id="409" name="Google Shape;409;p30"/>
          <p:cNvSpPr txBox="1"/>
          <p:nvPr/>
        </p:nvSpPr>
        <p:spPr>
          <a:xfrm>
            <a:off x="959350" y="2085100"/>
            <a:ext cx="8232600" cy="5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latin typeface="Times New Roman"/>
                <a:ea typeface="Times New Roman"/>
                <a:cs typeface="Times New Roman"/>
                <a:sym typeface="Times New Roman"/>
              </a:rPr>
              <a:t>object/class instance</a:t>
            </a:r>
            <a:r>
              <a:rPr lang="en-GB" sz="2400">
                <a:solidFill>
                  <a:schemeClr val="dk2"/>
                </a:solidFill>
                <a:latin typeface="Times New Roman"/>
                <a:ea typeface="Times New Roman"/>
                <a:cs typeface="Times New Roman"/>
                <a:sym typeface="Times New Roman"/>
              </a:rPr>
              <a:t> - đối tượng/th</a:t>
            </a:r>
            <a:r>
              <a:rPr lang="en-GB" sz="2400">
                <a:solidFill>
                  <a:schemeClr val="dk2"/>
                </a:solidFill>
                <a:latin typeface="Times New Roman"/>
                <a:ea typeface="Times New Roman"/>
                <a:cs typeface="Times New Roman"/>
                <a:sym typeface="Times New Roman"/>
              </a:rPr>
              <a:t>ực bản của lớp</a:t>
            </a:r>
            <a:endParaRPr sz="2400">
              <a:solidFill>
                <a:schemeClr val="dk2"/>
              </a:solidFill>
              <a:latin typeface="Times New Roman"/>
              <a:ea typeface="Times New Roman"/>
              <a:cs typeface="Times New Roman"/>
              <a:sym typeface="Times New Roman"/>
            </a:endParaRPr>
          </a:p>
        </p:txBody>
      </p:sp>
      <p:sp>
        <p:nvSpPr>
          <p:cNvPr id="410" name="Google Shape;410;p30"/>
          <p:cNvSpPr txBox="1"/>
          <p:nvPr/>
        </p:nvSpPr>
        <p:spPr>
          <a:xfrm>
            <a:off x="3751650" y="1013775"/>
            <a:ext cx="4720800" cy="8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Tên đối tượng:Tên lớp, gạch chân, căn giữa.</a:t>
            </a:r>
            <a:endParaRPr i="1" sz="2400">
              <a:solidFill>
                <a:schemeClr val="dk2"/>
              </a:solidFill>
              <a:latin typeface="Times New Roman"/>
              <a:ea typeface="Times New Roman"/>
              <a:cs typeface="Times New Roman"/>
              <a:sym typeface="Times New Roman"/>
            </a:endParaRPr>
          </a:p>
        </p:txBody>
      </p:sp>
      <p:sp>
        <p:nvSpPr>
          <p:cNvPr id="411" name="Google Shape;411;p30"/>
          <p:cNvSpPr txBox="1"/>
          <p:nvPr/>
        </p:nvSpPr>
        <p:spPr>
          <a:xfrm>
            <a:off x="5219881" y="2437844"/>
            <a:ext cx="3079500" cy="9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Tên đối tượng:Tên lớp, căn giữa.</a:t>
            </a:r>
            <a:endParaRPr i="1" sz="2400">
              <a:solidFill>
                <a:schemeClr val="dk2"/>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1"/>
          <p:cNvSpPr/>
          <p:nvPr/>
        </p:nvSpPr>
        <p:spPr>
          <a:xfrm>
            <a:off x="1257925" y="1127975"/>
            <a:ext cx="6030300" cy="4711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17" name="Google Shape;417;p31"/>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200"/>
              <a:t>Ví dụ 4.5</a:t>
            </a:r>
            <a:r>
              <a:rPr lang="en-GB"/>
              <a:t>a</a:t>
            </a:r>
            <a:r>
              <a:rPr lang="en-GB" sz="3200"/>
              <a:t>. Sơ đồ tuần tự</a:t>
            </a:r>
            <a:r>
              <a:rPr lang="en-GB"/>
              <a:t> - Thông điệp cơ bản</a:t>
            </a:r>
            <a:endParaRPr sz="3200"/>
          </a:p>
        </p:txBody>
      </p:sp>
      <p:sp>
        <p:nvSpPr>
          <p:cNvPr id="418" name="Google Shape;418;p31"/>
          <p:cNvSpPr/>
          <p:nvPr/>
        </p:nvSpPr>
        <p:spPr>
          <a:xfrm>
            <a:off x="3292375" y="3126846"/>
            <a:ext cx="1122900" cy="307500"/>
          </a:xfrm>
          <a:prstGeom prst="wedgeRectCallout">
            <a:avLst>
              <a:gd fmla="val -9542" name="adj1"/>
              <a:gd fmla="val -20443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thông điệp</a:t>
            </a:r>
            <a:endParaRPr i="1" sz="1600">
              <a:latin typeface="Times New Roman"/>
              <a:ea typeface="Times New Roman"/>
              <a:cs typeface="Times New Roman"/>
              <a:sym typeface="Times New Roman"/>
            </a:endParaRPr>
          </a:p>
        </p:txBody>
      </p:sp>
      <p:sp>
        <p:nvSpPr>
          <p:cNvPr id="419" name="Google Shape;419;p31"/>
          <p:cNvSpPr/>
          <p:nvPr/>
        </p:nvSpPr>
        <p:spPr>
          <a:xfrm>
            <a:off x="3162300" y="4403575"/>
            <a:ext cx="2086800" cy="593700"/>
          </a:xfrm>
          <a:prstGeom prst="wedgeRectCallout">
            <a:avLst>
              <a:gd fmla="val 35449" name="adj1"/>
              <a:gd fmla="val -11679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kết quả trả về, không bắt buộc </a:t>
            </a:r>
            <a:r>
              <a:rPr i="1" lang="en-GB" sz="1600">
                <a:latin typeface="Times New Roman"/>
                <a:ea typeface="Times New Roman"/>
                <a:cs typeface="Times New Roman"/>
                <a:sym typeface="Times New Roman"/>
              </a:rPr>
              <a:t>biểu diễn</a:t>
            </a:r>
            <a:endParaRPr i="1" sz="1600">
              <a:latin typeface="Times New Roman"/>
              <a:ea typeface="Times New Roman"/>
              <a:cs typeface="Times New Roman"/>
              <a:sym typeface="Times New Roman"/>
            </a:endParaRPr>
          </a:p>
        </p:txBody>
      </p:sp>
      <p:sp>
        <p:nvSpPr>
          <p:cNvPr id="420" name="Google Shape;420;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21" name="Google Shape;421;p31"/>
          <p:cNvSpPr/>
          <p:nvPr/>
        </p:nvSpPr>
        <p:spPr>
          <a:xfrm rot="10800000">
            <a:off x="1252488" y="11372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2" name="Google Shape;422;p31"/>
          <p:cNvSpPr txBox="1"/>
          <p:nvPr/>
        </p:nvSpPr>
        <p:spPr>
          <a:xfrm>
            <a:off x="1240225" y="1073439"/>
            <a:ext cx="25851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423" name="Google Shape;423;p31"/>
          <p:cNvSpPr/>
          <p:nvPr/>
        </p:nvSpPr>
        <p:spPr>
          <a:xfrm>
            <a:off x="5474600" y="1492875"/>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sp>
        <p:nvSpPr>
          <p:cNvPr id="424" name="Google Shape;424;p31"/>
          <p:cNvSpPr/>
          <p:nvPr/>
        </p:nvSpPr>
        <p:spPr>
          <a:xfrm>
            <a:off x="2390100" y="15250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25" name="Google Shape;425;p31"/>
          <p:cNvCxnSpPr/>
          <p:nvPr/>
        </p:nvCxnSpPr>
        <p:spPr>
          <a:xfrm>
            <a:off x="2465250" y="16753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426" name="Google Shape;426;p31"/>
          <p:cNvCxnSpPr/>
          <p:nvPr/>
        </p:nvCxnSpPr>
        <p:spPr>
          <a:xfrm>
            <a:off x="2465225" y="18768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31"/>
          <p:cNvCxnSpPr/>
          <p:nvPr/>
        </p:nvCxnSpPr>
        <p:spPr>
          <a:xfrm>
            <a:off x="2466025" y="17688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31"/>
          <p:cNvCxnSpPr/>
          <p:nvPr/>
        </p:nvCxnSpPr>
        <p:spPr>
          <a:xfrm flipH="1">
            <a:off x="2347975" y="18720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31"/>
          <p:cNvCxnSpPr/>
          <p:nvPr/>
        </p:nvCxnSpPr>
        <p:spPr>
          <a:xfrm flipH="1">
            <a:off x="2331875" y="1764038"/>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31"/>
          <p:cNvCxnSpPr/>
          <p:nvPr/>
        </p:nvCxnSpPr>
        <p:spPr>
          <a:xfrm>
            <a:off x="2475975" y="2286000"/>
            <a:ext cx="0" cy="3135000"/>
          </a:xfrm>
          <a:prstGeom prst="straightConnector1">
            <a:avLst/>
          </a:prstGeom>
          <a:noFill/>
          <a:ln cap="flat" cmpd="sng" w="9525">
            <a:solidFill>
              <a:schemeClr val="dk2"/>
            </a:solidFill>
            <a:prstDash val="dash"/>
            <a:round/>
            <a:headEnd len="med" w="med" type="none"/>
            <a:tailEnd len="med" w="med" type="none"/>
          </a:ln>
        </p:spPr>
      </p:cxnSp>
      <p:cxnSp>
        <p:nvCxnSpPr>
          <p:cNvPr id="431" name="Google Shape;431;p31"/>
          <p:cNvCxnSpPr/>
          <p:nvPr/>
        </p:nvCxnSpPr>
        <p:spPr>
          <a:xfrm>
            <a:off x="6264510" y="1931822"/>
            <a:ext cx="0" cy="3445200"/>
          </a:xfrm>
          <a:prstGeom prst="straightConnector1">
            <a:avLst/>
          </a:prstGeom>
          <a:noFill/>
          <a:ln cap="flat" cmpd="sng" w="9525">
            <a:solidFill>
              <a:schemeClr val="dk2"/>
            </a:solidFill>
            <a:prstDash val="dash"/>
            <a:round/>
            <a:headEnd len="med" w="med" type="none"/>
            <a:tailEnd len="med" w="med" type="none"/>
          </a:ln>
        </p:spPr>
      </p:cxnSp>
      <p:sp>
        <p:nvSpPr>
          <p:cNvPr id="432" name="Google Shape;432;p31"/>
          <p:cNvSpPr/>
          <p:nvPr/>
        </p:nvSpPr>
        <p:spPr>
          <a:xfrm>
            <a:off x="6193675" y="2630500"/>
            <a:ext cx="128700" cy="1395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33" name="Google Shape;433;p31"/>
          <p:cNvCxnSpPr/>
          <p:nvPr/>
        </p:nvCxnSpPr>
        <p:spPr>
          <a:xfrm>
            <a:off x="2475975" y="26948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434" name="Google Shape;434;p31"/>
          <p:cNvSpPr txBox="1"/>
          <p:nvPr/>
        </p:nvSpPr>
        <p:spPr>
          <a:xfrm>
            <a:off x="2577918" y="23042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Tra cứu thông tin(từ khóa, danh mục)</a:t>
            </a:r>
            <a:endParaRPr sz="1600">
              <a:solidFill>
                <a:schemeClr val="dk2"/>
              </a:solidFill>
              <a:latin typeface="Times New Roman"/>
              <a:ea typeface="Times New Roman"/>
              <a:cs typeface="Times New Roman"/>
              <a:sym typeface="Times New Roman"/>
            </a:endParaRPr>
          </a:p>
        </p:txBody>
      </p:sp>
      <p:cxnSp>
        <p:nvCxnSpPr>
          <p:cNvPr id="435" name="Google Shape;435;p31"/>
          <p:cNvCxnSpPr>
            <a:stCxn id="432" idx="2"/>
          </p:cNvCxnSpPr>
          <p:nvPr/>
        </p:nvCxnSpPr>
        <p:spPr>
          <a:xfrm rot="10800000">
            <a:off x="2480125" y="4025800"/>
            <a:ext cx="3777900" cy="0"/>
          </a:xfrm>
          <a:prstGeom prst="straightConnector1">
            <a:avLst/>
          </a:prstGeom>
          <a:noFill/>
          <a:ln cap="flat" cmpd="sng" w="9525">
            <a:solidFill>
              <a:schemeClr val="dk2"/>
            </a:solidFill>
            <a:prstDash val="dash"/>
            <a:round/>
            <a:headEnd len="med" w="med" type="none"/>
            <a:tailEnd len="med" w="med" type="triangle"/>
          </a:ln>
        </p:spPr>
      </p:cxnSp>
      <p:sp>
        <p:nvSpPr>
          <p:cNvPr id="436" name="Google Shape;436;p31"/>
          <p:cNvSpPr txBox="1"/>
          <p:nvPr/>
        </p:nvSpPr>
        <p:spPr>
          <a:xfrm>
            <a:off x="3416122" y="3675850"/>
            <a:ext cx="2033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 Kết quả tra cứu</a:t>
            </a:r>
            <a:endParaRPr sz="1600">
              <a:solidFill>
                <a:schemeClr val="dk2"/>
              </a:solidFill>
              <a:latin typeface="Times New Roman"/>
              <a:ea typeface="Times New Roman"/>
              <a:cs typeface="Times New Roman"/>
              <a:sym typeface="Times New Roman"/>
            </a:endParaRPr>
          </a:p>
        </p:txBody>
      </p:sp>
      <p:sp>
        <p:nvSpPr>
          <p:cNvPr id="437" name="Google Shape;437;p31"/>
          <p:cNvSpPr txBox="1"/>
          <p:nvPr/>
        </p:nvSpPr>
        <p:spPr>
          <a:xfrm>
            <a:off x="1532921" y="1944725"/>
            <a:ext cx="1920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NVA: Người Dùng</a:t>
            </a:r>
            <a:endParaRPr sz="1600">
              <a:solidFill>
                <a:schemeClr val="dk2"/>
              </a:solidFill>
              <a:latin typeface="Times New Roman"/>
              <a:ea typeface="Times New Roman"/>
              <a:cs typeface="Times New Roman"/>
              <a:sym typeface="Times New Roman"/>
            </a:endParaRPr>
          </a:p>
        </p:txBody>
      </p:sp>
      <p:sp>
        <p:nvSpPr>
          <p:cNvPr id="438" name="Google Shape;438;p31"/>
          <p:cNvSpPr/>
          <p:nvPr/>
        </p:nvSpPr>
        <p:spPr>
          <a:xfrm>
            <a:off x="4754125" y="932650"/>
            <a:ext cx="2352900" cy="307500"/>
          </a:xfrm>
          <a:prstGeom prst="wedgeRectCallout">
            <a:avLst>
              <a:gd fmla="val 8946" name="adj1"/>
              <a:gd fmla="val 13183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sz="1600">
                <a:latin typeface="Times New Roman"/>
                <a:ea typeface="Times New Roman"/>
                <a:cs typeface="Times New Roman"/>
                <a:sym typeface="Times New Roman"/>
              </a:rPr>
              <a:t>1 bản/trường hợp/instance</a:t>
            </a:r>
            <a:endParaRPr i="1" sz="16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2"/>
          <p:cNvSpPr/>
          <p:nvPr/>
        </p:nvSpPr>
        <p:spPr>
          <a:xfrm>
            <a:off x="1390925" y="1051775"/>
            <a:ext cx="5516400" cy="49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44" name="Google Shape;444;p32"/>
          <p:cNvSpPr/>
          <p:nvPr/>
        </p:nvSpPr>
        <p:spPr>
          <a:xfrm>
            <a:off x="1771925" y="2270975"/>
            <a:ext cx="4850700" cy="3445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45" name="Google Shape;445;p32"/>
          <p:cNvSpPr/>
          <p:nvPr/>
        </p:nvSpPr>
        <p:spPr>
          <a:xfrm rot="10800000">
            <a:off x="1771925" y="22709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46" name="Google Shape;446;p32"/>
          <p:cNvSpPr txBox="1"/>
          <p:nvPr/>
        </p:nvSpPr>
        <p:spPr>
          <a:xfrm>
            <a:off x="1750450" y="2185132"/>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Times New Roman"/>
                <a:ea typeface="Times New Roman"/>
                <a:cs typeface="Times New Roman"/>
                <a:sym typeface="Times New Roman"/>
              </a:rPr>
              <a:t>loop</a:t>
            </a:r>
            <a:r>
              <a:rPr b="1" lang="en-GB" sz="1600">
                <a:solidFill>
                  <a:schemeClr val="dk2"/>
                </a:solidFill>
                <a:latin typeface="Times New Roman"/>
                <a:ea typeface="Times New Roman"/>
                <a:cs typeface="Times New Roman"/>
                <a:sym typeface="Times New Roman"/>
              </a:rPr>
              <a:t> </a:t>
            </a:r>
            <a:r>
              <a:rPr lang="en-GB" sz="1600">
                <a:solidFill>
                  <a:schemeClr val="dk2"/>
                </a:solidFill>
                <a:latin typeface="Times New Roman"/>
                <a:ea typeface="Times New Roman"/>
                <a:cs typeface="Times New Roman"/>
                <a:sym typeface="Times New Roman"/>
              </a:rPr>
              <a:t>Làm đầy giỏ hàng</a:t>
            </a:r>
            <a:endParaRPr sz="1600">
              <a:solidFill>
                <a:schemeClr val="dk2"/>
              </a:solidFill>
              <a:latin typeface="Times New Roman"/>
              <a:ea typeface="Times New Roman"/>
              <a:cs typeface="Times New Roman"/>
              <a:sym typeface="Times New Roman"/>
            </a:endParaRPr>
          </a:p>
        </p:txBody>
      </p:sp>
      <p:sp>
        <p:nvSpPr>
          <p:cNvPr id="447" name="Google Shape;447;p32"/>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200"/>
              <a:t>Ví dụ 4.5</a:t>
            </a:r>
            <a:r>
              <a:rPr lang="en-GB"/>
              <a:t>b</a:t>
            </a:r>
            <a:r>
              <a:rPr lang="en-GB" sz="3200"/>
              <a:t>. Sơ đồ tuần tự</a:t>
            </a:r>
            <a:r>
              <a:rPr lang="en-GB"/>
              <a:t>- </a:t>
            </a:r>
            <a:r>
              <a:rPr lang="en-GB"/>
              <a:t>Vòng lặp</a:t>
            </a:r>
            <a:endParaRPr sz="3200"/>
          </a:p>
        </p:txBody>
      </p:sp>
      <p:sp>
        <p:nvSpPr>
          <p:cNvPr id="448" name="Google Shape;448;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9" name="Google Shape;449;p32"/>
          <p:cNvSpPr/>
          <p:nvPr/>
        </p:nvSpPr>
        <p:spPr>
          <a:xfrm rot="10800000">
            <a:off x="1390925" y="10517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50" name="Google Shape;450;p32"/>
          <p:cNvSpPr txBox="1"/>
          <p:nvPr/>
        </p:nvSpPr>
        <p:spPr>
          <a:xfrm>
            <a:off x="1369450" y="965932"/>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451" name="Google Shape;451;p32"/>
          <p:cNvSpPr/>
          <p:nvPr/>
        </p:nvSpPr>
        <p:spPr>
          <a:xfrm>
            <a:off x="5093600" y="1416675"/>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sp>
        <p:nvSpPr>
          <p:cNvPr id="452" name="Google Shape;452;p32"/>
          <p:cNvSpPr/>
          <p:nvPr/>
        </p:nvSpPr>
        <p:spPr>
          <a:xfrm>
            <a:off x="2009100" y="14488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53" name="Google Shape;453;p32"/>
          <p:cNvCxnSpPr/>
          <p:nvPr/>
        </p:nvCxnSpPr>
        <p:spPr>
          <a:xfrm>
            <a:off x="2084250" y="15991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32"/>
          <p:cNvCxnSpPr/>
          <p:nvPr/>
        </p:nvCxnSpPr>
        <p:spPr>
          <a:xfrm>
            <a:off x="2084225" y="18006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32"/>
          <p:cNvCxnSpPr/>
          <p:nvPr/>
        </p:nvCxnSpPr>
        <p:spPr>
          <a:xfrm>
            <a:off x="2085025" y="16926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32"/>
          <p:cNvCxnSpPr/>
          <p:nvPr/>
        </p:nvCxnSpPr>
        <p:spPr>
          <a:xfrm flipH="1">
            <a:off x="1966975" y="17958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32"/>
          <p:cNvCxnSpPr/>
          <p:nvPr/>
        </p:nvCxnSpPr>
        <p:spPr>
          <a:xfrm flipH="1">
            <a:off x="1950875" y="1687838"/>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32"/>
          <p:cNvCxnSpPr/>
          <p:nvPr/>
        </p:nvCxnSpPr>
        <p:spPr>
          <a:xfrm>
            <a:off x="2094975" y="2209800"/>
            <a:ext cx="0" cy="3135000"/>
          </a:xfrm>
          <a:prstGeom prst="straightConnector1">
            <a:avLst/>
          </a:prstGeom>
          <a:noFill/>
          <a:ln cap="flat" cmpd="sng" w="9525">
            <a:solidFill>
              <a:schemeClr val="dk2"/>
            </a:solidFill>
            <a:prstDash val="dash"/>
            <a:round/>
            <a:headEnd len="med" w="med" type="none"/>
            <a:tailEnd len="med" w="med" type="none"/>
          </a:ln>
        </p:spPr>
      </p:cxnSp>
      <p:cxnSp>
        <p:nvCxnSpPr>
          <p:cNvPr id="459" name="Google Shape;459;p32"/>
          <p:cNvCxnSpPr/>
          <p:nvPr/>
        </p:nvCxnSpPr>
        <p:spPr>
          <a:xfrm>
            <a:off x="5883510" y="1855622"/>
            <a:ext cx="0" cy="3445200"/>
          </a:xfrm>
          <a:prstGeom prst="straightConnector1">
            <a:avLst/>
          </a:prstGeom>
          <a:noFill/>
          <a:ln cap="flat" cmpd="sng" w="9525">
            <a:solidFill>
              <a:schemeClr val="dk2"/>
            </a:solidFill>
            <a:prstDash val="dash"/>
            <a:round/>
            <a:headEnd len="med" w="med" type="none"/>
            <a:tailEnd len="med" w="med" type="none"/>
          </a:ln>
        </p:spPr>
      </p:cxnSp>
      <p:sp>
        <p:nvSpPr>
          <p:cNvPr id="460" name="Google Shape;460;p32"/>
          <p:cNvSpPr/>
          <p:nvPr/>
        </p:nvSpPr>
        <p:spPr>
          <a:xfrm>
            <a:off x="5791075" y="3060875"/>
            <a:ext cx="1503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61" name="Google Shape;461;p32"/>
          <p:cNvCxnSpPr/>
          <p:nvPr/>
        </p:nvCxnSpPr>
        <p:spPr>
          <a:xfrm>
            <a:off x="2094975" y="32282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462" name="Google Shape;462;p32"/>
          <p:cNvSpPr txBox="1"/>
          <p:nvPr/>
        </p:nvSpPr>
        <p:spPr>
          <a:xfrm>
            <a:off x="2196918" y="28376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Thêm mặt hàng(mặt hàng, số lượng)</a:t>
            </a:r>
            <a:endParaRPr sz="1600">
              <a:solidFill>
                <a:schemeClr val="dk2"/>
              </a:solidFill>
              <a:latin typeface="Times New Roman"/>
              <a:ea typeface="Times New Roman"/>
              <a:cs typeface="Times New Roman"/>
              <a:sym typeface="Times New Roman"/>
            </a:endParaRPr>
          </a:p>
        </p:txBody>
      </p:sp>
      <p:sp>
        <p:nvSpPr>
          <p:cNvPr id="463" name="Google Shape;463;p32"/>
          <p:cNvSpPr txBox="1"/>
          <p:nvPr/>
        </p:nvSpPr>
        <p:spPr>
          <a:xfrm>
            <a:off x="1554150" y="1868525"/>
            <a:ext cx="1920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NVA: Người Dùng</a:t>
            </a:r>
            <a:endParaRPr sz="1600">
              <a:solidFill>
                <a:schemeClr val="dk2"/>
              </a:solidFill>
              <a:latin typeface="Times New Roman"/>
              <a:ea typeface="Times New Roman"/>
              <a:cs typeface="Times New Roman"/>
              <a:sym typeface="Times New Roman"/>
            </a:endParaRPr>
          </a:p>
        </p:txBody>
      </p:sp>
      <p:sp>
        <p:nvSpPr>
          <p:cNvPr id="464" name="Google Shape;464;p32"/>
          <p:cNvSpPr txBox="1"/>
          <p:nvPr/>
        </p:nvSpPr>
        <p:spPr>
          <a:xfrm>
            <a:off x="2178550" y="2468175"/>
            <a:ext cx="25029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[Cần mua thêm sản phẩm]</a:t>
            </a:r>
            <a:endParaRPr sz="1600">
              <a:solidFill>
                <a:schemeClr val="dk2"/>
              </a:solidFill>
              <a:latin typeface="Times New Roman"/>
              <a:ea typeface="Times New Roman"/>
              <a:cs typeface="Times New Roman"/>
              <a:sym typeface="Times New Roman"/>
            </a:endParaRPr>
          </a:p>
        </p:txBody>
      </p:sp>
      <p:sp>
        <p:nvSpPr>
          <p:cNvPr id="465" name="Google Shape;465;p32"/>
          <p:cNvSpPr/>
          <p:nvPr/>
        </p:nvSpPr>
        <p:spPr>
          <a:xfrm>
            <a:off x="1924325" y="3566375"/>
            <a:ext cx="4549500" cy="1868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66" name="Google Shape;466;p32"/>
          <p:cNvSpPr/>
          <p:nvPr/>
        </p:nvSpPr>
        <p:spPr>
          <a:xfrm rot="10800000">
            <a:off x="1924325" y="3566375"/>
            <a:ext cx="213467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67" name="Google Shape;467;p32"/>
          <p:cNvSpPr txBox="1"/>
          <p:nvPr/>
        </p:nvSpPr>
        <p:spPr>
          <a:xfrm>
            <a:off x="1902850" y="3480525"/>
            <a:ext cx="21453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Times New Roman"/>
                <a:ea typeface="Times New Roman"/>
                <a:cs typeface="Times New Roman"/>
                <a:sym typeface="Times New Roman"/>
              </a:rPr>
              <a:t>break</a:t>
            </a:r>
            <a:r>
              <a:rPr b="1" lang="en-GB" sz="1600">
                <a:solidFill>
                  <a:schemeClr val="dk2"/>
                </a:solidFill>
                <a:latin typeface="Times New Roman"/>
                <a:ea typeface="Times New Roman"/>
                <a:cs typeface="Times New Roman"/>
                <a:sym typeface="Times New Roman"/>
              </a:rPr>
              <a:t> </a:t>
            </a:r>
            <a:r>
              <a:rPr lang="en-GB" sz="1600">
                <a:solidFill>
                  <a:schemeClr val="dk2"/>
                </a:solidFill>
                <a:latin typeface="Times New Roman"/>
                <a:ea typeface="Times New Roman"/>
                <a:cs typeface="Times New Roman"/>
                <a:sym typeface="Times New Roman"/>
              </a:rPr>
              <a:t>Xem giỏ hàng</a:t>
            </a:r>
            <a:endParaRPr sz="1600">
              <a:solidFill>
                <a:schemeClr val="dk2"/>
              </a:solidFill>
              <a:latin typeface="Times New Roman"/>
              <a:ea typeface="Times New Roman"/>
              <a:cs typeface="Times New Roman"/>
              <a:sym typeface="Times New Roman"/>
            </a:endParaRPr>
          </a:p>
        </p:txBody>
      </p:sp>
      <p:sp>
        <p:nvSpPr>
          <p:cNvPr id="468" name="Google Shape;468;p32"/>
          <p:cNvSpPr/>
          <p:nvPr/>
        </p:nvSpPr>
        <p:spPr>
          <a:xfrm>
            <a:off x="5791075" y="4508675"/>
            <a:ext cx="1503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69" name="Google Shape;469;p32"/>
          <p:cNvCxnSpPr/>
          <p:nvPr/>
        </p:nvCxnSpPr>
        <p:spPr>
          <a:xfrm>
            <a:off x="2094975" y="45998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470" name="Google Shape;470;p32"/>
          <p:cNvSpPr txBox="1"/>
          <p:nvPr/>
        </p:nvSpPr>
        <p:spPr>
          <a:xfrm>
            <a:off x="2196918" y="42092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 Quản lý giỏ hàng</a:t>
            </a:r>
            <a:endParaRPr sz="1600">
              <a:solidFill>
                <a:schemeClr val="dk2"/>
              </a:solidFill>
              <a:latin typeface="Times New Roman"/>
              <a:ea typeface="Times New Roman"/>
              <a:cs typeface="Times New Roman"/>
              <a:sym typeface="Times New Roman"/>
            </a:endParaRPr>
          </a:p>
        </p:txBody>
      </p:sp>
      <p:sp>
        <p:nvSpPr>
          <p:cNvPr id="471" name="Google Shape;471;p32"/>
          <p:cNvSpPr txBox="1"/>
          <p:nvPr/>
        </p:nvSpPr>
        <p:spPr>
          <a:xfrm>
            <a:off x="2178550" y="3839775"/>
            <a:ext cx="29658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[Cần xem các sản phẩm đã chọn]</a:t>
            </a:r>
            <a:endParaRPr sz="1600">
              <a:solidFill>
                <a:schemeClr val="dk2"/>
              </a:solidFill>
              <a:latin typeface="Times New Roman"/>
              <a:ea typeface="Times New Roman"/>
              <a:cs typeface="Times New Roman"/>
              <a:sym typeface="Times New Roman"/>
            </a:endParaRPr>
          </a:p>
        </p:txBody>
      </p:sp>
      <p:sp>
        <p:nvSpPr>
          <p:cNvPr id="472" name="Google Shape;472;p32"/>
          <p:cNvSpPr txBox="1"/>
          <p:nvPr/>
        </p:nvSpPr>
        <p:spPr>
          <a:xfrm>
            <a:off x="1354425" y="6083125"/>
            <a:ext cx="66219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Dừng lặp sau khi thực hiện </a:t>
            </a:r>
            <a:r>
              <a:rPr b="1" lang="en-GB" sz="2400">
                <a:solidFill>
                  <a:schemeClr val="dk2"/>
                </a:solidFill>
                <a:latin typeface="Times New Roman"/>
                <a:ea typeface="Times New Roman"/>
                <a:cs typeface="Times New Roman"/>
                <a:sym typeface="Times New Roman"/>
              </a:rPr>
              <a:t>break</a:t>
            </a:r>
            <a:endParaRPr b="1" sz="2400">
              <a:solidFill>
                <a:schemeClr val="dk2"/>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3"/>
          <p:cNvSpPr/>
          <p:nvPr/>
        </p:nvSpPr>
        <p:spPr>
          <a:xfrm>
            <a:off x="1390925" y="1204175"/>
            <a:ext cx="5516400" cy="318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78" name="Google Shape;478;p33"/>
          <p:cNvSpPr/>
          <p:nvPr/>
        </p:nvSpPr>
        <p:spPr>
          <a:xfrm>
            <a:off x="1771925" y="2423375"/>
            <a:ext cx="4850700" cy="1504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79" name="Google Shape;479;p33"/>
          <p:cNvSpPr/>
          <p:nvPr/>
        </p:nvSpPr>
        <p:spPr>
          <a:xfrm rot="10800000">
            <a:off x="1771925" y="24233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80" name="Google Shape;480;p33"/>
          <p:cNvSpPr txBox="1"/>
          <p:nvPr/>
        </p:nvSpPr>
        <p:spPr>
          <a:xfrm>
            <a:off x="1750450" y="2337532"/>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Times New Roman"/>
                <a:ea typeface="Times New Roman"/>
                <a:cs typeface="Times New Roman"/>
                <a:sym typeface="Times New Roman"/>
              </a:rPr>
              <a:t>opt </a:t>
            </a:r>
            <a:r>
              <a:rPr lang="en-GB" sz="1600">
                <a:solidFill>
                  <a:schemeClr val="dk2"/>
                </a:solidFill>
                <a:latin typeface="Times New Roman"/>
                <a:ea typeface="Times New Roman"/>
                <a:cs typeface="Times New Roman"/>
                <a:sym typeface="Times New Roman"/>
              </a:rPr>
              <a:t>Xem sản phẩm tương tự</a:t>
            </a:r>
            <a:endParaRPr sz="1600">
              <a:solidFill>
                <a:schemeClr val="dk2"/>
              </a:solidFill>
              <a:latin typeface="Times New Roman"/>
              <a:ea typeface="Times New Roman"/>
              <a:cs typeface="Times New Roman"/>
              <a:sym typeface="Times New Roman"/>
            </a:endParaRPr>
          </a:p>
        </p:txBody>
      </p:sp>
      <p:sp>
        <p:nvSpPr>
          <p:cNvPr id="481" name="Google Shape;481;p33"/>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200"/>
              <a:t>Ví dụ 4.5</a:t>
            </a:r>
            <a:r>
              <a:rPr lang="en-GB"/>
              <a:t>c</a:t>
            </a:r>
            <a:r>
              <a:rPr lang="en-GB" sz="3200"/>
              <a:t>. Sơ đồ tuần tự </a:t>
            </a:r>
            <a:r>
              <a:rPr lang="en-GB"/>
              <a:t>- Vùng đ</a:t>
            </a:r>
            <a:r>
              <a:rPr lang="en-GB"/>
              <a:t>iều kiện</a:t>
            </a:r>
            <a:endParaRPr sz="3200"/>
          </a:p>
        </p:txBody>
      </p:sp>
      <p:sp>
        <p:nvSpPr>
          <p:cNvPr id="482" name="Google Shape;482;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3" name="Google Shape;483;p33"/>
          <p:cNvSpPr/>
          <p:nvPr/>
        </p:nvSpPr>
        <p:spPr>
          <a:xfrm rot="10800000">
            <a:off x="1390925" y="12041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84" name="Google Shape;484;p33"/>
          <p:cNvSpPr txBox="1"/>
          <p:nvPr/>
        </p:nvSpPr>
        <p:spPr>
          <a:xfrm>
            <a:off x="1369450" y="1118332"/>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485" name="Google Shape;485;p33"/>
          <p:cNvSpPr/>
          <p:nvPr/>
        </p:nvSpPr>
        <p:spPr>
          <a:xfrm>
            <a:off x="5093600" y="1569075"/>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sp>
        <p:nvSpPr>
          <p:cNvPr id="486" name="Google Shape;486;p33"/>
          <p:cNvSpPr/>
          <p:nvPr/>
        </p:nvSpPr>
        <p:spPr>
          <a:xfrm>
            <a:off x="2009100" y="16012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87" name="Google Shape;487;p33"/>
          <p:cNvCxnSpPr/>
          <p:nvPr/>
        </p:nvCxnSpPr>
        <p:spPr>
          <a:xfrm>
            <a:off x="2084250" y="17515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33"/>
          <p:cNvCxnSpPr/>
          <p:nvPr/>
        </p:nvCxnSpPr>
        <p:spPr>
          <a:xfrm>
            <a:off x="2084225" y="19530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33"/>
          <p:cNvCxnSpPr/>
          <p:nvPr/>
        </p:nvCxnSpPr>
        <p:spPr>
          <a:xfrm>
            <a:off x="2085025" y="18450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33"/>
          <p:cNvCxnSpPr/>
          <p:nvPr/>
        </p:nvCxnSpPr>
        <p:spPr>
          <a:xfrm flipH="1">
            <a:off x="1966975" y="19482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33"/>
          <p:cNvCxnSpPr/>
          <p:nvPr/>
        </p:nvCxnSpPr>
        <p:spPr>
          <a:xfrm flipH="1">
            <a:off x="1950875" y="1840238"/>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33"/>
          <p:cNvCxnSpPr/>
          <p:nvPr/>
        </p:nvCxnSpPr>
        <p:spPr>
          <a:xfrm>
            <a:off x="2094975" y="2225423"/>
            <a:ext cx="0" cy="1924200"/>
          </a:xfrm>
          <a:prstGeom prst="straightConnector1">
            <a:avLst/>
          </a:prstGeom>
          <a:noFill/>
          <a:ln cap="flat" cmpd="sng" w="9525">
            <a:solidFill>
              <a:schemeClr val="dk2"/>
            </a:solidFill>
            <a:prstDash val="dash"/>
            <a:round/>
            <a:headEnd len="med" w="med" type="none"/>
            <a:tailEnd len="med" w="med" type="none"/>
          </a:ln>
        </p:spPr>
      </p:cxnSp>
      <p:cxnSp>
        <p:nvCxnSpPr>
          <p:cNvPr id="493" name="Google Shape;493;p33"/>
          <p:cNvCxnSpPr/>
          <p:nvPr/>
        </p:nvCxnSpPr>
        <p:spPr>
          <a:xfrm>
            <a:off x="5883500" y="2008024"/>
            <a:ext cx="0" cy="2114700"/>
          </a:xfrm>
          <a:prstGeom prst="straightConnector1">
            <a:avLst/>
          </a:prstGeom>
          <a:noFill/>
          <a:ln cap="flat" cmpd="sng" w="9525">
            <a:solidFill>
              <a:schemeClr val="dk2"/>
            </a:solidFill>
            <a:prstDash val="dash"/>
            <a:round/>
            <a:headEnd len="med" w="med" type="none"/>
            <a:tailEnd len="med" w="med" type="none"/>
          </a:ln>
        </p:spPr>
      </p:cxnSp>
      <p:sp>
        <p:nvSpPr>
          <p:cNvPr id="494" name="Google Shape;494;p33"/>
          <p:cNvSpPr/>
          <p:nvPr/>
        </p:nvSpPr>
        <p:spPr>
          <a:xfrm>
            <a:off x="5791075" y="3213275"/>
            <a:ext cx="1503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95" name="Google Shape;495;p33"/>
          <p:cNvCxnSpPr/>
          <p:nvPr/>
        </p:nvCxnSpPr>
        <p:spPr>
          <a:xfrm>
            <a:off x="2094975" y="33806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496" name="Google Shape;496;p33"/>
          <p:cNvSpPr txBox="1"/>
          <p:nvPr/>
        </p:nvSpPr>
        <p:spPr>
          <a:xfrm>
            <a:off x="2196918" y="29900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Xem gợi ý()</a:t>
            </a:r>
            <a:endParaRPr sz="1600">
              <a:solidFill>
                <a:schemeClr val="dk2"/>
              </a:solidFill>
              <a:latin typeface="Times New Roman"/>
              <a:ea typeface="Times New Roman"/>
              <a:cs typeface="Times New Roman"/>
              <a:sym typeface="Times New Roman"/>
            </a:endParaRPr>
          </a:p>
        </p:txBody>
      </p:sp>
      <p:sp>
        <p:nvSpPr>
          <p:cNvPr id="497" name="Google Shape;497;p33"/>
          <p:cNvSpPr txBox="1"/>
          <p:nvPr/>
        </p:nvSpPr>
        <p:spPr>
          <a:xfrm>
            <a:off x="1554150" y="2020925"/>
            <a:ext cx="1920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NVA: Người Dùng</a:t>
            </a:r>
            <a:endParaRPr sz="1600">
              <a:solidFill>
                <a:schemeClr val="dk2"/>
              </a:solidFill>
              <a:latin typeface="Times New Roman"/>
              <a:ea typeface="Times New Roman"/>
              <a:cs typeface="Times New Roman"/>
              <a:sym typeface="Times New Roman"/>
            </a:endParaRPr>
          </a:p>
        </p:txBody>
      </p:sp>
      <p:sp>
        <p:nvSpPr>
          <p:cNvPr id="498" name="Google Shape;498;p33"/>
          <p:cNvSpPr txBox="1"/>
          <p:nvPr/>
        </p:nvSpPr>
        <p:spPr>
          <a:xfrm>
            <a:off x="2178550" y="2696775"/>
            <a:ext cx="25029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[Quan tâm đến các gợi ý]</a:t>
            </a:r>
            <a:endParaRPr sz="1600">
              <a:solidFill>
                <a:schemeClr val="dk2"/>
              </a:solidFill>
              <a:latin typeface="Times New Roman"/>
              <a:ea typeface="Times New Roman"/>
              <a:cs typeface="Times New Roman"/>
              <a:sym typeface="Times New Roman"/>
            </a:endParaRPr>
          </a:p>
        </p:txBody>
      </p:sp>
      <p:sp>
        <p:nvSpPr>
          <p:cNvPr id="499" name="Google Shape;499;p33"/>
          <p:cNvSpPr txBox="1"/>
          <p:nvPr/>
        </p:nvSpPr>
        <p:spPr>
          <a:xfrm>
            <a:off x="1293250" y="4471125"/>
            <a:ext cx="6524100" cy="6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chemeClr val="dk2"/>
                </a:solidFill>
                <a:latin typeface="Times New Roman"/>
                <a:ea typeface="Times New Roman"/>
                <a:cs typeface="Times New Roman"/>
                <a:sym typeface="Times New Roman"/>
              </a:rPr>
              <a:t>Chỉ thực hiện nếu điều kiện bảo vệ đúng.</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4"/>
          <p:cNvSpPr/>
          <p:nvPr/>
        </p:nvSpPr>
        <p:spPr>
          <a:xfrm>
            <a:off x="1390925" y="1204175"/>
            <a:ext cx="5516400" cy="400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05" name="Google Shape;505;p34"/>
          <p:cNvSpPr/>
          <p:nvPr/>
        </p:nvSpPr>
        <p:spPr>
          <a:xfrm>
            <a:off x="1771925" y="2423375"/>
            <a:ext cx="4850700" cy="2602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06" name="Google Shape;506;p34"/>
          <p:cNvSpPr/>
          <p:nvPr/>
        </p:nvSpPr>
        <p:spPr>
          <a:xfrm rot="10800000">
            <a:off x="1771925" y="2423375"/>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507" name="Google Shape;507;p34"/>
          <p:cNvSpPr txBox="1"/>
          <p:nvPr/>
        </p:nvSpPr>
        <p:spPr>
          <a:xfrm>
            <a:off x="1750450" y="2337532"/>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Times New Roman"/>
                <a:ea typeface="Times New Roman"/>
                <a:cs typeface="Times New Roman"/>
                <a:sym typeface="Times New Roman"/>
              </a:rPr>
              <a:t>alt</a:t>
            </a:r>
            <a:r>
              <a:rPr b="1" lang="en-GB" sz="1600">
                <a:solidFill>
                  <a:schemeClr val="dk2"/>
                </a:solidFill>
                <a:latin typeface="Times New Roman"/>
                <a:ea typeface="Times New Roman"/>
                <a:cs typeface="Times New Roman"/>
                <a:sym typeface="Times New Roman"/>
              </a:rPr>
              <a:t> </a:t>
            </a:r>
            <a:r>
              <a:rPr lang="en-GB" sz="1600">
                <a:solidFill>
                  <a:schemeClr val="dk2"/>
                </a:solidFill>
                <a:latin typeface="Times New Roman"/>
                <a:ea typeface="Times New Roman"/>
                <a:cs typeface="Times New Roman"/>
                <a:sym typeface="Times New Roman"/>
              </a:rPr>
              <a:t>Điều khoản sử dụng</a:t>
            </a:r>
            <a:endParaRPr sz="1600">
              <a:solidFill>
                <a:schemeClr val="dk2"/>
              </a:solidFill>
              <a:latin typeface="Times New Roman"/>
              <a:ea typeface="Times New Roman"/>
              <a:cs typeface="Times New Roman"/>
              <a:sym typeface="Times New Roman"/>
            </a:endParaRPr>
          </a:p>
        </p:txBody>
      </p:sp>
      <p:sp>
        <p:nvSpPr>
          <p:cNvPr id="508" name="Google Shape;508;p34"/>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200"/>
              <a:t>Ví dụ 4.5</a:t>
            </a:r>
            <a:r>
              <a:rPr lang="en-GB"/>
              <a:t>d</a:t>
            </a:r>
            <a:r>
              <a:rPr lang="en-GB" sz="3200"/>
              <a:t>. Sơ đồ tuần tự </a:t>
            </a:r>
            <a:r>
              <a:rPr lang="en-GB"/>
              <a:t>- </a:t>
            </a:r>
            <a:r>
              <a:rPr lang="en-GB"/>
              <a:t>Rẽ nhánh</a:t>
            </a:r>
            <a:endParaRPr sz="3200"/>
          </a:p>
        </p:txBody>
      </p:sp>
      <p:sp>
        <p:nvSpPr>
          <p:cNvPr id="509" name="Google Shape;509;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0" name="Google Shape;510;p34"/>
          <p:cNvSpPr/>
          <p:nvPr/>
        </p:nvSpPr>
        <p:spPr>
          <a:xfrm rot="10800000">
            <a:off x="1390925" y="1204175"/>
            <a:ext cx="3870100"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511" name="Google Shape;511;p34"/>
          <p:cNvSpPr txBox="1"/>
          <p:nvPr/>
        </p:nvSpPr>
        <p:spPr>
          <a:xfrm>
            <a:off x="1369450" y="1118325"/>
            <a:ext cx="39345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Xác nhận điều khoản sử dụng</a:t>
            </a:r>
            <a:endParaRPr sz="1600">
              <a:solidFill>
                <a:schemeClr val="dk2"/>
              </a:solidFill>
              <a:latin typeface="Times New Roman"/>
              <a:ea typeface="Times New Roman"/>
              <a:cs typeface="Times New Roman"/>
              <a:sym typeface="Times New Roman"/>
            </a:endParaRPr>
          </a:p>
        </p:txBody>
      </p:sp>
      <p:sp>
        <p:nvSpPr>
          <p:cNvPr id="512" name="Google Shape;512;p34"/>
          <p:cNvSpPr/>
          <p:nvPr/>
        </p:nvSpPr>
        <p:spPr>
          <a:xfrm>
            <a:off x="5093600" y="1569075"/>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sp>
        <p:nvSpPr>
          <p:cNvPr id="513" name="Google Shape;513;p34"/>
          <p:cNvSpPr/>
          <p:nvPr/>
        </p:nvSpPr>
        <p:spPr>
          <a:xfrm>
            <a:off x="2009100" y="16012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14" name="Google Shape;514;p34"/>
          <p:cNvCxnSpPr/>
          <p:nvPr/>
        </p:nvCxnSpPr>
        <p:spPr>
          <a:xfrm>
            <a:off x="2084250" y="17515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34"/>
          <p:cNvCxnSpPr/>
          <p:nvPr/>
        </p:nvCxnSpPr>
        <p:spPr>
          <a:xfrm>
            <a:off x="2084225" y="19530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516" name="Google Shape;516;p34"/>
          <p:cNvCxnSpPr/>
          <p:nvPr/>
        </p:nvCxnSpPr>
        <p:spPr>
          <a:xfrm>
            <a:off x="2085025" y="18450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517" name="Google Shape;517;p34"/>
          <p:cNvCxnSpPr/>
          <p:nvPr/>
        </p:nvCxnSpPr>
        <p:spPr>
          <a:xfrm flipH="1">
            <a:off x="1966975" y="19482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34"/>
          <p:cNvCxnSpPr/>
          <p:nvPr/>
        </p:nvCxnSpPr>
        <p:spPr>
          <a:xfrm flipH="1">
            <a:off x="1950875" y="1840238"/>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34"/>
          <p:cNvCxnSpPr/>
          <p:nvPr/>
        </p:nvCxnSpPr>
        <p:spPr>
          <a:xfrm>
            <a:off x="2094975" y="2322695"/>
            <a:ext cx="0" cy="2785200"/>
          </a:xfrm>
          <a:prstGeom prst="straightConnector1">
            <a:avLst/>
          </a:prstGeom>
          <a:noFill/>
          <a:ln cap="flat" cmpd="sng" w="9525">
            <a:solidFill>
              <a:schemeClr val="dk2"/>
            </a:solidFill>
            <a:prstDash val="dash"/>
            <a:round/>
            <a:headEnd len="med" w="med" type="none"/>
            <a:tailEnd len="med" w="med" type="none"/>
          </a:ln>
        </p:spPr>
      </p:cxnSp>
      <p:cxnSp>
        <p:nvCxnSpPr>
          <p:cNvPr id="520" name="Google Shape;520;p34"/>
          <p:cNvCxnSpPr/>
          <p:nvPr/>
        </p:nvCxnSpPr>
        <p:spPr>
          <a:xfrm>
            <a:off x="5883500" y="2008025"/>
            <a:ext cx="0" cy="3060900"/>
          </a:xfrm>
          <a:prstGeom prst="straightConnector1">
            <a:avLst/>
          </a:prstGeom>
          <a:noFill/>
          <a:ln cap="flat" cmpd="sng" w="9525">
            <a:solidFill>
              <a:schemeClr val="dk2"/>
            </a:solidFill>
            <a:prstDash val="dash"/>
            <a:round/>
            <a:headEnd len="med" w="med" type="none"/>
            <a:tailEnd len="med" w="med" type="none"/>
          </a:ln>
        </p:spPr>
      </p:cxnSp>
      <p:sp>
        <p:nvSpPr>
          <p:cNvPr id="521" name="Google Shape;521;p34"/>
          <p:cNvSpPr/>
          <p:nvPr/>
        </p:nvSpPr>
        <p:spPr>
          <a:xfrm>
            <a:off x="5791075" y="3213275"/>
            <a:ext cx="1503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22" name="Google Shape;522;p34"/>
          <p:cNvCxnSpPr/>
          <p:nvPr/>
        </p:nvCxnSpPr>
        <p:spPr>
          <a:xfrm>
            <a:off x="2094975" y="33806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523" name="Google Shape;523;p34"/>
          <p:cNvSpPr txBox="1"/>
          <p:nvPr/>
        </p:nvSpPr>
        <p:spPr>
          <a:xfrm>
            <a:off x="2196918" y="29900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a:t>
            </a:r>
            <a:r>
              <a:rPr lang="en-GB" sz="1600">
                <a:solidFill>
                  <a:schemeClr val="dk2"/>
                </a:solidFill>
                <a:latin typeface="Times New Roman"/>
                <a:ea typeface="Times New Roman"/>
                <a:cs typeface="Times New Roman"/>
                <a:sym typeface="Times New Roman"/>
              </a:rPr>
              <a:t>Thực hiện cài đặt</a:t>
            </a:r>
            <a:r>
              <a:rPr lang="en-GB" sz="1600">
                <a:solidFill>
                  <a:schemeClr val="dk2"/>
                </a:solidFill>
                <a:latin typeface="Times New Roman"/>
                <a:ea typeface="Times New Roman"/>
                <a:cs typeface="Times New Roman"/>
                <a:sym typeface="Times New Roman"/>
              </a:rPr>
              <a:t>()</a:t>
            </a:r>
            <a:endParaRPr sz="1600">
              <a:solidFill>
                <a:schemeClr val="dk2"/>
              </a:solidFill>
              <a:latin typeface="Times New Roman"/>
              <a:ea typeface="Times New Roman"/>
              <a:cs typeface="Times New Roman"/>
              <a:sym typeface="Times New Roman"/>
            </a:endParaRPr>
          </a:p>
        </p:txBody>
      </p:sp>
      <p:sp>
        <p:nvSpPr>
          <p:cNvPr id="524" name="Google Shape;524;p34"/>
          <p:cNvSpPr txBox="1"/>
          <p:nvPr/>
        </p:nvSpPr>
        <p:spPr>
          <a:xfrm>
            <a:off x="1554150" y="2020925"/>
            <a:ext cx="1920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NVA: Người Dùng</a:t>
            </a:r>
            <a:endParaRPr sz="1600">
              <a:solidFill>
                <a:schemeClr val="dk2"/>
              </a:solidFill>
              <a:latin typeface="Times New Roman"/>
              <a:ea typeface="Times New Roman"/>
              <a:cs typeface="Times New Roman"/>
              <a:sym typeface="Times New Roman"/>
            </a:endParaRPr>
          </a:p>
        </p:txBody>
      </p:sp>
      <p:sp>
        <p:nvSpPr>
          <p:cNvPr id="525" name="Google Shape;525;p34"/>
          <p:cNvSpPr txBox="1"/>
          <p:nvPr/>
        </p:nvSpPr>
        <p:spPr>
          <a:xfrm>
            <a:off x="2178550" y="2696775"/>
            <a:ext cx="26961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a:t>
            </a:r>
            <a:r>
              <a:rPr lang="en-GB" sz="1600">
                <a:solidFill>
                  <a:schemeClr val="dk2"/>
                </a:solidFill>
                <a:latin typeface="Times New Roman"/>
                <a:ea typeface="Times New Roman"/>
                <a:cs typeface="Times New Roman"/>
                <a:sym typeface="Times New Roman"/>
              </a:rPr>
              <a:t>Đồng ý với các điều khoản</a:t>
            </a:r>
            <a:r>
              <a:rPr lang="en-GB" sz="1600">
                <a:solidFill>
                  <a:schemeClr val="dk2"/>
                </a:solidFill>
                <a:latin typeface="Times New Roman"/>
                <a:ea typeface="Times New Roman"/>
                <a:cs typeface="Times New Roman"/>
                <a:sym typeface="Times New Roman"/>
              </a:rPr>
              <a:t>]</a:t>
            </a:r>
            <a:endParaRPr sz="1600">
              <a:solidFill>
                <a:schemeClr val="dk2"/>
              </a:solidFill>
              <a:latin typeface="Times New Roman"/>
              <a:ea typeface="Times New Roman"/>
              <a:cs typeface="Times New Roman"/>
              <a:sym typeface="Times New Roman"/>
            </a:endParaRPr>
          </a:p>
        </p:txBody>
      </p:sp>
      <p:sp>
        <p:nvSpPr>
          <p:cNvPr id="526" name="Google Shape;526;p34"/>
          <p:cNvSpPr txBox="1"/>
          <p:nvPr/>
        </p:nvSpPr>
        <p:spPr>
          <a:xfrm>
            <a:off x="1197075" y="5359375"/>
            <a:ext cx="6524100" cy="6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chemeClr val="dk2"/>
                </a:solidFill>
                <a:latin typeface="Times New Roman"/>
                <a:ea typeface="Times New Roman"/>
                <a:cs typeface="Times New Roman"/>
                <a:sym typeface="Times New Roman"/>
              </a:rPr>
              <a:t>Vùng tương ứng được thực hiện nếu điều kiện đúng.</a:t>
            </a:r>
            <a:endParaRPr i="1" sz="2200">
              <a:solidFill>
                <a:schemeClr val="dk2"/>
              </a:solidFill>
              <a:latin typeface="Times New Roman"/>
              <a:ea typeface="Times New Roman"/>
              <a:cs typeface="Times New Roman"/>
              <a:sym typeface="Times New Roman"/>
            </a:endParaRPr>
          </a:p>
        </p:txBody>
      </p:sp>
      <p:cxnSp>
        <p:nvCxnSpPr>
          <p:cNvPr id="527" name="Google Shape;527;p34"/>
          <p:cNvCxnSpPr/>
          <p:nvPr/>
        </p:nvCxnSpPr>
        <p:spPr>
          <a:xfrm>
            <a:off x="1771925" y="3800975"/>
            <a:ext cx="4850700" cy="0"/>
          </a:xfrm>
          <a:prstGeom prst="straightConnector1">
            <a:avLst/>
          </a:prstGeom>
          <a:noFill/>
          <a:ln cap="flat" cmpd="sng" w="9525">
            <a:solidFill>
              <a:schemeClr val="dk2"/>
            </a:solidFill>
            <a:prstDash val="dash"/>
            <a:round/>
            <a:headEnd len="med" w="med" type="none"/>
            <a:tailEnd len="med" w="med" type="none"/>
          </a:ln>
        </p:spPr>
      </p:cxnSp>
      <p:sp>
        <p:nvSpPr>
          <p:cNvPr id="528" name="Google Shape;528;p34"/>
          <p:cNvSpPr txBox="1"/>
          <p:nvPr/>
        </p:nvSpPr>
        <p:spPr>
          <a:xfrm>
            <a:off x="2178550" y="3763575"/>
            <a:ext cx="26961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a:t>
            </a:r>
            <a:r>
              <a:rPr lang="en-GB" sz="1600">
                <a:solidFill>
                  <a:schemeClr val="dk2"/>
                </a:solidFill>
                <a:latin typeface="Times New Roman"/>
                <a:ea typeface="Times New Roman"/>
                <a:cs typeface="Times New Roman"/>
                <a:sym typeface="Times New Roman"/>
              </a:rPr>
              <a:t>Ngược lại</a:t>
            </a:r>
            <a:r>
              <a:rPr lang="en-GB" sz="1600">
                <a:solidFill>
                  <a:schemeClr val="dk2"/>
                </a:solidFill>
                <a:latin typeface="Times New Roman"/>
                <a:ea typeface="Times New Roman"/>
                <a:cs typeface="Times New Roman"/>
                <a:sym typeface="Times New Roman"/>
              </a:rPr>
              <a:t>]</a:t>
            </a:r>
            <a:endParaRPr sz="1600">
              <a:solidFill>
                <a:schemeClr val="dk2"/>
              </a:solidFill>
              <a:latin typeface="Times New Roman"/>
              <a:ea typeface="Times New Roman"/>
              <a:cs typeface="Times New Roman"/>
              <a:sym typeface="Times New Roman"/>
            </a:endParaRPr>
          </a:p>
        </p:txBody>
      </p:sp>
      <p:sp>
        <p:nvSpPr>
          <p:cNvPr id="529" name="Google Shape;529;p34"/>
          <p:cNvSpPr txBox="1"/>
          <p:nvPr/>
        </p:nvSpPr>
        <p:spPr>
          <a:xfrm>
            <a:off x="2196918" y="40568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a:t>
            </a:r>
            <a:r>
              <a:rPr lang="en-GB" sz="1600">
                <a:solidFill>
                  <a:schemeClr val="dk2"/>
                </a:solidFill>
                <a:latin typeface="Times New Roman"/>
                <a:ea typeface="Times New Roman"/>
                <a:cs typeface="Times New Roman"/>
                <a:sym typeface="Times New Roman"/>
              </a:rPr>
              <a:t>: </a:t>
            </a:r>
            <a:r>
              <a:rPr lang="en-GB" sz="1600">
                <a:solidFill>
                  <a:schemeClr val="dk2"/>
                </a:solidFill>
                <a:latin typeface="Times New Roman"/>
                <a:ea typeface="Times New Roman"/>
                <a:cs typeface="Times New Roman"/>
                <a:sym typeface="Times New Roman"/>
              </a:rPr>
              <a:t>Hủy</a:t>
            </a:r>
            <a:r>
              <a:rPr lang="en-GB" sz="1600">
                <a:solidFill>
                  <a:schemeClr val="dk2"/>
                </a:solidFill>
                <a:latin typeface="Times New Roman"/>
                <a:ea typeface="Times New Roman"/>
                <a:cs typeface="Times New Roman"/>
                <a:sym typeface="Times New Roman"/>
              </a:rPr>
              <a:t> cài đặt()</a:t>
            </a:r>
            <a:endParaRPr sz="1600">
              <a:solidFill>
                <a:schemeClr val="dk2"/>
              </a:solidFill>
              <a:latin typeface="Times New Roman"/>
              <a:ea typeface="Times New Roman"/>
              <a:cs typeface="Times New Roman"/>
              <a:sym typeface="Times New Roman"/>
            </a:endParaRPr>
          </a:p>
        </p:txBody>
      </p:sp>
      <p:sp>
        <p:nvSpPr>
          <p:cNvPr id="530" name="Google Shape;530;p34"/>
          <p:cNvSpPr/>
          <p:nvPr/>
        </p:nvSpPr>
        <p:spPr>
          <a:xfrm>
            <a:off x="5791075" y="4432475"/>
            <a:ext cx="150300" cy="428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31" name="Google Shape;531;p34"/>
          <p:cNvCxnSpPr/>
          <p:nvPr/>
        </p:nvCxnSpPr>
        <p:spPr>
          <a:xfrm>
            <a:off x="2094975" y="4523698"/>
            <a:ext cx="37071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5"/>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tả</a:t>
            </a:r>
            <a:r>
              <a:rPr lang="en-GB"/>
              <a:t> thông điệp</a:t>
            </a:r>
            <a:endParaRPr/>
          </a:p>
        </p:txBody>
      </p:sp>
      <p:sp>
        <p:nvSpPr>
          <p:cNvPr id="537" name="Google Shape;537;p35"/>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iểu thức lô-gic] Tên thông điệp (Danh sách tham số)</a:t>
            </a:r>
            <a:endParaRPr/>
          </a:p>
          <a:p>
            <a:pPr indent="-381000" lvl="0" marL="457200" rtl="0" algn="l">
              <a:spcBef>
                <a:spcPts val="0"/>
              </a:spcBef>
              <a:spcAft>
                <a:spcPts val="0"/>
              </a:spcAft>
              <a:buSzPts val="2400"/>
              <a:buChar char="●"/>
            </a:pPr>
            <a:r>
              <a:rPr lang="en-GB"/>
              <a:t>Điều kiện bảo vệ được mô tả trong cặp dấu []. Nếu biểu thức đúng thì thông điệp được gửi, nếu ngược lại thì thông điệp không được gửi.</a:t>
            </a:r>
            <a:endParaRPr/>
          </a:p>
          <a:p>
            <a:pPr indent="-381000" lvl="0" marL="457200" rtl="0" algn="l">
              <a:spcBef>
                <a:spcPts val="0"/>
              </a:spcBef>
              <a:spcAft>
                <a:spcPts val="0"/>
              </a:spcAft>
              <a:buSzPts val="2400"/>
              <a:buChar char="●"/>
            </a:pPr>
            <a:r>
              <a:rPr lang="en-GB"/>
              <a:t>Tên thông điệp mô tả dịch vụ được yêu cầu, thường được bỏ qua trên thông điệp trả về.</a:t>
            </a:r>
            <a:endParaRPr/>
          </a:p>
          <a:p>
            <a:pPr indent="-381000" lvl="0" marL="457200" rtl="0" algn="l">
              <a:spcBef>
                <a:spcPts val="0"/>
              </a:spcBef>
              <a:spcAft>
                <a:spcPts val="0"/>
              </a:spcAft>
              <a:buSzPts val="2400"/>
              <a:buChar char="●"/>
            </a:pPr>
            <a:r>
              <a:rPr lang="en-GB"/>
              <a:t>Danh sách tham số (nếu có) biểu diễn dữ liệu được gửi tới đối tượng nhận thông điệp.</a:t>
            </a:r>
            <a:endParaRPr/>
          </a:p>
        </p:txBody>
      </p:sp>
      <p:sp>
        <p:nvSpPr>
          <p:cNvPr id="538" name="Google Shape;538;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4" name="Google Shape;544;p36"/>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tuần tự mức hệ thống</a:t>
            </a:r>
            <a:endParaRPr baseline="-25000"/>
          </a:p>
        </p:txBody>
      </p:sp>
      <p:sp>
        <p:nvSpPr>
          <p:cNvPr id="545" name="Google Shape;545;p36"/>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i="1" lang="en-GB" sz="2200"/>
              <a:t>S</a:t>
            </a:r>
            <a:r>
              <a:rPr i="1" lang="en-GB" sz="2200"/>
              <a:t>ystem </a:t>
            </a:r>
            <a:r>
              <a:rPr b="1" i="1" lang="en-GB" sz="2200"/>
              <a:t>S</a:t>
            </a:r>
            <a:r>
              <a:rPr i="1" lang="en-GB" sz="2200"/>
              <a:t>equence </a:t>
            </a:r>
            <a:r>
              <a:rPr b="1" i="1" lang="en-GB" sz="2200"/>
              <a:t>D</a:t>
            </a:r>
            <a:r>
              <a:rPr i="1" lang="en-GB" sz="2200"/>
              <a:t>iagram (SSD)</a:t>
            </a:r>
            <a:endParaRPr i="1" sz="2200"/>
          </a:p>
          <a:p>
            <a:pPr indent="-368300" lvl="0" marL="457200" rtl="0" algn="just">
              <a:spcBef>
                <a:spcPts val="0"/>
              </a:spcBef>
              <a:spcAft>
                <a:spcPts val="0"/>
              </a:spcAft>
              <a:buSzPts val="2200"/>
              <a:buChar char="●"/>
            </a:pPr>
            <a:r>
              <a:rPr lang="en-GB" sz="2200"/>
              <a:t>Cấu trúc đơn giản</a:t>
            </a:r>
            <a:endParaRPr sz="2200"/>
          </a:p>
          <a:p>
            <a:pPr indent="-368300" lvl="1" marL="914400" rtl="0" algn="just">
              <a:spcBef>
                <a:spcPts val="0"/>
              </a:spcBef>
              <a:spcAft>
                <a:spcPts val="0"/>
              </a:spcAft>
              <a:buSzPts val="2200"/>
              <a:buChar char="○"/>
            </a:pPr>
            <a:r>
              <a:rPr lang="en-GB"/>
              <a:t>Chỉ gồm các tác nhân và hệ thống</a:t>
            </a:r>
            <a:endParaRPr/>
          </a:p>
          <a:p>
            <a:pPr indent="-368300" lvl="1" marL="914400" rtl="0" algn="just">
              <a:spcBef>
                <a:spcPts val="0"/>
              </a:spcBef>
              <a:spcAft>
                <a:spcPts val="0"/>
              </a:spcAft>
              <a:buSzPts val="2200"/>
              <a:buChar char="○"/>
            </a:pPr>
            <a:r>
              <a:rPr lang="en-GB"/>
              <a:t>Mô phỏng kịch bản sử dụng hệ thống để thực hiện các công việc nghiệp vụ hữu ích, trong các ca sử dụng.</a:t>
            </a:r>
            <a:endParaRPr/>
          </a:p>
          <a:p>
            <a:pPr indent="-368300" lvl="0" marL="457200" rtl="0" algn="just">
              <a:spcBef>
                <a:spcPts val="0"/>
              </a:spcBef>
              <a:spcAft>
                <a:spcPts val="0"/>
              </a:spcAft>
              <a:buSzPts val="2200"/>
              <a:buChar char="●"/>
            </a:pPr>
            <a:r>
              <a:rPr lang="en-GB" sz="2200"/>
              <a:t>Các thông điệp tương ứng với các hoạt động nghiệp vụ ở mức khái quát cao, có thể là chức năng của hệ thống.</a:t>
            </a:r>
            <a:endParaRPr i="1"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51" name="Google Shape;551;p37"/>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4.6. Ca sử dụng mượn sách</a:t>
            </a:r>
            <a:endParaRPr/>
          </a:p>
        </p:txBody>
      </p:sp>
      <p:sp>
        <p:nvSpPr>
          <p:cNvPr id="552" name="Google Shape;552;p37"/>
          <p:cNvSpPr/>
          <p:nvPr/>
        </p:nvSpPr>
        <p:spPr>
          <a:xfrm>
            <a:off x="2056475" y="1604300"/>
            <a:ext cx="143100" cy="143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53" name="Google Shape;553;p37"/>
          <p:cNvCxnSpPr>
            <a:stCxn id="552" idx="4"/>
          </p:cNvCxnSpPr>
          <p:nvPr/>
        </p:nvCxnSpPr>
        <p:spPr>
          <a:xfrm>
            <a:off x="2128025" y="1747400"/>
            <a:ext cx="0" cy="3936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37"/>
          <p:cNvCxnSpPr/>
          <p:nvPr/>
        </p:nvCxnSpPr>
        <p:spPr>
          <a:xfrm>
            <a:off x="2126701" y="2124560"/>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37"/>
          <p:cNvCxnSpPr/>
          <p:nvPr/>
        </p:nvCxnSpPr>
        <p:spPr>
          <a:xfrm flipH="1">
            <a:off x="1973000" y="2129100"/>
            <a:ext cx="143100" cy="15510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37"/>
          <p:cNvCxnSpPr/>
          <p:nvPr/>
        </p:nvCxnSpPr>
        <p:spPr>
          <a:xfrm>
            <a:off x="2116100" y="1872004"/>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37"/>
          <p:cNvCxnSpPr/>
          <p:nvPr/>
        </p:nvCxnSpPr>
        <p:spPr>
          <a:xfrm flipH="1">
            <a:off x="1973000" y="1883935"/>
            <a:ext cx="143100" cy="155100"/>
          </a:xfrm>
          <a:prstGeom prst="straightConnector1">
            <a:avLst/>
          </a:prstGeom>
          <a:noFill/>
          <a:ln cap="flat" cmpd="sng" w="9525">
            <a:solidFill>
              <a:schemeClr val="dk2"/>
            </a:solidFill>
            <a:prstDash val="solid"/>
            <a:round/>
            <a:headEnd len="med" w="med" type="none"/>
            <a:tailEnd len="med" w="med" type="none"/>
          </a:ln>
        </p:spPr>
      </p:cxnSp>
      <p:sp>
        <p:nvSpPr>
          <p:cNvPr id="558" name="Google Shape;558;p37"/>
          <p:cNvSpPr/>
          <p:nvPr/>
        </p:nvSpPr>
        <p:spPr>
          <a:xfrm>
            <a:off x="4037675" y="1604300"/>
            <a:ext cx="143100" cy="143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59" name="Google Shape;559;p37"/>
          <p:cNvCxnSpPr>
            <a:stCxn id="558" idx="4"/>
          </p:cNvCxnSpPr>
          <p:nvPr/>
        </p:nvCxnSpPr>
        <p:spPr>
          <a:xfrm>
            <a:off x="4109225" y="1747400"/>
            <a:ext cx="0" cy="393600"/>
          </a:xfrm>
          <a:prstGeom prst="straightConnector1">
            <a:avLst/>
          </a:prstGeom>
          <a:noFill/>
          <a:ln cap="flat" cmpd="sng" w="9525">
            <a:solidFill>
              <a:schemeClr val="dk2"/>
            </a:solidFill>
            <a:prstDash val="solid"/>
            <a:round/>
            <a:headEnd len="med" w="med" type="none"/>
            <a:tailEnd len="med" w="med" type="none"/>
          </a:ln>
        </p:spPr>
      </p:cxnSp>
      <p:cxnSp>
        <p:nvCxnSpPr>
          <p:cNvPr id="560" name="Google Shape;560;p37"/>
          <p:cNvCxnSpPr/>
          <p:nvPr/>
        </p:nvCxnSpPr>
        <p:spPr>
          <a:xfrm>
            <a:off x="4107901" y="2124560"/>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561" name="Google Shape;561;p37"/>
          <p:cNvCxnSpPr/>
          <p:nvPr/>
        </p:nvCxnSpPr>
        <p:spPr>
          <a:xfrm flipH="1">
            <a:off x="3954200" y="2129100"/>
            <a:ext cx="143100" cy="155100"/>
          </a:xfrm>
          <a:prstGeom prst="straightConnector1">
            <a:avLst/>
          </a:prstGeom>
          <a:noFill/>
          <a:ln cap="flat" cmpd="sng" w="9525">
            <a:solidFill>
              <a:schemeClr val="dk2"/>
            </a:solidFill>
            <a:prstDash val="solid"/>
            <a:round/>
            <a:headEnd len="med" w="med" type="none"/>
            <a:tailEnd len="med" w="med" type="none"/>
          </a:ln>
        </p:spPr>
      </p:cxnSp>
      <p:cxnSp>
        <p:nvCxnSpPr>
          <p:cNvPr id="562" name="Google Shape;562;p37"/>
          <p:cNvCxnSpPr/>
          <p:nvPr/>
        </p:nvCxnSpPr>
        <p:spPr>
          <a:xfrm>
            <a:off x="4097300" y="1872004"/>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37"/>
          <p:cNvCxnSpPr/>
          <p:nvPr/>
        </p:nvCxnSpPr>
        <p:spPr>
          <a:xfrm flipH="1">
            <a:off x="3954200" y="1883935"/>
            <a:ext cx="143100" cy="155100"/>
          </a:xfrm>
          <a:prstGeom prst="straightConnector1">
            <a:avLst/>
          </a:prstGeom>
          <a:noFill/>
          <a:ln cap="flat" cmpd="sng" w="9525">
            <a:solidFill>
              <a:schemeClr val="dk2"/>
            </a:solidFill>
            <a:prstDash val="solid"/>
            <a:round/>
            <a:headEnd len="med" w="med" type="none"/>
            <a:tailEnd len="med" w="med" type="none"/>
          </a:ln>
        </p:spPr>
      </p:cxnSp>
      <p:sp>
        <p:nvSpPr>
          <p:cNvPr id="564" name="Google Shape;564;p37"/>
          <p:cNvSpPr/>
          <p:nvPr/>
        </p:nvSpPr>
        <p:spPr>
          <a:xfrm>
            <a:off x="5975800" y="1663950"/>
            <a:ext cx="12882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:Hệ thống</a:t>
            </a:r>
            <a:endParaRPr>
              <a:latin typeface="Times New Roman"/>
              <a:ea typeface="Times New Roman"/>
              <a:cs typeface="Times New Roman"/>
              <a:sym typeface="Times New Roman"/>
            </a:endParaRPr>
          </a:p>
        </p:txBody>
      </p:sp>
      <p:cxnSp>
        <p:nvCxnSpPr>
          <p:cNvPr id="565" name="Google Shape;565;p37"/>
          <p:cNvCxnSpPr/>
          <p:nvPr/>
        </p:nvCxnSpPr>
        <p:spPr>
          <a:xfrm>
            <a:off x="6619900" y="2188650"/>
            <a:ext cx="0" cy="4256100"/>
          </a:xfrm>
          <a:prstGeom prst="straightConnector1">
            <a:avLst/>
          </a:prstGeom>
          <a:noFill/>
          <a:ln cap="flat" cmpd="sng" w="9525">
            <a:solidFill>
              <a:schemeClr val="dk2"/>
            </a:solidFill>
            <a:prstDash val="dash"/>
            <a:round/>
            <a:headEnd len="med" w="med" type="none"/>
            <a:tailEnd len="med" w="med" type="none"/>
          </a:ln>
        </p:spPr>
      </p:cxnSp>
      <p:cxnSp>
        <p:nvCxnSpPr>
          <p:cNvPr id="566" name="Google Shape;566;p37"/>
          <p:cNvCxnSpPr/>
          <p:nvPr/>
        </p:nvCxnSpPr>
        <p:spPr>
          <a:xfrm>
            <a:off x="2116100" y="2686833"/>
            <a:ext cx="0" cy="3812100"/>
          </a:xfrm>
          <a:prstGeom prst="straightConnector1">
            <a:avLst/>
          </a:prstGeom>
          <a:noFill/>
          <a:ln cap="flat" cmpd="sng" w="9525">
            <a:solidFill>
              <a:schemeClr val="dk2"/>
            </a:solidFill>
            <a:prstDash val="dash"/>
            <a:round/>
            <a:headEnd len="med" w="med" type="none"/>
            <a:tailEnd len="med" w="med" type="none"/>
          </a:ln>
        </p:spPr>
      </p:cxnSp>
      <p:cxnSp>
        <p:nvCxnSpPr>
          <p:cNvPr id="567" name="Google Shape;567;p37"/>
          <p:cNvCxnSpPr/>
          <p:nvPr/>
        </p:nvCxnSpPr>
        <p:spPr>
          <a:xfrm>
            <a:off x="4121150" y="2686833"/>
            <a:ext cx="0" cy="3812100"/>
          </a:xfrm>
          <a:prstGeom prst="straightConnector1">
            <a:avLst/>
          </a:prstGeom>
          <a:noFill/>
          <a:ln cap="flat" cmpd="sng" w="9525">
            <a:solidFill>
              <a:schemeClr val="dk2"/>
            </a:solidFill>
            <a:prstDash val="dash"/>
            <a:round/>
            <a:headEnd len="med" w="med" type="none"/>
            <a:tailEnd len="med" w="med" type="none"/>
          </a:ln>
        </p:spPr>
      </p:cxnSp>
      <p:sp>
        <p:nvSpPr>
          <p:cNvPr id="568" name="Google Shape;568;p37"/>
          <p:cNvSpPr/>
          <p:nvPr/>
        </p:nvSpPr>
        <p:spPr>
          <a:xfrm>
            <a:off x="4048275" y="2867900"/>
            <a:ext cx="131100" cy="3209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69" name="Google Shape;569;p37"/>
          <p:cNvCxnSpPr/>
          <p:nvPr/>
        </p:nvCxnSpPr>
        <p:spPr>
          <a:xfrm>
            <a:off x="2104175" y="2939475"/>
            <a:ext cx="1920300" cy="0"/>
          </a:xfrm>
          <a:prstGeom prst="straightConnector1">
            <a:avLst/>
          </a:prstGeom>
          <a:noFill/>
          <a:ln cap="flat" cmpd="sng" w="9525">
            <a:solidFill>
              <a:schemeClr val="dk2"/>
            </a:solidFill>
            <a:prstDash val="solid"/>
            <a:round/>
            <a:headEnd len="med" w="med" type="none"/>
            <a:tailEnd len="med" w="med" type="triangle"/>
          </a:ln>
        </p:spPr>
      </p:cxnSp>
      <p:sp>
        <p:nvSpPr>
          <p:cNvPr id="570" name="Google Shape;570;p37"/>
          <p:cNvSpPr txBox="1"/>
          <p:nvPr/>
        </p:nvSpPr>
        <p:spPr>
          <a:xfrm>
            <a:off x="2199575" y="2541240"/>
            <a:ext cx="19812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Mượn(danh mục sách)</a:t>
            </a:r>
            <a:endParaRPr>
              <a:solidFill>
                <a:schemeClr val="dk2"/>
              </a:solidFill>
              <a:latin typeface="Times New Roman"/>
              <a:ea typeface="Times New Roman"/>
              <a:cs typeface="Times New Roman"/>
              <a:sym typeface="Times New Roman"/>
            </a:endParaRPr>
          </a:p>
        </p:txBody>
      </p:sp>
      <p:sp>
        <p:nvSpPr>
          <p:cNvPr id="571" name="Google Shape;571;p37"/>
          <p:cNvSpPr txBox="1"/>
          <p:nvPr/>
        </p:nvSpPr>
        <p:spPr>
          <a:xfrm>
            <a:off x="1666175" y="2312648"/>
            <a:ext cx="1022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:Sinh viên</a:t>
            </a:r>
            <a:endParaRPr>
              <a:solidFill>
                <a:schemeClr val="dk2"/>
              </a:solidFill>
              <a:latin typeface="Times New Roman"/>
              <a:ea typeface="Times New Roman"/>
              <a:cs typeface="Times New Roman"/>
              <a:sym typeface="Times New Roman"/>
            </a:endParaRPr>
          </a:p>
        </p:txBody>
      </p:sp>
      <p:sp>
        <p:nvSpPr>
          <p:cNvPr id="572" name="Google Shape;572;p37"/>
          <p:cNvSpPr txBox="1"/>
          <p:nvPr/>
        </p:nvSpPr>
        <p:spPr>
          <a:xfrm>
            <a:off x="3647375" y="2312648"/>
            <a:ext cx="1022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a:t>
            </a:r>
            <a:r>
              <a:rPr lang="en-GB">
                <a:solidFill>
                  <a:schemeClr val="dk2"/>
                </a:solidFill>
                <a:latin typeface="Times New Roman"/>
                <a:ea typeface="Times New Roman"/>
                <a:cs typeface="Times New Roman"/>
                <a:sym typeface="Times New Roman"/>
              </a:rPr>
              <a:t>Thủ thư</a:t>
            </a:r>
            <a:endParaRPr>
              <a:solidFill>
                <a:schemeClr val="dk2"/>
              </a:solidFill>
              <a:latin typeface="Times New Roman"/>
              <a:ea typeface="Times New Roman"/>
              <a:cs typeface="Times New Roman"/>
              <a:sym typeface="Times New Roman"/>
            </a:endParaRPr>
          </a:p>
        </p:txBody>
      </p:sp>
      <p:sp>
        <p:nvSpPr>
          <p:cNvPr id="573" name="Google Shape;573;p37"/>
          <p:cNvSpPr/>
          <p:nvPr/>
        </p:nvSpPr>
        <p:spPr>
          <a:xfrm>
            <a:off x="2067075" y="3401300"/>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74" name="Google Shape;574;p37"/>
          <p:cNvCxnSpPr/>
          <p:nvPr/>
        </p:nvCxnSpPr>
        <p:spPr>
          <a:xfrm rot="10800000">
            <a:off x="2199525" y="3488775"/>
            <a:ext cx="1872600" cy="0"/>
          </a:xfrm>
          <a:prstGeom prst="straightConnector1">
            <a:avLst/>
          </a:prstGeom>
          <a:noFill/>
          <a:ln cap="flat" cmpd="sng" w="9525">
            <a:solidFill>
              <a:schemeClr val="dk2"/>
            </a:solidFill>
            <a:prstDash val="solid"/>
            <a:round/>
            <a:headEnd len="med" w="med" type="none"/>
            <a:tailEnd len="med" w="med" type="triangle"/>
          </a:ln>
        </p:spPr>
      </p:cxnSp>
      <p:sp>
        <p:nvSpPr>
          <p:cNvPr id="575" name="Google Shape;575;p37"/>
          <p:cNvSpPr txBox="1"/>
          <p:nvPr/>
        </p:nvSpPr>
        <p:spPr>
          <a:xfrm>
            <a:off x="2199575" y="31508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Xuất trình thẻ ()</a:t>
            </a:r>
            <a:endParaRPr>
              <a:solidFill>
                <a:schemeClr val="dk2"/>
              </a:solidFill>
              <a:latin typeface="Times New Roman"/>
              <a:ea typeface="Times New Roman"/>
              <a:cs typeface="Times New Roman"/>
              <a:sym typeface="Times New Roman"/>
            </a:endParaRPr>
          </a:p>
        </p:txBody>
      </p:sp>
      <p:cxnSp>
        <p:nvCxnSpPr>
          <p:cNvPr id="576" name="Google Shape;576;p37"/>
          <p:cNvCxnSpPr/>
          <p:nvPr/>
        </p:nvCxnSpPr>
        <p:spPr>
          <a:xfrm>
            <a:off x="2232721" y="3789602"/>
            <a:ext cx="1815600" cy="2100"/>
          </a:xfrm>
          <a:prstGeom prst="straightConnector1">
            <a:avLst/>
          </a:prstGeom>
          <a:noFill/>
          <a:ln cap="flat" cmpd="sng" w="9525">
            <a:solidFill>
              <a:schemeClr val="dk2"/>
            </a:solidFill>
            <a:prstDash val="dash"/>
            <a:round/>
            <a:headEnd len="med" w="med" type="none"/>
            <a:tailEnd len="med" w="med" type="triangle"/>
          </a:ln>
        </p:spPr>
      </p:cxnSp>
      <p:sp>
        <p:nvSpPr>
          <p:cNvPr id="577" name="Google Shape;577;p37"/>
          <p:cNvSpPr txBox="1"/>
          <p:nvPr/>
        </p:nvSpPr>
        <p:spPr>
          <a:xfrm>
            <a:off x="2504375" y="34556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Thẻ bạn đọc</a:t>
            </a:r>
            <a:endParaRPr>
              <a:solidFill>
                <a:schemeClr val="dk2"/>
              </a:solidFill>
              <a:latin typeface="Times New Roman"/>
              <a:ea typeface="Times New Roman"/>
              <a:cs typeface="Times New Roman"/>
              <a:sym typeface="Times New Roman"/>
            </a:endParaRPr>
          </a:p>
        </p:txBody>
      </p:sp>
      <p:cxnSp>
        <p:nvCxnSpPr>
          <p:cNvPr id="578" name="Google Shape;578;p37"/>
          <p:cNvCxnSpPr/>
          <p:nvPr/>
        </p:nvCxnSpPr>
        <p:spPr>
          <a:xfrm flipH="1" rot="10800000">
            <a:off x="4167550" y="4001550"/>
            <a:ext cx="2409300" cy="12000"/>
          </a:xfrm>
          <a:prstGeom prst="straightConnector1">
            <a:avLst/>
          </a:prstGeom>
          <a:noFill/>
          <a:ln cap="flat" cmpd="sng" w="9525">
            <a:solidFill>
              <a:schemeClr val="dk2"/>
            </a:solidFill>
            <a:prstDash val="solid"/>
            <a:round/>
            <a:headEnd len="med" w="med" type="none"/>
            <a:tailEnd len="med" w="med" type="triangle"/>
          </a:ln>
        </p:spPr>
      </p:cxnSp>
      <p:sp>
        <p:nvSpPr>
          <p:cNvPr id="579" name="Google Shape;579;p37"/>
          <p:cNvSpPr/>
          <p:nvPr/>
        </p:nvSpPr>
        <p:spPr>
          <a:xfrm>
            <a:off x="6562875" y="3927411"/>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80" name="Google Shape;580;p37"/>
          <p:cNvCxnSpPr/>
          <p:nvPr/>
        </p:nvCxnSpPr>
        <p:spPr>
          <a:xfrm flipH="1" rot="10800000">
            <a:off x="4167550" y="4611150"/>
            <a:ext cx="2409300" cy="12000"/>
          </a:xfrm>
          <a:prstGeom prst="straightConnector1">
            <a:avLst/>
          </a:prstGeom>
          <a:noFill/>
          <a:ln cap="flat" cmpd="sng" w="9525">
            <a:solidFill>
              <a:schemeClr val="dk2"/>
            </a:solidFill>
            <a:prstDash val="solid"/>
            <a:round/>
            <a:headEnd len="med" w="med" type="none"/>
            <a:tailEnd len="med" w="med" type="triangle"/>
          </a:ln>
        </p:spPr>
      </p:cxnSp>
      <p:sp>
        <p:nvSpPr>
          <p:cNvPr id="581" name="Google Shape;581;p37"/>
          <p:cNvSpPr/>
          <p:nvPr/>
        </p:nvSpPr>
        <p:spPr>
          <a:xfrm>
            <a:off x="6562875" y="4537011"/>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82" name="Google Shape;582;p37"/>
          <p:cNvSpPr txBox="1"/>
          <p:nvPr/>
        </p:nvSpPr>
        <p:spPr>
          <a:xfrm>
            <a:off x="4637975" y="42176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Kiểm tra </a:t>
            </a:r>
            <a:r>
              <a:rPr lang="en-GB">
                <a:solidFill>
                  <a:schemeClr val="dk2"/>
                </a:solidFill>
                <a:latin typeface="Times New Roman"/>
                <a:ea typeface="Times New Roman"/>
                <a:cs typeface="Times New Roman"/>
                <a:sym typeface="Times New Roman"/>
              </a:rPr>
              <a:t>sách quá hạn</a:t>
            </a:r>
            <a:r>
              <a:rPr lang="en-GB">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p:txBody>
      </p:sp>
      <p:sp>
        <p:nvSpPr>
          <p:cNvPr id="583" name="Google Shape;583;p37"/>
          <p:cNvSpPr txBox="1"/>
          <p:nvPr/>
        </p:nvSpPr>
        <p:spPr>
          <a:xfrm>
            <a:off x="4637975" y="36080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Kiểm tra tính hợp lệ</a:t>
            </a:r>
            <a:r>
              <a:rPr lang="en-GB">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p:txBody>
      </p:sp>
      <p:cxnSp>
        <p:nvCxnSpPr>
          <p:cNvPr id="584" name="Google Shape;584;p37"/>
          <p:cNvCxnSpPr/>
          <p:nvPr/>
        </p:nvCxnSpPr>
        <p:spPr>
          <a:xfrm flipH="1" rot="10800000">
            <a:off x="4167550" y="5220750"/>
            <a:ext cx="2409300" cy="12000"/>
          </a:xfrm>
          <a:prstGeom prst="straightConnector1">
            <a:avLst/>
          </a:prstGeom>
          <a:noFill/>
          <a:ln cap="flat" cmpd="sng" w="9525">
            <a:solidFill>
              <a:schemeClr val="dk2"/>
            </a:solidFill>
            <a:prstDash val="solid"/>
            <a:round/>
            <a:headEnd len="med" w="med" type="none"/>
            <a:tailEnd len="med" w="med" type="triangle"/>
          </a:ln>
        </p:spPr>
      </p:cxnSp>
      <p:sp>
        <p:nvSpPr>
          <p:cNvPr id="585" name="Google Shape;585;p37"/>
          <p:cNvSpPr/>
          <p:nvPr/>
        </p:nvSpPr>
        <p:spPr>
          <a:xfrm>
            <a:off x="6562875" y="5146611"/>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86" name="Google Shape;586;p37"/>
          <p:cNvSpPr txBox="1"/>
          <p:nvPr/>
        </p:nvSpPr>
        <p:spPr>
          <a:xfrm>
            <a:off x="4637975" y="48272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Tìm sách</a:t>
            </a:r>
            <a:r>
              <a:rPr lang="en-GB">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p:txBody>
      </p:sp>
      <p:cxnSp>
        <p:nvCxnSpPr>
          <p:cNvPr id="587" name="Google Shape;587;p37"/>
          <p:cNvCxnSpPr/>
          <p:nvPr/>
        </p:nvCxnSpPr>
        <p:spPr>
          <a:xfrm flipH="1" rot="10800000">
            <a:off x="4167550" y="5830350"/>
            <a:ext cx="2409300" cy="12000"/>
          </a:xfrm>
          <a:prstGeom prst="straightConnector1">
            <a:avLst/>
          </a:prstGeom>
          <a:noFill/>
          <a:ln cap="flat" cmpd="sng" w="9525">
            <a:solidFill>
              <a:schemeClr val="dk2"/>
            </a:solidFill>
            <a:prstDash val="solid"/>
            <a:round/>
            <a:headEnd len="med" w="med" type="none"/>
            <a:tailEnd len="med" w="med" type="triangle"/>
          </a:ln>
        </p:spPr>
      </p:cxnSp>
      <p:sp>
        <p:nvSpPr>
          <p:cNvPr id="588" name="Google Shape;588;p37"/>
          <p:cNvSpPr/>
          <p:nvPr/>
        </p:nvSpPr>
        <p:spPr>
          <a:xfrm>
            <a:off x="6562875" y="5756211"/>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89" name="Google Shape;589;p37"/>
          <p:cNvSpPr txBox="1"/>
          <p:nvPr/>
        </p:nvSpPr>
        <p:spPr>
          <a:xfrm>
            <a:off x="4637975" y="5436847"/>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Lưu thông tin mượn</a:t>
            </a:r>
            <a:r>
              <a:rPr lang="en-GB">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p:txBody>
      </p:sp>
      <p:cxnSp>
        <p:nvCxnSpPr>
          <p:cNvPr id="590" name="Google Shape;590;p37"/>
          <p:cNvCxnSpPr/>
          <p:nvPr/>
        </p:nvCxnSpPr>
        <p:spPr>
          <a:xfrm rot="10800000">
            <a:off x="2151817" y="6003375"/>
            <a:ext cx="1872600" cy="0"/>
          </a:xfrm>
          <a:prstGeom prst="straightConnector1">
            <a:avLst/>
          </a:prstGeom>
          <a:noFill/>
          <a:ln cap="flat" cmpd="sng" w="9525">
            <a:solidFill>
              <a:schemeClr val="dk2"/>
            </a:solidFill>
            <a:prstDash val="dash"/>
            <a:round/>
            <a:headEnd len="med" w="med" type="none"/>
            <a:tailEnd len="med" w="med" type="triangle"/>
          </a:ln>
        </p:spPr>
      </p:cxnSp>
      <p:sp>
        <p:nvSpPr>
          <p:cNvPr id="591" name="Google Shape;591;p37"/>
          <p:cNvSpPr txBox="1"/>
          <p:nvPr/>
        </p:nvSpPr>
        <p:spPr>
          <a:xfrm>
            <a:off x="2383775" y="5589250"/>
            <a:ext cx="15684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Sách được yêu cầu</a:t>
            </a:r>
            <a:endParaRPr>
              <a:solidFill>
                <a:schemeClr val="dk2"/>
              </a:solidFill>
              <a:latin typeface="Times New Roman"/>
              <a:ea typeface="Times New Roman"/>
              <a:cs typeface="Times New Roman"/>
              <a:sym typeface="Times New Roman"/>
            </a:endParaRPr>
          </a:p>
        </p:txBody>
      </p:sp>
      <p:sp>
        <p:nvSpPr>
          <p:cNvPr id="592" name="Google Shape;592;p37"/>
          <p:cNvSpPr txBox="1"/>
          <p:nvPr/>
        </p:nvSpPr>
        <p:spPr>
          <a:xfrm>
            <a:off x="379400" y="878800"/>
            <a:ext cx="6858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Sơ đồ</a:t>
            </a:r>
            <a:r>
              <a:rPr i="1" lang="en-GB" sz="2400">
                <a:solidFill>
                  <a:schemeClr val="dk2"/>
                </a:solidFill>
                <a:latin typeface="Times New Roman"/>
                <a:ea typeface="Times New Roman"/>
                <a:cs typeface="Times New Roman"/>
                <a:sym typeface="Times New Roman"/>
              </a:rPr>
              <a:t> tuần tự mức hệ thống</a:t>
            </a:r>
            <a:endParaRPr i="1" sz="2400">
              <a:solidFill>
                <a:schemeClr val="dk2"/>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8"/>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Nên làm hay không nên làm?</a:t>
            </a:r>
            <a:endParaRPr/>
          </a:p>
        </p:txBody>
      </p:sp>
      <p:sp>
        <p:nvSpPr>
          <p:cNvPr id="598" name="Google Shape;598;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99" name="Google Shape;599;p38"/>
          <p:cNvSpPr/>
          <p:nvPr/>
        </p:nvSpPr>
        <p:spPr>
          <a:xfrm>
            <a:off x="271100" y="2092625"/>
            <a:ext cx="1190700" cy="6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Mượn Sách</a:t>
            </a:r>
            <a:endParaRPr>
              <a:latin typeface="Times New Roman"/>
              <a:ea typeface="Times New Roman"/>
              <a:cs typeface="Times New Roman"/>
              <a:sym typeface="Times New Roman"/>
            </a:endParaRPr>
          </a:p>
        </p:txBody>
      </p:sp>
      <p:sp>
        <p:nvSpPr>
          <p:cNvPr id="600" name="Google Shape;600;p38"/>
          <p:cNvSpPr/>
          <p:nvPr/>
        </p:nvSpPr>
        <p:spPr>
          <a:xfrm>
            <a:off x="1646250" y="1359050"/>
            <a:ext cx="1190700" cy="6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Tìm Sách</a:t>
            </a:r>
            <a:endParaRPr>
              <a:latin typeface="Times New Roman"/>
              <a:ea typeface="Times New Roman"/>
              <a:cs typeface="Times New Roman"/>
              <a:sym typeface="Times New Roman"/>
            </a:endParaRPr>
          </a:p>
        </p:txBody>
      </p:sp>
      <p:sp>
        <p:nvSpPr>
          <p:cNvPr id="601" name="Google Shape;601;p38"/>
          <p:cNvSpPr/>
          <p:nvPr/>
        </p:nvSpPr>
        <p:spPr>
          <a:xfrm>
            <a:off x="1551000" y="2831788"/>
            <a:ext cx="1190700" cy="6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Kiểm tra Thẻ</a:t>
            </a:r>
            <a:endParaRPr>
              <a:latin typeface="Times New Roman"/>
              <a:ea typeface="Times New Roman"/>
              <a:cs typeface="Times New Roman"/>
              <a:sym typeface="Times New Roman"/>
            </a:endParaRPr>
          </a:p>
        </p:txBody>
      </p:sp>
      <p:sp>
        <p:nvSpPr>
          <p:cNvPr id="602" name="Google Shape;602;p38"/>
          <p:cNvSpPr/>
          <p:nvPr/>
        </p:nvSpPr>
        <p:spPr>
          <a:xfrm>
            <a:off x="2408250" y="2060325"/>
            <a:ext cx="1276200" cy="699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Kiểm tra Sách quá hạn</a:t>
            </a:r>
            <a:endParaRPr>
              <a:latin typeface="Times New Roman"/>
              <a:ea typeface="Times New Roman"/>
              <a:cs typeface="Times New Roman"/>
              <a:sym typeface="Times New Roman"/>
            </a:endParaRPr>
          </a:p>
        </p:txBody>
      </p:sp>
      <p:cxnSp>
        <p:nvCxnSpPr>
          <p:cNvPr id="603" name="Google Shape;603;p38"/>
          <p:cNvCxnSpPr>
            <a:stCxn id="600" idx="3"/>
            <a:endCxn id="599" idx="7"/>
          </p:cNvCxnSpPr>
          <p:nvPr/>
        </p:nvCxnSpPr>
        <p:spPr>
          <a:xfrm flipH="1">
            <a:off x="1287524" y="1895764"/>
            <a:ext cx="533100" cy="288900"/>
          </a:xfrm>
          <a:prstGeom prst="straightConnector1">
            <a:avLst/>
          </a:prstGeom>
          <a:noFill/>
          <a:ln cap="flat" cmpd="sng" w="9525">
            <a:solidFill>
              <a:schemeClr val="dk2"/>
            </a:solidFill>
            <a:prstDash val="dash"/>
            <a:round/>
            <a:headEnd len="med" w="med" type="none"/>
            <a:tailEnd len="med" w="med" type="triangle"/>
          </a:ln>
        </p:spPr>
      </p:cxnSp>
      <p:cxnSp>
        <p:nvCxnSpPr>
          <p:cNvPr id="604" name="Google Shape;604;p38"/>
          <p:cNvCxnSpPr>
            <a:stCxn id="602" idx="2"/>
            <a:endCxn id="599" idx="6"/>
          </p:cNvCxnSpPr>
          <p:nvPr/>
        </p:nvCxnSpPr>
        <p:spPr>
          <a:xfrm rot="10800000">
            <a:off x="1461750" y="2407125"/>
            <a:ext cx="946500" cy="2700"/>
          </a:xfrm>
          <a:prstGeom prst="straightConnector1">
            <a:avLst/>
          </a:prstGeom>
          <a:noFill/>
          <a:ln cap="flat" cmpd="sng" w="9525">
            <a:solidFill>
              <a:schemeClr val="dk2"/>
            </a:solidFill>
            <a:prstDash val="dash"/>
            <a:round/>
            <a:headEnd len="med" w="med" type="none"/>
            <a:tailEnd len="med" w="med" type="triangle"/>
          </a:ln>
        </p:spPr>
      </p:cxnSp>
      <p:cxnSp>
        <p:nvCxnSpPr>
          <p:cNvPr id="605" name="Google Shape;605;p38"/>
          <p:cNvCxnSpPr>
            <a:stCxn id="601" idx="1"/>
            <a:endCxn id="599" idx="5"/>
          </p:cNvCxnSpPr>
          <p:nvPr/>
        </p:nvCxnSpPr>
        <p:spPr>
          <a:xfrm rot="10800000">
            <a:off x="1287374" y="2629273"/>
            <a:ext cx="438000" cy="294600"/>
          </a:xfrm>
          <a:prstGeom prst="straightConnector1">
            <a:avLst/>
          </a:prstGeom>
          <a:noFill/>
          <a:ln cap="flat" cmpd="sng" w="9525">
            <a:solidFill>
              <a:schemeClr val="dk2"/>
            </a:solidFill>
            <a:prstDash val="dash"/>
            <a:round/>
            <a:headEnd len="med" w="med" type="none"/>
            <a:tailEnd len="med" w="med" type="triangle"/>
          </a:ln>
        </p:spPr>
      </p:cxnSp>
      <p:sp>
        <p:nvSpPr>
          <p:cNvPr id="606" name="Google Shape;606;p38"/>
          <p:cNvSpPr txBox="1"/>
          <p:nvPr/>
        </p:nvSpPr>
        <p:spPr>
          <a:xfrm>
            <a:off x="627075" y="1681838"/>
            <a:ext cx="13527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07" name="Google Shape;607;p38"/>
          <p:cNvSpPr txBox="1"/>
          <p:nvPr/>
        </p:nvSpPr>
        <p:spPr>
          <a:xfrm>
            <a:off x="1315800" y="2060313"/>
            <a:ext cx="13527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08" name="Google Shape;608;p38"/>
          <p:cNvSpPr txBox="1"/>
          <p:nvPr/>
        </p:nvSpPr>
        <p:spPr>
          <a:xfrm>
            <a:off x="534750" y="2670363"/>
            <a:ext cx="13527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09" name="Google Shape;609;p38"/>
          <p:cNvSpPr/>
          <p:nvPr/>
        </p:nvSpPr>
        <p:spPr>
          <a:xfrm>
            <a:off x="4437684" y="1152876"/>
            <a:ext cx="126000" cy="126000"/>
          </a:xfrm>
          <a:prstGeom prst="ellipse">
            <a:avLst/>
          </a:prstGeom>
          <a:no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cxnSp>
        <p:nvCxnSpPr>
          <p:cNvPr id="610" name="Google Shape;610;p38"/>
          <p:cNvCxnSpPr>
            <a:stCxn id="609" idx="4"/>
          </p:cNvCxnSpPr>
          <p:nvPr/>
        </p:nvCxnSpPr>
        <p:spPr>
          <a:xfrm>
            <a:off x="4500684" y="1278876"/>
            <a:ext cx="0" cy="346500"/>
          </a:xfrm>
          <a:prstGeom prst="straightConnector1">
            <a:avLst/>
          </a:prstGeom>
          <a:noFill/>
          <a:ln cap="flat" cmpd="sng" w="8375">
            <a:solidFill>
              <a:schemeClr val="dk2"/>
            </a:solidFill>
            <a:prstDash val="solid"/>
            <a:round/>
            <a:headEnd len="med" w="med" type="none"/>
            <a:tailEnd len="med" w="med" type="none"/>
          </a:ln>
        </p:spPr>
      </p:cxnSp>
      <p:cxnSp>
        <p:nvCxnSpPr>
          <p:cNvPr id="611" name="Google Shape;611;p38"/>
          <p:cNvCxnSpPr/>
          <p:nvPr/>
        </p:nvCxnSpPr>
        <p:spPr>
          <a:xfrm>
            <a:off x="4499490" y="1610762"/>
            <a:ext cx="158700" cy="150900"/>
          </a:xfrm>
          <a:prstGeom prst="straightConnector1">
            <a:avLst/>
          </a:prstGeom>
          <a:noFill/>
          <a:ln cap="flat" cmpd="sng" w="8375">
            <a:solidFill>
              <a:schemeClr val="dk2"/>
            </a:solidFill>
            <a:prstDash val="solid"/>
            <a:round/>
            <a:headEnd len="med" w="med" type="none"/>
            <a:tailEnd len="med" w="med" type="none"/>
          </a:ln>
        </p:spPr>
      </p:cxnSp>
      <p:cxnSp>
        <p:nvCxnSpPr>
          <p:cNvPr id="612" name="Google Shape;612;p38"/>
          <p:cNvCxnSpPr/>
          <p:nvPr/>
        </p:nvCxnSpPr>
        <p:spPr>
          <a:xfrm flipH="1">
            <a:off x="4364161" y="1614758"/>
            <a:ext cx="126000" cy="136500"/>
          </a:xfrm>
          <a:prstGeom prst="straightConnector1">
            <a:avLst/>
          </a:prstGeom>
          <a:noFill/>
          <a:ln cap="flat" cmpd="sng" w="8375">
            <a:solidFill>
              <a:schemeClr val="dk2"/>
            </a:solidFill>
            <a:prstDash val="solid"/>
            <a:round/>
            <a:headEnd len="med" w="med" type="none"/>
            <a:tailEnd len="med" w="med" type="none"/>
          </a:ln>
        </p:spPr>
      </p:cxnSp>
      <p:cxnSp>
        <p:nvCxnSpPr>
          <p:cNvPr id="613" name="Google Shape;613;p38"/>
          <p:cNvCxnSpPr/>
          <p:nvPr/>
        </p:nvCxnSpPr>
        <p:spPr>
          <a:xfrm>
            <a:off x="4490160" y="1388485"/>
            <a:ext cx="158700" cy="150900"/>
          </a:xfrm>
          <a:prstGeom prst="straightConnector1">
            <a:avLst/>
          </a:prstGeom>
          <a:noFill/>
          <a:ln cap="flat" cmpd="sng" w="8375">
            <a:solidFill>
              <a:schemeClr val="dk2"/>
            </a:solidFill>
            <a:prstDash val="solid"/>
            <a:round/>
            <a:headEnd len="med" w="med" type="none"/>
            <a:tailEnd len="med" w="med" type="none"/>
          </a:ln>
        </p:spPr>
      </p:cxnSp>
      <p:cxnSp>
        <p:nvCxnSpPr>
          <p:cNvPr id="614" name="Google Shape;614;p38"/>
          <p:cNvCxnSpPr/>
          <p:nvPr/>
        </p:nvCxnSpPr>
        <p:spPr>
          <a:xfrm flipH="1">
            <a:off x="4364161" y="1398985"/>
            <a:ext cx="126000" cy="136500"/>
          </a:xfrm>
          <a:prstGeom prst="straightConnector1">
            <a:avLst/>
          </a:prstGeom>
          <a:noFill/>
          <a:ln cap="flat" cmpd="sng" w="8375">
            <a:solidFill>
              <a:schemeClr val="dk2"/>
            </a:solidFill>
            <a:prstDash val="solid"/>
            <a:round/>
            <a:headEnd len="med" w="med" type="none"/>
            <a:tailEnd len="med" w="med" type="none"/>
          </a:ln>
        </p:spPr>
      </p:cxnSp>
      <p:sp>
        <p:nvSpPr>
          <p:cNvPr id="615" name="Google Shape;615;p38"/>
          <p:cNvSpPr/>
          <p:nvPr/>
        </p:nvSpPr>
        <p:spPr>
          <a:xfrm>
            <a:off x="6181367" y="1152876"/>
            <a:ext cx="126000" cy="126000"/>
          </a:xfrm>
          <a:prstGeom prst="ellipse">
            <a:avLst/>
          </a:prstGeom>
          <a:no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cxnSp>
        <p:nvCxnSpPr>
          <p:cNvPr id="616" name="Google Shape;616;p38"/>
          <p:cNvCxnSpPr>
            <a:stCxn id="615" idx="4"/>
          </p:cNvCxnSpPr>
          <p:nvPr/>
        </p:nvCxnSpPr>
        <p:spPr>
          <a:xfrm>
            <a:off x="6244367" y="1278876"/>
            <a:ext cx="0" cy="346500"/>
          </a:xfrm>
          <a:prstGeom prst="straightConnector1">
            <a:avLst/>
          </a:prstGeom>
          <a:noFill/>
          <a:ln cap="flat" cmpd="sng" w="8375">
            <a:solidFill>
              <a:schemeClr val="dk2"/>
            </a:solidFill>
            <a:prstDash val="solid"/>
            <a:round/>
            <a:headEnd len="med" w="med" type="none"/>
            <a:tailEnd len="med" w="med" type="none"/>
          </a:ln>
        </p:spPr>
      </p:cxnSp>
      <p:cxnSp>
        <p:nvCxnSpPr>
          <p:cNvPr id="617" name="Google Shape;617;p38"/>
          <p:cNvCxnSpPr/>
          <p:nvPr/>
        </p:nvCxnSpPr>
        <p:spPr>
          <a:xfrm>
            <a:off x="6243173" y="1610762"/>
            <a:ext cx="158700" cy="150900"/>
          </a:xfrm>
          <a:prstGeom prst="straightConnector1">
            <a:avLst/>
          </a:prstGeom>
          <a:noFill/>
          <a:ln cap="flat" cmpd="sng" w="8375">
            <a:solidFill>
              <a:schemeClr val="dk2"/>
            </a:solidFill>
            <a:prstDash val="solid"/>
            <a:round/>
            <a:headEnd len="med" w="med" type="none"/>
            <a:tailEnd len="med" w="med" type="none"/>
          </a:ln>
        </p:spPr>
      </p:cxnSp>
      <p:cxnSp>
        <p:nvCxnSpPr>
          <p:cNvPr id="618" name="Google Shape;618;p38"/>
          <p:cNvCxnSpPr/>
          <p:nvPr/>
        </p:nvCxnSpPr>
        <p:spPr>
          <a:xfrm flipH="1">
            <a:off x="6107844" y="1614758"/>
            <a:ext cx="126000" cy="136500"/>
          </a:xfrm>
          <a:prstGeom prst="straightConnector1">
            <a:avLst/>
          </a:prstGeom>
          <a:noFill/>
          <a:ln cap="flat" cmpd="sng" w="8375">
            <a:solidFill>
              <a:schemeClr val="dk2"/>
            </a:solidFill>
            <a:prstDash val="solid"/>
            <a:round/>
            <a:headEnd len="med" w="med" type="none"/>
            <a:tailEnd len="med" w="med" type="none"/>
          </a:ln>
        </p:spPr>
      </p:cxnSp>
      <p:cxnSp>
        <p:nvCxnSpPr>
          <p:cNvPr id="619" name="Google Shape;619;p38"/>
          <p:cNvCxnSpPr/>
          <p:nvPr/>
        </p:nvCxnSpPr>
        <p:spPr>
          <a:xfrm>
            <a:off x="6233844" y="1388485"/>
            <a:ext cx="158700" cy="150900"/>
          </a:xfrm>
          <a:prstGeom prst="straightConnector1">
            <a:avLst/>
          </a:prstGeom>
          <a:noFill/>
          <a:ln cap="flat" cmpd="sng" w="8375">
            <a:solidFill>
              <a:schemeClr val="dk2"/>
            </a:solidFill>
            <a:prstDash val="solid"/>
            <a:round/>
            <a:headEnd len="med" w="med" type="none"/>
            <a:tailEnd len="med" w="med" type="none"/>
          </a:ln>
        </p:spPr>
      </p:cxnSp>
      <p:cxnSp>
        <p:nvCxnSpPr>
          <p:cNvPr id="620" name="Google Shape;620;p38"/>
          <p:cNvCxnSpPr/>
          <p:nvPr/>
        </p:nvCxnSpPr>
        <p:spPr>
          <a:xfrm flipH="1">
            <a:off x="6107844" y="1398985"/>
            <a:ext cx="126000" cy="136500"/>
          </a:xfrm>
          <a:prstGeom prst="straightConnector1">
            <a:avLst/>
          </a:prstGeom>
          <a:noFill/>
          <a:ln cap="flat" cmpd="sng" w="8375">
            <a:solidFill>
              <a:schemeClr val="dk2"/>
            </a:solidFill>
            <a:prstDash val="solid"/>
            <a:round/>
            <a:headEnd len="med" w="med" type="none"/>
            <a:tailEnd len="med" w="med" type="none"/>
          </a:ln>
        </p:spPr>
      </p:cxnSp>
      <p:sp>
        <p:nvSpPr>
          <p:cNvPr id="621" name="Google Shape;621;p38"/>
          <p:cNvSpPr/>
          <p:nvPr/>
        </p:nvSpPr>
        <p:spPr>
          <a:xfrm>
            <a:off x="7887139" y="1205374"/>
            <a:ext cx="1134000" cy="461700"/>
          </a:xfrm>
          <a:prstGeom prst="rect">
            <a:avLst/>
          </a:prstGeom>
          <a:no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rPr lang="en-GB" sz="1232">
                <a:latin typeface="Times New Roman"/>
                <a:ea typeface="Times New Roman"/>
                <a:cs typeface="Times New Roman"/>
                <a:sym typeface="Times New Roman"/>
              </a:rPr>
              <a:t>:Hệ thống</a:t>
            </a:r>
            <a:endParaRPr sz="1232">
              <a:latin typeface="Times New Roman"/>
              <a:ea typeface="Times New Roman"/>
              <a:cs typeface="Times New Roman"/>
              <a:sym typeface="Times New Roman"/>
            </a:endParaRPr>
          </a:p>
        </p:txBody>
      </p:sp>
      <p:cxnSp>
        <p:nvCxnSpPr>
          <p:cNvPr id="622" name="Google Shape;622;p38"/>
          <p:cNvCxnSpPr/>
          <p:nvPr/>
        </p:nvCxnSpPr>
        <p:spPr>
          <a:xfrm>
            <a:off x="8454021" y="1667168"/>
            <a:ext cx="0" cy="3745800"/>
          </a:xfrm>
          <a:prstGeom prst="straightConnector1">
            <a:avLst/>
          </a:prstGeom>
          <a:noFill/>
          <a:ln cap="flat" cmpd="sng" w="8375">
            <a:solidFill>
              <a:schemeClr val="dk2"/>
            </a:solidFill>
            <a:prstDash val="dash"/>
            <a:round/>
            <a:headEnd len="med" w="med" type="none"/>
            <a:tailEnd len="med" w="med" type="none"/>
          </a:ln>
        </p:spPr>
      </p:cxnSp>
      <p:cxnSp>
        <p:nvCxnSpPr>
          <p:cNvPr id="623" name="Google Shape;623;p38"/>
          <p:cNvCxnSpPr/>
          <p:nvPr/>
        </p:nvCxnSpPr>
        <p:spPr>
          <a:xfrm>
            <a:off x="4490161" y="2105625"/>
            <a:ext cx="0" cy="3355200"/>
          </a:xfrm>
          <a:prstGeom prst="straightConnector1">
            <a:avLst/>
          </a:prstGeom>
          <a:noFill/>
          <a:ln cap="flat" cmpd="sng" w="8375">
            <a:solidFill>
              <a:schemeClr val="dk2"/>
            </a:solidFill>
            <a:prstDash val="dash"/>
            <a:round/>
            <a:headEnd len="med" w="med" type="none"/>
            <a:tailEnd len="med" w="med" type="none"/>
          </a:ln>
        </p:spPr>
      </p:cxnSp>
      <p:cxnSp>
        <p:nvCxnSpPr>
          <p:cNvPr id="624" name="Google Shape;624;p38"/>
          <p:cNvCxnSpPr/>
          <p:nvPr/>
        </p:nvCxnSpPr>
        <p:spPr>
          <a:xfrm>
            <a:off x="6254834" y="2105625"/>
            <a:ext cx="0" cy="3355200"/>
          </a:xfrm>
          <a:prstGeom prst="straightConnector1">
            <a:avLst/>
          </a:prstGeom>
          <a:noFill/>
          <a:ln cap="flat" cmpd="sng" w="8375">
            <a:solidFill>
              <a:schemeClr val="dk2"/>
            </a:solidFill>
            <a:prstDash val="dash"/>
            <a:round/>
            <a:headEnd len="med" w="med" type="none"/>
            <a:tailEnd len="med" w="med" type="none"/>
          </a:ln>
        </p:spPr>
      </p:cxnSp>
      <p:sp>
        <p:nvSpPr>
          <p:cNvPr id="625" name="Google Shape;625;p38"/>
          <p:cNvSpPr/>
          <p:nvPr/>
        </p:nvSpPr>
        <p:spPr>
          <a:xfrm>
            <a:off x="6190696" y="2264984"/>
            <a:ext cx="115200" cy="28242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cxnSp>
        <p:nvCxnSpPr>
          <p:cNvPr id="626" name="Google Shape;626;p38"/>
          <p:cNvCxnSpPr/>
          <p:nvPr/>
        </p:nvCxnSpPr>
        <p:spPr>
          <a:xfrm>
            <a:off x="4479665" y="2327978"/>
            <a:ext cx="1690200" cy="0"/>
          </a:xfrm>
          <a:prstGeom prst="straightConnector1">
            <a:avLst/>
          </a:prstGeom>
          <a:noFill/>
          <a:ln cap="flat" cmpd="sng" w="8375">
            <a:solidFill>
              <a:schemeClr val="dk2"/>
            </a:solidFill>
            <a:prstDash val="solid"/>
            <a:round/>
            <a:headEnd len="med" w="med" type="none"/>
            <a:tailEnd len="med" w="med" type="triangle"/>
          </a:ln>
        </p:spPr>
      </p:cxnSp>
      <p:sp>
        <p:nvSpPr>
          <p:cNvPr id="627" name="Google Shape;627;p38"/>
          <p:cNvSpPr txBox="1"/>
          <p:nvPr/>
        </p:nvSpPr>
        <p:spPr>
          <a:xfrm>
            <a:off x="4563628" y="1977487"/>
            <a:ext cx="1743900" cy="4617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Mượn(danh mục sách)</a:t>
            </a:r>
            <a:endParaRPr sz="1232">
              <a:solidFill>
                <a:schemeClr val="dk2"/>
              </a:solidFill>
              <a:latin typeface="Times New Roman"/>
              <a:ea typeface="Times New Roman"/>
              <a:cs typeface="Times New Roman"/>
              <a:sym typeface="Times New Roman"/>
            </a:endParaRPr>
          </a:p>
        </p:txBody>
      </p:sp>
      <p:sp>
        <p:nvSpPr>
          <p:cNvPr id="628" name="Google Shape;628;p38"/>
          <p:cNvSpPr txBox="1"/>
          <p:nvPr/>
        </p:nvSpPr>
        <p:spPr>
          <a:xfrm>
            <a:off x="4094175" y="1776300"/>
            <a:ext cx="900000" cy="3780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:Sinh viên</a:t>
            </a:r>
            <a:endParaRPr sz="1232">
              <a:solidFill>
                <a:schemeClr val="dk2"/>
              </a:solidFill>
              <a:latin typeface="Times New Roman"/>
              <a:ea typeface="Times New Roman"/>
              <a:cs typeface="Times New Roman"/>
              <a:sym typeface="Times New Roman"/>
            </a:endParaRPr>
          </a:p>
        </p:txBody>
      </p:sp>
      <p:sp>
        <p:nvSpPr>
          <p:cNvPr id="629" name="Google Shape;629;p38"/>
          <p:cNvSpPr txBox="1"/>
          <p:nvPr/>
        </p:nvSpPr>
        <p:spPr>
          <a:xfrm>
            <a:off x="5837858" y="1776300"/>
            <a:ext cx="900000" cy="3780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:Thủ thư</a:t>
            </a:r>
            <a:endParaRPr sz="1232">
              <a:solidFill>
                <a:schemeClr val="dk2"/>
              </a:solidFill>
              <a:latin typeface="Times New Roman"/>
              <a:ea typeface="Times New Roman"/>
              <a:cs typeface="Times New Roman"/>
              <a:sym typeface="Times New Roman"/>
            </a:endParaRPr>
          </a:p>
        </p:txBody>
      </p:sp>
      <p:sp>
        <p:nvSpPr>
          <p:cNvPr id="630" name="Google Shape;630;p38"/>
          <p:cNvSpPr/>
          <p:nvPr/>
        </p:nvSpPr>
        <p:spPr>
          <a:xfrm>
            <a:off x="4447013" y="2734435"/>
            <a:ext cx="115200" cy="3780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cxnSp>
        <p:nvCxnSpPr>
          <p:cNvPr id="631" name="Google Shape;631;p38"/>
          <p:cNvCxnSpPr/>
          <p:nvPr/>
        </p:nvCxnSpPr>
        <p:spPr>
          <a:xfrm rot="10800000">
            <a:off x="4563487" y="2811423"/>
            <a:ext cx="1648200" cy="0"/>
          </a:xfrm>
          <a:prstGeom prst="straightConnector1">
            <a:avLst/>
          </a:prstGeom>
          <a:noFill/>
          <a:ln cap="flat" cmpd="sng" w="8375">
            <a:solidFill>
              <a:schemeClr val="dk2"/>
            </a:solidFill>
            <a:prstDash val="solid"/>
            <a:round/>
            <a:headEnd len="med" w="med" type="none"/>
            <a:tailEnd len="med" w="med" type="triangle"/>
          </a:ln>
        </p:spPr>
      </p:cxnSp>
      <p:sp>
        <p:nvSpPr>
          <p:cNvPr id="632" name="Google Shape;632;p38"/>
          <p:cNvSpPr txBox="1"/>
          <p:nvPr/>
        </p:nvSpPr>
        <p:spPr>
          <a:xfrm>
            <a:off x="4563628" y="2514008"/>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Xuất trình thẻ ()</a:t>
            </a:r>
            <a:endParaRPr sz="1232">
              <a:solidFill>
                <a:schemeClr val="dk2"/>
              </a:solidFill>
              <a:latin typeface="Times New Roman"/>
              <a:ea typeface="Times New Roman"/>
              <a:cs typeface="Times New Roman"/>
              <a:sym typeface="Times New Roman"/>
            </a:endParaRPr>
          </a:p>
        </p:txBody>
      </p:sp>
      <p:cxnSp>
        <p:nvCxnSpPr>
          <p:cNvPr id="633" name="Google Shape;633;p38"/>
          <p:cNvCxnSpPr/>
          <p:nvPr/>
        </p:nvCxnSpPr>
        <p:spPr>
          <a:xfrm>
            <a:off x="4592801" y="3076184"/>
            <a:ext cx="1598100" cy="1800"/>
          </a:xfrm>
          <a:prstGeom prst="straightConnector1">
            <a:avLst/>
          </a:prstGeom>
          <a:noFill/>
          <a:ln cap="flat" cmpd="sng" w="8375">
            <a:solidFill>
              <a:schemeClr val="dk2"/>
            </a:solidFill>
            <a:prstDash val="dash"/>
            <a:round/>
            <a:headEnd len="med" w="med" type="none"/>
            <a:tailEnd len="med" w="med" type="triangle"/>
          </a:ln>
        </p:spPr>
      </p:cxnSp>
      <p:sp>
        <p:nvSpPr>
          <p:cNvPr id="634" name="Google Shape;634;p38"/>
          <p:cNvSpPr txBox="1"/>
          <p:nvPr/>
        </p:nvSpPr>
        <p:spPr>
          <a:xfrm>
            <a:off x="4831887" y="2782266"/>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Thẻ bạn đọc</a:t>
            </a:r>
            <a:endParaRPr sz="1232">
              <a:solidFill>
                <a:schemeClr val="dk2"/>
              </a:solidFill>
              <a:latin typeface="Times New Roman"/>
              <a:ea typeface="Times New Roman"/>
              <a:cs typeface="Times New Roman"/>
              <a:sym typeface="Times New Roman"/>
            </a:endParaRPr>
          </a:p>
        </p:txBody>
      </p:sp>
      <p:cxnSp>
        <p:nvCxnSpPr>
          <p:cNvPr id="635" name="Google Shape;635;p38"/>
          <p:cNvCxnSpPr/>
          <p:nvPr/>
        </p:nvCxnSpPr>
        <p:spPr>
          <a:xfrm flipH="1" rot="10800000">
            <a:off x="6295672" y="3262783"/>
            <a:ext cx="2120400" cy="10500"/>
          </a:xfrm>
          <a:prstGeom prst="straightConnector1">
            <a:avLst/>
          </a:prstGeom>
          <a:noFill/>
          <a:ln cap="flat" cmpd="sng" w="8375">
            <a:solidFill>
              <a:schemeClr val="dk2"/>
            </a:solidFill>
            <a:prstDash val="solid"/>
            <a:round/>
            <a:headEnd len="med" w="med" type="none"/>
            <a:tailEnd len="med" w="med" type="triangle"/>
          </a:ln>
        </p:spPr>
      </p:cxnSp>
      <p:sp>
        <p:nvSpPr>
          <p:cNvPr id="636" name="Google Shape;636;p38"/>
          <p:cNvSpPr/>
          <p:nvPr/>
        </p:nvSpPr>
        <p:spPr>
          <a:xfrm>
            <a:off x="8403832" y="3197471"/>
            <a:ext cx="115200" cy="3780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cxnSp>
        <p:nvCxnSpPr>
          <p:cNvPr id="637" name="Google Shape;637;p38"/>
          <p:cNvCxnSpPr/>
          <p:nvPr/>
        </p:nvCxnSpPr>
        <p:spPr>
          <a:xfrm flipH="1" rot="10800000">
            <a:off x="6295672" y="3799298"/>
            <a:ext cx="2120400" cy="10500"/>
          </a:xfrm>
          <a:prstGeom prst="straightConnector1">
            <a:avLst/>
          </a:prstGeom>
          <a:noFill/>
          <a:ln cap="flat" cmpd="sng" w="8375">
            <a:solidFill>
              <a:schemeClr val="dk2"/>
            </a:solidFill>
            <a:prstDash val="solid"/>
            <a:round/>
            <a:headEnd len="med" w="med" type="none"/>
            <a:tailEnd len="med" w="med" type="triangle"/>
          </a:ln>
        </p:spPr>
      </p:cxnSp>
      <p:sp>
        <p:nvSpPr>
          <p:cNvPr id="638" name="Google Shape;638;p38"/>
          <p:cNvSpPr/>
          <p:nvPr/>
        </p:nvSpPr>
        <p:spPr>
          <a:xfrm>
            <a:off x="8403832" y="3733987"/>
            <a:ext cx="115200" cy="3780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sp>
        <p:nvSpPr>
          <p:cNvPr id="639" name="Google Shape;639;p38"/>
          <p:cNvSpPr txBox="1"/>
          <p:nvPr/>
        </p:nvSpPr>
        <p:spPr>
          <a:xfrm>
            <a:off x="6709700" y="3452910"/>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Kiểm tra sách quá hạn ()</a:t>
            </a:r>
            <a:endParaRPr sz="1232">
              <a:solidFill>
                <a:schemeClr val="dk2"/>
              </a:solidFill>
              <a:latin typeface="Times New Roman"/>
              <a:ea typeface="Times New Roman"/>
              <a:cs typeface="Times New Roman"/>
              <a:sym typeface="Times New Roman"/>
            </a:endParaRPr>
          </a:p>
        </p:txBody>
      </p:sp>
      <p:sp>
        <p:nvSpPr>
          <p:cNvPr id="640" name="Google Shape;640;p38"/>
          <p:cNvSpPr txBox="1"/>
          <p:nvPr/>
        </p:nvSpPr>
        <p:spPr>
          <a:xfrm>
            <a:off x="6709700" y="2916395"/>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Kiểm tra tính hợp lệ ()</a:t>
            </a:r>
            <a:endParaRPr sz="1232">
              <a:solidFill>
                <a:schemeClr val="dk2"/>
              </a:solidFill>
              <a:latin typeface="Times New Roman"/>
              <a:ea typeface="Times New Roman"/>
              <a:cs typeface="Times New Roman"/>
              <a:sym typeface="Times New Roman"/>
            </a:endParaRPr>
          </a:p>
        </p:txBody>
      </p:sp>
      <p:cxnSp>
        <p:nvCxnSpPr>
          <p:cNvPr id="641" name="Google Shape;641;p38"/>
          <p:cNvCxnSpPr/>
          <p:nvPr/>
        </p:nvCxnSpPr>
        <p:spPr>
          <a:xfrm flipH="1" rot="10800000">
            <a:off x="6295672" y="4335814"/>
            <a:ext cx="2120400" cy="10500"/>
          </a:xfrm>
          <a:prstGeom prst="straightConnector1">
            <a:avLst/>
          </a:prstGeom>
          <a:noFill/>
          <a:ln cap="flat" cmpd="sng" w="8375">
            <a:solidFill>
              <a:schemeClr val="dk2"/>
            </a:solidFill>
            <a:prstDash val="solid"/>
            <a:round/>
            <a:headEnd len="med" w="med" type="none"/>
            <a:tailEnd len="med" w="med" type="triangle"/>
          </a:ln>
        </p:spPr>
      </p:cxnSp>
      <p:sp>
        <p:nvSpPr>
          <p:cNvPr id="642" name="Google Shape;642;p38"/>
          <p:cNvSpPr/>
          <p:nvPr/>
        </p:nvSpPr>
        <p:spPr>
          <a:xfrm>
            <a:off x="8403832" y="4270502"/>
            <a:ext cx="115200" cy="3780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sp>
        <p:nvSpPr>
          <p:cNvPr id="643" name="Google Shape;643;p38"/>
          <p:cNvSpPr txBox="1"/>
          <p:nvPr/>
        </p:nvSpPr>
        <p:spPr>
          <a:xfrm>
            <a:off x="6709700" y="3989426"/>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Tìm sách ()</a:t>
            </a:r>
            <a:endParaRPr sz="1232">
              <a:solidFill>
                <a:schemeClr val="dk2"/>
              </a:solidFill>
              <a:latin typeface="Times New Roman"/>
              <a:ea typeface="Times New Roman"/>
              <a:cs typeface="Times New Roman"/>
              <a:sym typeface="Times New Roman"/>
            </a:endParaRPr>
          </a:p>
        </p:txBody>
      </p:sp>
      <p:cxnSp>
        <p:nvCxnSpPr>
          <p:cNvPr id="644" name="Google Shape;644;p38"/>
          <p:cNvCxnSpPr/>
          <p:nvPr/>
        </p:nvCxnSpPr>
        <p:spPr>
          <a:xfrm flipH="1" rot="10800000">
            <a:off x="6295672" y="4872330"/>
            <a:ext cx="2120400" cy="10500"/>
          </a:xfrm>
          <a:prstGeom prst="straightConnector1">
            <a:avLst/>
          </a:prstGeom>
          <a:noFill/>
          <a:ln cap="flat" cmpd="sng" w="8375">
            <a:solidFill>
              <a:schemeClr val="dk2"/>
            </a:solidFill>
            <a:prstDash val="solid"/>
            <a:round/>
            <a:headEnd len="med" w="med" type="none"/>
            <a:tailEnd len="med" w="med" type="triangle"/>
          </a:ln>
        </p:spPr>
      </p:cxnSp>
      <p:sp>
        <p:nvSpPr>
          <p:cNvPr id="645" name="Google Shape;645;p38"/>
          <p:cNvSpPr/>
          <p:nvPr/>
        </p:nvSpPr>
        <p:spPr>
          <a:xfrm>
            <a:off x="8403832" y="4807018"/>
            <a:ext cx="115200" cy="378000"/>
          </a:xfrm>
          <a:prstGeom prst="rect">
            <a:avLst/>
          </a:prstGeom>
          <a:solidFill>
            <a:srgbClr val="FFFFFF"/>
          </a:solidFill>
          <a:ln cap="flat" cmpd="sng" w="8375">
            <a:solidFill>
              <a:schemeClr val="dk2"/>
            </a:solidFill>
            <a:prstDash val="solid"/>
            <a:round/>
            <a:headEnd len="sm" w="sm" type="none"/>
            <a:tailEnd len="sm" w="sm" type="none"/>
          </a:ln>
        </p:spPr>
        <p:txBody>
          <a:bodyPr anchorCtr="0" anchor="ctr" bIns="80450" lIns="80450" spcFirstLastPara="1" rIns="80450" wrap="square" tIns="80450">
            <a:noAutofit/>
          </a:bodyPr>
          <a:lstStyle/>
          <a:p>
            <a:pPr indent="0" lvl="0" marL="0" rtl="0" algn="ctr">
              <a:spcBef>
                <a:spcPts val="0"/>
              </a:spcBef>
              <a:spcAft>
                <a:spcPts val="0"/>
              </a:spcAft>
              <a:buNone/>
            </a:pPr>
            <a:r>
              <a:t/>
            </a:r>
            <a:endParaRPr sz="1232">
              <a:latin typeface="Times New Roman"/>
              <a:ea typeface="Times New Roman"/>
              <a:cs typeface="Times New Roman"/>
              <a:sym typeface="Times New Roman"/>
            </a:endParaRPr>
          </a:p>
        </p:txBody>
      </p:sp>
      <p:sp>
        <p:nvSpPr>
          <p:cNvPr id="646" name="Google Shape;646;p38"/>
          <p:cNvSpPr txBox="1"/>
          <p:nvPr/>
        </p:nvSpPr>
        <p:spPr>
          <a:xfrm>
            <a:off x="6709700" y="4525942"/>
            <a:ext cx="17439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Lưu thông tin mượn ()</a:t>
            </a:r>
            <a:endParaRPr sz="1232">
              <a:solidFill>
                <a:schemeClr val="dk2"/>
              </a:solidFill>
              <a:latin typeface="Times New Roman"/>
              <a:ea typeface="Times New Roman"/>
              <a:cs typeface="Times New Roman"/>
              <a:sym typeface="Times New Roman"/>
            </a:endParaRPr>
          </a:p>
        </p:txBody>
      </p:sp>
      <p:cxnSp>
        <p:nvCxnSpPr>
          <p:cNvPr id="647" name="Google Shape;647;p38"/>
          <p:cNvCxnSpPr/>
          <p:nvPr/>
        </p:nvCxnSpPr>
        <p:spPr>
          <a:xfrm rot="10800000">
            <a:off x="4521499" y="5024550"/>
            <a:ext cx="1648200" cy="0"/>
          </a:xfrm>
          <a:prstGeom prst="straightConnector1">
            <a:avLst/>
          </a:prstGeom>
          <a:noFill/>
          <a:ln cap="flat" cmpd="sng" w="8375">
            <a:solidFill>
              <a:schemeClr val="dk2"/>
            </a:solidFill>
            <a:prstDash val="dash"/>
            <a:round/>
            <a:headEnd len="med" w="med" type="none"/>
            <a:tailEnd len="med" w="med" type="triangle"/>
          </a:ln>
        </p:spPr>
      </p:cxnSp>
      <p:sp>
        <p:nvSpPr>
          <p:cNvPr id="648" name="Google Shape;648;p38"/>
          <p:cNvSpPr txBox="1"/>
          <p:nvPr/>
        </p:nvSpPr>
        <p:spPr>
          <a:xfrm>
            <a:off x="4725745" y="4660074"/>
            <a:ext cx="1380600" cy="297300"/>
          </a:xfrm>
          <a:prstGeom prst="rect">
            <a:avLst/>
          </a:prstGeom>
          <a:noFill/>
          <a:ln>
            <a:noFill/>
          </a:ln>
        </p:spPr>
        <p:txBody>
          <a:bodyPr anchorCtr="0" anchor="t" bIns="80450" lIns="80450" spcFirstLastPara="1" rIns="80450" wrap="square" tIns="80450">
            <a:noAutofit/>
          </a:bodyPr>
          <a:lstStyle/>
          <a:p>
            <a:pPr indent="0" lvl="0" marL="0" rtl="0" algn="l">
              <a:spcBef>
                <a:spcPts val="0"/>
              </a:spcBef>
              <a:spcAft>
                <a:spcPts val="0"/>
              </a:spcAft>
              <a:buNone/>
            </a:pPr>
            <a:r>
              <a:rPr lang="en-GB" sz="1232">
                <a:solidFill>
                  <a:schemeClr val="dk2"/>
                </a:solidFill>
                <a:latin typeface="Times New Roman"/>
                <a:ea typeface="Times New Roman"/>
                <a:cs typeface="Times New Roman"/>
                <a:sym typeface="Times New Roman"/>
              </a:rPr>
              <a:t>Sách được yêu cầu</a:t>
            </a:r>
            <a:endParaRPr sz="1232">
              <a:solidFill>
                <a:schemeClr val="dk2"/>
              </a:solidFill>
              <a:latin typeface="Times New Roman"/>
              <a:ea typeface="Times New Roman"/>
              <a:cs typeface="Times New Roman"/>
              <a:sym typeface="Times New Roman"/>
            </a:endParaRPr>
          </a:p>
        </p:txBody>
      </p:sp>
      <p:sp>
        <p:nvSpPr>
          <p:cNvPr id="649" name="Google Shape;649;p38"/>
          <p:cNvSpPr txBox="1"/>
          <p:nvPr/>
        </p:nvSpPr>
        <p:spPr>
          <a:xfrm>
            <a:off x="1551000" y="3749800"/>
            <a:ext cx="676200" cy="6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latin typeface="Times New Roman"/>
                <a:ea typeface="Times New Roman"/>
                <a:cs typeface="Times New Roman"/>
                <a:sym typeface="Times New Roman"/>
              </a:rPr>
              <a:t>❌</a:t>
            </a:r>
            <a:endParaRPr sz="2400">
              <a:solidFill>
                <a:schemeClr val="dk2"/>
              </a:solidFill>
              <a:latin typeface="Times New Roman"/>
              <a:ea typeface="Times New Roman"/>
              <a:cs typeface="Times New Roman"/>
              <a:sym typeface="Times New Roman"/>
            </a:endParaRPr>
          </a:p>
        </p:txBody>
      </p:sp>
      <p:sp>
        <p:nvSpPr>
          <p:cNvPr id="650" name="Google Shape;650;p38"/>
          <p:cNvSpPr txBox="1"/>
          <p:nvPr/>
        </p:nvSpPr>
        <p:spPr>
          <a:xfrm>
            <a:off x="6211675" y="5539400"/>
            <a:ext cx="676200" cy="6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200">
                <a:solidFill>
                  <a:srgbClr val="1155CC"/>
                </a:solidFill>
                <a:latin typeface="Times New Roman"/>
                <a:ea typeface="Times New Roman"/>
                <a:cs typeface="Times New Roman"/>
                <a:sym typeface="Times New Roman"/>
              </a:rPr>
              <a:t>✔</a:t>
            </a:r>
            <a:endParaRPr b="1" sz="4200">
              <a:solidFill>
                <a:srgbClr val="1155CC"/>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9"/>
          <p:cNvSpPr/>
          <p:nvPr/>
        </p:nvSpPr>
        <p:spPr>
          <a:xfrm>
            <a:off x="3941425" y="2520145"/>
            <a:ext cx="4467600" cy="1041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39"/>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Luồng sự kiện và SSD</a:t>
            </a:r>
            <a:endParaRPr/>
          </a:p>
        </p:txBody>
      </p:sp>
      <p:sp>
        <p:nvSpPr>
          <p:cNvPr id="657" name="Google Shape;657;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8" name="Google Shape;658;p39"/>
          <p:cNvSpPr/>
          <p:nvPr/>
        </p:nvSpPr>
        <p:spPr>
          <a:xfrm>
            <a:off x="3941425" y="1072000"/>
            <a:ext cx="153300" cy="148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9" name="Google Shape;659;p39"/>
          <p:cNvCxnSpPr>
            <a:stCxn id="658" idx="4"/>
          </p:cNvCxnSpPr>
          <p:nvPr/>
        </p:nvCxnSpPr>
        <p:spPr>
          <a:xfrm>
            <a:off x="4018075" y="1220800"/>
            <a:ext cx="5100" cy="337500"/>
          </a:xfrm>
          <a:prstGeom prst="straightConnector1">
            <a:avLst/>
          </a:prstGeom>
          <a:noFill/>
          <a:ln cap="flat" cmpd="sng" w="9525">
            <a:solidFill>
              <a:srgbClr val="000000"/>
            </a:solidFill>
            <a:prstDash val="solid"/>
            <a:round/>
            <a:headEnd len="med" w="med" type="none"/>
            <a:tailEnd len="med" w="med" type="none"/>
          </a:ln>
        </p:spPr>
      </p:cxnSp>
      <p:cxnSp>
        <p:nvCxnSpPr>
          <p:cNvPr id="660" name="Google Shape;660;p39"/>
          <p:cNvCxnSpPr/>
          <p:nvPr/>
        </p:nvCxnSpPr>
        <p:spPr>
          <a:xfrm>
            <a:off x="4023225" y="1538501"/>
            <a:ext cx="143100" cy="128700"/>
          </a:xfrm>
          <a:prstGeom prst="straightConnector1">
            <a:avLst/>
          </a:prstGeom>
          <a:noFill/>
          <a:ln cap="flat" cmpd="sng" w="9525">
            <a:solidFill>
              <a:srgbClr val="000000"/>
            </a:solidFill>
            <a:prstDash val="solid"/>
            <a:round/>
            <a:headEnd len="med" w="med" type="none"/>
            <a:tailEnd len="med" w="med" type="none"/>
          </a:ln>
        </p:spPr>
      </p:cxnSp>
      <p:cxnSp>
        <p:nvCxnSpPr>
          <p:cNvPr id="661" name="Google Shape;661;p39"/>
          <p:cNvCxnSpPr/>
          <p:nvPr/>
        </p:nvCxnSpPr>
        <p:spPr>
          <a:xfrm flipH="1">
            <a:off x="3869925" y="1528576"/>
            <a:ext cx="153300" cy="138900"/>
          </a:xfrm>
          <a:prstGeom prst="straightConnector1">
            <a:avLst/>
          </a:prstGeom>
          <a:noFill/>
          <a:ln cap="flat" cmpd="sng" w="9525">
            <a:solidFill>
              <a:srgbClr val="000000"/>
            </a:solidFill>
            <a:prstDash val="solid"/>
            <a:round/>
            <a:headEnd len="med" w="med" type="none"/>
            <a:tailEnd len="med" w="med" type="none"/>
          </a:ln>
        </p:spPr>
      </p:cxnSp>
      <p:cxnSp>
        <p:nvCxnSpPr>
          <p:cNvPr id="662" name="Google Shape;662;p39"/>
          <p:cNvCxnSpPr/>
          <p:nvPr/>
        </p:nvCxnSpPr>
        <p:spPr>
          <a:xfrm>
            <a:off x="4023225" y="1316619"/>
            <a:ext cx="143100" cy="128700"/>
          </a:xfrm>
          <a:prstGeom prst="straightConnector1">
            <a:avLst/>
          </a:prstGeom>
          <a:noFill/>
          <a:ln cap="flat" cmpd="sng" w="9525">
            <a:solidFill>
              <a:srgbClr val="000000"/>
            </a:solidFill>
            <a:prstDash val="solid"/>
            <a:round/>
            <a:headEnd len="med" w="med" type="none"/>
            <a:tailEnd len="med" w="med" type="none"/>
          </a:ln>
        </p:spPr>
      </p:cxnSp>
      <p:cxnSp>
        <p:nvCxnSpPr>
          <p:cNvPr id="663" name="Google Shape;663;p39"/>
          <p:cNvCxnSpPr/>
          <p:nvPr/>
        </p:nvCxnSpPr>
        <p:spPr>
          <a:xfrm flipH="1">
            <a:off x="3869925" y="1306694"/>
            <a:ext cx="153300" cy="138900"/>
          </a:xfrm>
          <a:prstGeom prst="straightConnector1">
            <a:avLst/>
          </a:prstGeom>
          <a:noFill/>
          <a:ln cap="flat" cmpd="sng" w="9525">
            <a:solidFill>
              <a:srgbClr val="000000"/>
            </a:solidFill>
            <a:prstDash val="solid"/>
            <a:round/>
            <a:headEnd len="med" w="med" type="none"/>
            <a:tailEnd len="med" w="med" type="none"/>
          </a:ln>
        </p:spPr>
      </p:cxnSp>
      <p:sp>
        <p:nvSpPr>
          <p:cNvPr id="664" name="Google Shape;664;p39"/>
          <p:cNvSpPr txBox="1"/>
          <p:nvPr/>
        </p:nvSpPr>
        <p:spPr>
          <a:xfrm>
            <a:off x="3532400" y="1544375"/>
            <a:ext cx="11760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:Thu ngân</a:t>
            </a:r>
            <a:endParaRPr sz="1600"/>
          </a:p>
        </p:txBody>
      </p:sp>
      <p:sp>
        <p:nvSpPr>
          <p:cNvPr id="665" name="Google Shape;665;p39"/>
          <p:cNvSpPr/>
          <p:nvPr/>
        </p:nvSpPr>
        <p:spPr>
          <a:xfrm>
            <a:off x="7708775" y="1244398"/>
            <a:ext cx="1176000" cy="423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:Hệ thống</a:t>
            </a:r>
            <a:endParaRPr sz="1600"/>
          </a:p>
        </p:txBody>
      </p:sp>
      <p:cxnSp>
        <p:nvCxnSpPr>
          <p:cNvPr id="666" name="Google Shape;666;p39"/>
          <p:cNvCxnSpPr>
            <a:stCxn id="665" idx="2"/>
          </p:cNvCxnSpPr>
          <p:nvPr/>
        </p:nvCxnSpPr>
        <p:spPr>
          <a:xfrm>
            <a:off x="8296775" y="1667398"/>
            <a:ext cx="0" cy="3683700"/>
          </a:xfrm>
          <a:prstGeom prst="straightConnector1">
            <a:avLst/>
          </a:prstGeom>
          <a:noFill/>
          <a:ln cap="flat" cmpd="sng" w="9525">
            <a:solidFill>
              <a:srgbClr val="000000"/>
            </a:solidFill>
            <a:prstDash val="dash"/>
            <a:round/>
            <a:headEnd len="med" w="med" type="none"/>
            <a:tailEnd len="med" w="med" type="none"/>
          </a:ln>
        </p:spPr>
      </p:cxnSp>
      <p:cxnSp>
        <p:nvCxnSpPr>
          <p:cNvPr id="667" name="Google Shape;667;p39"/>
          <p:cNvCxnSpPr/>
          <p:nvPr/>
        </p:nvCxnSpPr>
        <p:spPr>
          <a:xfrm>
            <a:off x="4038500" y="1792558"/>
            <a:ext cx="0" cy="3494400"/>
          </a:xfrm>
          <a:prstGeom prst="straightConnector1">
            <a:avLst/>
          </a:prstGeom>
          <a:noFill/>
          <a:ln cap="flat" cmpd="sng" w="9525">
            <a:solidFill>
              <a:srgbClr val="000000"/>
            </a:solidFill>
            <a:prstDash val="dash"/>
            <a:round/>
            <a:headEnd len="med" w="med" type="none"/>
            <a:tailEnd len="med" w="med" type="none"/>
          </a:ln>
        </p:spPr>
      </p:cxnSp>
      <p:cxnSp>
        <p:nvCxnSpPr>
          <p:cNvPr id="668" name="Google Shape;668;p39"/>
          <p:cNvCxnSpPr/>
          <p:nvPr/>
        </p:nvCxnSpPr>
        <p:spPr>
          <a:xfrm>
            <a:off x="4031125" y="2248775"/>
            <a:ext cx="4174500" cy="0"/>
          </a:xfrm>
          <a:prstGeom prst="straightConnector1">
            <a:avLst/>
          </a:prstGeom>
          <a:noFill/>
          <a:ln cap="flat" cmpd="sng" w="9525">
            <a:solidFill>
              <a:srgbClr val="000000"/>
            </a:solidFill>
            <a:prstDash val="solid"/>
            <a:round/>
            <a:headEnd len="med" w="med" type="none"/>
            <a:tailEnd len="med" w="med" type="triangle"/>
          </a:ln>
        </p:spPr>
      </p:cxnSp>
      <p:sp>
        <p:nvSpPr>
          <p:cNvPr id="669" name="Google Shape;669;p39"/>
          <p:cNvSpPr txBox="1"/>
          <p:nvPr/>
        </p:nvSpPr>
        <p:spPr>
          <a:xfrm>
            <a:off x="4118327" y="1938450"/>
            <a:ext cx="42906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tạo Lượt bán hàng mới/ makeNewSale()</a:t>
            </a:r>
            <a:endParaRPr/>
          </a:p>
        </p:txBody>
      </p:sp>
      <p:cxnSp>
        <p:nvCxnSpPr>
          <p:cNvPr id="670" name="Google Shape;670;p39"/>
          <p:cNvCxnSpPr/>
          <p:nvPr/>
        </p:nvCxnSpPr>
        <p:spPr>
          <a:xfrm>
            <a:off x="4031125" y="3086974"/>
            <a:ext cx="4174500" cy="0"/>
          </a:xfrm>
          <a:prstGeom prst="straightConnector1">
            <a:avLst/>
          </a:prstGeom>
          <a:noFill/>
          <a:ln cap="flat" cmpd="sng" w="9525">
            <a:solidFill>
              <a:srgbClr val="000000"/>
            </a:solidFill>
            <a:prstDash val="solid"/>
            <a:round/>
            <a:headEnd len="med" w="med" type="none"/>
            <a:tailEnd len="med" w="med" type="triangle"/>
          </a:ln>
        </p:spPr>
      </p:cxnSp>
      <p:sp>
        <p:nvSpPr>
          <p:cNvPr id="671" name="Google Shape;671;p39"/>
          <p:cNvSpPr txBox="1"/>
          <p:nvPr/>
        </p:nvSpPr>
        <p:spPr>
          <a:xfrm>
            <a:off x="4018075" y="2756175"/>
            <a:ext cx="4122600" cy="3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nhậpGóiHàng/ enterItem(itemID, quantity)</a:t>
            </a:r>
            <a:endParaRPr/>
          </a:p>
        </p:txBody>
      </p:sp>
      <p:cxnSp>
        <p:nvCxnSpPr>
          <p:cNvPr id="672" name="Google Shape;672;p39"/>
          <p:cNvCxnSpPr/>
          <p:nvPr/>
        </p:nvCxnSpPr>
        <p:spPr>
          <a:xfrm rot="10800000">
            <a:off x="4048516" y="3420098"/>
            <a:ext cx="4187700" cy="0"/>
          </a:xfrm>
          <a:prstGeom prst="straightConnector1">
            <a:avLst/>
          </a:prstGeom>
          <a:noFill/>
          <a:ln cap="flat" cmpd="sng" w="9525">
            <a:solidFill>
              <a:srgbClr val="000000"/>
            </a:solidFill>
            <a:prstDash val="dash"/>
            <a:round/>
            <a:headEnd len="med" w="med" type="none"/>
            <a:tailEnd len="med" w="med" type="triangle"/>
          </a:ln>
        </p:spPr>
      </p:cxnSp>
      <p:sp>
        <p:nvSpPr>
          <p:cNvPr id="673" name="Google Shape;673;p39"/>
          <p:cNvSpPr txBox="1"/>
          <p:nvPr/>
        </p:nvSpPr>
        <p:spPr>
          <a:xfrm>
            <a:off x="4773200" y="3108725"/>
            <a:ext cx="25947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mô tả/description, tổng/total</a:t>
            </a:r>
            <a:endParaRPr/>
          </a:p>
        </p:txBody>
      </p:sp>
      <p:cxnSp>
        <p:nvCxnSpPr>
          <p:cNvPr id="674" name="Google Shape;674;p39"/>
          <p:cNvCxnSpPr/>
          <p:nvPr/>
        </p:nvCxnSpPr>
        <p:spPr>
          <a:xfrm flipH="1" rot="10800000">
            <a:off x="4035010" y="3936022"/>
            <a:ext cx="4174500" cy="10200"/>
          </a:xfrm>
          <a:prstGeom prst="straightConnector1">
            <a:avLst/>
          </a:prstGeom>
          <a:noFill/>
          <a:ln cap="flat" cmpd="sng" w="9525">
            <a:solidFill>
              <a:srgbClr val="000000"/>
            </a:solidFill>
            <a:prstDash val="solid"/>
            <a:round/>
            <a:headEnd len="med" w="med" type="none"/>
            <a:tailEnd len="med" w="med" type="triangle"/>
          </a:ln>
        </p:spPr>
      </p:cxnSp>
      <p:sp>
        <p:nvSpPr>
          <p:cNvPr id="675" name="Google Shape;675;p39"/>
          <p:cNvSpPr txBox="1"/>
          <p:nvPr/>
        </p:nvSpPr>
        <p:spPr>
          <a:xfrm>
            <a:off x="4131400" y="3604175"/>
            <a:ext cx="27372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kết thúc bán hàng/ endSale()</a:t>
            </a:r>
            <a:endParaRPr/>
          </a:p>
        </p:txBody>
      </p:sp>
      <p:cxnSp>
        <p:nvCxnSpPr>
          <p:cNvPr id="676" name="Google Shape;676;p39"/>
          <p:cNvCxnSpPr/>
          <p:nvPr/>
        </p:nvCxnSpPr>
        <p:spPr>
          <a:xfrm rot="10800000">
            <a:off x="4048516" y="4330171"/>
            <a:ext cx="4187700" cy="0"/>
          </a:xfrm>
          <a:prstGeom prst="straightConnector1">
            <a:avLst/>
          </a:prstGeom>
          <a:noFill/>
          <a:ln cap="flat" cmpd="sng" w="9525">
            <a:solidFill>
              <a:srgbClr val="000000"/>
            </a:solidFill>
            <a:prstDash val="dash"/>
            <a:round/>
            <a:headEnd len="med" w="med" type="none"/>
            <a:tailEnd len="med" w="med" type="triangle"/>
          </a:ln>
        </p:spPr>
      </p:cxnSp>
      <p:sp>
        <p:nvSpPr>
          <p:cNvPr id="677" name="Google Shape;677;p39"/>
          <p:cNvSpPr txBox="1"/>
          <p:nvPr/>
        </p:nvSpPr>
        <p:spPr>
          <a:xfrm>
            <a:off x="4893400" y="4015850"/>
            <a:ext cx="21084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tổng với các khoản thuế</a:t>
            </a:r>
            <a:endParaRPr/>
          </a:p>
        </p:txBody>
      </p:sp>
      <p:cxnSp>
        <p:nvCxnSpPr>
          <p:cNvPr id="678" name="Google Shape;678;p39"/>
          <p:cNvCxnSpPr/>
          <p:nvPr/>
        </p:nvCxnSpPr>
        <p:spPr>
          <a:xfrm flipH="1" rot="10800000">
            <a:off x="4035010" y="4718472"/>
            <a:ext cx="4174500" cy="10200"/>
          </a:xfrm>
          <a:prstGeom prst="straightConnector1">
            <a:avLst/>
          </a:prstGeom>
          <a:noFill/>
          <a:ln cap="flat" cmpd="sng" w="9525">
            <a:solidFill>
              <a:srgbClr val="000000"/>
            </a:solidFill>
            <a:prstDash val="solid"/>
            <a:round/>
            <a:headEnd len="med" w="med" type="none"/>
            <a:tailEnd len="med" w="med" type="triangle"/>
          </a:ln>
        </p:spPr>
      </p:cxnSp>
      <p:sp>
        <p:nvSpPr>
          <p:cNvPr id="679" name="Google Shape;679;p39"/>
          <p:cNvSpPr txBox="1"/>
          <p:nvPr/>
        </p:nvSpPr>
        <p:spPr>
          <a:xfrm>
            <a:off x="4094725" y="4437750"/>
            <a:ext cx="4046100" cy="5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thực hiện thanh toán/ makePayment (amount)</a:t>
            </a:r>
            <a:endParaRPr/>
          </a:p>
        </p:txBody>
      </p:sp>
      <p:cxnSp>
        <p:nvCxnSpPr>
          <p:cNvPr id="680" name="Google Shape;680;p39"/>
          <p:cNvCxnSpPr/>
          <p:nvPr/>
        </p:nvCxnSpPr>
        <p:spPr>
          <a:xfrm rot="10800000">
            <a:off x="4048516" y="5173975"/>
            <a:ext cx="4187700" cy="0"/>
          </a:xfrm>
          <a:prstGeom prst="straightConnector1">
            <a:avLst/>
          </a:prstGeom>
          <a:noFill/>
          <a:ln cap="flat" cmpd="sng" w="9525">
            <a:solidFill>
              <a:srgbClr val="000000"/>
            </a:solidFill>
            <a:prstDash val="dash"/>
            <a:round/>
            <a:headEnd len="med" w="med" type="none"/>
            <a:tailEnd len="med" w="med" type="triangle"/>
          </a:ln>
        </p:spPr>
      </p:cxnSp>
      <p:sp>
        <p:nvSpPr>
          <p:cNvPr id="681" name="Google Shape;681;p39"/>
          <p:cNvSpPr txBox="1"/>
          <p:nvPr/>
        </p:nvSpPr>
        <p:spPr>
          <a:xfrm>
            <a:off x="5177750" y="4859650"/>
            <a:ext cx="18090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trả số dư, hóa đơn</a:t>
            </a:r>
            <a:endParaRPr/>
          </a:p>
        </p:txBody>
      </p:sp>
      <p:sp>
        <p:nvSpPr>
          <p:cNvPr id="682" name="Google Shape;682;p39"/>
          <p:cNvSpPr/>
          <p:nvPr/>
        </p:nvSpPr>
        <p:spPr>
          <a:xfrm flipH="1" rot="10800000">
            <a:off x="377775" y="1408199"/>
            <a:ext cx="3014100" cy="3905400"/>
          </a:xfrm>
          <a:prstGeom prst="foldedCorner">
            <a:avLst>
              <a:gd fmla="val 12073"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39"/>
          <p:cNvSpPr txBox="1"/>
          <p:nvPr/>
        </p:nvSpPr>
        <p:spPr>
          <a:xfrm>
            <a:off x="341876" y="1754150"/>
            <a:ext cx="3024600" cy="3597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1200" u="sng"/>
              <a:t>Kịch bản </a:t>
            </a:r>
            <a:r>
              <a:rPr i="1" lang="en-GB" sz="1200" u="sng"/>
              <a:t>Xử lý Bán hàng</a:t>
            </a:r>
            <a:r>
              <a:rPr lang="en-GB" sz="1200" u="sng"/>
              <a:t> giản lược chỉ sử dụng tiền mặt:</a:t>
            </a:r>
            <a:endParaRPr sz="1200" u="sng"/>
          </a:p>
          <a:p>
            <a:pPr indent="0" lvl="0" marL="0" rtl="0" algn="just">
              <a:spcBef>
                <a:spcPts val="0"/>
              </a:spcBef>
              <a:spcAft>
                <a:spcPts val="0"/>
              </a:spcAft>
              <a:buNone/>
            </a:pPr>
            <a:r>
              <a:t/>
            </a:r>
            <a:endParaRPr sz="1200"/>
          </a:p>
          <a:p>
            <a:pPr indent="0" lvl="0" marL="0" rtl="0" algn="just">
              <a:spcBef>
                <a:spcPts val="0"/>
              </a:spcBef>
              <a:spcAft>
                <a:spcPts val="0"/>
              </a:spcAft>
              <a:buNone/>
            </a:pPr>
            <a:r>
              <a:rPr lang="en-GB" sz="1200"/>
              <a:t>1. Khách hàng đi tới quầy thanh toán POS với các mặt hàng và/ hoặc </a:t>
            </a:r>
            <a:r>
              <a:rPr lang="en-GB" sz="1200"/>
              <a:t>hóa đơn </a:t>
            </a:r>
            <a:r>
              <a:rPr lang="en-GB" sz="1200"/>
              <a:t>dịch vụ cần thanh toán.</a:t>
            </a:r>
            <a:endParaRPr sz="1200"/>
          </a:p>
          <a:p>
            <a:pPr indent="0" lvl="0" marL="0" rtl="0" algn="just">
              <a:spcBef>
                <a:spcPts val="0"/>
              </a:spcBef>
              <a:spcAft>
                <a:spcPts val="0"/>
              </a:spcAft>
              <a:buNone/>
            </a:pPr>
            <a:r>
              <a:rPr lang="en-GB" sz="1200"/>
              <a:t>2. Thu ngân bắt đầu lượt bán hàng mới.</a:t>
            </a:r>
            <a:endParaRPr sz="1200"/>
          </a:p>
          <a:p>
            <a:pPr indent="0" lvl="0" marL="0" rtl="0" algn="just">
              <a:spcBef>
                <a:spcPts val="0"/>
              </a:spcBef>
              <a:spcAft>
                <a:spcPts val="0"/>
              </a:spcAft>
              <a:buNone/>
            </a:pPr>
            <a:r>
              <a:rPr lang="en-GB" sz="1200"/>
              <a:t>3. Thu ngân nhập định danh mặt hàng.</a:t>
            </a:r>
            <a:endParaRPr sz="1200"/>
          </a:p>
          <a:p>
            <a:pPr indent="0" lvl="0" marL="0" rtl="0" algn="just">
              <a:spcBef>
                <a:spcPts val="0"/>
              </a:spcBef>
              <a:spcAft>
                <a:spcPts val="0"/>
              </a:spcAft>
              <a:buNone/>
            </a:pPr>
            <a:r>
              <a:rPr lang="en-GB" sz="1200"/>
              <a:t>4. Hệ thống ghi nhận mục hàng và hiển thị mô tả mặt hàng, giá và tổng hiện tại.</a:t>
            </a:r>
            <a:endParaRPr sz="1200"/>
          </a:p>
          <a:p>
            <a:pPr indent="0" lvl="0" marL="0" rtl="0" algn="just">
              <a:spcBef>
                <a:spcPts val="0"/>
              </a:spcBef>
              <a:spcAft>
                <a:spcPts val="0"/>
              </a:spcAft>
              <a:buNone/>
            </a:pPr>
            <a:r>
              <a:rPr lang="en-GB" sz="1200"/>
              <a:t>Thu ngân lặp các bước 3-4 cho tới khi hoàn thành.</a:t>
            </a:r>
            <a:endParaRPr sz="1200"/>
          </a:p>
          <a:p>
            <a:pPr indent="0" lvl="0" marL="0" rtl="0" algn="just">
              <a:spcBef>
                <a:spcPts val="0"/>
              </a:spcBef>
              <a:spcAft>
                <a:spcPts val="0"/>
              </a:spcAft>
              <a:buNone/>
            </a:pPr>
            <a:r>
              <a:rPr lang="en-GB" sz="1200"/>
              <a:t>5. Hệ thống hiển thị tổng với các mục thuế tính được.</a:t>
            </a:r>
            <a:endParaRPr sz="1200"/>
          </a:p>
          <a:p>
            <a:pPr indent="0" lvl="0" marL="0" rtl="0" algn="just">
              <a:spcBef>
                <a:spcPts val="0"/>
              </a:spcBef>
              <a:spcAft>
                <a:spcPts val="0"/>
              </a:spcAft>
              <a:buNone/>
            </a:pPr>
            <a:r>
              <a:rPr lang="en-GB" sz="1200"/>
              <a:t>6. Thu ngân thông báo Khách hàng tổng và yêu cầu thanh toán.</a:t>
            </a:r>
            <a:endParaRPr sz="1200"/>
          </a:p>
          <a:p>
            <a:pPr indent="0" lvl="0" marL="0" rtl="0" algn="just">
              <a:spcBef>
                <a:spcPts val="0"/>
              </a:spcBef>
              <a:spcAft>
                <a:spcPts val="0"/>
              </a:spcAft>
              <a:buNone/>
            </a:pPr>
            <a:r>
              <a:rPr lang="en-GB" sz="1200"/>
              <a:t>7. Khách hàng thanh toán và Hệ thống xử lý khoản thanh toán.</a:t>
            </a:r>
            <a:endParaRPr sz="1200"/>
          </a:p>
          <a:p>
            <a:pPr indent="0" lvl="0" marL="0" rtl="0" algn="just">
              <a:spcBef>
                <a:spcPts val="0"/>
              </a:spcBef>
              <a:spcAft>
                <a:spcPts val="0"/>
              </a:spcAft>
              <a:buNone/>
            </a:pPr>
            <a:r>
              <a:rPr lang="en-GB" sz="1200"/>
              <a:t>…</a:t>
            </a:r>
            <a:endParaRPr sz="1200"/>
          </a:p>
        </p:txBody>
      </p:sp>
      <p:sp>
        <p:nvSpPr>
          <p:cNvPr id="684" name="Google Shape;684;p39"/>
          <p:cNvSpPr/>
          <p:nvPr/>
        </p:nvSpPr>
        <p:spPr>
          <a:xfrm>
            <a:off x="3949924" y="4281026"/>
            <a:ext cx="92100" cy="921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85" name="Google Shape;685;p39"/>
          <p:cNvCxnSpPr>
            <a:endCxn id="684" idx="1"/>
          </p:cNvCxnSpPr>
          <p:nvPr/>
        </p:nvCxnSpPr>
        <p:spPr>
          <a:xfrm>
            <a:off x="3393712" y="3889513"/>
            <a:ext cx="569700" cy="405000"/>
          </a:xfrm>
          <a:prstGeom prst="straightConnector1">
            <a:avLst/>
          </a:prstGeom>
          <a:noFill/>
          <a:ln cap="flat" cmpd="sng" w="9525">
            <a:solidFill>
              <a:srgbClr val="000000"/>
            </a:solidFill>
            <a:prstDash val="dash"/>
            <a:round/>
            <a:headEnd len="med" w="med" type="none"/>
            <a:tailEnd len="med" w="med" type="none"/>
          </a:ln>
        </p:spPr>
      </p:cxnSp>
      <p:sp>
        <p:nvSpPr>
          <p:cNvPr id="686" name="Google Shape;686;p39"/>
          <p:cNvSpPr txBox="1"/>
          <p:nvPr/>
        </p:nvSpPr>
        <p:spPr>
          <a:xfrm>
            <a:off x="4018075" y="2446588"/>
            <a:ext cx="32331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loop</a:t>
            </a:r>
            <a:r>
              <a:rPr lang="en-GB"/>
              <a:t> *[còn gói hàng/more items]</a:t>
            </a:r>
            <a:endParaRPr/>
          </a:p>
        </p:txBody>
      </p:sp>
      <p:sp>
        <p:nvSpPr>
          <p:cNvPr id="687" name="Google Shape;687;p39"/>
          <p:cNvSpPr/>
          <p:nvPr/>
        </p:nvSpPr>
        <p:spPr>
          <a:xfrm rot="10800000">
            <a:off x="3940500" y="2524525"/>
            <a:ext cx="2813050" cy="292575"/>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88" name="Google Shape;688;p39"/>
          <p:cNvSpPr/>
          <p:nvPr/>
        </p:nvSpPr>
        <p:spPr>
          <a:xfrm>
            <a:off x="8245800" y="2156225"/>
            <a:ext cx="92100" cy="337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89" name="Google Shape;689;p39"/>
          <p:cNvSpPr/>
          <p:nvPr/>
        </p:nvSpPr>
        <p:spPr>
          <a:xfrm>
            <a:off x="8245800" y="3013475"/>
            <a:ext cx="92100" cy="423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90" name="Google Shape;690;p39"/>
          <p:cNvSpPr/>
          <p:nvPr/>
        </p:nvSpPr>
        <p:spPr>
          <a:xfrm>
            <a:off x="8234900" y="3858025"/>
            <a:ext cx="921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91" name="Google Shape;691;p39"/>
          <p:cNvSpPr/>
          <p:nvPr/>
        </p:nvSpPr>
        <p:spPr>
          <a:xfrm>
            <a:off x="8234900" y="4679600"/>
            <a:ext cx="92100" cy="524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0"/>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tuần tự mức nghiệp vụ</a:t>
            </a:r>
            <a:endParaRPr/>
          </a:p>
        </p:txBody>
      </p:sp>
      <p:sp>
        <p:nvSpPr>
          <p:cNvPr id="697" name="Google Shape;697;p40"/>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Chi tiết hơn SSD, phân chia trách nhiệm nghiệp vụ giữa các đối tượng - có thể sử dụng các lớp lĩnh vực.</a:t>
            </a:r>
            <a:endParaRPr/>
          </a:p>
          <a:p>
            <a:pPr indent="-381000" lvl="0" marL="457200" rtl="0" algn="l">
              <a:spcBef>
                <a:spcPts val="0"/>
              </a:spcBef>
              <a:spcAft>
                <a:spcPts val="0"/>
              </a:spcAft>
              <a:buSzPts val="2400"/>
              <a:buChar char="●"/>
            </a:pPr>
            <a:r>
              <a:rPr lang="en-GB"/>
              <a:t>Biểu diễn các thông điệp được trao đổi giữa các đối tượng trong tiến trình thực hiện kịch bản sử dụng hệ thống</a:t>
            </a:r>
            <a:endParaRPr/>
          </a:p>
          <a:p>
            <a:pPr indent="-368300" lvl="1" marL="914400" rtl="0" algn="l">
              <a:spcBef>
                <a:spcPts val="0"/>
              </a:spcBef>
              <a:spcAft>
                <a:spcPts val="0"/>
              </a:spcAft>
              <a:buSzPts val="2200"/>
              <a:buChar char="○"/>
            </a:pPr>
            <a:r>
              <a:rPr lang="en-GB"/>
              <a:t>Sử dụng các đối tượng lĩnh vực, các thứ liên quan đến các hoạt động nghiệp vụ.</a:t>
            </a:r>
            <a:endParaRPr/>
          </a:p>
          <a:p>
            <a:pPr indent="-381000" lvl="0" marL="457200" rtl="0" algn="l">
              <a:spcBef>
                <a:spcPts val="0"/>
              </a:spcBef>
              <a:spcAft>
                <a:spcPts val="0"/>
              </a:spcAft>
              <a:buSzPts val="2400"/>
              <a:buChar char="●"/>
            </a:pPr>
            <a:r>
              <a:rPr lang="en-GB"/>
              <a:t>M</a:t>
            </a:r>
            <a:r>
              <a:rPr lang="en-GB"/>
              <a:t>ột ca sử dụng có thể có nhiều kịch bản</a:t>
            </a:r>
            <a:endParaRPr/>
          </a:p>
          <a:p>
            <a:pPr indent="-368300" lvl="1" marL="914400" rtl="0" algn="l">
              <a:spcBef>
                <a:spcPts val="0"/>
              </a:spcBef>
              <a:spcAft>
                <a:spcPts val="0"/>
              </a:spcAft>
              <a:buSzPts val="2200"/>
              <a:buChar char="○"/>
            </a:pPr>
            <a:r>
              <a:rPr lang="en-GB"/>
              <a:t>Mỗi luồng sự kiện đều có thể có luồng tương đương</a:t>
            </a:r>
            <a:endParaRPr/>
          </a:p>
          <a:p>
            <a:pPr indent="-368300" lvl="1" marL="914400" rtl="0" algn="l">
              <a:spcBef>
                <a:spcPts val="0"/>
              </a:spcBef>
              <a:spcAft>
                <a:spcPts val="0"/>
              </a:spcAft>
              <a:buSzPts val="2200"/>
              <a:buChar char="○"/>
            </a:pPr>
            <a:r>
              <a:rPr lang="en-GB"/>
              <a:t>Một kịch bản tương ứng với một trình tự xác định trong phạm vi ca sử dụng</a:t>
            </a:r>
            <a:endParaRPr/>
          </a:p>
          <a:p>
            <a:pPr indent="-381000" lvl="0" marL="457200" rtl="0" algn="l">
              <a:spcBef>
                <a:spcPts val="0"/>
              </a:spcBef>
              <a:spcAft>
                <a:spcPts val="0"/>
              </a:spcAft>
              <a:buSzPts val="2400"/>
              <a:buChar char="●"/>
            </a:pPr>
            <a:r>
              <a:rPr lang="en-GB"/>
              <a:t>Giúp hiểu tốt hơn các ca sử dụng phức tạp.</a:t>
            </a:r>
            <a:endParaRPr/>
          </a:p>
          <a:p>
            <a:pPr indent="0" lvl="0" marL="0" rtl="0" algn="l">
              <a:spcBef>
                <a:spcPts val="1000"/>
              </a:spcBef>
              <a:spcAft>
                <a:spcPts val="0"/>
              </a:spcAft>
              <a:buNone/>
            </a:pPr>
            <a:r>
              <a:rPr i="1" lang="en-GB">
                <a:solidFill>
                  <a:srgbClr val="1155CC"/>
                </a:solidFill>
              </a:rPr>
              <a:t>Các chi tiết có thể tiếp tục được thêm vào theo tiến trình thiết kế.</a:t>
            </a:r>
            <a:endParaRPr i="1">
              <a:solidFill>
                <a:srgbClr val="1155CC"/>
              </a:solidFill>
            </a:endParaRPr>
          </a:p>
        </p:txBody>
      </p:sp>
      <p:sp>
        <p:nvSpPr>
          <p:cNvPr id="698" name="Google Shape;698;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4" name="Google Shape;704;p41"/>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Ví dụ 4.6. Ca sử dụng mượn sách</a:t>
            </a:r>
            <a:r>
              <a:rPr baseline="-25000" lang="en-GB"/>
              <a:t>(2)</a:t>
            </a:r>
            <a:endParaRPr baseline="-25000"/>
          </a:p>
        </p:txBody>
      </p:sp>
      <p:sp>
        <p:nvSpPr>
          <p:cNvPr id="705" name="Google Shape;705;p41"/>
          <p:cNvSpPr txBox="1"/>
          <p:nvPr/>
        </p:nvSpPr>
        <p:spPr>
          <a:xfrm>
            <a:off x="324925" y="6160475"/>
            <a:ext cx="84078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latin typeface="Times New Roman"/>
                <a:ea typeface="Times New Roman"/>
                <a:cs typeface="Times New Roman"/>
                <a:sym typeface="Times New Roman"/>
              </a:rPr>
              <a:t>* Các thành phần giao diện sẽ tiếp tục được thêm vào ở pha Thiết kế </a:t>
            </a:r>
            <a:endParaRPr i="1" sz="1800">
              <a:latin typeface="Times New Roman"/>
              <a:ea typeface="Times New Roman"/>
              <a:cs typeface="Times New Roman"/>
              <a:sym typeface="Times New Roman"/>
            </a:endParaRPr>
          </a:p>
        </p:txBody>
      </p:sp>
      <p:sp>
        <p:nvSpPr>
          <p:cNvPr id="706" name="Google Shape;706;p41"/>
          <p:cNvSpPr txBox="1"/>
          <p:nvPr/>
        </p:nvSpPr>
        <p:spPr>
          <a:xfrm>
            <a:off x="455600" y="726400"/>
            <a:ext cx="6858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Sơ đồ tuần tự mức nghiệp vụ</a:t>
            </a:r>
            <a:endParaRPr i="1" sz="2400">
              <a:solidFill>
                <a:schemeClr val="dk2"/>
              </a:solidFill>
              <a:latin typeface="Times New Roman"/>
              <a:ea typeface="Times New Roman"/>
              <a:cs typeface="Times New Roman"/>
              <a:sym typeface="Times New Roman"/>
            </a:endParaRPr>
          </a:p>
        </p:txBody>
      </p:sp>
      <p:sp>
        <p:nvSpPr>
          <p:cNvPr id="707" name="Google Shape;707;p41"/>
          <p:cNvSpPr/>
          <p:nvPr/>
        </p:nvSpPr>
        <p:spPr>
          <a:xfrm>
            <a:off x="532475" y="1299500"/>
            <a:ext cx="143100" cy="143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08" name="Google Shape;708;p41"/>
          <p:cNvCxnSpPr>
            <a:stCxn id="707" idx="4"/>
          </p:cNvCxnSpPr>
          <p:nvPr/>
        </p:nvCxnSpPr>
        <p:spPr>
          <a:xfrm>
            <a:off x="604025" y="1442600"/>
            <a:ext cx="0" cy="39360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41"/>
          <p:cNvCxnSpPr/>
          <p:nvPr/>
        </p:nvCxnSpPr>
        <p:spPr>
          <a:xfrm>
            <a:off x="602701" y="1819760"/>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41"/>
          <p:cNvCxnSpPr/>
          <p:nvPr/>
        </p:nvCxnSpPr>
        <p:spPr>
          <a:xfrm flipH="1">
            <a:off x="449000" y="1824300"/>
            <a:ext cx="143100" cy="1551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41"/>
          <p:cNvCxnSpPr/>
          <p:nvPr/>
        </p:nvCxnSpPr>
        <p:spPr>
          <a:xfrm>
            <a:off x="592100" y="1567204"/>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41"/>
          <p:cNvCxnSpPr/>
          <p:nvPr/>
        </p:nvCxnSpPr>
        <p:spPr>
          <a:xfrm flipH="1">
            <a:off x="449000" y="1579135"/>
            <a:ext cx="143100" cy="155100"/>
          </a:xfrm>
          <a:prstGeom prst="straightConnector1">
            <a:avLst/>
          </a:prstGeom>
          <a:noFill/>
          <a:ln cap="flat" cmpd="sng" w="9525">
            <a:solidFill>
              <a:schemeClr val="dk2"/>
            </a:solidFill>
            <a:prstDash val="solid"/>
            <a:round/>
            <a:headEnd len="med" w="med" type="none"/>
            <a:tailEnd len="med" w="med" type="none"/>
          </a:ln>
        </p:spPr>
      </p:cxnSp>
      <p:sp>
        <p:nvSpPr>
          <p:cNvPr id="713" name="Google Shape;713;p41"/>
          <p:cNvSpPr/>
          <p:nvPr/>
        </p:nvSpPr>
        <p:spPr>
          <a:xfrm>
            <a:off x="2513675" y="1299500"/>
            <a:ext cx="143100" cy="143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14" name="Google Shape;714;p41"/>
          <p:cNvCxnSpPr>
            <a:stCxn id="713" idx="4"/>
          </p:cNvCxnSpPr>
          <p:nvPr/>
        </p:nvCxnSpPr>
        <p:spPr>
          <a:xfrm>
            <a:off x="2585225" y="1442600"/>
            <a:ext cx="0" cy="3936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41"/>
          <p:cNvCxnSpPr/>
          <p:nvPr/>
        </p:nvCxnSpPr>
        <p:spPr>
          <a:xfrm>
            <a:off x="2583901" y="1819760"/>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716" name="Google Shape;716;p41"/>
          <p:cNvCxnSpPr/>
          <p:nvPr/>
        </p:nvCxnSpPr>
        <p:spPr>
          <a:xfrm flipH="1">
            <a:off x="2430200" y="1824300"/>
            <a:ext cx="143100" cy="155100"/>
          </a:xfrm>
          <a:prstGeom prst="straightConnector1">
            <a:avLst/>
          </a:prstGeom>
          <a:noFill/>
          <a:ln cap="flat" cmpd="sng" w="9525">
            <a:solidFill>
              <a:schemeClr val="dk2"/>
            </a:solidFill>
            <a:prstDash val="solid"/>
            <a:round/>
            <a:headEnd len="med" w="med" type="none"/>
            <a:tailEnd len="med" w="med" type="none"/>
          </a:ln>
        </p:spPr>
      </p:cxnSp>
      <p:cxnSp>
        <p:nvCxnSpPr>
          <p:cNvPr id="717" name="Google Shape;717;p41"/>
          <p:cNvCxnSpPr/>
          <p:nvPr/>
        </p:nvCxnSpPr>
        <p:spPr>
          <a:xfrm>
            <a:off x="2573300" y="1567204"/>
            <a:ext cx="180300" cy="171600"/>
          </a:xfrm>
          <a:prstGeom prst="straightConnector1">
            <a:avLst/>
          </a:prstGeom>
          <a:noFill/>
          <a:ln cap="flat" cmpd="sng" w="9525">
            <a:solidFill>
              <a:schemeClr val="dk2"/>
            </a:solidFill>
            <a:prstDash val="solid"/>
            <a:round/>
            <a:headEnd len="med" w="med" type="none"/>
            <a:tailEnd len="med" w="med" type="none"/>
          </a:ln>
        </p:spPr>
      </p:cxnSp>
      <p:cxnSp>
        <p:nvCxnSpPr>
          <p:cNvPr id="718" name="Google Shape;718;p41"/>
          <p:cNvCxnSpPr/>
          <p:nvPr/>
        </p:nvCxnSpPr>
        <p:spPr>
          <a:xfrm flipH="1">
            <a:off x="2430200" y="1579135"/>
            <a:ext cx="143100" cy="155100"/>
          </a:xfrm>
          <a:prstGeom prst="straightConnector1">
            <a:avLst/>
          </a:prstGeom>
          <a:noFill/>
          <a:ln cap="flat" cmpd="sng" w="9525">
            <a:solidFill>
              <a:schemeClr val="dk2"/>
            </a:solidFill>
            <a:prstDash val="solid"/>
            <a:round/>
            <a:headEnd len="med" w="med" type="none"/>
            <a:tailEnd len="med" w="med" type="none"/>
          </a:ln>
        </p:spPr>
      </p:cxnSp>
      <p:cxnSp>
        <p:nvCxnSpPr>
          <p:cNvPr id="719" name="Google Shape;719;p41"/>
          <p:cNvCxnSpPr/>
          <p:nvPr/>
        </p:nvCxnSpPr>
        <p:spPr>
          <a:xfrm>
            <a:off x="592100" y="2382033"/>
            <a:ext cx="0" cy="3812100"/>
          </a:xfrm>
          <a:prstGeom prst="straightConnector1">
            <a:avLst/>
          </a:prstGeom>
          <a:noFill/>
          <a:ln cap="flat" cmpd="sng" w="9525">
            <a:solidFill>
              <a:schemeClr val="dk2"/>
            </a:solidFill>
            <a:prstDash val="dash"/>
            <a:round/>
            <a:headEnd len="med" w="med" type="none"/>
            <a:tailEnd len="med" w="med" type="none"/>
          </a:ln>
        </p:spPr>
      </p:cxnSp>
      <p:cxnSp>
        <p:nvCxnSpPr>
          <p:cNvPr id="720" name="Google Shape;720;p41"/>
          <p:cNvCxnSpPr/>
          <p:nvPr/>
        </p:nvCxnSpPr>
        <p:spPr>
          <a:xfrm>
            <a:off x="2597150" y="2382033"/>
            <a:ext cx="0" cy="3812100"/>
          </a:xfrm>
          <a:prstGeom prst="straightConnector1">
            <a:avLst/>
          </a:prstGeom>
          <a:noFill/>
          <a:ln cap="flat" cmpd="sng" w="9525">
            <a:solidFill>
              <a:schemeClr val="dk2"/>
            </a:solidFill>
            <a:prstDash val="dash"/>
            <a:round/>
            <a:headEnd len="med" w="med" type="none"/>
            <a:tailEnd len="med" w="med" type="none"/>
          </a:ln>
        </p:spPr>
      </p:cxnSp>
      <p:sp>
        <p:nvSpPr>
          <p:cNvPr id="721" name="Google Shape;721;p41"/>
          <p:cNvSpPr txBox="1"/>
          <p:nvPr/>
        </p:nvSpPr>
        <p:spPr>
          <a:xfrm>
            <a:off x="142175" y="2007848"/>
            <a:ext cx="1022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:Sinh viên</a:t>
            </a:r>
            <a:endParaRPr>
              <a:solidFill>
                <a:schemeClr val="dk2"/>
              </a:solidFill>
              <a:latin typeface="Times New Roman"/>
              <a:ea typeface="Times New Roman"/>
              <a:cs typeface="Times New Roman"/>
              <a:sym typeface="Times New Roman"/>
            </a:endParaRPr>
          </a:p>
        </p:txBody>
      </p:sp>
      <p:sp>
        <p:nvSpPr>
          <p:cNvPr id="722" name="Google Shape;722;p41"/>
          <p:cNvSpPr txBox="1"/>
          <p:nvPr/>
        </p:nvSpPr>
        <p:spPr>
          <a:xfrm>
            <a:off x="2123375" y="2007848"/>
            <a:ext cx="1022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:Thủ thư</a:t>
            </a:r>
            <a:endParaRPr>
              <a:solidFill>
                <a:schemeClr val="dk2"/>
              </a:solidFill>
              <a:latin typeface="Times New Roman"/>
              <a:ea typeface="Times New Roman"/>
              <a:cs typeface="Times New Roman"/>
              <a:sym typeface="Times New Roman"/>
            </a:endParaRPr>
          </a:p>
        </p:txBody>
      </p:sp>
      <p:sp>
        <p:nvSpPr>
          <p:cNvPr id="723" name="Google Shape;723;p41"/>
          <p:cNvSpPr/>
          <p:nvPr/>
        </p:nvSpPr>
        <p:spPr>
          <a:xfrm>
            <a:off x="3156400" y="1282950"/>
            <a:ext cx="1121400" cy="42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Thẻ bạn đọc</a:t>
            </a:r>
            <a:endParaRPr>
              <a:latin typeface="Times New Roman"/>
              <a:ea typeface="Times New Roman"/>
              <a:cs typeface="Times New Roman"/>
              <a:sym typeface="Times New Roman"/>
            </a:endParaRPr>
          </a:p>
        </p:txBody>
      </p:sp>
      <p:cxnSp>
        <p:nvCxnSpPr>
          <p:cNvPr id="724" name="Google Shape;724;p41"/>
          <p:cNvCxnSpPr>
            <a:stCxn id="723" idx="2"/>
          </p:cNvCxnSpPr>
          <p:nvPr/>
        </p:nvCxnSpPr>
        <p:spPr>
          <a:xfrm>
            <a:off x="3717100" y="1712250"/>
            <a:ext cx="7200" cy="4351500"/>
          </a:xfrm>
          <a:prstGeom prst="straightConnector1">
            <a:avLst/>
          </a:prstGeom>
          <a:noFill/>
          <a:ln cap="flat" cmpd="sng" w="9525">
            <a:solidFill>
              <a:schemeClr val="dk2"/>
            </a:solidFill>
            <a:prstDash val="dash"/>
            <a:round/>
            <a:headEnd len="med" w="med" type="none"/>
            <a:tailEnd len="med" w="med" type="none"/>
          </a:ln>
        </p:spPr>
      </p:cxnSp>
      <p:sp>
        <p:nvSpPr>
          <p:cNvPr id="725" name="Google Shape;725;p41"/>
          <p:cNvSpPr/>
          <p:nvPr/>
        </p:nvSpPr>
        <p:spPr>
          <a:xfrm>
            <a:off x="4375600" y="1282950"/>
            <a:ext cx="1242900" cy="42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Sách quá hạn</a:t>
            </a:r>
            <a:endParaRPr>
              <a:latin typeface="Times New Roman"/>
              <a:ea typeface="Times New Roman"/>
              <a:cs typeface="Times New Roman"/>
              <a:sym typeface="Times New Roman"/>
            </a:endParaRPr>
          </a:p>
        </p:txBody>
      </p:sp>
      <p:sp>
        <p:nvSpPr>
          <p:cNvPr id="726" name="Google Shape;726;p41"/>
          <p:cNvSpPr/>
          <p:nvPr/>
        </p:nvSpPr>
        <p:spPr>
          <a:xfrm>
            <a:off x="5757932" y="1282950"/>
            <a:ext cx="1022400" cy="42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Tài liệu</a:t>
            </a:r>
            <a:endParaRPr>
              <a:latin typeface="Times New Roman"/>
              <a:ea typeface="Times New Roman"/>
              <a:cs typeface="Times New Roman"/>
              <a:sym typeface="Times New Roman"/>
            </a:endParaRPr>
          </a:p>
        </p:txBody>
      </p:sp>
      <p:sp>
        <p:nvSpPr>
          <p:cNvPr id="727" name="Google Shape;727;p41"/>
          <p:cNvSpPr/>
          <p:nvPr/>
        </p:nvSpPr>
        <p:spPr>
          <a:xfrm>
            <a:off x="6900925" y="1282950"/>
            <a:ext cx="1665600" cy="429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:T</a:t>
            </a:r>
            <a:r>
              <a:rPr lang="en-GB">
                <a:latin typeface="Times New Roman"/>
                <a:ea typeface="Times New Roman"/>
                <a:cs typeface="Times New Roman"/>
                <a:sym typeface="Times New Roman"/>
              </a:rPr>
              <a:t>hông tin lưu trữ</a:t>
            </a:r>
            <a:endParaRPr>
              <a:latin typeface="Times New Roman"/>
              <a:ea typeface="Times New Roman"/>
              <a:cs typeface="Times New Roman"/>
              <a:sym typeface="Times New Roman"/>
            </a:endParaRPr>
          </a:p>
        </p:txBody>
      </p:sp>
      <p:sp>
        <p:nvSpPr>
          <p:cNvPr id="728" name="Google Shape;728;p41"/>
          <p:cNvSpPr/>
          <p:nvPr/>
        </p:nvSpPr>
        <p:spPr>
          <a:xfrm>
            <a:off x="2524275" y="2563100"/>
            <a:ext cx="131100" cy="3318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29" name="Google Shape;729;p41"/>
          <p:cNvCxnSpPr/>
          <p:nvPr/>
        </p:nvCxnSpPr>
        <p:spPr>
          <a:xfrm>
            <a:off x="580175" y="2634675"/>
            <a:ext cx="1920300" cy="0"/>
          </a:xfrm>
          <a:prstGeom prst="straightConnector1">
            <a:avLst/>
          </a:prstGeom>
          <a:noFill/>
          <a:ln cap="flat" cmpd="sng" w="9525">
            <a:solidFill>
              <a:schemeClr val="dk2"/>
            </a:solidFill>
            <a:prstDash val="solid"/>
            <a:round/>
            <a:headEnd len="med" w="med" type="none"/>
            <a:tailEnd len="med" w="med" type="triangle"/>
          </a:ln>
        </p:spPr>
      </p:cxnSp>
      <p:sp>
        <p:nvSpPr>
          <p:cNvPr id="730" name="Google Shape;730;p41"/>
          <p:cNvSpPr txBox="1"/>
          <p:nvPr/>
        </p:nvSpPr>
        <p:spPr>
          <a:xfrm>
            <a:off x="675575" y="2236448"/>
            <a:ext cx="2061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1: </a:t>
            </a:r>
            <a:r>
              <a:rPr lang="en-GB">
                <a:solidFill>
                  <a:schemeClr val="dk2"/>
                </a:solidFill>
                <a:latin typeface="Times New Roman"/>
                <a:ea typeface="Times New Roman"/>
                <a:cs typeface="Times New Roman"/>
                <a:sym typeface="Times New Roman"/>
              </a:rPr>
              <a:t>Mượn(danh mục sách)</a:t>
            </a:r>
            <a:endParaRPr>
              <a:solidFill>
                <a:schemeClr val="dk2"/>
              </a:solidFill>
              <a:latin typeface="Times New Roman"/>
              <a:ea typeface="Times New Roman"/>
              <a:cs typeface="Times New Roman"/>
              <a:sym typeface="Times New Roman"/>
            </a:endParaRPr>
          </a:p>
        </p:txBody>
      </p:sp>
      <p:sp>
        <p:nvSpPr>
          <p:cNvPr id="731" name="Google Shape;731;p41"/>
          <p:cNvSpPr/>
          <p:nvPr/>
        </p:nvSpPr>
        <p:spPr>
          <a:xfrm>
            <a:off x="543075" y="2889365"/>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32" name="Google Shape;732;p41"/>
          <p:cNvCxnSpPr/>
          <p:nvPr/>
        </p:nvCxnSpPr>
        <p:spPr>
          <a:xfrm rot="10800000">
            <a:off x="675525" y="2976840"/>
            <a:ext cx="1872600" cy="0"/>
          </a:xfrm>
          <a:prstGeom prst="straightConnector1">
            <a:avLst/>
          </a:prstGeom>
          <a:noFill/>
          <a:ln cap="flat" cmpd="sng" w="9525">
            <a:solidFill>
              <a:schemeClr val="dk2"/>
            </a:solidFill>
            <a:prstDash val="solid"/>
            <a:round/>
            <a:headEnd len="med" w="med" type="none"/>
            <a:tailEnd len="med" w="med" type="triangle"/>
          </a:ln>
        </p:spPr>
      </p:cxnSp>
      <p:sp>
        <p:nvSpPr>
          <p:cNvPr id="733" name="Google Shape;733;p41"/>
          <p:cNvSpPr txBox="1"/>
          <p:nvPr/>
        </p:nvSpPr>
        <p:spPr>
          <a:xfrm>
            <a:off x="675575" y="2638911"/>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2: </a:t>
            </a:r>
            <a:r>
              <a:rPr lang="en-GB">
                <a:solidFill>
                  <a:schemeClr val="dk2"/>
                </a:solidFill>
                <a:latin typeface="Times New Roman"/>
                <a:ea typeface="Times New Roman"/>
                <a:cs typeface="Times New Roman"/>
                <a:sym typeface="Times New Roman"/>
              </a:rPr>
              <a:t>Xuất trình thẻ ()</a:t>
            </a:r>
            <a:endParaRPr>
              <a:solidFill>
                <a:schemeClr val="dk2"/>
              </a:solidFill>
              <a:latin typeface="Times New Roman"/>
              <a:ea typeface="Times New Roman"/>
              <a:cs typeface="Times New Roman"/>
              <a:sym typeface="Times New Roman"/>
            </a:endParaRPr>
          </a:p>
        </p:txBody>
      </p:sp>
      <p:cxnSp>
        <p:nvCxnSpPr>
          <p:cNvPr id="734" name="Google Shape;734;p41"/>
          <p:cNvCxnSpPr/>
          <p:nvPr/>
        </p:nvCxnSpPr>
        <p:spPr>
          <a:xfrm>
            <a:off x="708721" y="3277667"/>
            <a:ext cx="1815600" cy="2100"/>
          </a:xfrm>
          <a:prstGeom prst="straightConnector1">
            <a:avLst/>
          </a:prstGeom>
          <a:noFill/>
          <a:ln cap="flat" cmpd="sng" w="9525">
            <a:solidFill>
              <a:schemeClr val="dk2"/>
            </a:solidFill>
            <a:prstDash val="dash"/>
            <a:round/>
            <a:headEnd len="med" w="med" type="none"/>
            <a:tailEnd len="med" w="med" type="triangle"/>
          </a:ln>
        </p:spPr>
      </p:cxnSp>
      <p:sp>
        <p:nvSpPr>
          <p:cNvPr id="735" name="Google Shape;735;p41"/>
          <p:cNvSpPr txBox="1"/>
          <p:nvPr/>
        </p:nvSpPr>
        <p:spPr>
          <a:xfrm>
            <a:off x="980375" y="2943711"/>
            <a:ext cx="19812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3: </a:t>
            </a:r>
            <a:r>
              <a:rPr lang="en-GB">
                <a:solidFill>
                  <a:schemeClr val="dk2"/>
                </a:solidFill>
                <a:latin typeface="Times New Roman"/>
                <a:ea typeface="Times New Roman"/>
                <a:cs typeface="Times New Roman"/>
                <a:sym typeface="Times New Roman"/>
              </a:rPr>
              <a:t>Thẻ bạn đọc</a:t>
            </a:r>
            <a:endParaRPr>
              <a:solidFill>
                <a:schemeClr val="dk2"/>
              </a:solidFill>
              <a:latin typeface="Times New Roman"/>
              <a:ea typeface="Times New Roman"/>
              <a:cs typeface="Times New Roman"/>
              <a:sym typeface="Times New Roman"/>
            </a:endParaRPr>
          </a:p>
        </p:txBody>
      </p:sp>
      <p:sp>
        <p:nvSpPr>
          <p:cNvPr id="736" name="Google Shape;736;p41"/>
          <p:cNvSpPr/>
          <p:nvPr/>
        </p:nvSpPr>
        <p:spPr>
          <a:xfrm>
            <a:off x="3667275" y="3325100"/>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37" name="Google Shape;737;p41"/>
          <p:cNvSpPr txBox="1"/>
          <p:nvPr/>
        </p:nvSpPr>
        <p:spPr>
          <a:xfrm>
            <a:off x="2656775" y="2998450"/>
            <a:ext cx="1121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4: Kiểm tra()</a:t>
            </a:r>
            <a:endParaRPr>
              <a:solidFill>
                <a:schemeClr val="dk2"/>
              </a:solidFill>
              <a:latin typeface="Times New Roman"/>
              <a:ea typeface="Times New Roman"/>
              <a:cs typeface="Times New Roman"/>
              <a:sym typeface="Times New Roman"/>
            </a:endParaRPr>
          </a:p>
        </p:txBody>
      </p:sp>
      <p:cxnSp>
        <p:nvCxnSpPr>
          <p:cNvPr id="738" name="Google Shape;738;p41"/>
          <p:cNvCxnSpPr/>
          <p:nvPr/>
        </p:nvCxnSpPr>
        <p:spPr>
          <a:xfrm>
            <a:off x="2642325" y="3367825"/>
            <a:ext cx="1030200" cy="0"/>
          </a:xfrm>
          <a:prstGeom prst="straightConnector1">
            <a:avLst/>
          </a:prstGeom>
          <a:noFill/>
          <a:ln cap="flat" cmpd="sng" w="9525">
            <a:solidFill>
              <a:schemeClr val="dk2"/>
            </a:solidFill>
            <a:prstDash val="solid"/>
            <a:round/>
            <a:headEnd len="med" w="med" type="none"/>
            <a:tailEnd len="med" w="med" type="triangle"/>
          </a:ln>
        </p:spPr>
      </p:cxnSp>
      <p:sp>
        <p:nvSpPr>
          <p:cNvPr id="739" name="Google Shape;739;p41"/>
          <p:cNvSpPr txBox="1"/>
          <p:nvPr/>
        </p:nvSpPr>
        <p:spPr>
          <a:xfrm>
            <a:off x="2764200" y="3379450"/>
            <a:ext cx="9528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5: Hợp lệ</a:t>
            </a:r>
            <a:endParaRPr>
              <a:solidFill>
                <a:schemeClr val="dk2"/>
              </a:solidFill>
              <a:latin typeface="Times New Roman"/>
              <a:ea typeface="Times New Roman"/>
              <a:cs typeface="Times New Roman"/>
              <a:sym typeface="Times New Roman"/>
            </a:endParaRPr>
          </a:p>
        </p:txBody>
      </p:sp>
      <p:cxnSp>
        <p:nvCxnSpPr>
          <p:cNvPr id="740" name="Google Shape;740;p41"/>
          <p:cNvCxnSpPr>
            <a:stCxn id="736" idx="2"/>
          </p:cNvCxnSpPr>
          <p:nvPr/>
        </p:nvCxnSpPr>
        <p:spPr>
          <a:xfrm rot="10800000">
            <a:off x="2685225" y="3754400"/>
            <a:ext cx="1047600" cy="0"/>
          </a:xfrm>
          <a:prstGeom prst="straightConnector1">
            <a:avLst/>
          </a:prstGeom>
          <a:noFill/>
          <a:ln cap="flat" cmpd="sng" w="9525">
            <a:solidFill>
              <a:schemeClr val="dk2"/>
            </a:solidFill>
            <a:prstDash val="dash"/>
            <a:round/>
            <a:headEnd len="med" w="med" type="none"/>
            <a:tailEnd len="med" w="med" type="triangle"/>
          </a:ln>
        </p:spPr>
      </p:cxnSp>
      <p:cxnSp>
        <p:nvCxnSpPr>
          <p:cNvPr id="741" name="Google Shape;741;p41"/>
          <p:cNvCxnSpPr/>
          <p:nvPr/>
        </p:nvCxnSpPr>
        <p:spPr>
          <a:xfrm>
            <a:off x="5012500" y="1712250"/>
            <a:ext cx="7200" cy="4351500"/>
          </a:xfrm>
          <a:prstGeom prst="straightConnector1">
            <a:avLst/>
          </a:prstGeom>
          <a:noFill/>
          <a:ln cap="flat" cmpd="sng" w="9525">
            <a:solidFill>
              <a:schemeClr val="dk2"/>
            </a:solidFill>
            <a:prstDash val="dash"/>
            <a:round/>
            <a:headEnd len="med" w="med" type="none"/>
            <a:tailEnd len="med" w="med" type="none"/>
          </a:ln>
        </p:spPr>
      </p:cxnSp>
      <p:cxnSp>
        <p:nvCxnSpPr>
          <p:cNvPr id="742" name="Google Shape;742;p41"/>
          <p:cNvCxnSpPr/>
          <p:nvPr/>
        </p:nvCxnSpPr>
        <p:spPr>
          <a:xfrm>
            <a:off x="6231700" y="1712250"/>
            <a:ext cx="7200" cy="4351500"/>
          </a:xfrm>
          <a:prstGeom prst="straightConnector1">
            <a:avLst/>
          </a:prstGeom>
          <a:noFill/>
          <a:ln cap="flat" cmpd="sng" w="9525">
            <a:solidFill>
              <a:schemeClr val="dk2"/>
            </a:solidFill>
            <a:prstDash val="dash"/>
            <a:round/>
            <a:headEnd len="med" w="med" type="none"/>
            <a:tailEnd len="med" w="med" type="none"/>
          </a:ln>
        </p:spPr>
      </p:cxnSp>
      <p:cxnSp>
        <p:nvCxnSpPr>
          <p:cNvPr id="743" name="Google Shape;743;p41"/>
          <p:cNvCxnSpPr/>
          <p:nvPr/>
        </p:nvCxnSpPr>
        <p:spPr>
          <a:xfrm>
            <a:off x="7755700" y="1712250"/>
            <a:ext cx="7200" cy="4351500"/>
          </a:xfrm>
          <a:prstGeom prst="straightConnector1">
            <a:avLst/>
          </a:prstGeom>
          <a:noFill/>
          <a:ln cap="flat" cmpd="sng" w="9525">
            <a:solidFill>
              <a:schemeClr val="dk2"/>
            </a:solidFill>
            <a:prstDash val="dash"/>
            <a:round/>
            <a:headEnd len="med" w="med" type="none"/>
            <a:tailEnd len="med" w="med" type="none"/>
          </a:ln>
        </p:spPr>
      </p:cxnSp>
      <p:sp>
        <p:nvSpPr>
          <p:cNvPr id="744" name="Google Shape;744;p41"/>
          <p:cNvSpPr/>
          <p:nvPr/>
        </p:nvSpPr>
        <p:spPr>
          <a:xfrm>
            <a:off x="4962675" y="3858500"/>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45" name="Google Shape;745;p41"/>
          <p:cNvCxnSpPr/>
          <p:nvPr/>
        </p:nvCxnSpPr>
        <p:spPr>
          <a:xfrm>
            <a:off x="2653057" y="3901225"/>
            <a:ext cx="2286000" cy="0"/>
          </a:xfrm>
          <a:prstGeom prst="straightConnector1">
            <a:avLst/>
          </a:prstGeom>
          <a:noFill/>
          <a:ln cap="flat" cmpd="sng" w="9525">
            <a:solidFill>
              <a:schemeClr val="dk2"/>
            </a:solidFill>
            <a:prstDash val="solid"/>
            <a:round/>
            <a:headEnd len="med" w="med" type="none"/>
            <a:tailEnd len="med" w="med" type="triangle"/>
          </a:ln>
        </p:spPr>
      </p:cxnSp>
      <p:sp>
        <p:nvSpPr>
          <p:cNvPr id="746" name="Google Shape;746;p41"/>
          <p:cNvSpPr txBox="1"/>
          <p:nvPr/>
        </p:nvSpPr>
        <p:spPr>
          <a:xfrm>
            <a:off x="3858575" y="3564050"/>
            <a:ext cx="12429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6: </a:t>
            </a:r>
            <a:r>
              <a:rPr lang="en-GB">
                <a:solidFill>
                  <a:schemeClr val="dk2"/>
                </a:solidFill>
                <a:latin typeface="Times New Roman"/>
                <a:ea typeface="Times New Roman"/>
                <a:cs typeface="Times New Roman"/>
                <a:sym typeface="Times New Roman"/>
              </a:rPr>
              <a:t>Kiểm tra()</a:t>
            </a:r>
            <a:endParaRPr>
              <a:solidFill>
                <a:schemeClr val="dk2"/>
              </a:solidFill>
              <a:latin typeface="Times New Roman"/>
              <a:ea typeface="Times New Roman"/>
              <a:cs typeface="Times New Roman"/>
              <a:sym typeface="Times New Roman"/>
            </a:endParaRPr>
          </a:p>
        </p:txBody>
      </p:sp>
      <p:sp>
        <p:nvSpPr>
          <p:cNvPr id="747" name="Google Shape;747;p41"/>
          <p:cNvSpPr txBox="1"/>
          <p:nvPr/>
        </p:nvSpPr>
        <p:spPr>
          <a:xfrm>
            <a:off x="2885377" y="3902125"/>
            <a:ext cx="20616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7: Không có sách quá hạn</a:t>
            </a:r>
            <a:endParaRPr>
              <a:solidFill>
                <a:schemeClr val="dk2"/>
              </a:solidFill>
              <a:latin typeface="Times New Roman"/>
              <a:ea typeface="Times New Roman"/>
              <a:cs typeface="Times New Roman"/>
              <a:sym typeface="Times New Roman"/>
            </a:endParaRPr>
          </a:p>
        </p:txBody>
      </p:sp>
      <p:cxnSp>
        <p:nvCxnSpPr>
          <p:cNvPr id="748" name="Google Shape;748;p41"/>
          <p:cNvCxnSpPr/>
          <p:nvPr/>
        </p:nvCxnSpPr>
        <p:spPr>
          <a:xfrm rot="10800000">
            <a:off x="2685157" y="4277068"/>
            <a:ext cx="2277600" cy="0"/>
          </a:xfrm>
          <a:prstGeom prst="straightConnector1">
            <a:avLst/>
          </a:prstGeom>
          <a:noFill/>
          <a:ln cap="flat" cmpd="sng" w="9525">
            <a:solidFill>
              <a:schemeClr val="dk2"/>
            </a:solidFill>
            <a:prstDash val="dash"/>
            <a:round/>
            <a:headEnd len="med" w="med" type="none"/>
            <a:tailEnd len="med" w="med" type="triangle"/>
          </a:ln>
        </p:spPr>
      </p:cxnSp>
      <p:sp>
        <p:nvSpPr>
          <p:cNvPr id="749" name="Google Shape;749;p41"/>
          <p:cNvSpPr/>
          <p:nvPr/>
        </p:nvSpPr>
        <p:spPr>
          <a:xfrm>
            <a:off x="2305325" y="4349850"/>
            <a:ext cx="5885700" cy="1252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50" name="Google Shape;750;p41"/>
          <p:cNvSpPr/>
          <p:nvPr/>
        </p:nvSpPr>
        <p:spPr>
          <a:xfrm rot="10800000">
            <a:off x="2305325" y="4349840"/>
            <a:ext cx="24255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51" name="Google Shape;751;p41"/>
          <p:cNvSpPr txBox="1"/>
          <p:nvPr/>
        </p:nvSpPr>
        <p:spPr>
          <a:xfrm>
            <a:off x="2283850" y="4263997"/>
            <a:ext cx="2585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Times New Roman"/>
                <a:ea typeface="Times New Roman"/>
                <a:cs typeface="Times New Roman"/>
                <a:sym typeface="Times New Roman"/>
              </a:rPr>
              <a:t>loop </a:t>
            </a:r>
            <a:r>
              <a:rPr lang="en-GB" sz="1600">
                <a:solidFill>
                  <a:schemeClr val="dk2"/>
                </a:solidFill>
                <a:latin typeface="Times New Roman"/>
                <a:ea typeface="Times New Roman"/>
                <a:cs typeface="Times New Roman"/>
                <a:sym typeface="Times New Roman"/>
              </a:rPr>
              <a:t>Sách mượn</a:t>
            </a:r>
            <a:endParaRPr sz="1600">
              <a:solidFill>
                <a:schemeClr val="dk2"/>
              </a:solidFill>
              <a:latin typeface="Times New Roman"/>
              <a:ea typeface="Times New Roman"/>
              <a:cs typeface="Times New Roman"/>
              <a:sym typeface="Times New Roman"/>
            </a:endParaRPr>
          </a:p>
        </p:txBody>
      </p:sp>
      <p:cxnSp>
        <p:nvCxnSpPr>
          <p:cNvPr id="752" name="Google Shape;752;p41"/>
          <p:cNvCxnSpPr/>
          <p:nvPr/>
        </p:nvCxnSpPr>
        <p:spPr>
          <a:xfrm>
            <a:off x="2653057" y="4968025"/>
            <a:ext cx="3488100" cy="0"/>
          </a:xfrm>
          <a:prstGeom prst="straightConnector1">
            <a:avLst/>
          </a:prstGeom>
          <a:noFill/>
          <a:ln cap="flat" cmpd="sng" w="9525">
            <a:solidFill>
              <a:schemeClr val="dk2"/>
            </a:solidFill>
            <a:prstDash val="solid"/>
            <a:round/>
            <a:headEnd len="med" w="med" type="none"/>
            <a:tailEnd len="med" w="med" type="triangle"/>
          </a:ln>
        </p:spPr>
      </p:cxnSp>
      <p:sp>
        <p:nvSpPr>
          <p:cNvPr id="753" name="Google Shape;753;p41"/>
          <p:cNvSpPr txBox="1"/>
          <p:nvPr/>
        </p:nvSpPr>
        <p:spPr>
          <a:xfrm>
            <a:off x="3875975" y="4630850"/>
            <a:ext cx="15783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8: Tìm kiếm</a:t>
            </a:r>
            <a:r>
              <a:rPr lang="en-GB">
                <a:solidFill>
                  <a:schemeClr val="dk2"/>
                </a:solidFill>
                <a:latin typeface="Times New Roman"/>
                <a:ea typeface="Times New Roman"/>
                <a:cs typeface="Times New Roman"/>
                <a:sym typeface="Times New Roman"/>
              </a:rPr>
              <a:t>(</a:t>
            </a:r>
            <a:r>
              <a:rPr lang="en-GB">
                <a:solidFill>
                  <a:schemeClr val="dk2"/>
                </a:solidFill>
                <a:latin typeface="Times New Roman"/>
                <a:ea typeface="Times New Roman"/>
                <a:cs typeface="Times New Roman"/>
                <a:sym typeface="Times New Roman"/>
              </a:rPr>
              <a:t>Sách</a:t>
            </a:r>
            <a:r>
              <a:rPr lang="en-GB">
                <a:solidFill>
                  <a:schemeClr val="dk2"/>
                </a:solidFill>
                <a:latin typeface="Times New Roman"/>
                <a:ea typeface="Times New Roman"/>
                <a:cs typeface="Times New Roman"/>
                <a:sym typeface="Times New Roman"/>
              </a:rPr>
              <a:t>)</a:t>
            </a:r>
            <a:endParaRPr>
              <a:solidFill>
                <a:schemeClr val="dk2"/>
              </a:solidFill>
              <a:latin typeface="Times New Roman"/>
              <a:ea typeface="Times New Roman"/>
              <a:cs typeface="Times New Roman"/>
              <a:sym typeface="Times New Roman"/>
            </a:endParaRPr>
          </a:p>
        </p:txBody>
      </p:sp>
      <p:sp>
        <p:nvSpPr>
          <p:cNvPr id="754" name="Google Shape;754;p41"/>
          <p:cNvSpPr/>
          <p:nvPr/>
        </p:nvSpPr>
        <p:spPr>
          <a:xfrm>
            <a:off x="6138945" y="4664503"/>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55" name="Google Shape;755;p41"/>
          <p:cNvSpPr/>
          <p:nvPr/>
        </p:nvSpPr>
        <p:spPr>
          <a:xfrm>
            <a:off x="7717681" y="5132435"/>
            <a:ext cx="131100" cy="429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56" name="Google Shape;756;p41"/>
          <p:cNvCxnSpPr/>
          <p:nvPr/>
        </p:nvCxnSpPr>
        <p:spPr>
          <a:xfrm>
            <a:off x="2653057" y="5425225"/>
            <a:ext cx="5033400" cy="0"/>
          </a:xfrm>
          <a:prstGeom prst="straightConnector1">
            <a:avLst/>
          </a:prstGeom>
          <a:noFill/>
          <a:ln cap="flat" cmpd="sng" w="9525">
            <a:solidFill>
              <a:schemeClr val="dk2"/>
            </a:solidFill>
            <a:prstDash val="solid"/>
            <a:round/>
            <a:headEnd len="med" w="med" type="none"/>
            <a:tailEnd len="med" w="med" type="triangle"/>
          </a:ln>
        </p:spPr>
      </p:cxnSp>
      <p:sp>
        <p:nvSpPr>
          <p:cNvPr id="757" name="Google Shape;757;p41"/>
          <p:cNvSpPr txBox="1"/>
          <p:nvPr/>
        </p:nvSpPr>
        <p:spPr>
          <a:xfrm>
            <a:off x="3875975" y="5088050"/>
            <a:ext cx="17424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9: </a:t>
            </a:r>
            <a:r>
              <a:rPr lang="en-GB">
                <a:solidFill>
                  <a:schemeClr val="dk2"/>
                </a:solidFill>
                <a:latin typeface="Times New Roman"/>
                <a:ea typeface="Times New Roman"/>
                <a:cs typeface="Times New Roman"/>
                <a:sym typeface="Times New Roman"/>
              </a:rPr>
              <a:t>Tìm </a:t>
            </a:r>
            <a:r>
              <a:rPr lang="en-GB">
                <a:solidFill>
                  <a:schemeClr val="dk2"/>
                </a:solidFill>
                <a:latin typeface="Times New Roman"/>
                <a:ea typeface="Times New Roman"/>
                <a:cs typeface="Times New Roman"/>
                <a:sym typeface="Times New Roman"/>
              </a:rPr>
              <a:t>vị trí</a:t>
            </a:r>
            <a:r>
              <a:rPr lang="en-GB">
                <a:solidFill>
                  <a:schemeClr val="dk2"/>
                </a:solidFill>
                <a:latin typeface="Times New Roman"/>
                <a:ea typeface="Times New Roman"/>
                <a:cs typeface="Times New Roman"/>
                <a:sym typeface="Times New Roman"/>
              </a:rPr>
              <a:t>(Sách)</a:t>
            </a:r>
            <a:endParaRPr>
              <a:solidFill>
                <a:schemeClr val="dk2"/>
              </a:solidFill>
              <a:latin typeface="Times New Roman"/>
              <a:ea typeface="Times New Roman"/>
              <a:cs typeface="Times New Roman"/>
              <a:sym typeface="Times New Roman"/>
            </a:endParaRPr>
          </a:p>
        </p:txBody>
      </p:sp>
      <p:cxnSp>
        <p:nvCxnSpPr>
          <p:cNvPr id="758" name="Google Shape;758;p41"/>
          <p:cNvCxnSpPr/>
          <p:nvPr/>
        </p:nvCxnSpPr>
        <p:spPr>
          <a:xfrm flipH="1">
            <a:off x="614025" y="5879524"/>
            <a:ext cx="1975800" cy="10500"/>
          </a:xfrm>
          <a:prstGeom prst="straightConnector1">
            <a:avLst/>
          </a:prstGeom>
          <a:noFill/>
          <a:ln cap="flat" cmpd="sng" w="9525">
            <a:solidFill>
              <a:schemeClr val="dk2"/>
            </a:solidFill>
            <a:prstDash val="dash"/>
            <a:round/>
            <a:headEnd len="med" w="med" type="none"/>
            <a:tailEnd len="med" w="med" type="triangle"/>
          </a:ln>
        </p:spPr>
      </p:cxnSp>
      <p:sp>
        <p:nvSpPr>
          <p:cNvPr id="759" name="Google Shape;759;p41"/>
          <p:cNvSpPr txBox="1"/>
          <p:nvPr/>
        </p:nvSpPr>
        <p:spPr>
          <a:xfrm>
            <a:off x="671375" y="5565624"/>
            <a:ext cx="20616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10: Sách được yêu cầu</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65" name="Google Shape;765;p42"/>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bước vẽ </a:t>
            </a:r>
            <a:r>
              <a:rPr lang="en-GB"/>
              <a:t>sơ đồ</a:t>
            </a:r>
            <a:r>
              <a:rPr lang="en-GB"/>
              <a:t> tuần tự</a:t>
            </a:r>
            <a:endParaRPr/>
          </a:p>
        </p:txBody>
      </p:sp>
      <p:sp>
        <p:nvSpPr>
          <p:cNvPr id="766" name="Google Shape;766;p42"/>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GB"/>
              <a:t>Th</a:t>
            </a:r>
            <a:r>
              <a:rPr lang="en-GB"/>
              <a:t>iết lập ngữ cảnh</a:t>
            </a:r>
            <a:endParaRPr/>
          </a:p>
          <a:p>
            <a:pPr indent="-381000" lvl="0" marL="457200" rtl="0" algn="l">
              <a:spcBef>
                <a:spcPts val="0"/>
              </a:spcBef>
              <a:spcAft>
                <a:spcPts val="0"/>
              </a:spcAft>
              <a:buSzPts val="2400"/>
              <a:buAutoNum type="arabicPeriod"/>
            </a:pPr>
            <a:r>
              <a:rPr lang="en-GB"/>
              <a:t>Xác định các tác nhân và các đối tượng</a:t>
            </a:r>
            <a:endParaRPr/>
          </a:p>
          <a:p>
            <a:pPr indent="-381000" lvl="0" marL="457200" rtl="0" algn="l">
              <a:spcBef>
                <a:spcPts val="0"/>
              </a:spcBef>
              <a:spcAft>
                <a:spcPts val="0"/>
              </a:spcAft>
              <a:buSzPts val="2400"/>
              <a:buAutoNum type="arabicPeriod"/>
            </a:pPr>
            <a:r>
              <a:rPr lang="en-GB"/>
              <a:t>Thiết lập các trục thời gian</a:t>
            </a:r>
            <a:endParaRPr/>
          </a:p>
          <a:p>
            <a:pPr indent="-381000" lvl="0" marL="457200" rtl="0" algn="l">
              <a:spcBef>
                <a:spcPts val="0"/>
              </a:spcBef>
              <a:spcAft>
                <a:spcPts val="0"/>
              </a:spcAft>
              <a:buSzPts val="2400"/>
              <a:buAutoNum type="arabicPeriod"/>
            </a:pPr>
            <a:r>
              <a:rPr lang="en-GB"/>
              <a:t>Biểu diễn thông điệp</a:t>
            </a:r>
            <a:endParaRPr/>
          </a:p>
          <a:p>
            <a:pPr indent="-368300" lvl="1" marL="914400" rtl="0" algn="l">
              <a:spcBef>
                <a:spcPts val="0"/>
              </a:spcBef>
              <a:spcAft>
                <a:spcPts val="0"/>
              </a:spcAft>
              <a:buSzPts val="2200"/>
              <a:buAutoNum type="alphaLcPeriod"/>
            </a:pPr>
            <a:r>
              <a:rPr lang="en-GB"/>
              <a:t>Xác định đối tượng gửi và đối tượng nhận</a:t>
            </a:r>
            <a:endParaRPr/>
          </a:p>
          <a:p>
            <a:pPr indent="-368300" lvl="1" marL="914400" rtl="0" algn="l">
              <a:spcBef>
                <a:spcPts val="0"/>
              </a:spcBef>
              <a:spcAft>
                <a:spcPts val="0"/>
              </a:spcAft>
              <a:buSzPts val="2200"/>
              <a:buAutoNum type="alphaLcPeriod"/>
            </a:pPr>
            <a:r>
              <a:rPr lang="en-GB"/>
              <a:t>Các tham số</a:t>
            </a:r>
            <a:endParaRPr/>
          </a:p>
          <a:p>
            <a:pPr indent="-368300" lvl="1" marL="914400" rtl="0" algn="l">
              <a:spcBef>
                <a:spcPts val="0"/>
              </a:spcBef>
              <a:spcAft>
                <a:spcPts val="0"/>
              </a:spcAft>
              <a:buSzPts val="2200"/>
              <a:buAutoNum type="alphaLcPeriod"/>
            </a:pPr>
            <a:r>
              <a:rPr lang="en-GB"/>
              <a:t>Có thể bỏ qua thông điệp trả về nếu không có trao đổi dữ liệu</a:t>
            </a:r>
            <a:endParaRPr/>
          </a:p>
          <a:p>
            <a:pPr indent="-381000" lvl="0" marL="457200" rtl="0" algn="l">
              <a:spcBef>
                <a:spcPts val="0"/>
              </a:spcBef>
              <a:spcAft>
                <a:spcPts val="0"/>
              </a:spcAft>
              <a:buSzPts val="2400"/>
              <a:buAutoNum type="arabicPeriod"/>
            </a:pPr>
            <a:r>
              <a:rPr lang="en-GB"/>
              <a:t>Biểu diễn xử lý thông điệp trên các trục thời gian </a:t>
            </a:r>
            <a:endParaRPr/>
          </a:p>
          <a:p>
            <a:pPr indent="-381000" lvl="0" marL="457200" rtl="0" algn="l">
              <a:spcBef>
                <a:spcPts val="0"/>
              </a:spcBef>
              <a:spcAft>
                <a:spcPts val="0"/>
              </a:spcAft>
              <a:buSzPts val="2400"/>
              <a:buAutoNum type="arabicPeriod"/>
            </a:pPr>
            <a:r>
              <a:rPr lang="en-GB"/>
              <a:t>Kiểm tra mô hình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43"/>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72" name="Google Shape;772;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3" name="Google Shape;773;p43"/>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trạng thái của đối tượng</a:t>
            </a:r>
            <a:endParaRPr/>
          </a:p>
          <a:p>
            <a:pPr indent="-368300" lvl="1" marL="914400" rtl="0" algn="l">
              <a:spcBef>
                <a:spcPts val="0"/>
              </a:spcBef>
              <a:spcAft>
                <a:spcPts val="0"/>
              </a:spcAft>
              <a:buSzPts val="2200"/>
              <a:buChar char="○"/>
            </a:pPr>
            <a:r>
              <a:rPr lang="en-GB"/>
              <a:t>Sơ đồ</a:t>
            </a:r>
            <a:r>
              <a:rPr lang="en-GB"/>
              <a:t> máy trạng thái</a:t>
            </a:r>
            <a:endParaRPr/>
          </a:p>
          <a:p>
            <a:pPr indent="-381000" lvl="0" marL="457200" rtl="0" algn="l">
              <a:spcBef>
                <a:spcPts val="0"/>
              </a:spcBef>
              <a:spcAft>
                <a:spcPts val="0"/>
              </a:spcAft>
              <a:buSzPts val="2400"/>
              <a:buChar char="●"/>
            </a:pPr>
            <a:r>
              <a:rPr b="1" lang="en-GB"/>
              <a:t>Các mô hình tương tác</a:t>
            </a:r>
            <a:endParaRPr b="1"/>
          </a:p>
          <a:p>
            <a:pPr indent="-368300" lvl="1" marL="914400" rtl="0" algn="l">
              <a:spcBef>
                <a:spcPts val="0"/>
              </a:spcBef>
              <a:spcAft>
                <a:spcPts val="0"/>
              </a:spcAft>
              <a:buSzPts val="2200"/>
              <a:buChar char="○"/>
            </a:pPr>
            <a:r>
              <a:rPr lang="en-GB"/>
              <a:t>Sơ đồ</a:t>
            </a:r>
            <a:r>
              <a:rPr lang="en-GB"/>
              <a:t> tuần tự</a:t>
            </a:r>
            <a:endParaRPr/>
          </a:p>
          <a:p>
            <a:pPr indent="-368300" lvl="1" marL="914400" rtl="0" algn="l">
              <a:spcBef>
                <a:spcPts val="0"/>
              </a:spcBef>
              <a:spcAft>
                <a:spcPts val="0"/>
              </a:spcAft>
              <a:buSzPts val="2200"/>
              <a:buChar char="○"/>
            </a:pPr>
            <a:r>
              <a:rPr lang="en-GB"/>
              <a:t>Sơ đồ</a:t>
            </a:r>
            <a:r>
              <a:rPr lang="en-GB"/>
              <a:t> giao tiếp</a:t>
            </a:r>
            <a:endParaRPr/>
          </a:p>
          <a:p>
            <a:pPr indent="-381000" lvl="0" marL="457200" rtl="0" algn="l">
              <a:spcBef>
                <a:spcPts val="0"/>
              </a:spcBef>
              <a:spcAft>
                <a:spcPts val="0"/>
              </a:spcAft>
              <a:buSzPts val="2400"/>
              <a:buChar char="●"/>
            </a:pPr>
            <a:r>
              <a:rPr lang="en-GB"/>
              <a:t>Kỹ thuật phát hiện các mối quan hệ</a:t>
            </a:r>
            <a:endParaRPr/>
          </a:p>
          <a:p>
            <a:pPr indent="-368300" lvl="1" marL="914400" rtl="0" algn="l">
              <a:spcBef>
                <a:spcPts val="0"/>
              </a:spcBef>
              <a:spcAft>
                <a:spcPts val="0"/>
              </a:spcAft>
              <a:buSzPts val="2200"/>
              <a:buChar char="○"/>
            </a:pPr>
            <a:r>
              <a:rPr lang="en-GB"/>
              <a:t>Phân tích ma trận CRUD(E)</a:t>
            </a:r>
            <a:endParaRPr/>
          </a:p>
          <a:p>
            <a:pPr indent="-381000" lvl="0" marL="457200" rtl="0" algn="l">
              <a:spcBef>
                <a:spcPts val="0"/>
              </a:spcBef>
              <a:spcAft>
                <a:spcPts val="0"/>
              </a:spcAft>
              <a:buSzPts val="2400"/>
              <a:buChar char="●"/>
            </a:pPr>
            <a:r>
              <a:rPr lang="en-GB"/>
              <a:t>Tổng kết các nội dung phân tích</a:t>
            </a:r>
            <a:endParaRPr/>
          </a:p>
        </p:txBody>
      </p:sp>
      <p:sp>
        <p:nvSpPr>
          <p:cNvPr id="774" name="Google Shape;774;p43"/>
          <p:cNvSpPr/>
          <p:nvPr/>
        </p:nvSpPr>
        <p:spPr>
          <a:xfrm>
            <a:off x="366525" y="2523325"/>
            <a:ext cx="5314800" cy="7635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44"/>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giao tiếp</a:t>
            </a:r>
            <a:endParaRPr/>
          </a:p>
        </p:txBody>
      </p:sp>
      <p:sp>
        <p:nvSpPr>
          <p:cNvPr id="780" name="Google Shape;780;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1" name="Google Shape;781;p44"/>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Tập trung hơn vào kiến trúc và quan hệ giữa các đối tượng</a:t>
            </a:r>
            <a:endParaRPr/>
          </a:p>
          <a:p>
            <a:pPr indent="-368300" lvl="1" marL="914400" rtl="0" algn="l">
              <a:spcBef>
                <a:spcPts val="0"/>
              </a:spcBef>
              <a:spcAft>
                <a:spcPts val="0"/>
              </a:spcAft>
              <a:buSzPts val="2200"/>
              <a:buChar char="○"/>
            </a:pPr>
            <a:r>
              <a:rPr lang="en-GB"/>
              <a:t>Cho phép tự do bố trí các đối tượng</a:t>
            </a:r>
            <a:endParaRPr/>
          </a:p>
          <a:p>
            <a:pPr indent="-368300" lvl="1" marL="914400" rtl="0" algn="l">
              <a:spcBef>
                <a:spcPts val="0"/>
              </a:spcBef>
              <a:spcAft>
                <a:spcPts val="0"/>
              </a:spcAft>
              <a:buSzPts val="2200"/>
              <a:buChar char="○"/>
            </a:pPr>
            <a:r>
              <a:rPr lang="en-GB"/>
              <a:t>Thường được sử dụng để tổng hợp kiến thức/brainstorming</a:t>
            </a:r>
            <a:endParaRPr/>
          </a:p>
          <a:p>
            <a:pPr indent="-381000" lvl="0" marL="457200" rtl="0" algn="l">
              <a:spcBef>
                <a:spcPts val="0"/>
              </a:spcBef>
              <a:spcAft>
                <a:spcPts val="0"/>
              </a:spcAft>
              <a:buSzPts val="2400"/>
              <a:buChar char="●"/>
            </a:pPr>
            <a:r>
              <a:rPr lang="en-GB"/>
              <a:t>Thứ tự gửi thông điệp được xác định bằng biểu thức thứ tự/</a:t>
            </a:r>
            <a:r>
              <a:rPr lang="en-GB"/>
              <a:t>mã thông điệp</a:t>
            </a:r>
            <a:endParaRPr/>
          </a:p>
          <a:p>
            <a:pPr indent="-368300" lvl="1" marL="914400" rtl="0" algn="l">
              <a:spcBef>
                <a:spcPts val="0"/>
              </a:spcBef>
              <a:spcAft>
                <a:spcPts val="0"/>
              </a:spcAft>
              <a:buSzPts val="2200"/>
              <a:buChar char="○"/>
            </a:pPr>
            <a:r>
              <a:rPr lang="en-GB"/>
              <a:t>Thông điệp được đánh số theo 1 sơ đồ thống nhất</a:t>
            </a:r>
            <a:endParaRPr/>
          </a:p>
          <a:p>
            <a:pPr indent="-368300" lvl="1" marL="914400" rtl="0" algn="l">
              <a:spcBef>
                <a:spcPts val="0"/>
              </a:spcBef>
              <a:spcAft>
                <a:spcPts val="0"/>
              </a:spcAft>
              <a:buSzPts val="2200"/>
              <a:buChar char="○"/>
            </a:pPr>
            <a:r>
              <a:rPr lang="en-GB"/>
              <a:t>Tương tự đánh số mục lục sách.</a:t>
            </a:r>
            <a:endParaRPr/>
          </a:p>
          <a:p>
            <a:pPr indent="-381000" lvl="0" marL="457200" rtl="0" algn="l">
              <a:spcBef>
                <a:spcPts val="0"/>
              </a:spcBef>
              <a:spcAft>
                <a:spcPts val="0"/>
              </a:spcAft>
              <a:buSzPts val="2400"/>
              <a:buChar char="●"/>
            </a:pPr>
            <a:r>
              <a:rPr lang="en-GB"/>
              <a:t>Có thể biểu diễn các nội dung tương đương với các </a:t>
            </a:r>
            <a:r>
              <a:rPr lang="en-GB"/>
              <a:t>sơ đồ</a:t>
            </a:r>
            <a:r>
              <a:rPr lang="en-GB"/>
              <a:t> tuần tự đơn giản, không sử dụng các thành phần cấu trúc phức tạp:</a:t>
            </a:r>
            <a:endParaRPr/>
          </a:p>
          <a:p>
            <a:pPr indent="-368300" lvl="1" marL="914400" rtl="0" algn="l">
              <a:spcBef>
                <a:spcPts val="0"/>
              </a:spcBef>
              <a:spcAft>
                <a:spcPts val="0"/>
              </a:spcAft>
              <a:buSzPts val="2200"/>
              <a:buChar char="○"/>
            </a:pPr>
            <a:r>
              <a:rPr lang="en-GB"/>
              <a:t>Tương tác mở rộng</a:t>
            </a:r>
            <a:endParaRPr/>
          </a:p>
          <a:p>
            <a:pPr indent="-368300" lvl="1" marL="914400" rtl="0" algn="l">
              <a:spcBef>
                <a:spcPts val="0"/>
              </a:spcBef>
              <a:spcAft>
                <a:spcPts val="0"/>
              </a:spcAft>
              <a:buSzPts val="2200"/>
              <a:buChar char="○"/>
            </a:pPr>
            <a:r>
              <a:rPr lang="en-GB"/>
              <a:t>Các vùng kết hợp</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7" name="Google Shape;787;p45"/>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thức </a:t>
            </a:r>
            <a:r>
              <a:rPr lang="en-GB"/>
              <a:t>thứ</a:t>
            </a:r>
            <a:r>
              <a:rPr lang="en-GB"/>
              <a:t> tự</a:t>
            </a:r>
            <a:endParaRPr/>
          </a:p>
        </p:txBody>
      </p:sp>
      <p:sp>
        <p:nvSpPr>
          <p:cNvPr id="788" name="Google Shape;788;p45"/>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Danh sách các </a:t>
            </a:r>
            <a:r>
              <a:rPr i="1" lang="en-GB"/>
              <a:t>thành phần thứ tự</a:t>
            </a:r>
            <a:r>
              <a:rPr lang="en-GB"/>
              <a:t> được ngăn cách bởi dấu . và kết thúc bởi dấu :</a:t>
            </a:r>
            <a:endParaRPr/>
          </a:p>
          <a:p>
            <a:pPr indent="-368300" lvl="1" marL="914400" rtl="0" algn="l">
              <a:spcBef>
                <a:spcPts val="0"/>
              </a:spcBef>
              <a:spcAft>
                <a:spcPts val="0"/>
              </a:spcAft>
              <a:buSzPts val="2200"/>
              <a:buChar char="○"/>
            </a:pPr>
            <a:r>
              <a:rPr lang="en-GB"/>
              <a:t>Định dạng: Thành phần thứ tự ’.’ …’:’</a:t>
            </a:r>
            <a:endParaRPr/>
          </a:p>
          <a:p>
            <a:pPr indent="-381000" lvl="0" marL="457200" rtl="0" algn="l">
              <a:spcBef>
                <a:spcPts val="0"/>
              </a:spcBef>
              <a:spcAft>
                <a:spcPts val="0"/>
              </a:spcAft>
              <a:buSzPts val="2400"/>
              <a:buChar char="●"/>
            </a:pPr>
            <a:r>
              <a:rPr lang="en-GB"/>
              <a:t>Mỗi thành phần biểu diễn 1 mức lồng nhau trong tương tác</a:t>
            </a:r>
            <a:endParaRPr/>
          </a:p>
          <a:p>
            <a:pPr indent="-368300" lvl="1" marL="914400" rtl="0" algn="l">
              <a:spcBef>
                <a:spcPts val="0"/>
              </a:spcBef>
              <a:spcAft>
                <a:spcPts val="0"/>
              </a:spcAft>
              <a:buSzPts val="2200"/>
              <a:buChar char="○"/>
            </a:pPr>
            <a:r>
              <a:rPr lang="en-GB"/>
              <a:t>Định dạng: [số nguyên|tên][điều khiển]</a:t>
            </a:r>
            <a:endParaRPr/>
          </a:p>
          <a:p>
            <a:pPr indent="-368300" lvl="1" marL="914400" rtl="0" algn="l">
              <a:spcBef>
                <a:spcPts val="0"/>
              </a:spcBef>
              <a:spcAft>
                <a:spcPts val="0"/>
              </a:spcAft>
              <a:buSzPts val="2200"/>
              <a:buChar char="○"/>
            </a:pPr>
            <a:r>
              <a:rPr lang="en-GB"/>
              <a:t>Số nguyên biểu diễn thứ tự tuần tự của thông điệp, thông điệp tiếp theo có giá trị số tăng thêm 1 đơn vị:</a:t>
            </a:r>
            <a:endParaRPr/>
          </a:p>
          <a:p>
            <a:pPr indent="-342900" lvl="2" marL="1371600" rtl="0" algn="l">
              <a:spcBef>
                <a:spcPts val="0"/>
              </a:spcBef>
              <a:spcAft>
                <a:spcPts val="0"/>
              </a:spcAft>
              <a:buSzPts val="1800"/>
              <a:buChar char="■"/>
            </a:pPr>
            <a:r>
              <a:rPr lang="en-GB"/>
              <a:t>Mỗi thành phần tương ứng với 1 mức trong chuỗi thông điệp lồng nhau.</a:t>
            </a:r>
            <a:endParaRPr/>
          </a:p>
          <a:p>
            <a:pPr indent="-342900" lvl="2" marL="1371600" rtl="0" algn="l">
              <a:spcBef>
                <a:spcPts val="0"/>
              </a:spcBef>
              <a:spcAft>
                <a:spcPts val="0"/>
              </a:spcAft>
              <a:buSzPts val="1800"/>
              <a:buChar char="■"/>
            </a:pPr>
            <a:r>
              <a:rPr lang="en-GB"/>
              <a:t>Các thông điệp song song có cùng số thứ tự và được phân biệt bằng tên</a:t>
            </a:r>
            <a:endParaRPr/>
          </a:p>
          <a:p>
            <a:pPr indent="-342900" lvl="2" marL="1371600" rtl="0" algn="l">
              <a:spcBef>
                <a:spcPts val="0"/>
              </a:spcBef>
              <a:spcAft>
                <a:spcPts val="0"/>
              </a:spcAft>
              <a:buSzPts val="1800"/>
              <a:buChar char="■"/>
            </a:pPr>
            <a:r>
              <a:rPr lang="en-GB"/>
              <a:t>3.2.3 là thông điệp được gửi tiếp theo sau 3.2.2 khi 3.2 được kích hoạt.</a:t>
            </a:r>
            <a:endParaRPr/>
          </a:p>
          <a:p>
            <a:pPr indent="-342900" lvl="2" marL="1371600" rtl="0" algn="l">
              <a:spcBef>
                <a:spcPts val="0"/>
              </a:spcBef>
              <a:spcAft>
                <a:spcPts val="0"/>
              </a:spcAft>
              <a:buSzPts val="1800"/>
              <a:buChar char="■"/>
            </a:pPr>
            <a:r>
              <a:rPr lang="en-GB"/>
              <a:t>3.1a và 3.1b diễn ra đồng thời khi 3 được kích hoạt</a:t>
            </a:r>
            <a:endParaRPr/>
          </a:p>
          <a:p>
            <a:pPr indent="-368300" lvl="1" marL="914400" rtl="0" algn="l">
              <a:spcBef>
                <a:spcPts val="0"/>
              </a:spcBef>
              <a:spcAft>
                <a:spcPts val="0"/>
              </a:spcAft>
              <a:buSzPts val="2200"/>
              <a:buChar char="○"/>
            </a:pPr>
            <a:r>
              <a:rPr lang="en-GB"/>
              <a:t>Mô tả điều khiển biểu diễn điều kiện hoặc vòng lặp. </a:t>
            </a:r>
            <a:endParaRPr/>
          </a:p>
          <a:p>
            <a:pPr indent="-342900" lvl="2" marL="1371600" rtl="0" algn="l">
              <a:spcBef>
                <a:spcPts val="0"/>
              </a:spcBef>
              <a:spcAft>
                <a:spcPts val="0"/>
              </a:spcAft>
              <a:buSzPts val="1800"/>
              <a:buChar char="■"/>
            </a:pPr>
            <a:r>
              <a:rPr lang="en-GB"/>
              <a:t>Biểu diễn 0 hoặc nhiều thông điệp phụ thuộc vào biểu thức điều kiện.</a:t>
            </a:r>
            <a:endParaRPr/>
          </a:p>
          <a:p>
            <a:pPr indent="-342900" lvl="2" marL="1371600" rtl="0" algn="l">
              <a:spcBef>
                <a:spcPts val="0"/>
              </a:spcBef>
              <a:spcAft>
                <a:spcPts val="0"/>
              </a:spcAft>
              <a:buSzPts val="1800"/>
              <a:buChar char="■"/>
            </a:pPr>
            <a:r>
              <a:rPr lang="en-GB"/>
              <a:t>‘*’ [biểu thức lặp] thân vòng lặp, ví dụ: *[i := 1..n] …</a:t>
            </a:r>
            <a:endParaRPr/>
          </a:p>
          <a:p>
            <a:pPr indent="-342900" lvl="2" marL="1371600" rtl="0" algn="l">
              <a:spcBef>
                <a:spcPts val="0"/>
              </a:spcBef>
              <a:spcAft>
                <a:spcPts val="0"/>
              </a:spcAft>
              <a:buSzPts val="1800"/>
              <a:buChar char="■"/>
            </a:pPr>
            <a:r>
              <a:rPr lang="en-GB"/>
              <a:t>[Điều kiện bảo vệ] nhánh, ví dụ: [x &gt; y]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46"/>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4.7. Sơ đồ giao tiếp mức hệ thống</a:t>
            </a:r>
            <a:endParaRPr/>
          </a:p>
        </p:txBody>
      </p:sp>
      <p:sp>
        <p:nvSpPr>
          <p:cNvPr id="794" name="Google Shape;794;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5" name="Google Shape;795;p46"/>
          <p:cNvSpPr txBox="1"/>
          <p:nvPr/>
        </p:nvSpPr>
        <p:spPr>
          <a:xfrm>
            <a:off x="310775" y="4902950"/>
            <a:ext cx="3170700" cy="11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Biểu diễn cùng 1 nội dung bằng </a:t>
            </a:r>
            <a:r>
              <a:rPr i="1" lang="en-GB" sz="2000">
                <a:solidFill>
                  <a:schemeClr val="dk1"/>
                </a:solidFill>
                <a:latin typeface="Times New Roman"/>
                <a:ea typeface="Times New Roman"/>
                <a:cs typeface="Times New Roman"/>
                <a:sym typeface="Times New Roman"/>
              </a:rPr>
              <a:t>Sơ đồ tuần tự và sơ đồ giao tiếp</a:t>
            </a:r>
            <a:endParaRPr i="1" sz="2000">
              <a:latin typeface="Times New Roman"/>
              <a:ea typeface="Times New Roman"/>
              <a:cs typeface="Times New Roman"/>
              <a:sym typeface="Times New Roman"/>
            </a:endParaRPr>
          </a:p>
        </p:txBody>
      </p:sp>
      <p:sp>
        <p:nvSpPr>
          <p:cNvPr id="796" name="Google Shape;796;p46"/>
          <p:cNvSpPr/>
          <p:nvPr/>
        </p:nvSpPr>
        <p:spPr>
          <a:xfrm>
            <a:off x="1314725" y="975575"/>
            <a:ext cx="5410200" cy="3167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97" name="Google Shape;797;p46"/>
          <p:cNvSpPr/>
          <p:nvPr/>
        </p:nvSpPr>
        <p:spPr>
          <a:xfrm rot="10800000">
            <a:off x="1314725" y="975575"/>
            <a:ext cx="259402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98" name="Google Shape;798;p46"/>
          <p:cNvSpPr txBox="1"/>
          <p:nvPr/>
        </p:nvSpPr>
        <p:spPr>
          <a:xfrm>
            <a:off x="1293250" y="889725"/>
            <a:ext cx="28479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a:t>
            </a:r>
            <a:r>
              <a:rPr lang="en-GB" sz="1600">
                <a:solidFill>
                  <a:schemeClr val="dk2"/>
                </a:solidFill>
                <a:latin typeface="Times New Roman"/>
                <a:ea typeface="Times New Roman"/>
                <a:cs typeface="Times New Roman"/>
                <a:sym typeface="Times New Roman"/>
              </a:rPr>
              <a:t>ra cứu thông tin</a:t>
            </a:r>
            <a:endParaRPr sz="1600">
              <a:solidFill>
                <a:schemeClr val="dk2"/>
              </a:solidFill>
              <a:latin typeface="Times New Roman"/>
              <a:ea typeface="Times New Roman"/>
              <a:cs typeface="Times New Roman"/>
              <a:sym typeface="Times New Roman"/>
            </a:endParaRPr>
          </a:p>
        </p:txBody>
      </p:sp>
      <p:sp>
        <p:nvSpPr>
          <p:cNvPr id="799" name="Google Shape;799;p46"/>
          <p:cNvSpPr/>
          <p:nvPr/>
        </p:nvSpPr>
        <p:spPr>
          <a:xfrm>
            <a:off x="5017400" y="1340475"/>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sp>
        <p:nvSpPr>
          <p:cNvPr id="800" name="Google Shape;800;p46"/>
          <p:cNvSpPr/>
          <p:nvPr/>
        </p:nvSpPr>
        <p:spPr>
          <a:xfrm>
            <a:off x="1932900" y="13726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801" name="Google Shape;801;p46"/>
          <p:cNvCxnSpPr/>
          <p:nvPr/>
        </p:nvCxnSpPr>
        <p:spPr>
          <a:xfrm>
            <a:off x="2008050" y="15229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46"/>
          <p:cNvCxnSpPr/>
          <p:nvPr/>
        </p:nvCxnSpPr>
        <p:spPr>
          <a:xfrm>
            <a:off x="2008025" y="17244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46"/>
          <p:cNvCxnSpPr/>
          <p:nvPr/>
        </p:nvCxnSpPr>
        <p:spPr>
          <a:xfrm>
            <a:off x="2008825" y="16164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46"/>
          <p:cNvCxnSpPr/>
          <p:nvPr/>
        </p:nvCxnSpPr>
        <p:spPr>
          <a:xfrm flipH="1">
            <a:off x="1890775" y="17196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46"/>
          <p:cNvCxnSpPr/>
          <p:nvPr/>
        </p:nvCxnSpPr>
        <p:spPr>
          <a:xfrm flipH="1">
            <a:off x="1874675" y="1611638"/>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46"/>
          <p:cNvCxnSpPr/>
          <p:nvPr/>
        </p:nvCxnSpPr>
        <p:spPr>
          <a:xfrm>
            <a:off x="2018775" y="2004295"/>
            <a:ext cx="0" cy="1990200"/>
          </a:xfrm>
          <a:prstGeom prst="straightConnector1">
            <a:avLst/>
          </a:prstGeom>
          <a:noFill/>
          <a:ln cap="flat" cmpd="sng" w="9525">
            <a:solidFill>
              <a:schemeClr val="dk2"/>
            </a:solidFill>
            <a:prstDash val="dash"/>
            <a:round/>
            <a:headEnd len="med" w="med" type="none"/>
            <a:tailEnd len="med" w="med" type="none"/>
          </a:ln>
        </p:spPr>
      </p:cxnSp>
      <p:cxnSp>
        <p:nvCxnSpPr>
          <p:cNvPr id="807" name="Google Shape;807;p46"/>
          <p:cNvCxnSpPr/>
          <p:nvPr/>
        </p:nvCxnSpPr>
        <p:spPr>
          <a:xfrm>
            <a:off x="5807300" y="1779425"/>
            <a:ext cx="0" cy="2187600"/>
          </a:xfrm>
          <a:prstGeom prst="straightConnector1">
            <a:avLst/>
          </a:prstGeom>
          <a:noFill/>
          <a:ln cap="flat" cmpd="sng" w="9525">
            <a:solidFill>
              <a:schemeClr val="dk2"/>
            </a:solidFill>
            <a:prstDash val="dash"/>
            <a:round/>
            <a:headEnd len="med" w="med" type="none"/>
            <a:tailEnd len="med" w="med" type="none"/>
          </a:ln>
        </p:spPr>
      </p:cxnSp>
      <p:sp>
        <p:nvSpPr>
          <p:cNvPr id="808" name="Google Shape;808;p46"/>
          <p:cNvSpPr/>
          <p:nvPr/>
        </p:nvSpPr>
        <p:spPr>
          <a:xfrm>
            <a:off x="5736475" y="2478100"/>
            <a:ext cx="128700" cy="1045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809" name="Google Shape;809;p46"/>
          <p:cNvCxnSpPr/>
          <p:nvPr/>
        </p:nvCxnSpPr>
        <p:spPr>
          <a:xfrm>
            <a:off x="2018775" y="2542498"/>
            <a:ext cx="3707100" cy="0"/>
          </a:xfrm>
          <a:prstGeom prst="straightConnector1">
            <a:avLst/>
          </a:prstGeom>
          <a:noFill/>
          <a:ln cap="flat" cmpd="sng" w="9525">
            <a:solidFill>
              <a:schemeClr val="dk2"/>
            </a:solidFill>
            <a:prstDash val="solid"/>
            <a:round/>
            <a:headEnd len="med" w="med" type="none"/>
            <a:tailEnd len="med" w="med" type="triangle"/>
          </a:ln>
        </p:spPr>
      </p:cxnSp>
      <p:sp>
        <p:nvSpPr>
          <p:cNvPr id="810" name="Google Shape;810;p46"/>
          <p:cNvSpPr txBox="1"/>
          <p:nvPr/>
        </p:nvSpPr>
        <p:spPr>
          <a:xfrm>
            <a:off x="2120718" y="2151855"/>
            <a:ext cx="3557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Tra cứu thông tin(từ khóa, danh mục)</a:t>
            </a:r>
            <a:endParaRPr sz="1600">
              <a:solidFill>
                <a:schemeClr val="dk2"/>
              </a:solidFill>
              <a:latin typeface="Times New Roman"/>
              <a:ea typeface="Times New Roman"/>
              <a:cs typeface="Times New Roman"/>
              <a:sym typeface="Times New Roman"/>
            </a:endParaRPr>
          </a:p>
        </p:txBody>
      </p:sp>
      <p:cxnSp>
        <p:nvCxnSpPr>
          <p:cNvPr id="811" name="Google Shape;811;p46"/>
          <p:cNvCxnSpPr>
            <a:stCxn id="808" idx="2"/>
          </p:cNvCxnSpPr>
          <p:nvPr/>
        </p:nvCxnSpPr>
        <p:spPr>
          <a:xfrm rot="10800000">
            <a:off x="2022925" y="3523600"/>
            <a:ext cx="3777900" cy="0"/>
          </a:xfrm>
          <a:prstGeom prst="straightConnector1">
            <a:avLst/>
          </a:prstGeom>
          <a:noFill/>
          <a:ln cap="flat" cmpd="sng" w="9525">
            <a:solidFill>
              <a:schemeClr val="dk2"/>
            </a:solidFill>
            <a:prstDash val="dash"/>
            <a:round/>
            <a:headEnd len="med" w="med" type="none"/>
            <a:tailEnd len="med" w="med" type="triangle"/>
          </a:ln>
        </p:spPr>
      </p:cxnSp>
      <p:sp>
        <p:nvSpPr>
          <p:cNvPr id="812" name="Google Shape;812;p46"/>
          <p:cNvSpPr txBox="1"/>
          <p:nvPr/>
        </p:nvSpPr>
        <p:spPr>
          <a:xfrm>
            <a:off x="2958922" y="3447250"/>
            <a:ext cx="2033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 Kết quả tra cứu</a:t>
            </a:r>
            <a:endParaRPr sz="1600">
              <a:solidFill>
                <a:schemeClr val="dk2"/>
              </a:solidFill>
              <a:latin typeface="Times New Roman"/>
              <a:ea typeface="Times New Roman"/>
              <a:cs typeface="Times New Roman"/>
              <a:sym typeface="Times New Roman"/>
            </a:endParaRPr>
          </a:p>
        </p:txBody>
      </p:sp>
      <p:sp>
        <p:nvSpPr>
          <p:cNvPr id="813" name="Google Shape;813;p46"/>
          <p:cNvSpPr txBox="1"/>
          <p:nvPr/>
        </p:nvSpPr>
        <p:spPr>
          <a:xfrm>
            <a:off x="1477950" y="1792325"/>
            <a:ext cx="1920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NVA: Người Dùng</a:t>
            </a:r>
            <a:endParaRPr sz="1600">
              <a:solidFill>
                <a:schemeClr val="dk2"/>
              </a:solidFill>
              <a:latin typeface="Times New Roman"/>
              <a:ea typeface="Times New Roman"/>
              <a:cs typeface="Times New Roman"/>
              <a:sym typeface="Times New Roman"/>
            </a:endParaRPr>
          </a:p>
        </p:txBody>
      </p:sp>
      <p:sp>
        <p:nvSpPr>
          <p:cNvPr id="814" name="Google Shape;814;p46"/>
          <p:cNvSpPr/>
          <p:nvPr/>
        </p:nvSpPr>
        <p:spPr>
          <a:xfrm>
            <a:off x="3448325" y="4328375"/>
            <a:ext cx="5161200" cy="206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815" name="Google Shape;815;p46"/>
          <p:cNvSpPr/>
          <p:nvPr/>
        </p:nvSpPr>
        <p:spPr>
          <a:xfrm rot="10800000">
            <a:off x="3448325" y="4328375"/>
            <a:ext cx="2757150"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16" name="Google Shape;816;p46"/>
          <p:cNvSpPr txBox="1"/>
          <p:nvPr/>
        </p:nvSpPr>
        <p:spPr>
          <a:xfrm>
            <a:off x="3426850" y="4242525"/>
            <a:ext cx="29505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817" name="Google Shape;817;p46"/>
          <p:cNvSpPr/>
          <p:nvPr/>
        </p:nvSpPr>
        <p:spPr>
          <a:xfrm>
            <a:off x="3990750" y="50428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818" name="Google Shape;818;p46"/>
          <p:cNvCxnSpPr/>
          <p:nvPr/>
        </p:nvCxnSpPr>
        <p:spPr>
          <a:xfrm>
            <a:off x="4065900" y="51931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819" name="Google Shape;819;p46"/>
          <p:cNvCxnSpPr/>
          <p:nvPr/>
        </p:nvCxnSpPr>
        <p:spPr>
          <a:xfrm>
            <a:off x="4065875" y="53946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46"/>
          <p:cNvCxnSpPr/>
          <p:nvPr/>
        </p:nvCxnSpPr>
        <p:spPr>
          <a:xfrm>
            <a:off x="4066675" y="52866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46"/>
          <p:cNvCxnSpPr/>
          <p:nvPr/>
        </p:nvCxnSpPr>
        <p:spPr>
          <a:xfrm flipH="1">
            <a:off x="3948625" y="53898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46"/>
          <p:cNvCxnSpPr/>
          <p:nvPr/>
        </p:nvCxnSpPr>
        <p:spPr>
          <a:xfrm flipH="1">
            <a:off x="3932525" y="5281838"/>
            <a:ext cx="133500" cy="123900"/>
          </a:xfrm>
          <a:prstGeom prst="straightConnector1">
            <a:avLst/>
          </a:prstGeom>
          <a:noFill/>
          <a:ln cap="flat" cmpd="sng" w="9525">
            <a:solidFill>
              <a:schemeClr val="dk2"/>
            </a:solidFill>
            <a:prstDash val="solid"/>
            <a:round/>
            <a:headEnd len="med" w="med" type="none"/>
            <a:tailEnd len="med" w="med" type="none"/>
          </a:ln>
        </p:spPr>
      </p:cxnSp>
      <p:sp>
        <p:nvSpPr>
          <p:cNvPr id="823" name="Google Shape;823;p46"/>
          <p:cNvSpPr txBox="1"/>
          <p:nvPr/>
        </p:nvSpPr>
        <p:spPr>
          <a:xfrm>
            <a:off x="3535800" y="5462525"/>
            <a:ext cx="1230600" cy="60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NVA: </a:t>
            </a:r>
            <a:endParaRPr sz="1600">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Người Dùng</a:t>
            </a:r>
            <a:endParaRPr sz="1600">
              <a:solidFill>
                <a:schemeClr val="dk2"/>
              </a:solidFill>
              <a:latin typeface="Times New Roman"/>
              <a:ea typeface="Times New Roman"/>
              <a:cs typeface="Times New Roman"/>
              <a:sym typeface="Times New Roman"/>
            </a:endParaRPr>
          </a:p>
        </p:txBody>
      </p:sp>
      <p:sp>
        <p:nvSpPr>
          <p:cNvPr id="824" name="Google Shape;824;p46"/>
          <p:cNvSpPr/>
          <p:nvPr/>
        </p:nvSpPr>
        <p:spPr>
          <a:xfrm>
            <a:off x="6730275" y="4998075"/>
            <a:ext cx="16719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cxnSp>
        <p:nvCxnSpPr>
          <p:cNvPr id="825" name="Google Shape;825;p46"/>
          <p:cNvCxnSpPr>
            <a:endCxn id="824" idx="1"/>
          </p:cNvCxnSpPr>
          <p:nvPr/>
        </p:nvCxnSpPr>
        <p:spPr>
          <a:xfrm flipH="1" rot="10800000">
            <a:off x="4669575" y="5379825"/>
            <a:ext cx="2060700" cy="273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46"/>
          <p:cNvCxnSpPr/>
          <p:nvPr/>
        </p:nvCxnSpPr>
        <p:spPr>
          <a:xfrm>
            <a:off x="5249225" y="5288925"/>
            <a:ext cx="708300" cy="1200"/>
          </a:xfrm>
          <a:prstGeom prst="straightConnector1">
            <a:avLst/>
          </a:prstGeom>
          <a:noFill/>
          <a:ln cap="flat" cmpd="sng" w="9525">
            <a:solidFill>
              <a:schemeClr val="dk2"/>
            </a:solidFill>
            <a:prstDash val="solid"/>
            <a:round/>
            <a:headEnd len="med" w="med" type="none"/>
            <a:tailEnd len="med" w="med" type="triangle"/>
          </a:ln>
        </p:spPr>
      </p:cxnSp>
      <p:cxnSp>
        <p:nvCxnSpPr>
          <p:cNvPr id="827" name="Google Shape;827;p46"/>
          <p:cNvCxnSpPr/>
          <p:nvPr/>
        </p:nvCxnSpPr>
        <p:spPr>
          <a:xfrm rot="10800000">
            <a:off x="5238425" y="5557225"/>
            <a:ext cx="676200" cy="0"/>
          </a:xfrm>
          <a:prstGeom prst="straightConnector1">
            <a:avLst/>
          </a:prstGeom>
          <a:noFill/>
          <a:ln cap="flat" cmpd="sng" w="9525">
            <a:solidFill>
              <a:schemeClr val="dk2"/>
            </a:solidFill>
            <a:prstDash val="dash"/>
            <a:round/>
            <a:headEnd len="med" w="med" type="none"/>
            <a:tailEnd len="med" w="med" type="triangle"/>
          </a:ln>
        </p:spPr>
      </p:cxnSp>
      <p:sp>
        <p:nvSpPr>
          <p:cNvPr id="828" name="Google Shape;828;p46"/>
          <p:cNvSpPr txBox="1"/>
          <p:nvPr/>
        </p:nvSpPr>
        <p:spPr>
          <a:xfrm>
            <a:off x="4422825" y="4666450"/>
            <a:ext cx="2225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Tra cứu thông tin(từ khóa, danh mục)</a:t>
            </a:r>
            <a:endParaRPr sz="1600">
              <a:solidFill>
                <a:schemeClr val="dk2"/>
              </a:solidFill>
              <a:latin typeface="Times New Roman"/>
              <a:ea typeface="Times New Roman"/>
              <a:cs typeface="Times New Roman"/>
              <a:sym typeface="Times New Roman"/>
            </a:endParaRPr>
          </a:p>
        </p:txBody>
      </p:sp>
      <p:sp>
        <p:nvSpPr>
          <p:cNvPr id="829" name="Google Shape;829;p46"/>
          <p:cNvSpPr txBox="1"/>
          <p:nvPr/>
        </p:nvSpPr>
        <p:spPr>
          <a:xfrm>
            <a:off x="4787722" y="5504650"/>
            <a:ext cx="2033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 Kết quả tra cứu</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47"/>
          <p:cNvSpPr/>
          <p:nvPr/>
        </p:nvSpPr>
        <p:spPr>
          <a:xfrm>
            <a:off x="134150" y="1163925"/>
            <a:ext cx="9009900" cy="436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835" name="Google Shape;835;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36" name="Google Shape;836;p47"/>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4.8. Sơ đồ giao tiếp mức nghiệp vụ</a:t>
            </a:r>
            <a:endParaRPr/>
          </a:p>
        </p:txBody>
      </p:sp>
      <p:sp>
        <p:nvSpPr>
          <p:cNvPr id="837" name="Google Shape;837;p47"/>
          <p:cNvSpPr txBox="1"/>
          <p:nvPr/>
        </p:nvSpPr>
        <p:spPr>
          <a:xfrm>
            <a:off x="179275" y="5525775"/>
            <a:ext cx="3411600" cy="51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So sánh với 4.6</a:t>
            </a:r>
            <a:endParaRPr i="1" sz="2200">
              <a:latin typeface="Times New Roman"/>
              <a:ea typeface="Times New Roman"/>
              <a:cs typeface="Times New Roman"/>
              <a:sym typeface="Times New Roman"/>
            </a:endParaRPr>
          </a:p>
        </p:txBody>
      </p:sp>
      <p:sp>
        <p:nvSpPr>
          <p:cNvPr id="838" name="Google Shape;838;p47"/>
          <p:cNvSpPr/>
          <p:nvPr/>
        </p:nvSpPr>
        <p:spPr>
          <a:xfrm rot="10800000">
            <a:off x="134150" y="1163275"/>
            <a:ext cx="274427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39" name="Google Shape;839;p47"/>
          <p:cNvSpPr txBox="1"/>
          <p:nvPr/>
        </p:nvSpPr>
        <p:spPr>
          <a:xfrm>
            <a:off x="112675" y="1077425"/>
            <a:ext cx="28839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840" name="Google Shape;840;p47"/>
          <p:cNvSpPr/>
          <p:nvPr/>
        </p:nvSpPr>
        <p:spPr>
          <a:xfrm>
            <a:off x="637500" y="28966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841" name="Google Shape;841;p47"/>
          <p:cNvCxnSpPr/>
          <p:nvPr/>
        </p:nvCxnSpPr>
        <p:spPr>
          <a:xfrm>
            <a:off x="712650" y="30469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842" name="Google Shape;842;p47"/>
          <p:cNvCxnSpPr/>
          <p:nvPr/>
        </p:nvCxnSpPr>
        <p:spPr>
          <a:xfrm>
            <a:off x="712625" y="32484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47"/>
          <p:cNvCxnSpPr/>
          <p:nvPr/>
        </p:nvCxnSpPr>
        <p:spPr>
          <a:xfrm>
            <a:off x="713425" y="31404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844" name="Google Shape;844;p47"/>
          <p:cNvCxnSpPr/>
          <p:nvPr/>
        </p:nvCxnSpPr>
        <p:spPr>
          <a:xfrm flipH="1">
            <a:off x="595375" y="32436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45" name="Google Shape;845;p47"/>
          <p:cNvCxnSpPr/>
          <p:nvPr/>
        </p:nvCxnSpPr>
        <p:spPr>
          <a:xfrm flipH="1">
            <a:off x="579275" y="3135638"/>
            <a:ext cx="133500" cy="123900"/>
          </a:xfrm>
          <a:prstGeom prst="straightConnector1">
            <a:avLst/>
          </a:prstGeom>
          <a:noFill/>
          <a:ln cap="flat" cmpd="sng" w="9525">
            <a:solidFill>
              <a:schemeClr val="dk2"/>
            </a:solidFill>
            <a:prstDash val="solid"/>
            <a:round/>
            <a:headEnd len="med" w="med" type="none"/>
            <a:tailEnd len="med" w="med" type="none"/>
          </a:ln>
        </p:spPr>
      </p:cxnSp>
      <p:sp>
        <p:nvSpPr>
          <p:cNvPr id="846" name="Google Shape;846;p47"/>
          <p:cNvSpPr txBox="1"/>
          <p:nvPr/>
        </p:nvSpPr>
        <p:spPr>
          <a:xfrm>
            <a:off x="182550" y="3316325"/>
            <a:ext cx="1139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:Sinh Viên</a:t>
            </a:r>
            <a:endParaRPr sz="1600">
              <a:solidFill>
                <a:schemeClr val="dk2"/>
              </a:solidFill>
              <a:latin typeface="Times New Roman"/>
              <a:ea typeface="Times New Roman"/>
              <a:cs typeface="Times New Roman"/>
              <a:sym typeface="Times New Roman"/>
            </a:endParaRPr>
          </a:p>
        </p:txBody>
      </p:sp>
      <p:sp>
        <p:nvSpPr>
          <p:cNvPr id="847" name="Google Shape;847;p47"/>
          <p:cNvSpPr/>
          <p:nvPr/>
        </p:nvSpPr>
        <p:spPr>
          <a:xfrm>
            <a:off x="2542500" y="2896675"/>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848" name="Google Shape;848;p47"/>
          <p:cNvCxnSpPr/>
          <p:nvPr/>
        </p:nvCxnSpPr>
        <p:spPr>
          <a:xfrm>
            <a:off x="2617650" y="3046975"/>
            <a:ext cx="0" cy="214500"/>
          </a:xfrm>
          <a:prstGeom prst="straightConnector1">
            <a:avLst/>
          </a:prstGeom>
          <a:noFill/>
          <a:ln cap="flat" cmpd="sng" w="9525">
            <a:solidFill>
              <a:schemeClr val="dk2"/>
            </a:solidFill>
            <a:prstDash val="solid"/>
            <a:round/>
            <a:headEnd len="med" w="med" type="none"/>
            <a:tailEnd len="med" w="med" type="none"/>
          </a:ln>
        </p:spPr>
      </p:cxnSp>
      <p:cxnSp>
        <p:nvCxnSpPr>
          <p:cNvPr id="849" name="Google Shape;849;p47"/>
          <p:cNvCxnSpPr/>
          <p:nvPr/>
        </p:nvCxnSpPr>
        <p:spPr>
          <a:xfrm>
            <a:off x="2617625" y="3248425"/>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50" name="Google Shape;850;p47"/>
          <p:cNvCxnSpPr/>
          <p:nvPr/>
        </p:nvCxnSpPr>
        <p:spPr>
          <a:xfrm>
            <a:off x="2618425" y="3140400"/>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851" name="Google Shape;851;p47"/>
          <p:cNvCxnSpPr/>
          <p:nvPr/>
        </p:nvCxnSpPr>
        <p:spPr>
          <a:xfrm flipH="1">
            <a:off x="2500375" y="3243663"/>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852" name="Google Shape;852;p47"/>
          <p:cNvCxnSpPr/>
          <p:nvPr/>
        </p:nvCxnSpPr>
        <p:spPr>
          <a:xfrm flipH="1">
            <a:off x="2484275" y="3135638"/>
            <a:ext cx="133500" cy="123900"/>
          </a:xfrm>
          <a:prstGeom prst="straightConnector1">
            <a:avLst/>
          </a:prstGeom>
          <a:noFill/>
          <a:ln cap="flat" cmpd="sng" w="9525">
            <a:solidFill>
              <a:schemeClr val="dk2"/>
            </a:solidFill>
            <a:prstDash val="solid"/>
            <a:round/>
            <a:headEnd len="med" w="med" type="none"/>
            <a:tailEnd len="med" w="med" type="none"/>
          </a:ln>
        </p:spPr>
      </p:cxnSp>
      <p:sp>
        <p:nvSpPr>
          <p:cNvPr id="853" name="Google Shape;853;p47"/>
          <p:cNvSpPr txBox="1"/>
          <p:nvPr/>
        </p:nvSpPr>
        <p:spPr>
          <a:xfrm>
            <a:off x="2087550" y="3316325"/>
            <a:ext cx="1139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a:t>
            </a:r>
            <a:r>
              <a:rPr lang="en-GB" sz="1600">
                <a:solidFill>
                  <a:schemeClr val="dk2"/>
                </a:solidFill>
                <a:latin typeface="Times New Roman"/>
                <a:ea typeface="Times New Roman"/>
                <a:cs typeface="Times New Roman"/>
                <a:sym typeface="Times New Roman"/>
              </a:rPr>
              <a:t>Thủ Thư</a:t>
            </a:r>
            <a:endParaRPr sz="1600">
              <a:solidFill>
                <a:schemeClr val="dk2"/>
              </a:solidFill>
              <a:latin typeface="Times New Roman"/>
              <a:ea typeface="Times New Roman"/>
              <a:cs typeface="Times New Roman"/>
              <a:sym typeface="Times New Roman"/>
            </a:endParaRPr>
          </a:p>
        </p:txBody>
      </p:sp>
      <p:sp>
        <p:nvSpPr>
          <p:cNvPr id="854" name="Google Shape;854;p47"/>
          <p:cNvSpPr/>
          <p:nvPr/>
        </p:nvSpPr>
        <p:spPr>
          <a:xfrm>
            <a:off x="3793950" y="1606650"/>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:Thẻ bạn đọc</a:t>
            </a:r>
            <a:endParaRPr sz="1600">
              <a:latin typeface="Times New Roman"/>
              <a:ea typeface="Times New Roman"/>
              <a:cs typeface="Times New Roman"/>
              <a:sym typeface="Times New Roman"/>
            </a:endParaRPr>
          </a:p>
        </p:txBody>
      </p:sp>
      <p:sp>
        <p:nvSpPr>
          <p:cNvPr id="855" name="Google Shape;855;p47"/>
          <p:cNvSpPr/>
          <p:nvPr/>
        </p:nvSpPr>
        <p:spPr>
          <a:xfrm>
            <a:off x="3861050" y="4744800"/>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a:t>
            </a:r>
            <a:r>
              <a:rPr lang="en-GB" sz="1600">
                <a:latin typeface="Times New Roman"/>
                <a:ea typeface="Times New Roman"/>
                <a:cs typeface="Times New Roman"/>
                <a:sym typeface="Times New Roman"/>
              </a:rPr>
              <a:t>Sách quá hạn</a:t>
            </a:r>
            <a:endParaRPr sz="1600">
              <a:latin typeface="Times New Roman"/>
              <a:ea typeface="Times New Roman"/>
              <a:cs typeface="Times New Roman"/>
              <a:sym typeface="Times New Roman"/>
            </a:endParaRPr>
          </a:p>
        </p:txBody>
      </p:sp>
      <p:sp>
        <p:nvSpPr>
          <p:cNvPr id="856" name="Google Shape;856;p47"/>
          <p:cNvSpPr/>
          <p:nvPr/>
        </p:nvSpPr>
        <p:spPr>
          <a:xfrm>
            <a:off x="4474950" y="2986350"/>
            <a:ext cx="1556100" cy="42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a:t>
            </a:r>
            <a:r>
              <a:rPr lang="en-GB" sz="1600">
                <a:latin typeface="Times New Roman"/>
                <a:ea typeface="Times New Roman"/>
                <a:cs typeface="Times New Roman"/>
                <a:sym typeface="Times New Roman"/>
              </a:rPr>
              <a:t>Tài liệu</a:t>
            </a:r>
            <a:endParaRPr sz="1600">
              <a:latin typeface="Times New Roman"/>
              <a:ea typeface="Times New Roman"/>
              <a:cs typeface="Times New Roman"/>
              <a:sym typeface="Times New Roman"/>
            </a:endParaRPr>
          </a:p>
        </p:txBody>
      </p:sp>
      <p:sp>
        <p:nvSpPr>
          <p:cNvPr id="857" name="Google Shape;857;p47"/>
          <p:cNvSpPr/>
          <p:nvPr/>
        </p:nvSpPr>
        <p:spPr>
          <a:xfrm>
            <a:off x="7465050" y="2954153"/>
            <a:ext cx="1556100" cy="51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a:t>
            </a:r>
            <a:r>
              <a:rPr lang="en-GB" sz="1600">
                <a:latin typeface="Times New Roman"/>
                <a:ea typeface="Times New Roman"/>
                <a:cs typeface="Times New Roman"/>
                <a:sym typeface="Times New Roman"/>
              </a:rPr>
              <a:t>Thông tin lưu trữ</a:t>
            </a:r>
            <a:endParaRPr sz="1600">
              <a:latin typeface="Times New Roman"/>
              <a:ea typeface="Times New Roman"/>
              <a:cs typeface="Times New Roman"/>
              <a:sym typeface="Times New Roman"/>
            </a:endParaRPr>
          </a:p>
        </p:txBody>
      </p:sp>
      <p:cxnSp>
        <p:nvCxnSpPr>
          <p:cNvPr id="858" name="Google Shape;858;p47"/>
          <p:cNvCxnSpPr/>
          <p:nvPr/>
        </p:nvCxnSpPr>
        <p:spPr>
          <a:xfrm>
            <a:off x="1182700" y="3176800"/>
            <a:ext cx="1051800" cy="0"/>
          </a:xfrm>
          <a:prstGeom prst="straightConnector1">
            <a:avLst/>
          </a:prstGeom>
          <a:noFill/>
          <a:ln cap="flat" cmpd="sng" w="9525">
            <a:solidFill>
              <a:schemeClr val="dk2"/>
            </a:solidFill>
            <a:prstDash val="solid"/>
            <a:round/>
            <a:headEnd len="med" w="med" type="none"/>
            <a:tailEnd len="med" w="med" type="none"/>
          </a:ln>
        </p:spPr>
      </p:cxnSp>
      <p:cxnSp>
        <p:nvCxnSpPr>
          <p:cNvPr id="859" name="Google Shape;859;p47"/>
          <p:cNvCxnSpPr/>
          <p:nvPr/>
        </p:nvCxnSpPr>
        <p:spPr>
          <a:xfrm>
            <a:off x="1429550" y="3037275"/>
            <a:ext cx="568800" cy="0"/>
          </a:xfrm>
          <a:prstGeom prst="straightConnector1">
            <a:avLst/>
          </a:prstGeom>
          <a:noFill/>
          <a:ln cap="flat" cmpd="sng" w="9525">
            <a:solidFill>
              <a:schemeClr val="dk2"/>
            </a:solidFill>
            <a:prstDash val="solid"/>
            <a:round/>
            <a:headEnd len="med" w="med" type="none"/>
            <a:tailEnd len="med" w="med" type="triangle"/>
          </a:ln>
        </p:spPr>
      </p:cxnSp>
      <p:cxnSp>
        <p:nvCxnSpPr>
          <p:cNvPr id="860" name="Google Shape;860;p47"/>
          <p:cNvCxnSpPr/>
          <p:nvPr/>
        </p:nvCxnSpPr>
        <p:spPr>
          <a:xfrm rot="10800000">
            <a:off x="1447650" y="3317675"/>
            <a:ext cx="411300" cy="0"/>
          </a:xfrm>
          <a:prstGeom prst="straightConnector1">
            <a:avLst/>
          </a:prstGeom>
          <a:noFill/>
          <a:ln cap="flat" cmpd="sng" w="9525">
            <a:solidFill>
              <a:schemeClr val="dk2"/>
            </a:solidFill>
            <a:prstDash val="solid"/>
            <a:round/>
            <a:headEnd len="med" w="med" type="none"/>
            <a:tailEnd len="med" w="med" type="triangle"/>
          </a:ln>
        </p:spPr>
      </p:cxnSp>
      <p:sp>
        <p:nvSpPr>
          <p:cNvPr id="861" name="Google Shape;861;p47"/>
          <p:cNvSpPr txBox="1"/>
          <p:nvPr/>
        </p:nvSpPr>
        <p:spPr>
          <a:xfrm>
            <a:off x="986500" y="2424700"/>
            <a:ext cx="1708200" cy="5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1: Mượn sách (phiếu mượn)</a:t>
            </a:r>
            <a:endParaRPr>
              <a:solidFill>
                <a:schemeClr val="dk2"/>
              </a:solidFill>
              <a:latin typeface="Times New Roman"/>
              <a:ea typeface="Times New Roman"/>
              <a:cs typeface="Times New Roman"/>
              <a:sym typeface="Times New Roman"/>
            </a:endParaRPr>
          </a:p>
        </p:txBody>
      </p:sp>
      <p:sp>
        <p:nvSpPr>
          <p:cNvPr id="862" name="Google Shape;862;p47"/>
          <p:cNvSpPr txBox="1"/>
          <p:nvPr/>
        </p:nvSpPr>
        <p:spPr>
          <a:xfrm>
            <a:off x="1138900" y="3262900"/>
            <a:ext cx="1373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2: Xuất thẻ()</a:t>
            </a:r>
            <a:endParaRPr>
              <a:solidFill>
                <a:schemeClr val="dk2"/>
              </a:solidFill>
              <a:latin typeface="Times New Roman"/>
              <a:ea typeface="Times New Roman"/>
              <a:cs typeface="Times New Roman"/>
              <a:sym typeface="Times New Roman"/>
            </a:endParaRPr>
          </a:p>
        </p:txBody>
      </p:sp>
      <p:cxnSp>
        <p:nvCxnSpPr>
          <p:cNvPr id="863" name="Google Shape;863;p47"/>
          <p:cNvCxnSpPr/>
          <p:nvPr/>
        </p:nvCxnSpPr>
        <p:spPr>
          <a:xfrm flipH="1" rot="10800000">
            <a:off x="2899900" y="2028325"/>
            <a:ext cx="1373700" cy="1062600"/>
          </a:xfrm>
          <a:prstGeom prst="straightConnector1">
            <a:avLst/>
          </a:prstGeom>
          <a:noFill/>
          <a:ln cap="flat" cmpd="sng" w="9525">
            <a:solidFill>
              <a:schemeClr val="dk2"/>
            </a:solidFill>
            <a:prstDash val="solid"/>
            <a:round/>
            <a:headEnd len="med" w="med" type="none"/>
            <a:tailEnd len="med" w="med" type="none"/>
          </a:ln>
        </p:spPr>
      </p:cxnSp>
      <p:cxnSp>
        <p:nvCxnSpPr>
          <p:cNvPr id="864" name="Google Shape;864;p47"/>
          <p:cNvCxnSpPr/>
          <p:nvPr/>
        </p:nvCxnSpPr>
        <p:spPr>
          <a:xfrm>
            <a:off x="2889150" y="3359250"/>
            <a:ext cx="1384500" cy="13737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47"/>
          <p:cNvCxnSpPr>
            <a:endCxn id="856" idx="1"/>
          </p:cNvCxnSpPr>
          <p:nvPr/>
        </p:nvCxnSpPr>
        <p:spPr>
          <a:xfrm>
            <a:off x="2921250" y="3187500"/>
            <a:ext cx="1553700" cy="129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47"/>
          <p:cNvCxnSpPr>
            <a:stCxn id="856" idx="3"/>
            <a:endCxn id="857" idx="1"/>
          </p:cNvCxnSpPr>
          <p:nvPr/>
        </p:nvCxnSpPr>
        <p:spPr>
          <a:xfrm>
            <a:off x="6031050" y="3200400"/>
            <a:ext cx="1434000" cy="132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47"/>
          <p:cNvCxnSpPr/>
          <p:nvPr/>
        </p:nvCxnSpPr>
        <p:spPr>
          <a:xfrm flipH="1" rot="10800000">
            <a:off x="3211125" y="2318200"/>
            <a:ext cx="429300" cy="332700"/>
          </a:xfrm>
          <a:prstGeom prst="straightConnector1">
            <a:avLst/>
          </a:prstGeom>
          <a:noFill/>
          <a:ln cap="flat" cmpd="sng" w="9525">
            <a:solidFill>
              <a:schemeClr val="dk2"/>
            </a:solidFill>
            <a:prstDash val="solid"/>
            <a:round/>
            <a:headEnd len="med" w="med" type="none"/>
            <a:tailEnd len="med" w="med" type="triangle"/>
          </a:ln>
        </p:spPr>
      </p:cxnSp>
      <p:cxnSp>
        <p:nvCxnSpPr>
          <p:cNvPr id="868" name="Google Shape;868;p47"/>
          <p:cNvCxnSpPr/>
          <p:nvPr/>
        </p:nvCxnSpPr>
        <p:spPr>
          <a:xfrm flipH="1">
            <a:off x="3914225" y="2146475"/>
            <a:ext cx="456000" cy="339300"/>
          </a:xfrm>
          <a:prstGeom prst="straightConnector1">
            <a:avLst/>
          </a:prstGeom>
          <a:noFill/>
          <a:ln cap="flat" cmpd="sng" w="9525">
            <a:solidFill>
              <a:schemeClr val="dk2"/>
            </a:solidFill>
            <a:prstDash val="dash"/>
            <a:round/>
            <a:headEnd len="med" w="med" type="none"/>
            <a:tailEnd len="med" w="med" type="triangle"/>
          </a:ln>
        </p:spPr>
      </p:cxnSp>
      <p:sp>
        <p:nvSpPr>
          <p:cNvPr id="869" name="Google Shape;869;p47"/>
          <p:cNvSpPr txBox="1"/>
          <p:nvPr/>
        </p:nvSpPr>
        <p:spPr>
          <a:xfrm rot="-2316362">
            <a:off x="2681999" y="2098462"/>
            <a:ext cx="1198150" cy="428229"/>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3</a:t>
            </a:r>
            <a:r>
              <a:rPr lang="en-GB">
                <a:solidFill>
                  <a:schemeClr val="dk2"/>
                </a:solidFill>
                <a:latin typeface="Times New Roman"/>
                <a:ea typeface="Times New Roman"/>
                <a:cs typeface="Times New Roman"/>
                <a:sym typeface="Times New Roman"/>
              </a:rPr>
              <a:t>: </a:t>
            </a:r>
            <a:r>
              <a:rPr lang="en-GB">
                <a:solidFill>
                  <a:schemeClr val="dk2"/>
                </a:solidFill>
                <a:latin typeface="Times New Roman"/>
                <a:ea typeface="Times New Roman"/>
                <a:cs typeface="Times New Roman"/>
                <a:sym typeface="Times New Roman"/>
              </a:rPr>
              <a:t>Kiểm tra</a:t>
            </a:r>
            <a:r>
              <a:rPr lang="en-GB">
                <a:solidFill>
                  <a:schemeClr val="dk2"/>
                </a:solidFill>
                <a:latin typeface="Times New Roman"/>
                <a:ea typeface="Times New Roman"/>
                <a:cs typeface="Times New Roman"/>
                <a:sym typeface="Times New Roman"/>
              </a:rPr>
              <a:t>()</a:t>
            </a:r>
            <a:endParaRPr>
              <a:solidFill>
                <a:schemeClr val="dk2"/>
              </a:solidFill>
              <a:latin typeface="Times New Roman"/>
              <a:ea typeface="Times New Roman"/>
              <a:cs typeface="Times New Roman"/>
              <a:sym typeface="Times New Roman"/>
            </a:endParaRPr>
          </a:p>
        </p:txBody>
      </p:sp>
      <p:sp>
        <p:nvSpPr>
          <p:cNvPr id="870" name="Google Shape;870;p47"/>
          <p:cNvSpPr txBox="1"/>
          <p:nvPr/>
        </p:nvSpPr>
        <p:spPr>
          <a:xfrm rot="-2316405">
            <a:off x="3856414" y="2188162"/>
            <a:ext cx="910618" cy="428229"/>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4</a:t>
            </a:r>
            <a:r>
              <a:rPr lang="en-GB">
                <a:solidFill>
                  <a:schemeClr val="dk2"/>
                </a:solidFill>
                <a:latin typeface="Times New Roman"/>
                <a:ea typeface="Times New Roman"/>
                <a:cs typeface="Times New Roman"/>
                <a:sym typeface="Times New Roman"/>
              </a:rPr>
              <a:t>: </a:t>
            </a:r>
            <a:r>
              <a:rPr lang="en-GB">
                <a:solidFill>
                  <a:schemeClr val="dk2"/>
                </a:solidFill>
                <a:latin typeface="Times New Roman"/>
                <a:ea typeface="Times New Roman"/>
                <a:cs typeface="Times New Roman"/>
                <a:sym typeface="Times New Roman"/>
              </a:rPr>
              <a:t>Hợp lệ</a:t>
            </a:r>
            <a:endParaRPr>
              <a:solidFill>
                <a:schemeClr val="dk2"/>
              </a:solidFill>
              <a:latin typeface="Times New Roman"/>
              <a:ea typeface="Times New Roman"/>
              <a:cs typeface="Times New Roman"/>
              <a:sym typeface="Times New Roman"/>
            </a:endParaRPr>
          </a:p>
        </p:txBody>
      </p:sp>
      <p:cxnSp>
        <p:nvCxnSpPr>
          <p:cNvPr id="871" name="Google Shape;871;p47"/>
          <p:cNvCxnSpPr/>
          <p:nvPr/>
        </p:nvCxnSpPr>
        <p:spPr>
          <a:xfrm>
            <a:off x="3490175" y="3734875"/>
            <a:ext cx="504300" cy="536700"/>
          </a:xfrm>
          <a:prstGeom prst="straightConnector1">
            <a:avLst/>
          </a:prstGeom>
          <a:noFill/>
          <a:ln cap="flat" cmpd="sng" w="9525">
            <a:solidFill>
              <a:schemeClr val="dk2"/>
            </a:solidFill>
            <a:prstDash val="solid"/>
            <a:round/>
            <a:headEnd len="med" w="med" type="none"/>
            <a:tailEnd len="med" w="med" type="triangle"/>
          </a:ln>
        </p:spPr>
      </p:cxnSp>
      <p:sp>
        <p:nvSpPr>
          <p:cNvPr id="872" name="Google Shape;872;p47"/>
          <p:cNvSpPr txBox="1"/>
          <p:nvPr/>
        </p:nvSpPr>
        <p:spPr>
          <a:xfrm rot="2859526">
            <a:off x="3367788" y="3774988"/>
            <a:ext cx="1198139" cy="42812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5</a:t>
            </a:r>
            <a:r>
              <a:rPr lang="en-GB">
                <a:solidFill>
                  <a:schemeClr val="dk2"/>
                </a:solidFill>
                <a:latin typeface="Times New Roman"/>
                <a:ea typeface="Times New Roman"/>
                <a:cs typeface="Times New Roman"/>
                <a:sym typeface="Times New Roman"/>
              </a:rPr>
              <a:t>: Kiểm tra()</a:t>
            </a:r>
            <a:endParaRPr>
              <a:solidFill>
                <a:schemeClr val="dk2"/>
              </a:solidFill>
              <a:latin typeface="Times New Roman"/>
              <a:ea typeface="Times New Roman"/>
              <a:cs typeface="Times New Roman"/>
              <a:sym typeface="Times New Roman"/>
            </a:endParaRPr>
          </a:p>
        </p:txBody>
      </p:sp>
      <p:cxnSp>
        <p:nvCxnSpPr>
          <p:cNvPr id="873" name="Google Shape;873;p47"/>
          <p:cNvCxnSpPr/>
          <p:nvPr/>
        </p:nvCxnSpPr>
        <p:spPr>
          <a:xfrm rot="10800000">
            <a:off x="3221925" y="3874475"/>
            <a:ext cx="515100" cy="558000"/>
          </a:xfrm>
          <a:prstGeom prst="straightConnector1">
            <a:avLst/>
          </a:prstGeom>
          <a:noFill/>
          <a:ln cap="flat" cmpd="sng" w="9525">
            <a:solidFill>
              <a:schemeClr val="dk2"/>
            </a:solidFill>
            <a:prstDash val="dash"/>
            <a:round/>
            <a:headEnd len="med" w="med" type="none"/>
            <a:tailEnd len="med" w="med" type="triangle"/>
          </a:ln>
        </p:spPr>
      </p:cxnSp>
      <p:sp>
        <p:nvSpPr>
          <p:cNvPr id="874" name="Google Shape;874;p47"/>
          <p:cNvSpPr txBox="1"/>
          <p:nvPr/>
        </p:nvSpPr>
        <p:spPr>
          <a:xfrm rot="2859526">
            <a:off x="2834388" y="4155988"/>
            <a:ext cx="1198139" cy="42812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6</a:t>
            </a:r>
            <a:r>
              <a:rPr lang="en-GB">
                <a:solidFill>
                  <a:schemeClr val="dk2"/>
                </a:solidFill>
                <a:latin typeface="Times New Roman"/>
                <a:ea typeface="Times New Roman"/>
                <a:cs typeface="Times New Roman"/>
                <a:sym typeface="Times New Roman"/>
              </a:rPr>
              <a:t>: K</a:t>
            </a:r>
            <a:r>
              <a:rPr lang="en-GB">
                <a:solidFill>
                  <a:schemeClr val="dk2"/>
                </a:solidFill>
                <a:latin typeface="Times New Roman"/>
                <a:ea typeface="Times New Roman"/>
                <a:cs typeface="Times New Roman"/>
                <a:sym typeface="Times New Roman"/>
              </a:rPr>
              <a:t>hông có</a:t>
            </a:r>
            <a:endParaRPr>
              <a:solidFill>
                <a:schemeClr val="dk2"/>
              </a:solidFill>
              <a:latin typeface="Times New Roman"/>
              <a:ea typeface="Times New Roman"/>
              <a:cs typeface="Times New Roman"/>
              <a:sym typeface="Times New Roman"/>
            </a:endParaRPr>
          </a:p>
        </p:txBody>
      </p:sp>
      <p:cxnSp>
        <p:nvCxnSpPr>
          <p:cNvPr id="875" name="Google Shape;875;p47"/>
          <p:cNvCxnSpPr/>
          <p:nvPr/>
        </p:nvCxnSpPr>
        <p:spPr>
          <a:xfrm>
            <a:off x="3372125" y="3112400"/>
            <a:ext cx="643800" cy="10800"/>
          </a:xfrm>
          <a:prstGeom prst="straightConnector1">
            <a:avLst/>
          </a:prstGeom>
          <a:noFill/>
          <a:ln cap="flat" cmpd="sng" w="9525">
            <a:solidFill>
              <a:schemeClr val="dk2"/>
            </a:solidFill>
            <a:prstDash val="solid"/>
            <a:round/>
            <a:headEnd len="med" w="med" type="none"/>
            <a:tailEnd len="med" w="med" type="triangle"/>
          </a:ln>
        </p:spPr>
      </p:cxnSp>
      <p:sp>
        <p:nvSpPr>
          <p:cNvPr id="876" name="Google Shape;876;p47"/>
          <p:cNvSpPr txBox="1"/>
          <p:nvPr/>
        </p:nvSpPr>
        <p:spPr>
          <a:xfrm rot="-1721">
            <a:off x="3139200" y="2784317"/>
            <a:ext cx="11982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7</a:t>
            </a:r>
            <a:r>
              <a:rPr lang="en-GB">
                <a:solidFill>
                  <a:schemeClr val="dk2"/>
                </a:solidFill>
                <a:latin typeface="Times New Roman"/>
                <a:ea typeface="Times New Roman"/>
                <a:cs typeface="Times New Roman"/>
                <a:sym typeface="Times New Roman"/>
              </a:rPr>
              <a:t>: </a:t>
            </a:r>
            <a:r>
              <a:rPr lang="en-GB">
                <a:solidFill>
                  <a:schemeClr val="dk2"/>
                </a:solidFill>
                <a:latin typeface="Times New Roman"/>
                <a:ea typeface="Times New Roman"/>
                <a:cs typeface="Times New Roman"/>
                <a:sym typeface="Times New Roman"/>
              </a:rPr>
              <a:t>Tìm</a:t>
            </a:r>
            <a:r>
              <a:rPr lang="en-GB">
                <a:solidFill>
                  <a:schemeClr val="dk2"/>
                </a:solidFill>
                <a:latin typeface="Times New Roman"/>
                <a:ea typeface="Times New Roman"/>
                <a:cs typeface="Times New Roman"/>
                <a:sym typeface="Times New Roman"/>
              </a:rPr>
              <a:t>(</a:t>
            </a:r>
            <a:r>
              <a:rPr lang="en-GB">
                <a:solidFill>
                  <a:schemeClr val="dk2"/>
                </a:solidFill>
                <a:latin typeface="Times New Roman"/>
                <a:ea typeface="Times New Roman"/>
                <a:cs typeface="Times New Roman"/>
                <a:sym typeface="Times New Roman"/>
              </a:rPr>
              <a:t>sách</a:t>
            </a:r>
            <a:r>
              <a:rPr lang="en-GB">
                <a:solidFill>
                  <a:schemeClr val="dk2"/>
                </a:solidFill>
                <a:latin typeface="Times New Roman"/>
                <a:ea typeface="Times New Roman"/>
                <a:cs typeface="Times New Roman"/>
                <a:sym typeface="Times New Roman"/>
              </a:rPr>
              <a:t>)</a:t>
            </a:r>
            <a:endParaRPr>
              <a:solidFill>
                <a:schemeClr val="dk2"/>
              </a:solidFill>
              <a:latin typeface="Times New Roman"/>
              <a:ea typeface="Times New Roman"/>
              <a:cs typeface="Times New Roman"/>
              <a:sym typeface="Times New Roman"/>
            </a:endParaRPr>
          </a:p>
        </p:txBody>
      </p:sp>
      <p:sp>
        <p:nvSpPr>
          <p:cNvPr id="877" name="Google Shape;877;p47"/>
          <p:cNvSpPr txBox="1"/>
          <p:nvPr/>
        </p:nvSpPr>
        <p:spPr>
          <a:xfrm rot="-1605">
            <a:off x="6111000" y="2555724"/>
            <a:ext cx="12852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7.</a:t>
            </a:r>
            <a:r>
              <a:rPr lang="en-GB">
                <a:solidFill>
                  <a:schemeClr val="dk2"/>
                </a:solidFill>
                <a:latin typeface="Times New Roman"/>
                <a:ea typeface="Times New Roman"/>
                <a:cs typeface="Times New Roman"/>
                <a:sym typeface="Times New Roman"/>
              </a:rPr>
              <a:t>1</a:t>
            </a:r>
            <a:r>
              <a:rPr lang="en-GB">
                <a:solidFill>
                  <a:schemeClr val="dk2"/>
                </a:solidFill>
                <a:latin typeface="Times New Roman"/>
                <a:ea typeface="Times New Roman"/>
                <a:cs typeface="Times New Roman"/>
                <a:sym typeface="Times New Roman"/>
              </a:rPr>
              <a:t>: </a:t>
            </a:r>
            <a:r>
              <a:rPr lang="en-GB">
                <a:solidFill>
                  <a:schemeClr val="dk2"/>
                </a:solidFill>
                <a:latin typeface="Times New Roman"/>
                <a:ea typeface="Times New Roman"/>
                <a:cs typeface="Times New Roman"/>
                <a:sym typeface="Times New Roman"/>
              </a:rPr>
              <a:t>Tra cứu lưu trữ</a:t>
            </a:r>
            <a:r>
              <a:rPr lang="en-GB">
                <a:solidFill>
                  <a:schemeClr val="dk2"/>
                </a:solidFill>
                <a:latin typeface="Times New Roman"/>
                <a:ea typeface="Times New Roman"/>
                <a:cs typeface="Times New Roman"/>
                <a:sym typeface="Times New Roman"/>
              </a:rPr>
              <a:t>(sách)</a:t>
            </a:r>
            <a:endParaRPr>
              <a:solidFill>
                <a:schemeClr val="dk2"/>
              </a:solidFill>
              <a:latin typeface="Times New Roman"/>
              <a:ea typeface="Times New Roman"/>
              <a:cs typeface="Times New Roman"/>
              <a:sym typeface="Times New Roman"/>
            </a:endParaRPr>
          </a:p>
        </p:txBody>
      </p:sp>
      <p:cxnSp>
        <p:nvCxnSpPr>
          <p:cNvPr id="878" name="Google Shape;878;p47"/>
          <p:cNvCxnSpPr/>
          <p:nvPr/>
        </p:nvCxnSpPr>
        <p:spPr>
          <a:xfrm flipH="1" rot="10800000">
            <a:off x="6173278" y="3123065"/>
            <a:ext cx="966000" cy="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48"/>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4.9. Biểu thức thứ tự</a:t>
            </a:r>
            <a:endParaRPr/>
          </a:p>
        </p:txBody>
      </p:sp>
      <p:sp>
        <p:nvSpPr>
          <p:cNvPr id="884" name="Google Shape;884;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85" name="Google Shape;885;p48"/>
          <p:cNvSpPr txBox="1"/>
          <p:nvPr/>
        </p:nvSpPr>
        <p:spPr>
          <a:xfrm>
            <a:off x="332700" y="4615175"/>
            <a:ext cx="8259600" cy="18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Các thông điệp m1 và m</a:t>
            </a:r>
            <a:r>
              <a:rPr lang="en-GB" sz="2200">
                <a:solidFill>
                  <a:srgbClr val="666666"/>
                </a:solidFill>
                <a:latin typeface="Times New Roman"/>
                <a:ea typeface="Times New Roman"/>
                <a:cs typeface="Times New Roman"/>
                <a:sym typeface="Times New Roman"/>
              </a:rPr>
              <a:t>2</a:t>
            </a:r>
            <a:r>
              <a:rPr lang="en-GB" sz="2200">
                <a:solidFill>
                  <a:srgbClr val="666666"/>
                </a:solidFill>
                <a:latin typeface="Times New Roman"/>
                <a:ea typeface="Times New Roman"/>
                <a:cs typeface="Times New Roman"/>
                <a:sym typeface="Times New Roman"/>
              </a:rPr>
              <a:t> được gửi đồng thời từ đối tượng a tới các đối tượng b1 và b2. </a:t>
            </a:r>
            <a:endParaRPr sz="2200">
              <a:solidFill>
                <a:srgbClr val="666666"/>
              </a:solidFill>
              <a:latin typeface="Times New Roman"/>
              <a:ea typeface="Times New Roman"/>
              <a:cs typeface="Times New Roman"/>
              <a:sym typeface="Times New Roman"/>
            </a:endParaRPr>
          </a:p>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Chuỗi thông điệp lồng nhau: 1b, 1b.1, 1b.1.1</a:t>
            </a:r>
            <a:endParaRPr sz="2200">
              <a:solidFill>
                <a:srgbClr val="666666"/>
              </a:solidFill>
              <a:latin typeface="Times New Roman"/>
              <a:ea typeface="Times New Roman"/>
              <a:cs typeface="Times New Roman"/>
              <a:sym typeface="Times New Roman"/>
            </a:endParaRPr>
          </a:p>
          <a:p>
            <a:pPr indent="0" lvl="0" marL="0" rtl="0" algn="l">
              <a:spcBef>
                <a:spcPts val="0"/>
              </a:spcBef>
              <a:spcAft>
                <a:spcPts val="0"/>
              </a:spcAft>
              <a:buNone/>
            </a:pPr>
            <a:r>
              <a:rPr lang="en-GB" sz="2200">
                <a:solidFill>
                  <a:srgbClr val="666666"/>
                </a:solidFill>
                <a:latin typeface="Times New Roman"/>
                <a:ea typeface="Times New Roman"/>
                <a:cs typeface="Times New Roman"/>
                <a:sym typeface="Times New Roman"/>
              </a:rPr>
              <a:t>Thông điệp tuần tự: 2:m</a:t>
            </a:r>
            <a:r>
              <a:rPr lang="en-GB" sz="2200">
                <a:solidFill>
                  <a:srgbClr val="666666"/>
                </a:solidFill>
                <a:latin typeface="Times New Roman"/>
                <a:ea typeface="Times New Roman"/>
                <a:cs typeface="Times New Roman"/>
                <a:sym typeface="Times New Roman"/>
              </a:rPr>
              <a:t>6</a:t>
            </a:r>
            <a:r>
              <a:rPr lang="en-GB" sz="2200">
                <a:solidFill>
                  <a:srgbClr val="666666"/>
                </a:solidFill>
                <a:latin typeface="Times New Roman"/>
                <a:ea typeface="Times New Roman"/>
                <a:cs typeface="Times New Roman"/>
                <a:sym typeface="Times New Roman"/>
              </a:rPr>
              <a:t> được gửi sau khi hoàn thành 1a:m1 và 1b:m</a:t>
            </a:r>
            <a:r>
              <a:rPr lang="en-GB" sz="2200">
                <a:solidFill>
                  <a:srgbClr val="666666"/>
                </a:solidFill>
                <a:latin typeface="Times New Roman"/>
                <a:ea typeface="Times New Roman"/>
                <a:cs typeface="Times New Roman"/>
                <a:sym typeface="Times New Roman"/>
              </a:rPr>
              <a:t>2;</a:t>
            </a:r>
            <a:r>
              <a:rPr lang="en-GB" sz="2200">
                <a:solidFill>
                  <a:srgbClr val="666666"/>
                </a:solidFill>
                <a:latin typeface="Times New Roman"/>
                <a:ea typeface="Times New Roman"/>
                <a:cs typeface="Times New Roman"/>
                <a:sym typeface="Times New Roman"/>
              </a:rPr>
              <a:t> 1b.2:m</a:t>
            </a:r>
            <a:r>
              <a:rPr lang="en-GB" sz="2200">
                <a:solidFill>
                  <a:srgbClr val="666666"/>
                </a:solidFill>
                <a:latin typeface="Times New Roman"/>
                <a:ea typeface="Times New Roman"/>
                <a:cs typeface="Times New Roman"/>
                <a:sym typeface="Times New Roman"/>
              </a:rPr>
              <a:t>5</a:t>
            </a:r>
            <a:r>
              <a:rPr lang="en-GB" sz="2200">
                <a:solidFill>
                  <a:srgbClr val="666666"/>
                </a:solidFill>
                <a:latin typeface="Times New Roman"/>
                <a:ea typeface="Times New Roman"/>
                <a:cs typeface="Times New Roman"/>
                <a:sym typeface="Times New Roman"/>
              </a:rPr>
              <a:t> được gửi sau khi hoàn thành 1b.1:m3</a:t>
            </a:r>
            <a:endParaRPr sz="2200">
              <a:solidFill>
                <a:srgbClr val="666666"/>
              </a:solidFill>
              <a:latin typeface="Times New Roman"/>
              <a:ea typeface="Times New Roman"/>
              <a:cs typeface="Times New Roman"/>
              <a:sym typeface="Times New Roman"/>
            </a:endParaRPr>
          </a:p>
        </p:txBody>
      </p:sp>
      <p:sp>
        <p:nvSpPr>
          <p:cNvPr id="886" name="Google Shape;886;p48"/>
          <p:cNvSpPr/>
          <p:nvPr/>
        </p:nvSpPr>
        <p:spPr>
          <a:xfrm>
            <a:off x="972350" y="1306150"/>
            <a:ext cx="6113100" cy="3287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887" name="Google Shape;887;p48"/>
          <p:cNvSpPr/>
          <p:nvPr/>
        </p:nvSpPr>
        <p:spPr>
          <a:xfrm rot="10800000">
            <a:off x="972350" y="1306150"/>
            <a:ext cx="1605575"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88" name="Google Shape;888;p48"/>
          <p:cNvSpPr txBox="1"/>
          <p:nvPr/>
        </p:nvSpPr>
        <p:spPr>
          <a:xfrm>
            <a:off x="950875" y="1220300"/>
            <a:ext cx="17880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M</a:t>
            </a:r>
            <a:endParaRPr sz="1600">
              <a:solidFill>
                <a:schemeClr val="dk2"/>
              </a:solidFill>
              <a:latin typeface="Times New Roman"/>
              <a:ea typeface="Times New Roman"/>
              <a:cs typeface="Times New Roman"/>
              <a:sym typeface="Times New Roman"/>
            </a:endParaRPr>
          </a:p>
        </p:txBody>
      </p:sp>
      <p:sp>
        <p:nvSpPr>
          <p:cNvPr id="889" name="Google Shape;889;p48"/>
          <p:cNvSpPr/>
          <p:nvPr/>
        </p:nvSpPr>
        <p:spPr>
          <a:xfrm>
            <a:off x="1405477" y="1941024"/>
            <a:ext cx="1333500" cy="37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a:A</a:t>
            </a:r>
            <a:endParaRPr sz="1600">
              <a:latin typeface="Times New Roman"/>
              <a:ea typeface="Times New Roman"/>
              <a:cs typeface="Times New Roman"/>
              <a:sym typeface="Times New Roman"/>
            </a:endParaRPr>
          </a:p>
        </p:txBody>
      </p:sp>
      <p:sp>
        <p:nvSpPr>
          <p:cNvPr id="890" name="Google Shape;890;p48"/>
          <p:cNvSpPr/>
          <p:nvPr/>
        </p:nvSpPr>
        <p:spPr>
          <a:xfrm>
            <a:off x="4605877" y="1941024"/>
            <a:ext cx="1333500" cy="37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b1:B</a:t>
            </a:r>
            <a:endParaRPr sz="1600">
              <a:latin typeface="Times New Roman"/>
              <a:ea typeface="Times New Roman"/>
              <a:cs typeface="Times New Roman"/>
              <a:sym typeface="Times New Roman"/>
            </a:endParaRPr>
          </a:p>
        </p:txBody>
      </p:sp>
      <p:sp>
        <p:nvSpPr>
          <p:cNvPr id="891" name="Google Shape;891;p48"/>
          <p:cNvSpPr/>
          <p:nvPr/>
        </p:nvSpPr>
        <p:spPr>
          <a:xfrm>
            <a:off x="4605877" y="3846024"/>
            <a:ext cx="1333500" cy="37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b2:B</a:t>
            </a:r>
            <a:endParaRPr sz="1600">
              <a:latin typeface="Times New Roman"/>
              <a:ea typeface="Times New Roman"/>
              <a:cs typeface="Times New Roman"/>
              <a:sym typeface="Times New Roman"/>
            </a:endParaRPr>
          </a:p>
        </p:txBody>
      </p:sp>
      <p:cxnSp>
        <p:nvCxnSpPr>
          <p:cNvPr id="892" name="Google Shape;892;p48"/>
          <p:cNvCxnSpPr>
            <a:stCxn id="889" idx="3"/>
            <a:endCxn id="890" idx="1"/>
          </p:cNvCxnSpPr>
          <p:nvPr/>
        </p:nvCxnSpPr>
        <p:spPr>
          <a:xfrm>
            <a:off x="2738977" y="2129574"/>
            <a:ext cx="1866900" cy="0"/>
          </a:xfrm>
          <a:prstGeom prst="straightConnector1">
            <a:avLst/>
          </a:prstGeom>
          <a:noFill/>
          <a:ln cap="flat" cmpd="sng" w="9525">
            <a:solidFill>
              <a:schemeClr val="dk2"/>
            </a:solidFill>
            <a:prstDash val="solid"/>
            <a:round/>
            <a:headEnd len="med" w="med" type="none"/>
            <a:tailEnd len="med" w="med" type="none"/>
          </a:ln>
        </p:spPr>
      </p:cxnSp>
      <p:cxnSp>
        <p:nvCxnSpPr>
          <p:cNvPr id="893" name="Google Shape;893;p48"/>
          <p:cNvCxnSpPr>
            <a:stCxn id="890" idx="2"/>
            <a:endCxn id="891" idx="0"/>
          </p:cNvCxnSpPr>
          <p:nvPr/>
        </p:nvCxnSpPr>
        <p:spPr>
          <a:xfrm>
            <a:off x="5272627" y="2318124"/>
            <a:ext cx="0" cy="1527900"/>
          </a:xfrm>
          <a:prstGeom prst="straightConnector1">
            <a:avLst/>
          </a:prstGeom>
          <a:noFill/>
          <a:ln cap="flat" cmpd="sng" w="9525">
            <a:solidFill>
              <a:schemeClr val="dk2"/>
            </a:solidFill>
            <a:prstDash val="solid"/>
            <a:round/>
            <a:headEnd len="med" w="med" type="none"/>
            <a:tailEnd len="med" w="med" type="none"/>
          </a:ln>
        </p:spPr>
      </p:cxnSp>
      <p:cxnSp>
        <p:nvCxnSpPr>
          <p:cNvPr id="894" name="Google Shape;894;p48"/>
          <p:cNvCxnSpPr>
            <a:stCxn id="889" idx="2"/>
            <a:endCxn id="891" idx="1"/>
          </p:cNvCxnSpPr>
          <p:nvPr/>
        </p:nvCxnSpPr>
        <p:spPr>
          <a:xfrm>
            <a:off x="2072227" y="2318124"/>
            <a:ext cx="2533800" cy="1716300"/>
          </a:xfrm>
          <a:prstGeom prst="straightConnector1">
            <a:avLst/>
          </a:prstGeom>
          <a:noFill/>
          <a:ln cap="flat" cmpd="sng" w="9525">
            <a:solidFill>
              <a:schemeClr val="dk2"/>
            </a:solidFill>
            <a:prstDash val="solid"/>
            <a:round/>
            <a:headEnd len="med" w="med" type="none"/>
            <a:tailEnd len="med" w="med" type="none"/>
          </a:ln>
        </p:spPr>
      </p:cxnSp>
      <p:cxnSp>
        <p:nvCxnSpPr>
          <p:cNvPr id="895" name="Google Shape;895;p48"/>
          <p:cNvCxnSpPr/>
          <p:nvPr/>
        </p:nvCxnSpPr>
        <p:spPr>
          <a:xfrm>
            <a:off x="3305575" y="1985500"/>
            <a:ext cx="525900" cy="10800"/>
          </a:xfrm>
          <a:prstGeom prst="straightConnector1">
            <a:avLst/>
          </a:prstGeom>
          <a:noFill/>
          <a:ln cap="flat" cmpd="sng" w="9525">
            <a:solidFill>
              <a:schemeClr val="dk2"/>
            </a:solidFill>
            <a:prstDash val="solid"/>
            <a:round/>
            <a:headEnd len="med" w="med" type="none"/>
            <a:tailEnd len="med" w="med" type="triangle"/>
          </a:ln>
        </p:spPr>
      </p:cxnSp>
      <p:cxnSp>
        <p:nvCxnSpPr>
          <p:cNvPr id="896" name="Google Shape;896;p48"/>
          <p:cNvCxnSpPr/>
          <p:nvPr/>
        </p:nvCxnSpPr>
        <p:spPr>
          <a:xfrm>
            <a:off x="3200400" y="2919200"/>
            <a:ext cx="440100" cy="289800"/>
          </a:xfrm>
          <a:prstGeom prst="straightConnector1">
            <a:avLst/>
          </a:prstGeom>
          <a:noFill/>
          <a:ln cap="flat" cmpd="sng" w="9525">
            <a:solidFill>
              <a:schemeClr val="dk2"/>
            </a:solidFill>
            <a:prstDash val="solid"/>
            <a:round/>
            <a:headEnd len="med" w="med" type="none"/>
            <a:tailEnd len="med" w="med" type="triangle"/>
          </a:ln>
        </p:spPr>
      </p:cxnSp>
      <p:sp>
        <p:nvSpPr>
          <p:cNvPr id="897" name="Google Shape;897;p48"/>
          <p:cNvSpPr txBox="1"/>
          <p:nvPr/>
        </p:nvSpPr>
        <p:spPr>
          <a:xfrm>
            <a:off x="3177850" y="1575525"/>
            <a:ext cx="10851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 m1()</a:t>
            </a:r>
            <a:endParaRPr sz="1800">
              <a:solidFill>
                <a:schemeClr val="dk2"/>
              </a:solidFill>
              <a:latin typeface="Times New Roman"/>
              <a:ea typeface="Times New Roman"/>
              <a:cs typeface="Times New Roman"/>
              <a:sym typeface="Times New Roman"/>
            </a:endParaRPr>
          </a:p>
        </p:txBody>
      </p:sp>
      <p:sp>
        <p:nvSpPr>
          <p:cNvPr id="898" name="Google Shape;898;p48"/>
          <p:cNvSpPr txBox="1"/>
          <p:nvPr/>
        </p:nvSpPr>
        <p:spPr>
          <a:xfrm rot="2024176">
            <a:off x="3155943" y="2790849"/>
            <a:ext cx="1134917" cy="37700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1</a:t>
            </a:r>
            <a:r>
              <a:rPr lang="en-GB" sz="1800">
                <a:solidFill>
                  <a:schemeClr val="dk2"/>
                </a:solidFill>
                <a:latin typeface="Times New Roman"/>
                <a:ea typeface="Times New Roman"/>
                <a:cs typeface="Times New Roman"/>
                <a:sym typeface="Times New Roman"/>
              </a:rPr>
              <a:t>b</a:t>
            </a:r>
            <a:r>
              <a:rPr lang="en-GB" sz="1800">
                <a:solidFill>
                  <a:schemeClr val="dk2"/>
                </a:solidFill>
                <a:latin typeface="Times New Roman"/>
                <a:ea typeface="Times New Roman"/>
                <a:cs typeface="Times New Roman"/>
                <a:sym typeface="Times New Roman"/>
              </a:rPr>
              <a:t>: m</a:t>
            </a:r>
            <a:r>
              <a:rPr lang="en-GB" sz="1800">
                <a:solidFill>
                  <a:schemeClr val="dk2"/>
                </a:solidFill>
                <a:latin typeface="Times New Roman"/>
                <a:ea typeface="Times New Roman"/>
                <a:cs typeface="Times New Roman"/>
                <a:sym typeface="Times New Roman"/>
              </a:rPr>
              <a:t>2()</a:t>
            </a:r>
            <a:endParaRPr sz="1800">
              <a:solidFill>
                <a:schemeClr val="dk2"/>
              </a:solidFill>
              <a:latin typeface="Times New Roman"/>
              <a:ea typeface="Times New Roman"/>
              <a:cs typeface="Times New Roman"/>
              <a:sym typeface="Times New Roman"/>
            </a:endParaRPr>
          </a:p>
        </p:txBody>
      </p:sp>
      <p:cxnSp>
        <p:nvCxnSpPr>
          <p:cNvPr id="899" name="Google Shape;899;p48"/>
          <p:cNvCxnSpPr/>
          <p:nvPr/>
        </p:nvCxnSpPr>
        <p:spPr>
          <a:xfrm rot="10800000">
            <a:off x="5132225" y="2801025"/>
            <a:ext cx="0" cy="450900"/>
          </a:xfrm>
          <a:prstGeom prst="straightConnector1">
            <a:avLst/>
          </a:prstGeom>
          <a:noFill/>
          <a:ln cap="flat" cmpd="sng" w="9525">
            <a:solidFill>
              <a:schemeClr val="dk2"/>
            </a:solidFill>
            <a:prstDash val="solid"/>
            <a:round/>
            <a:headEnd len="med" w="med" type="none"/>
            <a:tailEnd len="med" w="med" type="triangle"/>
          </a:ln>
        </p:spPr>
      </p:cxnSp>
      <p:sp>
        <p:nvSpPr>
          <p:cNvPr id="900" name="Google Shape;900;p48"/>
          <p:cNvSpPr txBox="1"/>
          <p:nvPr/>
        </p:nvSpPr>
        <p:spPr>
          <a:xfrm>
            <a:off x="4081525" y="2642325"/>
            <a:ext cx="1153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a:t>
            </a:r>
            <a:r>
              <a:rPr lang="en-GB" sz="1600">
                <a:solidFill>
                  <a:schemeClr val="dk2"/>
                </a:solidFill>
                <a:latin typeface="Times New Roman"/>
                <a:ea typeface="Times New Roman"/>
                <a:cs typeface="Times New Roman"/>
                <a:sym typeface="Times New Roman"/>
              </a:rPr>
              <a:t>b.1</a:t>
            </a:r>
            <a:r>
              <a:rPr lang="en-GB" sz="1600">
                <a:solidFill>
                  <a:schemeClr val="dk2"/>
                </a:solidFill>
                <a:latin typeface="Times New Roman"/>
                <a:ea typeface="Times New Roman"/>
                <a:cs typeface="Times New Roman"/>
                <a:sym typeface="Times New Roman"/>
              </a:rPr>
              <a:t>: m</a:t>
            </a:r>
            <a:r>
              <a:rPr lang="en-GB" sz="1600">
                <a:solidFill>
                  <a:schemeClr val="dk2"/>
                </a:solidFill>
                <a:latin typeface="Times New Roman"/>
                <a:ea typeface="Times New Roman"/>
                <a:cs typeface="Times New Roman"/>
                <a:sym typeface="Times New Roman"/>
              </a:rPr>
              <a:t>3</a:t>
            </a:r>
            <a:r>
              <a:rPr lang="en-GB" sz="1600">
                <a:solidFill>
                  <a:schemeClr val="dk2"/>
                </a:solidFill>
                <a:latin typeface="Times New Roman"/>
                <a:ea typeface="Times New Roman"/>
                <a:cs typeface="Times New Roman"/>
                <a:sym typeface="Times New Roman"/>
              </a:rPr>
              <a:t>()</a:t>
            </a:r>
            <a:endParaRPr sz="1600">
              <a:solidFill>
                <a:schemeClr val="dk2"/>
              </a:solidFill>
              <a:latin typeface="Times New Roman"/>
              <a:ea typeface="Times New Roman"/>
              <a:cs typeface="Times New Roman"/>
              <a:sym typeface="Times New Roman"/>
            </a:endParaRPr>
          </a:p>
        </p:txBody>
      </p:sp>
      <p:sp>
        <p:nvSpPr>
          <p:cNvPr id="901" name="Google Shape;901;p48"/>
          <p:cNvSpPr txBox="1"/>
          <p:nvPr/>
        </p:nvSpPr>
        <p:spPr>
          <a:xfrm>
            <a:off x="4081525" y="2870925"/>
            <a:ext cx="1153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1b.</a:t>
            </a:r>
            <a:r>
              <a:rPr lang="en-GB" sz="1600">
                <a:solidFill>
                  <a:schemeClr val="dk2"/>
                </a:solidFill>
                <a:latin typeface="Times New Roman"/>
                <a:ea typeface="Times New Roman"/>
                <a:cs typeface="Times New Roman"/>
                <a:sym typeface="Times New Roman"/>
              </a:rPr>
              <a:t>2</a:t>
            </a:r>
            <a:r>
              <a:rPr lang="en-GB" sz="1600">
                <a:solidFill>
                  <a:schemeClr val="dk2"/>
                </a:solidFill>
                <a:latin typeface="Times New Roman"/>
                <a:ea typeface="Times New Roman"/>
                <a:cs typeface="Times New Roman"/>
                <a:sym typeface="Times New Roman"/>
              </a:rPr>
              <a:t>: m5()</a:t>
            </a:r>
            <a:endParaRPr sz="1600">
              <a:solidFill>
                <a:schemeClr val="dk2"/>
              </a:solidFill>
              <a:latin typeface="Times New Roman"/>
              <a:ea typeface="Times New Roman"/>
              <a:cs typeface="Times New Roman"/>
              <a:sym typeface="Times New Roman"/>
            </a:endParaRPr>
          </a:p>
        </p:txBody>
      </p:sp>
      <p:cxnSp>
        <p:nvCxnSpPr>
          <p:cNvPr id="902" name="Google Shape;902;p48"/>
          <p:cNvCxnSpPr/>
          <p:nvPr/>
        </p:nvCxnSpPr>
        <p:spPr>
          <a:xfrm>
            <a:off x="5389800" y="2680950"/>
            <a:ext cx="0" cy="418500"/>
          </a:xfrm>
          <a:prstGeom prst="straightConnector1">
            <a:avLst/>
          </a:prstGeom>
          <a:noFill/>
          <a:ln cap="flat" cmpd="sng" w="9525">
            <a:solidFill>
              <a:schemeClr val="dk2"/>
            </a:solidFill>
            <a:prstDash val="solid"/>
            <a:round/>
            <a:headEnd len="med" w="med" type="none"/>
            <a:tailEnd len="med" w="med" type="triangle"/>
          </a:ln>
        </p:spPr>
      </p:cxnSp>
      <p:sp>
        <p:nvSpPr>
          <p:cNvPr id="903" name="Google Shape;903;p48"/>
          <p:cNvSpPr txBox="1"/>
          <p:nvPr/>
        </p:nvSpPr>
        <p:spPr>
          <a:xfrm>
            <a:off x="5376925" y="2566125"/>
            <a:ext cx="12246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1b.1.</a:t>
            </a:r>
            <a:r>
              <a:rPr lang="en-GB" sz="1600">
                <a:solidFill>
                  <a:schemeClr val="dk2"/>
                </a:solidFill>
                <a:latin typeface="Times New Roman"/>
                <a:ea typeface="Times New Roman"/>
                <a:cs typeface="Times New Roman"/>
                <a:sym typeface="Times New Roman"/>
              </a:rPr>
              <a:t>1</a:t>
            </a:r>
            <a:r>
              <a:rPr lang="en-GB" sz="1600">
                <a:solidFill>
                  <a:schemeClr val="dk2"/>
                </a:solidFill>
                <a:latin typeface="Times New Roman"/>
                <a:ea typeface="Times New Roman"/>
                <a:cs typeface="Times New Roman"/>
                <a:sym typeface="Times New Roman"/>
              </a:rPr>
              <a:t>: m4()</a:t>
            </a:r>
            <a:endParaRPr sz="1600">
              <a:solidFill>
                <a:schemeClr val="dk2"/>
              </a:solidFill>
              <a:latin typeface="Times New Roman"/>
              <a:ea typeface="Times New Roman"/>
              <a:cs typeface="Times New Roman"/>
              <a:sym typeface="Times New Roman"/>
            </a:endParaRPr>
          </a:p>
        </p:txBody>
      </p:sp>
      <p:cxnSp>
        <p:nvCxnSpPr>
          <p:cNvPr id="904" name="Google Shape;904;p48"/>
          <p:cNvCxnSpPr/>
          <p:nvPr/>
        </p:nvCxnSpPr>
        <p:spPr>
          <a:xfrm>
            <a:off x="5549725" y="3048000"/>
            <a:ext cx="0" cy="375600"/>
          </a:xfrm>
          <a:prstGeom prst="straightConnector1">
            <a:avLst/>
          </a:prstGeom>
          <a:noFill/>
          <a:ln cap="flat" cmpd="sng" w="9525">
            <a:solidFill>
              <a:schemeClr val="dk2"/>
            </a:solidFill>
            <a:prstDash val="solid"/>
            <a:round/>
            <a:headEnd len="med" w="med" type="none"/>
            <a:tailEnd len="med" w="med" type="triangle"/>
          </a:ln>
        </p:spPr>
      </p:cxnSp>
      <p:sp>
        <p:nvSpPr>
          <p:cNvPr id="905" name="Google Shape;905;p48"/>
          <p:cNvSpPr txBox="1"/>
          <p:nvPr/>
        </p:nvSpPr>
        <p:spPr>
          <a:xfrm>
            <a:off x="5540050" y="2870925"/>
            <a:ext cx="10851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2</a:t>
            </a:r>
            <a:r>
              <a:rPr lang="en-GB" sz="1800">
                <a:solidFill>
                  <a:schemeClr val="dk2"/>
                </a:solidFill>
                <a:latin typeface="Times New Roman"/>
                <a:ea typeface="Times New Roman"/>
                <a:cs typeface="Times New Roman"/>
                <a:sym typeface="Times New Roman"/>
              </a:rPr>
              <a:t>: m6()</a:t>
            </a:r>
            <a:endParaRPr sz="1800">
              <a:solidFill>
                <a:schemeClr val="dk2"/>
              </a:solidFill>
              <a:latin typeface="Times New Roman"/>
              <a:ea typeface="Times New Roman"/>
              <a:cs typeface="Times New Roman"/>
              <a:sym typeface="Times New Roman"/>
            </a:endParaRPr>
          </a:p>
        </p:txBody>
      </p:sp>
      <p:sp>
        <p:nvSpPr>
          <p:cNvPr id="906" name="Google Shape;906;p48"/>
          <p:cNvSpPr txBox="1"/>
          <p:nvPr/>
        </p:nvSpPr>
        <p:spPr>
          <a:xfrm>
            <a:off x="332700" y="774875"/>
            <a:ext cx="7856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Tương tự đánh số đầu mục nội dung sách.</a:t>
            </a:r>
            <a:endParaRPr i="1" sz="2400">
              <a:solidFill>
                <a:schemeClr val="dk2"/>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12" name="Google Shape;912;p49"/>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Các bước vẽ sơ đồ giao tiếp</a:t>
            </a:r>
            <a:endParaRPr/>
          </a:p>
          <a:p>
            <a:pPr indent="0" lvl="0" marL="0" rtl="0" algn="l">
              <a:spcBef>
                <a:spcPts val="0"/>
              </a:spcBef>
              <a:spcAft>
                <a:spcPts val="0"/>
              </a:spcAft>
              <a:buNone/>
            </a:pPr>
            <a:r>
              <a:t/>
            </a:r>
            <a:endParaRPr/>
          </a:p>
        </p:txBody>
      </p:sp>
      <p:sp>
        <p:nvSpPr>
          <p:cNvPr id="913" name="Google Shape;913;p49"/>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GB"/>
              <a:t>Thiết lập ngữ cảnh</a:t>
            </a:r>
            <a:endParaRPr/>
          </a:p>
          <a:p>
            <a:pPr indent="-381000" lvl="0" marL="457200" rtl="0" algn="l">
              <a:spcBef>
                <a:spcPts val="0"/>
              </a:spcBef>
              <a:spcAft>
                <a:spcPts val="0"/>
              </a:spcAft>
              <a:buSzPts val="2400"/>
              <a:buAutoNum type="arabicPeriod"/>
            </a:pPr>
            <a:r>
              <a:rPr lang="en-GB"/>
              <a:t>Xác định các đối tượng, tác nhân </a:t>
            </a:r>
            <a:endParaRPr/>
          </a:p>
          <a:p>
            <a:pPr indent="-381000" lvl="0" marL="457200" rtl="0" algn="l">
              <a:spcBef>
                <a:spcPts val="0"/>
              </a:spcBef>
              <a:spcAft>
                <a:spcPts val="0"/>
              </a:spcAft>
              <a:buSzPts val="2400"/>
              <a:buAutoNum type="arabicPeriod"/>
            </a:pPr>
            <a:r>
              <a:rPr lang="en-GB"/>
              <a:t>Xác định các m</a:t>
            </a:r>
            <a:r>
              <a:rPr lang="en-GB"/>
              <a:t>ối quan hệ giữa các thành phần</a:t>
            </a:r>
            <a:endParaRPr/>
          </a:p>
          <a:p>
            <a:pPr indent="-381000" lvl="0" marL="457200" rtl="0" algn="l">
              <a:spcBef>
                <a:spcPts val="0"/>
              </a:spcBef>
              <a:spcAft>
                <a:spcPts val="0"/>
              </a:spcAft>
              <a:buSzPts val="2400"/>
              <a:buAutoNum type="arabicPeriod"/>
            </a:pPr>
            <a:r>
              <a:rPr lang="en-GB"/>
              <a:t>Bố trí các thành phần trên </a:t>
            </a:r>
            <a:r>
              <a:rPr lang="en-GB"/>
              <a:t>sơ đồ</a:t>
            </a:r>
            <a:endParaRPr/>
          </a:p>
          <a:p>
            <a:pPr indent="-381000" lvl="0" marL="457200" rtl="0" algn="l">
              <a:spcBef>
                <a:spcPts val="0"/>
              </a:spcBef>
              <a:spcAft>
                <a:spcPts val="0"/>
              </a:spcAft>
              <a:buSzPts val="2400"/>
              <a:buAutoNum type="arabicPeriod"/>
            </a:pPr>
            <a:r>
              <a:rPr lang="en-GB"/>
              <a:t>Biểu diễn</a:t>
            </a:r>
            <a:r>
              <a:rPr lang="en-GB"/>
              <a:t> các thông điệp</a:t>
            </a:r>
            <a:endParaRPr/>
          </a:p>
          <a:p>
            <a:pPr indent="-381000" lvl="0" marL="457200" rtl="0" algn="l">
              <a:spcBef>
                <a:spcPts val="0"/>
              </a:spcBef>
              <a:spcAft>
                <a:spcPts val="0"/>
              </a:spcAft>
              <a:buSzPts val="2400"/>
              <a:buAutoNum type="arabicPeriod"/>
            </a:pPr>
            <a:r>
              <a:rPr lang="en-GB"/>
              <a:t>Kiểm tra mô hình</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50"/>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 giao tiếp vs. DFD mức ngữ cảnh.</a:t>
            </a:r>
            <a:endParaRPr/>
          </a:p>
        </p:txBody>
      </p:sp>
      <p:sp>
        <p:nvSpPr>
          <p:cNvPr id="919" name="Google Shape;919;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0" name="Google Shape;920;p50"/>
          <p:cNvSpPr/>
          <p:nvPr/>
        </p:nvSpPr>
        <p:spPr>
          <a:xfrm>
            <a:off x="1866335" y="2383650"/>
            <a:ext cx="16719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Người dùng</a:t>
            </a:r>
            <a:endParaRPr sz="1600">
              <a:latin typeface="Times New Roman"/>
              <a:ea typeface="Times New Roman"/>
              <a:cs typeface="Times New Roman"/>
              <a:sym typeface="Times New Roman"/>
            </a:endParaRPr>
          </a:p>
        </p:txBody>
      </p:sp>
      <p:sp>
        <p:nvSpPr>
          <p:cNvPr id="921" name="Google Shape;921;p50"/>
          <p:cNvSpPr/>
          <p:nvPr/>
        </p:nvSpPr>
        <p:spPr>
          <a:xfrm>
            <a:off x="5579775" y="1981200"/>
            <a:ext cx="1749300" cy="1599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22" name="Google Shape;922;p50"/>
          <p:cNvCxnSpPr/>
          <p:nvPr/>
        </p:nvCxnSpPr>
        <p:spPr>
          <a:xfrm>
            <a:off x="5569050" y="2367575"/>
            <a:ext cx="1770900" cy="0"/>
          </a:xfrm>
          <a:prstGeom prst="straightConnector1">
            <a:avLst/>
          </a:prstGeom>
          <a:noFill/>
          <a:ln cap="flat" cmpd="sng" w="9525">
            <a:solidFill>
              <a:schemeClr val="dk2"/>
            </a:solidFill>
            <a:prstDash val="solid"/>
            <a:round/>
            <a:headEnd len="med" w="med" type="none"/>
            <a:tailEnd len="med" w="med" type="none"/>
          </a:ln>
        </p:spPr>
      </p:cxnSp>
      <p:sp>
        <p:nvSpPr>
          <p:cNvPr id="923" name="Google Shape;923;p50"/>
          <p:cNvSpPr txBox="1"/>
          <p:nvPr/>
        </p:nvSpPr>
        <p:spPr>
          <a:xfrm>
            <a:off x="5649525" y="2405125"/>
            <a:ext cx="1561500" cy="10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Hệ thống tra cứu thông tin</a:t>
            </a:r>
            <a:endParaRPr sz="1800">
              <a:solidFill>
                <a:schemeClr val="dk2"/>
              </a:solidFill>
              <a:latin typeface="Times New Roman"/>
              <a:ea typeface="Times New Roman"/>
              <a:cs typeface="Times New Roman"/>
              <a:sym typeface="Times New Roman"/>
            </a:endParaRPr>
          </a:p>
        </p:txBody>
      </p:sp>
      <p:cxnSp>
        <p:nvCxnSpPr>
          <p:cNvPr id="924" name="Google Shape;924;p50"/>
          <p:cNvCxnSpPr/>
          <p:nvPr/>
        </p:nvCxnSpPr>
        <p:spPr>
          <a:xfrm>
            <a:off x="3540625" y="2517825"/>
            <a:ext cx="2028300" cy="0"/>
          </a:xfrm>
          <a:prstGeom prst="straightConnector1">
            <a:avLst/>
          </a:prstGeom>
          <a:noFill/>
          <a:ln cap="flat" cmpd="sng" w="9525">
            <a:solidFill>
              <a:schemeClr val="dk2"/>
            </a:solidFill>
            <a:prstDash val="solid"/>
            <a:round/>
            <a:headEnd len="med" w="med" type="none"/>
            <a:tailEnd len="med" w="med" type="triangle"/>
          </a:ln>
        </p:spPr>
      </p:cxnSp>
      <p:cxnSp>
        <p:nvCxnSpPr>
          <p:cNvPr id="925" name="Google Shape;925;p50"/>
          <p:cNvCxnSpPr/>
          <p:nvPr/>
        </p:nvCxnSpPr>
        <p:spPr>
          <a:xfrm rot="10800000">
            <a:off x="3539625" y="2946325"/>
            <a:ext cx="2033700" cy="0"/>
          </a:xfrm>
          <a:prstGeom prst="straightConnector1">
            <a:avLst/>
          </a:prstGeom>
          <a:noFill/>
          <a:ln cap="flat" cmpd="sng" w="9525">
            <a:solidFill>
              <a:schemeClr val="dk2"/>
            </a:solidFill>
            <a:prstDash val="solid"/>
            <a:round/>
            <a:headEnd len="med" w="med" type="none"/>
            <a:tailEnd len="med" w="med" type="triangle"/>
          </a:ln>
        </p:spPr>
      </p:cxnSp>
      <p:sp>
        <p:nvSpPr>
          <p:cNvPr id="926" name="Google Shape;926;p50"/>
          <p:cNvSpPr txBox="1"/>
          <p:nvPr/>
        </p:nvSpPr>
        <p:spPr>
          <a:xfrm>
            <a:off x="3831449" y="2128225"/>
            <a:ext cx="14082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Mô tả yêu cầu</a:t>
            </a:r>
            <a:endParaRPr sz="1600">
              <a:solidFill>
                <a:schemeClr val="dk2"/>
              </a:solidFill>
              <a:latin typeface="Times New Roman"/>
              <a:ea typeface="Times New Roman"/>
              <a:cs typeface="Times New Roman"/>
              <a:sym typeface="Times New Roman"/>
            </a:endParaRPr>
          </a:p>
        </p:txBody>
      </p:sp>
      <p:sp>
        <p:nvSpPr>
          <p:cNvPr id="927" name="Google Shape;927;p50"/>
          <p:cNvSpPr txBox="1"/>
          <p:nvPr/>
        </p:nvSpPr>
        <p:spPr>
          <a:xfrm>
            <a:off x="4060050" y="2966425"/>
            <a:ext cx="9306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Kết quả</a:t>
            </a:r>
            <a:endParaRPr sz="1600">
              <a:solidFill>
                <a:schemeClr val="dk2"/>
              </a:solidFill>
              <a:latin typeface="Times New Roman"/>
              <a:ea typeface="Times New Roman"/>
              <a:cs typeface="Times New Roman"/>
              <a:sym typeface="Times New Roman"/>
            </a:endParaRPr>
          </a:p>
        </p:txBody>
      </p:sp>
      <p:sp>
        <p:nvSpPr>
          <p:cNvPr id="928" name="Google Shape;928;p50"/>
          <p:cNvSpPr txBox="1"/>
          <p:nvPr/>
        </p:nvSpPr>
        <p:spPr>
          <a:xfrm>
            <a:off x="439850" y="1104375"/>
            <a:ext cx="83925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latin typeface="Times New Roman"/>
                <a:ea typeface="Times New Roman"/>
                <a:cs typeface="Times New Roman"/>
                <a:sym typeface="Times New Roman"/>
              </a:rPr>
              <a:t>Sơ đồ luồng dữ liệu / </a:t>
            </a:r>
            <a:r>
              <a:rPr b="1" lang="en-GB" sz="2400">
                <a:solidFill>
                  <a:schemeClr val="dk2"/>
                </a:solidFill>
                <a:latin typeface="Times New Roman"/>
                <a:ea typeface="Times New Roman"/>
                <a:cs typeface="Times New Roman"/>
                <a:sym typeface="Times New Roman"/>
              </a:rPr>
              <a:t>D</a:t>
            </a:r>
            <a:r>
              <a:rPr lang="en-GB" sz="2400">
                <a:solidFill>
                  <a:schemeClr val="dk2"/>
                </a:solidFill>
                <a:latin typeface="Times New Roman"/>
                <a:ea typeface="Times New Roman"/>
                <a:cs typeface="Times New Roman"/>
                <a:sym typeface="Times New Roman"/>
              </a:rPr>
              <a:t>ata </a:t>
            </a:r>
            <a:r>
              <a:rPr b="1" lang="en-GB" sz="2400">
                <a:solidFill>
                  <a:schemeClr val="dk2"/>
                </a:solidFill>
                <a:latin typeface="Times New Roman"/>
                <a:ea typeface="Times New Roman"/>
                <a:cs typeface="Times New Roman"/>
                <a:sym typeface="Times New Roman"/>
              </a:rPr>
              <a:t>F</a:t>
            </a:r>
            <a:r>
              <a:rPr lang="en-GB" sz="2400">
                <a:solidFill>
                  <a:schemeClr val="dk2"/>
                </a:solidFill>
                <a:latin typeface="Times New Roman"/>
                <a:ea typeface="Times New Roman"/>
                <a:cs typeface="Times New Roman"/>
                <a:sym typeface="Times New Roman"/>
              </a:rPr>
              <a:t>low </a:t>
            </a:r>
            <a:r>
              <a:rPr b="1" lang="en-GB" sz="2400">
                <a:solidFill>
                  <a:schemeClr val="dk2"/>
                </a:solidFill>
                <a:latin typeface="Times New Roman"/>
                <a:ea typeface="Times New Roman"/>
                <a:cs typeface="Times New Roman"/>
                <a:sym typeface="Times New Roman"/>
              </a:rPr>
              <a:t>D</a:t>
            </a:r>
            <a:r>
              <a:rPr lang="en-GB" sz="2400">
                <a:solidFill>
                  <a:schemeClr val="dk2"/>
                </a:solidFill>
                <a:latin typeface="Times New Roman"/>
                <a:ea typeface="Times New Roman"/>
                <a:cs typeface="Times New Roman"/>
                <a:sym typeface="Times New Roman"/>
              </a:rPr>
              <a:t>iagram - DFD</a:t>
            </a:r>
            <a:endParaRPr sz="2400">
              <a:solidFill>
                <a:schemeClr val="dk2"/>
              </a:solidFill>
              <a:latin typeface="Times New Roman"/>
              <a:ea typeface="Times New Roman"/>
              <a:cs typeface="Times New Roman"/>
              <a:sym typeface="Times New Roman"/>
            </a:endParaRPr>
          </a:p>
        </p:txBody>
      </p:sp>
      <p:sp>
        <p:nvSpPr>
          <p:cNvPr id="929" name="Google Shape;929;p50"/>
          <p:cNvSpPr/>
          <p:nvPr/>
        </p:nvSpPr>
        <p:spPr>
          <a:xfrm>
            <a:off x="2034850" y="3923750"/>
            <a:ext cx="5161200" cy="206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930" name="Google Shape;930;p50"/>
          <p:cNvSpPr/>
          <p:nvPr/>
        </p:nvSpPr>
        <p:spPr>
          <a:xfrm rot="10800000">
            <a:off x="2034850" y="3923750"/>
            <a:ext cx="2759300" cy="30050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931" name="Google Shape;931;p50"/>
          <p:cNvSpPr txBox="1"/>
          <p:nvPr/>
        </p:nvSpPr>
        <p:spPr>
          <a:xfrm>
            <a:off x="2013375" y="3837900"/>
            <a:ext cx="29772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Tra cứu thông tin</a:t>
            </a:r>
            <a:endParaRPr sz="1600">
              <a:solidFill>
                <a:schemeClr val="dk2"/>
              </a:solidFill>
              <a:latin typeface="Times New Roman"/>
              <a:ea typeface="Times New Roman"/>
              <a:cs typeface="Times New Roman"/>
              <a:sym typeface="Times New Roman"/>
            </a:endParaRPr>
          </a:p>
        </p:txBody>
      </p:sp>
      <p:sp>
        <p:nvSpPr>
          <p:cNvPr id="932" name="Google Shape;932;p50"/>
          <p:cNvSpPr/>
          <p:nvPr/>
        </p:nvSpPr>
        <p:spPr>
          <a:xfrm>
            <a:off x="2577275" y="4638250"/>
            <a:ext cx="150300" cy="15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33" name="Google Shape;933;p50"/>
          <p:cNvCxnSpPr/>
          <p:nvPr/>
        </p:nvCxnSpPr>
        <p:spPr>
          <a:xfrm>
            <a:off x="2652425" y="4788550"/>
            <a:ext cx="0" cy="214500"/>
          </a:xfrm>
          <a:prstGeom prst="straightConnector1">
            <a:avLst/>
          </a:prstGeom>
          <a:noFill/>
          <a:ln cap="flat" cmpd="sng" w="9525">
            <a:solidFill>
              <a:schemeClr val="dk2"/>
            </a:solidFill>
            <a:prstDash val="solid"/>
            <a:round/>
            <a:headEnd len="med" w="med" type="none"/>
            <a:tailEnd len="med" w="med" type="none"/>
          </a:ln>
        </p:spPr>
      </p:cxnSp>
      <p:cxnSp>
        <p:nvCxnSpPr>
          <p:cNvPr id="934" name="Google Shape;934;p50"/>
          <p:cNvCxnSpPr/>
          <p:nvPr/>
        </p:nvCxnSpPr>
        <p:spPr>
          <a:xfrm>
            <a:off x="2652400" y="4990000"/>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935" name="Google Shape;935;p50"/>
          <p:cNvCxnSpPr/>
          <p:nvPr/>
        </p:nvCxnSpPr>
        <p:spPr>
          <a:xfrm>
            <a:off x="2653200" y="4881975"/>
            <a:ext cx="133500" cy="123900"/>
          </a:xfrm>
          <a:prstGeom prst="straightConnector1">
            <a:avLst/>
          </a:prstGeom>
          <a:noFill/>
          <a:ln cap="flat" cmpd="sng" w="9525">
            <a:solidFill>
              <a:schemeClr val="dk2"/>
            </a:solidFill>
            <a:prstDash val="solid"/>
            <a:round/>
            <a:headEnd len="med" w="med" type="none"/>
            <a:tailEnd len="med" w="med" type="none"/>
          </a:ln>
        </p:spPr>
      </p:cxnSp>
      <p:cxnSp>
        <p:nvCxnSpPr>
          <p:cNvPr id="936" name="Google Shape;936;p50"/>
          <p:cNvCxnSpPr/>
          <p:nvPr/>
        </p:nvCxnSpPr>
        <p:spPr>
          <a:xfrm flipH="1">
            <a:off x="2535150" y="4985238"/>
            <a:ext cx="118200" cy="118200"/>
          </a:xfrm>
          <a:prstGeom prst="straightConnector1">
            <a:avLst/>
          </a:prstGeom>
          <a:noFill/>
          <a:ln cap="flat" cmpd="sng" w="9525">
            <a:solidFill>
              <a:schemeClr val="dk2"/>
            </a:solidFill>
            <a:prstDash val="solid"/>
            <a:round/>
            <a:headEnd len="med" w="med" type="none"/>
            <a:tailEnd len="med" w="med" type="none"/>
          </a:ln>
        </p:spPr>
      </p:cxnSp>
      <p:cxnSp>
        <p:nvCxnSpPr>
          <p:cNvPr id="937" name="Google Shape;937;p50"/>
          <p:cNvCxnSpPr/>
          <p:nvPr/>
        </p:nvCxnSpPr>
        <p:spPr>
          <a:xfrm flipH="1">
            <a:off x="2519050" y="4877213"/>
            <a:ext cx="133500" cy="123900"/>
          </a:xfrm>
          <a:prstGeom prst="straightConnector1">
            <a:avLst/>
          </a:prstGeom>
          <a:noFill/>
          <a:ln cap="flat" cmpd="sng" w="9525">
            <a:solidFill>
              <a:schemeClr val="dk2"/>
            </a:solidFill>
            <a:prstDash val="solid"/>
            <a:round/>
            <a:headEnd len="med" w="med" type="none"/>
            <a:tailEnd len="med" w="med" type="none"/>
          </a:ln>
        </p:spPr>
      </p:cxnSp>
      <p:sp>
        <p:nvSpPr>
          <p:cNvPr id="938" name="Google Shape;938;p50"/>
          <p:cNvSpPr txBox="1"/>
          <p:nvPr/>
        </p:nvSpPr>
        <p:spPr>
          <a:xfrm>
            <a:off x="2122325" y="5057900"/>
            <a:ext cx="1230600" cy="60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NVA: </a:t>
            </a:r>
            <a:endParaRPr sz="1600">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Người Dùng</a:t>
            </a:r>
            <a:endParaRPr sz="1600">
              <a:solidFill>
                <a:schemeClr val="dk2"/>
              </a:solidFill>
              <a:latin typeface="Times New Roman"/>
              <a:ea typeface="Times New Roman"/>
              <a:cs typeface="Times New Roman"/>
              <a:sym typeface="Times New Roman"/>
            </a:endParaRPr>
          </a:p>
        </p:txBody>
      </p:sp>
      <p:sp>
        <p:nvSpPr>
          <p:cNvPr id="939" name="Google Shape;939;p50"/>
          <p:cNvSpPr/>
          <p:nvPr/>
        </p:nvSpPr>
        <p:spPr>
          <a:xfrm>
            <a:off x="5316800" y="4593450"/>
            <a:ext cx="16719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:Hệ thống</a:t>
            </a:r>
            <a:endParaRPr sz="1600">
              <a:latin typeface="Times New Roman"/>
              <a:ea typeface="Times New Roman"/>
              <a:cs typeface="Times New Roman"/>
              <a:sym typeface="Times New Roman"/>
            </a:endParaRPr>
          </a:p>
        </p:txBody>
      </p:sp>
      <p:cxnSp>
        <p:nvCxnSpPr>
          <p:cNvPr id="940" name="Google Shape;940;p50"/>
          <p:cNvCxnSpPr>
            <a:endCxn id="939" idx="1"/>
          </p:cNvCxnSpPr>
          <p:nvPr/>
        </p:nvCxnSpPr>
        <p:spPr>
          <a:xfrm flipH="1" rot="10800000">
            <a:off x="3256100" y="4975200"/>
            <a:ext cx="2060700" cy="27300"/>
          </a:xfrm>
          <a:prstGeom prst="straightConnector1">
            <a:avLst/>
          </a:prstGeom>
          <a:noFill/>
          <a:ln cap="flat" cmpd="sng" w="9525">
            <a:solidFill>
              <a:schemeClr val="dk2"/>
            </a:solidFill>
            <a:prstDash val="solid"/>
            <a:round/>
            <a:headEnd len="med" w="med" type="none"/>
            <a:tailEnd len="med" w="med" type="none"/>
          </a:ln>
        </p:spPr>
      </p:cxnSp>
      <p:cxnSp>
        <p:nvCxnSpPr>
          <p:cNvPr id="941" name="Google Shape;941;p50"/>
          <p:cNvCxnSpPr/>
          <p:nvPr/>
        </p:nvCxnSpPr>
        <p:spPr>
          <a:xfrm>
            <a:off x="3835750" y="4884300"/>
            <a:ext cx="708300" cy="1200"/>
          </a:xfrm>
          <a:prstGeom prst="straightConnector1">
            <a:avLst/>
          </a:prstGeom>
          <a:noFill/>
          <a:ln cap="flat" cmpd="sng" w="9525">
            <a:solidFill>
              <a:schemeClr val="dk2"/>
            </a:solidFill>
            <a:prstDash val="solid"/>
            <a:round/>
            <a:headEnd len="med" w="med" type="none"/>
            <a:tailEnd len="med" w="med" type="triangle"/>
          </a:ln>
        </p:spPr>
      </p:cxnSp>
      <p:cxnSp>
        <p:nvCxnSpPr>
          <p:cNvPr id="942" name="Google Shape;942;p50"/>
          <p:cNvCxnSpPr/>
          <p:nvPr/>
        </p:nvCxnSpPr>
        <p:spPr>
          <a:xfrm rot="10800000">
            <a:off x="3824950" y="5152600"/>
            <a:ext cx="676200" cy="0"/>
          </a:xfrm>
          <a:prstGeom prst="straightConnector1">
            <a:avLst/>
          </a:prstGeom>
          <a:noFill/>
          <a:ln cap="flat" cmpd="sng" w="9525">
            <a:solidFill>
              <a:schemeClr val="dk2"/>
            </a:solidFill>
            <a:prstDash val="dash"/>
            <a:round/>
            <a:headEnd len="med" w="med" type="none"/>
            <a:tailEnd len="med" w="med" type="triangle"/>
          </a:ln>
        </p:spPr>
      </p:cxnSp>
      <p:sp>
        <p:nvSpPr>
          <p:cNvPr id="943" name="Google Shape;943;p50"/>
          <p:cNvSpPr txBox="1"/>
          <p:nvPr/>
        </p:nvSpPr>
        <p:spPr>
          <a:xfrm>
            <a:off x="3009350" y="4261825"/>
            <a:ext cx="2225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1: Tra cứu thông tin(từ khóa, danh mục)</a:t>
            </a:r>
            <a:endParaRPr sz="1600">
              <a:solidFill>
                <a:schemeClr val="dk2"/>
              </a:solidFill>
              <a:latin typeface="Times New Roman"/>
              <a:ea typeface="Times New Roman"/>
              <a:cs typeface="Times New Roman"/>
              <a:sym typeface="Times New Roman"/>
            </a:endParaRPr>
          </a:p>
        </p:txBody>
      </p:sp>
      <p:sp>
        <p:nvSpPr>
          <p:cNvPr id="944" name="Google Shape;944;p50"/>
          <p:cNvSpPr txBox="1"/>
          <p:nvPr/>
        </p:nvSpPr>
        <p:spPr>
          <a:xfrm>
            <a:off x="3374247" y="5100025"/>
            <a:ext cx="2033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2: Kết quả tra cứu</a:t>
            </a:r>
            <a:endParaRPr sz="1600">
              <a:solidFill>
                <a:schemeClr val="dk2"/>
              </a:solidFill>
              <a:latin typeface="Times New Roman"/>
              <a:ea typeface="Times New Roman"/>
              <a:cs typeface="Times New Roman"/>
              <a:sym typeface="Times New Roman"/>
            </a:endParaRPr>
          </a:p>
        </p:txBody>
      </p:sp>
      <p:sp>
        <p:nvSpPr>
          <p:cNvPr id="945" name="Google Shape;945;p50"/>
          <p:cNvSpPr txBox="1"/>
          <p:nvPr/>
        </p:nvSpPr>
        <p:spPr>
          <a:xfrm>
            <a:off x="6318675" y="1918675"/>
            <a:ext cx="375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0</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51"/>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Các ngôn ngữ mô hình hóa khác nhau nhưng vẫn có những điểm tương đồng nhất định.</a:t>
            </a:r>
            <a:endParaRPr/>
          </a:p>
          <a:p>
            <a:pPr indent="-381000" lvl="0" marL="457200" rtl="0" algn="l">
              <a:spcBef>
                <a:spcPts val="0"/>
              </a:spcBef>
              <a:spcAft>
                <a:spcPts val="0"/>
              </a:spcAft>
              <a:buSzPts val="2400"/>
              <a:buChar char="●"/>
            </a:pPr>
            <a:r>
              <a:rPr lang="en-GB"/>
              <a:t>Tự do xếp đặt các thành phần</a:t>
            </a:r>
            <a:endParaRPr/>
          </a:p>
          <a:p>
            <a:pPr indent="-381000" lvl="0" marL="457200" rtl="0" algn="l">
              <a:spcBef>
                <a:spcPts val="0"/>
              </a:spcBef>
              <a:spcAft>
                <a:spcPts val="0"/>
              </a:spcAft>
              <a:buSzPts val="2400"/>
              <a:buChar char="●"/>
            </a:pPr>
            <a:r>
              <a:rPr lang="en-GB"/>
              <a:t>Tác nhân vs. Thực thể ngoại</a:t>
            </a:r>
            <a:endParaRPr/>
          </a:p>
          <a:p>
            <a:pPr indent="-381000" lvl="0" marL="457200" rtl="0" algn="l">
              <a:spcBef>
                <a:spcPts val="0"/>
              </a:spcBef>
              <a:spcAft>
                <a:spcPts val="0"/>
              </a:spcAft>
              <a:buSzPts val="2400"/>
              <a:buChar char="●"/>
            </a:pPr>
            <a:r>
              <a:rPr lang="en-GB"/>
              <a:t>Đối tượng vs. Tiến trình</a:t>
            </a:r>
            <a:endParaRPr/>
          </a:p>
          <a:p>
            <a:pPr indent="-381000" lvl="0" marL="457200" rtl="0" algn="l">
              <a:spcBef>
                <a:spcPts val="0"/>
              </a:spcBef>
              <a:spcAft>
                <a:spcPts val="0"/>
              </a:spcAft>
              <a:buSzPts val="2400"/>
              <a:buChar char="●"/>
            </a:pPr>
            <a:r>
              <a:rPr lang="en-GB"/>
              <a:t>Tham số vs. Dữ liệu</a:t>
            </a:r>
            <a:endParaRPr/>
          </a:p>
          <a:p>
            <a:pPr indent="-381000" lvl="0" marL="457200" rtl="0" algn="l">
              <a:spcBef>
                <a:spcPts val="0"/>
              </a:spcBef>
              <a:spcAft>
                <a:spcPts val="0"/>
              </a:spcAft>
              <a:buSzPts val="2400"/>
              <a:buChar char="●"/>
            </a:pPr>
            <a:r>
              <a:rPr lang="en-GB"/>
              <a:t>Các thông điệp trong sơ đồ giao tiếp/tương tác được chi tiết hóa dần theo tiến trình phát triển tương tự như việc chi tiết hóa dần các xử lý trong DFD qua các mức.</a:t>
            </a:r>
            <a:endParaRPr/>
          </a:p>
          <a:p>
            <a:pPr indent="-381000" lvl="0" marL="457200" rtl="0" algn="l">
              <a:spcBef>
                <a:spcPts val="0"/>
              </a:spcBef>
              <a:spcAft>
                <a:spcPts val="0"/>
              </a:spcAft>
              <a:buSzPts val="2400"/>
              <a:buChar char="●"/>
            </a:pPr>
            <a:r>
              <a:rPr lang="en-GB"/>
              <a:t>Đối tượng xử lý thông điệp vs Nhiều tiến trình + lưu trữ thực thể.</a:t>
            </a:r>
            <a:endParaRPr/>
          </a:p>
          <a:p>
            <a:pPr indent="0" lvl="0" marL="0" rtl="0" algn="just">
              <a:spcBef>
                <a:spcPts val="0"/>
              </a:spcBef>
              <a:spcAft>
                <a:spcPts val="0"/>
              </a:spcAft>
              <a:buNone/>
            </a:pPr>
            <a:r>
              <a:rPr i="1" lang="en-GB">
                <a:solidFill>
                  <a:srgbClr val="1155CC"/>
                </a:solidFill>
              </a:rPr>
              <a:t>Ca sử dụng không phải là chức năng. Kịch bản thực hiện ca sử dụng bao gồm nhiều thông điệp, xử lý thông điệp có thể tương đương với chức năng và được chi tiết hóa theo tiến trình phát triển!</a:t>
            </a:r>
            <a:endParaRPr i="1">
              <a:solidFill>
                <a:srgbClr val="1155CC"/>
              </a:solidFill>
            </a:endParaRPr>
          </a:p>
          <a:p>
            <a:pPr indent="0" lvl="0" marL="0" rtl="0" algn="l">
              <a:spcBef>
                <a:spcPts val="0"/>
              </a:spcBef>
              <a:spcAft>
                <a:spcPts val="0"/>
              </a:spcAft>
              <a:buNone/>
            </a:pPr>
            <a:r>
              <a:t/>
            </a:r>
            <a:endParaRPr i="1"/>
          </a:p>
        </p:txBody>
      </p:sp>
      <p:sp>
        <p:nvSpPr>
          <p:cNvPr id="951" name="Google Shape;951;p51"/>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giao tiếp </a:t>
            </a:r>
            <a:r>
              <a:rPr lang="en-GB"/>
              <a:t>vs. DFD</a:t>
            </a:r>
            <a:endParaRPr/>
          </a:p>
        </p:txBody>
      </p:sp>
      <p:sp>
        <p:nvSpPr>
          <p:cNvPr id="952" name="Google Shape;952;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58" name="Google Shape;958;p52"/>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4.10. Sơ đồ luồng dữ liệu</a:t>
            </a:r>
            <a:endParaRPr/>
          </a:p>
        </p:txBody>
      </p:sp>
      <p:sp>
        <p:nvSpPr>
          <p:cNvPr id="959" name="Google Shape;959;p52"/>
          <p:cNvSpPr txBox="1"/>
          <p:nvPr/>
        </p:nvSpPr>
        <p:spPr>
          <a:xfrm>
            <a:off x="220225" y="5501588"/>
            <a:ext cx="8611200" cy="4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200">
                <a:solidFill>
                  <a:srgbClr val="666666"/>
                </a:solidFill>
              </a:rPr>
              <a:t>* So sánh với sơ đồ giao tiếp </a:t>
            </a:r>
            <a:r>
              <a:rPr i="1" lang="en-GB" sz="2200">
                <a:solidFill>
                  <a:srgbClr val="666666"/>
                </a:solidFill>
              </a:rPr>
              <a:t>cho cùng kịch bản</a:t>
            </a:r>
            <a:endParaRPr i="1" sz="2200">
              <a:solidFill>
                <a:srgbClr val="666666"/>
              </a:solidFill>
            </a:endParaRPr>
          </a:p>
        </p:txBody>
      </p:sp>
      <p:sp>
        <p:nvSpPr>
          <p:cNvPr id="960" name="Google Shape;960;p52"/>
          <p:cNvSpPr/>
          <p:nvPr/>
        </p:nvSpPr>
        <p:spPr>
          <a:xfrm>
            <a:off x="186050" y="3095625"/>
            <a:ext cx="1200000" cy="62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Sinh viên</a:t>
            </a:r>
            <a:endParaRPr sz="1600">
              <a:latin typeface="Times New Roman"/>
              <a:ea typeface="Times New Roman"/>
              <a:cs typeface="Times New Roman"/>
              <a:sym typeface="Times New Roman"/>
            </a:endParaRPr>
          </a:p>
        </p:txBody>
      </p:sp>
      <p:sp>
        <p:nvSpPr>
          <p:cNvPr id="961" name="Google Shape;961;p52"/>
          <p:cNvSpPr/>
          <p:nvPr/>
        </p:nvSpPr>
        <p:spPr>
          <a:xfrm>
            <a:off x="2622125" y="3095625"/>
            <a:ext cx="1341300" cy="62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Thủ thư</a:t>
            </a:r>
            <a:endParaRPr sz="1600">
              <a:latin typeface="Times New Roman"/>
              <a:ea typeface="Times New Roman"/>
              <a:cs typeface="Times New Roman"/>
              <a:sym typeface="Times New Roman"/>
            </a:endParaRPr>
          </a:p>
        </p:txBody>
      </p:sp>
      <p:cxnSp>
        <p:nvCxnSpPr>
          <p:cNvPr id="962" name="Google Shape;962;p52"/>
          <p:cNvCxnSpPr>
            <a:stCxn id="960" idx="3"/>
            <a:endCxn id="961" idx="1"/>
          </p:cNvCxnSpPr>
          <p:nvPr/>
        </p:nvCxnSpPr>
        <p:spPr>
          <a:xfrm>
            <a:off x="1386050" y="3409575"/>
            <a:ext cx="1236000" cy="0"/>
          </a:xfrm>
          <a:prstGeom prst="straightConnector1">
            <a:avLst/>
          </a:prstGeom>
          <a:noFill/>
          <a:ln cap="flat" cmpd="sng" w="9525">
            <a:solidFill>
              <a:schemeClr val="dk2"/>
            </a:solidFill>
            <a:prstDash val="solid"/>
            <a:round/>
            <a:headEnd len="med" w="med" type="none"/>
            <a:tailEnd len="med" w="med" type="triangle"/>
          </a:ln>
        </p:spPr>
      </p:cxnSp>
      <p:sp>
        <p:nvSpPr>
          <p:cNvPr id="963" name="Google Shape;963;p52"/>
          <p:cNvSpPr/>
          <p:nvPr/>
        </p:nvSpPr>
        <p:spPr>
          <a:xfrm>
            <a:off x="5103017" y="1197050"/>
            <a:ext cx="1185600" cy="991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64" name="Google Shape;964;p52"/>
          <p:cNvCxnSpPr/>
          <p:nvPr/>
        </p:nvCxnSpPr>
        <p:spPr>
          <a:xfrm>
            <a:off x="5095750" y="1436652"/>
            <a:ext cx="1200000" cy="0"/>
          </a:xfrm>
          <a:prstGeom prst="straightConnector1">
            <a:avLst/>
          </a:prstGeom>
          <a:noFill/>
          <a:ln cap="flat" cmpd="sng" w="9525">
            <a:solidFill>
              <a:schemeClr val="dk2"/>
            </a:solidFill>
            <a:prstDash val="solid"/>
            <a:round/>
            <a:headEnd len="med" w="med" type="none"/>
            <a:tailEnd len="med" w="med" type="none"/>
          </a:ln>
        </p:spPr>
      </p:cxnSp>
      <p:sp>
        <p:nvSpPr>
          <p:cNvPr id="965" name="Google Shape;965;p52"/>
          <p:cNvSpPr txBox="1"/>
          <p:nvPr/>
        </p:nvSpPr>
        <p:spPr>
          <a:xfrm>
            <a:off x="5150281" y="1459938"/>
            <a:ext cx="10581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Kiểm tra thẻ</a:t>
            </a:r>
            <a:endParaRPr sz="1800">
              <a:solidFill>
                <a:schemeClr val="dk2"/>
              </a:solidFill>
              <a:latin typeface="Times New Roman"/>
              <a:ea typeface="Times New Roman"/>
              <a:cs typeface="Times New Roman"/>
              <a:sym typeface="Times New Roman"/>
            </a:endParaRPr>
          </a:p>
        </p:txBody>
      </p:sp>
      <p:sp>
        <p:nvSpPr>
          <p:cNvPr id="966" name="Google Shape;966;p52"/>
          <p:cNvSpPr txBox="1"/>
          <p:nvPr/>
        </p:nvSpPr>
        <p:spPr>
          <a:xfrm>
            <a:off x="5453125" y="1093875"/>
            <a:ext cx="548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2.1</a:t>
            </a:r>
            <a:endParaRPr sz="1800">
              <a:solidFill>
                <a:schemeClr val="dk2"/>
              </a:solidFill>
              <a:latin typeface="Times New Roman"/>
              <a:ea typeface="Times New Roman"/>
              <a:cs typeface="Times New Roman"/>
              <a:sym typeface="Times New Roman"/>
            </a:endParaRPr>
          </a:p>
        </p:txBody>
      </p:sp>
      <p:sp>
        <p:nvSpPr>
          <p:cNvPr id="967" name="Google Shape;967;p52"/>
          <p:cNvSpPr/>
          <p:nvPr/>
        </p:nvSpPr>
        <p:spPr>
          <a:xfrm>
            <a:off x="5179217" y="2894915"/>
            <a:ext cx="1185600" cy="991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68" name="Google Shape;968;p52"/>
          <p:cNvCxnSpPr/>
          <p:nvPr/>
        </p:nvCxnSpPr>
        <p:spPr>
          <a:xfrm>
            <a:off x="5171950" y="3134517"/>
            <a:ext cx="1200000" cy="0"/>
          </a:xfrm>
          <a:prstGeom prst="straightConnector1">
            <a:avLst/>
          </a:prstGeom>
          <a:noFill/>
          <a:ln cap="flat" cmpd="sng" w="9525">
            <a:solidFill>
              <a:schemeClr val="dk2"/>
            </a:solidFill>
            <a:prstDash val="solid"/>
            <a:round/>
            <a:headEnd len="med" w="med" type="none"/>
            <a:tailEnd len="med" w="med" type="none"/>
          </a:ln>
        </p:spPr>
      </p:cxnSp>
      <p:sp>
        <p:nvSpPr>
          <p:cNvPr id="969" name="Google Shape;969;p52"/>
          <p:cNvSpPr txBox="1"/>
          <p:nvPr/>
        </p:nvSpPr>
        <p:spPr>
          <a:xfrm>
            <a:off x="5226481" y="3157802"/>
            <a:ext cx="10581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Tìm sách</a:t>
            </a:r>
            <a:endParaRPr sz="1800">
              <a:solidFill>
                <a:schemeClr val="dk2"/>
              </a:solidFill>
              <a:latin typeface="Times New Roman"/>
              <a:ea typeface="Times New Roman"/>
              <a:cs typeface="Times New Roman"/>
              <a:sym typeface="Times New Roman"/>
            </a:endParaRPr>
          </a:p>
        </p:txBody>
      </p:sp>
      <p:sp>
        <p:nvSpPr>
          <p:cNvPr id="970" name="Google Shape;970;p52"/>
          <p:cNvSpPr txBox="1"/>
          <p:nvPr/>
        </p:nvSpPr>
        <p:spPr>
          <a:xfrm>
            <a:off x="5529325" y="2791740"/>
            <a:ext cx="548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2.</a:t>
            </a:r>
            <a:r>
              <a:rPr lang="en-GB" sz="1800">
                <a:solidFill>
                  <a:schemeClr val="dk2"/>
                </a:solidFill>
                <a:latin typeface="Times New Roman"/>
                <a:ea typeface="Times New Roman"/>
                <a:cs typeface="Times New Roman"/>
                <a:sym typeface="Times New Roman"/>
              </a:rPr>
              <a:t>2</a:t>
            </a:r>
            <a:endParaRPr sz="1800">
              <a:solidFill>
                <a:schemeClr val="dk2"/>
              </a:solidFill>
              <a:latin typeface="Times New Roman"/>
              <a:ea typeface="Times New Roman"/>
              <a:cs typeface="Times New Roman"/>
              <a:sym typeface="Times New Roman"/>
            </a:endParaRPr>
          </a:p>
        </p:txBody>
      </p:sp>
      <p:sp>
        <p:nvSpPr>
          <p:cNvPr id="971" name="Google Shape;971;p52"/>
          <p:cNvSpPr/>
          <p:nvPr/>
        </p:nvSpPr>
        <p:spPr>
          <a:xfrm>
            <a:off x="5179217" y="4397450"/>
            <a:ext cx="1185600" cy="991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72" name="Google Shape;972;p52"/>
          <p:cNvCxnSpPr/>
          <p:nvPr/>
        </p:nvCxnSpPr>
        <p:spPr>
          <a:xfrm>
            <a:off x="5171950" y="4637052"/>
            <a:ext cx="1200000" cy="0"/>
          </a:xfrm>
          <a:prstGeom prst="straightConnector1">
            <a:avLst/>
          </a:prstGeom>
          <a:noFill/>
          <a:ln cap="flat" cmpd="sng" w="9525">
            <a:solidFill>
              <a:schemeClr val="dk2"/>
            </a:solidFill>
            <a:prstDash val="solid"/>
            <a:round/>
            <a:headEnd len="med" w="med" type="none"/>
            <a:tailEnd len="med" w="med" type="none"/>
          </a:ln>
        </p:spPr>
      </p:cxnSp>
      <p:sp>
        <p:nvSpPr>
          <p:cNvPr id="973" name="Google Shape;973;p52"/>
          <p:cNvSpPr txBox="1"/>
          <p:nvPr/>
        </p:nvSpPr>
        <p:spPr>
          <a:xfrm>
            <a:off x="5136145" y="4660350"/>
            <a:ext cx="12519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T</a:t>
            </a:r>
            <a:r>
              <a:rPr lang="en-GB" sz="1600">
                <a:solidFill>
                  <a:schemeClr val="dk2"/>
                </a:solidFill>
                <a:latin typeface="Times New Roman"/>
                <a:ea typeface="Times New Roman"/>
                <a:cs typeface="Times New Roman"/>
                <a:sym typeface="Times New Roman"/>
              </a:rPr>
              <a:t>ra </a:t>
            </a:r>
            <a:r>
              <a:rPr lang="en-GB" sz="1600">
                <a:solidFill>
                  <a:schemeClr val="dk2"/>
                </a:solidFill>
                <a:latin typeface="Times New Roman"/>
                <a:ea typeface="Times New Roman"/>
                <a:cs typeface="Times New Roman"/>
                <a:sym typeface="Times New Roman"/>
              </a:rPr>
              <a:t>cứu sách quá hạn</a:t>
            </a:r>
            <a:endParaRPr sz="1600">
              <a:solidFill>
                <a:schemeClr val="dk2"/>
              </a:solidFill>
              <a:latin typeface="Times New Roman"/>
              <a:ea typeface="Times New Roman"/>
              <a:cs typeface="Times New Roman"/>
              <a:sym typeface="Times New Roman"/>
            </a:endParaRPr>
          </a:p>
        </p:txBody>
      </p:sp>
      <p:sp>
        <p:nvSpPr>
          <p:cNvPr id="974" name="Google Shape;974;p52"/>
          <p:cNvSpPr txBox="1"/>
          <p:nvPr/>
        </p:nvSpPr>
        <p:spPr>
          <a:xfrm>
            <a:off x="5529325" y="4294275"/>
            <a:ext cx="548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2.</a:t>
            </a:r>
            <a:r>
              <a:rPr lang="en-GB" sz="1800">
                <a:solidFill>
                  <a:schemeClr val="dk2"/>
                </a:solidFill>
                <a:latin typeface="Times New Roman"/>
                <a:ea typeface="Times New Roman"/>
                <a:cs typeface="Times New Roman"/>
                <a:sym typeface="Times New Roman"/>
              </a:rPr>
              <a:t>3</a:t>
            </a:r>
            <a:endParaRPr sz="1800">
              <a:solidFill>
                <a:schemeClr val="dk2"/>
              </a:solidFill>
              <a:latin typeface="Times New Roman"/>
              <a:ea typeface="Times New Roman"/>
              <a:cs typeface="Times New Roman"/>
              <a:sym typeface="Times New Roman"/>
            </a:endParaRPr>
          </a:p>
        </p:txBody>
      </p:sp>
      <p:sp>
        <p:nvSpPr>
          <p:cNvPr id="975" name="Google Shape;975;p52"/>
          <p:cNvSpPr/>
          <p:nvPr/>
        </p:nvSpPr>
        <p:spPr>
          <a:xfrm>
            <a:off x="7465217" y="2873450"/>
            <a:ext cx="1185600" cy="991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976" name="Google Shape;976;p52"/>
          <p:cNvCxnSpPr/>
          <p:nvPr/>
        </p:nvCxnSpPr>
        <p:spPr>
          <a:xfrm>
            <a:off x="7457950" y="3113052"/>
            <a:ext cx="1200000" cy="0"/>
          </a:xfrm>
          <a:prstGeom prst="straightConnector1">
            <a:avLst/>
          </a:prstGeom>
          <a:noFill/>
          <a:ln cap="flat" cmpd="sng" w="9525">
            <a:solidFill>
              <a:schemeClr val="dk2"/>
            </a:solidFill>
            <a:prstDash val="solid"/>
            <a:round/>
            <a:headEnd len="med" w="med" type="none"/>
            <a:tailEnd len="med" w="med" type="none"/>
          </a:ln>
        </p:spPr>
      </p:cxnSp>
      <p:sp>
        <p:nvSpPr>
          <p:cNvPr id="977" name="Google Shape;977;p52"/>
          <p:cNvSpPr txBox="1"/>
          <p:nvPr/>
        </p:nvSpPr>
        <p:spPr>
          <a:xfrm>
            <a:off x="7422145" y="3136350"/>
            <a:ext cx="12519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Tra cứu </a:t>
            </a:r>
            <a:r>
              <a:rPr lang="en-GB" sz="1600">
                <a:solidFill>
                  <a:schemeClr val="dk2"/>
                </a:solidFill>
                <a:latin typeface="Times New Roman"/>
                <a:ea typeface="Times New Roman"/>
                <a:cs typeface="Times New Roman"/>
                <a:sym typeface="Times New Roman"/>
              </a:rPr>
              <a:t>thông tin</a:t>
            </a:r>
            <a:endParaRPr sz="1600">
              <a:solidFill>
                <a:schemeClr val="dk2"/>
              </a:solidFill>
              <a:latin typeface="Times New Roman"/>
              <a:ea typeface="Times New Roman"/>
              <a:cs typeface="Times New Roman"/>
              <a:sym typeface="Times New Roman"/>
            </a:endParaRPr>
          </a:p>
        </p:txBody>
      </p:sp>
      <p:sp>
        <p:nvSpPr>
          <p:cNvPr id="978" name="Google Shape;978;p52"/>
          <p:cNvSpPr txBox="1"/>
          <p:nvPr/>
        </p:nvSpPr>
        <p:spPr>
          <a:xfrm>
            <a:off x="7815325" y="2770275"/>
            <a:ext cx="5487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2.</a:t>
            </a:r>
            <a:r>
              <a:rPr lang="en-GB" sz="1800">
                <a:solidFill>
                  <a:schemeClr val="dk2"/>
                </a:solidFill>
                <a:latin typeface="Times New Roman"/>
                <a:ea typeface="Times New Roman"/>
                <a:cs typeface="Times New Roman"/>
                <a:sym typeface="Times New Roman"/>
              </a:rPr>
              <a:t>4</a:t>
            </a:r>
            <a:endParaRPr sz="1800">
              <a:solidFill>
                <a:schemeClr val="dk2"/>
              </a:solidFill>
              <a:latin typeface="Times New Roman"/>
              <a:ea typeface="Times New Roman"/>
              <a:cs typeface="Times New Roman"/>
              <a:sym typeface="Times New Roman"/>
            </a:endParaRPr>
          </a:p>
        </p:txBody>
      </p:sp>
      <p:sp>
        <p:nvSpPr>
          <p:cNvPr id="979" name="Google Shape;979;p52"/>
          <p:cNvSpPr/>
          <p:nvPr/>
        </p:nvSpPr>
        <p:spPr>
          <a:xfrm>
            <a:off x="7084450" y="1364500"/>
            <a:ext cx="375600" cy="4281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D1</a:t>
            </a:r>
            <a:endParaRPr>
              <a:latin typeface="Times New Roman"/>
              <a:ea typeface="Times New Roman"/>
              <a:cs typeface="Times New Roman"/>
              <a:sym typeface="Times New Roman"/>
            </a:endParaRPr>
          </a:p>
        </p:txBody>
      </p:sp>
      <p:cxnSp>
        <p:nvCxnSpPr>
          <p:cNvPr id="980" name="Google Shape;980;p52"/>
          <p:cNvCxnSpPr/>
          <p:nvPr/>
        </p:nvCxnSpPr>
        <p:spPr>
          <a:xfrm>
            <a:off x="7272250" y="1364500"/>
            <a:ext cx="1529400" cy="0"/>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52"/>
          <p:cNvCxnSpPr/>
          <p:nvPr/>
        </p:nvCxnSpPr>
        <p:spPr>
          <a:xfrm>
            <a:off x="7272250" y="1791535"/>
            <a:ext cx="1515000" cy="0"/>
          </a:xfrm>
          <a:prstGeom prst="straightConnector1">
            <a:avLst/>
          </a:prstGeom>
          <a:noFill/>
          <a:ln cap="flat" cmpd="sng" w="9525">
            <a:solidFill>
              <a:schemeClr val="dk2"/>
            </a:solidFill>
            <a:prstDash val="solid"/>
            <a:round/>
            <a:headEnd len="med" w="med" type="none"/>
            <a:tailEnd len="med" w="med" type="none"/>
          </a:ln>
        </p:spPr>
      </p:cxnSp>
      <p:sp>
        <p:nvSpPr>
          <p:cNvPr id="982" name="Google Shape;982;p52"/>
          <p:cNvSpPr txBox="1"/>
          <p:nvPr/>
        </p:nvSpPr>
        <p:spPr>
          <a:xfrm>
            <a:off x="7459025" y="1352695"/>
            <a:ext cx="14151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Thẻ bạn đọc</a:t>
            </a:r>
            <a:endParaRPr sz="1800">
              <a:solidFill>
                <a:schemeClr val="dk2"/>
              </a:solidFill>
              <a:latin typeface="Times New Roman"/>
              <a:ea typeface="Times New Roman"/>
              <a:cs typeface="Times New Roman"/>
              <a:sym typeface="Times New Roman"/>
            </a:endParaRPr>
          </a:p>
        </p:txBody>
      </p:sp>
      <p:sp>
        <p:nvSpPr>
          <p:cNvPr id="983" name="Google Shape;983;p52"/>
          <p:cNvSpPr/>
          <p:nvPr/>
        </p:nvSpPr>
        <p:spPr>
          <a:xfrm>
            <a:off x="7084450" y="2050300"/>
            <a:ext cx="375600" cy="4281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D</a:t>
            </a:r>
            <a:r>
              <a:rPr lang="en-GB">
                <a:latin typeface="Times New Roman"/>
                <a:ea typeface="Times New Roman"/>
                <a:cs typeface="Times New Roman"/>
                <a:sym typeface="Times New Roman"/>
              </a:rPr>
              <a:t>2</a:t>
            </a:r>
            <a:endParaRPr>
              <a:latin typeface="Times New Roman"/>
              <a:ea typeface="Times New Roman"/>
              <a:cs typeface="Times New Roman"/>
              <a:sym typeface="Times New Roman"/>
            </a:endParaRPr>
          </a:p>
        </p:txBody>
      </p:sp>
      <p:cxnSp>
        <p:nvCxnSpPr>
          <p:cNvPr id="984" name="Google Shape;984;p52"/>
          <p:cNvCxnSpPr/>
          <p:nvPr/>
        </p:nvCxnSpPr>
        <p:spPr>
          <a:xfrm>
            <a:off x="7272250" y="2050300"/>
            <a:ext cx="1529400" cy="0"/>
          </a:xfrm>
          <a:prstGeom prst="straightConnector1">
            <a:avLst/>
          </a:prstGeom>
          <a:noFill/>
          <a:ln cap="flat" cmpd="sng" w="9525">
            <a:solidFill>
              <a:schemeClr val="dk2"/>
            </a:solidFill>
            <a:prstDash val="solid"/>
            <a:round/>
            <a:headEnd len="med" w="med" type="none"/>
            <a:tailEnd len="med" w="med" type="none"/>
          </a:ln>
        </p:spPr>
      </p:cxnSp>
      <p:cxnSp>
        <p:nvCxnSpPr>
          <p:cNvPr id="985" name="Google Shape;985;p52"/>
          <p:cNvCxnSpPr/>
          <p:nvPr/>
        </p:nvCxnSpPr>
        <p:spPr>
          <a:xfrm>
            <a:off x="7272250" y="2477335"/>
            <a:ext cx="1515000" cy="0"/>
          </a:xfrm>
          <a:prstGeom prst="straightConnector1">
            <a:avLst/>
          </a:prstGeom>
          <a:noFill/>
          <a:ln cap="flat" cmpd="sng" w="9525">
            <a:solidFill>
              <a:schemeClr val="dk2"/>
            </a:solidFill>
            <a:prstDash val="solid"/>
            <a:round/>
            <a:headEnd len="med" w="med" type="none"/>
            <a:tailEnd len="med" w="med" type="none"/>
          </a:ln>
        </p:spPr>
      </p:cxnSp>
      <p:sp>
        <p:nvSpPr>
          <p:cNvPr id="986" name="Google Shape;986;p52"/>
          <p:cNvSpPr txBox="1"/>
          <p:nvPr/>
        </p:nvSpPr>
        <p:spPr>
          <a:xfrm>
            <a:off x="7459025" y="2038495"/>
            <a:ext cx="14151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Kệ sách</a:t>
            </a:r>
            <a:endParaRPr sz="1800">
              <a:solidFill>
                <a:schemeClr val="dk2"/>
              </a:solidFill>
              <a:latin typeface="Times New Roman"/>
              <a:ea typeface="Times New Roman"/>
              <a:cs typeface="Times New Roman"/>
              <a:sym typeface="Times New Roman"/>
            </a:endParaRPr>
          </a:p>
        </p:txBody>
      </p:sp>
      <p:sp>
        <p:nvSpPr>
          <p:cNvPr id="987" name="Google Shape;987;p52"/>
          <p:cNvSpPr/>
          <p:nvPr/>
        </p:nvSpPr>
        <p:spPr>
          <a:xfrm>
            <a:off x="7084450" y="4107700"/>
            <a:ext cx="375600" cy="4281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D3</a:t>
            </a:r>
            <a:endParaRPr>
              <a:latin typeface="Times New Roman"/>
              <a:ea typeface="Times New Roman"/>
              <a:cs typeface="Times New Roman"/>
              <a:sym typeface="Times New Roman"/>
            </a:endParaRPr>
          </a:p>
        </p:txBody>
      </p:sp>
      <p:cxnSp>
        <p:nvCxnSpPr>
          <p:cNvPr id="988" name="Google Shape;988;p52"/>
          <p:cNvCxnSpPr/>
          <p:nvPr/>
        </p:nvCxnSpPr>
        <p:spPr>
          <a:xfrm>
            <a:off x="7272250" y="4107700"/>
            <a:ext cx="1529400" cy="0"/>
          </a:xfrm>
          <a:prstGeom prst="straightConnector1">
            <a:avLst/>
          </a:prstGeom>
          <a:noFill/>
          <a:ln cap="flat" cmpd="sng" w="9525">
            <a:solidFill>
              <a:schemeClr val="dk2"/>
            </a:solidFill>
            <a:prstDash val="solid"/>
            <a:round/>
            <a:headEnd len="med" w="med" type="none"/>
            <a:tailEnd len="med" w="med" type="none"/>
          </a:ln>
        </p:spPr>
      </p:cxnSp>
      <p:cxnSp>
        <p:nvCxnSpPr>
          <p:cNvPr id="989" name="Google Shape;989;p52"/>
          <p:cNvCxnSpPr/>
          <p:nvPr/>
        </p:nvCxnSpPr>
        <p:spPr>
          <a:xfrm>
            <a:off x="7272250" y="4534735"/>
            <a:ext cx="1515000" cy="0"/>
          </a:xfrm>
          <a:prstGeom prst="straightConnector1">
            <a:avLst/>
          </a:prstGeom>
          <a:noFill/>
          <a:ln cap="flat" cmpd="sng" w="9525">
            <a:solidFill>
              <a:schemeClr val="dk2"/>
            </a:solidFill>
            <a:prstDash val="solid"/>
            <a:round/>
            <a:headEnd len="med" w="med" type="none"/>
            <a:tailEnd len="med" w="med" type="none"/>
          </a:ln>
        </p:spPr>
      </p:cxnSp>
      <p:sp>
        <p:nvSpPr>
          <p:cNvPr id="990" name="Google Shape;990;p52"/>
          <p:cNvSpPr txBox="1"/>
          <p:nvPr/>
        </p:nvSpPr>
        <p:spPr>
          <a:xfrm>
            <a:off x="7459025" y="4095895"/>
            <a:ext cx="14151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Tài liệu</a:t>
            </a:r>
            <a:endParaRPr sz="1800">
              <a:solidFill>
                <a:schemeClr val="dk2"/>
              </a:solidFill>
              <a:latin typeface="Times New Roman"/>
              <a:ea typeface="Times New Roman"/>
              <a:cs typeface="Times New Roman"/>
              <a:sym typeface="Times New Roman"/>
            </a:endParaRPr>
          </a:p>
        </p:txBody>
      </p:sp>
      <p:sp>
        <p:nvSpPr>
          <p:cNvPr id="991" name="Google Shape;991;p52"/>
          <p:cNvSpPr/>
          <p:nvPr/>
        </p:nvSpPr>
        <p:spPr>
          <a:xfrm>
            <a:off x="7008250" y="4945900"/>
            <a:ext cx="375600" cy="428100"/>
          </a:xfrm>
          <a:prstGeom prst="rect">
            <a:avLst/>
          </a:prstGeom>
          <a:no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D</a:t>
            </a:r>
            <a:r>
              <a:rPr lang="en-GB">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cxnSp>
        <p:nvCxnSpPr>
          <p:cNvPr id="992" name="Google Shape;992;p52"/>
          <p:cNvCxnSpPr/>
          <p:nvPr/>
        </p:nvCxnSpPr>
        <p:spPr>
          <a:xfrm>
            <a:off x="7196050" y="4945900"/>
            <a:ext cx="1529400" cy="0"/>
          </a:xfrm>
          <a:prstGeom prst="straightConnector1">
            <a:avLst/>
          </a:prstGeom>
          <a:noFill/>
          <a:ln cap="flat" cmpd="sng" w="9525">
            <a:solidFill>
              <a:schemeClr val="dk2"/>
            </a:solidFill>
            <a:prstDash val="solid"/>
            <a:round/>
            <a:headEnd len="med" w="med" type="none"/>
            <a:tailEnd len="med" w="med" type="none"/>
          </a:ln>
        </p:spPr>
      </p:cxnSp>
      <p:cxnSp>
        <p:nvCxnSpPr>
          <p:cNvPr id="993" name="Google Shape;993;p52"/>
          <p:cNvCxnSpPr/>
          <p:nvPr/>
        </p:nvCxnSpPr>
        <p:spPr>
          <a:xfrm>
            <a:off x="7196050" y="5372935"/>
            <a:ext cx="1515000" cy="0"/>
          </a:xfrm>
          <a:prstGeom prst="straightConnector1">
            <a:avLst/>
          </a:prstGeom>
          <a:noFill/>
          <a:ln cap="flat" cmpd="sng" w="9525">
            <a:solidFill>
              <a:schemeClr val="dk2"/>
            </a:solidFill>
            <a:prstDash val="solid"/>
            <a:round/>
            <a:headEnd len="med" w="med" type="none"/>
            <a:tailEnd len="med" w="med" type="none"/>
          </a:ln>
        </p:spPr>
      </p:cxnSp>
      <p:sp>
        <p:nvSpPr>
          <p:cNvPr id="994" name="Google Shape;994;p52"/>
          <p:cNvSpPr txBox="1"/>
          <p:nvPr/>
        </p:nvSpPr>
        <p:spPr>
          <a:xfrm>
            <a:off x="7382825" y="4934095"/>
            <a:ext cx="14151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Times New Roman"/>
                <a:ea typeface="Times New Roman"/>
                <a:cs typeface="Times New Roman"/>
                <a:sym typeface="Times New Roman"/>
              </a:rPr>
              <a:t>Sách mượn</a:t>
            </a:r>
            <a:endParaRPr sz="1800">
              <a:solidFill>
                <a:schemeClr val="dk2"/>
              </a:solidFill>
              <a:latin typeface="Times New Roman"/>
              <a:ea typeface="Times New Roman"/>
              <a:cs typeface="Times New Roman"/>
              <a:sym typeface="Times New Roman"/>
            </a:endParaRPr>
          </a:p>
        </p:txBody>
      </p:sp>
      <p:sp>
        <p:nvSpPr>
          <p:cNvPr id="995" name="Google Shape;995;p52"/>
          <p:cNvSpPr txBox="1"/>
          <p:nvPr/>
        </p:nvSpPr>
        <p:spPr>
          <a:xfrm>
            <a:off x="1369075" y="2787547"/>
            <a:ext cx="1251900" cy="67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Phiếu mượn, thẻ bạn đọc</a:t>
            </a:r>
            <a:endParaRPr sz="1600">
              <a:solidFill>
                <a:schemeClr val="dk2"/>
              </a:solidFill>
              <a:latin typeface="Times New Roman"/>
              <a:ea typeface="Times New Roman"/>
              <a:cs typeface="Times New Roman"/>
              <a:sym typeface="Times New Roman"/>
            </a:endParaRPr>
          </a:p>
        </p:txBody>
      </p:sp>
      <p:sp>
        <p:nvSpPr>
          <p:cNvPr id="996" name="Google Shape;996;p52"/>
          <p:cNvSpPr txBox="1"/>
          <p:nvPr/>
        </p:nvSpPr>
        <p:spPr>
          <a:xfrm rot="-1987073">
            <a:off x="3408926" y="1918185"/>
            <a:ext cx="1341415" cy="46497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Mã số thẻ</a:t>
            </a:r>
            <a:endParaRPr sz="1800">
              <a:solidFill>
                <a:schemeClr val="dk2"/>
              </a:solidFill>
              <a:latin typeface="Times New Roman"/>
              <a:ea typeface="Times New Roman"/>
              <a:cs typeface="Times New Roman"/>
              <a:sym typeface="Times New Roman"/>
            </a:endParaRPr>
          </a:p>
        </p:txBody>
      </p:sp>
      <p:cxnSp>
        <p:nvCxnSpPr>
          <p:cNvPr id="997" name="Google Shape;997;p52"/>
          <p:cNvCxnSpPr>
            <a:stCxn id="963" idx="2"/>
          </p:cNvCxnSpPr>
          <p:nvPr/>
        </p:nvCxnSpPr>
        <p:spPr>
          <a:xfrm flipH="1">
            <a:off x="3833717" y="2188850"/>
            <a:ext cx="1862100" cy="890700"/>
          </a:xfrm>
          <a:prstGeom prst="straightConnector1">
            <a:avLst/>
          </a:prstGeom>
          <a:noFill/>
          <a:ln cap="flat" cmpd="sng" w="9525">
            <a:solidFill>
              <a:schemeClr val="dk2"/>
            </a:solidFill>
            <a:prstDash val="solid"/>
            <a:round/>
            <a:headEnd len="med" w="med" type="none"/>
            <a:tailEnd len="med" w="med" type="triangle"/>
          </a:ln>
        </p:spPr>
      </p:cxnSp>
      <p:cxnSp>
        <p:nvCxnSpPr>
          <p:cNvPr id="998" name="Google Shape;998;p52"/>
          <p:cNvCxnSpPr>
            <a:stCxn id="961" idx="0"/>
            <a:endCxn id="963" idx="1"/>
          </p:cNvCxnSpPr>
          <p:nvPr/>
        </p:nvCxnSpPr>
        <p:spPr>
          <a:xfrm flipH="1" rot="10800000">
            <a:off x="3292775" y="1692825"/>
            <a:ext cx="1810200" cy="1402800"/>
          </a:xfrm>
          <a:prstGeom prst="straightConnector1">
            <a:avLst/>
          </a:prstGeom>
          <a:noFill/>
          <a:ln cap="flat" cmpd="sng" w="9525">
            <a:solidFill>
              <a:schemeClr val="dk2"/>
            </a:solidFill>
            <a:prstDash val="solid"/>
            <a:round/>
            <a:headEnd len="med" w="med" type="none"/>
            <a:tailEnd len="med" w="med" type="triangle"/>
          </a:ln>
        </p:spPr>
      </p:cxnSp>
      <p:sp>
        <p:nvSpPr>
          <p:cNvPr id="999" name="Google Shape;999;p52"/>
          <p:cNvSpPr txBox="1"/>
          <p:nvPr/>
        </p:nvSpPr>
        <p:spPr>
          <a:xfrm rot="-1610760">
            <a:off x="4383016" y="2194038"/>
            <a:ext cx="875565" cy="46501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Hợp lệ</a:t>
            </a:r>
            <a:endParaRPr sz="1800">
              <a:solidFill>
                <a:schemeClr val="dk2"/>
              </a:solidFill>
              <a:latin typeface="Times New Roman"/>
              <a:ea typeface="Times New Roman"/>
              <a:cs typeface="Times New Roman"/>
              <a:sym typeface="Times New Roman"/>
            </a:endParaRPr>
          </a:p>
        </p:txBody>
      </p:sp>
      <p:cxnSp>
        <p:nvCxnSpPr>
          <p:cNvPr id="1000" name="Google Shape;1000;p52"/>
          <p:cNvCxnSpPr>
            <a:stCxn id="979" idx="1"/>
          </p:cNvCxnSpPr>
          <p:nvPr/>
        </p:nvCxnSpPr>
        <p:spPr>
          <a:xfrm rot="10800000">
            <a:off x="6291250" y="1577050"/>
            <a:ext cx="793200" cy="1500"/>
          </a:xfrm>
          <a:prstGeom prst="straightConnector1">
            <a:avLst/>
          </a:prstGeom>
          <a:noFill/>
          <a:ln cap="flat" cmpd="sng" w="9525">
            <a:solidFill>
              <a:schemeClr val="dk2"/>
            </a:solidFill>
            <a:prstDash val="solid"/>
            <a:round/>
            <a:headEnd len="med" w="med" type="none"/>
            <a:tailEnd len="med" w="med" type="triangle"/>
          </a:ln>
        </p:spPr>
      </p:cxnSp>
      <p:cxnSp>
        <p:nvCxnSpPr>
          <p:cNvPr id="1001" name="Google Shape;1001;p52"/>
          <p:cNvCxnSpPr>
            <a:stCxn id="961" idx="3"/>
            <a:endCxn id="967" idx="1"/>
          </p:cNvCxnSpPr>
          <p:nvPr/>
        </p:nvCxnSpPr>
        <p:spPr>
          <a:xfrm flipH="1" rot="10800000">
            <a:off x="3963425" y="3390675"/>
            <a:ext cx="1215900" cy="18900"/>
          </a:xfrm>
          <a:prstGeom prst="straightConnector1">
            <a:avLst/>
          </a:prstGeom>
          <a:noFill/>
          <a:ln cap="flat" cmpd="sng" w="9525">
            <a:solidFill>
              <a:schemeClr val="dk2"/>
            </a:solidFill>
            <a:prstDash val="solid"/>
            <a:round/>
            <a:headEnd len="med" w="med" type="none"/>
            <a:tailEnd len="med" w="med" type="triangle"/>
          </a:ln>
        </p:spPr>
      </p:cxnSp>
      <p:sp>
        <p:nvSpPr>
          <p:cNvPr id="1002" name="Google Shape;1002;p52"/>
          <p:cNvSpPr txBox="1"/>
          <p:nvPr/>
        </p:nvSpPr>
        <p:spPr>
          <a:xfrm>
            <a:off x="4144850" y="3014050"/>
            <a:ext cx="8586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Mô tả</a:t>
            </a:r>
            <a:endParaRPr sz="1600">
              <a:solidFill>
                <a:schemeClr val="dk2"/>
              </a:solidFill>
              <a:latin typeface="Times New Roman"/>
              <a:ea typeface="Times New Roman"/>
              <a:cs typeface="Times New Roman"/>
              <a:sym typeface="Times New Roman"/>
            </a:endParaRPr>
          </a:p>
        </p:txBody>
      </p:sp>
      <p:cxnSp>
        <p:nvCxnSpPr>
          <p:cNvPr id="1003" name="Google Shape;1003;p52"/>
          <p:cNvCxnSpPr>
            <a:stCxn id="987" idx="1"/>
          </p:cNvCxnSpPr>
          <p:nvPr/>
        </p:nvCxnSpPr>
        <p:spPr>
          <a:xfrm rot="10800000">
            <a:off x="6302050" y="3863050"/>
            <a:ext cx="782400" cy="458700"/>
          </a:xfrm>
          <a:prstGeom prst="straightConnector1">
            <a:avLst/>
          </a:prstGeom>
          <a:noFill/>
          <a:ln cap="flat" cmpd="sng" w="9525">
            <a:solidFill>
              <a:schemeClr val="dk2"/>
            </a:solidFill>
            <a:prstDash val="solid"/>
            <a:round/>
            <a:headEnd len="med" w="med" type="none"/>
            <a:tailEnd len="med" w="med" type="triangle"/>
          </a:ln>
        </p:spPr>
      </p:cxnSp>
      <p:cxnSp>
        <p:nvCxnSpPr>
          <p:cNvPr id="1004" name="Google Shape;1004;p52"/>
          <p:cNvCxnSpPr>
            <a:stCxn id="991" idx="1"/>
            <a:endCxn id="973" idx="3"/>
          </p:cNvCxnSpPr>
          <p:nvPr/>
        </p:nvCxnSpPr>
        <p:spPr>
          <a:xfrm rot="10800000">
            <a:off x="6388150" y="4995850"/>
            <a:ext cx="620100" cy="164100"/>
          </a:xfrm>
          <a:prstGeom prst="straightConnector1">
            <a:avLst/>
          </a:prstGeom>
          <a:noFill/>
          <a:ln cap="flat" cmpd="sng" w="9525">
            <a:solidFill>
              <a:schemeClr val="dk2"/>
            </a:solidFill>
            <a:prstDash val="solid"/>
            <a:round/>
            <a:headEnd len="med" w="med" type="none"/>
            <a:tailEnd len="med" w="med" type="triangle"/>
          </a:ln>
        </p:spPr>
      </p:cxnSp>
      <p:cxnSp>
        <p:nvCxnSpPr>
          <p:cNvPr id="1005" name="Google Shape;1005;p52"/>
          <p:cNvCxnSpPr/>
          <p:nvPr/>
        </p:nvCxnSpPr>
        <p:spPr>
          <a:xfrm>
            <a:off x="3887275" y="3744925"/>
            <a:ext cx="1277100" cy="804900"/>
          </a:xfrm>
          <a:prstGeom prst="straightConnector1">
            <a:avLst/>
          </a:prstGeom>
          <a:noFill/>
          <a:ln cap="flat" cmpd="sng" w="9525">
            <a:solidFill>
              <a:schemeClr val="dk2"/>
            </a:solidFill>
            <a:prstDash val="solid"/>
            <a:round/>
            <a:headEnd len="med" w="med" type="none"/>
            <a:tailEnd len="med" w="med" type="triangle"/>
          </a:ln>
        </p:spPr>
      </p:cxnSp>
      <p:cxnSp>
        <p:nvCxnSpPr>
          <p:cNvPr id="1006" name="Google Shape;1006;p52"/>
          <p:cNvCxnSpPr>
            <a:stCxn id="973" idx="1"/>
            <a:endCxn id="961" idx="2"/>
          </p:cNvCxnSpPr>
          <p:nvPr/>
        </p:nvCxnSpPr>
        <p:spPr>
          <a:xfrm rot="10800000">
            <a:off x="3292645" y="3723600"/>
            <a:ext cx="1843500" cy="1272300"/>
          </a:xfrm>
          <a:prstGeom prst="straightConnector1">
            <a:avLst/>
          </a:prstGeom>
          <a:noFill/>
          <a:ln cap="flat" cmpd="sng" w="9525">
            <a:solidFill>
              <a:schemeClr val="dk2"/>
            </a:solidFill>
            <a:prstDash val="solid"/>
            <a:round/>
            <a:headEnd len="med" w="med" type="none"/>
            <a:tailEnd len="med" w="med" type="triangle"/>
          </a:ln>
        </p:spPr>
      </p:cxnSp>
      <p:sp>
        <p:nvSpPr>
          <p:cNvPr id="1007" name="Google Shape;1007;p52"/>
          <p:cNvSpPr txBox="1"/>
          <p:nvPr/>
        </p:nvSpPr>
        <p:spPr>
          <a:xfrm rot="1843058">
            <a:off x="4018578" y="3823253"/>
            <a:ext cx="1341406" cy="4650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Mã số thẻ</a:t>
            </a:r>
            <a:endParaRPr sz="1800">
              <a:solidFill>
                <a:schemeClr val="dk2"/>
              </a:solidFill>
              <a:latin typeface="Times New Roman"/>
              <a:ea typeface="Times New Roman"/>
              <a:cs typeface="Times New Roman"/>
              <a:sym typeface="Times New Roman"/>
            </a:endParaRPr>
          </a:p>
        </p:txBody>
      </p:sp>
      <p:sp>
        <p:nvSpPr>
          <p:cNvPr id="1008" name="Google Shape;1008;p52"/>
          <p:cNvSpPr txBox="1"/>
          <p:nvPr/>
        </p:nvSpPr>
        <p:spPr>
          <a:xfrm rot="2015889">
            <a:off x="2906651" y="4209533"/>
            <a:ext cx="2333904" cy="46503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Không có sách quá hạn</a:t>
            </a:r>
            <a:endParaRPr sz="1800">
              <a:solidFill>
                <a:schemeClr val="dk2"/>
              </a:solidFill>
              <a:latin typeface="Times New Roman"/>
              <a:ea typeface="Times New Roman"/>
              <a:cs typeface="Times New Roman"/>
              <a:sym typeface="Times New Roman"/>
            </a:endParaRPr>
          </a:p>
        </p:txBody>
      </p:sp>
      <p:cxnSp>
        <p:nvCxnSpPr>
          <p:cNvPr id="1009" name="Google Shape;1009;p52"/>
          <p:cNvCxnSpPr/>
          <p:nvPr/>
        </p:nvCxnSpPr>
        <p:spPr>
          <a:xfrm>
            <a:off x="7525550" y="2467775"/>
            <a:ext cx="118200" cy="386400"/>
          </a:xfrm>
          <a:prstGeom prst="straightConnector1">
            <a:avLst/>
          </a:prstGeom>
          <a:noFill/>
          <a:ln cap="flat" cmpd="sng" w="9525">
            <a:solidFill>
              <a:schemeClr val="dk2"/>
            </a:solidFill>
            <a:prstDash val="solid"/>
            <a:round/>
            <a:headEnd len="med" w="med" type="none"/>
            <a:tailEnd len="med" w="med" type="triangle"/>
          </a:ln>
        </p:spPr>
      </p:cxnSp>
      <p:cxnSp>
        <p:nvCxnSpPr>
          <p:cNvPr id="1010" name="Google Shape;1010;p52"/>
          <p:cNvCxnSpPr/>
          <p:nvPr/>
        </p:nvCxnSpPr>
        <p:spPr>
          <a:xfrm>
            <a:off x="6377200" y="3488000"/>
            <a:ext cx="1066500" cy="0"/>
          </a:xfrm>
          <a:prstGeom prst="straightConnector1">
            <a:avLst/>
          </a:prstGeom>
          <a:noFill/>
          <a:ln cap="flat" cmpd="sng" w="9525">
            <a:solidFill>
              <a:schemeClr val="dk2"/>
            </a:solidFill>
            <a:prstDash val="solid"/>
            <a:round/>
            <a:headEnd len="med" w="med" type="none"/>
            <a:tailEnd len="med" w="med" type="triangle"/>
          </a:ln>
        </p:spPr>
      </p:cxnSp>
      <p:sp>
        <p:nvSpPr>
          <p:cNvPr id="1011" name="Google Shape;1011;p52"/>
          <p:cNvSpPr txBox="1"/>
          <p:nvPr/>
        </p:nvSpPr>
        <p:spPr>
          <a:xfrm>
            <a:off x="6430850" y="3090250"/>
            <a:ext cx="10581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Mã sách</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7" name="Google Shape;1017;p53"/>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Hướng chức năng vs. Hướng đối tượng</a:t>
            </a:r>
            <a:endParaRPr/>
          </a:p>
        </p:txBody>
      </p:sp>
      <p:pic>
        <p:nvPicPr>
          <p:cNvPr id="1018" name="Google Shape;1018;p53"/>
          <p:cNvPicPr preferRelativeResize="0"/>
          <p:nvPr/>
        </p:nvPicPr>
        <p:blipFill>
          <a:blip r:embed="rId3">
            <a:alphaModFix/>
          </a:blip>
          <a:stretch>
            <a:fillRect/>
          </a:stretch>
        </p:blipFill>
        <p:spPr>
          <a:xfrm>
            <a:off x="526800" y="756800"/>
            <a:ext cx="5966120" cy="2956350"/>
          </a:xfrm>
          <a:prstGeom prst="rect">
            <a:avLst/>
          </a:prstGeom>
          <a:noFill/>
          <a:ln>
            <a:noFill/>
          </a:ln>
        </p:spPr>
      </p:pic>
      <p:pic>
        <p:nvPicPr>
          <p:cNvPr id="1019" name="Google Shape;1019;p53"/>
          <p:cNvPicPr preferRelativeResize="0"/>
          <p:nvPr/>
        </p:nvPicPr>
        <p:blipFill>
          <a:blip r:embed="rId4">
            <a:alphaModFix/>
          </a:blip>
          <a:stretch>
            <a:fillRect/>
          </a:stretch>
        </p:blipFill>
        <p:spPr>
          <a:xfrm>
            <a:off x="649625" y="3713150"/>
            <a:ext cx="7257226" cy="3029175"/>
          </a:xfrm>
          <a:prstGeom prst="rect">
            <a:avLst/>
          </a:prstGeom>
          <a:noFill/>
          <a:ln>
            <a:noFill/>
          </a:ln>
        </p:spPr>
      </p:pic>
      <p:sp>
        <p:nvSpPr>
          <p:cNvPr id="1020" name="Google Shape;1020;p53"/>
          <p:cNvSpPr txBox="1"/>
          <p:nvPr/>
        </p:nvSpPr>
        <p:spPr>
          <a:xfrm>
            <a:off x="4562400" y="5322875"/>
            <a:ext cx="4581600" cy="975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1155CC"/>
              </a:buClr>
              <a:buSzPts val="1800"/>
              <a:buFont typeface="Times New Roman"/>
              <a:buChar char="+"/>
            </a:pPr>
            <a:r>
              <a:rPr lang="en-GB" sz="1800">
                <a:solidFill>
                  <a:srgbClr val="1155CC"/>
                </a:solidFill>
                <a:latin typeface="Times New Roman"/>
                <a:ea typeface="Times New Roman"/>
                <a:cs typeface="Times New Roman"/>
                <a:sym typeface="Times New Roman"/>
              </a:rPr>
              <a:t>Kết hợp biểu diễn thực thể với các xử lý liên quan.</a:t>
            </a:r>
            <a:endParaRPr sz="1800">
              <a:solidFill>
                <a:srgbClr val="1155CC"/>
              </a:solidFill>
              <a:latin typeface="Times New Roman"/>
              <a:ea typeface="Times New Roman"/>
              <a:cs typeface="Times New Roman"/>
              <a:sym typeface="Times New Roman"/>
            </a:endParaRPr>
          </a:p>
          <a:p>
            <a:pPr indent="-342900" lvl="0" marL="457200" rtl="0" algn="l">
              <a:spcBef>
                <a:spcPts val="0"/>
              </a:spcBef>
              <a:spcAft>
                <a:spcPts val="0"/>
              </a:spcAft>
              <a:buClr>
                <a:srgbClr val="1155CC"/>
              </a:buClr>
              <a:buSzPts val="1800"/>
              <a:buFont typeface="Times New Roman"/>
              <a:buChar char="+"/>
            </a:pPr>
            <a:r>
              <a:rPr lang="en-GB" sz="1800">
                <a:solidFill>
                  <a:srgbClr val="1155CC"/>
                </a:solidFill>
                <a:latin typeface="Times New Roman"/>
                <a:ea typeface="Times New Roman"/>
                <a:cs typeface="Times New Roman"/>
                <a:sym typeface="Times New Roman"/>
              </a:rPr>
              <a:t>1 đối tượng có thể xử lý nhiều công việc.</a:t>
            </a:r>
            <a:endParaRPr sz="1800">
              <a:solidFill>
                <a:srgbClr val="1155CC"/>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54"/>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026" name="Google Shape;1026;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27" name="Google Shape;1027;p54"/>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trạng thái của đối tượng</a:t>
            </a:r>
            <a:endParaRPr/>
          </a:p>
          <a:p>
            <a:pPr indent="-368300" lvl="1" marL="914400" rtl="0" algn="l">
              <a:spcBef>
                <a:spcPts val="0"/>
              </a:spcBef>
              <a:spcAft>
                <a:spcPts val="0"/>
              </a:spcAft>
              <a:buSzPts val="2200"/>
              <a:buChar char="○"/>
            </a:pPr>
            <a:r>
              <a:rPr lang="en-GB"/>
              <a:t>Sơ đồ</a:t>
            </a:r>
            <a:r>
              <a:rPr lang="en-GB"/>
              <a:t> máy trạng thái</a:t>
            </a:r>
            <a:endParaRPr/>
          </a:p>
          <a:p>
            <a:pPr indent="-381000" lvl="0" marL="457200" rtl="0" algn="l">
              <a:spcBef>
                <a:spcPts val="0"/>
              </a:spcBef>
              <a:spcAft>
                <a:spcPts val="0"/>
              </a:spcAft>
              <a:buSzPts val="2400"/>
              <a:buChar char="●"/>
            </a:pPr>
            <a:r>
              <a:rPr lang="en-GB"/>
              <a:t>Các mô hình tương tác</a:t>
            </a:r>
            <a:endParaRPr/>
          </a:p>
          <a:p>
            <a:pPr indent="-368300" lvl="1" marL="914400" rtl="0" algn="l">
              <a:spcBef>
                <a:spcPts val="0"/>
              </a:spcBef>
              <a:spcAft>
                <a:spcPts val="0"/>
              </a:spcAft>
              <a:buSzPts val="2200"/>
              <a:buChar char="○"/>
            </a:pPr>
            <a:r>
              <a:rPr lang="en-GB"/>
              <a:t>Sơ đồ</a:t>
            </a:r>
            <a:r>
              <a:rPr lang="en-GB"/>
              <a:t> tuần tự</a:t>
            </a:r>
            <a:endParaRPr/>
          </a:p>
          <a:p>
            <a:pPr indent="-368300" lvl="1" marL="914400" rtl="0" algn="l">
              <a:spcBef>
                <a:spcPts val="0"/>
              </a:spcBef>
              <a:spcAft>
                <a:spcPts val="0"/>
              </a:spcAft>
              <a:buSzPts val="2200"/>
              <a:buChar char="○"/>
            </a:pPr>
            <a:r>
              <a:rPr lang="en-GB"/>
              <a:t>Sơ đồ</a:t>
            </a:r>
            <a:r>
              <a:rPr lang="en-GB"/>
              <a:t> giao tiếp</a:t>
            </a:r>
            <a:endParaRPr/>
          </a:p>
          <a:p>
            <a:pPr indent="-381000" lvl="0" marL="457200" rtl="0" algn="l">
              <a:spcBef>
                <a:spcPts val="0"/>
              </a:spcBef>
              <a:spcAft>
                <a:spcPts val="0"/>
              </a:spcAft>
              <a:buSzPts val="2400"/>
              <a:buChar char="●"/>
            </a:pPr>
            <a:r>
              <a:rPr b="1" lang="en-GB"/>
              <a:t>Kỹ thuật phát hiện các mối quan hệ</a:t>
            </a:r>
            <a:endParaRPr b="1"/>
          </a:p>
          <a:p>
            <a:pPr indent="-368300" lvl="1" marL="914400" rtl="0" algn="l">
              <a:spcBef>
                <a:spcPts val="0"/>
              </a:spcBef>
              <a:spcAft>
                <a:spcPts val="0"/>
              </a:spcAft>
              <a:buSzPts val="2200"/>
              <a:buChar char="○"/>
            </a:pPr>
            <a:r>
              <a:rPr lang="en-GB"/>
              <a:t>Phân tích ma trận CRUD(E)</a:t>
            </a:r>
            <a:endParaRPr/>
          </a:p>
          <a:p>
            <a:pPr indent="-381000" lvl="0" marL="457200" rtl="0" algn="l">
              <a:spcBef>
                <a:spcPts val="0"/>
              </a:spcBef>
              <a:spcAft>
                <a:spcPts val="0"/>
              </a:spcAft>
              <a:buSzPts val="2400"/>
              <a:buChar char="●"/>
            </a:pPr>
            <a:r>
              <a:rPr lang="en-GB"/>
              <a:t>Tổng kết các nội dung phân tích</a:t>
            </a:r>
            <a:endParaRPr/>
          </a:p>
        </p:txBody>
      </p:sp>
      <p:sp>
        <p:nvSpPr>
          <p:cNvPr id="1028" name="Google Shape;1028;p54"/>
          <p:cNvSpPr/>
          <p:nvPr/>
        </p:nvSpPr>
        <p:spPr>
          <a:xfrm>
            <a:off x="366525" y="3255716"/>
            <a:ext cx="54621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55"/>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ỹ thuật phân tích ma trận</a:t>
            </a:r>
            <a:endParaRPr/>
          </a:p>
        </p:txBody>
      </p:sp>
      <p:sp>
        <p:nvSpPr>
          <p:cNvPr id="1034" name="Google Shape;1034;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35" name="Google Shape;1035;p55"/>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H</a:t>
            </a:r>
            <a:r>
              <a:rPr lang="en-GB"/>
              <a:t>ỗ trợ xác định các mối quan hệ</a:t>
            </a:r>
            <a:endParaRPr/>
          </a:p>
          <a:p>
            <a:pPr indent="-381000" lvl="0" marL="457200" rtl="0" algn="l">
              <a:spcBef>
                <a:spcPts val="0"/>
              </a:spcBef>
              <a:spcAft>
                <a:spcPts val="0"/>
              </a:spcAft>
              <a:buSzPts val="2400"/>
              <a:buChar char="●"/>
            </a:pPr>
            <a:r>
              <a:rPr lang="en-GB"/>
              <a:t>Gán nhãn các trường hợp tương tác</a:t>
            </a:r>
            <a:endParaRPr/>
          </a:p>
          <a:p>
            <a:pPr indent="-368300" lvl="1" marL="914400" rtl="0" algn="l">
              <a:spcBef>
                <a:spcPts val="0"/>
              </a:spcBef>
              <a:spcAft>
                <a:spcPts val="0"/>
              </a:spcAft>
              <a:buSzPts val="2200"/>
              <a:buChar char="○"/>
            </a:pPr>
            <a:r>
              <a:rPr b="1" lang="en-GB"/>
              <a:t>C</a:t>
            </a:r>
            <a:r>
              <a:rPr lang="en-GB"/>
              <a:t>reate - Tạo đối tượng</a:t>
            </a:r>
            <a:endParaRPr/>
          </a:p>
          <a:p>
            <a:pPr indent="-368300" lvl="1" marL="914400" rtl="0" algn="l">
              <a:spcBef>
                <a:spcPts val="0"/>
              </a:spcBef>
              <a:spcAft>
                <a:spcPts val="0"/>
              </a:spcAft>
              <a:buSzPts val="2200"/>
              <a:buChar char="○"/>
            </a:pPr>
            <a:r>
              <a:rPr b="1" lang="en-GB"/>
              <a:t>R</a:t>
            </a:r>
            <a:r>
              <a:rPr lang="en-GB"/>
              <a:t>ead - Tra cứu thông tin được lưu trong đối tượng</a:t>
            </a:r>
            <a:endParaRPr/>
          </a:p>
          <a:p>
            <a:pPr indent="-368300" lvl="1" marL="914400" rtl="0" algn="l">
              <a:spcBef>
                <a:spcPts val="0"/>
              </a:spcBef>
              <a:spcAft>
                <a:spcPts val="0"/>
              </a:spcAft>
              <a:buSzPts val="2200"/>
              <a:buChar char="○"/>
            </a:pPr>
            <a:r>
              <a:rPr b="1" lang="en-GB"/>
              <a:t>U</a:t>
            </a:r>
            <a:r>
              <a:rPr lang="en-GB"/>
              <a:t>pdate - Cập nhật giá trị thuộc tính của đối tượng</a:t>
            </a:r>
            <a:endParaRPr/>
          </a:p>
          <a:p>
            <a:pPr indent="-368300" lvl="1" marL="914400" rtl="0" algn="l">
              <a:spcBef>
                <a:spcPts val="0"/>
              </a:spcBef>
              <a:spcAft>
                <a:spcPts val="0"/>
              </a:spcAft>
              <a:buSzPts val="2200"/>
              <a:buChar char="○"/>
            </a:pPr>
            <a:r>
              <a:rPr b="1" lang="en-GB"/>
              <a:t>D</a:t>
            </a:r>
            <a:r>
              <a:rPr lang="en-GB"/>
              <a:t>elete - Xóa đối tượng</a:t>
            </a:r>
            <a:endParaRPr/>
          </a:p>
          <a:p>
            <a:pPr indent="-368300" lvl="1" marL="914400" rtl="0" algn="l">
              <a:spcBef>
                <a:spcPts val="0"/>
              </a:spcBef>
              <a:spcAft>
                <a:spcPts val="0"/>
              </a:spcAft>
              <a:buSzPts val="2200"/>
              <a:buChar char="○"/>
            </a:pPr>
            <a:r>
              <a:rPr b="1" lang="en-GB"/>
              <a:t>E</a:t>
            </a:r>
            <a:r>
              <a:rPr lang="en-GB"/>
              <a:t>xecute - Yêu cầu đối tượng thực hiện hành động </a:t>
            </a:r>
            <a:endParaRPr/>
          </a:p>
          <a:p>
            <a:pPr indent="-342900" lvl="2" marL="1371600" rtl="0" algn="l">
              <a:spcBef>
                <a:spcPts val="0"/>
              </a:spcBef>
              <a:spcAft>
                <a:spcPts val="0"/>
              </a:spcAft>
              <a:buSzPts val="1800"/>
              <a:buChar char="■"/>
            </a:pPr>
            <a:r>
              <a:rPr lang="en-GB"/>
              <a:t>Quan hệ giữa các đối tượng.</a:t>
            </a:r>
            <a:endParaRPr/>
          </a:p>
          <a:p>
            <a:pPr indent="-381000" lvl="0" marL="457200" rtl="0" algn="l">
              <a:spcBef>
                <a:spcPts val="0"/>
              </a:spcBef>
              <a:spcAft>
                <a:spcPts val="0"/>
              </a:spcAft>
              <a:buSzPts val="2400"/>
              <a:buChar char="●"/>
            </a:pPr>
            <a:r>
              <a:rPr lang="en-GB"/>
              <a:t>Biểu diễn dưới dạng ma trận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56"/>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a sử dụng và lớp lĩnh vực</a:t>
            </a:r>
            <a:endParaRPr/>
          </a:p>
        </p:txBody>
      </p:sp>
      <p:sp>
        <p:nvSpPr>
          <p:cNvPr id="1041" name="Google Shape;1041;p56"/>
          <p:cNvSpPr txBox="1"/>
          <p:nvPr>
            <p:ph idx="4294967295" type="body"/>
          </p:nvPr>
        </p:nvSpPr>
        <p:spPr>
          <a:xfrm>
            <a:off x="311700" y="819975"/>
            <a:ext cx="85206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Để </a:t>
            </a:r>
            <a:r>
              <a:rPr lang="en-GB"/>
              <a:t>hỗ trợ </a:t>
            </a:r>
            <a:r>
              <a:rPr lang="en-GB" sz="2400"/>
              <a:t>xác định các đối tượng liên quan đến các hoạt động nghiệp vụ trong phạm vi ca sử dụng:</a:t>
            </a:r>
            <a:endParaRPr sz="2400"/>
          </a:p>
          <a:p>
            <a:pPr indent="-381000" lvl="0" marL="457200" rtl="0" algn="l">
              <a:spcBef>
                <a:spcPts val="0"/>
              </a:spcBef>
              <a:spcAft>
                <a:spcPts val="0"/>
              </a:spcAft>
              <a:buSzPts val="2400"/>
              <a:buChar char="●"/>
            </a:pPr>
            <a:r>
              <a:rPr b="1" lang="en-GB" sz="2400"/>
              <a:t>Phân tích </a:t>
            </a:r>
            <a:r>
              <a:rPr b="1" lang="en-GB" sz="2400"/>
              <a:t>CR</a:t>
            </a:r>
            <a:r>
              <a:rPr b="1" lang="en-GB" sz="2400"/>
              <a:t>UD:</a:t>
            </a:r>
            <a:r>
              <a:rPr lang="en-GB" sz="2400"/>
              <a:t> </a:t>
            </a:r>
            <a:r>
              <a:rPr lang="en-GB" sz="2400"/>
              <a:t>V</a:t>
            </a:r>
            <a:r>
              <a:rPr lang="en-GB" sz="2400"/>
              <a:t>ới mỗi lớp lĩnh vực kiểm tra xem có các ca sử dụng tạo, đọc, cập nhật và xóa đối tượng hay không?</a:t>
            </a:r>
            <a:endParaRPr sz="2400"/>
          </a:p>
        </p:txBody>
      </p:sp>
      <p:sp>
        <p:nvSpPr>
          <p:cNvPr id="1042" name="Google Shape;1042;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043" name="Google Shape;1043;p56"/>
          <p:cNvGraphicFramePr/>
          <p:nvPr/>
        </p:nvGraphicFramePr>
        <p:xfrm>
          <a:off x="637525" y="2817367"/>
          <a:ext cx="3000000" cy="3000000"/>
        </p:xfrm>
        <a:graphic>
          <a:graphicData uri="http://schemas.openxmlformats.org/drawingml/2006/table">
            <a:tbl>
              <a:tblPr>
                <a:noFill/>
                <a:tableStyleId>{63FAA6BB-E2A7-4351-8BDD-0555BAA26764}</a:tableStyleId>
              </a:tblPr>
              <a:tblGrid>
                <a:gridCol w="3306450"/>
                <a:gridCol w="1655400"/>
                <a:gridCol w="1273825"/>
                <a:gridCol w="1566425"/>
              </a:tblGrid>
              <a:tr h="508000">
                <a:tc>
                  <a:txBody>
                    <a:bodyPr/>
                    <a:lstStyle/>
                    <a:p>
                      <a:pPr indent="0" lvl="0" marL="0" rtl="0" algn="l">
                        <a:spcBef>
                          <a:spcPts val="0"/>
                        </a:spcBef>
                        <a:spcAft>
                          <a:spcPts val="0"/>
                        </a:spcAft>
                        <a:buNone/>
                      </a:pPr>
                      <a:r>
                        <a:rPr b="1" lang="en-GB" sz="2000"/>
                        <a:t>Lớp lĩnh vực/</a:t>
                      </a:r>
                      <a:r>
                        <a:rPr b="1" lang="en-GB" sz="2000">
                          <a:solidFill>
                            <a:schemeClr val="dk1"/>
                          </a:solidFill>
                        </a:rPr>
                        <a:t>Ca sử dụng</a:t>
                      </a:r>
                      <a:endParaRPr b="1" sz="2000"/>
                    </a:p>
                  </a:txBody>
                  <a:tcPr marT="121900" marB="121900" marR="91425" marL="91425">
                    <a:solidFill>
                      <a:srgbClr val="6D9EEB"/>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rPr>
                        <a:t>Tạo tài khoản</a:t>
                      </a:r>
                      <a:endParaRPr b="1" sz="2000"/>
                    </a:p>
                  </a:txBody>
                  <a:tcPr marT="121900" marB="121900" marR="91425" marL="91425">
                    <a:solidFill>
                      <a:srgbClr val="6D9EEB"/>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rPr>
                        <a:t>Tìm hồ sơ</a:t>
                      </a:r>
                      <a:endParaRPr b="1" sz="2000"/>
                    </a:p>
                  </a:txBody>
                  <a:tcPr marT="121900" marB="121900" marR="91425" marL="91425">
                    <a:solidFill>
                      <a:srgbClr val="6D9EEB"/>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rPr>
                        <a:t>Tạo báo cáo</a:t>
                      </a:r>
                      <a:endParaRPr b="1" sz="2000"/>
                    </a:p>
                  </a:txBody>
                  <a:tcPr marT="121900" marB="121900" marR="91425" marL="91425">
                    <a:solidFill>
                      <a:srgbClr val="6D9EEB"/>
                    </a:solidFill>
                  </a:tcPr>
                </a:tc>
              </a:tr>
              <a:tr h="528275">
                <a:tc>
                  <a:txBody>
                    <a:bodyPr/>
                    <a:lstStyle/>
                    <a:p>
                      <a:pPr indent="0" lvl="0" marL="0" rtl="0" algn="l">
                        <a:spcBef>
                          <a:spcPts val="0"/>
                        </a:spcBef>
                        <a:spcAft>
                          <a:spcPts val="0"/>
                        </a:spcAft>
                        <a:buNone/>
                      </a:pPr>
                      <a:r>
                        <a:rPr b="1" lang="en-GB" sz="2000">
                          <a:solidFill>
                            <a:schemeClr val="dk1"/>
                          </a:solidFill>
                        </a:rPr>
                        <a:t>Khách hàng</a:t>
                      </a:r>
                      <a:endParaRPr sz="2000"/>
                    </a:p>
                  </a:txBody>
                  <a:tcPr marT="121900" marB="121900" marR="91425" marL="91425">
                    <a:solidFill>
                      <a:srgbClr val="F4CCCC"/>
                    </a:solidFill>
                  </a:tcPr>
                </a:tc>
                <a:tc>
                  <a:txBody>
                    <a:bodyPr/>
                    <a:lstStyle/>
                    <a:p>
                      <a:pPr indent="0" lvl="0" marL="0" rtl="0" algn="l">
                        <a:spcBef>
                          <a:spcPts val="0"/>
                        </a:spcBef>
                        <a:spcAft>
                          <a:spcPts val="0"/>
                        </a:spcAft>
                        <a:buNone/>
                      </a:pPr>
                      <a:r>
                        <a:rPr lang="en-GB" sz="2000"/>
                        <a:t>C</a:t>
                      </a:r>
                      <a:endParaRPr sz="2000"/>
                    </a:p>
                  </a:txBody>
                  <a:tcPr marT="121900" marB="121900" marR="91425" marL="91425">
                    <a:solidFill>
                      <a:srgbClr val="F4CCCC"/>
                    </a:solidFill>
                  </a:tcPr>
                </a:tc>
                <a:tc>
                  <a:txBody>
                    <a:bodyPr/>
                    <a:lstStyle/>
                    <a:p>
                      <a:pPr indent="0" lvl="0" marL="0" rtl="0" algn="l">
                        <a:spcBef>
                          <a:spcPts val="0"/>
                        </a:spcBef>
                        <a:spcAft>
                          <a:spcPts val="0"/>
                        </a:spcAft>
                        <a:buNone/>
                      </a:pPr>
                      <a:r>
                        <a:t/>
                      </a:r>
                      <a:endParaRPr sz="2000"/>
                    </a:p>
                  </a:txBody>
                  <a:tcPr marT="121900" marB="121900" marR="91425" marL="91425">
                    <a:solidFill>
                      <a:srgbClr val="F4CCCC"/>
                    </a:solidFill>
                  </a:tcPr>
                </a:tc>
                <a:tc>
                  <a:txBody>
                    <a:bodyPr/>
                    <a:lstStyle/>
                    <a:p>
                      <a:pPr indent="0" lvl="0" marL="0" rtl="0" algn="l">
                        <a:spcBef>
                          <a:spcPts val="0"/>
                        </a:spcBef>
                        <a:spcAft>
                          <a:spcPts val="0"/>
                        </a:spcAft>
                        <a:buNone/>
                      </a:pPr>
                      <a:r>
                        <a:t/>
                      </a:r>
                      <a:endParaRPr sz="2000"/>
                    </a:p>
                  </a:txBody>
                  <a:tcPr marT="121900" marB="121900" marR="91425" marL="91425">
                    <a:solidFill>
                      <a:srgbClr val="F4CCCC"/>
                    </a:solidFill>
                  </a:tcPr>
                </a:tc>
              </a:tr>
              <a:tr h="508000">
                <a:tc>
                  <a:txBody>
                    <a:bodyPr/>
                    <a:lstStyle/>
                    <a:p>
                      <a:pPr indent="0" lvl="0" marL="0" rtl="0" algn="l">
                        <a:spcBef>
                          <a:spcPts val="0"/>
                        </a:spcBef>
                        <a:spcAft>
                          <a:spcPts val="0"/>
                        </a:spcAft>
                        <a:buNone/>
                      </a:pPr>
                      <a:r>
                        <a:rPr b="1" lang="en-GB" sz="2000">
                          <a:solidFill>
                            <a:schemeClr val="dk1"/>
                          </a:solidFill>
                        </a:rPr>
                        <a:t>Hóa đơn</a:t>
                      </a:r>
                      <a:endParaRPr sz="2000"/>
                    </a:p>
                  </a:txBody>
                  <a:tcPr marT="121900" marB="121900" marR="91425" marL="91425">
                    <a:solidFill>
                      <a:srgbClr val="FFF2CC"/>
                    </a:solidFill>
                  </a:tcPr>
                </a:tc>
                <a:tc>
                  <a:txBody>
                    <a:bodyPr/>
                    <a:lstStyle/>
                    <a:p>
                      <a:pPr indent="0" lvl="0" marL="0" rtl="0" algn="l">
                        <a:spcBef>
                          <a:spcPts val="0"/>
                        </a:spcBef>
                        <a:spcAft>
                          <a:spcPts val="0"/>
                        </a:spcAft>
                        <a:buNone/>
                      </a:pPr>
                      <a:r>
                        <a:rPr lang="en-GB" sz="2000"/>
                        <a:t>R</a:t>
                      </a:r>
                      <a:endParaRPr sz="2000"/>
                    </a:p>
                  </a:txBody>
                  <a:tcPr marT="121900" marB="121900" marR="91425" marL="91425">
                    <a:solidFill>
                      <a:srgbClr val="FFF2CC"/>
                    </a:solidFill>
                  </a:tcPr>
                </a:tc>
                <a:tc>
                  <a:txBody>
                    <a:bodyPr/>
                    <a:lstStyle/>
                    <a:p>
                      <a:pPr indent="0" lvl="0" marL="0" rtl="0" algn="l">
                        <a:spcBef>
                          <a:spcPts val="0"/>
                        </a:spcBef>
                        <a:spcAft>
                          <a:spcPts val="0"/>
                        </a:spcAft>
                        <a:buNone/>
                      </a:pPr>
                      <a:r>
                        <a:t/>
                      </a:r>
                      <a:endParaRPr sz="2000"/>
                    </a:p>
                  </a:txBody>
                  <a:tcPr marT="121900" marB="121900" marR="91425" marL="91425">
                    <a:solidFill>
                      <a:srgbClr val="FFF2CC"/>
                    </a:solidFill>
                  </a:tcPr>
                </a:tc>
                <a:tc>
                  <a:txBody>
                    <a:bodyPr/>
                    <a:lstStyle/>
                    <a:p>
                      <a:pPr indent="0" lvl="0" marL="0" rtl="0" algn="l">
                        <a:spcBef>
                          <a:spcPts val="0"/>
                        </a:spcBef>
                        <a:spcAft>
                          <a:spcPts val="0"/>
                        </a:spcAft>
                        <a:buNone/>
                      </a:pPr>
                      <a:r>
                        <a:t/>
                      </a:r>
                      <a:endParaRPr sz="2000"/>
                    </a:p>
                  </a:txBody>
                  <a:tcPr marT="121900" marB="121900" marR="91425" marL="91425">
                    <a:solidFill>
                      <a:srgbClr val="FFF2CC"/>
                    </a:solidFill>
                  </a:tcPr>
                </a:tc>
              </a:tr>
              <a:tr h="508000">
                <a:tc>
                  <a:txBody>
                    <a:bodyPr/>
                    <a:lstStyle/>
                    <a:p>
                      <a:pPr indent="0" lvl="0" marL="0" rtl="0" algn="l">
                        <a:spcBef>
                          <a:spcPts val="0"/>
                        </a:spcBef>
                        <a:spcAft>
                          <a:spcPts val="0"/>
                        </a:spcAft>
                        <a:buNone/>
                      </a:pPr>
                      <a:r>
                        <a:rPr b="1" lang="en-GB" sz="2000"/>
                        <a:t>Đơn hàng</a:t>
                      </a:r>
                      <a:endParaRPr b="1" sz="2000"/>
                    </a:p>
                  </a:txBody>
                  <a:tcPr marT="121900" marB="121900" marR="91425" marL="91425">
                    <a:solidFill>
                      <a:srgbClr val="F4CCCC"/>
                    </a:solidFill>
                  </a:tcPr>
                </a:tc>
                <a:tc>
                  <a:txBody>
                    <a:bodyPr/>
                    <a:lstStyle/>
                    <a:p>
                      <a:pPr indent="0" lvl="0" marL="0" rtl="0" algn="l">
                        <a:spcBef>
                          <a:spcPts val="0"/>
                        </a:spcBef>
                        <a:spcAft>
                          <a:spcPts val="0"/>
                        </a:spcAft>
                        <a:buNone/>
                      </a:pPr>
                      <a:r>
                        <a:rPr lang="en-GB" sz="2000"/>
                        <a:t>R</a:t>
                      </a:r>
                      <a:endParaRPr sz="2000"/>
                    </a:p>
                  </a:txBody>
                  <a:tcPr marT="121900" marB="121900" marR="91425" marL="91425">
                    <a:solidFill>
                      <a:srgbClr val="F4CCCC"/>
                    </a:solidFill>
                  </a:tcPr>
                </a:tc>
                <a:tc>
                  <a:txBody>
                    <a:bodyPr/>
                    <a:lstStyle/>
                    <a:p>
                      <a:pPr indent="0" lvl="0" marL="0" rtl="0" algn="l">
                        <a:spcBef>
                          <a:spcPts val="0"/>
                        </a:spcBef>
                        <a:spcAft>
                          <a:spcPts val="0"/>
                        </a:spcAft>
                        <a:buNone/>
                      </a:pPr>
                      <a:r>
                        <a:rPr lang="en-GB" sz="2000"/>
                        <a:t>R</a:t>
                      </a:r>
                      <a:endParaRPr sz="2000"/>
                    </a:p>
                  </a:txBody>
                  <a:tcPr marT="121900" marB="121900" marR="91425" marL="91425">
                    <a:solidFill>
                      <a:srgbClr val="F4CCCC"/>
                    </a:solidFill>
                  </a:tcPr>
                </a:tc>
                <a:tc>
                  <a:txBody>
                    <a:bodyPr/>
                    <a:lstStyle/>
                    <a:p>
                      <a:pPr indent="0" lvl="0" marL="0" rtl="0" algn="l">
                        <a:spcBef>
                          <a:spcPts val="0"/>
                        </a:spcBef>
                        <a:spcAft>
                          <a:spcPts val="0"/>
                        </a:spcAft>
                        <a:buNone/>
                      </a:pPr>
                      <a:r>
                        <a:rPr lang="en-GB" sz="2000"/>
                        <a:t>R</a:t>
                      </a:r>
                      <a:endParaRPr sz="2000"/>
                    </a:p>
                  </a:txBody>
                  <a:tcPr marT="121900" marB="121900" marR="91425" marL="91425">
                    <a:solidFill>
                      <a:srgbClr val="F4CCCC"/>
                    </a:solidFill>
                  </a:tcPr>
                </a:tc>
              </a:tr>
              <a:tr h="508000">
                <a:tc>
                  <a:txBody>
                    <a:bodyPr/>
                    <a:lstStyle/>
                    <a:p>
                      <a:pPr indent="0" lvl="0" marL="0" rtl="0" algn="l">
                        <a:spcBef>
                          <a:spcPts val="0"/>
                        </a:spcBef>
                        <a:spcAft>
                          <a:spcPts val="0"/>
                        </a:spcAft>
                        <a:buNone/>
                      </a:pPr>
                      <a:r>
                        <a:rPr lang="en-GB" sz="2000"/>
                        <a:t>…</a:t>
                      </a:r>
                      <a:endParaRPr sz="2000"/>
                    </a:p>
                  </a:txBody>
                  <a:tcPr marT="121900" marB="121900" marR="91425" marL="91425">
                    <a:solidFill>
                      <a:srgbClr val="F4CCCC"/>
                    </a:solidFill>
                  </a:tcPr>
                </a:tc>
                <a:tc>
                  <a:txBody>
                    <a:bodyPr/>
                    <a:lstStyle/>
                    <a:p>
                      <a:pPr indent="0" lvl="0" marL="0" rtl="0" algn="l">
                        <a:spcBef>
                          <a:spcPts val="0"/>
                        </a:spcBef>
                        <a:spcAft>
                          <a:spcPts val="0"/>
                        </a:spcAft>
                        <a:buNone/>
                      </a:pPr>
                      <a:r>
                        <a:t/>
                      </a:r>
                      <a:endParaRPr sz="2000"/>
                    </a:p>
                  </a:txBody>
                  <a:tcPr marT="121900" marB="121900" marR="91425" marL="91425">
                    <a:solidFill>
                      <a:srgbClr val="F4CCCC"/>
                    </a:solidFill>
                  </a:tcPr>
                </a:tc>
                <a:tc>
                  <a:txBody>
                    <a:bodyPr/>
                    <a:lstStyle/>
                    <a:p>
                      <a:pPr indent="0" lvl="0" marL="0" rtl="0" algn="l">
                        <a:spcBef>
                          <a:spcPts val="0"/>
                        </a:spcBef>
                        <a:spcAft>
                          <a:spcPts val="0"/>
                        </a:spcAft>
                        <a:buNone/>
                      </a:pPr>
                      <a:r>
                        <a:t/>
                      </a:r>
                      <a:endParaRPr sz="2000"/>
                    </a:p>
                  </a:txBody>
                  <a:tcPr marT="121900" marB="121900" marR="91425" marL="91425">
                    <a:solidFill>
                      <a:srgbClr val="F4CCCC"/>
                    </a:solidFill>
                  </a:tcPr>
                </a:tc>
                <a:tc>
                  <a:txBody>
                    <a:bodyPr/>
                    <a:lstStyle/>
                    <a:p>
                      <a:pPr indent="0" lvl="0" marL="0" rtl="0" algn="l">
                        <a:spcBef>
                          <a:spcPts val="0"/>
                        </a:spcBef>
                        <a:spcAft>
                          <a:spcPts val="0"/>
                        </a:spcAft>
                        <a:buNone/>
                      </a:pPr>
                      <a:r>
                        <a:t/>
                      </a:r>
                      <a:endParaRPr sz="2000"/>
                    </a:p>
                  </a:txBody>
                  <a:tcPr marT="121900" marB="121900" marR="91425" marL="91425">
                    <a:solidFill>
                      <a:srgbClr val="F4CCCC"/>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57"/>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049" name="Google Shape;1049;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50" name="Google Shape;1050;p57"/>
          <p:cNvSpPr txBox="1"/>
          <p:nvPr>
            <p:ph idx="1" type="body"/>
          </p:nvPr>
        </p:nvSpPr>
        <p:spPr>
          <a:xfrm>
            <a:off x="311700" y="1017800"/>
            <a:ext cx="8520600" cy="5265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mô hình tương tác</a:t>
            </a:r>
            <a:endParaRPr/>
          </a:p>
          <a:p>
            <a:pPr indent="-368300" lvl="1" marL="914400" rtl="0" algn="l">
              <a:spcBef>
                <a:spcPts val="0"/>
              </a:spcBef>
              <a:spcAft>
                <a:spcPts val="0"/>
              </a:spcAft>
              <a:buSzPts val="2200"/>
              <a:buChar char="○"/>
            </a:pPr>
            <a:r>
              <a:rPr lang="en-GB"/>
              <a:t>Sơ đồ</a:t>
            </a:r>
            <a:r>
              <a:rPr lang="en-GB"/>
              <a:t> tuần tự</a:t>
            </a:r>
            <a:endParaRPr/>
          </a:p>
          <a:p>
            <a:pPr indent="-368300" lvl="1" marL="914400" rtl="0" algn="l">
              <a:spcBef>
                <a:spcPts val="0"/>
              </a:spcBef>
              <a:spcAft>
                <a:spcPts val="0"/>
              </a:spcAft>
              <a:buSzPts val="2200"/>
              <a:buChar char="○"/>
            </a:pPr>
            <a:r>
              <a:rPr lang="en-GB"/>
              <a:t>Sơ đồ</a:t>
            </a:r>
            <a:r>
              <a:rPr lang="en-GB"/>
              <a:t> giao tiếp</a:t>
            </a:r>
            <a:endParaRPr/>
          </a:p>
          <a:p>
            <a:pPr indent="-381000" lvl="0" marL="457200" rtl="0" algn="l">
              <a:spcBef>
                <a:spcPts val="0"/>
              </a:spcBef>
              <a:spcAft>
                <a:spcPts val="0"/>
              </a:spcAft>
              <a:buSzPts val="2400"/>
              <a:buChar char="●"/>
            </a:pPr>
            <a:r>
              <a:rPr lang="en-GB"/>
              <a:t>Biểu diễn trạng thái của đối tượng có phạm vi rộng</a:t>
            </a:r>
            <a:endParaRPr/>
          </a:p>
          <a:p>
            <a:pPr indent="-368300" lvl="1" marL="914400" rtl="0" algn="l">
              <a:spcBef>
                <a:spcPts val="0"/>
              </a:spcBef>
              <a:spcAft>
                <a:spcPts val="0"/>
              </a:spcAft>
              <a:buSzPts val="2200"/>
              <a:buChar char="○"/>
            </a:pPr>
            <a:r>
              <a:rPr lang="en-GB"/>
              <a:t>Sơ đồ</a:t>
            </a:r>
            <a:r>
              <a:rPr lang="en-GB"/>
              <a:t> máy trạng thái hành vi</a:t>
            </a:r>
            <a:endParaRPr/>
          </a:p>
          <a:p>
            <a:pPr indent="-381000" lvl="0" marL="457200" rtl="0" algn="l">
              <a:spcBef>
                <a:spcPts val="0"/>
              </a:spcBef>
              <a:spcAft>
                <a:spcPts val="0"/>
              </a:spcAft>
              <a:buSzPts val="2400"/>
              <a:buChar char="●"/>
            </a:pPr>
            <a:r>
              <a:rPr lang="en-GB"/>
              <a:t>Kỹ thuật phát hiện các mối quan hệ</a:t>
            </a:r>
            <a:endParaRPr/>
          </a:p>
          <a:p>
            <a:pPr indent="-368300" lvl="1" marL="914400" rtl="0" algn="l">
              <a:spcBef>
                <a:spcPts val="0"/>
              </a:spcBef>
              <a:spcAft>
                <a:spcPts val="0"/>
              </a:spcAft>
              <a:buSzPts val="2200"/>
              <a:buChar char="○"/>
            </a:pPr>
            <a:r>
              <a:rPr lang="en-GB"/>
              <a:t>Phân tích ma trận CRUD(E)</a:t>
            </a:r>
            <a:endParaRPr/>
          </a:p>
          <a:p>
            <a:pPr indent="-381000" lvl="0" marL="457200" rtl="0" algn="l">
              <a:spcBef>
                <a:spcPts val="0"/>
              </a:spcBef>
              <a:spcAft>
                <a:spcPts val="0"/>
              </a:spcAft>
              <a:buSzPts val="2400"/>
              <a:buChar char="●"/>
            </a:pPr>
            <a:r>
              <a:rPr lang="en-GB"/>
              <a:t>Tổng kết các nội dung phân tích</a:t>
            </a:r>
            <a:endParaRPr/>
          </a:p>
        </p:txBody>
      </p:sp>
      <p:sp>
        <p:nvSpPr>
          <p:cNvPr id="1051" name="Google Shape;1051;p57"/>
          <p:cNvSpPr/>
          <p:nvPr/>
        </p:nvSpPr>
        <p:spPr>
          <a:xfrm>
            <a:off x="366525" y="3672315"/>
            <a:ext cx="74388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58"/>
          <p:cNvSpPr txBox="1"/>
          <p:nvPr>
            <p:ph type="title"/>
          </p:nvPr>
        </p:nvSpPr>
        <p:spPr>
          <a:xfrm>
            <a:off x="385100" y="1692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mô hình</a:t>
            </a:r>
            <a:endParaRPr/>
          </a:p>
        </p:txBody>
      </p:sp>
      <p:sp>
        <p:nvSpPr>
          <p:cNvPr id="1057" name="Google Shape;1057;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58" name="Google Shape;1058;p58"/>
          <p:cNvSpPr/>
          <p:nvPr/>
        </p:nvSpPr>
        <p:spPr>
          <a:xfrm>
            <a:off x="3118975" y="1069065"/>
            <a:ext cx="3197400" cy="2359941"/>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Các mô hình chức năng</a:t>
            </a:r>
            <a:endParaRPr b="1" sz="1800"/>
          </a:p>
        </p:txBody>
      </p:sp>
      <p:sp>
        <p:nvSpPr>
          <p:cNvPr id="1059" name="Google Shape;1059;p58"/>
          <p:cNvSpPr/>
          <p:nvPr/>
        </p:nvSpPr>
        <p:spPr>
          <a:xfrm>
            <a:off x="3357225" y="2573356"/>
            <a:ext cx="1378500" cy="763581"/>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Sơ đồ</a:t>
            </a:r>
            <a:r>
              <a:rPr lang="en-GB" sz="1600"/>
              <a:t> ca sử dụng</a:t>
            </a:r>
            <a:endParaRPr sz="1600"/>
          </a:p>
        </p:txBody>
      </p:sp>
      <p:sp>
        <p:nvSpPr>
          <p:cNvPr id="1060" name="Google Shape;1060;p58"/>
          <p:cNvSpPr/>
          <p:nvPr/>
        </p:nvSpPr>
        <p:spPr>
          <a:xfrm>
            <a:off x="3357225" y="1649962"/>
            <a:ext cx="13785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đặc tả ca sử dụng</a:t>
            </a:r>
            <a:endParaRPr sz="1600"/>
          </a:p>
        </p:txBody>
      </p:sp>
      <p:sp>
        <p:nvSpPr>
          <p:cNvPr id="1061" name="Google Shape;1061;p58"/>
          <p:cNvSpPr/>
          <p:nvPr/>
        </p:nvSpPr>
        <p:spPr>
          <a:xfrm>
            <a:off x="4871525" y="1650001"/>
            <a:ext cx="1378500" cy="7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a:t>
            </a:r>
            <a:r>
              <a:rPr lang="en-GB" sz="1600"/>
              <a:t>sơ đồ</a:t>
            </a:r>
            <a:r>
              <a:rPr lang="en-GB" sz="1600"/>
              <a:t> hoạt động</a:t>
            </a:r>
            <a:endParaRPr sz="1600"/>
          </a:p>
        </p:txBody>
      </p:sp>
      <p:sp>
        <p:nvSpPr>
          <p:cNvPr id="1062" name="Google Shape;1062;p58"/>
          <p:cNvSpPr/>
          <p:nvPr/>
        </p:nvSpPr>
        <p:spPr>
          <a:xfrm>
            <a:off x="838225" y="4124228"/>
            <a:ext cx="3197400" cy="2251144"/>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Các mô hình hành vi</a:t>
            </a:r>
            <a:endParaRPr b="1" sz="1800"/>
          </a:p>
        </p:txBody>
      </p:sp>
      <p:sp>
        <p:nvSpPr>
          <p:cNvPr id="1063" name="Google Shape;1063;p58"/>
          <p:cNvSpPr/>
          <p:nvPr/>
        </p:nvSpPr>
        <p:spPr>
          <a:xfrm>
            <a:off x="978675" y="5563363"/>
            <a:ext cx="1378500" cy="763581"/>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a:t>
            </a:r>
            <a:r>
              <a:rPr lang="en-GB" sz="1600"/>
              <a:t>sơ đồ</a:t>
            </a:r>
            <a:r>
              <a:rPr lang="en-GB" sz="1600"/>
              <a:t> tuần tự</a:t>
            </a:r>
            <a:endParaRPr sz="1600"/>
          </a:p>
        </p:txBody>
      </p:sp>
      <p:sp>
        <p:nvSpPr>
          <p:cNvPr id="1064" name="Google Shape;1064;p58"/>
          <p:cNvSpPr/>
          <p:nvPr/>
        </p:nvSpPr>
        <p:spPr>
          <a:xfrm>
            <a:off x="2491700" y="5562177"/>
            <a:ext cx="1378500" cy="763581"/>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t>Sơ đồ</a:t>
            </a:r>
            <a:r>
              <a:rPr lang="en-GB" sz="1600"/>
              <a:t> giao tiếp</a:t>
            </a:r>
            <a:endParaRPr sz="1600"/>
          </a:p>
        </p:txBody>
      </p:sp>
      <p:sp>
        <p:nvSpPr>
          <p:cNvPr id="1065" name="Google Shape;1065;p58"/>
          <p:cNvSpPr/>
          <p:nvPr/>
        </p:nvSpPr>
        <p:spPr>
          <a:xfrm>
            <a:off x="978675" y="4682575"/>
            <a:ext cx="1378500" cy="763500"/>
          </a:xfrm>
          <a:prstGeom prst="rect">
            <a:avLst/>
          </a:prstGeom>
          <a:noFill/>
          <a:ln cap="flat" cmpd="sng" w="9525">
            <a:solidFill>
              <a:schemeClr val="dk2"/>
            </a:solidFill>
            <a:prstDash val="solid"/>
            <a:round/>
            <a:headEnd len="sm" w="sm" type="none"/>
            <a:tailEnd len="sm" w="sm" type="none"/>
          </a:ln>
        </p:spPr>
        <p:txBody>
          <a:bodyPr anchorCtr="0" anchor="t" bIns="91425" lIns="18000" spcFirstLastPara="1" rIns="18000" wrap="square" tIns="91425">
            <a:noAutofit/>
          </a:bodyPr>
          <a:lstStyle/>
          <a:p>
            <a:pPr indent="0" lvl="0" marL="0" rtl="0" algn="l">
              <a:spcBef>
                <a:spcPts val="0"/>
              </a:spcBef>
              <a:spcAft>
                <a:spcPts val="0"/>
              </a:spcAft>
              <a:buNone/>
            </a:pPr>
            <a:r>
              <a:rPr lang="en-GB" sz="1600"/>
              <a:t>C</a:t>
            </a:r>
            <a:r>
              <a:rPr lang="en-GB" sz="1600"/>
              <a:t>ác </a:t>
            </a:r>
            <a:r>
              <a:rPr lang="en-GB" sz="1600"/>
              <a:t>sơ đồ</a:t>
            </a:r>
            <a:r>
              <a:rPr lang="en-GB" sz="1600"/>
              <a:t> máy trạng thái</a:t>
            </a:r>
            <a:endParaRPr sz="1600"/>
          </a:p>
        </p:txBody>
      </p:sp>
      <p:grpSp>
        <p:nvGrpSpPr>
          <p:cNvPr id="1066" name="Google Shape;1066;p58"/>
          <p:cNvGrpSpPr/>
          <p:nvPr/>
        </p:nvGrpSpPr>
        <p:grpSpPr>
          <a:xfrm>
            <a:off x="4999025" y="4171596"/>
            <a:ext cx="3254700" cy="2251144"/>
            <a:chOff x="4845450" y="3128775"/>
            <a:chExt cx="3254700" cy="1688400"/>
          </a:xfrm>
        </p:grpSpPr>
        <p:sp>
          <p:nvSpPr>
            <p:cNvPr id="1067" name="Google Shape;1067;p58"/>
            <p:cNvSpPr/>
            <p:nvPr/>
          </p:nvSpPr>
          <p:spPr>
            <a:xfrm>
              <a:off x="4845450" y="3128775"/>
              <a:ext cx="3254700" cy="1688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Các mô hình cấu trúc</a:t>
              </a:r>
              <a:endParaRPr b="1" sz="1800"/>
            </a:p>
          </p:txBody>
        </p:sp>
        <p:sp>
          <p:nvSpPr>
            <p:cNvPr id="1068" name="Google Shape;1068;p58"/>
            <p:cNvSpPr/>
            <p:nvPr/>
          </p:nvSpPr>
          <p:spPr>
            <a:xfrm>
              <a:off x="5037625" y="3455675"/>
              <a:ext cx="13785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a:t>
              </a:r>
              <a:r>
                <a:rPr lang="en-GB" sz="1600"/>
                <a:t>sơ đồ</a:t>
              </a:r>
              <a:r>
                <a:rPr lang="en-GB" sz="1600"/>
                <a:t> lớp</a:t>
              </a:r>
              <a:endParaRPr sz="1600"/>
            </a:p>
          </p:txBody>
        </p:sp>
        <p:sp>
          <p:nvSpPr>
            <p:cNvPr id="1069" name="Google Shape;1069;p58"/>
            <p:cNvSpPr/>
            <p:nvPr/>
          </p:nvSpPr>
          <p:spPr>
            <a:xfrm>
              <a:off x="6572424" y="3455677"/>
              <a:ext cx="13785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t>C</a:t>
              </a:r>
              <a:r>
                <a:rPr lang="en-GB" sz="1600"/>
                <a:t>ác thẻ CRC</a:t>
              </a:r>
              <a:endParaRPr sz="1600"/>
            </a:p>
          </p:txBody>
        </p:sp>
        <p:sp>
          <p:nvSpPr>
            <p:cNvPr id="1070" name="Google Shape;1070;p58"/>
            <p:cNvSpPr/>
            <p:nvPr/>
          </p:nvSpPr>
          <p:spPr>
            <a:xfrm>
              <a:off x="5037625" y="4113966"/>
              <a:ext cx="13785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C</a:t>
              </a:r>
              <a:r>
                <a:rPr lang="en-GB" sz="1600"/>
                <a:t>ác </a:t>
              </a:r>
              <a:r>
                <a:rPr lang="en-GB" sz="1600"/>
                <a:t>sơ đồ</a:t>
              </a:r>
              <a:r>
                <a:rPr lang="en-GB" sz="1600"/>
                <a:t> </a:t>
              </a:r>
              <a:r>
                <a:rPr lang="en-GB" sz="1600"/>
                <a:t>đối tượng</a:t>
              </a:r>
              <a:endParaRPr sz="1600"/>
            </a:p>
          </p:txBody>
        </p:sp>
      </p:grpSp>
      <p:sp>
        <p:nvSpPr>
          <p:cNvPr id="1071" name="Google Shape;1071;p58"/>
          <p:cNvSpPr/>
          <p:nvPr/>
        </p:nvSpPr>
        <p:spPr>
          <a:xfrm rot="-3187806">
            <a:off x="1989693" y="3313513"/>
            <a:ext cx="1269000" cy="231000"/>
          </a:xfrm>
          <a:prstGeom prst="lef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8"/>
          <p:cNvSpPr/>
          <p:nvPr/>
        </p:nvSpPr>
        <p:spPr>
          <a:xfrm rot="3369717">
            <a:off x="6414663" y="3192257"/>
            <a:ext cx="1288684" cy="227203"/>
          </a:xfrm>
          <a:prstGeom prst="lef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8"/>
          <p:cNvSpPr/>
          <p:nvPr/>
        </p:nvSpPr>
        <p:spPr>
          <a:xfrm rot="-1194">
            <a:off x="4135326" y="5223695"/>
            <a:ext cx="863700" cy="261300"/>
          </a:xfrm>
          <a:prstGeom prst="lef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59"/>
          <p:cNvSpPr/>
          <p:nvPr/>
        </p:nvSpPr>
        <p:spPr>
          <a:xfrm>
            <a:off x="380625" y="796675"/>
            <a:ext cx="8640600" cy="5945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t>1. Mục lục</a:t>
            </a:r>
            <a:endParaRPr sz="2200"/>
          </a:p>
          <a:p>
            <a:pPr indent="0" lvl="0" marL="0" rtl="0" algn="just">
              <a:spcBef>
                <a:spcPts val="0"/>
              </a:spcBef>
              <a:spcAft>
                <a:spcPts val="0"/>
              </a:spcAft>
              <a:buNone/>
            </a:pPr>
            <a:r>
              <a:rPr b="1" lang="en-GB" sz="2200"/>
              <a:t>2</a:t>
            </a:r>
            <a:r>
              <a:rPr b="1" lang="en-GB" sz="2200"/>
              <a:t>. </a:t>
            </a:r>
            <a:r>
              <a:rPr b="1" lang="en-GB" sz="2200"/>
              <a:t>Môi trường, nghiệp vụ &amp; nhu cầu sử dụng hệ thống</a:t>
            </a:r>
            <a:endParaRPr sz="2200"/>
          </a:p>
          <a:p>
            <a:pPr indent="0" lvl="0" marL="0" rtl="0" algn="just">
              <a:spcBef>
                <a:spcPts val="0"/>
              </a:spcBef>
              <a:spcAft>
                <a:spcPts val="0"/>
              </a:spcAft>
              <a:buNone/>
            </a:pPr>
            <a:r>
              <a:rPr b="1" lang="en-GB" sz="2200"/>
              <a:t>3</a:t>
            </a:r>
            <a:r>
              <a:rPr b="1" lang="en-GB" sz="2200"/>
              <a:t>. </a:t>
            </a:r>
            <a:r>
              <a:rPr b="1" lang="en-GB" sz="2200"/>
              <a:t>Các m</a:t>
            </a:r>
            <a:r>
              <a:rPr b="1" lang="en-GB" sz="2200"/>
              <a:t>ô hình chức năng</a:t>
            </a:r>
            <a:endParaRPr b="1" sz="2200"/>
          </a:p>
          <a:p>
            <a:pPr indent="0" lvl="0" marL="179999" rtl="0" algn="just">
              <a:spcBef>
                <a:spcPts val="0"/>
              </a:spcBef>
              <a:spcAft>
                <a:spcPts val="0"/>
              </a:spcAft>
              <a:buNone/>
            </a:pPr>
            <a:r>
              <a:rPr lang="en-GB" sz="2200"/>
              <a:t>T</a:t>
            </a:r>
            <a:r>
              <a:rPr lang="en-GB" sz="2200"/>
              <a:t>ập đặc tả ca sử dụng, và </a:t>
            </a:r>
            <a:r>
              <a:rPr lang="en-GB" sz="2200"/>
              <a:t>sơ đồ</a:t>
            </a:r>
            <a:r>
              <a:rPr lang="en-GB" sz="2200"/>
              <a:t> ca sử dụng, </a:t>
            </a:r>
            <a:r>
              <a:rPr lang="en-GB" sz="2200"/>
              <a:t>các sơ đồ hoạt động</a:t>
            </a:r>
            <a:r>
              <a:rPr lang="en-GB" sz="2200"/>
              <a:t>.</a:t>
            </a:r>
            <a:endParaRPr sz="2200"/>
          </a:p>
          <a:p>
            <a:pPr indent="0" lvl="0" marL="0" rtl="0" algn="just">
              <a:spcBef>
                <a:spcPts val="0"/>
              </a:spcBef>
              <a:spcAft>
                <a:spcPts val="0"/>
              </a:spcAft>
              <a:buNone/>
            </a:pPr>
            <a:r>
              <a:rPr b="1" lang="en-GB" sz="2200"/>
              <a:t>4</a:t>
            </a:r>
            <a:r>
              <a:rPr b="1" lang="en-GB" sz="2200"/>
              <a:t>. Các mô hình cấu trúc</a:t>
            </a:r>
            <a:endParaRPr b="1" sz="2200"/>
          </a:p>
          <a:p>
            <a:pPr indent="0" lvl="0" marL="179999" rtl="0" algn="just">
              <a:spcBef>
                <a:spcPts val="0"/>
              </a:spcBef>
              <a:spcAft>
                <a:spcPts val="0"/>
              </a:spcAft>
              <a:buNone/>
            </a:pPr>
            <a:r>
              <a:rPr lang="en-GB" sz="2200"/>
              <a:t>T</a:t>
            </a:r>
            <a:r>
              <a:rPr lang="en-GB" sz="2200"/>
              <a:t>ập thẻ CRC, </a:t>
            </a:r>
            <a:r>
              <a:rPr lang="en-GB" sz="2200"/>
              <a:t>sơ đồ</a:t>
            </a:r>
            <a:r>
              <a:rPr lang="en-GB" sz="2200"/>
              <a:t> lớp, và </a:t>
            </a:r>
            <a:r>
              <a:rPr lang="en-GB" sz="2200"/>
              <a:t>các sơ đồ</a:t>
            </a:r>
            <a:r>
              <a:rPr lang="en-GB" sz="2200"/>
              <a:t> đối tượng. </a:t>
            </a:r>
            <a:endParaRPr sz="2200"/>
          </a:p>
          <a:p>
            <a:pPr indent="0" lvl="0" marL="0" rtl="0" algn="just">
              <a:spcBef>
                <a:spcPts val="0"/>
              </a:spcBef>
              <a:spcAft>
                <a:spcPts val="0"/>
              </a:spcAft>
              <a:buNone/>
            </a:pPr>
            <a:r>
              <a:rPr b="1" lang="en-GB" sz="2200"/>
              <a:t>5</a:t>
            </a:r>
            <a:r>
              <a:rPr b="1" lang="en-GB" sz="2200"/>
              <a:t>. Các mô hình hành vi</a:t>
            </a:r>
            <a:endParaRPr b="1" sz="2200"/>
          </a:p>
          <a:p>
            <a:pPr indent="0" lvl="0" marL="179999" rtl="0" algn="just">
              <a:spcBef>
                <a:spcPts val="0"/>
              </a:spcBef>
              <a:spcAft>
                <a:spcPts val="0"/>
              </a:spcAft>
              <a:buNone/>
            </a:pPr>
            <a:r>
              <a:rPr lang="en-GB" sz="2200"/>
              <a:t>T</a:t>
            </a:r>
            <a:r>
              <a:rPr lang="en-GB" sz="2200"/>
              <a:t>ập </a:t>
            </a:r>
            <a:r>
              <a:rPr lang="en-GB" sz="2200"/>
              <a:t>sơ đồ</a:t>
            </a:r>
            <a:r>
              <a:rPr lang="en-GB" sz="2200"/>
              <a:t> tuần tự, </a:t>
            </a:r>
            <a:r>
              <a:rPr lang="en-GB" sz="2200"/>
              <a:t>sơ đồ</a:t>
            </a:r>
            <a:r>
              <a:rPr lang="en-GB" sz="2200"/>
              <a:t> giao tiếp, máy trạng thái, ma trận CRUD.</a:t>
            </a:r>
            <a:endParaRPr sz="2200"/>
          </a:p>
          <a:p>
            <a:pPr indent="0" lvl="0" marL="0" rtl="0" algn="just">
              <a:spcBef>
                <a:spcPts val="0"/>
              </a:spcBef>
              <a:spcAft>
                <a:spcPts val="0"/>
              </a:spcAft>
              <a:buNone/>
            </a:pPr>
            <a:r>
              <a:rPr b="1" lang="en-GB" sz="2200">
                <a:solidFill>
                  <a:srgbClr val="BF9000"/>
                </a:solidFill>
              </a:rPr>
              <a:t>6</a:t>
            </a:r>
            <a:r>
              <a:rPr b="1" lang="en-GB" sz="2200">
                <a:solidFill>
                  <a:srgbClr val="BF9000"/>
                </a:solidFill>
              </a:rPr>
              <a:t>. Các phụ lục</a:t>
            </a:r>
            <a:endParaRPr b="1" sz="2200">
              <a:solidFill>
                <a:srgbClr val="BF9000"/>
              </a:solidFill>
            </a:endParaRPr>
          </a:p>
          <a:p>
            <a:pPr indent="0" lvl="0" marL="179999" rtl="0" algn="just">
              <a:spcBef>
                <a:spcPts val="0"/>
              </a:spcBef>
              <a:spcAft>
                <a:spcPts val="0"/>
              </a:spcAft>
              <a:buNone/>
            </a:pPr>
            <a:r>
              <a:rPr lang="en-GB" sz="2200">
                <a:solidFill>
                  <a:srgbClr val="BF9000"/>
                </a:solidFill>
              </a:rPr>
              <a:t>Bao gồm các thông tin bổ xung có liên quan đến đề xuất, thường được sử dụng để hỗ trợ hệ thống được gợi ý. Trong đó có thể bao gồm các kết quả khảo sát, hoặc phỏng vấn, các báo cáo và thống kê, v.v.</a:t>
            </a:r>
            <a:endParaRPr sz="2200">
              <a:solidFill>
                <a:srgbClr val="BF9000"/>
              </a:solidFill>
            </a:endParaRPr>
          </a:p>
        </p:txBody>
      </p:sp>
      <p:sp>
        <p:nvSpPr>
          <p:cNvPr id="1079" name="Google Shape;1079;p59"/>
          <p:cNvSpPr txBox="1"/>
          <p:nvPr>
            <p:ph type="title"/>
          </p:nvPr>
        </p:nvSpPr>
        <p:spPr>
          <a:xfrm>
            <a:off x="311700" y="85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a:t>
            </a:r>
            <a:r>
              <a:rPr lang="en-GB"/>
              <a:t> đề xuất hệ thống (</a:t>
            </a:r>
            <a:r>
              <a:rPr lang="en-GB"/>
              <a:t>Chương 2)</a:t>
            </a:r>
            <a:endParaRPr/>
          </a:p>
        </p:txBody>
      </p:sp>
      <p:sp>
        <p:nvSpPr>
          <p:cNvPr id="1080" name="Google Shape;1080;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81" name="Google Shape;1081;p59"/>
          <p:cNvSpPr txBox="1"/>
          <p:nvPr/>
        </p:nvSpPr>
        <p:spPr>
          <a:xfrm>
            <a:off x="463000" y="6088075"/>
            <a:ext cx="73020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2400">
                <a:latin typeface="Times New Roman"/>
                <a:ea typeface="Times New Roman"/>
                <a:cs typeface="Times New Roman"/>
                <a:sym typeface="Times New Roman"/>
              </a:rPr>
              <a:t>S</a:t>
            </a:r>
            <a:r>
              <a:rPr i="1" lang="en-GB" sz="2400">
                <a:latin typeface="Times New Roman"/>
                <a:ea typeface="Times New Roman"/>
                <a:cs typeface="Times New Roman"/>
                <a:sym typeface="Times New Roman"/>
              </a:rPr>
              <a:t>ystem </a:t>
            </a:r>
            <a:r>
              <a:rPr b="1" i="1" lang="en-GB" sz="2400">
                <a:latin typeface="Times New Roman"/>
                <a:ea typeface="Times New Roman"/>
                <a:cs typeface="Times New Roman"/>
                <a:sym typeface="Times New Roman"/>
              </a:rPr>
              <a:t>R</a:t>
            </a:r>
            <a:r>
              <a:rPr i="1" lang="en-GB" sz="2400">
                <a:latin typeface="Times New Roman"/>
                <a:ea typeface="Times New Roman"/>
                <a:cs typeface="Times New Roman"/>
                <a:sym typeface="Times New Roman"/>
              </a:rPr>
              <a:t>equirements </a:t>
            </a:r>
            <a:r>
              <a:rPr b="1" i="1" lang="en-GB" sz="2400">
                <a:latin typeface="Times New Roman"/>
                <a:ea typeface="Times New Roman"/>
                <a:cs typeface="Times New Roman"/>
                <a:sym typeface="Times New Roman"/>
              </a:rPr>
              <a:t>S</a:t>
            </a:r>
            <a:r>
              <a:rPr i="1" lang="en-GB" sz="2400">
                <a:latin typeface="Times New Roman"/>
                <a:ea typeface="Times New Roman"/>
                <a:cs typeface="Times New Roman"/>
                <a:sym typeface="Times New Roman"/>
              </a:rPr>
              <a:t>pecification</a:t>
            </a:r>
            <a:endParaRPr i="1" sz="2400">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087" name="Google Shape;1087;p60"/>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