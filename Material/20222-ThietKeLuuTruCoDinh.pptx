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6858000" cx="9144000"/>
  <p:notesSz cx="6858000" cy="9144000"/>
  <p:embeddedFontLst>
    <p:embeddedFont>
      <p:font typeface="Tahoma"/>
      <p:regular r:id="rId67"/>
      <p:bold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F57D95-B6EA-4ABF-9AA9-D1E840C71FE3}">
  <a:tblStyle styleId="{79F57D95-B6EA-4ABF-9AA9-D1E840C71F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8848E3A-6274-4063-8791-6873BA5D3A22}"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FFF4E6"/>
          </a:solidFill>
        </a:fill>
      </a:tcStyle>
    </a:wholeTbl>
    <a:band1H>
      <a:tcTxStyle/>
      <a:tcStyle>
        <a:fill>
          <a:solidFill>
            <a:srgbClr val="FFE8CA"/>
          </a:solidFill>
        </a:fill>
      </a:tcStyle>
    </a:band1H>
    <a:band2H>
      <a:tcTxStyle/>
    </a:band2H>
    <a:band1V>
      <a:tcTxStyle/>
      <a:tcStyle>
        <a:fill>
          <a:solidFill>
            <a:srgbClr val="FFE8CA"/>
          </a:solidFill>
        </a:fill>
      </a:tcStyle>
    </a:band1V>
    <a:band2V>
      <a:tcTxStyle/>
    </a:band2V>
    <a:lastCol>
      <a:tcTxStyle b="on" i="off">
        <a:font>
          <a:latin typeface="Calibri"/>
          <a:ea typeface="Calibri"/>
          <a:cs typeface="Calibri"/>
        </a:font>
        <a:srgbClr val="FFFFFF"/>
      </a:tcTxStyle>
      <a:tcStyle>
        <a:fill>
          <a:solidFill>
            <a:srgbClr val="FFC000"/>
          </a:solidFill>
        </a:fill>
      </a:tcStyle>
    </a:lastCol>
    <a:firstCol>
      <a:tcTxStyle b="on" i="off">
        <a:font>
          <a:latin typeface="Calibri"/>
          <a:ea typeface="Calibri"/>
          <a:cs typeface="Calibri"/>
        </a:font>
        <a:srgbClr val="FFFFFF"/>
      </a:tcTxStyle>
      <a:tcStyle>
        <a:fill>
          <a:solidFill>
            <a:srgbClr val="FFC000"/>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FFC000"/>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FFC000"/>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Tahoma-bold.fntdata"/><Relationship Id="rId23" Type="http://schemas.openxmlformats.org/officeDocument/2006/relationships/slide" Target="slides/slide17.xml"/><Relationship Id="rId67" Type="http://schemas.openxmlformats.org/officeDocument/2006/relationships/font" Target="fonts/Tahoma-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0d106fe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0d106f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d0d13cd312_0_4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d0d13cd31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53fbe37105_0_15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53fbe37105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3fbe37105_0_15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3fbe3710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617ab6e21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617ab6e2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359c7e08e1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359c7e08e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359c7e08e1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359c7e08e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359c7e08e1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359c7e08e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59c7e08e1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59c7e08e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35e24047ac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35e24047a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3fbe37105_0_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53fbe3710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359c7e08e1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359c7e08e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536fed61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536fed6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359c7e08e1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359c7e08e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359c7e08e1_0_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359c7e08e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359c7e08e1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359c7e08e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359c7e08e1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359c7e08e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35d265b099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35d265b09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35d265b099_0_1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35d265b09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35d265b099_0_1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35d265b099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359c7e08e1_0_6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1359c7e08e1_0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359c7e08e1_0_6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1359c7e08e1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359c7e08e1_0_9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1359c7e08e1_0_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359c7e08e1_0_8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1359c7e08e1_0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359c7e08e1_0_10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1359c7e08e1_0_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359c7e08e1_0_1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359c7e08e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3617ab6e21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3617ab6e2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359c7e08e1_0_1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359c7e08e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3617ab6e21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3617ab6e2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3617ab6e21_1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3617ab6e21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3617ab6e21_1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3617ab6e21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3617ab6e21_1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3617ab6e21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3617ab6e21_1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3617ab6e21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53fbe37105_0_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53fbe3710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3617ab6e2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3617ab6e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359c7e08e1_0_13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359c7e08e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359c7e08e1_0_13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359c7e08e1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359c7e08e1_0_14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359c7e08e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359c7e08e1_0_15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359c7e08e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359c7e08e1_0_15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359c7e08e1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359c7e08e1_0_16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359c7e08e1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359c7e08e1_0_17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359c7e08e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53fbe37105_0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53fbe3710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359c7e08e1_0_2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359c7e08e1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35d265b099_0_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35d265b09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53fbe37105_0_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53fbe3710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53fbe37105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53fbe3710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53fbe37105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53fbe3710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53fbe37105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53fbe3710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5536fed61b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5536fed61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53fbe37105_0_2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53fbe3710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3617ab6e21_1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3617ab6e21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3617ab6e21_1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3617ab6e21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3617ab6e21_1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3617ab6e21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3617ab6e21_1_1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3617ab6e21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3617ab6e21_1_1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3617ab6e21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3617ab6e21_1_1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3617ab6e21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135d265b099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135d265b09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f4420a49da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f4420a49d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12f7f353c56_0_2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12f7f353c5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869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None/>
              <a:defRPr sz="32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950475"/>
            <a:ext cx="8520600" cy="5383800"/>
          </a:xfrm>
          <a:prstGeom prst="rect">
            <a:avLst/>
          </a:prstGeom>
          <a:noFill/>
          <a:ln>
            <a:noFill/>
          </a:ln>
        </p:spPr>
        <p:txBody>
          <a:bodyPr anchorCtr="0" anchor="t" bIns="91425" lIns="91425" spcFirstLastPara="1" rIns="91425" wrap="square" tIns="91425">
            <a:noAutofit/>
          </a:bodyPr>
          <a:lstStyle>
            <a:lvl1pPr indent="-381000" lvl="0" marL="457200" algn="just">
              <a:lnSpc>
                <a:spcPct val="115000"/>
              </a:lnSpc>
              <a:spcBef>
                <a:spcPts val="0"/>
              </a:spcBef>
              <a:spcAft>
                <a:spcPts val="0"/>
              </a:spcAft>
              <a:buClr>
                <a:schemeClr val="dk2"/>
              </a:buClr>
              <a:buSzPts val="2400"/>
              <a:buChar char="●"/>
              <a:defRPr sz="2400">
                <a:solidFill>
                  <a:schemeClr val="dk2"/>
                </a:solidFill>
              </a:defRPr>
            </a:lvl1pPr>
            <a:lvl2pPr indent="-368300" lvl="1" marL="914400" algn="just">
              <a:lnSpc>
                <a:spcPct val="115000"/>
              </a:lnSpc>
              <a:spcBef>
                <a:spcPts val="0"/>
              </a:spcBef>
              <a:spcAft>
                <a:spcPts val="0"/>
              </a:spcAft>
              <a:buClr>
                <a:schemeClr val="dk2"/>
              </a:buClr>
              <a:buSzPts val="2200"/>
              <a:buChar char="○"/>
              <a:defRPr sz="2200">
                <a:solidFill>
                  <a:schemeClr val="dk2"/>
                </a:solidFill>
              </a:defRPr>
            </a:lvl2pPr>
            <a:lvl3pPr indent="-342900" lvl="2" marL="1371600" algn="just">
              <a:lnSpc>
                <a:spcPct val="115000"/>
              </a:lnSpc>
              <a:spcBef>
                <a:spcPts val="0"/>
              </a:spcBef>
              <a:spcAft>
                <a:spcPts val="0"/>
              </a:spcAft>
              <a:buClr>
                <a:schemeClr val="dk2"/>
              </a:buClr>
              <a:buSzPts val="1800"/>
              <a:buChar char="■"/>
              <a:defRPr sz="1800">
                <a:solidFill>
                  <a:schemeClr val="dk2"/>
                </a:solidFill>
              </a:defRPr>
            </a:lvl3pPr>
            <a:lvl4pPr indent="-317500" lvl="3" marL="1828800" algn="just">
              <a:lnSpc>
                <a:spcPct val="115000"/>
              </a:lnSpc>
              <a:spcBef>
                <a:spcPts val="1600"/>
              </a:spcBef>
              <a:spcAft>
                <a:spcPts val="0"/>
              </a:spcAft>
              <a:buClr>
                <a:schemeClr val="dk2"/>
              </a:buClr>
              <a:buSzPts val="1400"/>
              <a:buChar char="●"/>
              <a:defRPr>
                <a:solidFill>
                  <a:schemeClr val="dk2"/>
                </a:solidFill>
              </a:defRPr>
            </a:lvl4pPr>
            <a:lvl5pPr indent="-317500" lvl="4" marL="2286000" algn="just">
              <a:lnSpc>
                <a:spcPct val="115000"/>
              </a:lnSpc>
              <a:spcBef>
                <a:spcPts val="1600"/>
              </a:spcBef>
              <a:spcAft>
                <a:spcPts val="0"/>
              </a:spcAft>
              <a:buClr>
                <a:schemeClr val="dk2"/>
              </a:buClr>
              <a:buSzPts val="1400"/>
              <a:buChar char="○"/>
              <a:defRPr>
                <a:solidFill>
                  <a:schemeClr val="dk2"/>
                </a:solidFill>
              </a:defRPr>
            </a:lvl5pPr>
            <a:lvl6pPr indent="-317500" lvl="5" marL="2743200" algn="just">
              <a:lnSpc>
                <a:spcPct val="115000"/>
              </a:lnSpc>
              <a:spcBef>
                <a:spcPts val="1600"/>
              </a:spcBef>
              <a:spcAft>
                <a:spcPts val="0"/>
              </a:spcAft>
              <a:buClr>
                <a:schemeClr val="dk2"/>
              </a:buClr>
              <a:buSzPts val="1400"/>
              <a:buChar char="■"/>
              <a:defRPr>
                <a:solidFill>
                  <a:schemeClr val="dk2"/>
                </a:solidFill>
              </a:defRPr>
            </a:lvl6pPr>
            <a:lvl7pPr indent="-317500" lvl="6" marL="3200400" algn="just">
              <a:lnSpc>
                <a:spcPct val="115000"/>
              </a:lnSpc>
              <a:spcBef>
                <a:spcPts val="1600"/>
              </a:spcBef>
              <a:spcAft>
                <a:spcPts val="0"/>
              </a:spcAft>
              <a:buClr>
                <a:schemeClr val="dk2"/>
              </a:buClr>
              <a:buSzPts val="1400"/>
              <a:buChar char="●"/>
              <a:defRPr>
                <a:solidFill>
                  <a:schemeClr val="dk2"/>
                </a:solidFill>
              </a:defRPr>
            </a:lvl7pPr>
            <a:lvl8pPr indent="-317500" lvl="7" marL="3657600" algn="just">
              <a:lnSpc>
                <a:spcPct val="115000"/>
              </a:lnSpc>
              <a:spcBef>
                <a:spcPts val="1600"/>
              </a:spcBef>
              <a:spcAft>
                <a:spcPts val="0"/>
              </a:spcAft>
              <a:buClr>
                <a:schemeClr val="dk2"/>
              </a:buClr>
              <a:buSzPts val="1400"/>
              <a:buChar char="○"/>
              <a:defRPr>
                <a:solidFill>
                  <a:schemeClr val="dk2"/>
                </a:solidFill>
              </a:defRPr>
            </a:lvl8pPr>
            <a:lvl9pPr indent="-317500" lvl="8" marL="4114800" algn="just">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 Id="rId3"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 Id="rId3"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Phân tích v</a:t>
            </a:r>
            <a:r>
              <a:rPr lang="en-GB" sz="4200"/>
              <a:t>à </a:t>
            </a:r>
            <a:r>
              <a:rPr lang="en-GB" sz="4200"/>
              <a:t>thiết kế </a:t>
            </a:r>
            <a:r>
              <a:rPr lang="en-GB" sz="4200"/>
              <a:t>h</a:t>
            </a:r>
            <a:r>
              <a:rPr lang="en-GB" sz="4200"/>
              <a:t>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Giảng viên: Nguyễn Bá Ngọc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Nội-2022</a:t>
            </a:r>
            <a:endParaRPr sz="2600"/>
          </a:p>
        </p:txBody>
      </p:sp>
      <p:sp>
        <p:nvSpPr>
          <p:cNvPr id="57" name="Google Shape;57;p13"/>
          <p:cNvSpPr txBox="1"/>
          <p:nvPr/>
        </p:nvSpPr>
        <p:spPr>
          <a:xfrm>
            <a:off x="491750" y="4667625"/>
            <a:ext cx="38571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Thiết kế lưu trữ cố định</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 name="Google Shape;70;p15"/>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Tổng quan</a:t>
            </a:r>
            <a:endParaRPr/>
          </a:p>
          <a:p>
            <a:pPr indent="-381000" lvl="0" marL="457200" rtl="0" algn="just">
              <a:spcBef>
                <a:spcPts val="0"/>
              </a:spcBef>
              <a:spcAft>
                <a:spcPts val="0"/>
              </a:spcAft>
              <a:buSzPts val="2400"/>
              <a:buChar char="●"/>
            </a:pPr>
            <a:r>
              <a:rPr lang="en-GB"/>
              <a:t>Các quy tắc ánh xạ</a:t>
            </a:r>
            <a:endParaRPr/>
          </a:p>
          <a:p>
            <a:pPr indent="-381000" lvl="0" marL="457200" rtl="0" algn="just">
              <a:spcBef>
                <a:spcPts val="0"/>
              </a:spcBef>
              <a:spcAft>
                <a:spcPts val="0"/>
              </a:spcAft>
              <a:buSzPts val="2400"/>
              <a:buChar char="●"/>
            </a:pPr>
            <a:r>
              <a:rPr lang="en-GB"/>
              <a:t>Tối ưu hóa CSDL quan hệ</a:t>
            </a:r>
            <a:endParaRPr/>
          </a:p>
          <a:p>
            <a:pPr indent="-381000" lvl="0" marL="457200" rtl="0" algn="just">
              <a:spcBef>
                <a:spcPts val="0"/>
              </a:spcBef>
              <a:spcAft>
                <a:spcPts val="0"/>
              </a:spcAft>
              <a:buSzPts val="2400"/>
              <a:buChar char="●"/>
            </a:pPr>
            <a:r>
              <a:rPr lang="en-GB"/>
              <a:t>Tầng truy cập và quản lý dữ liệu</a:t>
            </a:r>
            <a:endParaRPr/>
          </a:p>
          <a:p>
            <a:pPr indent="-381000" lvl="0" marL="457200" rtl="0" algn="just">
              <a:spcBef>
                <a:spcPts val="0"/>
              </a:spcBef>
              <a:spcAft>
                <a:spcPts val="0"/>
              </a:spcAft>
              <a:buSzPts val="2400"/>
              <a:buChar char="●"/>
            </a:pPr>
            <a:r>
              <a:rPr lang="en-GB"/>
              <a:t>CSDL phân tán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6" name="Google Shape;7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 name="Google Shape;77;p16"/>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Tổng quan</a:t>
            </a:r>
            <a:endParaRPr/>
          </a:p>
          <a:p>
            <a:pPr indent="-381000" lvl="0" marL="457200" rtl="0" algn="just">
              <a:spcBef>
                <a:spcPts val="0"/>
              </a:spcBef>
              <a:spcAft>
                <a:spcPts val="0"/>
              </a:spcAft>
              <a:buSzPts val="2400"/>
              <a:buChar char="●"/>
            </a:pPr>
            <a:r>
              <a:rPr lang="en-GB"/>
              <a:t>Các quy tắc ánh xạ</a:t>
            </a:r>
            <a:endParaRPr/>
          </a:p>
          <a:p>
            <a:pPr indent="-381000" lvl="0" marL="457200" rtl="0" algn="just">
              <a:spcBef>
                <a:spcPts val="0"/>
              </a:spcBef>
              <a:spcAft>
                <a:spcPts val="0"/>
              </a:spcAft>
              <a:buSzPts val="2400"/>
              <a:buChar char="●"/>
            </a:pPr>
            <a:r>
              <a:rPr lang="en-GB"/>
              <a:t>Tối ưu hóa CSDL quan hệ</a:t>
            </a:r>
            <a:endParaRPr/>
          </a:p>
          <a:p>
            <a:pPr indent="-381000" lvl="0" marL="457200" rtl="0" algn="just">
              <a:spcBef>
                <a:spcPts val="0"/>
              </a:spcBef>
              <a:spcAft>
                <a:spcPts val="0"/>
              </a:spcAft>
              <a:buSzPts val="2400"/>
              <a:buChar char="●"/>
            </a:pPr>
            <a:r>
              <a:rPr lang="en-GB"/>
              <a:t>Tầng truy cập và quản lý dữ liệu</a:t>
            </a:r>
            <a:endParaRPr/>
          </a:p>
          <a:p>
            <a:pPr indent="-381000" lvl="0" marL="457200" rtl="0" algn="just">
              <a:spcBef>
                <a:spcPts val="0"/>
              </a:spcBef>
              <a:spcAft>
                <a:spcPts val="0"/>
              </a:spcAft>
              <a:buSzPts val="2400"/>
              <a:buChar char="●"/>
            </a:pPr>
            <a:r>
              <a:rPr lang="en-GB"/>
              <a:t>CSDL phân tán</a:t>
            </a:r>
            <a:endParaRPr/>
          </a:p>
        </p:txBody>
      </p:sp>
      <p:sp>
        <p:nvSpPr>
          <p:cNvPr id="78" name="Google Shape;78;p16"/>
          <p:cNvSpPr/>
          <p:nvPr/>
        </p:nvSpPr>
        <p:spPr>
          <a:xfrm>
            <a:off x="357900" y="856442"/>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quan về thiết kế lưu trữ cố định</a:t>
            </a:r>
            <a:endParaRPr/>
          </a:p>
        </p:txBody>
      </p:sp>
      <p:sp>
        <p:nvSpPr>
          <p:cNvPr id="84" name="Google Shape;84;p17"/>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a:t>
            </a:r>
            <a:r>
              <a:rPr lang="en-GB"/>
              <a:t>SDL</a:t>
            </a:r>
            <a:r>
              <a:rPr lang="en-GB"/>
              <a:t> (</a:t>
            </a:r>
            <a:r>
              <a:rPr lang="en-GB"/>
              <a:t>DB</a:t>
            </a:r>
            <a:r>
              <a:rPr lang="en-GB"/>
              <a:t>)</a:t>
            </a:r>
            <a:r>
              <a:rPr lang="en-GB"/>
              <a:t> và Hệ quản trị CSDL</a:t>
            </a:r>
            <a:r>
              <a:rPr lang="en-GB"/>
              <a:t> (</a:t>
            </a:r>
            <a:r>
              <a:rPr lang="en-GB"/>
              <a:t>DBMS</a:t>
            </a:r>
            <a:r>
              <a:rPr lang="en-GB"/>
              <a:t>)</a:t>
            </a:r>
            <a:r>
              <a:rPr lang="en-GB"/>
              <a:t> là thành phần cơ bản thiết yếu của hệ thống thông tin.</a:t>
            </a:r>
            <a:endParaRPr/>
          </a:p>
          <a:p>
            <a:pPr indent="-381000" lvl="0" marL="457200" rtl="0" algn="just">
              <a:spcBef>
                <a:spcPts val="0"/>
              </a:spcBef>
              <a:spcAft>
                <a:spcPts val="0"/>
              </a:spcAft>
              <a:buSzPts val="2400"/>
              <a:buChar char="●"/>
            </a:pPr>
            <a:r>
              <a:rPr lang="en-GB"/>
              <a:t>Trong quá trình thiết kế lưu trữ cố định mô hình lĩnh vực được biến đổi thành mô hình CSDL cho hệ thống.</a:t>
            </a:r>
            <a:endParaRPr/>
          </a:p>
          <a:p>
            <a:pPr indent="-381000" lvl="0" marL="457200" rtl="0" algn="just">
              <a:spcBef>
                <a:spcPts val="0"/>
              </a:spcBef>
              <a:spcAft>
                <a:spcPts val="0"/>
              </a:spcAft>
              <a:buSzPts val="2400"/>
              <a:buChar char="●"/>
            </a:pPr>
            <a:r>
              <a:rPr lang="en-GB"/>
              <a:t>Hệ quản trị CSDL được sử dụng để triển khai, quản lý và truy cập CSDL.</a:t>
            </a:r>
            <a:endParaRPr/>
          </a:p>
        </p:txBody>
      </p:sp>
      <p:sp>
        <p:nvSpPr>
          <p:cNvPr id="85" name="Google Shape;8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lựa chọn lưu trữ cố định</a:t>
            </a:r>
            <a:endParaRPr/>
          </a:p>
        </p:txBody>
      </p:sp>
      <p:sp>
        <p:nvSpPr>
          <p:cNvPr id="91" name="Google Shape;91;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2" name="Google Shape;92;p18"/>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a:t>
            </a:r>
            <a:r>
              <a:rPr lang="en-GB"/>
              <a:t>hát triển riêng, dựa trên tính năng đọc/ghi tệp cơ bản.</a:t>
            </a:r>
            <a:endParaRPr/>
          </a:p>
          <a:p>
            <a:pPr indent="-381000" lvl="0" marL="457200" rtl="0" algn="just">
              <a:spcBef>
                <a:spcPts val="0"/>
              </a:spcBef>
              <a:spcAft>
                <a:spcPts val="0"/>
              </a:spcAft>
              <a:buSzPts val="2400"/>
              <a:buChar char="●"/>
            </a:pPr>
            <a:r>
              <a:rPr lang="en-GB"/>
              <a:t>CSDL quan hệ</a:t>
            </a:r>
            <a:endParaRPr/>
          </a:p>
          <a:p>
            <a:pPr indent="-381000" lvl="0" marL="457200" rtl="0" algn="just">
              <a:spcBef>
                <a:spcPts val="0"/>
              </a:spcBef>
              <a:spcAft>
                <a:spcPts val="0"/>
              </a:spcAft>
              <a:buSzPts val="2400"/>
              <a:buChar char="●"/>
            </a:pPr>
            <a:r>
              <a:rPr lang="en-GB"/>
              <a:t>CSDL đối tượng-quan hệ</a:t>
            </a:r>
            <a:endParaRPr/>
          </a:p>
          <a:p>
            <a:pPr indent="-381000" lvl="0" marL="457200" rtl="0" algn="just">
              <a:spcBef>
                <a:spcPts val="0"/>
              </a:spcBef>
              <a:spcAft>
                <a:spcPts val="0"/>
              </a:spcAft>
              <a:buSzPts val="2400"/>
              <a:buChar char="●"/>
            </a:pPr>
            <a:r>
              <a:rPr lang="en-GB"/>
              <a:t>CSDL hướng đối tượng</a:t>
            </a:r>
            <a:endParaRPr/>
          </a:p>
          <a:p>
            <a:pPr indent="-381000" lvl="0" marL="457200" rtl="0" algn="just">
              <a:spcBef>
                <a:spcPts val="0"/>
              </a:spcBef>
              <a:spcAft>
                <a:spcPts val="0"/>
              </a:spcAft>
              <a:buSzPts val="2400"/>
              <a:buChar char="●"/>
            </a:pPr>
            <a:r>
              <a:rPr lang="en-GB"/>
              <a:t>Các mô hình dữ liệu khác:</a:t>
            </a:r>
            <a:endParaRPr/>
          </a:p>
          <a:p>
            <a:pPr indent="-368300" lvl="1" marL="914400" rtl="0" algn="just">
              <a:spcBef>
                <a:spcPts val="0"/>
              </a:spcBef>
              <a:spcAft>
                <a:spcPts val="0"/>
              </a:spcAft>
              <a:buSzPts val="2200"/>
              <a:buChar char="○"/>
            </a:pPr>
            <a:r>
              <a:rPr lang="en-GB"/>
              <a:t>Lưu trữ khóa-giá trị / Key-Value data stores</a:t>
            </a:r>
            <a:endParaRPr/>
          </a:p>
          <a:p>
            <a:pPr indent="-368300" lvl="1" marL="914400" rtl="0" algn="just">
              <a:spcBef>
                <a:spcPts val="0"/>
              </a:spcBef>
              <a:spcAft>
                <a:spcPts val="0"/>
              </a:spcAft>
              <a:buSzPts val="2200"/>
              <a:buChar char="○"/>
            </a:pPr>
            <a:r>
              <a:rPr lang="en-GB"/>
              <a:t>Lưu trữ tài liệu / Document </a:t>
            </a:r>
            <a:r>
              <a:rPr lang="en-GB"/>
              <a:t>data </a:t>
            </a:r>
            <a:r>
              <a:rPr lang="en-GB"/>
              <a:t>stores</a:t>
            </a:r>
            <a:endParaRPr/>
          </a:p>
          <a:p>
            <a:pPr indent="-368300" lvl="1" marL="914400" rtl="0" algn="just">
              <a:spcBef>
                <a:spcPts val="0"/>
              </a:spcBef>
              <a:spcAft>
                <a:spcPts val="0"/>
              </a:spcAft>
              <a:buSzPts val="2200"/>
              <a:buChar char="○"/>
            </a:pPr>
            <a:r>
              <a:rPr lang="en-GB"/>
              <a:t>CSDL hướng cột / Columnar database</a:t>
            </a:r>
            <a:endParaRPr/>
          </a:p>
          <a:p>
            <a:pPr indent="-368300" lvl="1" marL="914400" rtl="0" algn="just">
              <a:spcBef>
                <a:spcPts val="0"/>
              </a:spcBef>
              <a:spcAft>
                <a:spcPts val="0"/>
              </a:spcAft>
              <a:buSzPts val="2200"/>
              <a:buChar char="○"/>
            </a:pPr>
            <a:r>
              <a:rPr lang="en-GB"/>
              <a:t>CSDL đồ thị / Graph database</a:t>
            </a:r>
            <a:endParaRPr/>
          </a:p>
          <a:p>
            <a:pPr indent="-368300" lvl="1" marL="914400" rtl="0" algn="just">
              <a:spcBef>
                <a:spcPts val="0"/>
              </a:spcBef>
              <a:spcAft>
                <a:spcPts val="0"/>
              </a:spcAft>
              <a:buSzPts val="2200"/>
              <a:buChar char="○"/>
            </a:pPr>
            <a:r>
              <a:rPr lang="en-GB"/>
              <a:t>v.v..</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CSDL quan hệ</a:t>
            </a:r>
            <a:endParaRPr/>
          </a:p>
        </p:txBody>
      </p:sp>
      <p:sp>
        <p:nvSpPr>
          <p:cNvPr id="98" name="Google Shape;98;p19"/>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Lựa chọn lưu trữ dữ liệu phổ biến nhất</a:t>
            </a:r>
            <a:endParaRPr/>
          </a:p>
          <a:p>
            <a:pPr indent="-381000" lvl="0" marL="457200" rtl="0" algn="just">
              <a:spcBef>
                <a:spcPts val="0"/>
              </a:spcBef>
              <a:spcAft>
                <a:spcPts val="0"/>
              </a:spcAft>
              <a:buSzPts val="2400"/>
              <a:buChar char="●"/>
            </a:pPr>
            <a:r>
              <a:rPr lang="en-GB"/>
              <a:t>CSDL bao gồm 1 tập bảng</a:t>
            </a:r>
            <a:endParaRPr/>
          </a:p>
          <a:p>
            <a:pPr indent="-368300" lvl="1" marL="914400" rtl="0" algn="just">
              <a:spcBef>
                <a:spcPts val="0"/>
              </a:spcBef>
              <a:spcAft>
                <a:spcPts val="0"/>
              </a:spcAft>
              <a:buSzPts val="2200"/>
              <a:buChar char="○"/>
            </a:pPr>
            <a:r>
              <a:rPr lang="en-GB"/>
              <a:t>Trong mỗi bảng khóa chính xác định 1 dòng duy nhất</a:t>
            </a:r>
            <a:endParaRPr/>
          </a:p>
          <a:p>
            <a:pPr indent="-368300" lvl="1" marL="914400" rtl="0" algn="just">
              <a:spcBef>
                <a:spcPts val="0"/>
              </a:spcBef>
              <a:spcAft>
                <a:spcPts val="0"/>
              </a:spcAft>
              <a:buSzPts val="2200"/>
              <a:buChar char="○"/>
            </a:pPr>
            <a:r>
              <a:rPr lang="en-GB"/>
              <a:t>Mối quan hệ giữa các bảng được thiết lập bằng khóa ngoại</a:t>
            </a:r>
            <a:endParaRPr/>
          </a:p>
          <a:p>
            <a:pPr indent="-342900" lvl="2" marL="1371600" rtl="0" algn="just">
              <a:spcBef>
                <a:spcPts val="0"/>
              </a:spcBef>
              <a:spcAft>
                <a:spcPts val="0"/>
              </a:spcAft>
              <a:buSzPts val="1800"/>
              <a:buChar char="■"/>
            </a:pPr>
            <a:r>
              <a:rPr lang="en-GB"/>
              <a:t>Cơ chế đảm bảo toàn vẹn dữ liệu giữa các bảng, ví dụ: Từ chối tạo đơn hàng cho 1 khách hàng không tồn tại.</a:t>
            </a:r>
            <a:endParaRPr/>
          </a:p>
          <a:p>
            <a:pPr indent="-381000" lvl="0" marL="457200" rtl="0" algn="just">
              <a:spcBef>
                <a:spcPts val="0"/>
              </a:spcBef>
              <a:spcAft>
                <a:spcPts val="0"/>
              </a:spcAft>
              <a:buSzPts val="2400"/>
              <a:buChar char="●"/>
            </a:pPr>
            <a:r>
              <a:rPr lang="en-GB"/>
              <a:t>Ngôn ngữ truy vấn có cấu trúc / Structured Query Language (SQL) được sử dụng để truy cập dữ liệu</a:t>
            </a:r>
            <a:endParaRPr/>
          </a:p>
          <a:p>
            <a:pPr indent="-368300" lvl="1" marL="914400" rtl="0" algn="just">
              <a:spcBef>
                <a:spcPts val="0"/>
              </a:spcBef>
              <a:spcAft>
                <a:spcPts val="0"/>
              </a:spcAft>
              <a:buSzPts val="2200"/>
              <a:buChar char="○"/>
            </a:pPr>
            <a:r>
              <a:rPr lang="en-GB"/>
              <a:t>Quy chuẩn được hỗ trợ bởi nhiều hệ quản trị CSDL</a:t>
            </a:r>
            <a:endParaRPr/>
          </a:p>
          <a:p>
            <a:pPr indent="-368300" lvl="1" marL="914400" rtl="0" algn="just">
              <a:spcBef>
                <a:spcPts val="0"/>
              </a:spcBef>
              <a:spcAft>
                <a:spcPts val="0"/>
              </a:spcAft>
              <a:buSzPts val="2200"/>
              <a:buChar char="○"/>
            </a:pPr>
            <a:r>
              <a:rPr lang="en-GB"/>
              <a:t>Cho phép thao tác với từng bảng và kết hợp nhiều bảng để lấy dữ liệu cần thiết</a:t>
            </a:r>
            <a:endParaRPr/>
          </a:p>
        </p:txBody>
      </p:sp>
      <p:sp>
        <p:nvSpPr>
          <p:cNvPr id="99" name="Google Shape;9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CSDL quan hệ-đối tượng</a:t>
            </a:r>
            <a:endParaRPr/>
          </a:p>
        </p:txBody>
      </p:sp>
      <p:sp>
        <p:nvSpPr>
          <p:cNvPr id="105" name="Google Shape;105;p20"/>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Khả năng biểu diễn mạnh hơn CSDL quan hệ</a:t>
            </a:r>
            <a:endParaRPr i="1"/>
          </a:p>
          <a:p>
            <a:pPr indent="-381000" lvl="0" marL="457200" rtl="0" algn="just">
              <a:spcBef>
                <a:spcPts val="0"/>
              </a:spcBef>
              <a:spcAft>
                <a:spcPts val="0"/>
              </a:spcAft>
              <a:buSzPts val="2400"/>
              <a:buChar char="●"/>
            </a:pPr>
            <a:r>
              <a:rPr lang="en-GB"/>
              <a:t>CSDL quan hệ với khả năng lưu trữ đối tượng.</a:t>
            </a:r>
            <a:endParaRPr/>
          </a:p>
          <a:p>
            <a:pPr indent="-381000" lvl="0" marL="457200" rtl="0" algn="just">
              <a:spcBef>
                <a:spcPts val="0"/>
              </a:spcBef>
              <a:spcAft>
                <a:spcPts val="0"/>
              </a:spcAft>
              <a:buSzPts val="2400"/>
              <a:buChar char="●"/>
            </a:pPr>
            <a:r>
              <a:rPr lang="en-GB"/>
              <a:t>Đối tượng được lưu trữ bằng các kiểu dữ liệu do người dùng tự định nghĩa</a:t>
            </a:r>
            <a:endParaRPr/>
          </a:p>
          <a:p>
            <a:pPr indent="-368300" lvl="1" marL="914400" rtl="0" algn="just">
              <a:spcBef>
                <a:spcPts val="0"/>
              </a:spcBef>
              <a:spcAft>
                <a:spcPts val="0"/>
              </a:spcAft>
              <a:buSzPts val="2200"/>
              <a:buChar char="○"/>
            </a:pPr>
            <a:r>
              <a:rPr lang="en-GB"/>
              <a:t>SQL được mở rộng để xử lý các kiểu dữ liệu phức tạp.</a:t>
            </a:r>
            <a:endParaRPr/>
          </a:p>
          <a:p>
            <a:pPr indent="-368300" lvl="1" marL="914400" rtl="0" algn="just">
              <a:spcBef>
                <a:spcPts val="0"/>
              </a:spcBef>
              <a:spcAft>
                <a:spcPts val="0"/>
              </a:spcAft>
              <a:buSzPts val="2200"/>
              <a:buChar char="○"/>
            </a:pPr>
            <a:r>
              <a:rPr lang="en-GB"/>
              <a:t>Hỗ trợ kế thừa ở mức hạn chế.</a:t>
            </a:r>
            <a:endParaRPr/>
          </a:p>
          <a:p>
            <a:pPr indent="-381000" lvl="0" marL="457200" rtl="0" algn="just">
              <a:spcBef>
                <a:spcPts val="0"/>
              </a:spcBef>
              <a:spcAft>
                <a:spcPts val="0"/>
              </a:spcAft>
              <a:buSzPts val="2400"/>
              <a:buChar char="●"/>
            </a:pPr>
            <a:r>
              <a:rPr lang="en-GB"/>
              <a:t>Hỗ trợ trường dữ liệu đa trị.</a:t>
            </a:r>
            <a:endParaRPr/>
          </a:p>
        </p:txBody>
      </p:sp>
      <p:sp>
        <p:nvSpPr>
          <p:cNvPr id="106" name="Google Shape;106;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CSDL hướng đối tượng</a:t>
            </a:r>
            <a:endParaRPr/>
          </a:p>
        </p:txBody>
      </p:sp>
      <p:sp>
        <p:nvSpPr>
          <p:cNvPr id="112" name="Google Shape;112;p21"/>
          <p:cNvSpPr txBox="1"/>
          <p:nvPr>
            <p:ph idx="1" type="body"/>
          </p:nvPr>
        </p:nvSpPr>
        <p:spPr>
          <a:xfrm>
            <a:off x="311700" y="1054650"/>
            <a:ext cx="8520600" cy="5325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Khả năng biểu diễn mạnh hơn CSDL đối tượng-quan hệ</a:t>
            </a:r>
            <a:endParaRPr i="1"/>
          </a:p>
          <a:p>
            <a:pPr indent="-381000" lvl="0" marL="457200" rtl="0" algn="just">
              <a:spcBef>
                <a:spcPts val="0"/>
              </a:spcBef>
              <a:spcAft>
                <a:spcPts val="0"/>
              </a:spcAft>
              <a:buSzPts val="2400"/>
              <a:buChar char="●"/>
            </a:pPr>
            <a:r>
              <a:rPr lang="en-GB"/>
              <a:t>Tri</a:t>
            </a:r>
            <a:r>
              <a:rPr lang="en-GB"/>
              <a:t>ển khai các khái niệm hướng đối tượng</a:t>
            </a:r>
            <a:endParaRPr/>
          </a:p>
          <a:p>
            <a:pPr indent="-381000" lvl="0" marL="457200" rtl="0" algn="just">
              <a:spcBef>
                <a:spcPts val="0"/>
              </a:spcBef>
              <a:spcAft>
                <a:spcPts val="0"/>
              </a:spcAft>
              <a:buSzPts val="2400"/>
              <a:buChar char="●"/>
            </a:pPr>
            <a:r>
              <a:rPr lang="en-GB"/>
              <a:t>Có thể đặc tả cấu trúc và hành vi của đối tượng</a:t>
            </a:r>
            <a:endParaRPr/>
          </a:p>
          <a:p>
            <a:pPr indent="-368300" lvl="1" marL="914400" rtl="0" algn="just">
              <a:spcBef>
                <a:spcPts val="0"/>
              </a:spcBef>
              <a:spcAft>
                <a:spcPts val="0"/>
              </a:spcAft>
              <a:buSzPts val="2200"/>
              <a:buChar char="○"/>
            </a:pPr>
            <a:r>
              <a:rPr lang="en-GB"/>
              <a:t>Tương thích tốt hơn với các ngôn ngữ hướng đối tượng.</a:t>
            </a:r>
            <a:endParaRPr/>
          </a:p>
          <a:p>
            <a:pPr indent="-381000" lvl="0" marL="457200" rtl="0" algn="just">
              <a:spcBef>
                <a:spcPts val="0"/>
              </a:spcBef>
              <a:spcAft>
                <a:spcPts val="0"/>
              </a:spcAft>
              <a:buSzPts val="2400"/>
              <a:buChar char="●"/>
            </a:pPr>
            <a:r>
              <a:rPr lang="en-GB"/>
              <a:t>Sử dụng ngôn ngữ tương tự / được phát triển từ SQL</a:t>
            </a:r>
            <a:endParaRPr/>
          </a:p>
          <a:p>
            <a:pPr indent="-381000" lvl="0" marL="457200" rtl="0" algn="just">
              <a:spcBef>
                <a:spcPts val="0"/>
              </a:spcBef>
              <a:spcAft>
                <a:spcPts val="0"/>
              </a:spcAft>
              <a:buSzPts val="2400"/>
              <a:buChar char="●"/>
            </a:pPr>
            <a:r>
              <a:rPr lang="en-GB"/>
              <a:t>Hỗ trợ kế thừa ở mức độ nhất định</a:t>
            </a:r>
            <a:endParaRPr/>
          </a:p>
          <a:p>
            <a:pPr indent="0" lvl="0" marL="0" rtl="0" algn="ctr">
              <a:spcBef>
                <a:spcPts val="1000"/>
              </a:spcBef>
              <a:spcAft>
                <a:spcPts val="0"/>
              </a:spcAft>
              <a:buNone/>
            </a:pPr>
            <a:r>
              <a:rPr i="1" lang="en-GB"/>
              <a:t>Chiếm thị phần nhỏ trong ứng dụng thực tế</a:t>
            </a:r>
            <a:endParaRPr i="1"/>
          </a:p>
        </p:txBody>
      </p:sp>
      <p:sp>
        <p:nvSpPr>
          <p:cNvPr id="113" name="Google Shape;113;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yêu cầu phi chức năng</a:t>
            </a:r>
            <a:endParaRPr/>
          </a:p>
        </p:txBody>
      </p:sp>
      <p:sp>
        <p:nvSpPr>
          <p:cNvPr id="119" name="Google Shape;119;p22"/>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yêu cầu phi chức năng có ảnh hưởng đến thiết kế lưu trữ cố định</a:t>
            </a:r>
            <a:endParaRPr/>
          </a:p>
          <a:p>
            <a:pPr indent="-381000" lvl="0" marL="457200" rtl="0" algn="just">
              <a:spcBef>
                <a:spcPts val="0"/>
              </a:spcBef>
              <a:spcAft>
                <a:spcPts val="0"/>
              </a:spcAft>
              <a:buSzPts val="2400"/>
              <a:buChar char="●"/>
            </a:pPr>
            <a:r>
              <a:rPr lang="en-GB"/>
              <a:t>Yêu cầu vận hành: Ảnh hưởng </a:t>
            </a:r>
            <a:r>
              <a:rPr lang="en-GB"/>
              <a:t>tới</a:t>
            </a:r>
            <a:r>
              <a:rPr lang="en-GB"/>
              <a:t> lựa chọn phần cứng và hệ điều hành.</a:t>
            </a:r>
            <a:endParaRPr/>
          </a:p>
          <a:p>
            <a:pPr indent="-381000" lvl="0" marL="457200" rtl="0" algn="just">
              <a:spcBef>
                <a:spcPts val="0"/>
              </a:spcBef>
              <a:spcAft>
                <a:spcPts val="0"/>
              </a:spcAft>
              <a:buSzPts val="2400"/>
              <a:buChar char="●"/>
            </a:pPr>
            <a:r>
              <a:rPr lang="en-GB"/>
              <a:t>Yêu cầu hiệu năng: Các vấn đề tốc độ và dung lượng.</a:t>
            </a:r>
            <a:endParaRPr/>
          </a:p>
          <a:p>
            <a:pPr indent="-381000" lvl="0" marL="457200" rtl="0" algn="just">
              <a:spcBef>
                <a:spcPts val="0"/>
              </a:spcBef>
              <a:spcAft>
                <a:spcPts val="0"/>
              </a:spcAft>
              <a:buSzPts val="2400"/>
              <a:buChar char="●"/>
            </a:pPr>
            <a:r>
              <a:rPr lang="en-GB"/>
              <a:t>Y</a:t>
            </a:r>
            <a:r>
              <a:rPr lang="en-GB"/>
              <a:t>êu cầu bảo mật: Quản lý truy cập, mã </a:t>
            </a:r>
            <a:r>
              <a:rPr lang="en-GB"/>
              <a:t>hóa.</a:t>
            </a:r>
            <a:endParaRPr/>
          </a:p>
          <a:p>
            <a:pPr indent="-381000" lvl="0" marL="457200" rtl="0" algn="just">
              <a:spcBef>
                <a:spcPts val="0"/>
              </a:spcBef>
              <a:spcAft>
                <a:spcPts val="0"/>
              </a:spcAft>
              <a:buSzPts val="2400"/>
              <a:buChar char="●"/>
            </a:pPr>
            <a:r>
              <a:rPr lang="en-GB"/>
              <a:t>v.v..</a:t>
            </a:r>
            <a:endParaRPr/>
          </a:p>
        </p:txBody>
      </p:sp>
      <p:sp>
        <p:nvSpPr>
          <p:cNvPr id="120" name="Google Shape;12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26" name="Google Shape;126;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7" name="Google Shape;127;p23"/>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Tổng quan</a:t>
            </a:r>
            <a:endParaRPr/>
          </a:p>
          <a:p>
            <a:pPr indent="-381000" lvl="0" marL="457200" rtl="0" algn="just">
              <a:spcBef>
                <a:spcPts val="0"/>
              </a:spcBef>
              <a:spcAft>
                <a:spcPts val="0"/>
              </a:spcAft>
              <a:buSzPts val="2400"/>
              <a:buChar char="●"/>
            </a:pPr>
            <a:r>
              <a:rPr lang="en-GB"/>
              <a:t>Các quy tắc ánh xạ</a:t>
            </a:r>
            <a:endParaRPr/>
          </a:p>
          <a:p>
            <a:pPr indent="-381000" lvl="0" marL="457200" rtl="0" algn="just">
              <a:spcBef>
                <a:spcPts val="0"/>
              </a:spcBef>
              <a:spcAft>
                <a:spcPts val="0"/>
              </a:spcAft>
              <a:buSzPts val="2400"/>
              <a:buChar char="●"/>
            </a:pPr>
            <a:r>
              <a:rPr lang="en-GB"/>
              <a:t>Tối ưu</a:t>
            </a:r>
            <a:r>
              <a:rPr lang="en-GB"/>
              <a:t> hóa CSDL quan hệ</a:t>
            </a:r>
            <a:endParaRPr/>
          </a:p>
          <a:p>
            <a:pPr indent="-381000" lvl="0" marL="457200" rtl="0" algn="just">
              <a:spcBef>
                <a:spcPts val="0"/>
              </a:spcBef>
              <a:spcAft>
                <a:spcPts val="0"/>
              </a:spcAft>
              <a:buSzPts val="2400"/>
              <a:buChar char="●"/>
            </a:pPr>
            <a:r>
              <a:rPr lang="en-GB"/>
              <a:t>Tầng truy cập và quản lý dữ liệu</a:t>
            </a:r>
            <a:endParaRPr/>
          </a:p>
          <a:p>
            <a:pPr indent="-381000" lvl="0" marL="457200" rtl="0" algn="just">
              <a:spcBef>
                <a:spcPts val="0"/>
              </a:spcBef>
              <a:spcAft>
                <a:spcPts val="0"/>
              </a:spcAft>
              <a:buSzPts val="2400"/>
              <a:buChar char="●"/>
            </a:pPr>
            <a:r>
              <a:rPr lang="en-GB"/>
              <a:t>CSDL phân tán</a:t>
            </a:r>
            <a:endParaRPr/>
          </a:p>
        </p:txBody>
      </p:sp>
      <p:sp>
        <p:nvSpPr>
          <p:cNvPr id="128" name="Google Shape;128;p23"/>
          <p:cNvSpPr/>
          <p:nvPr/>
        </p:nvSpPr>
        <p:spPr>
          <a:xfrm>
            <a:off x="357900" y="1237442"/>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đối tượng lĩnh vực ứng dụng</a:t>
            </a:r>
            <a:endParaRPr/>
          </a:p>
        </p:txBody>
      </p:sp>
      <p:sp>
        <p:nvSpPr>
          <p:cNvPr id="134" name="Google Shape;134;p24"/>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Với mô hình dữ liệu Hướng đối tượng</a:t>
            </a:r>
            <a:endParaRPr/>
          </a:p>
          <a:p>
            <a:pPr indent="-368300" lvl="1" marL="914400" rtl="0" algn="just">
              <a:spcBef>
                <a:spcPts val="0"/>
              </a:spcBef>
              <a:spcAft>
                <a:spcPts val="0"/>
              </a:spcAft>
              <a:buSzPts val="2200"/>
              <a:buChar char="○"/>
            </a:pPr>
            <a:r>
              <a:rPr lang="en-GB"/>
              <a:t>Mỗi lớp có thể tương ứng với 1 lớp trong lưu trữ. </a:t>
            </a:r>
            <a:endParaRPr/>
          </a:p>
          <a:p>
            <a:pPr indent="-368300" lvl="1" marL="914400" rtl="0" algn="just">
              <a:spcBef>
                <a:spcPts val="0"/>
              </a:spcBef>
              <a:spcAft>
                <a:spcPts val="0"/>
              </a:spcAft>
              <a:buSzPts val="2200"/>
              <a:buChar char="○"/>
            </a:pPr>
            <a:r>
              <a:rPr lang="en-GB"/>
              <a:t>Có thể biểu diễn quan hệ kế thừa.</a:t>
            </a:r>
            <a:endParaRPr/>
          </a:p>
          <a:p>
            <a:pPr indent="-381000" lvl="0" marL="457200" rtl="0" algn="just">
              <a:spcBef>
                <a:spcPts val="0"/>
              </a:spcBef>
              <a:spcAft>
                <a:spcPts val="0"/>
              </a:spcAft>
              <a:buSzPts val="2400"/>
              <a:buChar char="●"/>
            </a:pPr>
            <a:r>
              <a:rPr lang="en-GB"/>
              <a:t>Với mô hình dữ liệu Quan hệ-đối tượng</a:t>
            </a:r>
            <a:endParaRPr/>
          </a:p>
          <a:p>
            <a:pPr indent="-368300" lvl="1" marL="914400" rtl="0" algn="just">
              <a:spcBef>
                <a:spcPts val="0"/>
              </a:spcBef>
              <a:spcAft>
                <a:spcPts val="0"/>
              </a:spcAft>
              <a:buSzPts val="2200"/>
              <a:buChar char="○"/>
            </a:pPr>
            <a:r>
              <a:rPr lang="en-GB"/>
              <a:t>Mỗi lớp có thể tương ứng với 1 bảng trong lưu trữ. </a:t>
            </a:r>
            <a:endParaRPr/>
          </a:p>
          <a:p>
            <a:pPr indent="-368300" lvl="1" marL="914400" rtl="0" algn="just">
              <a:spcBef>
                <a:spcPts val="0"/>
              </a:spcBef>
              <a:spcAft>
                <a:spcPts val="0"/>
              </a:spcAft>
              <a:buSzPts val="2200"/>
              <a:buChar char="○"/>
            </a:pPr>
            <a:r>
              <a:rPr lang="en-GB"/>
              <a:t>Có thể tạo đối tượng để biểu diễn thuộc tính đa trị.</a:t>
            </a:r>
            <a:endParaRPr/>
          </a:p>
          <a:p>
            <a:pPr indent="-381000" lvl="0" marL="457200" rtl="0" algn="just">
              <a:spcBef>
                <a:spcPts val="0"/>
              </a:spcBef>
              <a:spcAft>
                <a:spcPts val="0"/>
              </a:spcAft>
              <a:buSzPts val="2400"/>
              <a:buChar char="●"/>
            </a:pPr>
            <a:r>
              <a:rPr lang="en-GB"/>
              <a:t>Với mô hình dữ liệu quan hệ</a:t>
            </a:r>
            <a:endParaRPr/>
          </a:p>
          <a:p>
            <a:pPr indent="-368300" lvl="1" marL="914400" rtl="0" algn="just">
              <a:spcBef>
                <a:spcPts val="0"/>
              </a:spcBef>
              <a:spcAft>
                <a:spcPts val="0"/>
              </a:spcAft>
              <a:buSzPts val="2200"/>
              <a:buChar char="○"/>
            </a:pPr>
            <a:r>
              <a:rPr lang="en-GB"/>
              <a:t>Mỗi lớp chỉ chứa các thuộc tính cơ bản có thể tương ứng với 1 bảng trong CSDL quan hệ.</a:t>
            </a:r>
            <a:endParaRPr/>
          </a:p>
          <a:p>
            <a:pPr indent="-368300" lvl="1" marL="914400" rtl="0" algn="just">
              <a:spcBef>
                <a:spcPts val="0"/>
              </a:spcBef>
              <a:spcAft>
                <a:spcPts val="0"/>
              </a:spcAft>
              <a:buSzPts val="2200"/>
              <a:buChar char="○"/>
            </a:pPr>
            <a:r>
              <a:rPr lang="en-GB"/>
              <a:t>Cần tái cấu trúc quan hệ kế thừa và các thuộc tính đa trị.</a:t>
            </a:r>
            <a:endParaRPr/>
          </a:p>
        </p:txBody>
      </p:sp>
      <p:sp>
        <p:nvSpPr>
          <p:cNvPr id="135" name="Google Shape;135;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CSDL Hướng Đối tượng</a:t>
            </a:r>
            <a:endParaRPr/>
          </a:p>
        </p:txBody>
      </p:sp>
      <p:sp>
        <p:nvSpPr>
          <p:cNvPr id="141" name="Google Shape;141;p25"/>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Trường hợp thuận lợi nhất, tương thích khái niệm.</a:t>
            </a:r>
            <a:endParaRPr/>
          </a:p>
          <a:p>
            <a:pPr indent="-381000" lvl="0" marL="457200" rtl="0" algn="just">
              <a:spcBef>
                <a:spcPts val="0"/>
              </a:spcBef>
              <a:spcAft>
                <a:spcPts val="0"/>
              </a:spcAft>
              <a:buSzPts val="2400"/>
              <a:buChar char="●"/>
            </a:pPr>
            <a:r>
              <a:rPr lang="en-GB"/>
              <a:t>Mỗi lớp cụ thể tương ứng với 1 lớp trong lưu trữ đối tượng.</a:t>
            </a:r>
            <a:endParaRPr/>
          </a:p>
          <a:p>
            <a:pPr indent="-381000" lvl="0" marL="457200" rtl="0" algn="just">
              <a:spcBef>
                <a:spcPts val="0"/>
              </a:spcBef>
              <a:spcAft>
                <a:spcPts val="0"/>
              </a:spcAft>
              <a:buSzPts val="2400"/>
              <a:buChar char="●"/>
            </a:pPr>
            <a:r>
              <a:rPr lang="en-GB"/>
              <a:t>Có thể cần tái cấu trúc kết cấu đa kế thừa nếu không được hỗ trợ bởi CSDL:</a:t>
            </a:r>
            <a:endParaRPr/>
          </a:p>
          <a:p>
            <a:pPr indent="-368300" lvl="1" marL="914400" rtl="0" algn="just">
              <a:spcBef>
                <a:spcPts val="0"/>
              </a:spcBef>
              <a:spcAft>
                <a:spcPts val="0"/>
              </a:spcAft>
              <a:buSzPts val="2200"/>
              <a:buChar char="○"/>
            </a:pPr>
            <a:r>
              <a:rPr lang="en-GB"/>
              <a:t>R1a - Mô phỏng kế thừa. Thêm thuộc tính vào lớp con trong CSDL để chứa ID đối tượng của đối tượng lớp trên dư trong đa kế thừa.</a:t>
            </a:r>
            <a:endParaRPr/>
          </a:p>
          <a:p>
            <a:pPr indent="-368300" lvl="1" marL="914400" rtl="0" algn="just">
              <a:spcBef>
                <a:spcPts val="0"/>
              </a:spcBef>
              <a:spcAft>
                <a:spcPts val="0"/>
              </a:spcAft>
              <a:buSzPts val="2200"/>
              <a:buChar char="○"/>
            </a:pPr>
            <a:r>
              <a:rPr lang="en-GB"/>
              <a:t>R1b - Lớp con đầy đủ. Sao chép các thuộc tính của lớp trên xuống lớp con để giản lược quan hệ kế thừa.</a:t>
            </a:r>
            <a:endParaRPr/>
          </a:p>
          <a:p>
            <a:pPr indent="-368300" lvl="1" marL="914400" rtl="0" algn="just">
              <a:spcBef>
                <a:spcPts val="0"/>
              </a:spcBef>
              <a:spcAft>
                <a:spcPts val="0"/>
              </a:spcAft>
              <a:buSzPts val="2200"/>
              <a:buChar char="○"/>
            </a:pPr>
            <a:r>
              <a:rPr i="1" lang="en-GB"/>
              <a:t>(Tương tự ánh xạ quan hệ kế thừa sang các mô hình đơn giản hơn.)</a:t>
            </a:r>
            <a:endParaRPr i="1"/>
          </a:p>
        </p:txBody>
      </p:sp>
      <p:sp>
        <p:nvSpPr>
          <p:cNvPr id="142" name="Google Shape;142;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idx="1" type="body"/>
          </p:nvPr>
        </p:nvSpPr>
        <p:spPr>
          <a:xfrm>
            <a:off x="311700" y="950475"/>
            <a:ext cx="8520600" cy="5610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Mỗi đối tượng trong ORDBMS có 1 ID duy nhất</a:t>
            </a:r>
            <a:endParaRPr i="1"/>
          </a:p>
          <a:p>
            <a:pPr indent="0" lvl="0" marL="0" rtl="0" algn="just">
              <a:spcBef>
                <a:spcPts val="1000"/>
              </a:spcBef>
              <a:spcAft>
                <a:spcPts val="0"/>
              </a:spcAft>
              <a:buNone/>
            </a:pPr>
            <a:r>
              <a:rPr b="1" lang="en-GB" sz="2000"/>
              <a:t>R1.</a:t>
            </a:r>
            <a:r>
              <a:rPr lang="en-GB" sz="2000"/>
              <a:t> Ánh xạ tất cả lớp lĩnh vực cụ thể và </a:t>
            </a:r>
            <a:r>
              <a:rPr lang="en-GB" sz="2000"/>
              <a:t>lớp lĩnh vực ảo có nhiều lớp con trực tiếp </a:t>
            </a:r>
            <a:r>
              <a:rPr lang="en-GB" sz="2000"/>
              <a:t>tới bảng ORDBMS. </a:t>
            </a:r>
            <a:endParaRPr sz="2000"/>
          </a:p>
          <a:p>
            <a:pPr indent="0" lvl="0" marL="0" rtl="0" algn="just">
              <a:spcBef>
                <a:spcPts val="1000"/>
              </a:spcBef>
              <a:spcAft>
                <a:spcPts val="0"/>
              </a:spcAft>
              <a:buNone/>
            </a:pPr>
            <a:r>
              <a:rPr b="1" lang="en-GB" sz="2000"/>
              <a:t>R2.</a:t>
            </a:r>
            <a:r>
              <a:rPr lang="en-GB" sz="2000"/>
              <a:t> Ánh xạ thuộc tính đơn trị tới cột </a:t>
            </a:r>
            <a:r>
              <a:rPr lang="en-GB" sz="2000"/>
              <a:t>của </a:t>
            </a:r>
            <a:r>
              <a:rPr lang="en-GB" sz="2000"/>
              <a:t>bảng.</a:t>
            </a:r>
            <a:endParaRPr sz="2000"/>
          </a:p>
          <a:p>
            <a:pPr indent="0" lvl="0" marL="0" rtl="0" algn="just">
              <a:spcBef>
                <a:spcPts val="1000"/>
              </a:spcBef>
              <a:spcAft>
                <a:spcPts val="0"/>
              </a:spcAft>
              <a:buNone/>
            </a:pPr>
            <a:r>
              <a:rPr b="1" lang="en-GB" sz="2000"/>
              <a:t>R3.</a:t>
            </a:r>
            <a:r>
              <a:rPr lang="en-GB" sz="2000"/>
              <a:t> Ánh xạ phương thức và thuộc tính suy diễn tới thủ tục lưu trữ (stored procedure) hoặc mô-đun chương trình.</a:t>
            </a:r>
            <a:endParaRPr sz="2000"/>
          </a:p>
          <a:p>
            <a:pPr indent="0" lvl="0" marL="0" rtl="0" algn="just">
              <a:spcBef>
                <a:spcPts val="1000"/>
              </a:spcBef>
              <a:spcAft>
                <a:spcPts val="0"/>
              </a:spcAft>
              <a:buNone/>
            </a:pPr>
            <a:r>
              <a:rPr b="1" lang="en-GB" sz="2000"/>
              <a:t>R4.</a:t>
            </a:r>
            <a:r>
              <a:rPr lang="en-GB" sz="2000"/>
              <a:t> Ánh xạ quan hệ tổng hợp </a:t>
            </a:r>
            <a:r>
              <a:rPr lang="en-GB" sz="2000"/>
              <a:t>và quan hệ liên kết </a:t>
            </a:r>
            <a:r>
              <a:rPr lang="en-GB" sz="2000"/>
              <a:t>đơn trị (0..1 hoặc 1..1) tới cột có thể lưu ID đối tượng. Áp dụng cho cả 2 đầu quan hệ.</a:t>
            </a:r>
            <a:endParaRPr sz="2000"/>
          </a:p>
          <a:p>
            <a:pPr indent="0" lvl="0" marL="0" rtl="0" algn="just">
              <a:spcBef>
                <a:spcPts val="1000"/>
              </a:spcBef>
              <a:spcAft>
                <a:spcPts val="0"/>
              </a:spcAft>
              <a:buNone/>
            </a:pPr>
            <a:r>
              <a:rPr b="1" lang="en-GB" sz="2000"/>
              <a:t>R5.</a:t>
            </a:r>
            <a:r>
              <a:rPr lang="en-GB" sz="2000"/>
              <a:t> Ánh xạ các thuộc tính đa trị tới cột có thể lưu 1 tập ID của đối tượng.</a:t>
            </a:r>
            <a:endParaRPr sz="2000"/>
          </a:p>
          <a:p>
            <a:pPr indent="0" lvl="0" marL="0" rtl="0" algn="just">
              <a:spcBef>
                <a:spcPts val="1000"/>
              </a:spcBef>
              <a:spcAft>
                <a:spcPts val="0"/>
              </a:spcAft>
              <a:buNone/>
            </a:pPr>
            <a:r>
              <a:rPr b="1" lang="en-GB" sz="2000"/>
              <a:t>R6.</a:t>
            </a:r>
            <a:r>
              <a:rPr lang="en-GB" sz="2000"/>
              <a:t> Ánh xạ nhóm thuộc tính lặp sang 1 bảng mới và tạo liên kết 1-nhiều từ bảng gốc sang bảng mới</a:t>
            </a:r>
            <a:r>
              <a:rPr lang="en-GB" sz="2000"/>
              <a:t> / thêm khóa ngoại vào bảng mới</a:t>
            </a:r>
            <a:r>
              <a:rPr lang="en-GB" sz="2000"/>
              <a:t>.</a:t>
            </a:r>
            <a:endParaRPr sz="2000"/>
          </a:p>
          <a:p>
            <a:pPr indent="0" lvl="0" marL="0" rtl="0" algn="just">
              <a:spcBef>
                <a:spcPts val="1000"/>
              </a:spcBef>
              <a:spcAft>
                <a:spcPts val="1000"/>
              </a:spcAft>
              <a:buClr>
                <a:schemeClr val="dk1"/>
              </a:buClr>
              <a:buSzPts val="1100"/>
              <a:buFont typeface="Arial"/>
              <a:buNone/>
            </a:pPr>
            <a:r>
              <a:rPr b="1" lang="en-GB" sz="2000"/>
              <a:t>R7.</a:t>
            </a:r>
            <a:r>
              <a:rPr lang="en-GB" sz="2000"/>
              <a:t> Ánh xạ các quan hệ tổng hợp và liên kết đa trị (0..* hoặc 1..*) tới cột có thể lưu 1 tập ID đối tượng. Thực hiện cho cả 2 đầu quan hệ.</a:t>
            </a:r>
            <a:endParaRPr sz="2000"/>
          </a:p>
        </p:txBody>
      </p:sp>
      <p:sp>
        <p:nvSpPr>
          <p:cNvPr id="148" name="Google Shape;148;p2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CSDL Quan hệ-Đối tượng</a:t>
            </a:r>
            <a:endParaRPr/>
          </a:p>
        </p:txBody>
      </p:sp>
      <p:sp>
        <p:nvSpPr>
          <p:cNvPr id="149" name="Google Shape;149;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CSDL quan hệ-đối tượng</a:t>
            </a:r>
            <a:r>
              <a:rPr baseline="-25000" lang="en-GB"/>
              <a:t>(2)</a:t>
            </a:r>
            <a:endParaRPr baseline="-25000"/>
          </a:p>
        </p:txBody>
      </p:sp>
      <p:sp>
        <p:nvSpPr>
          <p:cNvPr id="155" name="Google Shape;155;p27"/>
          <p:cNvSpPr txBox="1"/>
          <p:nvPr>
            <p:ph idx="1" type="body"/>
          </p:nvPr>
        </p:nvSpPr>
        <p:spPr>
          <a:xfrm>
            <a:off x="350575" y="950475"/>
            <a:ext cx="8520600" cy="5634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GB" sz="1800"/>
              <a:t>R8.</a:t>
            </a:r>
            <a:r>
              <a:rPr lang="en-GB" sz="1800"/>
              <a:t> Đối với các quan hệ tổng hợp và liên kết hỗn hợp (một-nhiều), ở phía đơn trị (1..1) hoặc (0..1) của mối quan hệ, thêm 1 cột để lưu 1 tập ID của các đối tượng ở phía đa trị. Ở phía đa trị (1..* hoặc 0..*), thêm 1 cột để lưu ID của đối tượng thuộc đầu đơn trị.</a:t>
            </a:r>
            <a:endParaRPr sz="1800"/>
          </a:p>
          <a:p>
            <a:pPr indent="0" lvl="0" marL="0" rtl="0" algn="just">
              <a:spcBef>
                <a:spcPts val="1000"/>
              </a:spcBef>
              <a:spcAft>
                <a:spcPts val="0"/>
              </a:spcAft>
              <a:buNone/>
            </a:pPr>
            <a:r>
              <a:rPr b="1" lang="en-GB" sz="1800"/>
              <a:t>R9a - </a:t>
            </a:r>
            <a:r>
              <a:rPr lang="en-GB" sz="1800"/>
              <a:t>M</a:t>
            </a:r>
            <a:r>
              <a:rPr lang="en-GB" sz="1800"/>
              <a:t>ô phỏng kế thừa</a:t>
            </a:r>
            <a:r>
              <a:rPr b="1" lang="en-GB" sz="1800"/>
              <a:t>.</a:t>
            </a:r>
            <a:r>
              <a:rPr lang="en-GB" sz="1800"/>
              <a:t> Thêm cột vào bảng tương ứng với lớp con để chứa ID đối tượng được lưu trong bảng tương ứng với lớp cha. Cơ số của liên kết mới từ lớp con tới lớp cha phải là 1..1 / 1 đối tượng lớp con xác định đúng 1 đối tượng lớp cha. Thêm cột vào bảng biểu diễn lớp cha để lưu ID đối tượng của lớp con. Nếu lớp cha là cụ thể, thì cơ số từ lớp cha tới lớp con là 0..1: 1 đối tượng lớp cha </a:t>
            </a:r>
            <a:r>
              <a:rPr i="1" lang="en-GB" sz="1800"/>
              <a:t>có thể</a:t>
            </a:r>
            <a:r>
              <a:rPr lang="en-GB" sz="1800"/>
              <a:t> xác định 1 đối tượng lớp con, nếu ngược lại thì cơ số là 1..1: xác định đúng 1 đối tượng lớp con. Ràng buộc XOR (OR loại trừ) cần được bổ xung cho các liên kết này. Thực hiện với tất cả các lớp cha. </a:t>
            </a:r>
            <a:r>
              <a:rPr lang="en-GB" sz="1800"/>
              <a:t>Hoặc</a:t>
            </a:r>
            <a:endParaRPr sz="1800"/>
          </a:p>
          <a:p>
            <a:pPr indent="0" lvl="0" marL="0" rtl="0" algn="just">
              <a:spcBef>
                <a:spcPts val="1000"/>
              </a:spcBef>
              <a:spcAft>
                <a:spcPts val="0"/>
              </a:spcAft>
              <a:buNone/>
            </a:pPr>
            <a:r>
              <a:rPr b="1" lang="en-GB" sz="1800"/>
              <a:t>R9b </a:t>
            </a:r>
            <a:r>
              <a:rPr lang="en-GB" sz="1800"/>
              <a:t>- Lớp con đầy đủ</a:t>
            </a:r>
            <a:r>
              <a:rPr b="1" lang="en-GB" sz="1800"/>
              <a:t>.</a:t>
            </a:r>
            <a:r>
              <a:rPr lang="en-GB" sz="1800"/>
              <a:t> Mở rộng lớp con bằng cách sao chép các thuộc tính của lớp cha xuống các lớp con và loại lớp cha trừu tượng khỏi thiết kế. Hoặc</a:t>
            </a:r>
            <a:endParaRPr sz="1800"/>
          </a:p>
          <a:p>
            <a:pPr indent="0" lvl="0" marL="0" rtl="0" algn="just">
              <a:spcBef>
                <a:spcPts val="1000"/>
              </a:spcBef>
              <a:spcAft>
                <a:spcPts val="1000"/>
              </a:spcAft>
              <a:buClr>
                <a:schemeClr val="dk1"/>
              </a:buClr>
              <a:buSzPts val="1100"/>
              <a:buFont typeface="Arial"/>
              <a:buNone/>
            </a:pPr>
            <a:r>
              <a:rPr b="1" lang="en-GB" sz="1800"/>
              <a:t>R9c - </a:t>
            </a:r>
            <a:r>
              <a:rPr lang="en-GB" sz="1800"/>
              <a:t>Làm phẳng cây kế thừa. Sao chép tất cả các thuộc tính trong cây vào lớp gốc, tạo 1 bảng cho cây kế thừa.</a:t>
            </a:r>
            <a:endParaRPr sz="1800"/>
          </a:p>
        </p:txBody>
      </p:sp>
      <p:sp>
        <p:nvSpPr>
          <p:cNvPr id="156" name="Google Shape;156;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tới CSDL quan hệ</a:t>
            </a:r>
            <a:endParaRPr/>
          </a:p>
        </p:txBody>
      </p:sp>
      <p:sp>
        <p:nvSpPr>
          <p:cNvPr id="162" name="Google Shape;162;p28"/>
          <p:cNvSpPr txBox="1"/>
          <p:nvPr>
            <p:ph idx="1" type="body"/>
          </p:nvPr>
        </p:nvSpPr>
        <p:spPr>
          <a:xfrm>
            <a:off x="311700" y="950475"/>
            <a:ext cx="8520600" cy="5610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t>R1</a:t>
            </a:r>
            <a:r>
              <a:rPr lang="en-GB" sz="2200"/>
              <a:t>. Ánh xạ lớp lĩnh vực cụ thể và lớp lĩnh vực trừu tượng có nhiều lớp con trực tiếp tới bảng RDBMS.</a:t>
            </a:r>
            <a:endParaRPr sz="2200"/>
          </a:p>
          <a:p>
            <a:pPr indent="0" lvl="0" marL="0" rtl="0" algn="just">
              <a:spcBef>
                <a:spcPts val="0"/>
              </a:spcBef>
              <a:spcAft>
                <a:spcPts val="0"/>
              </a:spcAft>
              <a:buNone/>
            </a:pPr>
            <a:r>
              <a:rPr b="1" lang="en-GB" sz="2200"/>
              <a:t>R2</a:t>
            </a:r>
            <a:r>
              <a:rPr lang="en-GB" sz="2200"/>
              <a:t>. Ánh xạ thuộc tính đơn trị tới cột của bảng.</a:t>
            </a:r>
            <a:endParaRPr sz="2200"/>
          </a:p>
          <a:p>
            <a:pPr indent="0" lvl="0" marL="0" rtl="0" algn="just">
              <a:spcBef>
                <a:spcPts val="0"/>
              </a:spcBef>
              <a:spcAft>
                <a:spcPts val="0"/>
              </a:spcAft>
              <a:buNone/>
            </a:pPr>
            <a:r>
              <a:rPr b="1" lang="en-GB" sz="2200"/>
              <a:t>R3</a:t>
            </a:r>
            <a:r>
              <a:rPr lang="en-GB" sz="2200"/>
              <a:t>. Ánh xạ phương thức và thuộc tính suy diễn tới thủ tục lưu trữ hoặc mô-đun phần mềm.</a:t>
            </a:r>
            <a:endParaRPr sz="2200"/>
          </a:p>
          <a:p>
            <a:pPr indent="0" lvl="0" marL="0" rtl="0" algn="just">
              <a:spcBef>
                <a:spcPts val="0"/>
              </a:spcBef>
              <a:spcAft>
                <a:spcPts val="0"/>
              </a:spcAft>
              <a:buNone/>
            </a:pPr>
            <a:r>
              <a:rPr b="1" lang="en-GB" sz="2200"/>
              <a:t>R4</a:t>
            </a:r>
            <a:r>
              <a:rPr lang="en-GB" sz="2200"/>
              <a:t>. Ánh xạ các quan hệ tổng hợp và liên kết đơn trị tới 1 cột có thể lưu khóa của bảng liên quan / thêm 1 khóa ngoại vào bảng. Thực hiện cho cả 2 đầu liên kết.</a:t>
            </a:r>
            <a:endParaRPr sz="2200"/>
          </a:p>
          <a:p>
            <a:pPr indent="0" lvl="0" marL="0" rtl="0" algn="just">
              <a:spcBef>
                <a:spcPts val="0"/>
              </a:spcBef>
              <a:spcAft>
                <a:spcPts val="0"/>
              </a:spcAft>
              <a:buNone/>
            </a:pPr>
            <a:r>
              <a:rPr b="1" lang="en-GB" sz="2200"/>
              <a:t>R5.</a:t>
            </a:r>
            <a:r>
              <a:rPr lang="en-GB" sz="2200"/>
              <a:t> Ánh xạ các thuộc tính đa trị và các nhóm lặp tới các bảng mới và tạo quan hệ 1-nhiều từ bảng gốc tới bảng mới / thêm khóa ngoại vào bảng mới.</a:t>
            </a:r>
            <a:endParaRPr sz="2200"/>
          </a:p>
          <a:p>
            <a:pPr indent="0" lvl="0" marL="0" rtl="0" algn="just">
              <a:spcBef>
                <a:spcPts val="0"/>
              </a:spcBef>
              <a:spcAft>
                <a:spcPts val="1000"/>
              </a:spcAft>
              <a:buNone/>
            </a:pPr>
            <a:r>
              <a:rPr b="1" lang="en-GB" sz="2200"/>
              <a:t>R6</a:t>
            </a:r>
            <a:r>
              <a:rPr lang="en-GB" sz="2200"/>
              <a:t>. Ánh xạ các quan hệ tổng hợp và liên kết đa trị tới 1 bảng liên kết mới để kết nối 2 bảng ban đầu. Sao chép khóa chính từ các bảng gốc vào bảng liên kết/thêm các khóa ngoại vào bảng liên kết.</a:t>
            </a:r>
            <a:endParaRPr sz="2200"/>
          </a:p>
        </p:txBody>
      </p:sp>
      <p:sp>
        <p:nvSpPr>
          <p:cNvPr id="163" name="Google Shape;163;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 type="body"/>
          </p:nvPr>
        </p:nvSpPr>
        <p:spPr>
          <a:xfrm>
            <a:off x="311700" y="950475"/>
            <a:ext cx="8520600" cy="5610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900"/>
              <a:t>R7</a:t>
            </a:r>
            <a:r>
              <a:rPr lang="en-GB" sz="1900"/>
              <a:t>. </a:t>
            </a:r>
            <a:r>
              <a:rPr lang="en-GB" sz="1900"/>
              <a:t>Đối với các quan hệ tổng hợp và liên kết hỗn hợp, sao chép khóa chính từ phía đơn trị (1..1 hoặc 0..1) của mối quan hệ vào 1 cột mới trong bảng của phía đa trị (1..* hoặc 0..*) để lưu khóa của bảng liên quan / bổ xung 1 khóa ngoại vào bảng ở phía đa trị của mối quan hệ.</a:t>
            </a:r>
            <a:endParaRPr sz="1900"/>
          </a:p>
          <a:p>
            <a:pPr indent="0" lvl="0" marL="0" rtl="0" algn="just">
              <a:spcBef>
                <a:spcPts val="1000"/>
              </a:spcBef>
              <a:spcAft>
                <a:spcPts val="0"/>
              </a:spcAft>
              <a:buNone/>
            </a:pPr>
            <a:r>
              <a:rPr lang="en-GB" sz="1900"/>
              <a:t>Đối với quan hệ Khái quát hóa/Kế thừa:</a:t>
            </a:r>
            <a:endParaRPr sz="1900"/>
          </a:p>
          <a:p>
            <a:pPr indent="0" lvl="0" marL="0" rtl="0" algn="just">
              <a:spcBef>
                <a:spcPts val="1000"/>
              </a:spcBef>
              <a:spcAft>
                <a:spcPts val="0"/>
              </a:spcAft>
              <a:buNone/>
            </a:pPr>
            <a:r>
              <a:rPr b="1" lang="en-GB" sz="1900"/>
              <a:t>R8a - </a:t>
            </a:r>
            <a:r>
              <a:rPr lang="en-GB" sz="1900"/>
              <a:t>Mô phỏng kế thừa</a:t>
            </a:r>
            <a:r>
              <a:rPr b="1" lang="en-GB" sz="1900"/>
              <a:t>.</a:t>
            </a:r>
            <a:r>
              <a:rPr lang="en-GB" sz="1900"/>
              <a:t> Đảm bảo khóa chính của đối tượng thuộc lớp con giống với khóa chính của đối tượng thuộc lớp cha. Cơ số của liên kết từ lớp con tới lớp cha phải là 1..1. Nếu lớp cha là lớp cụ thể thì cơ số từ lớp cha tới lớp con là 0..1, nếu ngược lại thì cơ số là 1..1. Bên cạnh đó ràng buộc XOR (OR loại trừ) phải được thêm vào giữa các liên kết. Áp dụng quy tắc này cho tất cả các lớp cha. Hoặc</a:t>
            </a:r>
            <a:endParaRPr sz="1900"/>
          </a:p>
          <a:p>
            <a:pPr indent="0" lvl="0" marL="0" rtl="0" algn="just">
              <a:spcBef>
                <a:spcPts val="1000"/>
              </a:spcBef>
              <a:spcAft>
                <a:spcPts val="0"/>
              </a:spcAft>
              <a:buNone/>
            </a:pPr>
            <a:r>
              <a:rPr b="1" lang="en-GB" sz="1900"/>
              <a:t>R8b</a:t>
            </a:r>
            <a:r>
              <a:rPr lang="en-GB" sz="1900"/>
              <a:t> - Lớp con đầy đủ</a:t>
            </a:r>
            <a:r>
              <a:rPr b="1" lang="en-GB" sz="1900"/>
              <a:t>.</a:t>
            </a:r>
            <a:r>
              <a:rPr lang="en-GB" sz="1900"/>
              <a:t> Mở rộng lớp con bằng cách sao chép thuộc tính của lớp cha vào tất cả các lớp con là xóa lớp cha khái quát khỏi thiết kế. Hoặc</a:t>
            </a:r>
            <a:endParaRPr sz="1900"/>
          </a:p>
          <a:p>
            <a:pPr indent="0" lvl="0" marL="0" rtl="0" algn="just">
              <a:spcBef>
                <a:spcPts val="1000"/>
              </a:spcBef>
              <a:spcAft>
                <a:spcPts val="1000"/>
              </a:spcAft>
              <a:buNone/>
            </a:pPr>
            <a:r>
              <a:rPr b="1" lang="en-GB" sz="1900"/>
              <a:t>R8c - </a:t>
            </a:r>
            <a:r>
              <a:rPr lang="en-GB" sz="1900"/>
              <a:t>Làm phẳng cây kế thừa. Sao chép tất cả các thuộc tính trong cây vào lớp gốc, tạo 1 bảng cho cây kế thừa.</a:t>
            </a:r>
            <a:endParaRPr sz="1900"/>
          </a:p>
        </p:txBody>
      </p:sp>
      <p:sp>
        <p:nvSpPr>
          <p:cNvPr id="169" name="Google Shape;169;p2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tới CSDL quan hệ</a:t>
            </a:r>
            <a:r>
              <a:rPr baseline="-25000" lang="en-GB"/>
              <a:t>(2)</a:t>
            </a:r>
            <a:endParaRPr baseline="-25000"/>
          </a:p>
        </p:txBody>
      </p:sp>
      <p:sp>
        <p:nvSpPr>
          <p:cNvPr id="170" name="Google Shape;170;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 Ánh xạ sang CSDL quan hệ</a:t>
            </a:r>
            <a:endParaRPr/>
          </a:p>
        </p:txBody>
      </p:sp>
      <p:sp>
        <p:nvSpPr>
          <p:cNvPr id="176" name="Google Shape;176;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7" name="Google Shape;177;p30"/>
          <p:cNvSpPr/>
          <p:nvPr/>
        </p:nvSpPr>
        <p:spPr>
          <a:xfrm>
            <a:off x="647475" y="993300"/>
            <a:ext cx="13392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Promotion</a:t>
            </a:r>
            <a:endParaRPr b="1"/>
          </a:p>
        </p:txBody>
      </p:sp>
      <p:sp>
        <p:nvSpPr>
          <p:cNvPr id="178" name="Google Shape;178;p30"/>
          <p:cNvSpPr/>
          <p:nvPr/>
        </p:nvSpPr>
        <p:spPr>
          <a:xfrm>
            <a:off x="647475" y="1249400"/>
            <a:ext cx="13392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season</a:t>
            </a:r>
            <a:endParaRPr/>
          </a:p>
          <a:p>
            <a:pPr indent="0" lvl="0" marL="0" rtl="0" algn="l">
              <a:spcBef>
                <a:spcPts val="0"/>
              </a:spcBef>
              <a:spcAft>
                <a:spcPts val="0"/>
              </a:spcAft>
              <a:buNone/>
            </a:pPr>
            <a:r>
              <a:rPr lang="en-GB"/>
              <a:t>year</a:t>
            </a:r>
            <a:endParaRPr/>
          </a:p>
          <a:p>
            <a:pPr indent="0" lvl="0" marL="0" rtl="0" algn="l">
              <a:spcBef>
                <a:spcPts val="0"/>
              </a:spcBef>
              <a:spcAft>
                <a:spcPts val="0"/>
              </a:spcAft>
              <a:buNone/>
            </a:pPr>
            <a:r>
              <a:rPr lang="en-GB"/>
              <a:t>description</a:t>
            </a:r>
            <a:endParaRPr/>
          </a:p>
          <a:p>
            <a:pPr indent="0" lvl="0" marL="0" rtl="0" algn="l">
              <a:spcBef>
                <a:spcPts val="0"/>
              </a:spcBef>
              <a:spcAft>
                <a:spcPts val="0"/>
              </a:spcAft>
              <a:buNone/>
            </a:pPr>
            <a:r>
              <a:rPr lang="en-GB"/>
              <a:t>start_date</a:t>
            </a:r>
            <a:endParaRPr/>
          </a:p>
          <a:p>
            <a:pPr indent="0" lvl="0" marL="0" rtl="0" algn="l">
              <a:spcBef>
                <a:spcPts val="0"/>
              </a:spcBef>
              <a:spcAft>
                <a:spcPts val="0"/>
              </a:spcAft>
              <a:buNone/>
            </a:pPr>
            <a:r>
              <a:rPr lang="en-GB"/>
              <a:t>end_date</a:t>
            </a:r>
            <a:endParaRPr/>
          </a:p>
        </p:txBody>
      </p:sp>
      <p:sp>
        <p:nvSpPr>
          <p:cNvPr id="179" name="Google Shape;179;p30"/>
          <p:cNvSpPr/>
          <p:nvPr/>
        </p:nvSpPr>
        <p:spPr>
          <a:xfrm>
            <a:off x="3390675" y="993300"/>
            <a:ext cx="15114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ProductItem</a:t>
            </a:r>
            <a:endParaRPr b="1"/>
          </a:p>
        </p:txBody>
      </p:sp>
      <p:sp>
        <p:nvSpPr>
          <p:cNvPr id="180" name="Google Shape;180;p30"/>
          <p:cNvSpPr/>
          <p:nvPr/>
        </p:nvSpPr>
        <p:spPr>
          <a:xfrm>
            <a:off x="3390675" y="1249400"/>
            <a:ext cx="15114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gender</a:t>
            </a:r>
            <a:endParaRPr/>
          </a:p>
          <a:p>
            <a:pPr indent="0" lvl="0" marL="0" rtl="0" algn="l">
              <a:spcBef>
                <a:spcPts val="0"/>
              </a:spcBef>
              <a:spcAft>
                <a:spcPts val="0"/>
              </a:spcAft>
              <a:buNone/>
            </a:pPr>
            <a:r>
              <a:rPr lang="en-GB"/>
              <a:t>description</a:t>
            </a:r>
            <a:endParaRPr/>
          </a:p>
          <a:p>
            <a:pPr indent="0" lvl="0" marL="0" rtl="0" algn="l">
              <a:spcBef>
                <a:spcPts val="0"/>
              </a:spcBef>
              <a:spcAft>
                <a:spcPts val="0"/>
              </a:spcAft>
              <a:buNone/>
            </a:pPr>
            <a:r>
              <a:rPr lang="en-GB"/>
              <a:t>supplier</a:t>
            </a:r>
            <a:endParaRPr/>
          </a:p>
          <a:p>
            <a:pPr indent="0" lvl="0" marL="0" rtl="0" algn="l">
              <a:spcBef>
                <a:spcPts val="0"/>
              </a:spcBef>
              <a:spcAft>
                <a:spcPts val="0"/>
              </a:spcAft>
              <a:buNone/>
            </a:pPr>
            <a:r>
              <a:rPr lang="en-GB"/>
              <a:t>manufacturer</a:t>
            </a:r>
            <a:endParaRPr/>
          </a:p>
          <a:p>
            <a:pPr indent="0" lvl="0" marL="0" rtl="0" algn="l">
              <a:spcBef>
                <a:spcPts val="0"/>
              </a:spcBef>
              <a:spcAft>
                <a:spcPts val="0"/>
              </a:spcAft>
              <a:buNone/>
            </a:pPr>
            <a:r>
              <a:rPr lang="en-GB"/>
              <a:t>picture</a:t>
            </a:r>
            <a:endParaRPr/>
          </a:p>
        </p:txBody>
      </p:sp>
      <p:sp>
        <p:nvSpPr>
          <p:cNvPr id="181" name="Google Shape;181;p30"/>
          <p:cNvSpPr/>
          <p:nvPr/>
        </p:nvSpPr>
        <p:spPr>
          <a:xfrm>
            <a:off x="2014126" y="2661575"/>
            <a:ext cx="14460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PromoOffering</a:t>
            </a:r>
            <a:endParaRPr b="1"/>
          </a:p>
        </p:txBody>
      </p:sp>
      <p:sp>
        <p:nvSpPr>
          <p:cNvPr id="182" name="Google Shape;182;p30"/>
          <p:cNvSpPr/>
          <p:nvPr/>
        </p:nvSpPr>
        <p:spPr>
          <a:xfrm>
            <a:off x="2014126" y="2917675"/>
            <a:ext cx="1446000" cy="593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regular_price</a:t>
            </a:r>
            <a:endParaRPr/>
          </a:p>
          <a:p>
            <a:pPr indent="0" lvl="0" marL="0" rtl="0" algn="l">
              <a:spcBef>
                <a:spcPts val="0"/>
              </a:spcBef>
              <a:spcAft>
                <a:spcPts val="0"/>
              </a:spcAft>
              <a:buNone/>
            </a:pPr>
            <a:r>
              <a:rPr lang="en-GB"/>
              <a:t>promo_price</a:t>
            </a:r>
            <a:endParaRPr/>
          </a:p>
        </p:txBody>
      </p:sp>
      <p:sp>
        <p:nvSpPr>
          <p:cNvPr id="183" name="Google Shape;183;p30"/>
          <p:cNvSpPr/>
          <p:nvPr/>
        </p:nvSpPr>
        <p:spPr>
          <a:xfrm>
            <a:off x="5895600" y="1199350"/>
            <a:ext cx="17430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ProductComment</a:t>
            </a:r>
            <a:endParaRPr b="1"/>
          </a:p>
        </p:txBody>
      </p:sp>
      <p:sp>
        <p:nvSpPr>
          <p:cNvPr id="184" name="Google Shape;184;p30"/>
          <p:cNvSpPr/>
          <p:nvPr/>
        </p:nvSpPr>
        <p:spPr>
          <a:xfrm>
            <a:off x="5895600" y="1455450"/>
            <a:ext cx="17430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 time</a:t>
            </a:r>
            <a:endParaRPr/>
          </a:p>
          <a:p>
            <a:pPr indent="0" lvl="0" marL="0" rtl="0" algn="l">
              <a:spcBef>
                <a:spcPts val="0"/>
              </a:spcBef>
              <a:spcAft>
                <a:spcPts val="0"/>
              </a:spcAft>
              <a:buNone/>
            </a:pPr>
            <a:r>
              <a:rPr lang="en-GB"/>
              <a:t>- rating</a:t>
            </a:r>
            <a:endParaRPr/>
          </a:p>
          <a:p>
            <a:pPr indent="0" lvl="0" marL="0" rtl="0" algn="l">
              <a:spcBef>
                <a:spcPts val="0"/>
              </a:spcBef>
              <a:spcAft>
                <a:spcPts val="0"/>
              </a:spcAft>
              <a:buNone/>
            </a:pPr>
            <a:r>
              <a:rPr lang="en-GB"/>
              <a:t>- comment</a:t>
            </a:r>
            <a:endParaRPr/>
          </a:p>
        </p:txBody>
      </p:sp>
      <p:cxnSp>
        <p:nvCxnSpPr>
          <p:cNvPr id="185" name="Google Shape;185;p30"/>
          <p:cNvCxnSpPr>
            <a:stCxn id="178" idx="3"/>
            <a:endCxn id="180" idx="1"/>
          </p:cNvCxnSpPr>
          <p:nvPr/>
        </p:nvCxnSpPr>
        <p:spPr>
          <a:xfrm>
            <a:off x="1986675" y="1839650"/>
            <a:ext cx="1404000" cy="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30"/>
          <p:cNvCxnSpPr>
            <a:endCxn id="181" idx="0"/>
          </p:cNvCxnSpPr>
          <p:nvPr/>
        </p:nvCxnSpPr>
        <p:spPr>
          <a:xfrm>
            <a:off x="2737126" y="1852175"/>
            <a:ext cx="0" cy="809400"/>
          </a:xfrm>
          <a:prstGeom prst="straightConnector1">
            <a:avLst/>
          </a:prstGeom>
          <a:noFill/>
          <a:ln cap="flat" cmpd="sng" w="9525">
            <a:solidFill>
              <a:schemeClr val="dk2"/>
            </a:solidFill>
            <a:prstDash val="dash"/>
            <a:round/>
            <a:headEnd len="med" w="med" type="none"/>
            <a:tailEnd len="med" w="med" type="none"/>
          </a:ln>
        </p:spPr>
      </p:cxnSp>
      <p:cxnSp>
        <p:nvCxnSpPr>
          <p:cNvPr id="187" name="Google Shape;187;p30"/>
          <p:cNvCxnSpPr>
            <a:stCxn id="180" idx="3"/>
            <a:endCxn id="184" idx="1"/>
          </p:cNvCxnSpPr>
          <p:nvPr/>
        </p:nvCxnSpPr>
        <p:spPr>
          <a:xfrm flipH="1" rot="10800000">
            <a:off x="4902075" y="1837250"/>
            <a:ext cx="993600" cy="24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30"/>
          <p:cNvSpPr txBox="1"/>
          <p:nvPr/>
        </p:nvSpPr>
        <p:spPr>
          <a:xfrm>
            <a:off x="19866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endParaRPr/>
          </a:p>
        </p:txBody>
      </p:sp>
      <p:sp>
        <p:nvSpPr>
          <p:cNvPr id="189" name="Google Shape;189;p30"/>
          <p:cNvSpPr txBox="1"/>
          <p:nvPr/>
        </p:nvSpPr>
        <p:spPr>
          <a:xfrm>
            <a:off x="29772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endParaRPr/>
          </a:p>
        </p:txBody>
      </p:sp>
      <p:sp>
        <p:nvSpPr>
          <p:cNvPr id="190" name="Google Shape;190;p30"/>
          <p:cNvSpPr txBox="1"/>
          <p:nvPr/>
        </p:nvSpPr>
        <p:spPr>
          <a:xfrm>
            <a:off x="54918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endParaRPr/>
          </a:p>
        </p:txBody>
      </p:sp>
      <p:sp>
        <p:nvSpPr>
          <p:cNvPr id="191" name="Google Shape;191;p30"/>
          <p:cNvSpPr txBox="1"/>
          <p:nvPr/>
        </p:nvSpPr>
        <p:spPr>
          <a:xfrm>
            <a:off x="48822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
        <p:nvSpPr>
          <p:cNvPr id="192" name="Google Shape;192;p30"/>
          <p:cNvSpPr txBox="1"/>
          <p:nvPr/>
        </p:nvSpPr>
        <p:spPr>
          <a:xfrm>
            <a:off x="4740175" y="2967750"/>
            <a:ext cx="1233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R1 &amp; R2</a:t>
            </a:r>
            <a:endParaRPr b="1" sz="1800"/>
          </a:p>
        </p:txBody>
      </p:sp>
      <p:sp>
        <p:nvSpPr>
          <p:cNvPr id="193" name="Google Shape;193;p30"/>
          <p:cNvSpPr/>
          <p:nvPr/>
        </p:nvSpPr>
        <p:spPr>
          <a:xfrm>
            <a:off x="3993050" y="2910925"/>
            <a:ext cx="267900" cy="560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0"/>
          <p:cNvSpPr/>
          <p:nvPr/>
        </p:nvSpPr>
        <p:spPr>
          <a:xfrm>
            <a:off x="647475" y="3965100"/>
            <a:ext cx="13392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Promotion</a:t>
            </a:r>
            <a:r>
              <a:rPr b="1" lang="en-GB"/>
              <a:t>Tbl</a:t>
            </a:r>
            <a:endParaRPr b="1"/>
          </a:p>
        </p:txBody>
      </p:sp>
      <p:sp>
        <p:nvSpPr>
          <p:cNvPr id="195" name="Google Shape;195;p30"/>
          <p:cNvSpPr/>
          <p:nvPr/>
        </p:nvSpPr>
        <p:spPr>
          <a:xfrm>
            <a:off x="647475" y="4221200"/>
            <a:ext cx="13392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season</a:t>
            </a:r>
            <a:endParaRPr/>
          </a:p>
          <a:p>
            <a:pPr indent="0" lvl="0" marL="0" rtl="0" algn="l">
              <a:spcBef>
                <a:spcPts val="0"/>
              </a:spcBef>
              <a:spcAft>
                <a:spcPts val="0"/>
              </a:spcAft>
              <a:buNone/>
            </a:pPr>
            <a:r>
              <a:rPr lang="en-GB"/>
              <a:t>year</a:t>
            </a:r>
            <a:endParaRPr/>
          </a:p>
          <a:p>
            <a:pPr indent="0" lvl="0" marL="0" rtl="0" algn="l">
              <a:spcBef>
                <a:spcPts val="0"/>
              </a:spcBef>
              <a:spcAft>
                <a:spcPts val="0"/>
              </a:spcAft>
              <a:buNone/>
            </a:pPr>
            <a:r>
              <a:rPr lang="en-GB"/>
              <a:t>description</a:t>
            </a:r>
            <a:endParaRPr/>
          </a:p>
          <a:p>
            <a:pPr indent="0" lvl="0" marL="0" rtl="0" algn="l">
              <a:spcBef>
                <a:spcPts val="0"/>
              </a:spcBef>
              <a:spcAft>
                <a:spcPts val="0"/>
              </a:spcAft>
              <a:buNone/>
            </a:pPr>
            <a:r>
              <a:rPr lang="en-GB"/>
              <a:t>start_date</a:t>
            </a:r>
            <a:endParaRPr/>
          </a:p>
          <a:p>
            <a:pPr indent="0" lvl="0" marL="0" rtl="0" algn="l">
              <a:spcBef>
                <a:spcPts val="0"/>
              </a:spcBef>
              <a:spcAft>
                <a:spcPts val="0"/>
              </a:spcAft>
              <a:buNone/>
            </a:pPr>
            <a:r>
              <a:rPr lang="en-GB"/>
              <a:t>end_date</a:t>
            </a:r>
            <a:endParaRPr/>
          </a:p>
        </p:txBody>
      </p:sp>
      <p:sp>
        <p:nvSpPr>
          <p:cNvPr id="196" name="Google Shape;196;p30"/>
          <p:cNvSpPr/>
          <p:nvPr/>
        </p:nvSpPr>
        <p:spPr>
          <a:xfrm>
            <a:off x="3390675" y="3965100"/>
            <a:ext cx="16998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ProductItem</a:t>
            </a:r>
            <a:r>
              <a:rPr b="1" lang="en-GB"/>
              <a:t>Tbl</a:t>
            </a:r>
            <a:endParaRPr b="1"/>
          </a:p>
        </p:txBody>
      </p:sp>
      <p:sp>
        <p:nvSpPr>
          <p:cNvPr id="197" name="Google Shape;197;p30"/>
          <p:cNvSpPr/>
          <p:nvPr/>
        </p:nvSpPr>
        <p:spPr>
          <a:xfrm>
            <a:off x="3390675" y="4221200"/>
            <a:ext cx="16998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Clr>
                <a:schemeClr val="dk1"/>
              </a:buClr>
              <a:buSzPts val="1100"/>
              <a:buFont typeface="Arial"/>
              <a:buNone/>
            </a:pPr>
            <a:r>
              <a:rPr lang="en-GB">
                <a:solidFill>
                  <a:schemeClr val="dk1"/>
                </a:solidFill>
              </a:rPr>
              <a:t>gender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description</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supplier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manufacturer</a:t>
            </a:r>
            <a:endParaRPr>
              <a:solidFill>
                <a:schemeClr val="dk1"/>
              </a:solidFill>
            </a:endParaRPr>
          </a:p>
          <a:p>
            <a:pPr indent="0" lvl="0" marL="0" rtl="0" algn="l">
              <a:spcBef>
                <a:spcPts val="0"/>
              </a:spcBef>
              <a:spcAft>
                <a:spcPts val="0"/>
              </a:spcAft>
              <a:buNone/>
            </a:pPr>
            <a:r>
              <a:rPr lang="en-GB">
                <a:solidFill>
                  <a:schemeClr val="dk1"/>
                </a:solidFill>
              </a:rPr>
              <a:t>picture</a:t>
            </a:r>
            <a:endParaRPr/>
          </a:p>
        </p:txBody>
      </p:sp>
      <p:sp>
        <p:nvSpPr>
          <p:cNvPr id="198" name="Google Shape;198;p30"/>
          <p:cNvSpPr/>
          <p:nvPr/>
        </p:nvSpPr>
        <p:spPr>
          <a:xfrm>
            <a:off x="2014125" y="5633375"/>
            <a:ext cx="19074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PromoOffering</a:t>
            </a:r>
            <a:r>
              <a:rPr b="1" lang="en-GB"/>
              <a:t>Tbl</a:t>
            </a:r>
            <a:endParaRPr b="1"/>
          </a:p>
        </p:txBody>
      </p:sp>
      <p:sp>
        <p:nvSpPr>
          <p:cNvPr id="199" name="Google Shape;199;p30"/>
          <p:cNvSpPr/>
          <p:nvPr/>
        </p:nvSpPr>
        <p:spPr>
          <a:xfrm>
            <a:off x="2014125" y="5889475"/>
            <a:ext cx="1907400" cy="593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regular_price</a:t>
            </a:r>
            <a:endParaRPr/>
          </a:p>
          <a:p>
            <a:pPr indent="0" lvl="0" marL="0" rtl="0" algn="l">
              <a:spcBef>
                <a:spcPts val="0"/>
              </a:spcBef>
              <a:spcAft>
                <a:spcPts val="0"/>
              </a:spcAft>
              <a:buNone/>
            </a:pPr>
            <a:r>
              <a:rPr lang="en-GB"/>
              <a:t>promo_price</a:t>
            </a:r>
            <a:endParaRPr/>
          </a:p>
        </p:txBody>
      </p:sp>
      <p:sp>
        <p:nvSpPr>
          <p:cNvPr id="200" name="Google Shape;200;p30"/>
          <p:cNvSpPr/>
          <p:nvPr/>
        </p:nvSpPr>
        <p:spPr>
          <a:xfrm>
            <a:off x="5895600" y="4171150"/>
            <a:ext cx="21336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ProductComment</a:t>
            </a:r>
            <a:r>
              <a:rPr b="1" lang="en-GB"/>
              <a:t>Tbl</a:t>
            </a:r>
            <a:endParaRPr b="1"/>
          </a:p>
        </p:txBody>
      </p:sp>
      <p:sp>
        <p:nvSpPr>
          <p:cNvPr id="201" name="Google Shape;201;p30"/>
          <p:cNvSpPr/>
          <p:nvPr/>
        </p:nvSpPr>
        <p:spPr>
          <a:xfrm>
            <a:off x="5895600" y="4427250"/>
            <a:ext cx="21336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time</a:t>
            </a:r>
            <a:endParaRPr/>
          </a:p>
          <a:p>
            <a:pPr indent="0" lvl="0" marL="0" rtl="0" algn="l">
              <a:spcBef>
                <a:spcPts val="0"/>
              </a:spcBef>
              <a:spcAft>
                <a:spcPts val="0"/>
              </a:spcAft>
              <a:buNone/>
            </a:pPr>
            <a:r>
              <a:rPr lang="en-GB"/>
              <a:t>rating</a:t>
            </a:r>
            <a:endParaRPr/>
          </a:p>
          <a:p>
            <a:pPr indent="0" lvl="0" marL="0" rtl="0" algn="l">
              <a:spcBef>
                <a:spcPts val="0"/>
              </a:spcBef>
              <a:spcAft>
                <a:spcPts val="0"/>
              </a:spcAft>
              <a:buNone/>
            </a:pPr>
            <a:r>
              <a:rPr lang="en-GB"/>
              <a:t>comment</a:t>
            </a:r>
            <a:endParaRPr/>
          </a:p>
        </p:txBody>
      </p:sp>
      <p:cxnSp>
        <p:nvCxnSpPr>
          <p:cNvPr id="202" name="Google Shape;202;p30"/>
          <p:cNvCxnSpPr/>
          <p:nvPr/>
        </p:nvCxnSpPr>
        <p:spPr>
          <a:xfrm>
            <a:off x="446375" y="3694575"/>
            <a:ext cx="78075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 Ánh xạ sang CSDL quan hệ</a:t>
            </a:r>
            <a:r>
              <a:rPr baseline="-25000" lang="en-GB"/>
              <a:t>(2)</a:t>
            </a:r>
            <a:endParaRPr baseline="-25000"/>
          </a:p>
        </p:txBody>
      </p:sp>
      <p:sp>
        <p:nvSpPr>
          <p:cNvPr id="208" name="Google Shape;208;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9" name="Google Shape;209;p31"/>
          <p:cNvSpPr txBox="1"/>
          <p:nvPr/>
        </p:nvSpPr>
        <p:spPr>
          <a:xfrm>
            <a:off x="4740175" y="3120150"/>
            <a:ext cx="1233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R6 &amp; R7</a:t>
            </a:r>
            <a:endParaRPr b="1" sz="1800"/>
          </a:p>
        </p:txBody>
      </p:sp>
      <p:sp>
        <p:nvSpPr>
          <p:cNvPr id="210" name="Google Shape;210;p31"/>
          <p:cNvSpPr/>
          <p:nvPr/>
        </p:nvSpPr>
        <p:spPr>
          <a:xfrm>
            <a:off x="3993050" y="3063325"/>
            <a:ext cx="267900" cy="560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1"/>
          <p:cNvSpPr/>
          <p:nvPr/>
        </p:nvSpPr>
        <p:spPr>
          <a:xfrm>
            <a:off x="660550" y="999175"/>
            <a:ext cx="13392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PromotionTbl</a:t>
            </a:r>
            <a:endParaRPr b="1"/>
          </a:p>
        </p:txBody>
      </p:sp>
      <p:sp>
        <p:nvSpPr>
          <p:cNvPr id="212" name="Google Shape;212;p31"/>
          <p:cNvSpPr/>
          <p:nvPr/>
        </p:nvSpPr>
        <p:spPr>
          <a:xfrm>
            <a:off x="660550" y="1255275"/>
            <a:ext cx="13392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season</a:t>
            </a:r>
            <a:endParaRPr/>
          </a:p>
          <a:p>
            <a:pPr indent="0" lvl="0" marL="0" rtl="0" algn="l">
              <a:spcBef>
                <a:spcPts val="0"/>
              </a:spcBef>
              <a:spcAft>
                <a:spcPts val="0"/>
              </a:spcAft>
              <a:buNone/>
            </a:pPr>
            <a:r>
              <a:rPr lang="en-GB"/>
              <a:t>year</a:t>
            </a:r>
            <a:endParaRPr/>
          </a:p>
          <a:p>
            <a:pPr indent="0" lvl="0" marL="0" rtl="0" algn="l">
              <a:spcBef>
                <a:spcPts val="0"/>
              </a:spcBef>
              <a:spcAft>
                <a:spcPts val="0"/>
              </a:spcAft>
              <a:buNone/>
            </a:pPr>
            <a:r>
              <a:rPr lang="en-GB"/>
              <a:t>description</a:t>
            </a:r>
            <a:endParaRPr/>
          </a:p>
          <a:p>
            <a:pPr indent="0" lvl="0" marL="0" rtl="0" algn="l">
              <a:spcBef>
                <a:spcPts val="0"/>
              </a:spcBef>
              <a:spcAft>
                <a:spcPts val="0"/>
              </a:spcAft>
              <a:buNone/>
            </a:pPr>
            <a:r>
              <a:rPr lang="en-GB"/>
              <a:t>start_date</a:t>
            </a:r>
            <a:endParaRPr/>
          </a:p>
          <a:p>
            <a:pPr indent="0" lvl="0" marL="0" rtl="0" algn="l">
              <a:spcBef>
                <a:spcPts val="0"/>
              </a:spcBef>
              <a:spcAft>
                <a:spcPts val="0"/>
              </a:spcAft>
              <a:buNone/>
            </a:pPr>
            <a:r>
              <a:rPr lang="en-GB"/>
              <a:t>end_date</a:t>
            </a:r>
            <a:endParaRPr/>
          </a:p>
        </p:txBody>
      </p:sp>
      <p:sp>
        <p:nvSpPr>
          <p:cNvPr id="213" name="Google Shape;213;p31"/>
          <p:cNvSpPr/>
          <p:nvPr/>
        </p:nvSpPr>
        <p:spPr>
          <a:xfrm>
            <a:off x="3403750" y="999175"/>
            <a:ext cx="16998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ProductItemTbl</a:t>
            </a:r>
            <a:endParaRPr b="1"/>
          </a:p>
        </p:txBody>
      </p:sp>
      <p:sp>
        <p:nvSpPr>
          <p:cNvPr id="214" name="Google Shape;214;p31"/>
          <p:cNvSpPr/>
          <p:nvPr/>
        </p:nvSpPr>
        <p:spPr>
          <a:xfrm>
            <a:off x="3403750" y="1255275"/>
            <a:ext cx="16998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solidFill>
                  <a:schemeClr val="dk1"/>
                </a:solidFill>
              </a:rPr>
              <a:t>gender</a:t>
            </a:r>
            <a:endParaRPr>
              <a:solidFill>
                <a:schemeClr val="dk1"/>
              </a:solidFill>
            </a:endParaRPr>
          </a:p>
          <a:p>
            <a:pPr indent="0" lvl="0" marL="0" rtl="0" algn="l">
              <a:spcBef>
                <a:spcPts val="0"/>
              </a:spcBef>
              <a:spcAft>
                <a:spcPts val="0"/>
              </a:spcAft>
              <a:buNone/>
            </a:pPr>
            <a:r>
              <a:rPr lang="en-GB">
                <a:solidFill>
                  <a:schemeClr val="dk1"/>
                </a:solidFill>
              </a:rPr>
              <a:t>description</a:t>
            </a:r>
            <a:endParaRPr>
              <a:solidFill>
                <a:schemeClr val="dk1"/>
              </a:solidFill>
            </a:endParaRPr>
          </a:p>
          <a:p>
            <a:pPr indent="0" lvl="0" marL="0" rtl="0" algn="l">
              <a:spcBef>
                <a:spcPts val="0"/>
              </a:spcBef>
              <a:spcAft>
                <a:spcPts val="0"/>
              </a:spcAft>
              <a:buNone/>
            </a:pPr>
            <a:r>
              <a:rPr lang="en-GB">
                <a:solidFill>
                  <a:schemeClr val="dk1"/>
                </a:solidFill>
              </a:rPr>
              <a:t>supplier</a:t>
            </a:r>
            <a:endParaRPr>
              <a:solidFill>
                <a:schemeClr val="dk1"/>
              </a:solidFill>
            </a:endParaRPr>
          </a:p>
          <a:p>
            <a:pPr indent="0" lvl="0" marL="0" rtl="0" algn="l">
              <a:spcBef>
                <a:spcPts val="0"/>
              </a:spcBef>
              <a:spcAft>
                <a:spcPts val="0"/>
              </a:spcAft>
              <a:buNone/>
            </a:pPr>
            <a:r>
              <a:rPr lang="en-GB">
                <a:solidFill>
                  <a:schemeClr val="dk1"/>
                </a:solidFill>
              </a:rPr>
              <a:t>manufacturer</a:t>
            </a:r>
            <a:endParaRPr>
              <a:solidFill>
                <a:schemeClr val="dk1"/>
              </a:solidFill>
            </a:endParaRPr>
          </a:p>
          <a:p>
            <a:pPr indent="0" lvl="0" marL="0" rtl="0" algn="l">
              <a:spcBef>
                <a:spcPts val="0"/>
              </a:spcBef>
              <a:spcAft>
                <a:spcPts val="0"/>
              </a:spcAft>
              <a:buNone/>
            </a:pPr>
            <a:r>
              <a:rPr lang="en-GB">
                <a:solidFill>
                  <a:schemeClr val="dk1"/>
                </a:solidFill>
              </a:rPr>
              <a:t>picture</a:t>
            </a:r>
            <a:endParaRPr/>
          </a:p>
        </p:txBody>
      </p:sp>
      <p:sp>
        <p:nvSpPr>
          <p:cNvPr id="215" name="Google Shape;215;p31"/>
          <p:cNvSpPr/>
          <p:nvPr/>
        </p:nvSpPr>
        <p:spPr>
          <a:xfrm>
            <a:off x="1718150" y="2667450"/>
            <a:ext cx="19308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PromoOfferingTbl</a:t>
            </a:r>
            <a:endParaRPr b="1"/>
          </a:p>
        </p:txBody>
      </p:sp>
      <p:sp>
        <p:nvSpPr>
          <p:cNvPr id="216" name="Google Shape;216;p31"/>
          <p:cNvSpPr/>
          <p:nvPr/>
        </p:nvSpPr>
        <p:spPr>
          <a:xfrm>
            <a:off x="1718150" y="2923550"/>
            <a:ext cx="1930800" cy="593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regular_price</a:t>
            </a:r>
            <a:endParaRPr/>
          </a:p>
          <a:p>
            <a:pPr indent="0" lvl="0" marL="0" rtl="0" algn="l">
              <a:spcBef>
                <a:spcPts val="0"/>
              </a:spcBef>
              <a:spcAft>
                <a:spcPts val="0"/>
              </a:spcAft>
              <a:buNone/>
            </a:pPr>
            <a:r>
              <a:rPr lang="en-GB"/>
              <a:t>promo_price</a:t>
            </a:r>
            <a:endParaRPr/>
          </a:p>
        </p:txBody>
      </p:sp>
      <p:sp>
        <p:nvSpPr>
          <p:cNvPr id="217" name="Google Shape;217;p31"/>
          <p:cNvSpPr/>
          <p:nvPr/>
        </p:nvSpPr>
        <p:spPr>
          <a:xfrm>
            <a:off x="5908675" y="1205225"/>
            <a:ext cx="20229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ProductCommentTbl</a:t>
            </a:r>
            <a:endParaRPr b="1"/>
          </a:p>
        </p:txBody>
      </p:sp>
      <p:sp>
        <p:nvSpPr>
          <p:cNvPr id="218" name="Google Shape;218;p31"/>
          <p:cNvSpPr/>
          <p:nvPr/>
        </p:nvSpPr>
        <p:spPr>
          <a:xfrm>
            <a:off x="5908675" y="1461325"/>
            <a:ext cx="2022900" cy="763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lang="en-GB"/>
              <a:t>time</a:t>
            </a:r>
            <a:endParaRPr/>
          </a:p>
          <a:p>
            <a:pPr indent="0" lvl="0" marL="0" rtl="0" algn="l">
              <a:spcBef>
                <a:spcPts val="0"/>
              </a:spcBef>
              <a:spcAft>
                <a:spcPts val="0"/>
              </a:spcAft>
              <a:buNone/>
            </a:pPr>
            <a:r>
              <a:rPr lang="en-GB"/>
              <a:t>rating</a:t>
            </a:r>
            <a:endParaRPr/>
          </a:p>
          <a:p>
            <a:pPr indent="0" lvl="0" marL="0" rtl="0" algn="l">
              <a:spcBef>
                <a:spcPts val="0"/>
              </a:spcBef>
              <a:spcAft>
                <a:spcPts val="0"/>
              </a:spcAft>
              <a:buNone/>
            </a:pPr>
            <a:r>
              <a:rPr lang="en-GB"/>
              <a:t>comment</a:t>
            </a:r>
            <a:endParaRPr/>
          </a:p>
        </p:txBody>
      </p:sp>
      <p:cxnSp>
        <p:nvCxnSpPr>
          <p:cNvPr id="219" name="Google Shape;219;p31"/>
          <p:cNvCxnSpPr/>
          <p:nvPr/>
        </p:nvCxnSpPr>
        <p:spPr>
          <a:xfrm>
            <a:off x="446375" y="3846975"/>
            <a:ext cx="7807500" cy="0"/>
          </a:xfrm>
          <a:prstGeom prst="straightConnector1">
            <a:avLst/>
          </a:prstGeom>
          <a:noFill/>
          <a:ln cap="flat" cmpd="sng" w="28575">
            <a:solidFill>
              <a:schemeClr val="dk2"/>
            </a:solidFill>
            <a:prstDash val="solid"/>
            <a:round/>
            <a:headEnd len="med" w="med" type="none"/>
            <a:tailEnd len="med" w="med" type="none"/>
          </a:ln>
        </p:spPr>
      </p:cxnSp>
      <p:cxnSp>
        <p:nvCxnSpPr>
          <p:cNvPr id="220" name="Google Shape;220;p31"/>
          <p:cNvCxnSpPr/>
          <p:nvPr/>
        </p:nvCxnSpPr>
        <p:spPr>
          <a:xfrm>
            <a:off x="1986675" y="1839650"/>
            <a:ext cx="1404000" cy="0"/>
          </a:xfrm>
          <a:prstGeom prst="straightConnector1">
            <a:avLst/>
          </a:prstGeom>
          <a:noFill/>
          <a:ln cap="flat" cmpd="sng" w="9525">
            <a:solidFill>
              <a:srgbClr val="1155CC"/>
            </a:solidFill>
            <a:prstDash val="solid"/>
            <a:round/>
            <a:headEnd len="med" w="med" type="none"/>
            <a:tailEnd len="med" w="med" type="none"/>
          </a:ln>
        </p:spPr>
      </p:cxnSp>
      <p:cxnSp>
        <p:nvCxnSpPr>
          <p:cNvPr id="221" name="Google Shape;221;p31"/>
          <p:cNvCxnSpPr/>
          <p:nvPr/>
        </p:nvCxnSpPr>
        <p:spPr>
          <a:xfrm>
            <a:off x="2683725" y="1852250"/>
            <a:ext cx="0" cy="809400"/>
          </a:xfrm>
          <a:prstGeom prst="straightConnector1">
            <a:avLst/>
          </a:prstGeom>
          <a:noFill/>
          <a:ln cap="flat" cmpd="sng" w="9525">
            <a:solidFill>
              <a:srgbClr val="1155CC"/>
            </a:solidFill>
            <a:prstDash val="dash"/>
            <a:round/>
            <a:headEnd len="med" w="med" type="none"/>
            <a:tailEnd len="med" w="med" type="none"/>
          </a:ln>
        </p:spPr>
      </p:cxnSp>
      <p:cxnSp>
        <p:nvCxnSpPr>
          <p:cNvPr id="222" name="Google Shape;222;p31"/>
          <p:cNvCxnSpPr/>
          <p:nvPr/>
        </p:nvCxnSpPr>
        <p:spPr>
          <a:xfrm>
            <a:off x="5096825" y="1837250"/>
            <a:ext cx="798900" cy="0"/>
          </a:xfrm>
          <a:prstGeom prst="straightConnector1">
            <a:avLst/>
          </a:prstGeom>
          <a:noFill/>
          <a:ln cap="flat" cmpd="sng" w="9525">
            <a:solidFill>
              <a:srgbClr val="1155CC"/>
            </a:solidFill>
            <a:prstDash val="solid"/>
            <a:round/>
            <a:headEnd len="med" w="med" type="none"/>
            <a:tailEnd len="med" w="med" type="none"/>
          </a:ln>
        </p:spPr>
      </p:cxnSp>
      <p:sp>
        <p:nvSpPr>
          <p:cNvPr id="223" name="Google Shape;223;p31"/>
          <p:cNvSpPr txBox="1"/>
          <p:nvPr/>
        </p:nvSpPr>
        <p:spPr>
          <a:xfrm>
            <a:off x="19866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0..*</a:t>
            </a:r>
            <a:endParaRPr>
              <a:solidFill>
                <a:srgbClr val="1155CC"/>
              </a:solidFill>
            </a:endParaRPr>
          </a:p>
        </p:txBody>
      </p:sp>
      <p:sp>
        <p:nvSpPr>
          <p:cNvPr id="224" name="Google Shape;224;p31"/>
          <p:cNvSpPr txBox="1"/>
          <p:nvPr/>
        </p:nvSpPr>
        <p:spPr>
          <a:xfrm>
            <a:off x="29772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0..*</a:t>
            </a:r>
            <a:endParaRPr>
              <a:solidFill>
                <a:srgbClr val="1155CC"/>
              </a:solidFill>
            </a:endParaRPr>
          </a:p>
        </p:txBody>
      </p:sp>
      <p:sp>
        <p:nvSpPr>
          <p:cNvPr id="225" name="Google Shape;225;p31"/>
          <p:cNvSpPr txBox="1"/>
          <p:nvPr/>
        </p:nvSpPr>
        <p:spPr>
          <a:xfrm>
            <a:off x="54918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0..*</a:t>
            </a:r>
            <a:endParaRPr>
              <a:solidFill>
                <a:srgbClr val="1155CC"/>
              </a:solidFill>
            </a:endParaRPr>
          </a:p>
        </p:txBody>
      </p:sp>
      <p:sp>
        <p:nvSpPr>
          <p:cNvPr id="226" name="Google Shape;226;p31"/>
          <p:cNvSpPr txBox="1"/>
          <p:nvPr/>
        </p:nvSpPr>
        <p:spPr>
          <a:xfrm>
            <a:off x="5034600" y="1488375"/>
            <a:ext cx="60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55CC"/>
                </a:solidFill>
              </a:rPr>
              <a:t>1</a:t>
            </a:r>
            <a:endParaRPr>
              <a:solidFill>
                <a:srgbClr val="1155CC"/>
              </a:solidFill>
            </a:endParaRPr>
          </a:p>
        </p:txBody>
      </p:sp>
      <p:sp>
        <p:nvSpPr>
          <p:cNvPr id="227" name="Google Shape;227;p31"/>
          <p:cNvSpPr/>
          <p:nvPr/>
        </p:nvSpPr>
        <p:spPr>
          <a:xfrm>
            <a:off x="660550" y="3970975"/>
            <a:ext cx="13392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PromotionTbl</a:t>
            </a:r>
            <a:endParaRPr b="1"/>
          </a:p>
        </p:txBody>
      </p:sp>
      <p:sp>
        <p:nvSpPr>
          <p:cNvPr id="228" name="Google Shape;228;p31"/>
          <p:cNvSpPr/>
          <p:nvPr/>
        </p:nvSpPr>
        <p:spPr>
          <a:xfrm>
            <a:off x="660550" y="4227075"/>
            <a:ext cx="1339200" cy="1406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b="1" lang="en-GB" u="sng"/>
              <a:t>id </a:t>
            </a:r>
            <a:r>
              <a:rPr lang="en-GB">
                <a:solidFill>
                  <a:schemeClr val="dk1"/>
                </a:solidFill>
              </a:rPr>
              <a:t>&lt;&lt;PK&gt;&gt;</a:t>
            </a:r>
            <a:endParaRPr b="1" u="sng"/>
          </a:p>
          <a:p>
            <a:pPr indent="0" lvl="0" marL="0" rtl="0" algn="l">
              <a:spcBef>
                <a:spcPts val="0"/>
              </a:spcBef>
              <a:spcAft>
                <a:spcPts val="0"/>
              </a:spcAft>
              <a:buNone/>
            </a:pPr>
            <a:r>
              <a:rPr lang="en-GB"/>
              <a:t>season</a:t>
            </a:r>
            <a:endParaRPr/>
          </a:p>
          <a:p>
            <a:pPr indent="0" lvl="0" marL="0" rtl="0" algn="l">
              <a:spcBef>
                <a:spcPts val="0"/>
              </a:spcBef>
              <a:spcAft>
                <a:spcPts val="0"/>
              </a:spcAft>
              <a:buNone/>
            </a:pPr>
            <a:r>
              <a:rPr lang="en-GB"/>
              <a:t>year</a:t>
            </a:r>
            <a:endParaRPr/>
          </a:p>
          <a:p>
            <a:pPr indent="0" lvl="0" marL="0" rtl="0" algn="l">
              <a:spcBef>
                <a:spcPts val="0"/>
              </a:spcBef>
              <a:spcAft>
                <a:spcPts val="0"/>
              </a:spcAft>
              <a:buNone/>
            </a:pPr>
            <a:r>
              <a:rPr lang="en-GB"/>
              <a:t>description</a:t>
            </a:r>
            <a:endParaRPr/>
          </a:p>
          <a:p>
            <a:pPr indent="0" lvl="0" marL="0" rtl="0" algn="l">
              <a:spcBef>
                <a:spcPts val="0"/>
              </a:spcBef>
              <a:spcAft>
                <a:spcPts val="0"/>
              </a:spcAft>
              <a:buNone/>
            </a:pPr>
            <a:r>
              <a:rPr lang="en-GB"/>
              <a:t>start_date</a:t>
            </a:r>
            <a:endParaRPr/>
          </a:p>
          <a:p>
            <a:pPr indent="0" lvl="0" marL="0" rtl="0" algn="l">
              <a:spcBef>
                <a:spcPts val="0"/>
              </a:spcBef>
              <a:spcAft>
                <a:spcPts val="0"/>
              </a:spcAft>
              <a:buNone/>
            </a:pPr>
            <a:r>
              <a:rPr lang="en-GB"/>
              <a:t>end_date</a:t>
            </a:r>
            <a:endParaRPr/>
          </a:p>
        </p:txBody>
      </p:sp>
      <p:sp>
        <p:nvSpPr>
          <p:cNvPr id="229" name="Google Shape;229;p31"/>
          <p:cNvSpPr/>
          <p:nvPr/>
        </p:nvSpPr>
        <p:spPr>
          <a:xfrm>
            <a:off x="4394350" y="4047175"/>
            <a:ext cx="16998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ProductItemTbl</a:t>
            </a:r>
            <a:endParaRPr b="1"/>
          </a:p>
        </p:txBody>
      </p:sp>
      <p:sp>
        <p:nvSpPr>
          <p:cNvPr id="230" name="Google Shape;230;p31"/>
          <p:cNvSpPr/>
          <p:nvPr/>
        </p:nvSpPr>
        <p:spPr>
          <a:xfrm>
            <a:off x="4394350" y="4303275"/>
            <a:ext cx="1699800" cy="14064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b="1" lang="en-GB" u="sng">
                <a:solidFill>
                  <a:schemeClr val="dk1"/>
                </a:solidFill>
              </a:rPr>
              <a:t>id </a:t>
            </a:r>
            <a:r>
              <a:rPr lang="en-GB">
                <a:solidFill>
                  <a:schemeClr val="dk1"/>
                </a:solidFill>
              </a:rPr>
              <a:t>&lt;&lt;PK&gt;&gt;</a:t>
            </a:r>
            <a:endParaRPr b="1" u="sng">
              <a:solidFill>
                <a:schemeClr val="dk1"/>
              </a:solidFill>
            </a:endParaRPr>
          </a:p>
          <a:p>
            <a:pPr indent="0" lvl="0" marL="0" rtl="0" algn="l">
              <a:spcBef>
                <a:spcPts val="0"/>
              </a:spcBef>
              <a:spcAft>
                <a:spcPts val="0"/>
              </a:spcAft>
              <a:buNone/>
            </a:pPr>
            <a:r>
              <a:rPr lang="en-GB">
                <a:solidFill>
                  <a:schemeClr val="dk1"/>
                </a:solidFill>
              </a:rPr>
              <a:t>gender</a:t>
            </a:r>
            <a:endParaRPr>
              <a:solidFill>
                <a:schemeClr val="dk1"/>
              </a:solidFill>
            </a:endParaRPr>
          </a:p>
          <a:p>
            <a:pPr indent="0" lvl="0" marL="0" rtl="0" algn="l">
              <a:spcBef>
                <a:spcPts val="0"/>
              </a:spcBef>
              <a:spcAft>
                <a:spcPts val="0"/>
              </a:spcAft>
              <a:buNone/>
            </a:pPr>
            <a:r>
              <a:rPr lang="en-GB">
                <a:solidFill>
                  <a:schemeClr val="dk1"/>
                </a:solidFill>
              </a:rPr>
              <a:t>description</a:t>
            </a:r>
            <a:endParaRPr>
              <a:solidFill>
                <a:schemeClr val="dk1"/>
              </a:solidFill>
            </a:endParaRPr>
          </a:p>
          <a:p>
            <a:pPr indent="0" lvl="0" marL="0" rtl="0" algn="l">
              <a:spcBef>
                <a:spcPts val="0"/>
              </a:spcBef>
              <a:spcAft>
                <a:spcPts val="0"/>
              </a:spcAft>
              <a:buNone/>
            </a:pPr>
            <a:r>
              <a:rPr lang="en-GB">
                <a:solidFill>
                  <a:schemeClr val="dk1"/>
                </a:solidFill>
              </a:rPr>
              <a:t>supplier</a:t>
            </a:r>
            <a:endParaRPr>
              <a:solidFill>
                <a:schemeClr val="dk1"/>
              </a:solidFill>
            </a:endParaRPr>
          </a:p>
          <a:p>
            <a:pPr indent="0" lvl="0" marL="0" rtl="0" algn="l">
              <a:spcBef>
                <a:spcPts val="0"/>
              </a:spcBef>
              <a:spcAft>
                <a:spcPts val="0"/>
              </a:spcAft>
              <a:buNone/>
            </a:pPr>
            <a:r>
              <a:rPr lang="en-GB">
                <a:solidFill>
                  <a:schemeClr val="dk1"/>
                </a:solidFill>
              </a:rPr>
              <a:t>manufacturer</a:t>
            </a:r>
            <a:endParaRPr>
              <a:solidFill>
                <a:schemeClr val="dk1"/>
              </a:solidFill>
            </a:endParaRPr>
          </a:p>
          <a:p>
            <a:pPr indent="0" lvl="0" marL="0" rtl="0" algn="l">
              <a:spcBef>
                <a:spcPts val="0"/>
              </a:spcBef>
              <a:spcAft>
                <a:spcPts val="0"/>
              </a:spcAft>
              <a:buNone/>
            </a:pPr>
            <a:r>
              <a:rPr lang="en-GB">
                <a:solidFill>
                  <a:schemeClr val="dk1"/>
                </a:solidFill>
              </a:rPr>
              <a:t>picture</a:t>
            </a:r>
            <a:endParaRPr/>
          </a:p>
        </p:txBody>
      </p:sp>
      <p:sp>
        <p:nvSpPr>
          <p:cNvPr id="231" name="Google Shape;231;p31"/>
          <p:cNvSpPr/>
          <p:nvPr/>
        </p:nvSpPr>
        <p:spPr>
          <a:xfrm>
            <a:off x="2136855" y="5459350"/>
            <a:ext cx="21321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PromoOfferingTbl</a:t>
            </a:r>
            <a:endParaRPr b="1"/>
          </a:p>
        </p:txBody>
      </p:sp>
      <p:sp>
        <p:nvSpPr>
          <p:cNvPr id="232" name="Google Shape;232;p31"/>
          <p:cNvSpPr/>
          <p:nvPr/>
        </p:nvSpPr>
        <p:spPr>
          <a:xfrm>
            <a:off x="2136855" y="5715452"/>
            <a:ext cx="2132100" cy="981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b="1" i="1" lang="en-GB"/>
              <a:t>promotion_id</a:t>
            </a:r>
            <a:r>
              <a:rPr b="1" lang="en-GB"/>
              <a:t> </a:t>
            </a:r>
            <a:r>
              <a:rPr lang="en-GB"/>
              <a:t>&lt;&lt;FK&gt;&gt;</a:t>
            </a:r>
            <a:endParaRPr/>
          </a:p>
          <a:p>
            <a:pPr indent="0" lvl="0" marL="0" rtl="0" algn="l">
              <a:spcBef>
                <a:spcPts val="0"/>
              </a:spcBef>
              <a:spcAft>
                <a:spcPts val="0"/>
              </a:spcAft>
              <a:buNone/>
            </a:pPr>
            <a:r>
              <a:rPr b="1" i="1" lang="en-GB"/>
              <a:t>product_id </a:t>
            </a:r>
            <a:r>
              <a:rPr lang="en-GB"/>
              <a:t>&lt;&lt;FK&gt;&gt;</a:t>
            </a:r>
            <a:endParaRPr/>
          </a:p>
          <a:p>
            <a:pPr indent="0" lvl="0" marL="0" rtl="0" algn="l">
              <a:spcBef>
                <a:spcPts val="0"/>
              </a:spcBef>
              <a:spcAft>
                <a:spcPts val="0"/>
              </a:spcAft>
              <a:buNone/>
            </a:pPr>
            <a:r>
              <a:rPr lang="en-GB"/>
              <a:t>regular_price</a:t>
            </a:r>
            <a:endParaRPr/>
          </a:p>
          <a:p>
            <a:pPr indent="0" lvl="0" marL="0" rtl="0" algn="l">
              <a:spcBef>
                <a:spcPts val="0"/>
              </a:spcBef>
              <a:spcAft>
                <a:spcPts val="0"/>
              </a:spcAft>
              <a:buNone/>
            </a:pPr>
            <a:r>
              <a:rPr lang="en-GB"/>
              <a:t>promo_price</a:t>
            </a:r>
            <a:endParaRPr/>
          </a:p>
        </p:txBody>
      </p:sp>
      <p:sp>
        <p:nvSpPr>
          <p:cNvPr id="233" name="Google Shape;233;p31"/>
          <p:cNvSpPr/>
          <p:nvPr/>
        </p:nvSpPr>
        <p:spPr>
          <a:xfrm>
            <a:off x="6899275" y="4177025"/>
            <a:ext cx="20775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b="1" lang="en-GB"/>
              <a:t>ProductCommentTbl</a:t>
            </a:r>
            <a:endParaRPr b="1"/>
          </a:p>
        </p:txBody>
      </p:sp>
      <p:sp>
        <p:nvSpPr>
          <p:cNvPr id="234" name="Google Shape;234;p31"/>
          <p:cNvSpPr/>
          <p:nvPr/>
        </p:nvSpPr>
        <p:spPr>
          <a:xfrm>
            <a:off x="6899275" y="4433125"/>
            <a:ext cx="2077500" cy="11805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54000" lIns="91425" spcFirstLastPara="1" rIns="91425" wrap="square" tIns="54000">
            <a:noAutofit/>
          </a:bodyPr>
          <a:lstStyle/>
          <a:p>
            <a:pPr indent="0" lvl="0" marL="0" rtl="0" algn="l">
              <a:spcBef>
                <a:spcPts val="0"/>
              </a:spcBef>
              <a:spcAft>
                <a:spcPts val="0"/>
              </a:spcAft>
              <a:buNone/>
            </a:pPr>
            <a:r>
              <a:rPr b="1" lang="en-GB" u="sng"/>
              <a:t>id </a:t>
            </a:r>
            <a:r>
              <a:rPr lang="en-GB">
                <a:solidFill>
                  <a:schemeClr val="dk1"/>
                </a:solidFill>
              </a:rPr>
              <a:t>&lt;&lt;PK&gt;&gt;</a:t>
            </a:r>
            <a:endParaRPr b="1" u="sng"/>
          </a:p>
          <a:p>
            <a:pPr indent="0" lvl="0" marL="0" rtl="0" algn="l">
              <a:spcBef>
                <a:spcPts val="0"/>
              </a:spcBef>
              <a:spcAft>
                <a:spcPts val="0"/>
              </a:spcAft>
              <a:buNone/>
            </a:pPr>
            <a:r>
              <a:rPr lang="en-GB"/>
              <a:t>time</a:t>
            </a:r>
            <a:endParaRPr/>
          </a:p>
          <a:p>
            <a:pPr indent="0" lvl="0" marL="0" rtl="0" algn="l">
              <a:spcBef>
                <a:spcPts val="0"/>
              </a:spcBef>
              <a:spcAft>
                <a:spcPts val="0"/>
              </a:spcAft>
              <a:buNone/>
            </a:pPr>
            <a:r>
              <a:rPr lang="en-GB"/>
              <a:t>rating</a:t>
            </a:r>
            <a:endParaRPr/>
          </a:p>
          <a:p>
            <a:pPr indent="0" lvl="0" marL="0" rtl="0" algn="l">
              <a:spcBef>
                <a:spcPts val="0"/>
              </a:spcBef>
              <a:spcAft>
                <a:spcPts val="0"/>
              </a:spcAft>
              <a:buNone/>
            </a:pPr>
            <a:r>
              <a:rPr lang="en-GB"/>
              <a:t>comment</a:t>
            </a:r>
            <a:endParaRPr/>
          </a:p>
          <a:p>
            <a:pPr indent="0" lvl="0" marL="0" rtl="0" algn="l">
              <a:spcBef>
                <a:spcPts val="0"/>
              </a:spcBef>
              <a:spcAft>
                <a:spcPts val="0"/>
              </a:spcAft>
              <a:buNone/>
            </a:pPr>
            <a:r>
              <a:rPr b="1" i="1" lang="en-GB"/>
              <a:t>product_id</a:t>
            </a:r>
            <a:r>
              <a:rPr b="1" lang="en-GB"/>
              <a:t> </a:t>
            </a:r>
            <a:r>
              <a:rPr lang="en-GB"/>
              <a:t>&lt;&lt;FK&gt;&gt;</a:t>
            </a:r>
            <a:endParaRPr/>
          </a:p>
        </p:txBody>
      </p:sp>
      <p:sp>
        <p:nvSpPr>
          <p:cNvPr id="235" name="Google Shape;235;p31"/>
          <p:cNvSpPr/>
          <p:nvPr/>
        </p:nvSpPr>
        <p:spPr>
          <a:xfrm>
            <a:off x="4268951" y="5705525"/>
            <a:ext cx="477070" cy="397806"/>
          </a:xfrm>
          <a:custGeom>
            <a:rect b="b" l="l" r="r" t="t"/>
            <a:pathLst>
              <a:path extrusionOk="0" h="16232" w="50969">
                <a:moveTo>
                  <a:pt x="0" y="16232"/>
                </a:moveTo>
                <a:lnTo>
                  <a:pt x="50969" y="15908"/>
                </a:lnTo>
                <a:lnTo>
                  <a:pt x="50969" y="0"/>
                </a:lnTo>
              </a:path>
            </a:pathLst>
          </a:custGeom>
          <a:noFill/>
          <a:ln cap="flat" cmpd="sng" w="9525">
            <a:solidFill>
              <a:schemeClr val="dk2"/>
            </a:solidFill>
            <a:prstDash val="solid"/>
            <a:round/>
            <a:headEnd len="med" w="med" type="none"/>
            <a:tailEnd len="med" w="med" type="none"/>
          </a:ln>
        </p:spPr>
      </p:sp>
      <p:cxnSp>
        <p:nvCxnSpPr>
          <p:cNvPr id="236" name="Google Shape;236;p31"/>
          <p:cNvCxnSpPr/>
          <p:nvPr/>
        </p:nvCxnSpPr>
        <p:spPr>
          <a:xfrm rot="10800000">
            <a:off x="6088125" y="4527225"/>
            <a:ext cx="808200" cy="918600"/>
          </a:xfrm>
          <a:prstGeom prst="straightConnector1">
            <a:avLst/>
          </a:prstGeom>
          <a:noFill/>
          <a:ln cap="flat" cmpd="sng" w="9525">
            <a:solidFill>
              <a:schemeClr val="dk2"/>
            </a:solidFill>
            <a:prstDash val="solid"/>
            <a:round/>
            <a:headEnd len="med" w="med" type="none"/>
            <a:tailEnd len="med" w="med" type="none"/>
          </a:ln>
        </p:spPr>
      </p:cxnSp>
      <p:sp>
        <p:nvSpPr>
          <p:cNvPr id="237" name="Google Shape;237;p31"/>
          <p:cNvSpPr/>
          <p:nvPr/>
        </p:nvSpPr>
        <p:spPr>
          <a:xfrm>
            <a:off x="360259" y="4415100"/>
            <a:ext cx="1785525" cy="1485225"/>
          </a:xfrm>
          <a:custGeom>
            <a:rect b="b" l="l" r="r" t="t"/>
            <a:pathLst>
              <a:path extrusionOk="0" h="59409" w="71421">
                <a:moveTo>
                  <a:pt x="12336" y="0"/>
                </a:moveTo>
                <a:lnTo>
                  <a:pt x="0" y="0"/>
                </a:lnTo>
                <a:lnTo>
                  <a:pt x="0" y="59409"/>
                </a:lnTo>
                <a:lnTo>
                  <a:pt x="71421" y="59409"/>
                </a:lnTo>
              </a:path>
            </a:pathLst>
          </a:custGeom>
          <a:noFill/>
          <a:ln cap="flat" cmpd="sng" w="9525">
            <a:solidFill>
              <a:schemeClr val="dk2"/>
            </a:solidFill>
            <a:prstDash val="solid"/>
            <a:round/>
            <a:headEnd len="med" w="med" type="none"/>
            <a:tailEnd len="med" w="med" type="none"/>
          </a:ln>
        </p:spPr>
      </p:sp>
      <p:sp>
        <p:nvSpPr>
          <p:cNvPr id="238" name="Google Shape;238;p31"/>
          <p:cNvSpPr txBox="1"/>
          <p:nvPr/>
        </p:nvSpPr>
        <p:spPr>
          <a:xfrm>
            <a:off x="6104950" y="4300925"/>
            <a:ext cx="54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239" name="Google Shape;239;p31"/>
          <p:cNvSpPr txBox="1"/>
          <p:nvPr/>
        </p:nvSpPr>
        <p:spPr>
          <a:xfrm>
            <a:off x="6434156" y="5291525"/>
            <a:ext cx="54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r>
              <a:rPr lang="en-GB"/>
              <a:t>..*</a:t>
            </a:r>
            <a:endParaRPr/>
          </a:p>
        </p:txBody>
      </p:sp>
      <p:sp>
        <p:nvSpPr>
          <p:cNvPr id="240" name="Google Shape;240;p31"/>
          <p:cNvSpPr txBox="1"/>
          <p:nvPr/>
        </p:nvSpPr>
        <p:spPr>
          <a:xfrm>
            <a:off x="4733350" y="5621477"/>
            <a:ext cx="54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241" name="Google Shape;241;p31"/>
          <p:cNvSpPr txBox="1"/>
          <p:nvPr/>
        </p:nvSpPr>
        <p:spPr>
          <a:xfrm>
            <a:off x="4232740" y="6053525"/>
            <a:ext cx="54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endParaRPr/>
          </a:p>
        </p:txBody>
      </p:sp>
      <p:sp>
        <p:nvSpPr>
          <p:cNvPr id="242" name="Google Shape;242;p31"/>
          <p:cNvSpPr txBox="1"/>
          <p:nvPr/>
        </p:nvSpPr>
        <p:spPr>
          <a:xfrm>
            <a:off x="1718140" y="5824925"/>
            <a:ext cx="54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endParaRPr/>
          </a:p>
        </p:txBody>
      </p:sp>
      <p:sp>
        <p:nvSpPr>
          <p:cNvPr id="243" name="Google Shape;243;p31"/>
          <p:cNvSpPr txBox="1"/>
          <p:nvPr/>
        </p:nvSpPr>
        <p:spPr>
          <a:xfrm>
            <a:off x="194885" y="4097477"/>
            <a:ext cx="548700" cy="3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9" name="Google Shape;249;p32"/>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Đặc tả bảng</a:t>
            </a:r>
            <a:endParaRPr/>
          </a:p>
        </p:txBody>
      </p:sp>
      <p:graphicFrame>
        <p:nvGraphicFramePr>
          <p:cNvPr id="250" name="Google Shape;250;p32"/>
          <p:cNvGraphicFramePr/>
          <p:nvPr/>
        </p:nvGraphicFramePr>
        <p:xfrm>
          <a:off x="495300" y="1143000"/>
          <a:ext cx="3000000" cy="3000000"/>
        </p:xfrm>
        <a:graphic>
          <a:graphicData uri="http://schemas.openxmlformats.org/drawingml/2006/table">
            <a:tbl>
              <a:tblPr>
                <a:noFill/>
                <a:tableStyleId>{79F57D95-B6EA-4ABF-9AA9-D1E840C71FE3}</a:tableStyleId>
              </a:tblPr>
              <a:tblGrid>
                <a:gridCol w="690775"/>
                <a:gridCol w="1192075"/>
                <a:gridCol w="1557950"/>
                <a:gridCol w="2098175"/>
                <a:gridCol w="2378875"/>
              </a:tblGrid>
              <a:tr h="250150">
                <a:tc gridSpan="5">
                  <a:txBody>
                    <a:bodyPr/>
                    <a:lstStyle/>
                    <a:p>
                      <a:pPr indent="0" lvl="0" marL="0" rtl="0" algn="l">
                        <a:spcBef>
                          <a:spcPts val="0"/>
                        </a:spcBef>
                        <a:spcAft>
                          <a:spcPts val="0"/>
                        </a:spcAft>
                        <a:buNone/>
                      </a:pPr>
                      <a:r>
                        <a:rPr b="1" lang="en-GB" sz="1600"/>
                        <a:t>Bảng </a:t>
                      </a:r>
                      <a:r>
                        <a:rPr b="1" lang="en-GB" sz="1600"/>
                        <a:t>ProductCommentTbl</a:t>
                      </a:r>
                      <a:endParaRPr b="1" sz="1600"/>
                    </a:p>
                  </a:txBody>
                  <a:tcPr marT="91425" marB="91425" marR="91425" marL="91425"/>
                </a:tc>
                <a:tc hMerge="1"/>
                <a:tc hMerge="1"/>
                <a:tc hMerge="1"/>
                <a:tc hMerge="1"/>
              </a:tr>
              <a:tr h="250150">
                <a:tc>
                  <a:txBody>
                    <a:bodyPr/>
                    <a:lstStyle/>
                    <a:p>
                      <a:pPr indent="0" lvl="0" marL="0" rtl="0" algn="l">
                        <a:spcBef>
                          <a:spcPts val="0"/>
                        </a:spcBef>
                        <a:spcAft>
                          <a:spcPts val="0"/>
                        </a:spcAft>
                        <a:buNone/>
                      </a:pPr>
                      <a:r>
                        <a:rPr b="1" lang="en-GB" sz="1600"/>
                        <a:t>STT</a:t>
                      </a:r>
                      <a:endParaRPr b="1" sz="1600"/>
                    </a:p>
                  </a:txBody>
                  <a:tcPr marT="91425" marB="91425" marR="91425" marL="91425"/>
                </a:tc>
                <a:tc>
                  <a:txBody>
                    <a:bodyPr/>
                    <a:lstStyle/>
                    <a:p>
                      <a:pPr indent="0" lvl="0" marL="0" rtl="0" algn="l">
                        <a:spcBef>
                          <a:spcPts val="0"/>
                        </a:spcBef>
                        <a:spcAft>
                          <a:spcPts val="0"/>
                        </a:spcAft>
                        <a:buNone/>
                      </a:pPr>
                      <a:r>
                        <a:rPr b="1" lang="en-GB" sz="1600"/>
                        <a:t>Tên cột</a:t>
                      </a:r>
                      <a:endParaRPr b="1" sz="1600"/>
                    </a:p>
                  </a:txBody>
                  <a:tcPr marT="91425" marB="91425" marR="91425" marL="91425"/>
                </a:tc>
                <a:tc>
                  <a:txBody>
                    <a:bodyPr/>
                    <a:lstStyle/>
                    <a:p>
                      <a:pPr indent="0" lvl="0" marL="0" rtl="0" algn="l">
                        <a:spcBef>
                          <a:spcPts val="0"/>
                        </a:spcBef>
                        <a:spcAft>
                          <a:spcPts val="0"/>
                        </a:spcAft>
                        <a:buNone/>
                      </a:pPr>
                      <a:r>
                        <a:rPr b="1" lang="en-GB" sz="1600"/>
                        <a:t>Kiểu dữ liệu</a:t>
                      </a:r>
                      <a:endParaRPr b="1" sz="1600"/>
                    </a:p>
                  </a:txBody>
                  <a:tcPr marT="91425" marB="91425" marR="91425" marL="91425"/>
                </a:tc>
                <a:tc>
                  <a:txBody>
                    <a:bodyPr/>
                    <a:lstStyle/>
                    <a:p>
                      <a:pPr indent="0" lvl="0" marL="0" rtl="0" algn="l">
                        <a:spcBef>
                          <a:spcPts val="0"/>
                        </a:spcBef>
                        <a:spcAft>
                          <a:spcPts val="0"/>
                        </a:spcAft>
                        <a:buNone/>
                      </a:pPr>
                      <a:r>
                        <a:rPr b="1" lang="en-GB" sz="1600"/>
                        <a:t>Ràng buộc</a:t>
                      </a:r>
                      <a:endParaRPr b="1" sz="1600"/>
                    </a:p>
                  </a:txBody>
                  <a:tcPr marT="91425" marB="91425" marR="91425" marL="91425"/>
                </a:tc>
                <a:tc>
                  <a:txBody>
                    <a:bodyPr/>
                    <a:lstStyle/>
                    <a:p>
                      <a:pPr indent="0" lvl="0" marL="0" rtl="0" algn="l">
                        <a:spcBef>
                          <a:spcPts val="0"/>
                        </a:spcBef>
                        <a:spcAft>
                          <a:spcPts val="0"/>
                        </a:spcAft>
                        <a:buNone/>
                      </a:pPr>
                      <a:r>
                        <a:rPr b="1" lang="en-GB" sz="1600"/>
                        <a:t>Ghi chú</a:t>
                      </a:r>
                      <a:endParaRPr b="1" sz="1600"/>
                    </a:p>
                  </a:txBody>
                  <a:tcPr marT="91425" marB="91425" marR="91425" marL="91425"/>
                </a:tc>
              </a:tr>
              <a:tr h="393125">
                <a:tc>
                  <a:txBody>
                    <a:bodyPr/>
                    <a:lstStyle/>
                    <a:p>
                      <a:pPr indent="0" lvl="0" marL="0" rtl="0" algn="l">
                        <a:spcBef>
                          <a:spcPts val="0"/>
                        </a:spcBef>
                        <a:spcAft>
                          <a:spcPts val="0"/>
                        </a:spcAft>
                        <a:buNone/>
                      </a:pPr>
                      <a:r>
                        <a:rPr lang="en-GB" sz="1600"/>
                        <a:t>1</a:t>
                      </a:r>
                      <a:endParaRPr sz="1600"/>
                    </a:p>
                  </a:txBody>
                  <a:tcPr marT="91425" marB="91425" marR="91425" marL="91425"/>
                </a:tc>
                <a:tc>
                  <a:txBody>
                    <a:bodyPr/>
                    <a:lstStyle/>
                    <a:p>
                      <a:pPr indent="0" lvl="0" marL="0" rtl="0" algn="l">
                        <a:spcBef>
                          <a:spcPts val="0"/>
                        </a:spcBef>
                        <a:spcAft>
                          <a:spcPts val="0"/>
                        </a:spcAft>
                        <a:buNone/>
                      </a:pPr>
                      <a:r>
                        <a:rPr lang="en-GB" sz="1600"/>
                        <a:t>id</a:t>
                      </a:r>
                      <a:endParaRPr sz="1600"/>
                    </a:p>
                  </a:txBody>
                  <a:tcPr marT="91425" marB="91425" marR="91425" marL="91425"/>
                </a:tc>
                <a:tc>
                  <a:txBody>
                    <a:bodyPr/>
                    <a:lstStyle/>
                    <a:p>
                      <a:pPr indent="0" lvl="0" marL="0" rtl="0" algn="l">
                        <a:spcBef>
                          <a:spcPts val="0"/>
                        </a:spcBef>
                        <a:spcAft>
                          <a:spcPts val="0"/>
                        </a:spcAft>
                        <a:buNone/>
                      </a:pPr>
                      <a:r>
                        <a:rPr lang="en-GB" sz="1600"/>
                        <a:t>INT</a:t>
                      </a:r>
                      <a:endParaRPr sz="1600"/>
                    </a:p>
                  </a:txBody>
                  <a:tcPr marT="91425" marB="91425" marR="91425" marL="91425"/>
                </a:tc>
                <a:tc>
                  <a:txBody>
                    <a:bodyPr/>
                    <a:lstStyle/>
                    <a:p>
                      <a:pPr indent="0" lvl="0" marL="0" rtl="0" algn="l">
                        <a:spcBef>
                          <a:spcPts val="0"/>
                        </a:spcBef>
                        <a:spcAft>
                          <a:spcPts val="0"/>
                        </a:spcAft>
                        <a:buNone/>
                      </a:pPr>
                      <a:r>
                        <a:rPr lang="en-GB" sz="1600"/>
                        <a:t>AUTO_INCREMENT</a:t>
                      </a:r>
                      <a:endParaRPr sz="1600"/>
                    </a:p>
                  </a:txBody>
                  <a:tcPr marT="91425" marB="91425" marR="91425" marL="91425"/>
                </a:tc>
                <a:tc>
                  <a:txBody>
                    <a:bodyPr/>
                    <a:lstStyle/>
                    <a:p>
                      <a:pPr indent="0" lvl="0" marL="0" rtl="0" algn="l">
                        <a:spcBef>
                          <a:spcPts val="0"/>
                        </a:spcBef>
                        <a:spcAft>
                          <a:spcPts val="0"/>
                        </a:spcAft>
                        <a:buNone/>
                      </a:pPr>
                      <a:r>
                        <a:rPr lang="en-GB" sz="1600"/>
                        <a:t>Mã </a:t>
                      </a:r>
                      <a:r>
                        <a:rPr lang="en-GB" sz="1600"/>
                        <a:t>bình luận</a:t>
                      </a:r>
                      <a:endParaRPr sz="1600"/>
                    </a:p>
                  </a:txBody>
                  <a:tcPr marT="91425" marB="91425" marR="91425" marL="91425"/>
                </a:tc>
              </a:tr>
              <a:tr h="393125">
                <a:tc>
                  <a:txBody>
                    <a:bodyPr/>
                    <a:lstStyle/>
                    <a:p>
                      <a:pPr indent="0" lvl="0" marL="0" rtl="0" algn="l">
                        <a:spcBef>
                          <a:spcPts val="0"/>
                        </a:spcBef>
                        <a:spcAft>
                          <a:spcPts val="0"/>
                        </a:spcAft>
                        <a:buNone/>
                      </a:pPr>
                      <a:r>
                        <a:rPr lang="en-GB" sz="1600"/>
                        <a:t>2</a:t>
                      </a:r>
                      <a:endParaRPr sz="1600"/>
                    </a:p>
                  </a:txBody>
                  <a:tcPr marT="91425" marB="91425" marR="91425" marL="91425"/>
                </a:tc>
                <a:tc>
                  <a:txBody>
                    <a:bodyPr/>
                    <a:lstStyle/>
                    <a:p>
                      <a:pPr indent="0" lvl="0" marL="0" rtl="0" algn="l">
                        <a:spcBef>
                          <a:spcPts val="0"/>
                        </a:spcBef>
                        <a:spcAft>
                          <a:spcPts val="0"/>
                        </a:spcAft>
                        <a:buNone/>
                      </a:pPr>
                      <a:r>
                        <a:rPr lang="en-GB" sz="1600"/>
                        <a:t>time</a:t>
                      </a:r>
                      <a:endParaRPr sz="1600"/>
                    </a:p>
                  </a:txBody>
                  <a:tcPr marT="91425" marB="91425" marR="91425" marL="91425"/>
                </a:tc>
                <a:tc>
                  <a:txBody>
                    <a:bodyPr/>
                    <a:lstStyle/>
                    <a:p>
                      <a:pPr indent="0" lvl="0" marL="0" rtl="0" algn="l">
                        <a:spcBef>
                          <a:spcPts val="0"/>
                        </a:spcBef>
                        <a:spcAft>
                          <a:spcPts val="0"/>
                        </a:spcAft>
                        <a:buNone/>
                      </a:pPr>
                      <a:r>
                        <a:rPr lang="en-GB" sz="1600"/>
                        <a:t>TIMESTAMP</a:t>
                      </a:r>
                      <a:endParaRPr sz="1600"/>
                    </a:p>
                  </a:txBody>
                  <a:tcPr marT="91425" marB="91425" marR="91425" marL="91425"/>
                </a:tc>
                <a:tc>
                  <a:txBody>
                    <a:bodyPr/>
                    <a:lstStyle/>
                    <a:p>
                      <a:pPr indent="0" lvl="0" marL="0" rtl="0" algn="l">
                        <a:spcBef>
                          <a:spcPts val="0"/>
                        </a:spcBef>
                        <a:spcAft>
                          <a:spcPts val="0"/>
                        </a:spcAft>
                        <a:buNone/>
                      </a:pPr>
                      <a:r>
                        <a:rPr lang="en-GB" sz="1600"/>
                        <a:t>NOT NULL</a:t>
                      </a:r>
                      <a:endParaRPr sz="1600"/>
                    </a:p>
                  </a:txBody>
                  <a:tcPr marT="91425" marB="91425" marR="91425" marL="91425"/>
                </a:tc>
                <a:tc>
                  <a:txBody>
                    <a:bodyPr/>
                    <a:lstStyle/>
                    <a:p>
                      <a:pPr indent="0" lvl="0" marL="0" rtl="0" algn="l">
                        <a:spcBef>
                          <a:spcPts val="0"/>
                        </a:spcBef>
                        <a:spcAft>
                          <a:spcPts val="0"/>
                        </a:spcAft>
                        <a:buNone/>
                      </a:pPr>
                      <a:r>
                        <a:rPr lang="en-GB" sz="1600"/>
                        <a:t>Thời điểm bình luận </a:t>
                      </a:r>
                      <a:endParaRPr sz="1600"/>
                    </a:p>
                  </a:txBody>
                  <a:tcPr marT="91425" marB="91425" marR="91425" marL="91425"/>
                </a:tc>
              </a:tr>
              <a:tr h="250150">
                <a:tc>
                  <a:txBody>
                    <a:bodyPr/>
                    <a:lstStyle/>
                    <a:p>
                      <a:pPr indent="0" lvl="0" marL="0" rtl="0" algn="l">
                        <a:spcBef>
                          <a:spcPts val="0"/>
                        </a:spcBef>
                        <a:spcAft>
                          <a:spcPts val="0"/>
                        </a:spcAft>
                        <a:buNone/>
                      </a:pPr>
                      <a:r>
                        <a:rPr lang="en-GB" sz="1600"/>
                        <a:t>3</a:t>
                      </a:r>
                      <a:endParaRPr sz="1600"/>
                    </a:p>
                  </a:txBody>
                  <a:tcPr marT="91425" marB="91425" marR="91425" marL="91425"/>
                </a:tc>
                <a:tc>
                  <a:txBody>
                    <a:bodyPr/>
                    <a:lstStyle/>
                    <a:p>
                      <a:pPr indent="0" lvl="0" marL="0" rtl="0" algn="l">
                        <a:spcBef>
                          <a:spcPts val="0"/>
                        </a:spcBef>
                        <a:spcAft>
                          <a:spcPts val="0"/>
                        </a:spcAft>
                        <a:buNone/>
                      </a:pPr>
                      <a:r>
                        <a:rPr lang="en-GB" sz="1600"/>
                        <a:t>rating</a:t>
                      </a:r>
                      <a:endParaRPr sz="1600"/>
                    </a:p>
                  </a:txBody>
                  <a:tcPr marT="91425" marB="91425" marR="91425" marL="91425"/>
                </a:tc>
                <a:tc>
                  <a:txBody>
                    <a:bodyPr/>
                    <a:lstStyle/>
                    <a:p>
                      <a:pPr indent="0" lvl="0" marL="0" rtl="0" algn="l">
                        <a:spcBef>
                          <a:spcPts val="0"/>
                        </a:spcBef>
                        <a:spcAft>
                          <a:spcPts val="0"/>
                        </a:spcAft>
                        <a:buNone/>
                      </a:pPr>
                      <a:r>
                        <a:rPr lang="en-GB" sz="1600"/>
                        <a:t>INT</a:t>
                      </a:r>
                      <a:endParaRPr sz="1600"/>
                    </a:p>
                  </a:txBody>
                  <a:tcPr marT="91425" marB="91425" marR="91425" marL="91425"/>
                </a:tc>
                <a:tc>
                  <a:txBody>
                    <a:bodyPr/>
                    <a:lstStyle/>
                    <a:p>
                      <a:pPr indent="0" lvl="0" marL="0" rtl="0" algn="l">
                        <a:spcBef>
                          <a:spcPts val="0"/>
                        </a:spcBef>
                        <a:spcAft>
                          <a:spcPts val="0"/>
                        </a:spcAft>
                        <a:buNone/>
                      </a:pPr>
                      <a:r>
                        <a:rPr lang="en-GB" sz="1600"/>
                        <a:t>NOT NULL</a:t>
                      </a:r>
                      <a:endParaRPr sz="1600"/>
                    </a:p>
                  </a:txBody>
                  <a:tcPr marT="91425" marB="91425" marR="91425" marL="91425"/>
                </a:tc>
                <a:tc>
                  <a:txBody>
                    <a:bodyPr/>
                    <a:lstStyle/>
                    <a:p>
                      <a:pPr indent="0" lvl="0" marL="0" rtl="0" algn="l">
                        <a:spcBef>
                          <a:spcPts val="0"/>
                        </a:spcBef>
                        <a:spcAft>
                          <a:spcPts val="0"/>
                        </a:spcAft>
                        <a:buNone/>
                      </a:pPr>
                      <a:r>
                        <a:rPr lang="en-GB" sz="1600"/>
                        <a:t>Điểm bình luận</a:t>
                      </a:r>
                      <a:endParaRPr sz="1600"/>
                    </a:p>
                  </a:txBody>
                  <a:tcPr marT="91425" marB="91425" marR="91425" marL="91425"/>
                </a:tc>
              </a:tr>
              <a:tr h="393125">
                <a:tc>
                  <a:txBody>
                    <a:bodyPr/>
                    <a:lstStyle/>
                    <a:p>
                      <a:pPr indent="0" lvl="0" marL="0" rtl="0" algn="l">
                        <a:spcBef>
                          <a:spcPts val="0"/>
                        </a:spcBef>
                        <a:spcAft>
                          <a:spcPts val="0"/>
                        </a:spcAft>
                        <a:buNone/>
                      </a:pPr>
                      <a:r>
                        <a:rPr lang="en-GB" sz="1600"/>
                        <a:t>4</a:t>
                      </a:r>
                      <a:endParaRPr sz="1600"/>
                    </a:p>
                  </a:txBody>
                  <a:tcPr marT="91425" marB="91425" marR="91425" marL="91425"/>
                </a:tc>
                <a:tc>
                  <a:txBody>
                    <a:bodyPr/>
                    <a:lstStyle/>
                    <a:p>
                      <a:pPr indent="0" lvl="0" marL="0" rtl="0" algn="l">
                        <a:spcBef>
                          <a:spcPts val="0"/>
                        </a:spcBef>
                        <a:spcAft>
                          <a:spcPts val="0"/>
                        </a:spcAft>
                        <a:buNone/>
                      </a:pPr>
                      <a:r>
                        <a:rPr lang="en-GB" sz="1600"/>
                        <a:t>comment</a:t>
                      </a:r>
                      <a:endParaRPr sz="1600"/>
                    </a:p>
                  </a:txBody>
                  <a:tcPr marT="91425" marB="91425" marR="91425" marL="91425"/>
                </a:tc>
                <a:tc>
                  <a:txBody>
                    <a:bodyPr/>
                    <a:lstStyle/>
                    <a:p>
                      <a:pPr indent="0" lvl="0" marL="0" rtl="0" algn="l">
                        <a:spcBef>
                          <a:spcPts val="0"/>
                        </a:spcBef>
                        <a:spcAft>
                          <a:spcPts val="0"/>
                        </a:spcAft>
                        <a:buNone/>
                      </a:pPr>
                      <a:r>
                        <a:rPr lang="en-GB" sz="1600"/>
                        <a:t>TEXT</a:t>
                      </a:r>
                      <a:endParaRPr sz="1600"/>
                    </a:p>
                  </a:txBody>
                  <a:tcPr marT="91425" marB="91425" marR="91425" marL="91425"/>
                </a:tc>
                <a:tc>
                  <a:txBody>
                    <a:bodyPr/>
                    <a:lstStyle/>
                    <a:p>
                      <a:pPr indent="0" lvl="0" marL="0" rtl="0" algn="l">
                        <a:spcBef>
                          <a:spcPts val="0"/>
                        </a:spcBef>
                        <a:spcAft>
                          <a:spcPts val="0"/>
                        </a:spcAft>
                        <a:buNone/>
                      </a:pPr>
                      <a:r>
                        <a:rPr lang="en-GB" sz="1600"/>
                        <a:t>NOT NULL</a:t>
                      </a:r>
                      <a:endParaRPr sz="1600"/>
                    </a:p>
                  </a:txBody>
                  <a:tcPr marT="91425" marB="91425" marR="91425" marL="91425"/>
                </a:tc>
                <a:tc>
                  <a:txBody>
                    <a:bodyPr/>
                    <a:lstStyle/>
                    <a:p>
                      <a:pPr indent="0" lvl="0" marL="0" rtl="0" algn="l">
                        <a:spcBef>
                          <a:spcPts val="0"/>
                        </a:spcBef>
                        <a:spcAft>
                          <a:spcPts val="0"/>
                        </a:spcAft>
                        <a:buNone/>
                      </a:pPr>
                      <a:r>
                        <a:rPr lang="en-GB" sz="1600"/>
                        <a:t>N</a:t>
                      </a:r>
                      <a:r>
                        <a:rPr lang="en-GB" sz="1600"/>
                        <a:t>ội dung bình luận</a:t>
                      </a:r>
                      <a:endParaRPr sz="1600"/>
                    </a:p>
                  </a:txBody>
                  <a:tcPr marT="91425" marB="91425" marR="91425" marL="91425"/>
                </a:tc>
              </a:tr>
              <a:tr h="393125">
                <a:tc>
                  <a:txBody>
                    <a:bodyPr/>
                    <a:lstStyle/>
                    <a:p>
                      <a:pPr indent="0" lvl="0" marL="0" rtl="0" algn="l">
                        <a:spcBef>
                          <a:spcPts val="0"/>
                        </a:spcBef>
                        <a:spcAft>
                          <a:spcPts val="0"/>
                        </a:spcAft>
                        <a:buNone/>
                      </a:pPr>
                      <a:r>
                        <a:rPr lang="en-GB" sz="1600"/>
                        <a:t>5</a:t>
                      </a:r>
                      <a:endParaRPr sz="1600"/>
                    </a:p>
                  </a:txBody>
                  <a:tcPr marT="91425" marB="91425" marR="91425" marL="91425"/>
                </a:tc>
                <a:tc>
                  <a:txBody>
                    <a:bodyPr/>
                    <a:lstStyle/>
                    <a:p>
                      <a:pPr indent="0" lvl="0" marL="0" rtl="0" algn="l">
                        <a:spcBef>
                          <a:spcPts val="0"/>
                        </a:spcBef>
                        <a:spcAft>
                          <a:spcPts val="0"/>
                        </a:spcAft>
                        <a:buNone/>
                      </a:pPr>
                      <a:r>
                        <a:rPr lang="en-GB" sz="1600"/>
                        <a:t>product_id</a:t>
                      </a:r>
                      <a:endParaRPr sz="1600"/>
                    </a:p>
                  </a:txBody>
                  <a:tcPr marT="91425" marB="91425" marR="91425" marL="91425"/>
                </a:tc>
                <a:tc>
                  <a:txBody>
                    <a:bodyPr/>
                    <a:lstStyle/>
                    <a:p>
                      <a:pPr indent="0" lvl="0" marL="0" rtl="0" algn="l">
                        <a:spcBef>
                          <a:spcPts val="0"/>
                        </a:spcBef>
                        <a:spcAft>
                          <a:spcPts val="0"/>
                        </a:spcAft>
                        <a:buNone/>
                      </a:pPr>
                      <a:r>
                        <a:rPr lang="en-GB" sz="1600"/>
                        <a:t>INT</a:t>
                      </a:r>
                      <a:endParaRPr sz="1600"/>
                    </a:p>
                  </a:txBody>
                  <a:tcPr marT="91425" marB="91425" marR="91425" marL="91425"/>
                </a:tc>
                <a:tc>
                  <a:txBody>
                    <a:bodyPr/>
                    <a:lstStyle/>
                    <a:p>
                      <a:pPr indent="0" lvl="0" marL="0" rtl="0" algn="l">
                        <a:spcBef>
                          <a:spcPts val="0"/>
                        </a:spcBef>
                        <a:spcAft>
                          <a:spcPts val="0"/>
                        </a:spcAft>
                        <a:buNone/>
                      </a:pPr>
                      <a:r>
                        <a:rPr lang="en-GB" sz="1600"/>
                        <a:t>NOT NULL</a:t>
                      </a:r>
                      <a:endParaRPr sz="1600"/>
                    </a:p>
                  </a:txBody>
                  <a:tcPr marT="91425" marB="91425" marR="91425" marL="91425"/>
                </a:tc>
                <a:tc>
                  <a:txBody>
                    <a:bodyPr/>
                    <a:lstStyle/>
                    <a:p>
                      <a:pPr indent="0" lvl="0" marL="0" rtl="0" algn="l">
                        <a:spcBef>
                          <a:spcPts val="0"/>
                        </a:spcBef>
                        <a:spcAft>
                          <a:spcPts val="0"/>
                        </a:spcAft>
                        <a:buNone/>
                      </a:pPr>
                      <a:r>
                        <a:rPr lang="en-GB" sz="1600"/>
                        <a:t>Khóa của sản phẩm</a:t>
                      </a:r>
                      <a:endParaRPr sz="1600"/>
                    </a:p>
                  </a:txBody>
                  <a:tcPr marT="91425" marB="91425" marR="91425" marL="91425"/>
                </a:tc>
              </a:tr>
              <a:tr h="250150">
                <a:tc gridSpan="2">
                  <a:txBody>
                    <a:bodyPr/>
                    <a:lstStyle/>
                    <a:p>
                      <a:pPr indent="0" lvl="0" marL="0" rtl="0" algn="l">
                        <a:spcBef>
                          <a:spcPts val="0"/>
                        </a:spcBef>
                        <a:spcAft>
                          <a:spcPts val="0"/>
                        </a:spcAft>
                        <a:buNone/>
                      </a:pPr>
                      <a:r>
                        <a:rPr lang="en-GB" sz="1600"/>
                        <a:t>Khóa chính</a:t>
                      </a:r>
                      <a:endParaRPr sz="1600"/>
                    </a:p>
                  </a:txBody>
                  <a:tcPr marT="91425" marB="91425" marR="91425" marL="91425"/>
                </a:tc>
                <a:tc hMerge="1"/>
                <a:tc gridSpan="3">
                  <a:txBody>
                    <a:bodyPr/>
                    <a:lstStyle/>
                    <a:p>
                      <a:pPr indent="0" lvl="0" marL="0" rtl="0" algn="l">
                        <a:spcBef>
                          <a:spcPts val="0"/>
                        </a:spcBef>
                        <a:spcAft>
                          <a:spcPts val="0"/>
                        </a:spcAft>
                        <a:buNone/>
                      </a:pPr>
                      <a:r>
                        <a:rPr lang="en-GB" sz="1600"/>
                        <a:t>id</a:t>
                      </a:r>
                      <a:endParaRPr sz="1600"/>
                    </a:p>
                  </a:txBody>
                  <a:tcPr marT="91425" marB="91425" marR="91425" marL="91425"/>
                </a:tc>
                <a:tc hMerge="1"/>
                <a:tc hMerge="1"/>
              </a:tr>
              <a:tr h="250150">
                <a:tc gridSpan="2">
                  <a:txBody>
                    <a:bodyPr/>
                    <a:lstStyle/>
                    <a:p>
                      <a:pPr indent="0" lvl="0" marL="0" rtl="0" algn="l">
                        <a:spcBef>
                          <a:spcPts val="0"/>
                        </a:spcBef>
                        <a:spcAft>
                          <a:spcPts val="0"/>
                        </a:spcAft>
                        <a:buNone/>
                      </a:pPr>
                      <a:r>
                        <a:rPr lang="en-GB" sz="1600"/>
                        <a:t>Khóa ngoại</a:t>
                      </a:r>
                      <a:endParaRPr sz="1600"/>
                    </a:p>
                  </a:txBody>
                  <a:tcPr marT="91425" marB="91425" marR="91425" marL="91425"/>
                </a:tc>
                <a:tc hMerge="1"/>
                <a:tc gridSpan="3">
                  <a:txBody>
                    <a:bodyPr/>
                    <a:lstStyle/>
                    <a:p>
                      <a:pPr indent="0" lvl="0" marL="0" rtl="0" algn="l">
                        <a:spcBef>
                          <a:spcPts val="0"/>
                        </a:spcBef>
                        <a:spcAft>
                          <a:spcPts val="0"/>
                        </a:spcAft>
                        <a:buNone/>
                      </a:pPr>
                      <a:r>
                        <a:rPr lang="en-GB" sz="1600"/>
                        <a:t>product_id = ProductTbl.id</a:t>
                      </a:r>
                      <a:endParaRPr sz="1600"/>
                    </a:p>
                  </a:txBody>
                  <a:tcPr marT="91425" marB="91425" marR="91425" marL="91425"/>
                </a:tc>
                <a:tc hMerge="1"/>
                <a:tc hMerge="1"/>
              </a:tr>
            </a:tbl>
          </a:graphicData>
        </a:graphic>
      </p:graphicFrame>
      <p:sp>
        <p:nvSpPr>
          <p:cNvPr id="251" name="Google Shape;251;p32"/>
          <p:cNvSpPr txBox="1"/>
          <p:nvPr/>
        </p:nvSpPr>
        <p:spPr>
          <a:xfrm>
            <a:off x="495300" y="5134150"/>
            <a:ext cx="14202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t>…</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55" name="Shape 255"/>
        <p:cNvGrpSpPr/>
        <p:nvPr/>
      </p:nvGrpSpPr>
      <p:grpSpPr>
        <a:xfrm>
          <a:off x="0" y="0"/>
          <a:ext cx="0" cy="0"/>
          <a:chOff x="0" y="0"/>
          <a:chExt cx="0" cy="0"/>
        </a:xfrm>
      </p:grpSpPr>
      <p:sp>
        <p:nvSpPr>
          <p:cNvPr id="256" name="Google Shape;256;p33"/>
          <p:cNvSpPr txBox="1"/>
          <p:nvPr>
            <p:ph idx="12" type="sldNum"/>
          </p:nvPr>
        </p:nvSpPr>
        <p:spPr>
          <a:xfrm>
            <a:off x="8472458" y="6217622"/>
            <a:ext cx="548700" cy="524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7" name="Google Shape;257;p33"/>
          <p:cNvSpPr txBox="1"/>
          <p:nvPr>
            <p:ph idx="4294967295" type="title"/>
          </p:nvPr>
        </p:nvSpPr>
        <p:spPr>
          <a:xfrm>
            <a:off x="311700" y="212367"/>
            <a:ext cx="8520600" cy="763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lang="en-GB"/>
              <a:t>Lưu trữ </a:t>
            </a:r>
            <a:r>
              <a:rPr lang="en-GB"/>
              <a:t>lớp con </a:t>
            </a:r>
            <a:r>
              <a:rPr lang="en-GB"/>
              <a:t>với RDBMS</a:t>
            </a:r>
            <a:endParaRPr/>
          </a:p>
        </p:txBody>
      </p:sp>
      <p:sp>
        <p:nvSpPr>
          <p:cNvPr id="258" name="Google Shape;258;p33"/>
          <p:cNvSpPr txBox="1"/>
          <p:nvPr>
            <p:ph idx="4294967295" type="body"/>
          </p:nvPr>
        </p:nvSpPr>
        <p:spPr>
          <a:xfrm>
            <a:off x="311700" y="1088400"/>
            <a:ext cx="8520600" cy="53817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None/>
            </a:pPr>
            <a:r>
              <a:rPr lang="en-GB">
                <a:solidFill>
                  <a:srgbClr val="434343"/>
                </a:solidFill>
              </a:rPr>
              <a:t>Có nhiều cách lưu khác nhau:</a:t>
            </a:r>
            <a:endParaRPr>
              <a:solidFill>
                <a:srgbClr val="434343"/>
              </a:solidFill>
            </a:endParaRPr>
          </a:p>
          <a:p>
            <a:pPr indent="-381000" lvl="0" marL="457200" rtl="0" algn="just">
              <a:spcBef>
                <a:spcPts val="1000"/>
              </a:spcBef>
              <a:spcAft>
                <a:spcPts val="0"/>
              </a:spcAft>
              <a:buClr>
                <a:srgbClr val="434343"/>
              </a:buClr>
              <a:buSzPts val="2400"/>
              <a:buAutoNum type="arabicPeriod"/>
            </a:pPr>
            <a:r>
              <a:rPr i="1" lang="en-GB">
                <a:solidFill>
                  <a:schemeClr val="dk1"/>
                </a:solidFill>
              </a:rPr>
              <a:t>Mô phỏng kế thừa</a:t>
            </a:r>
            <a:r>
              <a:rPr lang="en-GB">
                <a:solidFill>
                  <a:schemeClr val="dk1"/>
                </a:solidFill>
                <a:latin typeface="Tahoma"/>
                <a:ea typeface="Tahoma"/>
                <a:cs typeface="Tahoma"/>
                <a:sym typeface="Tahoma"/>
              </a:rPr>
              <a:t>: </a:t>
            </a:r>
            <a:r>
              <a:rPr lang="en-GB"/>
              <a:t>Tạo cho mỗi lớp con 1 bảng lưu các thuộc tính riêng, đồng thời kết nối với bảng tương ứng với lớp cha.</a:t>
            </a:r>
            <a:endParaRPr i="1">
              <a:solidFill>
                <a:srgbClr val="434343"/>
              </a:solidFill>
              <a:latin typeface="Tahoma"/>
              <a:ea typeface="Tahoma"/>
              <a:cs typeface="Tahoma"/>
              <a:sym typeface="Tahoma"/>
            </a:endParaRPr>
          </a:p>
          <a:p>
            <a:pPr indent="-292100" lvl="0" marL="342900" marR="0" rtl="0" algn="just">
              <a:lnSpc>
                <a:spcPct val="115000"/>
              </a:lnSpc>
              <a:spcBef>
                <a:spcPts val="0"/>
              </a:spcBef>
              <a:spcAft>
                <a:spcPts val="0"/>
              </a:spcAft>
              <a:buClr>
                <a:srgbClr val="434343"/>
              </a:buClr>
              <a:buSzPts val="2400"/>
              <a:buFont typeface="Arial"/>
              <a:buAutoNum type="arabicPeriod"/>
            </a:pPr>
            <a:r>
              <a:rPr i="1" lang="en-GB">
                <a:solidFill>
                  <a:srgbClr val="434343"/>
                </a:solidFill>
                <a:latin typeface="Tahoma"/>
                <a:ea typeface="Tahoma"/>
                <a:cs typeface="Tahoma"/>
                <a:sym typeface="Tahoma"/>
              </a:rPr>
              <a:t>Lớp con đầy đủ</a:t>
            </a:r>
            <a:r>
              <a:rPr b="0" i="0" lang="en-GB" sz="2400" u="none">
                <a:solidFill>
                  <a:srgbClr val="434343"/>
                </a:solidFill>
                <a:latin typeface="Tahoma"/>
                <a:ea typeface="Tahoma"/>
                <a:cs typeface="Tahoma"/>
                <a:sym typeface="Tahoma"/>
              </a:rPr>
              <a:t>: </a:t>
            </a:r>
            <a:r>
              <a:rPr lang="en-GB">
                <a:solidFill>
                  <a:srgbClr val="434343"/>
                </a:solidFill>
                <a:latin typeface="Tahoma"/>
                <a:ea typeface="Tahoma"/>
                <a:cs typeface="Tahoma"/>
                <a:sym typeface="Tahoma"/>
              </a:rPr>
              <a:t>Tạo </a:t>
            </a:r>
            <a:r>
              <a:rPr lang="en-GB" sz="2400">
                <a:solidFill>
                  <a:srgbClr val="434343"/>
                </a:solidFill>
              </a:rPr>
              <a:t>cho mỗi </a:t>
            </a:r>
            <a:r>
              <a:rPr lang="en-GB">
                <a:solidFill>
                  <a:srgbClr val="434343"/>
                </a:solidFill>
              </a:rPr>
              <a:t>lớp</a:t>
            </a:r>
            <a:r>
              <a:rPr lang="en-GB" sz="2400">
                <a:solidFill>
                  <a:srgbClr val="434343"/>
                </a:solidFill>
              </a:rPr>
              <a:t> con 1 </a:t>
            </a:r>
            <a:r>
              <a:rPr lang="en-GB">
                <a:solidFill>
                  <a:srgbClr val="434343"/>
                </a:solidFill>
              </a:rPr>
              <a:t>bảng lưu đầy đủ các thuộc tính, bao gồm cả thuộc tính riêng và thuộc tính kế thừa từ các lớp cha</a:t>
            </a:r>
            <a:r>
              <a:rPr b="0" i="0" lang="en-GB" sz="2400" u="none">
                <a:solidFill>
                  <a:srgbClr val="434343"/>
                </a:solidFill>
                <a:latin typeface="Tahoma"/>
                <a:ea typeface="Tahoma"/>
                <a:cs typeface="Tahoma"/>
                <a:sym typeface="Tahoma"/>
              </a:rPr>
              <a:t>.</a:t>
            </a:r>
            <a:endParaRPr sz="2400">
              <a:solidFill>
                <a:srgbClr val="434343"/>
              </a:solidFill>
            </a:endParaRPr>
          </a:p>
          <a:p>
            <a:pPr indent="-292100" lvl="0" marL="342900" marR="0" rtl="0" algn="just">
              <a:lnSpc>
                <a:spcPct val="115000"/>
              </a:lnSpc>
              <a:spcBef>
                <a:spcPts val="640"/>
              </a:spcBef>
              <a:spcAft>
                <a:spcPts val="0"/>
              </a:spcAft>
              <a:buClr>
                <a:srgbClr val="000000"/>
              </a:buClr>
              <a:buSzPts val="2400"/>
              <a:buFont typeface="Arial"/>
              <a:buAutoNum type="arabicPeriod"/>
            </a:pPr>
            <a:r>
              <a:rPr i="1" lang="en-GB">
                <a:solidFill>
                  <a:srgbClr val="434343"/>
                </a:solidFill>
                <a:latin typeface="Tahoma"/>
                <a:ea typeface="Tahoma"/>
                <a:cs typeface="Tahoma"/>
                <a:sym typeface="Tahoma"/>
              </a:rPr>
              <a:t>Làm phẳng cây kế thừa</a:t>
            </a:r>
            <a:r>
              <a:rPr b="0" i="0" lang="en-GB" sz="2400" u="none">
                <a:solidFill>
                  <a:srgbClr val="434343"/>
                </a:solidFill>
                <a:latin typeface="Tahoma"/>
                <a:ea typeface="Tahoma"/>
                <a:cs typeface="Tahoma"/>
                <a:sym typeface="Tahoma"/>
              </a:rPr>
              <a:t>:</a:t>
            </a:r>
            <a:r>
              <a:rPr b="0" i="0" lang="en-GB" sz="2400" u="none">
                <a:solidFill>
                  <a:schemeClr val="dk1"/>
                </a:solidFill>
                <a:latin typeface="Tahoma"/>
                <a:ea typeface="Tahoma"/>
                <a:cs typeface="Tahoma"/>
                <a:sym typeface="Tahoma"/>
              </a:rPr>
              <a:t> </a:t>
            </a:r>
            <a:r>
              <a:rPr lang="en-GB"/>
              <a:t>Tạo 1 bảng cho 1 cây kế thừa với tất cả các thuộc tính trong cây kế thừa.</a:t>
            </a:r>
            <a:endParaRPr sz="2400"/>
          </a:p>
          <a:p>
            <a:pPr indent="-323850" lvl="1" marL="742950" marR="0" rtl="0" algn="just">
              <a:lnSpc>
                <a:spcPct val="115000"/>
              </a:lnSpc>
              <a:spcBef>
                <a:spcPts val="640"/>
              </a:spcBef>
              <a:spcAft>
                <a:spcPts val="0"/>
              </a:spcAft>
              <a:buClr>
                <a:srgbClr val="000000"/>
              </a:buClr>
              <a:buSzPts val="2400"/>
              <a:buFont typeface="Arial"/>
              <a:buChar char="●"/>
            </a:pPr>
            <a:r>
              <a:rPr lang="en-GB" sz="2400"/>
              <a:t>Các </a:t>
            </a:r>
            <a:r>
              <a:rPr lang="en-GB" sz="2400"/>
              <a:t>đối tượng</a:t>
            </a:r>
            <a:r>
              <a:rPr b="0" i="0" lang="en-GB" sz="2400" u="none">
                <a:solidFill>
                  <a:schemeClr val="dk1"/>
                </a:solidFill>
                <a:latin typeface="Tahoma"/>
                <a:ea typeface="Tahoma"/>
                <a:cs typeface="Tahoma"/>
                <a:sym typeface="Tahoma"/>
              </a:rPr>
              <a:t> </a:t>
            </a:r>
            <a:r>
              <a:rPr lang="en-GB" sz="2400"/>
              <a:t>nhận giá trị </a:t>
            </a:r>
            <a:r>
              <a:rPr b="0" i="0" lang="en-GB" sz="2400" u="none">
                <a:solidFill>
                  <a:schemeClr val="dk1"/>
                </a:solidFill>
                <a:latin typeface="Tahoma"/>
                <a:ea typeface="Tahoma"/>
                <a:cs typeface="Tahoma"/>
                <a:sym typeface="Tahoma"/>
              </a:rPr>
              <a:t>NULL </a:t>
            </a:r>
            <a:r>
              <a:rPr lang="en-GB" sz="2400"/>
              <a:t>cho các thuộc tính không thuộc về chúng</a:t>
            </a:r>
            <a:r>
              <a:rPr b="0" i="0" lang="en-GB" sz="2400" u="none">
                <a:solidFill>
                  <a:schemeClr val="dk1"/>
                </a:solidFill>
                <a:latin typeface="Tahoma"/>
                <a:ea typeface="Tahoma"/>
                <a:cs typeface="Tahoma"/>
                <a:sym typeface="Tahoma"/>
              </a:rPr>
              <a:t>.</a:t>
            </a:r>
            <a:endParaRPr b="0" i="0" sz="2400" u="none">
              <a:solidFill>
                <a:schemeClr val="dk1"/>
              </a:solidFill>
              <a:latin typeface="Tahoma"/>
              <a:ea typeface="Tahoma"/>
              <a:cs typeface="Tahoma"/>
              <a:sym typeface="Tahoma"/>
            </a:endParaRPr>
          </a:p>
          <a:p>
            <a:pPr indent="-323850" lvl="1" marL="742950" marR="0" rtl="0" algn="just">
              <a:lnSpc>
                <a:spcPct val="115000"/>
              </a:lnSpc>
              <a:spcBef>
                <a:spcPts val="640"/>
              </a:spcBef>
              <a:spcAft>
                <a:spcPts val="0"/>
              </a:spcAft>
              <a:buClr>
                <a:schemeClr val="dk1"/>
              </a:buClr>
              <a:buSzPts val="2400"/>
              <a:buFont typeface="Tahoma"/>
              <a:buChar char="●"/>
            </a:pPr>
            <a:r>
              <a:rPr lang="en-GB" sz="2400"/>
              <a:t>Dữ liệu có thể ở dạng phi chuẩn.</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p34"/>
          <p:cNvSpPr txBox="1"/>
          <p:nvPr>
            <p:ph idx="12" type="sldNum"/>
          </p:nvPr>
        </p:nvSpPr>
        <p:spPr>
          <a:xfrm>
            <a:off x="8472458" y="6217622"/>
            <a:ext cx="548700" cy="524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64" name="Google Shape;264;p34"/>
          <p:cNvSpPr txBox="1"/>
          <p:nvPr>
            <p:ph type="title"/>
          </p:nvPr>
        </p:nvSpPr>
        <p:spPr>
          <a:xfrm>
            <a:off x="311700" y="186967"/>
            <a:ext cx="8520600" cy="763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3CC33"/>
              </a:buClr>
              <a:buSzPts val="4400"/>
              <a:buFont typeface="Tahoma"/>
              <a:buNone/>
            </a:pPr>
            <a:r>
              <a:rPr lang="en-GB">
                <a:solidFill>
                  <a:srgbClr val="000000"/>
                </a:solidFill>
              </a:rPr>
              <a:t>Ví dụ </a:t>
            </a:r>
            <a:r>
              <a:rPr lang="en-GB">
                <a:solidFill>
                  <a:srgbClr val="000000"/>
                </a:solidFill>
              </a:rPr>
              <a:t>2. </a:t>
            </a:r>
            <a:r>
              <a:rPr lang="en-GB">
                <a:solidFill>
                  <a:srgbClr val="000000"/>
                </a:solidFill>
                <a:latin typeface="Tahoma"/>
                <a:ea typeface="Tahoma"/>
                <a:cs typeface="Tahoma"/>
                <a:sym typeface="Tahoma"/>
              </a:rPr>
              <a:t>Quan hệ kế thừa</a:t>
            </a:r>
            <a:endParaRPr>
              <a:solidFill>
                <a:srgbClr val="000000"/>
              </a:solidFill>
            </a:endParaRPr>
          </a:p>
        </p:txBody>
      </p:sp>
      <p:sp>
        <p:nvSpPr>
          <p:cNvPr id="265" name="Google Shape;265;p34"/>
          <p:cNvSpPr txBox="1"/>
          <p:nvPr/>
        </p:nvSpPr>
        <p:spPr>
          <a:xfrm>
            <a:off x="6280775" y="2474625"/>
            <a:ext cx="1645800" cy="838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2400">
                <a:solidFill>
                  <a:srgbClr val="666666"/>
                </a:solidFill>
                <a:latin typeface="Tahoma"/>
                <a:ea typeface="Tahoma"/>
                <a:cs typeface="Tahoma"/>
                <a:sym typeface="Tahoma"/>
              </a:rPr>
              <a:t>Sách</a:t>
            </a:r>
            <a:endParaRPr>
              <a:solidFill>
                <a:srgbClr val="666666"/>
              </a:solidFill>
            </a:endParaRPr>
          </a:p>
        </p:txBody>
      </p:sp>
      <p:sp>
        <p:nvSpPr>
          <p:cNvPr id="266" name="Google Shape;266;p34"/>
          <p:cNvSpPr txBox="1"/>
          <p:nvPr/>
        </p:nvSpPr>
        <p:spPr>
          <a:xfrm>
            <a:off x="6280775" y="4617518"/>
            <a:ext cx="1645800" cy="838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2400">
                <a:solidFill>
                  <a:srgbClr val="666666"/>
                </a:solidFill>
                <a:latin typeface="Tahoma"/>
                <a:ea typeface="Tahoma"/>
                <a:cs typeface="Tahoma"/>
                <a:sym typeface="Tahoma"/>
              </a:rPr>
              <a:t>GiáoTrình</a:t>
            </a:r>
            <a:endParaRPr>
              <a:solidFill>
                <a:srgbClr val="666666"/>
              </a:solidFill>
            </a:endParaRPr>
          </a:p>
        </p:txBody>
      </p:sp>
      <p:sp>
        <p:nvSpPr>
          <p:cNvPr id="267" name="Google Shape;267;p34"/>
          <p:cNvSpPr/>
          <p:nvPr/>
        </p:nvSpPr>
        <p:spPr>
          <a:xfrm>
            <a:off x="6653400" y="3603250"/>
            <a:ext cx="916200" cy="524700"/>
          </a:xfrm>
          <a:prstGeom prst="triangle">
            <a:avLst>
              <a:gd fmla="val 50000"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1500">
                <a:solidFill>
                  <a:srgbClr val="666666"/>
                </a:solidFill>
                <a:latin typeface="Tahoma"/>
                <a:ea typeface="Tahoma"/>
                <a:cs typeface="Tahoma"/>
                <a:sym typeface="Tahoma"/>
              </a:rPr>
              <a:t>I</a:t>
            </a:r>
            <a:r>
              <a:rPr b="0" i="0" lang="en-GB" sz="1500" u="none">
                <a:solidFill>
                  <a:srgbClr val="666666"/>
                </a:solidFill>
                <a:latin typeface="Tahoma"/>
                <a:ea typeface="Tahoma"/>
                <a:cs typeface="Tahoma"/>
                <a:sym typeface="Tahoma"/>
              </a:rPr>
              <a:t>sa</a:t>
            </a:r>
            <a:endParaRPr sz="500">
              <a:solidFill>
                <a:srgbClr val="666666"/>
              </a:solidFill>
            </a:endParaRPr>
          </a:p>
        </p:txBody>
      </p:sp>
      <p:sp>
        <p:nvSpPr>
          <p:cNvPr id="268" name="Google Shape;268;p34"/>
          <p:cNvSpPr/>
          <p:nvPr/>
        </p:nvSpPr>
        <p:spPr>
          <a:xfrm>
            <a:off x="4283979" y="2558259"/>
            <a:ext cx="1463100" cy="672900"/>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2400">
                <a:solidFill>
                  <a:srgbClr val="666666"/>
                </a:solidFill>
                <a:latin typeface="Tahoma"/>
                <a:ea typeface="Tahoma"/>
                <a:cs typeface="Tahoma"/>
                <a:sym typeface="Tahoma"/>
              </a:rPr>
              <a:t>Tên</a:t>
            </a:r>
            <a:endParaRPr>
              <a:solidFill>
                <a:srgbClr val="666666"/>
              </a:solidFill>
            </a:endParaRPr>
          </a:p>
        </p:txBody>
      </p:sp>
      <p:sp>
        <p:nvSpPr>
          <p:cNvPr id="269" name="Google Shape;269;p34"/>
          <p:cNvSpPr/>
          <p:nvPr/>
        </p:nvSpPr>
        <p:spPr>
          <a:xfrm>
            <a:off x="7466550" y="1402274"/>
            <a:ext cx="1463100" cy="672900"/>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2400">
                <a:solidFill>
                  <a:srgbClr val="666666"/>
                </a:solidFill>
                <a:latin typeface="Tahoma"/>
                <a:ea typeface="Tahoma"/>
                <a:cs typeface="Tahoma"/>
                <a:sym typeface="Tahoma"/>
              </a:rPr>
              <a:t>NXB</a:t>
            </a:r>
            <a:endParaRPr>
              <a:solidFill>
                <a:srgbClr val="666666"/>
              </a:solidFill>
            </a:endParaRPr>
          </a:p>
        </p:txBody>
      </p:sp>
      <p:sp>
        <p:nvSpPr>
          <p:cNvPr id="270" name="Google Shape;270;p34"/>
          <p:cNvSpPr/>
          <p:nvPr/>
        </p:nvSpPr>
        <p:spPr>
          <a:xfrm>
            <a:off x="4302565" y="4729872"/>
            <a:ext cx="1463100" cy="612600"/>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2400">
                <a:solidFill>
                  <a:srgbClr val="666666"/>
                </a:solidFill>
                <a:latin typeface="Tahoma"/>
                <a:ea typeface="Tahoma"/>
                <a:cs typeface="Tahoma"/>
                <a:sym typeface="Tahoma"/>
              </a:rPr>
              <a:t>CTĐT</a:t>
            </a:r>
            <a:endParaRPr>
              <a:solidFill>
                <a:srgbClr val="666666"/>
              </a:solidFill>
            </a:endParaRPr>
          </a:p>
        </p:txBody>
      </p:sp>
      <p:cxnSp>
        <p:nvCxnSpPr>
          <p:cNvPr id="271" name="Google Shape;271;p34"/>
          <p:cNvCxnSpPr>
            <a:stCxn id="268" idx="6"/>
            <a:endCxn id="265" idx="1"/>
          </p:cNvCxnSpPr>
          <p:nvPr/>
        </p:nvCxnSpPr>
        <p:spPr>
          <a:xfrm flipH="1" rot="10800000">
            <a:off x="5747079" y="2893809"/>
            <a:ext cx="533700" cy="900"/>
          </a:xfrm>
          <a:prstGeom prst="straightConnector1">
            <a:avLst/>
          </a:prstGeom>
          <a:noFill/>
          <a:ln cap="flat" cmpd="sng" w="9525">
            <a:solidFill>
              <a:schemeClr val="dk1"/>
            </a:solidFill>
            <a:prstDash val="solid"/>
            <a:miter lim="800000"/>
            <a:headEnd len="med" w="med" type="none"/>
            <a:tailEnd len="med" w="med" type="none"/>
          </a:ln>
        </p:spPr>
      </p:cxnSp>
      <p:cxnSp>
        <p:nvCxnSpPr>
          <p:cNvPr id="272" name="Google Shape;272;p34"/>
          <p:cNvCxnSpPr>
            <a:stCxn id="269" idx="3"/>
          </p:cNvCxnSpPr>
          <p:nvPr/>
        </p:nvCxnSpPr>
        <p:spPr>
          <a:xfrm flipH="1">
            <a:off x="7360716" y="1976630"/>
            <a:ext cx="320100" cy="499800"/>
          </a:xfrm>
          <a:prstGeom prst="straightConnector1">
            <a:avLst/>
          </a:prstGeom>
          <a:noFill/>
          <a:ln cap="flat" cmpd="sng" w="9525">
            <a:solidFill>
              <a:schemeClr val="dk1"/>
            </a:solidFill>
            <a:prstDash val="solid"/>
            <a:miter lim="800000"/>
            <a:headEnd len="med" w="med" type="none"/>
            <a:tailEnd len="med" w="med" type="none"/>
          </a:ln>
        </p:spPr>
      </p:cxnSp>
      <p:cxnSp>
        <p:nvCxnSpPr>
          <p:cNvPr id="273" name="Google Shape;273;p34"/>
          <p:cNvCxnSpPr>
            <a:stCxn id="267" idx="0"/>
            <a:endCxn id="265" idx="2"/>
          </p:cNvCxnSpPr>
          <p:nvPr/>
        </p:nvCxnSpPr>
        <p:spPr>
          <a:xfrm rot="10800000">
            <a:off x="7103700" y="3312850"/>
            <a:ext cx="7800" cy="290400"/>
          </a:xfrm>
          <a:prstGeom prst="straightConnector1">
            <a:avLst/>
          </a:prstGeom>
          <a:noFill/>
          <a:ln cap="flat" cmpd="sng" w="9525">
            <a:solidFill>
              <a:schemeClr val="dk1"/>
            </a:solidFill>
            <a:prstDash val="solid"/>
            <a:miter lim="800000"/>
            <a:headEnd len="med" w="med" type="none"/>
            <a:tailEnd len="med" w="med" type="none"/>
          </a:ln>
        </p:spPr>
      </p:cxnSp>
      <p:cxnSp>
        <p:nvCxnSpPr>
          <p:cNvPr id="274" name="Google Shape;274;p34"/>
          <p:cNvCxnSpPr>
            <a:stCxn id="267" idx="3"/>
            <a:endCxn id="266" idx="0"/>
          </p:cNvCxnSpPr>
          <p:nvPr/>
        </p:nvCxnSpPr>
        <p:spPr>
          <a:xfrm flipH="1">
            <a:off x="7103700" y="4127950"/>
            <a:ext cx="7800" cy="489600"/>
          </a:xfrm>
          <a:prstGeom prst="straightConnector1">
            <a:avLst/>
          </a:prstGeom>
          <a:noFill/>
          <a:ln cap="flat" cmpd="sng" w="9525">
            <a:solidFill>
              <a:schemeClr val="dk1"/>
            </a:solidFill>
            <a:prstDash val="solid"/>
            <a:miter lim="800000"/>
            <a:headEnd len="med" w="med" type="none"/>
            <a:tailEnd len="med" w="med" type="none"/>
          </a:ln>
        </p:spPr>
      </p:cxnSp>
      <p:cxnSp>
        <p:nvCxnSpPr>
          <p:cNvPr id="275" name="Google Shape;275;p34"/>
          <p:cNvCxnSpPr>
            <a:stCxn id="270" idx="6"/>
            <a:endCxn id="266" idx="1"/>
          </p:cNvCxnSpPr>
          <p:nvPr/>
        </p:nvCxnSpPr>
        <p:spPr>
          <a:xfrm>
            <a:off x="5765665" y="5036172"/>
            <a:ext cx="515100" cy="300"/>
          </a:xfrm>
          <a:prstGeom prst="straightConnector1">
            <a:avLst/>
          </a:prstGeom>
          <a:noFill/>
          <a:ln cap="flat" cmpd="sng" w="9525">
            <a:solidFill>
              <a:schemeClr val="dk1"/>
            </a:solidFill>
            <a:prstDash val="solid"/>
            <a:miter lim="800000"/>
            <a:headEnd len="med" w="med" type="none"/>
            <a:tailEnd len="med" w="med" type="none"/>
          </a:ln>
        </p:spPr>
      </p:cxnSp>
      <p:sp>
        <p:nvSpPr>
          <p:cNvPr id="276" name="Google Shape;276;p34"/>
          <p:cNvSpPr/>
          <p:nvPr/>
        </p:nvSpPr>
        <p:spPr>
          <a:xfrm>
            <a:off x="5632682" y="1406913"/>
            <a:ext cx="1463100" cy="672900"/>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lang="en-GB" sz="2400" u="sng">
                <a:solidFill>
                  <a:srgbClr val="666666"/>
                </a:solidFill>
                <a:latin typeface="Tahoma"/>
                <a:ea typeface="Tahoma"/>
                <a:cs typeface="Tahoma"/>
                <a:sym typeface="Tahoma"/>
              </a:rPr>
              <a:t>MãXB</a:t>
            </a:r>
            <a:endParaRPr u="sng">
              <a:solidFill>
                <a:srgbClr val="666666"/>
              </a:solidFill>
            </a:endParaRPr>
          </a:p>
        </p:txBody>
      </p:sp>
      <p:cxnSp>
        <p:nvCxnSpPr>
          <p:cNvPr id="277" name="Google Shape;277;p34"/>
          <p:cNvCxnSpPr>
            <a:stCxn id="276" idx="4"/>
            <a:endCxn id="265" idx="0"/>
          </p:cNvCxnSpPr>
          <p:nvPr/>
        </p:nvCxnSpPr>
        <p:spPr>
          <a:xfrm>
            <a:off x="6364232" y="2079813"/>
            <a:ext cx="739500" cy="394800"/>
          </a:xfrm>
          <a:prstGeom prst="straightConnector1">
            <a:avLst/>
          </a:prstGeom>
          <a:noFill/>
          <a:ln cap="flat" cmpd="sng" w="9525">
            <a:solidFill>
              <a:schemeClr val="dk2"/>
            </a:solidFill>
            <a:prstDash val="solid"/>
            <a:round/>
            <a:headEnd len="med" w="med" type="none"/>
            <a:tailEnd len="med" w="med" type="none"/>
          </a:ln>
        </p:spPr>
      </p:cxnSp>
      <p:graphicFrame>
        <p:nvGraphicFramePr>
          <p:cNvPr id="278" name="Google Shape;278;p34"/>
          <p:cNvGraphicFramePr/>
          <p:nvPr/>
        </p:nvGraphicFramePr>
        <p:xfrm>
          <a:off x="412600" y="1222950"/>
          <a:ext cx="3000000" cy="3000000"/>
        </p:xfrm>
        <a:graphic>
          <a:graphicData uri="http://schemas.openxmlformats.org/drawingml/2006/table">
            <a:tbl>
              <a:tblPr>
                <a:noFill/>
                <a:tableStyleId>{79F57D95-B6EA-4ABF-9AA9-D1E840C71FE3}</a:tableStyleId>
              </a:tblPr>
              <a:tblGrid>
                <a:gridCol w="3136275"/>
              </a:tblGrid>
              <a:tr h="502500">
                <a:tc>
                  <a:txBody>
                    <a:bodyPr/>
                    <a:lstStyle/>
                    <a:p>
                      <a:pPr indent="0" lvl="0" marL="0" rtl="0" algn="ctr">
                        <a:spcBef>
                          <a:spcPts val="0"/>
                        </a:spcBef>
                        <a:spcAft>
                          <a:spcPts val="0"/>
                        </a:spcAft>
                        <a:buNone/>
                      </a:pPr>
                      <a:r>
                        <a:rPr lang="en-GB" sz="2400">
                          <a:solidFill>
                            <a:srgbClr val="666666"/>
                          </a:solidFill>
                        </a:rPr>
                        <a:t>Sách</a:t>
                      </a:r>
                      <a:endParaRPr sz="2400">
                        <a:solidFill>
                          <a:srgbClr val="666666"/>
                        </a:solidFill>
                      </a:endParaRPr>
                    </a:p>
                  </a:txBody>
                  <a:tcPr marT="91425" marB="91425" marR="91425" marL="91425"/>
                </a:tc>
              </a:tr>
              <a:tr h="1172550">
                <a:tc>
                  <a:txBody>
                    <a:bodyPr/>
                    <a:lstStyle/>
                    <a:p>
                      <a:pPr indent="0" lvl="0" marL="0" rtl="0" algn="l">
                        <a:spcBef>
                          <a:spcPts val="0"/>
                        </a:spcBef>
                        <a:spcAft>
                          <a:spcPts val="0"/>
                        </a:spcAft>
                        <a:buNone/>
                      </a:pPr>
                      <a:r>
                        <a:rPr lang="en-GB" sz="2400">
                          <a:solidFill>
                            <a:srgbClr val="666666"/>
                          </a:solidFill>
                        </a:rPr>
                        <a:t>Mã xuất bản</a:t>
                      </a:r>
                      <a:endParaRPr sz="2400">
                        <a:solidFill>
                          <a:srgbClr val="666666"/>
                        </a:solidFill>
                      </a:endParaRPr>
                    </a:p>
                    <a:p>
                      <a:pPr indent="0" lvl="0" marL="0" rtl="0" algn="l">
                        <a:spcBef>
                          <a:spcPts val="0"/>
                        </a:spcBef>
                        <a:spcAft>
                          <a:spcPts val="0"/>
                        </a:spcAft>
                        <a:buNone/>
                      </a:pPr>
                      <a:r>
                        <a:rPr lang="en-GB" sz="2400">
                          <a:solidFill>
                            <a:srgbClr val="666666"/>
                          </a:solidFill>
                        </a:rPr>
                        <a:t>Nhà xuất bản</a:t>
                      </a:r>
                      <a:endParaRPr sz="2400">
                        <a:solidFill>
                          <a:srgbClr val="666666"/>
                        </a:solidFill>
                      </a:endParaRPr>
                    </a:p>
                    <a:p>
                      <a:pPr indent="0" lvl="0" marL="0" rtl="0" algn="l">
                        <a:spcBef>
                          <a:spcPts val="0"/>
                        </a:spcBef>
                        <a:spcAft>
                          <a:spcPts val="0"/>
                        </a:spcAft>
                        <a:buNone/>
                      </a:pPr>
                      <a:r>
                        <a:rPr lang="en-GB" sz="2400">
                          <a:solidFill>
                            <a:srgbClr val="666666"/>
                          </a:solidFill>
                        </a:rPr>
                        <a:t>Tên sách</a:t>
                      </a:r>
                      <a:endParaRPr sz="2400">
                        <a:solidFill>
                          <a:srgbClr val="666666"/>
                        </a:solidFill>
                      </a:endParaRPr>
                    </a:p>
                  </a:txBody>
                  <a:tcPr marT="91425" marB="91425" marR="91425" marL="91425"/>
                </a:tc>
              </a:tr>
              <a:tr h="502500">
                <a:tc>
                  <a:txBody>
                    <a:bodyPr/>
                    <a:lstStyle/>
                    <a:p>
                      <a:pPr indent="0" lvl="0" marL="0" rtl="0" algn="l">
                        <a:spcBef>
                          <a:spcPts val="0"/>
                        </a:spcBef>
                        <a:spcAft>
                          <a:spcPts val="0"/>
                        </a:spcAft>
                        <a:buNone/>
                      </a:pPr>
                      <a:r>
                        <a:t/>
                      </a:r>
                      <a:endParaRPr sz="2400">
                        <a:solidFill>
                          <a:srgbClr val="666666"/>
                        </a:solidFill>
                      </a:endParaRPr>
                    </a:p>
                  </a:txBody>
                  <a:tcPr marT="91425" marB="91425" marR="91425" marL="91425"/>
                </a:tc>
              </a:tr>
            </a:tbl>
          </a:graphicData>
        </a:graphic>
      </p:graphicFrame>
      <p:graphicFrame>
        <p:nvGraphicFramePr>
          <p:cNvPr id="279" name="Google Shape;279;p34"/>
          <p:cNvGraphicFramePr/>
          <p:nvPr/>
        </p:nvGraphicFramePr>
        <p:xfrm>
          <a:off x="445125" y="4383350"/>
          <a:ext cx="3000000" cy="3000000"/>
        </p:xfrm>
        <a:graphic>
          <a:graphicData uri="http://schemas.openxmlformats.org/drawingml/2006/table">
            <a:tbl>
              <a:tblPr>
                <a:noFill/>
                <a:tableStyleId>{79F57D95-B6EA-4ABF-9AA9-D1E840C71FE3}</a:tableStyleId>
              </a:tblPr>
              <a:tblGrid>
                <a:gridCol w="3071225"/>
              </a:tblGrid>
              <a:tr h="381000">
                <a:tc>
                  <a:txBody>
                    <a:bodyPr/>
                    <a:lstStyle/>
                    <a:p>
                      <a:pPr indent="0" lvl="0" marL="0" rtl="0" algn="ctr">
                        <a:spcBef>
                          <a:spcPts val="0"/>
                        </a:spcBef>
                        <a:spcAft>
                          <a:spcPts val="0"/>
                        </a:spcAft>
                        <a:buNone/>
                      </a:pPr>
                      <a:r>
                        <a:rPr lang="en-GB" sz="2200"/>
                        <a:t>Giáo trình</a:t>
                      </a:r>
                      <a:endParaRPr sz="2200"/>
                    </a:p>
                  </a:txBody>
                  <a:tcPr marT="91425" marB="91425" marR="91425" marL="91425"/>
                </a:tc>
              </a:tr>
              <a:tr h="381000">
                <a:tc>
                  <a:txBody>
                    <a:bodyPr/>
                    <a:lstStyle/>
                    <a:p>
                      <a:pPr indent="0" lvl="0" marL="0" rtl="0" algn="l">
                        <a:spcBef>
                          <a:spcPts val="0"/>
                        </a:spcBef>
                        <a:spcAft>
                          <a:spcPts val="0"/>
                        </a:spcAft>
                        <a:buNone/>
                      </a:pPr>
                      <a:r>
                        <a:rPr lang="en-GB" sz="2200"/>
                        <a:t>Chương trình đào tạo</a:t>
                      </a:r>
                      <a:endParaRPr sz="2200"/>
                    </a:p>
                  </a:txBody>
                  <a:tcPr marT="91425" marB="91425" marR="91425" marL="91425"/>
                </a:tc>
              </a:tr>
              <a:tr h="381000">
                <a:tc>
                  <a:txBody>
                    <a:bodyPr/>
                    <a:lstStyle/>
                    <a:p>
                      <a:pPr indent="0" lvl="0" marL="0" rtl="0" algn="l">
                        <a:spcBef>
                          <a:spcPts val="0"/>
                        </a:spcBef>
                        <a:spcAft>
                          <a:spcPts val="0"/>
                        </a:spcAft>
                        <a:buNone/>
                      </a:pPr>
                      <a:r>
                        <a:t/>
                      </a:r>
                      <a:endParaRPr sz="2200"/>
                    </a:p>
                  </a:txBody>
                  <a:tcPr marT="91425" marB="91425" marR="91425" marL="91425"/>
                </a:tc>
              </a:tr>
            </a:tbl>
          </a:graphicData>
        </a:graphic>
      </p:graphicFrame>
      <p:sp>
        <p:nvSpPr>
          <p:cNvPr id="280" name="Google Shape;280;p34"/>
          <p:cNvSpPr/>
          <p:nvPr/>
        </p:nvSpPr>
        <p:spPr>
          <a:xfrm>
            <a:off x="1845525" y="3616700"/>
            <a:ext cx="232200" cy="1860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1" name="Google Shape;281;p34"/>
          <p:cNvCxnSpPr>
            <a:stCxn id="280" idx="3"/>
          </p:cNvCxnSpPr>
          <p:nvPr/>
        </p:nvCxnSpPr>
        <p:spPr>
          <a:xfrm>
            <a:off x="1961625" y="3802700"/>
            <a:ext cx="3000" cy="5853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p35"/>
          <p:cNvSpPr txBox="1"/>
          <p:nvPr>
            <p:ph idx="12" type="sldNum"/>
          </p:nvPr>
        </p:nvSpPr>
        <p:spPr>
          <a:xfrm>
            <a:off x="8472458" y="6217622"/>
            <a:ext cx="548700" cy="524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87" name="Google Shape;287;p35"/>
          <p:cNvSpPr txBox="1"/>
          <p:nvPr>
            <p:ph type="title"/>
          </p:nvPr>
        </p:nvSpPr>
        <p:spPr>
          <a:xfrm>
            <a:off x="311700" y="186967"/>
            <a:ext cx="8520600" cy="763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lang="en-GB"/>
              <a:t>Ví dụ </a:t>
            </a:r>
            <a:r>
              <a:rPr lang="en-GB"/>
              <a:t>3. Mô phỏng kế thừa</a:t>
            </a:r>
            <a:endParaRPr/>
          </a:p>
        </p:txBody>
      </p:sp>
      <p:sp>
        <p:nvSpPr>
          <p:cNvPr id="288" name="Google Shape;288;p35"/>
          <p:cNvSpPr txBox="1"/>
          <p:nvPr/>
        </p:nvSpPr>
        <p:spPr>
          <a:xfrm>
            <a:off x="540600" y="5054350"/>
            <a:ext cx="8291700" cy="15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rPr i="1" lang="en-GB" sz="2400">
                <a:solidFill>
                  <a:srgbClr val="434343"/>
                </a:solidFill>
              </a:rPr>
              <a:t>Thuận tiện xử lý</a:t>
            </a:r>
            <a:r>
              <a:rPr i="1" lang="en-GB" sz="2400">
                <a:solidFill>
                  <a:srgbClr val="434343"/>
                </a:solidFill>
              </a:rPr>
              <a:t> các truy vấn kiểu Tìm tất cả sách (bao gồm cả các giáo trình) được xuất bản bởi 1 </a:t>
            </a:r>
            <a:r>
              <a:rPr i="1" lang="en-GB" sz="2400">
                <a:solidFill>
                  <a:srgbClr val="434343"/>
                </a:solidFill>
              </a:rPr>
              <a:t>nhà xuất bản cụ thể. Tìm kiếm theo thuộc tính của nút gốc trong phạm vi tất cả đối tượng thuộc cây kế thừa.</a:t>
            </a:r>
            <a:endParaRPr i="1" sz="2400">
              <a:solidFill>
                <a:srgbClr val="434343"/>
              </a:solidFill>
            </a:endParaRPr>
          </a:p>
        </p:txBody>
      </p:sp>
      <p:graphicFrame>
        <p:nvGraphicFramePr>
          <p:cNvPr id="289" name="Google Shape;289;p35"/>
          <p:cNvGraphicFramePr/>
          <p:nvPr/>
        </p:nvGraphicFramePr>
        <p:xfrm>
          <a:off x="1044525" y="1595900"/>
          <a:ext cx="3000000" cy="3000000"/>
        </p:xfrm>
        <a:graphic>
          <a:graphicData uri="http://schemas.openxmlformats.org/drawingml/2006/table">
            <a:tbl>
              <a:tblPr>
                <a:noFill/>
                <a:tableStyleId>{79F57D95-B6EA-4ABF-9AA9-D1E840C71FE3}</a:tableStyleId>
              </a:tblPr>
              <a:tblGrid>
                <a:gridCol w="1868225"/>
                <a:gridCol w="1868225"/>
                <a:gridCol w="1868225"/>
              </a:tblGrid>
              <a:tr h="239275">
                <a:tc>
                  <a:txBody>
                    <a:bodyPr/>
                    <a:lstStyle/>
                    <a:p>
                      <a:pPr indent="0" lvl="0" marL="0" rtl="0" algn="l">
                        <a:spcBef>
                          <a:spcPts val="0"/>
                        </a:spcBef>
                        <a:spcAft>
                          <a:spcPts val="0"/>
                        </a:spcAft>
                        <a:buNone/>
                      </a:pPr>
                      <a:r>
                        <a:rPr lang="en-GB" sz="2400"/>
                        <a:t>Tên</a:t>
                      </a:r>
                      <a:endParaRPr sz="2400"/>
                    </a:p>
                  </a:txBody>
                  <a:tcPr marT="86400" marB="86400" marR="91425" marL="91425"/>
                </a:tc>
                <a:tc>
                  <a:txBody>
                    <a:bodyPr/>
                    <a:lstStyle/>
                    <a:p>
                      <a:pPr indent="0" lvl="0" marL="0" rtl="0" algn="l">
                        <a:spcBef>
                          <a:spcPts val="0"/>
                        </a:spcBef>
                        <a:spcAft>
                          <a:spcPts val="0"/>
                        </a:spcAft>
                        <a:buNone/>
                      </a:pPr>
                      <a:r>
                        <a:rPr lang="en-GB" sz="2400"/>
                        <a:t>NXB</a:t>
                      </a:r>
                      <a:endParaRPr sz="2400"/>
                    </a:p>
                  </a:txBody>
                  <a:tcPr marT="86400" marB="86400" marR="91425" marL="91425"/>
                </a:tc>
                <a:tc>
                  <a:txBody>
                    <a:bodyPr/>
                    <a:lstStyle/>
                    <a:p>
                      <a:pPr indent="0" lvl="0" marL="0" rtl="0" algn="l">
                        <a:spcBef>
                          <a:spcPts val="0"/>
                        </a:spcBef>
                        <a:spcAft>
                          <a:spcPts val="0"/>
                        </a:spcAft>
                        <a:buNone/>
                      </a:pPr>
                      <a:r>
                        <a:rPr b="1" lang="en-GB" sz="2400" u="sng"/>
                        <a:t>Mã XB</a:t>
                      </a:r>
                      <a:endParaRPr b="1" sz="2400" u="sng"/>
                    </a:p>
                  </a:txBody>
                  <a:tcPr marT="86400" marB="86400" marR="91425" marL="91425"/>
                </a:tc>
              </a:tr>
              <a:tr h="239275">
                <a:tc>
                  <a:txBody>
                    <a:bodyPr/>
                    <a:lstStyle/>
                    <a:p>
                      <a:pPr indent="0" lvl="0" marL="0" rtl="0" algn="l">
                        <a:spcBef>
                          <a:spcPts val="0"/>
                        </a:spcBef>
                        <a:spcAft>
                          <a:spcPts val="0"/>
                        </a:spcAft>
                        <a:buNone/>
                      </a:pPr>
                      <a:r>
                        <a:rPr lang="en-GB" sz="2400">
                          <a:solidFill>
                            <a:srgbClr val="666666"/>
                          </a:solidFill>
                        </a:rPr>
                        <a:t>LT HĐT</a:t>
                      </a:r>
                      <a:endParaRPr sz="2400">
                        <a:solidFill>
                          <a:srgbClr val="666666"/>
                        </a:solidFill>
                      </a:endParaRPr>
                    </a:p>
                  </a:txBody>
                  <a:tcPr marT="86400" marB="86400" marR="91425" marL="91425"/>
                </a:tc>
                <a:tc>
                  <a:txBody>
                    <a:bodyPr/>
                    <a:lstStyle/>
                    <a:p>
                      <a:pPr indent="0" lvl="0" marL="0" rtl="0" algn="l">
                        <a:spcBef>
                          <a:spcPts val="0"/>
                        </a:spcBef>
                        <a:spcAft>
                          <a:spcPts val="0"/>
                        </a:spcAft>
                        <a:buNone/>
                      </a:pPr>
                      <a:r>
                        <a:rPr lang="en-GB" sz="2400">
                          <a:solidFill>
                            <a:srgbClr val="666666"/>
                          </a:solidFill>
                        </a:rPr>
                        <a:t>KHKT</a:t>
                      </a:r>
                      <a:endParaRPr sz="2400">
                        <a:solidFill>
                          <a:srgbClr val="666666"/>
                        </a:solidFill>
                      </a:endParaRPr>
                    </a:p>
                  </a:txBody>
                  <a:tcPr marT="86400" marB="86400" marR="91425" marL="91425"/>
                </a:tc>
                <a:tc>
                  <a:txBody>
                    <a:bodyPr/>
                    <a:lstStyle/>
                    <a:p>
                      <a:pPr indent="0" lvl="0" marL="0" rtl="0" algn="l">
                        <a:spcBef>
                          <a:spcPts val="0"/>
                        </a:spcBef>
                        <a:spcAft>
                          <a:spcPts val="0"/>
                        </a:spcAft>
                        <a:buNone/>
                      </a:pPr>
                      <a:r>
                        <a:rPr lang="en-GB" sz="2400">
                          <a:solidFill>
                            <a:srgbClr val="666666"/>
                          </a:solidFill>
                        </a:rPr>
                        <a:t>K123</a:t>
                      </a:r>
                      <a:endParaRPr sz="2400">
                        <a:solidFill>
                          <a:srgbClr val="666666"/>
                        </a:solidFill>
                      </a:endParaRPr>
                    </a:p>
                  </a:txBody>
                  <a:tcPr marT="86400" marB="86400" marR="91425" marL="91425"/>
                </a:tc>
              </a:tr>
              <a:tr h="239275">
                <a:tc>
                  <a:txBody>
                    <a:bodyPr/>
                    <a:lstStyle/>
                    <a:p>
                      <a:pPr indent="0" lvl="0" marL="0" rtl="0" algn="l">
                        <a:spcBef>
                          <a:spcPts val="0"/>
                        </a:spcBef>
                        <a:spcAft>
                          <a:spcPts val="0"/>
                        </a:spcAft>
                        <a:buNone/>
                      </a:pPr>
                      <a:r>
                        <a:rPr lang="en-GB" sz="2400">
                          <a:solidFill>
                            <a:srgbClr val="666666"/>
                          </a:solidFill>
                        </a:rPr>
                        <a:t>Tin ĐC</a:t>
                      </a:r>
                      <a:endParaRPr sz="2400">
                        <a:solidFill>
                          <a:srgbClr val="666666"/>
                        </a:solidFill>
                      </a:endParaRPr>
                    </a:p>
                  </a:txBody>
                  <a:tcPr marT="86400" marB="86400" marR="91425" marL="91425"/>
                </a:tc>
                <a:tc>
                  <a:txBody>
                    <a:bodyPr/>
                    <a:lstStyle/>
                    <a:p>
                      <a:pPr indent="0" lvl="0" marL="0" rtl="0" algn="l">
                        <a:spcBef>
                          <a:spcPts val="0"/>
                        </a:spcBef>
                        <a:spcAft>
                          <a:spcPts val="0"/>
                        </a:spcAft>
                        <a:buNone/>
                      </a:pPr>
                      <a:r>
                        <a:rPr lang="en-GB" sz="2400">
                          <a:solidFill>
                            <a:srgbClr val="666666"/>
                          </a:solidFill>
                        </a:rPr>
                        <a:t>BKB</a:t>
                      </a:r>
                      <a:endParaRPr sz="2400">
                        <a:solidFill>
                          <a:srgbClr val="666666"/>
                        </a:solidFill>
                      </a:endParaRPr>
                    </a:p>
                  </a:txBody>
                  <a:tcPr marT="86400" marB="86400" marR="91425" marL="91425"/>
                </a:tc>
                <a:tc>
                  <a:txBody>
                    <a:bodyPr/>
                    <a:lstStyle/>
                    <a:p>
                      <a:pPr indent="0" lvl="0" marL="0" rtl="0" algn="l">
                        <a:spcBef>
                          <a:spcPts val="0"/>
                        </a:spcBef>
                        <a:spcAft>
                          <a:spcPts val="0"/>
                        </a:spcAft>
                        <a:buNone/>
                      </a:pPr>
                      <a:r>
                        <a:rPr lang="en-GB" sz="2400">
                          <a:solidFill>
                            <a:srgbClr val="666666"/>
                          </a:solidFill>
                        </a:rPr>
                        <a:t>B111</a:t>
                      </a:r>
                      <a:endParaRPr sz="2400">
                        <a:solidFill>
                          <a:srgbClr val="666666"/>
                        </a:solidFill>
                      </a:endParaRPr>
                    </a:p>
                  </a:txBody>
                  <a:tcPr marT="86400" marB="86400" marR="91425" marL="91425"/>
                </a:tc>
              </a:tr>
            </a:tbl>
          </a:graphicData>
        </a:graphic>
      </p:graphicFrame>
      <p:graphicFrame>
        <p:nvGraphicFramePr>
          <p:cNvPr id="290" name="Google Shape;290;p35"/>
          <p:cNvGraphicFramePr/>
          <p:nvPr/>
        </p:nvGraphicFramePr>
        <p:xfrm>
          <a:off x="1044525" y="3810000"/>
          <a:ext cx="3000000" cy="3000000"/>
        </p:xfrm>
        <a:graphic>
          <a:graphicData uri="http://schemas.openxmlformats.org/drawingml/2006/table">
            <a:tbl>
              <a:tblPr>
                <a:noFill/>
                <a:tableStyleId>{79F57D95-B6EA-4ABF-9AA9-D1E840C71FE3}</a:tableStyleId>
              </a:tblPr>
              <a:tblGrid>
                <a:gridCol w="1206500"/>
                <a:gridCol w="1206500"/>
              </a:tblGrid>
              <a:tr h="508000">
                <a:tc>
                  <a:txBody>
                    <a:bodyPr/>
                    <a:lstStyle/>
                    <a:p>
                      <a:pPr indent="0" lvl="0" marL="0" rtl="0" algn="l">
                        <a:spcBef>
                          <a:spcPts val="0"/>
                        </a:spcBef>
                        <a:spcAft>
                          <a:spcPts val="0"/>
                        </a:spcAft>
                        <a:buNone/>
                      </a:pPr>
                      <a:r>
                        <a:rPr lang="en-GB" sz="2400"/>
                        <a:t>CTĐT</a:t>
                      </a:r>
                      <a:endParaRPr sz="2400"/>
                    </a:p>
                  </a:txBody>
                  <a:tcPr marT="86400" marB="86400"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GB" sz="2400" u="sng"/>
                        <a:t>Mã XB</a:t>
                      </a:r>
                      <a:endParaRPr b="1" sz="2400" u="sng"/>
                    </a:p>
                  </a:txBody>
                  <a:tcPr marT="86400" marB="864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08000">
                <a:tc>
                  <a:txBody>
                    <a:bodyPr/>
                    <a:lstStyle/>
                    <a:p>
                      <a:pPr indent="0" lvl="0" marL="0" rtl="0" algn="l">
                        <a:spcBef>
                          <a:spcPts val="0"/>
                        </a:spcBef>
                        <a:spcAft>
                          <a:spcPts val="0"/>
                        </a:spcAft>
                        <a:buNone/>
                      </a:pPr>
                      <a:r>
                        <a:rPr lang="en-GB" sz="2400">
                          <a:solidFill>
                            <a:srgbClr val="666666"/>
                          </a:solidFill>
                        </a:rPr>
                        <a:t>KHMT</a:t>
                      </a:r>
                      <a:endParaRPr sz="2400">
                        <a:solidFill>
                          <a:srgbClr val="666666"/>
                        </a:solidFill>
                      </a:endParaRPr>
                    </a:p>
                  </a:txBody>
                  <a:tcPr marT="86400" marB="86400"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GB" sz="2400">
                          <a:solidFill>
                            <a:srgbClr val="666666"/>
                          </a:solidFill>
                        </a:rPr>
                        <a:t>B111</a:t>
                      </a:r>
                      <a:endParaRPr sz="2400">
                        <a:solidFill>
                          <a:srgbClr val="666666"/>
                        </a:solidFill>
                      </a:endParaRPr>
                    </a:p>
                  </a:txBody>
                  <a:tcPr marT="86400" marB="864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91" name="Google Shape;291;p35"/>
          <p:cNvSpPr txBox="1"/>
          <p:nvPr/>
        </p:nvSpPr>
        <p:spPr>
          <a:xfrm>
            <a:off x="1046825" y="1100267"/>
            <a:ext cx="920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t>Sách</a:t>
            </a:r>
            <a:endParaRPr sz="2400"/>
          </a:p>
        </p:txBody>
      </p:sp>
      <p:sp>
        <p:nvSpPr>
          <p:cNvPr id="292" name="Google Shape;292;p35"/>
          <p:cNvSpPr txBox="1"/>
          <p:nvPr/>
        </p:nvSpPr>
        <p:spPr>
          <a:xfrm>
            <a:off x="970625" y="3259267"/>
            <a:ext cx="2160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t>Giáo trình</a:t>
            </a:r>
            <a:endParaRPr sz="2400"/>
          </a:p>
        </p:txBody>
      </p:sp>
      <p:cxnSp>
        <p:nvCxnSpPr>
          <p:cNvPr id="293" name="Google Shape;293;p35"/>
          <p:cNvCxnSpPr/>
          <p:nvPr/>
        </p:nvCxnSpPr>
        <p:spPr>
          <a:xfrm flipH="1" rot="10800000">
            <a:off x="3460100" y="1873900"/>
            <a:ext cx="3195900" cy="2192700"/>
          </a:xfrm>
          <a:prstGeom prst="bentConnector3">
            <a:avLst>
              <a:gd fmla="val 130893" name="adj1"/>
            </a:avLst>
          </a:prstGeom>
          <a:noFill/>
          <a:ln cap="flat" cmpd="sng" w="9525">
            <a:solidFill>
              <a:schemeClr val="dk2"/>
            </a:solidFill>
            <a:prstDash val="solid"/>
            <a:round/>
            <a:headEnd len="med" w="med" type="none"/>
            <a:tailEnd len="med" w="med" type="none"/>
          </a:ln>
        </p:spPr>
      </p:cxnSp>
      <p:sp>
        <p:nvSpPr>
          <p:cNvPr id="294" name="Google Shape;294;p35"/>
          <p:cNvSpPr txBox="1"/>
          <p:nvPr/>
        </p:nvSpPr>
        <p:spPr>
          <a:xfrm>
            <a:off x="4058000" y="4175050"/>
            <a:ext cx="4764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Lớp con có thể phân tán trên nhiều bảng</a:t>
            </a:r>
            <a:endParaRPr i="1"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8" name="Shape 298"/>
        <p:cNvGrpSpPr/>
        <p:nvPr/>
      </p:nvGrpSpPr>
      <p:grpSpPr>
        <a:xfrm>
          <a:off x="0" y="0"/>
          <a:ext cx="0" cy="0"/>
          <a:chOff x="0" y="0"/>
          <a:chExt cx="0" cy="0"/>
        </a:xfrm>
      </p:grpSpPr>
      <p:sp>
        <p:nvSpPr>
          <p:cNvPr id="299" name="Google Shape;299;p36"/>
          <p:cNvSpPr txBox="1"/>
          <p:nvPr>
            <p:ph idx="12" type="sldNum"/>
          </p:nvPr>
        </p:nvSpPr>
        <p:spPr>
          <a:xfrm>
            <a:off x="8472458" y="6217622"/>
            <a:ext cx="548700" cy="524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00" name="Google Shape;300;p36"/>
          <p:cNvSpPr txBox="1"/>
          <p:nvPr>
            <p:ph type="title"/>
          </p:nvPr>
        </p:nvSpPr>
        <p:spPr>
          <a:xfrm>
            <a:off x="311700" y="186967"/>
            <a:ext cx="8520600" cy="763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lang="en-GB"/>
              <a:t>Ví dụ </a:t>
            </a:r>
            <a:r>
              <a:rPr lang="en-GB"/>
              <a:t>4. Lớp con đầy đủ</a:t>
            </a:r>
            <a:endParaRPr/>
          </a:p>
        </p:txBody>
      </p:sp>
      <p:sp>
        <p:nvSpPr>
          <p:cNvPr id="301" name="Google Shape;301;p36"/>
          <p:cNvSpPr txBox="1"/>
          <p:nvPr/>
        </p:nvSpPr>
        <p:spPr>
          <a:xfrm>
            <a:off x="425050" y="5003800"/>
            <a:ext cx="8520600" cy="13107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chemeClr val="dk1"/>
              </a:buClr>
              <a:buSzPts val="2400"/>
              <a:buFont typeface="Tahoma"/>
              <a:buNone/>
            </a:pPr>
            <a:r>
              <a:rPr i="1" lang="en-GB" sz="2400">
                <a:solidFill>
                  <a:srgbClr val="666666"/>
                </a:solidFill>
              </a:rPr>
              <a:t>T</a:t>
            </a:r>
            <a:r>
              <a:rPr i="1" lang="en-GB" sz="2400">
                <a:solidFill>
                  <a:srgbClr val="666666"/>
                </a:solidFill>
              </a:rPr>
              <a:t>huận tiện để xử lý các truy vấn như</a:t>
            </a:r>
            <a:r>
              <a:rPr i="1" lang="en-GB" sz="2400" u="none">
                <a:solidFill>
                  <a:srgbClr val="666666"/>
                </a:solidFill>
              </a:rPr>
              <a:t> </a:t>
            </a:r>
            <a:r>
              <a:rPr i="1" lang="en-GB" sz="2400">
                <a:solidFill>
                  <a:srgbClr val="666666"/>
                </a:solidFill>
              </a:rPr>
              <a:t>“</a:t>
            </a:r>
            <a:r>
              <a:rPr i="1" lang="en-GB" sz="2400">
                <a:solidFill>
                  <a:srgbClr val="666666"/>
                </a:solidFill>
              </a:rPr>
              <a:t>tìm CTĐT của các giáo trình được xuất bản bởi BKB</a:t>
            </a:r>
            <a:r>
              <a:rPr i="1" lang="en-GB" sz="2400" u="none">
                <a:solidFill>
                  <a:srgbClr val="666666"/>
                </a:solidFill>
              </a:rPr>
              <a:t>.” (</a:t>
            </a:r>
            <a:r>
              <a:rPr i="1" lang="en-GB" sz="2400">
                <a:solidFill>
                  <a:srgbClr val="666666"/>
                </a:solidFill>
              </a:rPr>
              <a:t>sử dụng cả thuộc tính riêng của lớp con và thuộc tính kế thừa từ lớp cha)</a:t>
            </a:r>
            <a:endParaRPr i="1" sz="2400">
              <a:solidFill>
                <a:srgbClr val="666666"/>
              </a:solidFill>
            </a:endParaRPr>
          </a:p>
        </p:txBody>
      </p:sp>
      <p:graphicFrame>
        <p:nvGraphicFramePr>
          <p:cNvPr id="302" name="Google Shape;302;p36"/>
          <p:cNvGraphicFramePr/>
          <p:nvPr/>
        </p:nvGraphicFramePr>
        <p:xfrm>
          <a:off x="1044525" y="1595900"/>
          <a:ext cx="3000000" cy="3000000"/>
        </p:xfrm>
        <a:graphic>
          <a:graphicData uri="http://schemas.openxmlformats.org/drawingml/2006/table">
            <a:tbl>
              <a:tblPr>
                <a:noFill/>
                <a:tableStyleId>{79F57D95-B6EA-4ABF-9AA9-D1E840C71FE3}</a:tableStyleId>
              </a:tblPr>
              <a:tblGrid>
                <a:gridCol w="1868225"/>
                <a:gridCol w="1868225"/>
                <a:gridCol w="1868225"/>
              </a:tblGrid>
              <a:tr h="449925">
                <a:tc>
                  <a:txBody>
                    <a:bodyPr/>
                    <a:lstStyle/>
                    <a:p>
                      <a:pPr indent="0" lvl="0" marL="0" rtl="0" algn="l">
                        <a:spcBef>
                          <a:spcPts val="0"/>
                        </a:spcBef>
                        <a:spcAft>
                          <a:spcPts val="0"/>
                        </a:spcAft>
                        <a:buNone/>
                      </a:pPr>
                      <a:r>
                        <a:rPr lang="en-GB" sz="2400"/>
                        <a:t>Tên</a:t>
                      </a:r>
                      <a:endParaRPr sz="2400"/>
                    </a:p>
                  </a:txBody>
                  <a:tcPr marT="121900" marB="121900" marR="91425" marL="91425"/>
                </a:tc>
                <a:tc>
                  <a:txBody>
                    <a:bodyPr/>
                    <a:lstStyle/>
                    <a:p>
                      <a:pPr indent="0" lvl="0" marL="0" rtl="0" algn="l">
                        <a:spcBef>
                          <a:spcPts val="0"/>
                        </a:spcBef>
                        <a:spcAft>
                          <a:spcPts val="0"/>
                        </a:spcAft>
                        <a:buNone/>
                      </a:pPr>
                      <a:r>
                        <a:rPr lang="en-GB" sz="2400"/>
                        <a:t>NXB</a:t>
                      </a:r>
                      <a:endParaRPr sz="2400"/>
                    </a:p>
                  </a:txBody>
                  <a:tcPr marT="121900" marB="121900" marR="91425" marL="91425"/>
                </a:tc>
                <a:tc>
                  <a:txBody>
                    <a:bodyPr/>
                    <a:lstStyle/>
                    <a:p>
                      <a:pPr indent="0" lvl="0" marL="0" rtl="0" algn="l">
                        <a:spcBef>
                          <a:spcPts val="0"/>
                        </a:spcBef>
                        <a:spcAft>
                          <a:spcPts val="0"/>
                        </a:spcAft>
                        <a:buNone/>
                      </a:pPr>
                      <a:r>
                        <a:rPr b="1" lang="en-GB" sz="2400" u="sng"/>
                        <a:t>Mã XB</a:t>
                      </a:r>
                      <a:endParaRPr b="1" sz="2400" u="sng"/>
                    </a:p>
                  </a:txBody>
                  <a:tcPr marT="121900" marB="121900" marR="91425" marL="91425"/>
                </a:tc>
              </a:tr>
              <a:tr h="449925">
                <a:tc>
                  <a:txBody>
                    <a:bodyPr/>
                    <a:lstStyle/>
                    <a:p>
                      <a:pPr indent="0" lvl="0" marL="0" rtl="0" algn="l">
                        <a:spcBef>
                          <a:spcPts val="0"/>
                        </a:spcBef>
                        <a:spcAft>
                          <a:spcPts val="0"/>
                        </a:spcAft>
                        <a:buNone/>
                      </a:pPr>
                      <a:r>
                        <a:rPr lang="en-GB" sz="2400">
                          <a:solidFill>
                            <a:srgbClr val="666666"/>
                          </a:solidFill>
                        </a:rPr>
                        <a:t>LT HĐT</a:t>
                      </a:r>
                      <a:endParaRPr sz="2400">
                        <a:solidFill>
                          <a:srgbClr val="666666"/>
                        </a:solidFill>
                      </a:endParaRPr>
                    </a:p>
                  </a:txBody>
                  <a:tcPr marT="121900" marB="121900" marR="91425" marL="91425"/>
                </a:tc>
                <a:tc>
                  <a:txBody>
                    <a:bodyPr/>
                    <a:lstStyle/>
                    <a:p>
                      <a:pPr indent="0" lvl="0" marL="0" rtl="0" algn="l">
                        <a:spcBef>
                          <a:spcPts val="0"/>
                        </a:spcBef>
                        <a:spcAft>
                          <a:spcPts val="0"/>
                        </a:spcAft>
                        <a:buNone/>
                      </a:pPr>
                      <a:r>
                        <a:rPr lang="en-GB" sz="2400">
                          <a:solidFill>
                            <a:srgbClr val="666666"/>
                          </a:solidFill>
                        </a:rPr>
                        <a:t>KHKT</a:t>
                      </a:r>
                      <a:endParaRPr sz="2400">
                        <a:solidFill>
                          <a:srgbClr val="666666"/>
                        </a:solidFill>
                      </a:endParaRPr>
                    </a:p>
                  </a:txBody>
                  <a:tcPr marT="121900" marB="121900" marR="91425" marL="91425"/>
                </a:tc>
                <a:tc>
                  <a:txBody>
                    <a:bodyPr/>
                    <a:lstStyle/>
                    <a:p>
                      <a:pPr indent="0" lvl="0" marL="0" rtl="0" algn="l">
                        <a:spcBef>
                          <a:spcPts val="0"/>
                        </a:spcBef>
                        <a:spcAft>
                          <a:spcPts val="0"/>
                        </a:spcAft>
                        <a:buNone/>
                      </a:pPr>
                      <a:r>
                        <a:rPr lang="en-GB" sz="2400">
                          <a:solidFill>
                            <a:srgbClr val="666666"/>
                          </a:solidFill>
                        </a:rPr>
                        <a:t>K123</a:t>
                      </a:r>
                      <a:endParaRPr sz="2400">
                        <a:solidFill>
                          <a:srgbClr val="666666"/>
                        </a:solidFill>
                      </a:endParaRPr>
                    </a:p>
                  </a:txBody>
                  <a:tcPr marT="121900" marB="121900" marR="91425" marL="91425"/>
                </a:tc>
              </a:tr>
            </a:tbl>
          </a:graphicData>
        </a:graphic>
      </p:graphicFrame>
      <p:graphicFrame>
        <p:nvGraphicFramePr>
          <p:cNvPr id="303" name="Google Shape;303;p36"/>
          <p:cNvGraphicFramePr/>
          <p:nvPr/>
        </p:nvGraphicFramePr>
        <p:xfrm>
          <a:off x="1044525" y="3581400"/>
          <a:ext cx="3000000" cy="3000000"/>
        </p:xfrm>
        <a:graphic>
          <a:graphicData uri="http://schemas.openxmlformats.org/drawingml/2006/table">
            <a:tbl>
              <a:tblPr>
                <a:noFill/>
                <a:tableStyleId>{79F57D95-B6EA-4ABF-9AA9-D1E840C71FE3}</a:tableStyleId>
              </a:tblPr>
              <a:tblGrid>
                <a:gridCol w="1809750"/>
                <a:gridCol w="1809750"/>
                <a:gridCol w="1809750"/>
                <a:gridCol w="1809750"/>
              </a:tblGrid>
              <a:tr h="508000">
                <a:tc>
                  <a:txBody>
                    <a:bodyPr/>
                    <a:lstStyle/>
                    <a:p>
                      <a:pPr indent="0" lvl="0" marL="0" rtl="0" algn="l">
                        <a:spcBef>
                          <a:spcPts val="0"/>
                        </a:spcBef>
                        <a:spcAft>
                          <a:spcPts val="0"/>
                        </a:spcAft>
                        <a:buNone/>
                      </a:pPr>
                      <a:r>
                        <a:rPr lang="en-GB" sz="2400"/>
                        <a:t>Tên</a:t>
                      </a:r>
                      <a:endParaRPr sz="2400"/>
                    </a:p>
                  </a:txBody>
                  <a:tcPr marT="121900" marB="121900" marR="91425" marL="91425"/>
                </a:tc>
                <a:tc>
                  <a:txBody>
                    <a:bodyPr/>
                    <a:lstStyle/>
                    <a:p>
                      <a:pPr indent="0" lvl="0" marL="0" rtl="0" algn="l">
                        <a:spcBef>
                          <a:spcPts val="0"/>
                        </a:spcBef>
                        <a:spcAft>
                          <a:spcPts val="0"/>
                        </a:spcAft>
                        <a:buNone/>
                      </a:pPr>
                      <a:r>
                        <a:rPr lang="en-GB" sz="2400"/>
                        <a:t>NXB</a:t>
                      </a:r>
                      <a:endParaRPr sz="2400"/>
                    </a:p>
                  </a:txBody>
                  <a:tcPr marT="121900" marB="121900" marR="91425" marL="91425"/>
                </a:tc>
                <a:tc>
                  <a:txBody>
                    <a:bodyPr/>
                    <a:lstStyle/>
                    <a:p>
                      <a:pPr indent="0" lvl="0" marL="0" rtl="0" algn="l">
                        <a:spcBef>
                          <a:spcPts val="0"/>
                        </a:spcBef>
                        <a:spcAft>
                          <a:spcPts val="0"/>
                        </a:spcAft>
                        <a:buNone/>
                      </a:pPr>
                      <a:r>
                        <a:rPr b="1" lang="en-GB" sz="2400" u="sng"/>
                        <a:t>Mã XB</a:t>
                      </a:r>
                      <a:endParaRPr b="1" sz="2400" u="sng"/>
                    </a:p>
                  </a:txBody>
                  <a:tcPr marT="121900" marB="121900" marR="91425" marL="91425"/>
                </a:tc>
                <a:tc>
                  <a:txBody>
                    <a:bodyPr/>
                    <a:lstStyle/>
                    <a:p>
                      <a:pPr indent="0" lvl="0" marL="0" rtl="0" algn="l">
                        <a:spcBef>
                          <a:spcPts val="0"/>
                        </a:spcBef>
                        <a:spcAft>
                          <a:spcPts val="0"/>
                        </a:spcAft>
                        <a:buNone/>
                      </a:pPr>
                      <a:r>
                        <a:rPr lang="en-GB" sz="2400"/>
                        <a:t>CTĐT</a:t>
                      </a:r>
                      <a:endParaRPr sz="2400"/>
                    </a:p>
                  </a:txBody>
                  <a:tcPr marT="121900" marB="121900" marR="91425" marL="91425"/>
                </a:tc>
              </a:tr>
              <a:tr h="508000">
                <a:tc>
                  <a:txBody>
                    <a:bodyPr/>
                    <a:lstStyle/>
                    <a:p>
                      <a:pPr indent="0" lvl="0" marL="0" rtl="0" algn="l">
                        <a:spcBef>
                          <a:spcPts val="0"/>
                        </a:spcBef>
                        <a:spcAft>
                          <a:spcPts val="0"/>
                        </a:spcAft>
                        <a:buNone/>
                      </a:pPr>
                      <a:r>
                        <a:rPr lang="en-GB" sz="2400">
                          <a:solidFill>
                            <a:srgbClr val="666666"/>
                          </a:solidFill>
                        </a:rPr>
                        <a:t>Tin ĐC</a:t>
                      </a:r>
                      <a:endParaRPr sz="2400">
                        <a:solidFill>
                          <a:srgbClr val="666666"/>
                        </a:solidFill>
                      </a:endParaRPr>
                    </a:p>
                  </a:txBody>
                  <a:tcPr marT="121900" marB="121900" marR="91425" marL="91425"/>
                </a:tc>
                <a:tc>
                  <a:txBody>
                    <a:bodyPr/>
                    <a:lstStyle/>
                    <a:p>
                      <a:pPr indent="0" lvl="0" marL="0" rtl="0" algn="l">
                        <a:spcBef>
                          <a:spcPts val="0"/>
                        </a:spcBef>
                        <a:spcAft>
                          <a:spcPts val="0"/>
                        </a:spcAft>
                        <a:buNone/>
                      </a:pPr>
                      <a:r>
                        <a:rPr lang="en-GB" sz="2400">
                          <a:solidFill>
                            <a:srgbClr val="666666"/>
                          </a:solidFill>
                        </a:rPr>
                        <a:t>BKB</a:t>
                      </a:r>
                      <a:endParaRPr sz="2400">
                        <a:solidFill>
                          <a:srgbClr val="666666"/>
                        </a:solidFill>
                      </a:endParaRPr>
                    </a:p>
                  </a:txBody>
                  <a:tcPr marT="121900" marB="121900" marR="91425" marL="91425"/>
                </a:tc>
                <a:tc>
                  <a:txBody>
                    <a:bodyPr/>
                    <a:lstStyle/>
                    <a:p>
                      <a:pPr indent="0" lvl="0" marL="0" rtl="0" algn="l">
                        <a:spcBef>
                          <a:spcPts val="0"/>
                        </a:spcBef>
                        <a:spcAft>
                          <a:spcPts val="0"/>
                        </a:spcAft>
                        <a:buNone/>
                      </a:pPr>
                      <a:r>
                        <a:rPr lang="en-GB" sz="2400">
                          <a:solidFill>
                            <a:srgbClr val="666666"/>
                          </a:solidFill>
                        </a:rPr>
                        <a:t>B111</a:t>
                      </a:r>
                      <a:endParaRPr sz="2400">
                        <a:solidFill>
                          <a:srgbClr val="666666"/>
                        </a:solidFill>
                      </a:endParaRPr>
                    </a:p>
                  </a:txBody>
                  <a:tcPr marT="121900" marB="121900" marR="91425" marL="91425"/>
                </a:tc>
                <a:tc>
                  <a:txBody>
                    <a:bodyPr/>
                    <a:lstStyle/>
                    <a:p>
                      <a:pPr indent="0" lvl="0" marL="0" rtl="0" algn="l">
                        <a:spcBef>
                          <a:spcPts val="0"/>
                        </a:spcBef>
                        <a:spcAft>
                          <a:spcPts val="0"/>
                        </a:spcAft>
                        <a:buNone/>
                      </a:pPr>
                      <a:r>
                        <a:rPr lang="en-GB" sz="2400">
                          <a:solidFill>
                            <a:srgbClr val="666666"/>
                          </a:solidFill>
                        </a:rPr>
                        <a:t>KHMT</a:t>
                      </a:r>
                      <a:endParaRPr sz="2400">
                        <a:solidFill>
                          <a:srgbClr val="666666"/>
                        </a:solidFill>
                      </a:endParaRPr>
                    </a:p>
                  </a:txBody>
                  <a:tcPr marT="121900" marB="121900" marR="91425" marL="91425"/>
                </a:tc>
              </a:tr>
            </a:tbl>
          </a:graphicData>
        </a:graphic>
      </p:graphicFrame>
      <p:sp>
        <p:nvSpPr>
          <p:cNvPr id="304" name="Google Shape;304;p36"/>
          <p:cNvSpPr txBox="1"/>
          <p:nvPr/>
        </p:nvSpPr>
        <p:spPr>
          <a:xfrm>
            <a:off x="1046825" y="1100267"/>
            <a:ext cx="920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t>Sách</a:t>
            </a:r>
            <a:endParaRPr sz="2400"/>
          </a:p>
        </p:txBody>
      </p:sp>
      <p:sp>
        <p:nvSpPr>
          <p:cNvPr id="305" name="Google Shape;305;p36"/>
          <p:cNvSpPr txBox="1"/>
          <p:nvPr/>
        </p:nvSpPr>
        <p:spPr>
          <a:xfrm>
            <a:off x="970625" y="3030667"/>
            <a:ext cx="2160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t>Giáo trình</a:t>
            </a:r>
            <a:endParaRPr sz="2400"/>
          </a:p>
        </p:txBody>
      </p:sp>
      <p:sp>
        <p:nvSpPr>
          <p:cNvPr id="306" name="Google Shape;306;p36"/>
          <p:cNvSpPr txBox="1"/>
          <p:nvPr/>
        </p:nvSpPr>
        <p:spPr>
          <a:xfrm>
            <a:off x="4249625" y="2973600"/>
            <a:ext cx="4058100" cy="48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GB" sz="1800"/>
              <a:t>Không có liên kết giữa bảng của lớp cha và bảng của lớp con</a:t>
            </a:r>
            <a:endParaRPr i="1"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0" name="Shape 310"/>
        <p:cNvGrpSpPr/>
        <p:nvPr/>
      </p:nvGrpSpPr>
      <p:grpSpPr>
        <a:xfrm>
          <a:off x="0" y="0"/>
          <a:ext cx="0" cy="0"/>
          <a:chOff x="0" y="0"/>
          <a:chExt cx="0" cy="0"/>
        </a:xfrm>
      </p:grpSpPr>
      <p:sp>
        <p:nvSpPr>
          <p:cNvPr id="311" name="Google Shape;311;p37"/>
          <p:cNvSpPr txBox="1"/>
          <p:nvPr>
            <p:ph idx="12" type="sldNum"/>
          </p:nvPr>
        </p:nvSpPr>
        <p:spPr>
          <a:xfrm>
            <a:off x="8472458" y="6217622"/>
            <a:ext cx="548700" cy="524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12" name="Google Shape;312;p37"/>
          <p:cNvSpPr txBox="1"/>
          <p:nvPr>
            <p:ph type="title"/>
          </p:nvPr>
        </p:nvSpPr>
        <p:spPr>
          <a:xfrm>
            <a:off x="311700" y="186967"/>
            <a:ext cx="8520600" cy="763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lang="en-GB">
                <a:solidFill>
                  <a:srgbClr val="000000"/>
                </a:solidFill>
              </a:rPr>
              <a:t>Ví dụ </a:t>
            </a:r>
            <a:r>
              <a:rPr lang="en-GB">
                <a:solidFill>
                  <a:srgbClr val="000000"/>
                </a:solidFill>
              </a:rPr>
              <a:t>5. Làm phẳng cây kế thừa</a:t>
            </a:r>
            <a:endParaRPr>
              <a:solidFill>
                <a:srgbClr val="000000"/>
              </a:solidFill>
            </a:endParaRPr>
          </a:p>
        </p:txBody>
      </p:sp>
      <p:sp>
        <p:nvSpPr>
          <p:cNvPr id="313" name="Google Shape;313;p37"/>
          <p:cNvSpPr txBox="1"/>
          <p:nvPr/>
        </p:nvSpPr>
        <p:spPr>
          <a:xfrm>
            <a:off x="435950" y="5213200"/>
            <a:ext cx="8207700" cy="124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rPr i="1" lang="en-GB" sz="2400">
                <a:solidFill>
                  <a:srgbClr val="434343"/>
                </a:solidFill>
              </a:rPr>
              <a:t>Có thể tiết kiệm dung lượng nếu có </a:t>
            </a:r>
            <a:r>
              <a:rPr i="1" lang="en-GB" sz="2400">
                <a:solidFill>
                  <a:srgbClr val="434343"/>
                </a:solidFill>
              </a:rPr>
              <a:t>ít</a:t>
            </a:r>
            <a:r>
              <a:rPr i="1" lang="en-GB" sz="2400">
                <a:solidFill>
                  <a:srgbClr val="434343"/>
                </a:solidFill>
              </a:rPr>
              <a:t> thuộc tính thường xuyên có giá trị NULL</a:t>
            </a:r>
            <a:endParaRPr i="1" sz="2400">
              <a:solidFill>
                <a:srgbClr val="434343"/>
              </a:solidFill>
            </a:endParaRPr>
          </a:p>
          <a:p>
            <a:pPr indent="0" lvl="0" marL="0" marR="0" rtl="0" algn="l">
              <a:lnSpc>
                <a:spcPct val="100000"/>
              </a:lnSpc>
              <a:spcBef>
                <a:spcPts val="0"/>
              </a:spcBef>
              <a:spcAft>
                <a:spcPts val="0"/>
              </a:spcAft>
              <a:buClr>
                <a:schemeClr val="dk1"/>
              </a:buClr>
              <a:buSzPts val="2400"/>
              <a:buFont typeface="Tahoma"/>
              <a:buNone/>
            </a:pPr>
            <a:r>
              <a:rPr i="1" lang="en-GB" sz="2400">
                <a:solidFill>
                  <a:srgbClr val="434343"/>
                </a:solidFill>
              </a:rPr>
              <a:t>!</a:t>
            </a:r>
            <a:r>
              <a:rPr i="1" lang="en-GB" sz="2400">
                <a:solidFill>
                  <a:srgbClr val="434343"/>
                </a:solidFill>
              </a:rPr>
              <a:t>Lưu ý: Dữ liệu ở dạng phi chuẩn.</a:t>
            </a:r>
            <a:endParaRPr i="1" sz="2400">
              <a:solidFill>
                <a:srgbClr val="434343"/>
              </a:solidFill>
            </a:endParaRPr>
          </a:p>
        </p:txBody>
      </p:sp>
      <p:graphicFrame>
        <p:nvGraphicFramePr>
          <p:cNvPr id="314" name="Google Shape;314;p37"/>
          <p:cNvGraphicFramePr/>
          <p:nvPr/>
        </p:nvGraphicFramePr>
        <p:xfrm>
          <a:off x="630975" y="3383538"/>
          <a:ext cx="3000000" cy="3000000"/>
        </p:xfrm>
        <a:graphic>
          <a:graphicData uri="http://schemas.openxmlformats.org/drawingml/2006/table">
            <a:tbl>
              <a:tblPr>
                <a:noFill/>
                <a:tableStyleId>{79F57D95-B6EA-4ABF-9AA9-D1E840C71FE3}</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rPr lang="en-GB" sz="2400"/>
                        <a:t>Tên</a:t>
                      </a:r>
                      <a:endParaRPr sz="2400"/>
                    </a:p>
                  </a:txBody>
                  <a:tcPr marT="91425" marB="91425" marR="91425" marL="91425"/>
                </a:tc>
                <a:tc>
                  <a:txBody>
                    <a:bodyPr/>
                    <a:lstStyle/>
                    <a:p>
                      <a:pPr indent="0" lvl="0" marL="0" rtl="0" algn="ctr">
                        <a:spcBef>
                          <a:spcPts val="0"/>
                        </a:spcBef>
                        <a:spcAft>
                          <a:spcPts val="0"/>
                        </a:spcAft>
                        <a:buNone/>
                      </a:pPr>
                      <a:r>
                        <a:rPr lang="en-GB" sz="2400"/>
                        <a:t>NXB</a:t>
                      </a:r>
                      <a:endParaRPr sz="2400"/>
                    </a:p>
                  </a:txBody>
                  <a:tcPr marT="91425" marB="91425" marR="91425" marL="91425"/>
                </a:tc>
                <a:tc>
                  <a:txBody>
                    <a:bodyPr/>
                    <a:lstStyle/>
                    <a:p>
                      <a:pPr indent="0" lvl="0" marL="0" rtl="0" algn="ctr">
                        <a:spcBef>
                          <a:spcPts val="0"/>
                        </a:spcBef>
                        <a:spcAft>
                          <a:spcPts val="0"/>
                        </a:spcAft>
                        <a:buNone/>
                      </a:pPr>
                      <a:r>
                        <a:rPr b="1" lang="en-GB" sz="2400" u="sng"/>
                        <a:t>Mã XB</a:t>
                      </a:r>
                      <a:endParaRPr b="1" sz="2400" u="sng"/>
                    </a:p>
                  </a:txBody>
                  <a:tcPr marT="91425" marB="91425" marR="91425" marL="91425"/>
                </a:tc>
                <a:tc>
                  <a:txBody>
                    <a:bodyPr/>
                    <a:lstStyle/>
                    <a:p>
                      <a:pPr indent="0" lvl="0" marL="0" rtl="0" algn="ctr">
                        <a:spcBef>
                          <a:spcPts val="0"/>
                        </a:spcBef>
                        <a:spcAft>
                          <a:spcPts val="0"/>
                        </a:spcAft>
                        <a:buNone/>
                      </a:pPr>
                      <a:r>
                        <a:rPr lang="en-GB" sz="2400"/>
                        <a:t>CTĐT</a:t>
                      </a:r>
                      <a:endParaRPr sz="2400"/>
                    </a:p>
                  </a:txBody>
                  <a:tcPr marT="91425" marB="91425" marR="91425" marL="91425"/>
                </a:tc>
                <a:tc>
                  <a:txBody>
                    <a:bodyPr/>
                    <a:lstStyle/>
                    <a:p>
                      <a:pPr indent="0" lvl="0" marL="0" rtl="0" algn="ctr">
                        <a:spcBef>
                          <a:spcPts val="0"/>
                        </a:spcBef>
                        <a:spcAft>
                          <a:spcPts val="0"/>
                        </a:spcAft>
                        <a:buNone/>
                      </a:pPr>
                      <a:r>
                        <a:rPr lang="en-GB" sz="2400"/>
                        <a:t>Kiểu</a:t>
                      </a:r>
                      <a:endParaRPr sz="2400"/>
                    </a:p>
                  </a:txBody>
                  <a:tcPr marT="91425" marB="91425" marR="91425" marL="91425"/>
                </a:tc>
              </a:tr>
              <a:tr h="381000">
                <a:tc>
                  <a:txBody>
                    <a:bodyPr/>
                    <a:lstStyle/>
                    <a:p>
                      <a:pPr indent="0" lvl="0" marL="0" rtl="0" algn="l">
                        <a:spcBef>
                          <a:spcPts val="0"/>
                        </a:spcBef>
                        <a:spcAft>
                          <a:spcPts val="0"/>
                        </a:spcAft>
                        <a:buNone/>
                      </a:pPr>
                      <a:r>
                        <a:rPr lang="en-GB" sz="2400">
                          <a:solidFill>
                            <a:srgbClr val="666666"/>
                          </a:solidFill>
                        </a:rPr>
                        <a:t>Tin ĐC</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BKB</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B111</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KHMT</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1</a:t>
                      </a:r>
                      <a:endParaRPr sz="2400">
                        <a:solidFill>
                          <a:srgbClr val="666666"/>
                        </a:solidFill>
                      </a:endParaRPr>
                    </a:p>
                  </a:txBody>
                  <a:tcPr marT="91425" marB="91425" marR="91425" marL="91425"/>
                </a:tc>
              </a:tr>
              <a:tr h="381000">
                <a:tc>
                  <a:txBody>
                    <a:bodyPr/>
                    <a:lstStyle/>
                    <a:p>
                      <a:pPr indent="0" lvl="0" marL="0" rtl="0" algn="l">
                        <a:spcBef>
                          <a:spcPts val="0"/>
                        </a:spcBef>
                        <a:spcAft>
                          <a:spcPts val="0"/>
                        </a:spcAft>
                        <a:buNone/>
                      </a:pPr>
                      <a:r>
                        <a:rPr lang="en-GB" sz="2400">
                          <a:solidFill>
                            <a:srgbClr val="666666"/>
                          </a:solidFill>
                        </a:rPr>
                        <a:t>LT HĐT</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KHKT</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KT123</a:t>
                      </a:r>
                      <a:endParaRPr sz="2400">
                        <a:solidFill>
                          <a:srgbClr val="666666"/>
                        </a:solidFill>
                      </a:endParaRPr>
                    </a:p>
                  </a:txBody>
                  <a:tcPr marT="91425" marB="91425" marR="91425" marL="91425"/>
                </a:tc>
                <a:tc>
                  <a:txBody>
                    <a:bodyPr/>
                    <a:lstStyle/>
                    <a:p>
                      <a:pPr indent="0" lvl="0" marL="0" rtl="0" algn="l">
                        <a:spcBef>
                          <a:spcPts val="0"/>
                        </a:spcBef>
                        <a:spcAft>
                          <a:spcPts val="0"/>
                        </a:spcAft>
                        <a:buNone/>
                      </a:pPr>
                      <a:r>
                        <a:rPr b="1" lang="en-GB" sz="2400">
                          <a:solidFill>
                            <a:srgbClr val="666666"/>
                          </a:solidFill>
                        </a:rPr>
                        <a:t>NULL</a:t>
                      </a:r>
                      <a:endParaRPr b="1" sz="2400">
                        <a:solidFill>
                          <a:srgbClr val="666666"/>
                        </a:solidFill>
                      </a:endParaRPr>
                    </a:p>
                  </a:txBody>
                  <a:tcPr marT="91425" marB="91425" marR="91425" marL="91425"/>
                </a:tc>
                <a:tc>
                  <a:txBody>
                    <a:bodyPr/>
                    <a:lstStyle/>
                    <a:p>
                      <a:pPr indent="0" lvl="0" marL="0" rtl="0" algn="l">
                        <a:spcBef>
                          <a:spcPts val="0"/>
                        </a:spcBef>
                        <a:spcAft>
                          <a:spcPts val="0"/>
                        </a:spcAft>
                        <a:buNone/>
                      </a:pPr>
                      <a:r>
                        <a:rPr lang="en-GB" sz="2400">
                          <a:solidFill>
                            <a:srgbClr val="666666"/>
                          </a:solidFill>
                        </a:rPr>
                        <a:t>2</a:t>
                      </a:r>
                      <a:endParaRPr sz="2400">
                        <a:solidFill>
                          <a:srgbClr val="666666"/>
                        </a:solidFill>
                      </a:endParaRPr>
                    </a:p>
                  </a:txBody>
                  <a:tcPr marT="91425" marB="91425" marR="91425" marL="91425"/>
                </a:tc>
              </a:tr>
            </a:tbl>
          </a:graphicData>
        </a:graphic>
      </p:graphicFrame>
      <p:graphicFrame>
        <p:nvGraphicFramePr>
          <p:cNvPr id="315" name="Google Shape;315;p37"/>
          <p:cNvGraphicFramePr/>
          <p:nvPr/>
        </p:nvGraphicFramePr>
        <p:xfrm>
          <a:off x="707175" y="1356875"/>
          <a:ext cx="3000000" cy="3000000"/>
        </p:xfrm>
        <a:graphic>
          <a:graphicData uri="http://schemas.openxmlformats.org/drawingml/2006/table">
            <a:tbl>
              <a:tblPr>
                <a:noFill/>
                <a:tableStyleId>{79F57D95-B6EA-4ABF-9AA9-D1E840C71FE3}</a:tableStyleId>
              </a:tblPr>
              <a:tblGrid>
                <a:gridCol w="1261450"/>
                <a:gridCol w="3469750"/>
              </a:tblGrid>
              <a:tr h="473750">
                <a:tc>
                  <a:txBody>
                    <a:bodyPr/>
                    <a:lstStyle/>
                    <a:p>
                      <a:pPr indent="0" lvl="0" marL="0" rtl="0" algn="ctr">
                        <a:spcBef>
                          <a:spcPts val="0"/>
                        </a:spcBef>
                        <a:spcAft>
                          <a:spcPts val="0"/>
                        </a:spcAft>
                        <a:buNone/>
                      </a:pPr>
                      <a:r>
                        <a:rPr b="1" lang="en-GB" sz="2400" u="sng"/>
                        <a:t>Mã số</a:t>
                      </a:r>
                      <a:endParaRPr b="1" sz="2400" u="sng"/>
                    </a:p>
                  </a:txBody>
                  <a:tcPr marT="54000" marB="54000" marR="91425" marL="91425"/>
                </a:tc>
                <a:tc>
                  <a:txBody>
                    <a:bodyPr/>
                    <a:lstStyle/>
                    <a:p>
                      <a:pPr indent="0" lvl="0" marL="0" rtl="0" algn="ctr">
                        <a:spcBef>
                          <a:spcPts val="0"/>
                        </a:spcBef>
                        <a:spcAft>
                          <a:spcPts val="0"/>
                        </a:spcAft>
                        <a:buNone/>
                      </a:pPr>
                      <a:r>
                        <a:rPr lang="en-GB" sz="2400"/>
                        <a:t>Phân loại sách</a:t>
                      </a:r>
                      <a:endParaRPr sz="2400"/>
                    </a:p>
                  </a:txBody>
                  <a:tcPr marT="54000" marB="54000" marR="91425" marL="91425"/>
                </a:tc>
              </a:tr>
              <a:tr h="473750">
                <a:tc>
                  <a:txBody>
                    <a:bodyPr/>
                    <a:lstStyle/>
                    <a:p>
                      <a:pPr indent="0" lvl="0" marL="0" rtl="0" algn="l">
                        <a:spcBef>
                          <a:spcPts val="0"/>
                        </a:spcBef>
                        <a:spcAft>
                          <a:spcPts val="0"/>
                        </a:spcAft>
                        <a:buNone/>
                      </a:pPr>
                      <a:r>
                        <a:rPr lang="en-GB" sz="2400"/>
                        <a:t>1</a:t>
                      </a:r>
                      <a:endParaRPr sz="2400"/>
                    </a:p>
                  </a:txBody>
                  <a:tcPr marT="54000" marB="54000" marR="91425" marL="91425"/>
                </a:tc>
                <a:tc>
                  <a:txBody>
                    <a:bodyPr/>
                    <a:lstStyle/>
                    <a:p>
                      <a:pPr indent="0" lvl="0" marL="0" rtl="0" algn="l">
                        <a:spcBef>
                          <a:spcPts val="0"/>
                        </a:spcBef>
                        <a:spcAft>
                          <a:spcPts val="0"/>
                        </a:spcAft>
                        <a:buNone/>
                      </a:pPr>
                      <a:r>
                        <a:rPr lang="en-GB" sz="2400"/>
                        <a:t>Sách</a:t>
                      </a:r>
                      <a:endParaRPr sz="2400"/>
                    </a:p>
                  </a:txBody>
                  <a:tcPr marT="54000" marB="54000" marR="91425" marL="91425"/>
                </a:tc>
              </a:tr>
              <a:tr h="473750">
                <a:tc>
                  <a:txBody>
                    <a:bodyPr/>
                    <a:lstStyle/>
                    <a:p>
                      <a:pPr indent="0" lvl="0" marL="0" rtl="0" algn="l">
                        <a:spcBef>
                          <a:spcPts val="0"/>
                        </a:spcBef>
                        <a:spcAft>
                          <a:spcPts val="0"/>
                        </a:spcAft>
                        <a:buNone/>
                      </a:pPr>
                      <a:r>
                        <a:rPr lang="en-GB" sz="2400"/>
                        <a:t>2</a:t>
                      </a:r>
                      <a:endParaRPr sz="2400"/>
                    </a:p>
                  </a:txBody>
                  <a:tcPr marT="54000" marB="54000" marR="91425" marL="91425"/>
                </a:tc>
                <a:tc>
                  <a:txBody>
                    <a:bodyPr/>
                    <a:lstStyle/>
                    <a:p>
                      <a:pPr indent="0" lvl="0" marL="0" rtl="0" algn="l">
                        <a:spcBef>
                          <a:spcPts val="0"/>
                        </a:spcBef>
                        <a:spcAft>
                          <a:spcPts val="0"/>
                        </a:spcAft>
                        <a:buNone/>
                      </a:pPr>
                      <a:r>
                        <a:rPr lang="en-GB" sz="2400"/>
                        <a:t>Sách Giáo Trình</a:t>
                      </a:r>
                      <a:endParaRPr sz="2400"/>
                    </a:p>
                  </a:txBody>
                  <a:tcPr marT="54000" marB="54000" marR="91425" marL="91425"/>
                </a:tc>
              </a:tr>
            </a:tbl>
          </a:graphicData>
        </a:graphic>
      </p:graphicFrame>
      <p:sp>
        <p:nvSpPr>
          <p:cNvPr id="316" name="Google Shape;316;p37"/>
          <p:cNvSpPr/>
          <p:nvPr/>
        </p:nvSpPr>
        <p:spPr>
          <a:xfrm>
            <a:off x="1290450" y="2662050"/>
            <a:ext cx="5900300" cy="730425"/>
          </a:xfrm>
          <a:custGeom>
            <a:rect b="b" l="l" r="r" t="t"/>
            <a:pathLst>
              <a:path extrusionOk="0" h="29217" w="236012">
                <a:moveTo>
                  <a:pt x="0" y="0"/>
                </a:moveTo>
                <a:lnTo>
                  <a:pt x="0" y="11362"/>
                </a:lnTo>
                <a:lnTo>
                  <a:pt x="236012" y="11362"/>
                </a:lnTo>
                <a:lnTo>
                  <a:pt x="236012" y="29217"/>
                </a:lnTo>
              </a:path>
            </a:pathLst>
          </a:custGeom>
          <a:noFill/>
          <a:ln cap="flat" cmpd="sng" w="9525">
            <a:solidFill>
              <a:schemeClr val="dk2"/>
            </a:solidFill>
            <a:prstDash val="solid"/>
            <a:round/>
            <a:headEnd len="med" w="med" type="oval"/>
            <a:tailEnd len="med" w="med" type="oval"/>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2" name="Google Shape;322;p3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6. L</a:t>
            </a:r>
            <a:r>
              <a:rPr lang="en-GB"/>
              <a:t>ưu trữ đối tượng: Quan h</a:t>
            </a:r>
            <a:r>
              <a:rPr lang="en-GB"/>
              <a:t>ệ 1-nhiều</a:t>
            </a:r>
            <a:endParaRPr/>
          </a:p>
        </p:txBody>
      </p:sp>
      <p:graphicFrame>
        <p:nvGraphicFramePr>
          <p:cNvPr id="323" name="Google Shape;323;p38"/>
          <p:cNvGraphicFramePr/>
          <p:nvPr/>
        </p:nvGraphicFramePr>
        <p:xfrm>
          <a:off x="426675" y="1118375"/>
          <a:ext cx="3000000" cy="3000000"/>
        </p:xfrm>
        <a:graphic>
          <a:graphicData uri="http://schemas.openxmlformats.org/drawingml/2006/table">
            <a:tbl>
              <a:tblPr>
                <a:noFill/>
                <a:tableStyleId>{79F57D95-B6EA-4ABF-9AA9-D1E840C71FE3}</a:tableStyleId>
              </a:tblPr>
              <a:tblGrid>
                <a:gridCol w="1256625"/>
              </a:tblGrid>
              <a:tr h="100000">
                <a:tc>
                  <a:txBody>
                    <a:bodyPr/>
                    <a:lstStyle/>
                    <a:p>
                      <a:pPr indent="0" lvl="0" marL="0" rtl="0" algn="ctr">
                        <a:spcBef>
                          <a:spcPts val="0"/>
                        </a:spcBef>
                        <a:spcAft>
                          <a:spcPts val="0"/>
                        </a:spcAft>
                        <a:buNone/>
                      </a:pPr>
                      <a:r>
                        <a:rPr lang="en-GB" sz="1600"/>
                        <a:t>Bài kiểm tra</a:t>
                      </a:r>
                      <a:endParaRPr sz="1600"/>
                    </a:p>
                  </a:txBody>
                  <a:tcPr marT="91425" marB="91425" marR="91425" marL="91425"/>
                </a:tc>
              </a:tr>
              <a:tr h="455875">
                <a:tc>
                  <a:txBody>
                    <a:bodyPr/>
                    <a:lstStyle/>
                    <a:p>
                      <a:pPr indent="0" lvl="0" marL="0" rtl="0" algn="l">
                        <a:spcBef>
                          <a:spcPts val="0"/>
                        </a:spcBef>
                        <a:spcAft>
                          <a:spcPts val="0"/>
                        </a:spcAft>
                        <a:buNone/>
                      </a:pPr>
                      <a:r>
                        <a:rPr lang="en-GB" sz="1600"/>
                        <a:t>Tiêu đề</a:t>
                      </a:r>
                      <a:endParaRPr sz="1600"/>
                    </a:p>
                  </a:txBody>
                  <a:tcPr marT="91425" marB="91425" marR="91425" marL="91425"/>
                </a:tc>
              </a:tr>
            </a:tbl>
          </a:graphicData>
        </a:graphic>
      </p:graphicFrame>
      <p:graphicFrame>
        <p:nvGraphicFramePr>
          <p:cNvPr id="324" name="Google Shape;324;p38"/>
          <p:cNvGraphicFramePr/>
          <p:nvPr/>
        </p:nvGraphicFramePr>
        <p:xfrm>
          <a:off x="2679986" y="1108392"/>
          <a:ext cx="3000000" cy="3000000"/>
        </p:xfrm>
        <a:graphic>
          <a:graphicData uri="http://schemas.openxmlformats.org/drawingml/2006/table">
            <a:tbl>
              <a:tblPr>
                <a:noFill/>
                <a:tableStyleId>{79F57D95-B6EA-4ABF-9AA9-D1E840C71FE3}</a:tableStyleId>
              </a:tblPr>
              <a:tblGrid>
                <a:gridCol w="1510625"/>
              </a:tblGrid>
              <a:tr h="100000">
                <a:tc>
                  <a:txBody>
                    <a:bodyPr/>
                    <a:lstStyle/>
                    <a:p>
                      <a:pPr indent="0" lvl="0" marL="0" rtl="0" algn="ctr">
                        <a:spcBef>
                          <a:spcPts val="0"/>
                        </a:spcBef>
                        <a:spcAft>
                          <a:spcPts val="0"/>
                        </a:spcAft>
                        <a:buNone/>
                      </a:pPr>
                      <a:r>
                        <a:rPr lang="en-GB" sz="1600"/>
                        <a:t>Mục kiểm tra</a:t>
                      </a:r>
                      <a:endParaRPr sz="1600"/>
                    </a:p>
                  </a:txBody>
                  <a:tcPr marT="91425" marB="91425" marR="91425" marL="91425"/>
                </a:tc>
              </a:tr>
              <a:tr h="455875">
                <a:tc>
                  <a:txBody>
                    <a:bodyPr/>
                    <a:lstStyle/>
                    <a:p>
                      <a:pPr indent="0" lvl="0" marL="0" rtl="0" algn="l">
                        <a:spcBef>
                          <a:spcPts val="0"/>
                        </a:spcBef>
                        <a:spcAft>
                          <a:spcPts val="0"/>
                        </a:spcAft>
                        <a:buNone/>
                      </a:pPr>
                      <a:r>
                        <a:rPr lang="en-GB" sz="1600"/>
                        <a:t>tên câu hỏi</a:t>
                      </a:r>
                      <a:endParaRPr sz="1600"/>
                    </a:p>
                  </a:txBody>
                  <a:tcPr marT="91425" marB="91425" marR="91425" marL="91425"/>
                </a:tc>
              </a:tr>
            </a:tbl>
          </a:graphicData>
        </a:graphic>
      </p:graphicFrame>
      <p:cxnSp>
        <p:nvCxnSpPr>
          <p:cNvPr id="325" name="Google Shape;325;p38"/>
          <p:cNvCxnSpPr>
            <a:stCxn id="326" idx="3"/>
          </p:cNvCxnSpPr>
          <p:nvPr/>
        </p:nvCxnSpPr>
        <p:spPr>
          <a:xfrm flipH="1" rot="10800000">
            <a:off x="1878700" y="1358569"/>
            <a:ext cx="809100" cy="7200"/>
          </a:xfrm>
          <a:prstGeom prst="straightConnector1">
            <a:avLst/>
          </a:prstGeom>
          <a:noFill/>
          <a:ln cap="flat" cmpd="sng" w="9525">
            <a:solidFill>
              <a:schemeClr val="dk2"/>
            </a:solidFill>
            <a:prstDash val="solid"/>
            <a:round/>
            <a:headEnd len="med" w="med" type="none"/>
            <a:tailEnd len="med" w="med" type="none"/>
          </a:ln>
        </p:spPr>
      </p:cxnSp>
      <p:sp>
        <p:nvSpPr>
          <p:cNvPr id="327" name="Google Shape;327;p38"/>
          <p:cNvSpPr txBox="1"/>
          <p:nvPr/>
        </p:nvSpPr>
        <p:spPr>
          <a:xfrm>
            <a:off x="1721925" y="1416600"/>
            <a:ext cx="3594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rPr>
              <a:t>1</a:t>
            </a:r>
            <a:endParaRPr b="1">
              <a:solidFill>
                <a:schemeClr val="dk2"/>
              </a:solidFill>
            </a:endParaRPr>
          </a:p>
        </p:txBody>
      </p:sp>
      <p:sp>
        <p:nvSpPr>
          <p:cNvPr id="328" name="Google Shape;328;p38"/>
          <p:cNvSpPr txBox="1"/>
          <p:nvPr/>
        </p:nvSpPr>
        <p:spPr>
          <a:xfrm>
            <a:off x="2207494" y="1416600"/>
            <a:ext cx="5487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rPr>
              <a:t>0..*</a:t>
            </a:r>
            <a:endParaRPr b="1">
              <a:solidFill>
                <a:schemeClr val="dk2"/>
              </a:solidFill>
            </a:endParaRPr>
          </a:p>
        </p:txBody>
      </p:sp>
      <p:sp>
        <p:nvSpPr>
          <p:cNvPr id="326" name="Google Shape;326;p38"/>
          <p:cNvSpPr/>
          <p:nvPr/>
        </p:nvSpPr>
        <p:spPr>
          <a:xfrm>
            <a:off x="1694825" y="1306007"/>
            <a:ext cx="183875" cy="119525"/>
          </a:xfrm>
          <a:prstGeom prst="flowChartDecision">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329" name="Google Shape;329;p38"/>
          <p:cNvGraphicFramePr/>
          <p:nvPr/>
        </p:nvGraphicFramePr>
        <p:xfrm>
          <a:off x="4699200" y="1118375"/>
          <a:ext cx="3000000" cy="3000000"/>
        </p:xfrm>
        <a:graphic>
          <a:graphicData uri="http://schemas.openxmlformats.org/drawingml/2006/table">
            <a:tbl>
              <a:tblPr>
                <a:noFill/>
                <a:tableStyleId>{79F57D95-B6EA-4ABF-9AA9-D1E840C71FE3}</a:tableStyleId>
              </a:tblPr>
              <a:tblGrid>
                <a:gridCol w="1403700"/>
              </a:tblGrid>
              <a:tr h="100000">
                <a:tc>
                  <a:txBody>
                    <a:bodyPr/>
                    <a:lstStyle/>
                    <a:p>
                      <a:pPr indent="0" lvl="0" marL="0" rtl="0" algn="ctr">
                        <a:spcBef>
                          <a:spcPts val="0"/>
                        </a:spcBef>
                        <a:spcAft>
                          <a:spcPts val="0"/>
                        </a:spcAft>
                        <a:buNone/>
                      </a:pPr>
                      <a:r>
                        <a:rPr lang="en-GB" sz="1600"/>
                        <a:t>Bài kiểm tra</a:t>
                      </a:r>
                      <a:endParaRPr sz="1600"/>
                    </a:p>
                  </a:txBody>
                  <a:tcPr marT="91425" marB="91425" marR="91425" marL="91425"/>
                </a:tc>
              </a:tr>
              <a:tr h="455875">
                <a:tc>
                  <a:txBody>
                    <a:bodyPr/>
                    <a:lstStyle/>
                    <a:p>
                      <a:pPr indent="0" lvl="0" marL="0" rtl="0" algn="l">
                        <a:spcBef>
                          <a:spcPts val="0"/>
                        </a:spcBef>
                        <a:spcAft>
                          <a:spcPts val="0"/>
                        </a:spcAft>
                        <a:buNone/>
                      </a:pPr>
                      <a:r>
                        <a:rPr b="1" lang="en-GB" sz="1600"/>
                        <a:t>id            </a:t>
                      </a:r>
                      <a:r>
                        <a:rPr b="1" lang="en-GB" sz="1600"/>
                        <a:t>PK</a:t>
                      </a:r>
                      <a:endParaRPr b="1" sz="1600"/>
                    </a:p>
                    <a:p>
                      <a:pPr indent="0" lvl="0" marL="0" rtl="0" algn="l">
                        <a:spcBef>
                          <a:spcPts val="0"/>
                        </a:spcBef>
                        <a:spcAft>
                          <a:spcPts val="0"/>
                        </a:spcAft>
                        <a:buNone/>
                      </a:pPr>
                      <a:r>
                        <a:rPr lang="en-GB" sz="1600"/>
                        <a:t>Tiêu đề</a:t>
                      </a:r>
                      <a:endParaRPr sz="1600"/>
                    </a:p>
                  </a:txBody>
                  <a:tcPr marT="91425" marB="91425" marR="91425" marL="91425"/>
                </a:tc>
              </a:tr>
            </a:tbl>
          </a:graphicData>
        </a:graphic>
      </p:graphicFrame>
      <p:graphicFrame>
        <p:nvGraphicFramePr>
          <p:cNvPr id="330" name="Google Shape;330;p38"/>
          <p:cNvGraphicFramePr/>
          <p:nvPr/>
        </p:nvGraphicFramePr>
        <p:xfrm>
          <a:off x="6965572" y="1108392"/>
          <a:ext cx="3000000" cy="3000000"/>
        </p:xfrm>
        <a:graphic>
          <a:graphicData uri="http://schemas.openxmlformats.org/drawingml/2006/table">
            <a:tbl>
              <a:tblPr>
                <a:noFill/>
                <a:tableStyleId>{79F57D95-B6EA-4ABF-9AA9-D1E840C71FE3}</a:tableStyleId>
              </a:tblPr>
              <a:tblGrid>
                <a:gridCol w="1878350"/>
              </a:tblGrid>
              <a:tr h="100000">
                <a:tc>
                  <a:txBody>
                    <a:bodyPr/>
                    <a:lstStyle/>
                    <a:p>
                      <a:pPr indent="0" lvl="0" marL="0" rtl="0" algn="ctr">
                        <a:spcBef>
                          <a:spcPts val="0"/>
                        </a:spcBef>
                        <a:spcAft>
                          <a:spcPts val="0"/>
                        </a:spcAft>
                        <a:buNone/>
                      </a:pPr>
                      <a:r>
                        <a:rPr lang="en-GB" sz="1600"/>
                        <a:t>Mục kiểm tra</a:t>
                      </a:r>
                      <a:endParaRPr sz="1600"/>
                    </a:p>
                  </a:txBody>
                  <a:tcPr marT="91425" marB="91425" marR="91425" marL="91425"/>
                </a:tc>
              </a:tr>
              <a:tr h="455875">
                <a:tc>
                  <a:txBody>
                    <a:bodyPr/>
                    <a:lstStyle/>
                    <a:p>
                      <a:pPr indent="0" lvl="0" marL="0" rtl="0" algn="l">
                        <a:spcBef>
                          <a:spcPts val="0"/>
                        </a:spcBef>
                        <a:spcAft>
                          <a:spcPts val="0"/>
                        </a:spcAft>
                        <a:buNone/>
                      </a:pPr>
                      <a:r>
                        <a:rPr lang="en-GB" sz="1600"/>
                        <a:t>id</a:t>
                      </a:r>
                      <a:endParaRPr sz="1600"/>
                    </a:p>
                    <a:p>
                      <a:pPr indent="0" lvl="0" marL="0" rtl="0" algn="l">
                        <a:spcBef>
                          <a:spcPts val="0"/>
                        </a:spcBef>
                        <a:spcAft>
                          <a:spcPts val="0"/>
                        </a:spcAft>
                        <a:buNone/>
                      </a:pPr>
                      <a:r>
                        <a:rPr lang="en-GB" sz="1600"/>
                        <a:t>id bài kiểm tra  </a:t>
                      </a:r>
                      <a:r>
                        <a:rPr b="1" i="1" lang="en-GB" sz="1600"/>
                        <a:t>FK</a:t>
                      </a:r>
                      <a:endParaRPr b="1" i="1" sz="1600"/>
                    </a:p>
                    <a:p>
                      <a:pPr indent="0" lvl="0" marL="0" rtl="0" algn="l">
                        <a:spcBef>
                          <a:spcPts val="0"/>
                        </a:spcBef>
                        <a:spcAft>
                          <a:spcPts val="0"/>
                        </a:spcAft>
                        <a:buNone/>
                      </a:pPr>
                      <a:r>
                        <a:rPr lang="en-GB" sz="1600"/>
                        <a:t>tên câu hỏi</a:t>
                      </a:r>
                      <a:endParaRPr sz="1600"/>
                    </a:p>
                  </a:txBody>
                  <a:tcPr marT="91425" marB="91425" marR="91425" marL="91425"/>
                </a:tc>
              </a:tr>
            </a:tbl>
          </a:graphicData>
        </a:graphic>
      </p:graphicFrame>
      <p:cxnSp>
        <p:nvCxnSpPr>
          <p:cNvPr id="331" name="Google Shape;331;p38"/>
          <p:cNvCxnSpPr/>
          <p:nvPr/>
        </p:nvCxnSpPr>
        <p:spPr>
          <a:xfrm>
            <a:off x="6100275" y="1362350"/>
            <a:ext cx="867300" cy="3300"/>
          </a:xfrm>
          <a:prstGeom prst="straightConnector1">
            <a:avLst/>
          </a:prstGeom>
          <a:noFill/>
          <a:ln cap="flat" cmpd="sng" w="9525">
            <a:solidFill>
              <a:schemeClr val="dk2"/>
            </a:solidFill>
            <a:prstDash val="solid"/>
            <a:round/>
            <a:headEnd len="med" w="med" type="none"/>
            <a:tailEnd len="med" w="med" type="none"/>
          </a:ln>
        </p:spPr>
      </p:cxnSp>
      <p:graphicFrame>
        <p:nvGraphicFramePr>
          <p:cNvPr id="332" name="Google Shape;332;p38"/>
          <p:cNvGraphicFramePr/>
          <p:nvPr/>
        </p:nvGraphicFramePr>
        <p:xfrm>
          <a:off x="3196925" y="2468200"/>
          <a:ext cx="3000000" cy="3000000"/>
        </p:xfrm>
        <a:graphic>
          <a:graphicData uri="http://schemas.openxmlformats.org/drawingml/2006/table">
            <a:tbl>
              <a:tblPr>
                <a:noFill/>
                <a:tableStyleId>{79F57D95-B6EA-4ABF-9AA9-D1E840C71FE3}</a:tableStyleId>
              </a:tblPr>
              <a:tblGrid>
                <a:gridCol w="403900"/>
                <a:gridCol w="3003375"/>
              </a:tblGrid>
              <a:tr h="116500">
                <a:tc>
                  <a:txBody>
                    <a:bodyPr/>
                    <a:lstStyle/>
                    <a:p>
                      <a:pPr indent="0" lvl="0" marL="0" rtl="0" algn="l">
                        <a:spcBef>
                          <a:spcPts val="0"/>
                        </a:spcBef>
                        <a:spcAft>
                          <a:spcPts val="0"/>
                        </a:spcAft>
                        <a:buNone/>
                      </a:pPr>
                      <a:r>
                        <a:rPr b="1" lang="en-GB" sz="1600"/>
                        <a:t>id</a:t>
                      </a:r>
                      <a:endParaRPr b="1" sz="1600"/>
                    </a:p>
                  </a:txBody>
                  <a:tcPr marT="91425" marB="91425" marR="91425" marL="91425"/>
                </a:tc>
                <a:tc>
                  <a:txBody>
                    <a:bodyPr/>
                    <a:lstStyle/>
                    <a:p>
                      <a:pPr indent="0" lvl="0" marL="0" rtl="0" algn="l">
                        <a:spcBef>
                          <a:spcPts val="0"/>
                        </a:spcBef>
                        <a:spcAft>
                          <a:spcPts val="0"/>
                        </a:spcAft>
                        <a:buNone/>
                      </a:pPr>
                      <a:r>
                        <a:rPr b="1" lang="en-GB" sz="1600"/>
                        <a:t>Tiêu đề</a:t>
                      </a:r>
                      <a:endParaRPr b="1" sz="1600"/>
                    </a:p>
                  </a:txBody>
                  <a:tcPr marT="91425" marB="91425" marR="91425" marL="91425"/>
                </a:tc>
              </a:tr>
              <a:tr h="116500">
                <a:tc>
                  <a:txBody>
                    <a:bodyPr/>
                    <a:lstStyle/>
                    <a:p>
                      <a:pPr indent="0" lvl="0" marL="0" rtl="0" algn="l">
                        <a:spcBef>
                          <a:spcPts val="0"/>
                        </a:spcBef>
                        <a:spcAft>
                          <a:spcPts val="0"/>
                        </a:spcAft>
                        <a:buNone/>
                      </a:pPr>
                      <a:r>
                        <a:rPr lang="en-GB" sz="1600"/>
                        <a:t>1</a:t>
                      </a:r>
                      <a:endParaRPr sz="1600"/>
                    </a:p>
                  </a:txBody>
                  <a:tcPr marT="91425" marB="91425" marR="91425" marL="91425"/>
                </a:tc>
                <a:tc>
                  <a:txBody>
                    <a:bodyPr/>
                    <a:lstStyle/>
                    <a:p>
                      <a:pPr indent="0" lvl="0" marL="0" rtl="0" algn="l">
                        <a:spcBef>
                          <a:spcPts val="0"/>
                        </a:spcBef>
                        <a:spcAft>
                          <a:spcPts val="0"/>
                        </a:spcAft>
                        <a:buNone/>
                      </a:pPr>
                      <a:r>
                        <a:rPr lang="en-GB" sz="1600"/>
                        <a:t>Mô hình hóa chức năng</a:t>
                      </a:r>
                      <a:endParaRPr sz="1600"/>
                    </a:p>
                  </a:txBody>
                  <a:tcPr marT="91425" marB="91425" marR="91425" marL="91425"/>
                </a:tc>
              </a:tr>
              <a:tr h="116500">
                <a:tc>
                  <a:txBody>
                    <a:bodyPr/>
                    <a:lstStyle/>
                    <a:p>
                      <a:pPr indent="0" lvl="0" marL="0" rtl="0" algn="l">
                        <a:spcBef>
                          <a:spcPts val="0"/>
                        </a:spcBef>
                        <a:spcAft>
                          <a:spcPts val="0"/>
                        </a:spcAft>
                        <a:buNone/>
                      </a:pPr>
                      <a:r>
                        <a:rPr lang="en-GB" sz="1600"/>
                        <a:t>3</a:t>
                      </a:r>
                      <a:endParaRPr sz="1600"/>
                    </a:p>
                  </a:txBody>
                  <a:tcPr marT="91425" marB="91425" marR="91425" marL="91425"/>
                </a:tc>
                <a:tc>
                  <a:txBody>
                    <a:bodyPr/>
                    <a:lstStyle/>
                    <a:p>
                      <a:pPr indent="0" lvl="0" marL="0" rtl="0" algn="l">
                        <a:spcBef>
                          <a:spcPts val="0"/>
                        </a:spcBef>
                        <a:spcAft>
                          <a:spcPts val="0"/>
                        </a:spcAft>
                        <a:buNone/>
                      </a:pPr>
                      <a:r>
                        <a:rPr lang="en-GB" sz="1600"/>
                        <a:t>Kiến trúc hệ thống</a:t>
                      </a:r>
                      <a:endParaRPr sz="1600"/>
                    </a:p>
                  </a:txBody>
                  <a:tcPr marT="91425" marB="91425" marR="91425" marL="91425"/>
                </a:tc>
              </a:tr>
              <a:tr h="116500">
                <a:tc>
                  <a:txBody>
                    <a:bodyPr/>
                    <a:lstStyle/>
                    <a:p>
                      <a:pPr indent="0" lvl="0" marL="0" rtl="0" algn="l">
                        <a:spcBef>
                          <a:spcPts val="0"/>
                        </a:spcBef>
                        <a:spcAft>
                          <a:spcPts val="0"/>
                        </a:spcAft>
                        <a:buNone/>
                      </a:pPr>
                      <a:r>
                        <a:rPr lang="en-GB" sz="1600"/>
                        <a:t>…</a:t>
                      </a:r>
                      <a:endParaRPr sz="1600"/>
                    </a:p>
                  </a:txBody>
                  <a:tcPr marT="91425" marB="91425" marR="91425" marL="91425"/>
                </a:tc>
                <a:tc>
                  <a:txBody>
                    <a:bodyPr/>
                    <a:lstStyle/>
                    <a:p>
                      <a:pPr indent="0" lvl="0" marL="0" rtl="0" algn="l">
                        <a:spcBef>
                          <a:spcPts val="0"/>
                        </a:spcBef>
                        <a:spcAft>
                          <a:spcPts val="0"/>
                        </a:spcAft>
                        <a:buNone/>
                      </a:pPr>
                      <a:r>
                        <a:rPr lang="en-GB" sz="1600"/>
                        <a:t>…</a:t>
                      </a:r>
                      <a:endParaRPr sz="1600"/>
                    </a:p>
                  </a:txBody>
                  <a:tcPr marT="91425" marB="91425" marR="91425" marL="91425"/>
                </a:tc>
              </a:tr>
            </a:tbl>
          </a:graphicData>
        </a:graphic>
      </p:graphicFrame>
      <p:graphicFrame>
        <p:nvGraphicFramePr>
          <p:cNvPr id="333" name="Google Shape;333;p38"/>
          <p:cNvGraphicFramePr/>
          <p:nvPr/>
        </p:nvGraphicFramePr>
        <p:xfrm>
          <a:off x="1291925" y="4449400"/>
          <a:ext cx="3000000" cy="3000000"/>
        </p:xfrm>
        <a:graphic>
          <a:graphicData uri="http://schemas.openxmlformats.org/drawingml/2006/table">
            <a:tbl>
              <a:tblPr>
                <a:noFill/>
                <a:tableStyleId>{79F57D95-B6EA-4ABF-9AA9-D1E840C71FE3}</a:tableStyleId>
              </a:tblPr>
              <a:tblGrid>
                <a:gridCol w="627575"/>
                <a:gridCol w="1116725"/>
                <a:gridCol w="2920775"/>
              </a:tblGrid>
              <a:tr h="116500">
                <a:tc>
                  <a:txBody>
                    <a:bodyPr/>
                    <a:lstStyle/>
                    <a:p>
                      <a:pPr indent="0" lvl="0" marL="0" rtl="0" algn="l">
                        <a:spcBef>
                          <a:spcPts val="0"/>
                        </a:spcBef>
                        <a:spcAft>
                          <a:spcPts val="0"/>
                        </a:spcAft>
                        <a:buNone/>
                      </a:pPr>
                      <a:r>
                        <a:rPr b="1" lang="en-GB" sz="1600"/>
                        <a:t>id</a:t>
                      </a:r>
                      <a:endParaRPr b="1" sz="1600"/>
                    </a:p>
                  </a:txBody>
                  <a:tcPr marT="91425" marB="91425" marR="91425" marL="91425"/>
                </a:tc>
                <a:tc>
                  <a:txBody>
                    <a:bodyPr/>
                    <a:lstStyle/>
                    <a:p>
                      <a:pPr indent="0" lvl="0" marL="0" rtl="0" algn="l">
                        <a:spcBef>
                          <a:spcPts val="0"/>
                        </a:spcBef>
                        <a:spcAft>
                          <a:spcPts val="0"/>
                        </a:spcAft>
                        <a:buNone/>
                      </a:pPr>
                      <a:r>
                        <a:rPr b="1" lang="en-GB" sz="1600"/>
                        <a:t>id bài KT</a:t>
                      </a:r>
                      <a:endParaRPr b="1" sz="1600"/>
                    </a:p>
                  </a:txBody>
                  <a:tcPr marT="91425" marB="91425" marR="91425" marL="91425"/>
                </a:tc>
                <a:tc>
                  <a:txBody>
                    <a:bodyPr/>
                    <a:lstStyle/>
                    <a:p>
                      <a:pPr indent="0" lvl="0" marL="0" rtl="0" algn="l">
                        <a:spcBef>
                          <a:spcPts val="0"/>
                        </a:spcBef>
                        <a:spcAft>
                          <a:spcPts val="0"/>
                        </a:spcAft>
                        <a:buNone/>
                      </a:pPr>
                      <a:r>
                        <a:rPr b="1" lang="en-GB" sz="1600"/>
                        <a:t>Tên câu hỏi</a:t>
                      </a:r>
                      <a:endParaRPr b="1" sz="1600"/>
                    </a:p>
                  </a:txBody>
                  <a:tcPr marT="91425" marB="91425" marR="91425" marL="91425"/>
                </a:tc>
              </a:tr>
              <a:tr h="116500">
                <a:tc>
                  <a:txBody>
                    <a:bodyPr/>
                    <a:lstStyle/>
                    <a:p>
                      <a:pPr indent="0" lvl="0" marL="0" rtl="0" algn="l">
                        <a:spcBef>
                          <a:spcPts val="0"/>
                        </a:spcBef>
                        <a:spcAft>
                          <a:spcPts val="0"/>
                        </a:spcAft>
                        <a:buNone/>
                      </a:pPr>
                      <a:r>
                        <a:rPr lang="en-GB" sz="1600"/>
                        <a:t>1</a:t>
                      </a:r>
                      <a:endParaRPr sz="1600"/>
                    </a:p>
                  </a:txBody>
                  <a:tcPr marT="91425" marB="91425" marR="91425" marL="91425"/>
                </a:tc>
                <a:tc>
                  <a:txBody>
                    <a:bodyPr/>
                    <a:lstStyle/>
                    <a:p>
                      <a:pPr indent="0" lvl="0" marL="0" rtl="0" algn="ctr">
                        <a:spcBef>
                          <a:spcPts val="0"/>
                        </a:spcBef>
                        <a:spcAft>
                          <a:spcPts val="0"/>
                        </a:spcAft>
                        <a:buNone/>
                      </a:pPr>
                      <a:r>
                        <a:rPr lang="en-GB" sz="1600"/>
                        <a:t>1</a:t>
                      </a:r>
                      <a:endParaRPr sz="1600"/>
                    </a:p>
                  </a:txBody>
                  <a:tcPr marT="91425" marB="91425" marR="91425" marL="91425"/>
                </a:tc>
                <a:tc>
                  <a:txBody>
                    <a:bodyPr/>
                    <a:lstStyle/>
                    <a:p>
                      <a:pPr indent="0" lvl="0" marL="0" rtl="0" algn="l">
                        <a:spcBef>
                          <a:spcPts val="0"/>
                        </a:spcBef>
                        <a:spcAft>
                          <a:spcPts val="0"/>
                        </a:spcAft>
                        <a:buNone/>
                      </a:pPr>
                      <a:r>
                        <a:rPr lang="en-GB" sz="1600"/>
                        <a:t>Khái niệm tác nhân</a:t>
                      </a:r>
                      <a:endParaRPr sz="1600"/>
                    </a:p>
                  </a:txBody>
                  <a:tcPr marT="91425" marB="91425" marR="91425" marL="91425"/>
                </a:tc>
              </a:tr>
              <a:tr h="116500">
                <a:tc>
                  <a:txBody>
                    <a:bodyPr/>
                    <a:lstStyle/>
                    <a:p>
                      <a:pPr indent="0" lvl="0" marL="0" rtl="0" algn="l">
                        <a:spcBef>
                          <a:spcPts val="0"/>
                        </a:spcBef>
                        <a:spcAft>
                          <a:spcPts val="0"/>
                        </a:spcAft>
                        <a:buNone/>
                      </a:pPr>
                      <a:r>
                        <a:rPr lang="en-GB" sz="1600"/>
                        <a:t>2</a:t>
                      </a:r>
                      <a:endParaRPr sz="1600"/>
                    </a:p>
                  </a:txBody>
                  <a:tcPr marT="91425" marB="91425" marR="91425" marL="91425"/>
                </a:tc>
                <a:tc>
                  <a:txBody>
                    <a:bodyPr/>
                    <a:lstStyle/>
                    <a:p>
                      <a:pPr indent="0" lvl="0" marL="0" rtl="0" algn="ctr">
                        <a:spcBef>
                          <a:spcPts val="0"/>
                        </a:spcBef>
                        <a:spcAft>
                          <a:spcPts val="0"/>
                        </a:spcAft>
                        <a:buNone/>
                      </a:pPr>
                      <a:r>
                        <a:rPr lang="en-GB" sz="1600"/>
                        <a:t>1</a:t>
                      </a:r>
                      <a:endParaRPr sz="1600"/>
                    </a:p>
                  </a:txBody>
                  <a:tcPr marT="91425" marB="91425" marR="91425" marL="91425"/>
                </a:tc>
                <a:tc>
                  <a:txBody>
                    <a:bodyPr/>
                    <a:lstStyle/>
                    <a:p>
                      <a:pPr indent="0" lvl="0" marL="0" rtl="0" algn="l">
                        <a:spcBef>
                          <a:spcPts val="0"/>
                        </a:spcBef>
                        <a:spcAft>
                          <a:spcPts val="0"/>
                        </a:spcAft>
                        <a:buNone/>
                      </a:pPr>
                      <a:r>
                        <a:rPr lang="en-GB" sz="1600"/>
                        <a:t>Khái niệm ca sử dụng</a:t>
                      </a:r>
                      <a:endParaRPr sz="1600"/>
                    </a:p>
                  </a:txBody>
                  <a:tcPr marT="91425" marB="91425" marR="91425" marL="91425"/>
                </a:tc>
              </a:tr>
              <a:tr h="116500">
                <a:tc>
                  <a:txBody>
                    <a:bodyPr/>
                    <a:lstStyle/>
                    <a:p>
                      <a:pPr indent="0" lvl="0" marL="0" rtl="0" algn="l">
                        <a:spcBef>
                          <a:spcPts val="0"/>
                        </a:spcBef>
                        <a:spcAft>
                          <a:spcPts val="0"/>
                        </a:spcAft>
                        <a:buNone/>
                      </a:pPr>
                      <a:r>
                        <a:rPr lang="en-GB" sz="1600"/>
                        <a:t>3</a:t>
                      </a:r>
                      <a:endParaRPr sz="1600"/>
                    </a:p>
                  </a:txBody>
                  <a:tcPr marT="91425" marB="91425" marR="91425" marL="91425"/>
                </a:tc>
                <a:tc>
                  <a:txBody>
                    <a:bodyPr/>
                    <a:lstStyle/>
                    <a:p>
                      <a:pPr indent="0" lvl="0" marL="0" rtl="0" algn="ctr">
                        <a:spcBef>
                          <a:spcPts val="0"/>
                        </a:spcBef>
                        <a:spcAft>
                          <a:spcPts val="0"/>
                        </a:spcAft>
                        <a:buNone/>
                      </a:pPr>
                      <a:r>
                        <a:rPr lang="en-GB" sz="1600"/>
                        <a:t>1</a:t>
                      </a:r>
                      <a:endParaRPr sz="1600"/>
                    </a:p>
                  </a:txBody>
                  <a:tcPr marT="91425" marB="91425" marR="91425" marL="91425"/>
                </a:tc>
                <a:tc>
                  <a:txBody>
                    <a:bodyPr/>
                    <a:lstStyle/>
                    <a:p>
                      <a:pPr indent="0" lvl="0" marL="0" rtl="0" algn="l">
                        <a:spcBef>
                          <a:spcPts val="0"/>
                        </a:spcBef>
                        <a:spcAft>
                          <a:spcPts val="0"/>
                        </a:spcAft>
                        <a:buNone/>
                      </a:pPr>
                      <a:r>
                        <a:rPr lang="en-GB" sz="1600"/>
                        <a:t>Đặc tả chi tiết ca sử dụng</a:t>
                      </a:r>
                      <a:endParaRPr sz="1600"/>
                    </a:p>
                  </a:txBody>
                  <a:tcPr marT="91425" marB="91425" marR="91425" marL="91425"/>
                </a:tc>
              </a:tr>
              <a:tr h="116500">
                <a:tc>
                  <a:txBody>
                    <a:bodyPr/>
                    <a:lstStyle/>
                    <a:p>
                      <a:pPr indent="0" lvl="0" marL="0" rtl="0" algn="l">
                        <a:spcBef>
                          <a:spcPts val="0"/>
                        </a:spcBef>
                        <a:spcAft>
                          <a:spcPts val="0"/>
                        </a:spcAft>
                        <a:buNone/>
                      </a:pPr>
                      <a:r>
                        <a:rPr lang="en-GB" sz="1600"/>
                        <a:t>…</a:t>
                      </a:r>
                      <a:endParaRPr sz="1600"/>
                    </a:p>
                  </a:txBody>
                  <a:tcPr marT="91425" marB="91425" marR="91425" marL="91425"/>
                </a:tc>
                <a:tc>
                  <a:txBody>
                    <a:bodyPr/>
                    <a:lstStyle/>
                    <a:p>
                      <a:pPr indent="0" lvl="0" marL="0" rtl="0" algn="ctr">
                        <a:spcBef>
                          <a:spcPts val="0"/>
                        </a:spcBef>
                        <a:spcAft>
                          <a:spcPts val="0"/>
                        </a:spcAft>
                        <a:buNone/>
                      </a:pPr>
                      <a:r>
                        <a:rPr lang="en-GB" sz="1600"/>
                        <a:t>…</a:t>
                      </a:r>
                      <a:endParaRPr sz="1600"/>
                    </a:p>
                  </a:txBody>
                  <a:tcPr marT="91425" marB="91425" marR="91425" marL="91425"/>
                </a:tc>
                <a:tc>
                  <a:txBody>
                    <a:bodyPr/>
                    <a:lstStyle/>
                    <a:p>
                      <a:pPr indent="0" lvl="0" marL="0" rtl="0" algn="l">
                        <a:spcBef>
                          <a:spcPts val="0"/>
                        </a:spcBef>
                        <a:spcAft>
                          <a:spcPts val="0"/>
                        </a:spcAft>
                        <a:buNone/>
                      </a:pPr>
                      <a:r>
                        <a:rPr lang="en-GB" sz="1600"/>
                        <a:t>…</a:t>
                      </a:r>
                      <a:endParaRPr sz="1600"/>
                    </a:p>
                  </a:txBody>
                  <a:tcPr marT="91425" marB="91425" marR="91425" marL="91425"/>
                </a:tc>
              </a:tr>
            </a:tbl>
          </a:graphicData>
        </a:graphic>
      </p:graphicFrame>
      <p:sp>
        <p:nvSpPr>
          <p:cNvPr id="334" name="Google Shape;334;p38"/>
          <p:cNvSpPr/>
          <p:nvPr/>
        </p:nvSpPr>
        <p:spPr>
          <a:xfrm>
            <a:off x="2159150" y="4803675"/>
            <a:ext cx="669300" cy="14010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5" name="Google Shape;335;p38"/>
          <p:cNvCxnSpPr>
            <a:stCxn id="334" idx="1"/>
            <a:endCxn id="336" idx="2"/>
          </p:cNvCxnSpPr>
          <p:nvPr/>
        </p:nvCxnSpPr>
        <p:spPr>
          <a:xfrm flipH="1" rot="10800000">
            <a:off x="2159150" y="3030375"/>
            <a:ext cx="1028100" cy="2473800"/>
          </a:xfrm>
          <a:prstGeom prst="bentConnector3">
            <a:avLst>
              <a:gd fmla="val -36120" name="adj1"/>
            </a:avLst>
          </a:prstGeom>
          <a:noFill/>
          <a:ln cap="flat" cmpd="sng" w="9525">
            <a:solidFill>
              <a:schemeClr val="dk2"/>
            </a:solidFill>
            <a:prstDash val="solid"/>
            <a:round/>
            <a:headEnd len="med" w="med" type="none"/>
            <a:tailEnd len="med" w="med" type="none"/>
          </a:ln>
        </p:spPr>
      </p:cxnSp>
      <p:sp>
        <p:nvSpPr>
          <p:cNvPr id="336" name="Google Shape;336;p38"/>
          <p:cNvSpPr/>
          <p:nvPr/>
        </p:nvSpPr>
        <p:spPr>
          <a:xfrm>
            <a:off x="3187365" y="3026773"/>
            <a:ext cx="7200" cy="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7" name="Google Shape;337;p38"/>
          <p:cNvCxnSpPr/>
          <p:nvPr/>
        </p:nvCxnSpPr>
        <p:spPr>
          <a:xfrm>
            <a:off x="6150175" y="1282508"/>
            <a:ext cx="0" cy="159600"/>
          </a:xfrm>
          <a:prstGeom prst="straightConnector1">
            <a:avLst/>
          </a:prstGeom>
          <a:noFill/>
          <a:ln cap="flat" cmpd="sng" w="9525">
            <a:solidFill>
              <a:schemeClr val="dk2"/>
            </a:solidFill>
            <a:prstDash val="solid"/>
            <a:round/>
            <a:headEnd len="med" w="med" type="none"/>
            <a:tailEnd len="med" w="med" type="none"/>
          </a:ln>
        </p:spPr>
      </p:cxnSp>
      <p:cxnSp>
        <p:nvCxnSpPr>
          <p:cNvPr id="338" name="Google Shape;338;p38"/>
          <p:cNvCxnSpPr/>
          <p:nvPr/>
        </p:nvCxnSpPr>
        <p:spPr>
          <a:xfrm>
            <a:off x="6216392" y="1282508"/>
            <a:ext cx="0" cy="159600"/>
          </a:xfrm>
          <a:prstGeom prst="straightConnector1">
            <a:avLst/>
          </a:prstGeom>
          <a:noFill/>
          <a:ln cap="flat" cmpd="sng" w="9525">
            <a:solidFill>
              <a:schemeClr val="dk2"/>
            </a:solidFill>
            <a:prstDash val="solid"/>
            <a:round/>
            <a:headEnd len="med" w="med" type="none"/>
            <a:tailEnd len="med" w="med" type="none"/>
          </a:ln>
        </p:spPr>
      </p:cxnSp>
      <p:cxnSp>
        <p:nvCxnSpPr>
          <p:cNvPr id="339" name="Google Shape;339;p38"/>
          <p:cNvCxnSpPr/>
          <p:nvPr/>
        </p:nvCxnSpPr>
        <p:spPr>
          <a:xfrm flipH="1" rot="10800000">
            <a:off x="6838975" y="1292375"/>
            <a:ext cx="129900" cy="60000"/>
          </a:xfrm>
          <a:prstGeom prst="straightConnector1">
            <a:avLst/>
          </a:prstGeom>
          <a:noFill/>
          <a:ln cap="flat" cmpd="sng" w="9525">
            <a:solidFill>
              <a:schemeClr val="dk2"/>
            </a:solidFill>
            <a:prstDash val="solid"/>
            <a:round/>
            <a:headEnd len="med" w="med" type="none"/>
            <a:tailEnd len="med" w="med" type="none"/>
          </a:ln>
        </p:spPr>
      </p:cxnSp>
      <p:cxnSp>
        <p:nvCxnSpPr>
          <p:cNvPr id="340" name="Google Shape;340;p38"/>
          <p:cNvCxnSpPr/>
          <p:nvPr/>
        </p:nvCxnSpPr>
        <p:spPr>
          <a:xfrm>
            <a:off x="6828985" y="1362350"/>
            <a:ext cx="129900" cy="69900"/>
          </a:xfrm>
          <a:prstGeom prst="straightConnector1">
            <a:avLst/>
          </a:prstGeom>
          <a:noFill/>
          <a:ln cap="flat" cmpd="sng" w="9525">
            <a:solidFill>
              <a:schemeClr val="dk2"/>
            </a:solidFill>
            <a:prstDash val="solid"/>
            <a:round/>
            <a:headEnd len="med" w="med" type="none"/>
            <a:tailEnd len="med" w="med" type="none"/>
          </a:ln>
        </p:spPr>
      </p:cxnSp>
      <p:sp>
        <p:nvSpPr>
          <p:cNvPr id="341" name="Google Shape;341;p38"/>
          <p:cNvSpPr/>
          <p:nvPr/>
        </p:nvSpPr>
        <p:spPr>
          <a:xfrm>
            <a:off x="6699205" y="1292475"/>
            <a:ext cx="129900" cy="1299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9"/>
          <p:cNvPicPr preferRelativeResize="0"/>
          <p:nvPr/>
        </p:nvPicPr>
        <p:blipFill>
          <a:blip r:embed="rId3">
            <a:alphaModFix/>
          </a:blip>
          <a:stretch>
            <a:fillRect/>
          </a:stretch>
        </p:blipFill>
        <p:spPr>
          <a:xfrm>
            <a:off x="2097450" y="846426"/>
            <a:ext cx="5118475" cy="5812695"/>
          </a:xfrm>
          <a:prstGeom prst="rect">
            <a:avLst/>
          </a:prstGeom>
          <a:noFill/>
          <a:ln>
            <a:noFill/>
          </a:ln>
        </p:spPr>
      </p:pic>
      <p:sp>
        <p:nvSpPr>
          <p:cNvPr id="347" name="Google Shape;347;p3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7. Á</a:t>
            </a:r>
            <a:r>
              <a:rPr lang="en-GB"/>
              <a:t>nh xạ lớp lĩnh vực </a:t>
            </a:r>
            <a:r>
              <a:rPr lang="en-GB"/>
              <a:t>tới</a:t>
            </a:r>
            <a:r>
              <a:rPr lang="en-GB"/>
              <a:t> ORDBMS</a:t>
            </a:r>
            <a:endParaRPr/>
          </a:p>
        </p:txBody>
      </p:sp>
      <p:sp>
        <p:nvSpPr>
          <p:cNvPr id="348" name="Google Shape;348;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54" name="Google Shape;354;p40"/>
          <p:cNvPicPr preferRelativeResize="0"/>
          <p:nvPr/>
        </p:nvPicPr>
        <p:blipFill>
          <a:blip r:embed="rId3">
            <a:alphaModFix/>
          </a:blip>
          <a:stretch>
            <a:fillRect/>
          </a:stretch>
        </p:blipFill>
        <p:spPr>
          <a:xfrm>
            <a:off x="3061775" y="296425"/>
            <a:ext cx="5402875" cy="6302201"/>
          </a:xfrm>
          <a:prstGeom prst="rect">
            <a:avLst/>
          </a:prstGeom>
          <a:noFill/>
          <a:ln>
            <a:noFill/>
          </a:ln>
        </p:spPr>
      </p:pic>
      <p:sp>
        <p:nvSpPr>
          <p:cNvPr id="355" name="Google Shape;355;p40"/>
          <p:cNvSpPr txBox="1"/>
          <p:nvPr>
            <p:ph idx="4294967295" type="title"/>
          </p:nvPr>
        </p:nvSpPr>
        <p:spPr>
          <a:xfrm>
            <a:off x="311700" y="136192"/>
            <a:ext cx="2899200" cy="22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8. Ánh xạ RDBMS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1" name="Google Shape;361;p4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8. Ánh xạ R</a:t>
            </a:r>
            <a:r>
              <a:rPr lang="en-GB"/>
              <a:t>DBM</a:t>
            </a:r>
            <a:r>
              <a:rPr lang="en-GB"/>
              <a:t>S: Tạo bảng</a:t>
            </a:r>
            <a:endParaRPr/>
          </a:p>
        </p:txBody>
      </p:sp>
      <p:graphicFrame>
        <p:nvGraphicFramePr>
          <p:cNvPr descr="Table is accessible to screenreaders" id="362" name="Google Shape;362;p41"/>
          <p:cNvGraphicFramePr/>
          <p:nvPr/>
        </p:nvGraphicFramePr>
        <p:xfrm>
          <a:off x="304800" y="1490553"/>
          <a:ext cx="3000000" cy="3000000"/>
        </p:xfrm>
        <a:graphic>
          <a:graphicData uri="http://schemas.openxmlformats.org/drawingml/2006/table">
            <a:tbl>
              <a:tblPr bandRow="1" firstRow="1">
                <a:noFill/>
                <a:tableStyleId>{68848E3A-6274-4063-8791-6873BA5D3A22}</a:tableStyleId>
              </a:tblPr>
              <a:tblGrid>
                <a:gridCol w="2209800"/>
                <a:gridCol w="6324600"/>
              </a:tblGrid>
              <a:tr h="370850">
                <a:tc>
                  <a:txBody>
                    <a:bodyPr/>
                    <a:lstStyle/>
                    <a:p>
                      <a:pPr indent="0" lvl="0" marL="0" marR="0" rtl="0" algn="l">
                        <a:spcBef>
                          <a:spcPts val="0"/>
                        </a:spcBef>
                        <a:spcAft>
                          <a:spcPts val="0"/>
                        </a:spcAft>
                        <a:buNone/>
                      </a:pPr>
                      <a:r>
                        <a:rPr lang="en-GB">
                          <a:solidFill>
                            <a:srgbClr val="000000"/>
                          </a:solidFill>
                        </a:rPr>
                        <a:t>Bảng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a:solidFill>
                            <a:srgbClr val="000000"/>
                          </a:solidFill>
                        </a:rPr>
                        <a:t>Các cột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AccessoryPackage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Category, Description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CartItem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Quantity, CurrentPrice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Customer</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Name, MobilePhone, HomePhone,</a:t>
                      </a:r>
                      <a:r>
                        <a:rPr lang="en-GB" sz="1400">
                          <a:solidFill>
                            <a:srgbClr val="000000"/>
                          </a:solidFill>
                        </a:rPr>
                        <a:t> EmailAddress, 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Inventory</a:t>
                      </a:r>
                      <a:r>
                        <a:rPr lang="en-GB" sz="1400">
                          <a:solidFill>
                            <a:srgbClr val="000000"/>
                          </a:solidFill>
                        </a:rPr>
                        <a: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Size, Color, Options, QuantityOn</a:t>
                      </a:r>
                      <a:r>
                        <a:rPr lang="en-GB" sz="1400">
                          <a:solidFill>
                            <a:srgbClr val="000000"/>
                          </a:solidFill>
                        </a:rPr>
                        <a:t>Hand, AverageCost, ReorderQuantity</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075">
                <a:tc>
                  <a:txBody>
                    <a:bodyPr/>
                    <a:lstStyle/>
                    <a:p>
                      <a:pPr indent="0" lvl="0" marL="0" marR="0" rtl="0" algn="l">
                        <a:spcBef>
                          <a:spcPts val="0"/>
                        </a:spcBef>
                        <a:spcAft>
                          <a:spcPts val="0"/>
                        </a:spcAft>
                        <a:buNone/>
                      </a:pPr>
                      <a:r>
                        <a:rPr lang="en-GB" sz="1400">
                          <a:solidFill>
                            <a:srgbClr val="000000"/>
                          </a:solidFill>
                        </a:rPr>
                        <a:t>OnlineCart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StartDateTime,</a:t>
                      </a:r>
                      <a:r>
                        <a:rPr lang="en-GB" sz="1400">
                          <a:solidFill>
                            <a:srgbClr val="000000"/>
                          </a:solidFill>
                        </a:rPr>
                        <a:t> NumberOfItems, ValueOfItems, Status, ElapsedTime, HoldForDays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Date,</a:t>
                      </a:r>
                      <a:r>
                        <a:rPr lang="en-GB" sz="1400">
                          <a:solidFill>
                            <a:srgbClr val="000000"/>
                          </a:solidFill>
                        </a:rPr>
                        <a:t> Rating, 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Gender, Description, Supplier, Manufacturer, Picture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2725">
                <a:tc>
                  <a:txBody>
                    <a:bodyPr/>
                    <a:lstStyle/>
                    <a:p>
                      <a:pPr indent="0" lvl="0" marL="0" marR="0" rtl="0" algn="l">
                        <a:spcBef>
                          <a:spcPts val="0"/>
                        </a:spcBef>
                        <a:spcAft>
                          <a:spcPts val="0"/>
                        </a:spcAft>
                        <a:buNone/>
                      </a:pPr>
                      <a:r>
                        <a:rPr lang="en-GB" sz="1400">
                          <a:solidFill>
                            <a:srgbClr val="000000"/>
                          </a:solidFill>
                        </a:rPr>
                        <a:t>PromoOffering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RegularPrice, PromoPrice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Promotion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Season,</a:t>
                      </a:r>
                      <a:r>
                        <a:rPr lang="en-GB" sz="1400">
                          <a:solidFill>
                            <a:srgbClr val="000000"/>
                          </a:solidFill>
                        </a:rPr>
                        <a:t> Year, Description, StartDate, EndDate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Sale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SaleDateTime,</a:t>
                      </a:r>
                      <a:r>
                        <a:rPr lang="en-GB" sz="1400">
                          <a:solidFill>
                            <a:srgbClr val="000000"/>
                          </a:solidFill>
                        </a:rPr>
                        <a:t> PriorityCode, ShippingAndHandling, Tax, TotalAmount, MountainBucks, StoreID, RegisterID, ClerkID, TimeOnSite, ChatUse, LengthOfCall</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400">
                          <a:solidFill>
                            <a:srgbClr val="000000"/>
                          </a:solidFill>
                        </a:rPr>
                        <a:t>SaleItem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Quantity, SoldPrice, ShipStatus, BackOrderStatus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400">
                          <a:solidFill>
                            <a:srgbClr val="000000"/>
                          </a:solidFill>
                        </a:rPr>
                        <a:t>SaleTransaction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1400">
                          <a:solidFill>
                            <a:srgbClr val="000000"/>
                          </a:solidFill>
                        </a:rPr>
                        <a:t>Date, TransactionType,</a:t>
                      </a:r>
                      <a:r>
                        <a:rPr lang="en-GB" sz="1400">
                          <a:solidFill>
                            <a:srgbClr val="000000"/>
                          </a:solidFill>
                        </a:rPr>
                        <a:t> Amount, PaymentMethod</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63" name="Google Shape;363;p41"/>
          <p:cNvSpPr txBox="1"/>
          <p:nvPr/>
        </p:nvSpPr>
        <p:spPr>
          <a:xfrm>
            <a:off x="301825" y="980900"/>
            <a:ext cx="87192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Áp dụng R1,  R2, &amp; R8c: Lớp =&gt; Bảng, Thuộc tính =&gt; Cột, Làm phẳng cây kế thừa</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9" name="Google Shape;369;p4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8. Á</a:t>
            </a:r>
            <a:r>
              <a:rPr lang="en-GB"/>
              <a:t>nh xạ RDBMS: </a:t>
            </a:r>
            <a:r>
              <a:rPr lang="en-GB"/>
              <a:t>Bổ xung khóa chính</a:t>
            </a:r>
            <a:endParaRPr/>
          </a:p>
        </p:txBody>
      </p:sp>
      <p:graphicFrame>
        <p:nvGraphicFramePr>
          <p:cNvPr descr="Table is accessible to screenreaders" id="370" name="Google Shape;370;p42"/>
          <p:cNvGraphicFramePr/>
          <p:nvPr/>
        </p:nvGraphicFramePr>
        <p:xfrm>
          <a:off x="381000" y="1185755"/>
          <a:ext cx="3000000" cy="3000000"/>
        </p:xfrm>
        <a:graphic>
          <a:graphicData uri="http://schemas.openxmlformats.org/drawingml/2006/table">
            <a:tbl>
              <a:tblPr bandRow="1" firstRow="1">
                <a:noFill/>
                <a:tableStyleId>{68848E3A-6274-4063-8791-6873BA5D3A22}</a:tableStyleId>
              </a:tblPr>
              <a:tblGrid>
                <a:gridCol w="2209800"/>
                <a:gridCol w="6324600"/>
              </a:tblGrid>
              <a:tr h="263525">
                <a:tc>
                  <a:txBody>
                    <a:bodyPr/>
                    <a:lstStyle/>
                    <a:p>
                      <a:pPr indent="0" lvl="0" marL="0" marR="0" rtl="0" algn="l">
                        <a:spcBef>
                          <a:spcPts val="0"/>
                        </a:spcBef>
                        <a:spcAft>
                          <a:spcPts val="0"/>
                        </a:spcAft>
                        <a:buNone/>
                      </a:pPr>
                      <a:r>
                        <a:rPr lang="en-GB">
                          <a:solidFill>
                            <a:srgbClr val="000000"/>
                          </a:solidFill>
                        </a:rPr>
                        <a:t>Bảng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a:solidFill>
                            <a:srgbClr val="000000"/>
                          </a:solidFill>
                        </a:rPr>
                        <a:t>Các cột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AccessoryPackage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AccessoryPackageID</a:t>
                      </a:r>
                      <a:r>
                        <a:rPr lang="en-GB" sz="1400">
                          <a:solidFill>
                            <a:srgbClr val="000000"/>
                          </a:solidFill>
                        </a:rPr>
                        <a:t>, Category, Description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CartItem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CartItemID</a:t>
                      </a:r>
                      <a:r>
                        <a:rPr lang="en-GB" sz="1400">
                          <a:solidFill>
                            <a:srgbClr val="000000"/>
                          </a:solidFill>
                        </a:rPr>
                        <a:t>, Quantity, CurrentPrice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Customer</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AccountNumber</a:t>
                      </a:r>
                      <a:r>
                        <a:rPr lang="en-GB" sz="1400">
                          <a:solidFill>
                            <a:srgbClr val="000000"/>
                          </a:solidFill>
                        </a:rPr>
                        <a:t>,</a:t>
                      </a:r>
                      <a:r>
                        <a:rPr lang="en-GB" sz="1400">
                          <a:solidFill>
                            <a:srgbClr val="000000"/>
                          </a:solidFill>
                        </a:rPr>
                        <a:t> </a:t>
                      </a:r>
                      <a:r>
                        <a:rPr lang="en-GB" sz="1400">
                          <a:solidFill>
                            <a:srgbClr val="000000"/>
                          </a:solidFill>
                        </a:rPr>
                        <a:t>Name, MobilePhone, HomePhone,</a:t>
                      </a:r>
                      <a:r>
                        <a:rPr lang="en-GB" sz="1400">
                          <a:solidFill>
                            <a:srgbClr val="000000"/>
                          </a:solidFill>
                        </a:rPr>
                        <a:t> EmailAddress, 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Inventory</a:t>
                      </a:r>
                      <a:r>
                        <a:rPr lang="en-GB" sz="1400">
                          <a:solidFill>
                            <a:srgbClr val="000000"/>
                          </a:solidFill>
                        </a:rPr>
                        <a: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Inventory</a:t>
                      </a:r>
                      <a:r>
                        <a:rPr b="1" lang="en-GB" sz="1400">
                          <a:solidFill>
                            <a:srgbClr val="000000"/>
                          </a:solidFill>
                        </a:rPr>
                        <a:t>ItemID</a:t>
                      </a:r>
                      <a:r>
                        <a:rPr lang="en-GB" sz="1400">
                          <a:solidFill>
                            <a:srgbClr val="000000"/>
                          </a:solidFill>
                        </a:rPr>
                        <a:t>, </a:t>
                      </a:r>
                      <a:r>
                        <a:rPr lang="en-GB" sz="1400">
                          <a:solidFill>
                            <a:srgbClr val="000000"/>
                          </a:solidFill>
                        </a:rPr>
                        <a:t>Size, Color, Options, QuantityOn</a:t>
                      </a:r>
                      <a:r>
                        <a:rPr lang="en-GB" sz="1400">
                          <a:solidFill>
                            <a:srgbClr val="000000"/>
                          </a:solidFill>
                        </a:rPr>
                        <a:t>Hand, AverageCost, ReorderQuantity</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075">
                <a:tc>
                  <a:txBody>
                    <a:bodyPr/>
                    <a:lstStyle/>
                    <a:p>
                      <a:pPr indent="0" lvl="0" marL="0" marR="0" rtl="0" algn="l">
                        <a:spcBef>
                          <a:spcPts val="0"/>
                        </a:spcBef>
                        <a:spcAft>
                          <a:spcPts val="0"/>
                        </a:spcAft>
                        <a:buNone/>
                      </a:pPr>
                      <a:r>
                        <a:rPr lang="en-GB" sz="1400">
                          <a:solidFill>
                            <a:srgbClr val="000000"/>
                          </a:solidFill>
                        </a:rPr>
                        <a:t>OnlineCart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OnlineCartID</a:t>
                      </a:r>
                      <a:r>
                        <a:rPr lang="en-GB" sz="1400">
                          <a:solidFill>
                            <a:srgbClr val="000000"/>
                          </a:solidFill>
                        </a:rPr>
                        <a:t>,</a:t>
                      </a:r>
                      <a:r>
                        <a:rPr lang="en-GB" sz="1400">
                          <a:solidFill>
                            <a:srgbClr val="000000"/>
                          </a:solidFill>
                        </a:rPr>
                        <a:t> </a:t>
                      </a:r>
                      <a:r>
                        <a:rPr lang="en-GB" sz="1400">
                          <a:solidFill>
                            <a:srgbClr val="000000"/>
                          </a:solidFill>
                        </a:rPr>
                        <a:t>StartDateTime,</a:t>
                      </a:r>
                      <a:r>
                        <a:rPr lang="en-GB" sz="1400">
                          <a:solidFill>
                            <a:srgbClr val="000000"/>
                          </a:solidFill>
                        </a:rPr>
                        <a:t> NumberOfItems, ValueOfItems, Status, ElapsedTime, HoldForDays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ProductCommentID</a:t>
                      </a:r>
                      <a:r>
                        <a:rPr lang="en-GB" sz="1400">
                          <a:solidFill>
                            <a:srgbClr val="000000"/>
                          </a:solidFill>
                        </a:rPr>
                        <a:t>,</a:t>
                      </a:r>
                      <a:r>
                        <a:rPr lang="en-GB" sz="1400">
                          <a:solidFill>
                            <a:srgbClr val="000000"/>
                          </a:solidFill>
                        </a:rPr>
                        <a:t> </a:t>
                      </a:r>
                      <a:r>
                        <a:rPr lang="en-GB" sz="1400">
                          <a:solidFill>
                            <a:srgbClr val="000000"/>
                          </a:solidFill>
                        </a:rPr>
                        <a:t>Date,</a:t>
                      </a:r>
                      <a:r>
                        <a:rPr lang="en-GB" sz="1400">
                          <a:solidFill>
                            <a:srgbClr val="000000"/>
                          </a:solidFill>
                        </a:rPr>
                        <a:t> Rating, 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ProductItemID</a:t>
                      </a:r>
                      <a:r>
                        <a:rPr lang="en-GB" sz="1400">
                          <a:solidFill>
                            <a:srgbClr val="000000"/>
                          </a:solidFill>
                        </a:rPr>
                        <a:t>,</a:t>
                      </a:r>
                      <a:r>
                        <a:rPr lang="en-GB" sz="1400">
                          <a:solidFill>
                            <a:srgbClr val="000000"/>
                          </a:solidFill>
                        </a:rPr>
                        <a:t> </a:t>
                      </a:r>
                      <a:r>
                        <a:rPr lang="en-GB" sz="1400">
                          <a:solidFill>
                            <a:srgbClr val="000000"/>
                          </a:solidFill>
                        </a:rPr>
                        <a:t>Gender, Description, Supplier, Manufacturer, Picture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2725">
                <a:tc>
                  <a:txBody>
                    <a:bodyPr/>
                    <a:lstStyle/>
                    <a:p>
                      <a:pPr indent="0" lvl="0" marL="0" marR="0" rtl="0" algn="l">
                        <a:spcBef>
                          <a:spcPts val="0"/>
                        </a:spcBef>
                        <a:spcAft>
                          <a:spcPts val="0"/>
                        </a:spcAft>
                        <a:buNone/>
                      </a:pPr>
                      <a:r>
                        <a:rPr lang="en-GB" sz="1400">
                          <a:solidFill>
                            <a:srgbClr val="000000"/>
                          </a:solidFill>
                        </a:rPr>
                        <a:t>PromoOffering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PromoOfferingID</a:t>
                      </a:r>
                      <a:r>
                        <a:rPr lang="en-GB" sz="1400">
                          <a:solidFill>
                            <a:srgbClr val="000000"/>
                          </a:solidFill>
                        </a:rPr>
                        <a:t>,</a:t>
                      </a:r>
                      <a:r>
                        <a:rPr lang="en-GB" sz="1400">
                          <a:solidFill>
                            <a:srgbClr val="000000"/>
                          </a:solidFill>
                        </a:rPr>
                        <a:t> </a:t>
                      </a:r>
                      <a:r>
                        <a:rPr lang="en-GB" sz="1400">
                          <a:solidFill>
                            <a:srgbClr val="000000"/>
                          </a:solidFill>
                        </a:rPr>
                        <a:t>RegularPrice, PromoPrice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Promotion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PromotionID</a:t>
                      </a:r>
                      <a:r>
                        <a:rPr lang="en-GB" sz="1400">
                          <a:solidFill>
                            <a:srgbClr val="000000"/>
                          </a:solidFill>
                        </a:rPr>
                        <a:t>,</a:t>
                      </a:r>
                      <a:r>
                        <a:rPr lang="en-GB" sz="1400">
                          <a:solidFill>
                            <a:srgbClr val="000000"/>
                          </a:solidFill>
                        </a:rPr>
                        <a:t> </a:t>
                      </a:r>
                      <a:r>
                        <a:rPr lang="en-GB" sz="1400">
                          <a:solidFill>
                            <a:srgbClr val="000000"/>
                          </a:solidFill>
                        </a:rPr>
                        <a:t>Season,</a:t>
                      </a:r>
                      <a:r>
                        <a:rPr lang="en-GB" sz="1400">
                          <a:solidFill>
                            <a:srgbClr val="000000"/>
                          </a:solidFill>
                        </a:rPr>
                        <a:t> Year, Description, StartDate, EndDate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Sale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SaleID</a:t>
                      </a:r>
                      <a:r>
                        <a:rPr lang="en-GB" sz="1400">
                          <a:solidFill>
                            <a:srgbClr val="000000"/>
                          </a:solidFill>
                        </a:rPr>
                        <a:t>,</a:t>
                      </a:r>
                      <a:r>
                        <a:rPr lang="en-GB" sz="1400">
                          <a:solidFill>
                            <a:srgbClr val="000000"/>
                          </a:solidFill>
                        </a:rPr>
                        <a:t> </a:t>
                      </a:r>
                      <a:r>
                        <a:rPr lang="en-GB" sz="1400">
                          <a:solidFill>
                            <a:srgbClr val="000000"/>
                          </a:solidFill>
                        </a:rPr>
                        <a:t>SaleDateTime,</a:t>
                      </a:r>
                      <a:r>
                        <a:rPr lang="en-GB" sz="1400">
                          <a:solidFill>
                            <a:srgbClr val="000000"/>
                          </a:solidFill>
                        </a:rPr>
                        <a:t> PriorityCode, ShippingAndHandling, Tax, TotalAmount, MountainBucks, StoreID, RegisterID, ClerkID, TimeOnSite, ChatUse, LengthOfCall</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3200">
                <a:tc>
                  <a:txBody>
                    <a:bodyPr/>
                    <a:lstStyle/>
                    <a:p>
                      <a:pPr indent="0" lvl="0" marL="0" marR="0" rtl="0" algn="l">
                        <a:spcBef>
                          <a:spcPts val="0"/>
                        </a:spcBef>
                        <a:spcAft>
                          <a:spcPts val="0"/>
                        </a:spcAft>
                        <a:buNone/>
                      </a:pPr>
                      <a:r>
                        <a:rPr lang="en-GB" sz="1400">
                          <a:solidFill>
                            <a:srgbClr val="000000"/>
                          </a:solidFill>
                        </a:rPr>
                        <a:t>SaleItem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SaleItemID</a:t>
                      </a:r>
                      <a:r>
                        <a:rPr lang="en-GB" sz="1400">
                          <a:solidFill>
                            <a:srgbClr val="000000"/>
                          </a:solidFill>
                        </a:rPr>
                        <a:t>,</a:t>
                      </a:r>
                      <a:r>
                        <a:rPr lang="en-GB" sz="1400">
                          <a:solidFill>
                            <a:srgbClr val="000000"/>
                          </a:solidFill>
                        </a:rPr>
                        <a:t> </a:t>
                      </a:r>
                      <a:r>
                        <a:rPr lang="en-GB" sz="1400">
                          <a:solidFill>
                            <a:srgbClr val="000000"/>
                          </a:solidFill>
                        </a:rPr>
                        <a:t>Quantity, SoldPrice, ShipStatus, BackOrderStatus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400">
                          <a:solidFill>
                            <a:srgbClr val="000000"/>
                          </a:solidFill>
                        </a:rPr>
                        <a:t>SaleTransaction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SaleTransactionID</a:t>
                      </a:r>
                      <a:r>
                        <a:rPr lang="en-GB" sz="1400">
                          <a:solidFill>
                            <a:srgbClr val="000000"/>
                          </a:solidFill>
                        </a:rPr>
                        <a:t>,</a:t>
                      </a:r>
                      <a:r>
                        <a:rPr lang="en-GB" sz="1400">
                          <a:solidFill>
                            <a:srgbClr val="000000"/>
                          </a:solidFill>
                        </a:rPr>
                        <a:t> </a:t>
                      </a:r>
                      <a:r>
                        <a:rPr lang="en-GB" sz="1400">
                          <a:solidFill>
                            <a:srgbClr val="000000"/>
                          </a:solidFill>
                        </a:rPr>
                        <a:t>Date, TransactionType,</a:t>
                      </a:r>
                      <a:r>
                        <a:rPr lang="en-GB" sz="1400">
                          <a:solidFill>
                            <a:srgbClr val="000000"/>
                          </a:solidFill>
                        </a:rPr>
                        <a:t> Amount, PaymentMethod</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graphicFrame>
        <p:nvGraphicFramePr>
          <p:cNvPr descr="Table is accessible to screenreaders" id="375" name="Google Shape;375;p43"/>
          <p:cNvGraphicFramePr/>
          <p:nvPr/>
        </p:nvGraphicFramePr>
        <p:xfrm>
          <a:off x="381000" y="1339536"/>
          <a:ext cx="3000000" cy="3000000"/>
        </p:xfrm>
        <a:graphic>
          <a:graphicData uri="http://schemas.openxmlformats.org/drawingml/2006/table">
            <a:tbl>
              <a:tblPr bandRow="1" firstRow="1">
                <a:noFill/>
                <a:tableStyleId>{68848E3A-6274-4063-8791-6873BA5D3A22}</a:tableStyleId>
              </a:tblPr>
              <a:tblGrid>
                <a:gridCol w="2030000"/>
                <a:gridCol w="6504400"/>
              </a:tblGrid>
              <a:tr h="263525">
                <a:tc>
                  <a:txBody>
                    <a:bodyPr/>
                    <a:lstStyle/>
                    <a:p>
                      <a:pPr indent="0" lvl="0" marL="0" marR="0" rtl="0" algn="l">
                        <a:spcBef>
                          <a:spcPts val="0"/>
                        </a:spcBef>
                        <a:spcAft>
                          <a:spcPts val="0"/>
                        </a:spcAft>
                        <a:buNone/>
                      </a:pPr>
                      <a:r>
                        <a:rPr lang="en-GB">
                          <a:solidFill>
                            <a:srgbClr val="000000"/>
                          </a:solidFill>
                        </a:rPr>
                        <a:t>Bảng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a:solidFill>
                            <a:srgbClr val="000000"/>
                          </a:solidFill>
                        </a:rPr>
                        <a:t>Các cột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Accessory Package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AccessoryPackageID</a:t>
                      </a:r>
                      <a:r>
                        <a:rPr lang="en-GB" sz="1400">
                          <a:solidFill>
                            <a:srgbClr val="000000"/>
                          </a:solidFill>
                        </a:rPr>
                        <a:t>, </a:t>
                      </a:r>
                      <a:r>
                        <a:rPr b="0" lang="en-GB" sz="1400">
                          <a:solidFill>
                            <a:srgbClr val="000000"/>
                          </a:solidFill>
                        </a:rPr>
                        <a:t>Category, Description</a:t>
                      </a:r>
                      <a:endParaRPr b="0"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300">
                          <a:solidFill>
                            <a:srgbClr val="000000"/>
                          </a:solidFill>
                        </a:rPr>
                        <a:t>AccessoryPackageContents</a:t>
                      </a:r>
                      <a:endParaRPr sz="13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1" lang="en-GB" sz="1300">
                          <a:solidFill>
                            <a:srgbClr val="000000"/>
                          </a:solidFill>
                        </a:rPr>
                        <a:t>AccessoryPackageID,</a:t>
                      </a:r>
                      <a:r>
                        <a:rPr b="1" i="1" lang="en-GB" sz="1300">
                          <a:solidFill>
                            <a:srgbClr val="000000"/>
                          </a:solidFill>
                        </a:rPr>
                        <a:t> ProductItemID</a:t>
                      </a:r>
                      <a:endParaRPr b="1" i="1" sz="13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Cartitem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CartItemID</a:t>
                      </a:r>
                      <a:r>
                        <a:rPr lang="en-GB" sz="1400">
                          <a:solidFill>
                            <a:srgbClr val="000000"/>
                          </a:solidFill>
                        </a:rPr>
                        <a:t>,</a:t>
                      </a:r>
                      <a:r>
                        <a:rPr b="0" lang="en-GB" sz="1400">
                          <a:solidFill>
                            <a:srgbClr val="000000"/>
                          </a:solidFill>
                        </a:rPr>
                        <a:t> </a:t>
                      </a:r>
                      <a:r>
                        <a:rPr b="0" i="1" lang="en-GB" sz="1400">
                          <a:solidFill>
                            <a:srgbClr val="000000"/>
                          </a:solidFill>
                        </a:rPr>
                        <a:t>Inventory</a:t>
                      </a:r>
                      <a:r>
                        <a:rPr b="0" i="1" lang="en-GB" sz="1400">
                          <a:solidFill>
                            <a:srgbClr val="000000"/>
                          </a:solidFill>
                        </a:rPr>
                        <a:t>ItemID</a:t>
                      </a:r>
                      <a:r>
                        <a:rPr b="0" lang="en-GB" sz="1400">
                          <a:solidFill>
                            <a:srgbClr val="000000"/>
                          </a:solidFill>
                        </a:rPr>
                        <a:t>, </a:t>
                      </a:r>
                      <a:r>
                        <a:rPr b="0" i="1" lang="en-GB" sz="1400">
                          <a:solidFill>
                            <a:srgbClr val="000000"/>
                          </a:solidFill>
                        </a:rPr>
                        <a:t>OnlineCartID</a:t>
                      </a:r>
                      <a:r>
                        <a:rPr b="0" lang="en-GB" sz="1400">
                          <a:solidFill>
                            <a:srgbClr val="000000"/>
                          </a:solidFill>
                        </a:rPr>
                        <a:t>, Quantity, CurrentPrice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Customer</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AccountNumber</a:t>
                      </a:r>
                      <a:r>
                        <a:rPr lang="en-GB" sz="1400">
                          <a:solidFill>
                            <a:srgbClr val="000000"/>
                          </a:solidFill>
                        </a:rPr>
                        <a:t>, Name, MobilePhone, HomePhone,</a:t>
                      </a:r>
                      <a:r>
                        <a:rPr lang="en-GB" sz="1400">
                          <a:solidFill>
                            <a:srgbClr val="000000"/>
                          </a:solidFill>
                        </a:rPr>
                        <a:t> EmailAddress, 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Inventory</a:t>
                      </a:r>
                      <a:r>
                        <a:rPr lang="en-GB" sz="1400">
                          <a:solidFill>
                            <a:srgbClr val="000000"/>
                          </a:solidFill>
                        </a:rPr>
                        <a: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Inventory</a:t>
                      </a:r>
                      <a:r>
                        <a:rPr b="1" lang="en-GB" sz="1400">
                          <a:solidFill>
                            <a:srgbClr val="000000"/>
                          </a:solidFill>
                        </a:rPr>
                        <a:t>ItemID</a:t>
                      </a:r>
                      <a:r>
                        <a:rPr lang="en-GB" sz="1400">
                          <a:solidFill>
                            <a:srgbClr val="000000"/>
                          </a:solidFill>
                        </a:rPr>
                        <a:t>, </a:t>
                      </a:r>
                      <a:r>
                        <a:rPr b="0" i="1" lang="en-GB" sz="1400">
                          <a:solidFill>
                            <a:srgbClr val="000000"/>
                          </a:solidFill>
                        </a:rPr>
                        <a:t>ProductItemID</a:t>
                      </a:r>
                      <a:r>
                        <a:rPr b="1" lang="en-GB" sz="1400">
                          <a:solidFill>
                            <a:srgbClr val="000000"/>
                          </a:solidFill>
                        </a:rPr>
                        <a:t>, </a:t>
                      </a:r>
                      <a:r>
                        <a:rPr lang="en-GB" sz="1400">
                          <a:solidFill>
                            <a:srgbClr val="000000"/>
                          </a:solidFill>
                        </a:rPr>
                        <a:t>Size, Color, Options, QuantityOn</a:t>
                      </a:r>
                      <a:r>
                        <a:rPr lang="en-GB" sz="1400">
                          <a:solidFill>
                            <a:srgbClr val="000000"/>
                          </a:solidFill>
                        </a:rPr>
                        <a:t>Hand, AverageCost, ReorderQuantity</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075">
                <a:tc>
                  <a:txBody>
                    <a:bodyPr/>
                    <a:lstStyle/>
                    <a:p>
                      <a:pPr indent="0" lvl="0" marL="0" marR="0" rtl="0" algn="l">
                        <a:spcBef>
                          <a:spcPts val="0"/>
                        </a:spcBef>
                        <a:spcAft>
                          <a:spcPts val="0"/>
                        </a:spcAft>
                        <a:buNone/>
                      </a:pPr>
                      <a:r>
                        <a:rPr lang="en-GB" sz="1400">
                          <a:solidFill>
                            <a:srgbClr val="000000"/>
                          </a:solidFill>
                        </a:rPr>
                        <a:t>OnlineCart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OnlineCartID</a:t>
                      </a:r>
                      <a:r>
                        <a:rPr lang="en-GB" sz="1400">
                          <a:solidFill>
                            <a:srgbClr val="000000"/>
                          </a:solidFill>
                        </a:rPr>
                        <a:t>,</a:t>
                      </a:r>
                      <a:r>
                        <a:rPr lang="en-GB" sz="1400">
                          <a:solidFill>
                            <a:srgbClr val="000000"/>
                          </a:solidFill>
                        </a:rPr>
                        <a:t> </a:t>
                      </a:r>
                      <a:r>
                        <a:rPr i="1" lang="en-GB" sz="1400">
                          <a:solidFill>
                            <a:srgbClr val="000000"/>
                          </a:solidFill>
                        </a:rPr>
                        <a:t>CustomerAccountNumber</a:t>
                      </a:r>
                      <a:r>
                        <a:rPr lang="en-GB" sz="1400">
                          <a:solidFill>
                            <a:srgbClr val="000000"/>
                          </a:solidFill>
                        </a:rPr>
                        <a:t>, </a:t>
                      </a:r>
                      <a:r>
                        <a:rPr lang="en-GB" sz="1400">
                          <a:solidFill>
                            <a:srgbClr val="000000"/>
                          </a:solidFill>
                        </a:rPr>
                        <a:t>StartDateTime,</a:t>
                      </a:r>
                      <a:r>
                        <a:rPr lang="en-GB" sz="1400">
                          <a:solidFill>
                            <a:srgbClr val="000000"/>
                          </a:solidFill>
                        </a:rPr>
                        <a:t> NumberOfItems, ValueOfItems, Status, ElapsedTime, HoldForDays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ProductCommentID</a:t>
                      </a:r>
                      <a:r>
                        <a:rPr lang="en-GB" sz="1400">
                          <a:solidFill>
                            <a:srgbClr val="000000"/>
                          </a:solidFill>
                        </a:rPr>
                        <a:t>, </a:t>
                      </a:r>
                      <a:r>
                        <a:rPr b="0" i="1" lang="en-GB" sz="1400">
                          <a:solidFill>
                            <a:srgbClr val="000000"/>
                          </a:solidFill>
                        </a:rPr>
                        <a:t>ProductItemID</a:t>
                      </a:r>
                      <a:r>
                        <a:rPr b="1" lang="en-GB" sz="1400">
                          <a:solidFill>
                            <a:srgbClr val="000000"/>
                          </a:solidFill>
                        </a:rPr>
                        <a:t>,</a:t>
                      </a:r>
                      <a:r>
                        <a:rPr lang="en-GB" sz="1400">
                          <a:solidFill>
                            <a:srgbClr val="000000"/>
                          </a:solidFill>
                        </a:rPr>
                        <a:t> </a:t>
                      </a:r>
                      <a:r>
                        <a:rPr i="1" lang="en-GB" sz="1400">
                          <a:solidFill>
                            <a:srgbClr val="000000"/>
                          </a:solidFill>
                        </a:rPr>
                        <a:t>CustomerAccountNumber</a:t>
                      </a:r>
                      <a:r>
                        <a:rPr lang="en-GB" sz="1400">
                          <a:solidFill>
                            <a:srgbClr val="000000"/>
                          </a:solidFill>
                        </a:rPr>
                        <a:t>, </a:t>
                      </a:r>
                      <a:r>
                        <a:rPr lang="en-GB" sz="1400">
                          <a:solidFill>
                            <a:srgbClr val="000000"/>
                          </a:solidFill>
                        </a:rPr>
                        <a:t>Date,</a:t>
                      </a:r>
                      <a:r>
                        <a:rPr lang="en-GB" sz="1400">
                          <a:solidFill>
                            <a:srgbClr val="000000"/>
                          </a:solidFill>
                        </a:rPr>
                        <a:t> Rating, 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ProductItemID</a:t>
                      </a:r>
                      <a:r>
                        <a:rPr lang="en-GB" sz="1400">
                          <a:solidFill>
                            <a:srgbClr val="000000"/>
                          </a:solidFill>
                        </a:rPr>
                        <a:t>,</a:t>
                      </a:r>
                      <a:r>
                        <a:rPr lang="en-GB" sz="1400">
                          <a:solidFill>
                            <a:srgbClr val="000000"/>
                          </a:solidFill>
                        </a:rPr>
                        <a:t> </a:t>
                      </a:r>
                      <a:r>
                        <a:rPr lang="en-GB" sz="1400">
                          <a:solidFill>
                            <a:srgbClr val="000000"/>
                          </a:solidFill>
                        </a:rPr>
                        <a:t>Gender, Description, Supplier, Manufacturer, Picture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2725">
                <a:tc>
                  <a:txBody>
                    <a:bodyPr/>
                    <a:lstStyle/>
                    <a:p>
                      <a:pPr indent="0" lvl="0" marL="0" marR="0" rtl="0" algn="l">
                        <a:spcBef>
                          <a:spcPts val="0"/>
                        </a:spcBef>
                        <a:spcAft>
                          <a:spcPts val="0"/>
                        </a:spcAft>
                        <a:buNone/>
                      </a:pPr>
                      <a:r>
                        <a:rPr lang="en-GB" sz="1400">
                          <a:solidFill>
                            <a:srgbClr val="000000"/>
                          </a:solidFill>
                        </a:rPr>
                        <a:t>PromoOffering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PromoOfferingID</a:t>
                      </a:r>
                      <a:r>
                        <a:rPr lang="en-GB" sz="1400">
                          <a:solidFill>
                            <a:srgbClr val="000000"/>
                          </a:solidFill>
                        </a:rPr>
                        <a:t>,</a:t>
                      </a:r>
                      <a:r>
                        <a:rPr lang="en-GB" sz="1400">
                          <a:solidFill>
                            <a:srgbClr val="000000"/>
                          </a:solidFill>
                        </a:rPr>
                        <a:t> </a:t>
                      </a:r>
                      <a:r>
                        <a:rPr b="1" i="1" lang="en-GB" sz="1300">
                          <a:solidFill>
                            <a:schemeClr val="dk1"/>
                          </a:solidFill>
                        </a:rPr>
                        <a:t>PromotionID</a:t>
                      </a:r>
                      <a:r>
                        <a:rPr i="1" lang="en-GB" sz="1300">
                          <a:solidFill>
                            <a:schemeClr val="dk1"/>
                          </a:solidFill>
                        </a:rPr>
                        <a:t>, </a:t>
                      </a:r>
                      <a:r>
                        <a:rPr b="1" i="1" lang="en-GB" sz="1300">
                          <a:solidFill>
                            <a:schemeClr val="dk1"/>
                          </a:solidFill>
                        </a:rPr>
                        <a:t>ProductItemID</a:t>
                      </a:r>
                      <a:r>
                        <a:rPr b="1" lang="en-GB" sz="1300">
                          <a:solidFill>
                            <a:schemeClr val="dk1"/>
                          </a:solidFill>
                        </a:rPr>
                        <a:t>, </a:t>
                      </a:r>
                      <a:r>
                        <a:rPr lang="en-GB" sz="1300">
                          <a:solidFill>
                            <a:schemeClr val="dk1"/>
                          </a:solidFill>
                        </a:rPr>
                        <a:t>RegularPrice, PromoPrice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Promotion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PromotionID</a:t>
                      </a:r>
                      <a:r>
                        <a:rPr lang="en-GB" sz="1400">
                          <a:solidFill>
                            <a:srgbClr val="000000"/>
                          </a:solidFill>
                        </a:rPr>
                        <a:t>,</a:t>
                      </a:r>
                      <a:r>
                        <a:rPr lang="en-GB" sz="1400">
                          <a:solidFill>
                            <a:srgbClr val="000000"/>
                          </a:solidFill>
                        </a:rPr>
                        <a:t> </a:t>
                      </a:r>
                      <a:r>
                        <a:rPr lang="en-GB" sz="1400">
                          <a:solidFill>
                            <a:srgbClr val="000000"/>
                          </a:solidFill>
                        </a:rPr>
                        <a:t>Season,</a:t>
                      </a:r>
                      <a:r>
                        <a:rPr lang="en-GB" sz="1400">
                          <a:solidFill>
                            <a:srgbClr val="000000"/>
                          </a:solidFill>
                        </a:rPr>
                        <a:t> Year, Description, StartDate, EndDate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Sale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SaleID</a:t>
                      </a:r>
                      <a:r>
                        <a:rPr lang="en-GB" sz="1400">
                          <a:solidFill>
                            <a:srgbClr val="000000"/>
                          </a:solidFill>
                        </a:rPr>
                        <a:t>,</a:t>
                      </a:r>
                      <a:r>
                        <a:rPr lang="en-GB" sz="1400">
                          <a:solidFill>
                            <a:srgbClr val="000000"/>
                          </a:solidFill>
                        </a:rPr>
                        <a:t> </a:t>
                      </a:r>
                      <a:r>
                        <a:rPr i="1" lang="en-GB" sz="1400">
                          <a:solidFill>
                            <a:srgbClr val="000000"/>
                          </a:solidFill>
                        </a:rPr>
                        <a:t>CustomerAccountNumber</a:t>
                      </a:r>
                      <a:r>
                        <a:rPr lang="en-GB" sz="1400">
                          <a:solidFill>
                            <a:srgbClr val="000000"/>
                          </a:solidFill>
                        </a:rPr>
                        <a:t>, SaleDateTime,</a:t>
                      </a:r>
                      <a:r>
                        <a:rPr lang="en-GB" sz="1400">
                          <a:solidFill>
                            <a:srgbClr val="000000"/>
                          </a:solidFill>
                        </a:rPr>
                        <a:t> PriorityCode, ShippingAndHandling, Tax, TotalAmount, MountainBucks, StoreID, RegisterID, ClerkID, TimeOnSite, ChatUse, LengthOfCall</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3200">
                <a:tc>
                  <a:txBody>
                    <a:bodyPr/>
                    <a:lstStyle/>
                    <a:p>
                      <a:pPr indent="0" lvl="0" marL="0" marR="0" rtl="0" algn="l">
                        <a:spcBef>
                          <a:spcPts val="0"/>
                        </a:spcBef>
                        <a:spcAft>
                          <a:spcPts val="0"/>
                        </a:spcAft>
                        <a:buNone/>
                      </a:pPr>
                      <a:r>
                        <a:rPr lang="en-GB" sz="1400">
                          <a:solidFill>
                            <a:srgbClr val="000000"/>
                          </a:solidFill>
                        </a:rPr>
                        <a:t>SaleItem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SaleItemID</a:t>
                      </a:r>
                      <a:r>
                        <a:rPr lang="en-GB" sz="1400">
                          <a:solidFill>
                            <a:srgbClr val="000000"/>
                          </a:solidFill>
                        </a:rPr>
                        <a:t>, </a:t>
                      </a:r>
                      <a:r>
                        <a:rPr i="1" lang="en-GB" sz="1400">
                          <a:solidFill>
                            <a:srgbClr val="000000"/>
                          </a:solidFill>
                        </a:rPr>
                        <a:t>InventoryItemID</a:t>
                      </a:r>
                      <a:r>
                        <a:rPr lang="en-GB" sz="1400">
                          <a:solidFill>
                            <a:srgbClr val="000000"/>
                          </a:solidFill>
                        </a:rPr>
                        <a:t>,</a:t>
                      </a:r>
                      <a:r>
                        <a:rPr lang="en-GB" sz="1400">
                          <a:solidFill>
                            <a:srgbClr val="000000"/>
                          </a:solidFill>
                        </a:rPr>
                        <a:t> </a:t>
                      </a:r>
                      <a:r>
                        <a:rPr i="1" lang="en-GB" sz="1400">
                          <a:solidFill>
                            <a:srgbClr val="000000"/>
                          </a:solidFill>
                        </a:rPr>
                        <a:t>SaleID</a:t>
                      </a:r>
                      <a:r>
                        <a:rPr lang="en-GB" sz="1400">
                          <a:solidFill>
                            <a:srgbClr val="000000"/>
                          </a:solidFill>
                        </a:rPr>
                        <a:t>, </a:t>
                      </a:r>
                      <a:r>
                        <a:rPr lang="en-GB" sz="1400">
                          <a:solidFill>
                            <a:srgbClr val="000000"/>
                          </a:solidFill>
                        </a:rPr>
                        <a:t>Quantity, SoldPrice, ShipStatus, BackOrderStatus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400">
                          <a:solidFill>
                            <a:srgbClr val="000000"/>
                          </a:solidFill>
                        </a:rPr>
                        <a:t>SaleTransaction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SaleTransactionID</a:t>
                      </a:r>
                      <a:r>
                        <a:rPr lang="en-GB" sz="1400">
                          <a:solidFill>
                            <a:srgbClr val="000000"/>
                          </a:solidFill>
                        </a:rPr>
                        <a:t>,</a:t>
                      </a:r>
                      <a:r>
                        <a:rPr lang="en-GB" sz="1400">
                          <a:solidFill>
                            <a:srgbClr val="000000"/>
                          </a:solidFill>
                        </a:rPr>
                        <a:t> </a:t>
                      </a:r>
                      <a:r>
                        <a:rPr i="1" lang="en-GB" sz="1400">
                          <a:solidFill>
                            <a:srgbClr val="000000"/>
                          </a:solidFill>
                        </a:rPr>
                        <a:t>SaleID</a:t>
                      </a:r>
                      <a:r>
                        <a:rPr lang="en-GB" sz="1400">
                          <a:solidFill>
                            <a:srgbClr val="000000"/>
                          </a:solidFill>
                        </a:rPr>
                        <a:t>, </a:t>
                      </a:r>
                      <a:r>
                        <a:rPr lang="en-GB" sz="1400">
                          <a:solidFill>
                            <a:srgbClr val="000000"/>
                          </a:solidFill>
                        </a:rPr>
                        <a:t>Date, TransactionType,</a:t>
                      </a:r>
                      <a:r>
                        <a:rPr lang="en-GB" sz="1400">
                          <a:solidFill>
                            <a:srgbClr val="000000"/>
                          </a:solidFill>
                        </a:rPr>
                        <a:t> Amount, PaymentMethod</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76" name="Google Shape;376;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7" name="Google Shape;377;p4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8. Á</a:t>
            </a:r>
            <a:r>
              <a:rPr lang="en-GB"/>
              <a:t>nh xạ RDBMS: C</a:t>
            </a:r>
            <a:r>
              <a:rPr lang="en-GB"/>
              <a:t>ác liên kết</a:t>
            </a:r>
            <a:endParaRPr/>
          </a:p>
        </p:txBody>
      </p:sp>
      <p:sp>
        <p:nvSpPr>
          <p:cNvPr id="378" name="Google Shape;378;p43"/>
          <p:cNvSpPr txBox="1"/>
          <p:nvPr/>
        </p:nvSpPr>
        <p:spPr>
          <a:xfrm>
            <a:off x="301825" y="828500"/>
            <a:ext cx="87192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Áp dụng R4,  R6, &amp; R7: </a:t>
            </a:r>
            <a:r>
              <a:rPr lang="en-GB" sz="1800"/>
              <a:t>Bổ xung các khóa ngoại</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aphicFrame>
        <p:nvGraphicFramePr>
          <p:cNvPr descr="Table is accessible to screenreaders" id="383" name="Google Shape;383;p44"/>
          <p:cNvGraphicFramePr/>
          <p:nvPr/>
        </p:nvGraphicFramePr>
        <p:xfrm>
          <a:off x="381000" y="1339536"/>
          <a:ext cx="3000000" cy="3000000"/>
        </p:xfrm>
        <a:graphic>
          <a:graphicData uri="http://schemas.openxmlformats.org/drawingml/2006/table">
            <a:tbl>
              <a:tblPr bandRow="1" firstRow="1">
                <a:noFill/>
                <a:tableStyleId>{68848E3A-6274-4063-8791-6873BA5D3A22}</a:tableStyleId>
              </a:tblPr>
              <a:tblGrid>
                <a:gridCol w="2030000"/>
                <a:gridCol w="6504400"/>
              </a:tblGrid>
              <a:tr h="263525">
                <a:tc>
                  <a:txBody>
                    <a:bodyPr/>
                    <a:lstStyle/>
                    <a:p>
                      <a:pPr indent="0" lvl="0" marL="0" marR="0" rtl="0" algn="l">
                        <a:spcBef>
                          <a:spcPts val="0"/>
                        </a:spcBef>
                        <a:spcAft>
                          <a:spcPts val="0"/>
                        </a:spcAft>
                        <a:buNone/>
                      </a:pPr>
                      <a:r>
                        <a:rPr lang="en-GB">
                          <a:solidFill>
                            <a:srgbClr val="000000"/>
                          </a:solidFill>
                        </a:rPr>
                        <a:t>Bảng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a:solidFill>
                            <a:srgbClr val="000000"/>
                          </a:solidFill>
                        </a:rPr>
                        <a:t>Các cột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Accessory Package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AccessoryPackageID</a:t>
                      </a:r>
                      <a:r>
                        <a:rPr lang="en-GB" sz="1400">
                          <a:solidFill>
                            <a:srgbClr val="000000"/>
                          </a:solidFill>
                        </a:rPr>
                        <a:t>, </a:t>
                      </a:r>
                      <a:r>
                        <a:rPr b="0" lang="en-GB" sz="1400">
                          <a:solidFill>
                            <a:srgbClr val="000000"/>
                          </a:solidFill>
                        </a:rPr>
                        <a:t>Category, Description</a:t>
                      </a:r>
                      <a:endParaRPr b="0"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300">
                          <a:solidFill>
                            <a:srgbClr val="000000"/>
                          </a:solidFill>
                        </a:rPr>
                        <a:t>AccessoryPackageContents</a:t>
                      </a:r>
                      <a:endParaRPr sz="13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1" lang="en-GB" sz="1300">
                          <a:solidFill>
                            <a:srgbClr val="000000"/>
                          </a:solidFill>
                        </a:rPr>
                        <a:t>AccessoryPackageID,</a:t>
                      </a:r>
                      <a:r>
                        <a:rPr b="1" i="1" lang="en-GB" sz="1300">
                          <a:solidFill>
                            <a:srgbClr val="000000"/>
                          </a:solidFill>
                        </a:rPr>
                        <a:t> ProductItemID</a:t>
                      </a:r>
                      <a:endParaRPr b="1" i="1" sz="13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Cartitem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CartItemID</a:t>
                      </a:r>
                      <a:r>
                        <a:rPr lang="en-GB" sz="1400">
                          <a:solidFill>
                            <a:srgbClr val="000000"/>
                          </a:solidFill>
                        </a:rPr>
                        <a:t>,</a:t>
                      </a:r>
                      <a:r>
                        <a:rPr b="0" lang="en-GB" sz="1400">
                          <a:solidFill>
                            <a:srgbClr val="000000"/>
                          </a:solidFill>
                        </a:rPr>
                        <a:t> </a:t>
                      </a:r>
                      <a:r>
                        <a:rPr b="0" i="1" lang="en-GB" sz="1400">
                          <a:solidFill>
                            <a:srgbClr val="000000"/>
                          </a:solidFill>
                        </a:rPr>
                        <a:t>Inventory</a:t>
                      </a:r>
                      <a:r>
                        <a:rPr b="0" i="1" lang="en-GB" sz="1400">
                          <a:solidFill>
                            <a:srgbClr val="000000"/>
                          </a:solidFill>
                        </a:rPr>
                        <a:t>ItemID</a:t>
                      </a:r>
                      <a:r>
                        <a:rPr b="0" lang="en-GB" sz="1400">
                          <a:solidFill>
                            <a:srgbClr val="000000"/>
                          </a:solidFill>
                        </a:rPr>
                        <a:t>, </a:t>
                      </a:r>
                      <a:r>
                        <a:rPr b="0" i="1" lang="en-GB" sz="1400">
                          <a:solidFill>
                            <a:srgbClr val="000000"/>
                          </a:solidFill>
                        </a:rPr>
                        <a:t>OnlineCartID</a:t>
                      </a:r>
                      <a:r>
                        <a:rPr b="0" lang="en-GB" sz="1400">
                          <a:solidFill>
                            <a:srgbClr val="000000"/>
                          </a:solidFill>
                        </a:rPr>
                        <a:t>, Quantity, CurrentPrice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Customer</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400">
                          <a:solidFill>
                            <a:srgbClr val="000000"/>
                          </a:solidFill>
                        </a:rPr>
                        <a:t>AccountNumber</a:t>
                      </a:r>
                      <a:r>
                        <a:rPr lang="en-GB" sz="1400">
                          <a:solidFill>
                            <a:srgbClr val="000000"/>
                          </a:solidFill>
                        </a:rPr>
                        <a:t>, Name, MobilePhone, HomePhone,</a:t>
                      </a:r>
                      <a:r>
                        <a:rPr lang="en-GB" sz="1400">
                          <a:solidFill>
                            <a:srgbClr val="000000"/>
                          </a:solidFill>
                        </a:rPr>
                        <a:t> EmailAddress, 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675">
                <a:tc>
                  <a:txBody>
                    <a:bodyPr/>
                    <a:lstStyle/>
                    <a:p>
                      <a:pPr indent="0" lvl="0" marL="0" marR="0" rtl="0" algn="l">
                        <a:spcBef>
                          <a:spcPts val="0"/>
                        </a:spcBef>
                        <a:spcAft>
                          <a:spcPts val="0"/>
                        </a:spcAft>
                        <a:buNone/>
                      </a:pPr>
                      <a:r>
                        <a:rPr lang="en-GB" sz="1400">
                          <a:solidFill>
                            <a:srgbClr val="000000"/>
                          </a:solidFill>
                        </a:rPr>
                        <a:t>Inventory</a:t>
                      </a:r>
                      <a:r>
                        <a:rPr lang="en-GB" sz="1400">
                          <a:solidFill>
                            <a:srgbClr val="000000"/>
                          </a:solidFill>
                        </a:rPr>
                        <a: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Inventory</a:t>
                      </a:r>
                      <a:r>
                        <a:rPr b="1" lang="en-GB" sz="1400">
                          <a:solidFill>
                            <a:srgbClr val="000000"/>
                          </a:solidFill>
                        </a:rPr>
                        <a:t>ItemID</a:t>
                      </a:r>
                      <a:r>
                        <a:rPr lang="en-GB" sz="1400">
                          <a:solidFill>
                            <a:srgbClr val="000000"/>
                          </a:solidFill>
                        </a:rPr>
                        <a:t>, </a:t>
                      </a:r>
                      <a:r>
                        <a:rPr b="0" i="1" lang="en-GB" sz="1400">
                          <a:solidFill>
                            <a:srgbClr val="000000"/>
                          </a:solidFill>
                        </a:rPr>
                        <a:t>ProductItemID</a:t>
                      </a:r>
                      <a:r>
                        <a:rPr b="1" lang="en-GB" sz="1400">
                          <a:solidFill>
                            <a:srgbClr val="000000"/>
                          </a:solidFill>
                        </a:rPr>
                        <a:t>, </a:t>
                      </a:r>
                      <a:r>
                        <a:rPr lang="en-GB" sz="1400">
                          <a:solidFill>
                            <a:srgbClr val="000000"/>
                          </a:solidFill>
                        </a:rPr>
                        <a:t>Size, Color, Options, QuantityOn</a:t>
                      </a:r>
                      <a:r>
                        <a:rPr lang="en-GB" sz="1400">
                          <a:solidFill>
                            <a:srgbClr val="000000"/>
                          </a:solidFill>
                        </a:rPr>
                        <a:t>Hand, AverageCost, ReorderQuantity</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075">
                <a:tc>
                  <a:txBody>
                    <a:bodyPr/>
                    <a:lstStyle/>
                    <a:p>
                      <a:pPr indent="0" lvl="0" marL="0" marR="0" rtl="0" algn="l">
                        <a:spcBef>
                          <a:spcPts val="0"/>
                        </a:spcBef>
                        <a:spcAft>
                          <a:spcPts val="0"/>
                        </a:spcAft>
                        <a:buNone/>
                      </a:pPr>
                      <a:r>
                        <a:rPr lang="en-GB" sz="1400">
                          <a:solidFill>
                            <a:srgbClr val="000000"/>
                          </a:solidFill>
                        </a:rPr>
                        <a:t>OnlineCart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600"/>
                        <a:buFont typeface="Calibri"/>
                        <a:buNone/>
                      </a:pPr>
                      <a:r>
                        <a:rPr b="1" lang="en-GB" sz="1600">
                          <a:solidFill>
                            <a:schemeClr val="dk1"/>
                          </a:solidFill>
                        </a:rPr>
                        <a:t>OnlineCartID</a:t>
                      </a:r>
                      <a:r>
                        <a:rPr lang="en-GB" sz="1600">
                          <a:solidFill>
                            <a:schemeClr val="dk1"/>
                          </a:solidFill>
                        </a:rPr>
                        <a:t>, </a:t>
                      </a:r>
                      <a:r>
                        <a:rPr i="1" lang="en-GB" sz="1600">
                          <a:solidFill>
                            <a:schemeClr val="dk1"/>
                          </a:solidFill>
                        </a:rPr>
                        <a:t>CustomerAccountID</a:t>
                      </a:r>
                      <a:r>
                        <a:rPr lang="en-GB" sz="1600">
                          <a:solidFill>
                            <a:schemeClr val="dk1"/>
                          </a:solidFill>
                        </a:rPr>
                        <a:t>, StartDateTime, NumberOfItems, ValueOfItems, Status, ElapsedTime, HoldForDays</a:t>
                      </a:r>
                      <a:endParaRPr b="1"/>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075">
                <a:tc>
                  <a:txBody>
                    <a:bodyPr/>
                    <a:lstStyle/>
                    <a:p>
                      <a:pPr indent="0" lvl="0" marL="0" marR="0" rtl="0" algn="l">
                        <a:spcBef>
                          <a:spcPts val="0"/>
                        </a:spcBef>
                        <a:spcAft>
                          <a:spcPts val="0"/>
                        </a:spcAft>
                        <a:buNone/>
                      </a:pPr>
                      <a:r>
                        <a:rPr lang="en-GB" sz="1600">
                          <a:solidFill>
                            <a:srgbClr val="000000"/>
                          </a:solidFill>
                        </a:rPr>
                        <a:t>ActiveCart</a:t>
                      </a:r>
                      <a:endParaRPr sz="1600">
                        <a:solidFill>
                          <a:srgbClr val="000000"/>
                        </a:solidFill>
                      </a:endParaRPr>
                    </a:p>
                  </a:txBody>
                  <a:tcPr marT="45725" marB="45725" marR="89800" marL="898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Calibri"/>
                        <a:buNone/>
                      </a:pPr>
                      <a:r>
                        <a:rPr b="1" i="1" lang="en-GB" sz="1600">
                          <a:solidFill>
                            <a:srgbClr val="000000"/>
                          </a:solidFill>
                        </a:rPr>
                        <a:t>OnlineCartID</a:t>
                      </a:r>
                      <a:r>
                        <a:rPr b="1" lang="en-GB" sz="1600">
                          <a:solidFill>
                            <a:srgbClr val="000000"/>
                          </a:solidFill>
                        </a:rPr>
                        <a:t>, </a:t>
                      </a:r>
                      <a:r>
                        <a:rPr b="0" lang="en-GB" sz="1600">
                          <a:solidFill>
                            <a:srgbClr val="000000"/>
                          </a:solidFill>
                        </a:rPr>
                        <a:t>ElapsedTime</a:t>
                      </a:r>
                      <a:endParaRPr b="0" sz="1600">
                        <a:solidFill>
                          <a:srgbClr val="000000"/>
                        </a:solidFill>
                      </a:endParaRPr>
                    </a:p>
                  </a:txBody>
                  <a:tcPr marT="45725" marB="45725" marR="89800" marL="898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6075">
                <a:tc>
                  <a:txBody>
                    <a:bodyPr/>
                    <a:lstStyle/>
                    <a:p>
                      <a:pPr indent="0" lvl="0" marL="0" marR="0" rtl="0" algn="l">
                        <a:spcBef>
                          <a:spcPts val="0"/>
                        </a:spcBef>
                        <a:spcAft>
                          <a:spcPts val="0"/>
                        </a:spcAft>
                        <a:buNone/>
                      </a:pPr>
                      <a:r>
                        <a:rPr lang="en-GB" sz="1600">
                          <a:solidFill>
                            <a:srgbClr val="000000"/>
                          </a:solidFill>
                        </a:rPr>
                        <a:t>OnReserveCart</a:t>
                      </a:r>
                      <a:endParaRPr sz="1600">
                        <a:solidFill>
                          <a:srgbClr val="000000"/>
                        </a:solidFill>
                      </a:endParaRPr>
                    </a:p>
                  </a:txBody>
                  <a:tcPr marT="45725" marB="45725" marR="89800" marL="898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Calibri"/>
                        <a:buNone/>
                      </a:pPr>
                      <a:r>
                        <a:rPr b="1" i="1" lang="en-GB" sz="1600">
                          <a:solidFill>
                            <a:srgbClr val="000000"/>
                          </a:solidFill>
                        </a:rPr>
                        <a:t>OnlineCartID</a:t>
                      </a:r>
                      <a:r>
                        <a:rPr b="1" lang="en-GB" sz="1600">
                          <a:solidFill>
                            <a:srgbClr val="000000"/>
                          </a:solidFill>
                        </a:rPr>
                        <a:t>, </a:t>
                      </a:r>
                      <a:r>
                        <a:rPr b="0" lang="en-GB" sz="1600">
                          <a:solidFill>
                            <a:srgbClr val="000000"/>
                          </a:solidFill>
                        </a:rPr>
                        <a:t>HoldForDays</a:t>
                      </a:r>
                      <a:endParaRPr b="1" sz="1600">
                        <a:solidFill>
                          <a:schemeClr val="dk1"/>
                        </a:solidFill>
                      </a:endParaRPr>
                    </a:p>
                  </a:txBody>
                  <a:tcPr marT="45725" marB="45725" marR="89800" marL="898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ProductCommentID</a:t>
                      </a:r>
                      <a:r>
                        <a:rPr lang="en-GB" sz="1400">
                          <a:solidFill>
                            <a:srgbClr val="000000"/>
                          </a:solidFill>
                        </a:rPr>
                        <a:t>, </a:t>
                      </a:r>
                      <a:r>
                        <a:rPr b="0" i="1" lang="en-GB" sz="1400">
                          <a:solidFill>
                            <a:srgbClr val="000000"/>
                          </a:solidFill>
                        </a:rPr>
                        <a:t>ProductItemID</a:t>
                      </a:r>
                      <a:r>
                        <a:rPr b="1" lang="en-GB" sz="1400">
                          <a:solidFill>
                            <a:srgbClr val="000000"/>
                          </a:solidFill>
                        </a:rPr>
                        <a:t>,</a:t>
                      </a:r>
                      <a:r>
                        <a:rPr lang="en-GB" sz="1400">
                          <a:solidFill>
                            <a:srgbClr val="000000"/>
                          </a:solidFill>
                        </a:rPr>
                        <a:t> </a:t>
                      </a:r>
                      <a:r>
                        <a:rPr i="1" lang="en-GB" sz="1400">
                          <a:solidFill>
                            <a:srgbClr val="000000"/>
                          </a:solidFill>
                        </a:rPr>
                        <a:t>CustomerAccountNumber</a:t>
                      </a:r>
                      <a:r>
                        <a:rPr lang="en-GB" sz="1400">
                          <a:solidFill>
                            <a:srgbClr val="000000"/>
                          </a:solidFill>
                        </a:rPr>
                        <a:t>, </a:t>
                      </a:r>
                      <a:r>
                        <a:rPr lang="en-GB" sz="1400">
                          <a:solidFill>
                            <a:srgbClr val="000000"/>
                          </a:solidFill>
                        </a:rPr>
                        <a:t>Date,</a:t>
                      </a:r>
                      <a:r>
                        <a:rPr lang="en-GB" sz="1400">
                          <a:solidFill>
                            <a:srgbClr val="000000"/>
                          </a:solidFill>
                        </a:rPr>
                        <a:t> Rating, Comment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ProductItem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ProductItemID</a:t>
                      </a:r>
                      <a:r>
                        <a:rPr lang="en-GB" sz="1400">
                          <a:solidFill>
                            <a:srgbClr val="000000"/>
                          </a:solidFill>
                        </a:rPr>
                        <a:t>,</a:t>
                      </a:r>
                      <a:r>
                        <a:rPr lang="en-GB" sz="1400">
                          <a:solidFill>
                            <a:srgbClr val="000000"/>
                          </a:solidFill>
                        </a:rPr>
                        <a:t> </a:t>
                      </a:r>
                      <a:r>
                        <a:rPr lang="en-GB" sz="1400">
                          <a:solidFill>
                            <a:srgbClr val="000000"/>
                          </a:solidFill>
                        </a:rPr>
                        <a:t>Gender, Description, Supplier, Manufacturer, Picture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12725">
                <a:tc>
                  <a:txBody>
                    <a:bodyPr/>
                    <a:lstStyle/>
                    <a:p>
                      <a:pPr indent="0" lvl="0" marL="0" marR="0" rtl="0" algn="l">
                        <a:spcBef>
                          <a:spcPts val="0"/>
                        </a:spcBef>
                        <a:spcAft>
                          <a:spcPts val="0"/>
                        </a:spcAft>
                        <a:buNone/>
                      </a:pPr>
                      <a:r>
                        <a:rPr lang="en-GB" sz="1400">
                          <a:solidFill>
                            <a:srgbClr val="000000"/>
                          </a:solidFill>
                        </a:rPr>
                        <a:t>PromoOffering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PromoOfferingID</a:t>
                      </a:r>
                      <a:r>
                        <a:rPr lang="en-GB" sz="1400">
                          <a:solidFill>
                            <a:srgbClr val="000000"/>
                          </a:solidFill>
                        </a:rPr>
                        <a:t>,</a:t>
                      </a:r>
                      <a:r>
                        <a:rPr lang="en-GB" sz="1400">
                          <a:solidFill>
                            <a:srgbClr val="000000"/>
                          </a:solidFill>
                        </a:rPr>
                        <a:t> </a:t>
                      </a:r>
                      <a:r>
                        <a:rPr b="1" i="1" lang="en-GB" sz="1300">
                          <a:solidFill>
                            <a:schemeClr val="dk1"/>
                          </a:solidFill>
                        </a:rPr>
                        <a:t>PromotionID</a:t>
                      </a:r>
                      <a:r>
                        <a:rPr i="1" lang="en-GB" sz="1300">
                          <a:solidFill>
                            <a:schemeClr val="dk1"/>
                          </a:solidFill>
                        </a:rPr>
                        <a:t>, </a:t>
                      </a:r>
                      <a:r>
                        <a:rPr b="1" i="1" lang="en-GB" sz="1300">
                          <a:solidFill>
                            <a:schemeClr val="dk1"/>
                          </a:solidFill>
                        </a:rPr>
                        <a:t>ProductItemID</a:t>
                      </a:r>
                      <a:r>
                        <a:rPr b="1" lang="en-GB" sz="1300">
                          <a:solidFill>
                            <a:schemeClr val="dk1"/>
                          </a:solidFill>
                        </a:rPr>
                        <a:t>, </a:t>
                      </a:r>
                      <a:r>
                        <a:rPr lang="en-GB" sz="1300">
                          <a:solidFill>
                            <a:schemeClr val="dk1"/>
                          </a:solidFill>
                        </a:rPr>
                        <a:t>RegularPrice, PromoPrice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400">
                          <a:solidFill>
                            <a:srgbClr val="000000"/>
                          </a:solidFill>
                        </a:rPr>
                        <a:t>Promotion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PromotionID</a:t>
                      </a:r>
                      <a:r>
                        <a:rPr lang="en-GB" sz="1400">
                          <a:solidFill>
                            <a:srgbClr val="000000"/>
                          </a:solidFill>
                        </a:rPr>
                        <a:t>,</a:t>
                      </a:r>
                      <a:r>
                        <a:rPr lang="en-GB" sz="1400">
                          <a:solidFill>
                            <a:srgbClr val="000000"/>
                          </a:solidFill>
                        </a:rPr>
                        <a:t> </a:t>
                      </a:r>
                      <a:r>
                        <a:rPr lang="en-GB" sz="1400">
                          <a:solidFill>
                            <a:srgbClr val="000000"/>
                          </a:solidFill>
                        </a:rPr>
                        <a:t>Season,</a:t>
                      </a:r>
                      <a:r>
                        <a:rPr lang="en-GB" sz="1400">
                          <a:solidFill>
                            <a:srgbClr val="000000"/>
                          </a:solidFill>
                        </a:rPr>
                        <a:t> Year, Description, StartDate, EndDate</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84" name="Google Shape;384;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5" name="Google Shape;385;p4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8. Á</a:t>
            </a:r>
            <a:r>
              <a:rPr lang="en-GB"/>
              <a:t>nh xạ RDBMS: </a:t>
            </a:r>
            <a:r>
              <a:rPr lang="en-GB"/>
              <a:t>Mô phỏng kế thừa</a:t>
            </a:r>
            <a:endParaRPr/>
          </a:p>
        </p:txBody>
      </p:sp>
      <p:sp>
        <p:nvSpPr>
          <p:cNvPr id="386" name="Google Shape;386;p44"/>
          <p:cNvSpPr txBox="1"/>
          <p:nvPr/>
        </p:nvSpPr>
        <p:spPr>
          <a:xfrm>
            <a:off x="301825" y="828500"/>
            <a:ext cx="87192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R8a</a:t>
            </a:r>
            <a:r>
              <a:rPr lang="en-GB" sz="1800"/>
              <a:t>: </a:t>
            </a:r>
            <a:r>
              <a:rPr lang="en-GB" sz="1800"/>
              <a:t>Tạo cho mỗi lớp con 1 bảng &amp; thiết lập liên kết với bảng của lớp cha</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aphicFrame>
        <p:nvGraphicFramePr>
          <p:cNvPr descr="Table is accessible to screenreaders" id="391" name="Google Shape;391;p45"/>
          <p:cNvGraphicFramePr/>
          <p:nvPr/>
        </p:nvGraphicFramePr>
        <p:xfrm>
          <a:off x="381000" y="1339536"/>
          <a:ext cx="3000000" cy="3000000"/>
        </p:xfrm>
        <a:graphic>
          <a:graphicData uri="http://schemas.openxmlformats.org/drawingml/2006/table">
            <a:tbl>
              <a:tblPr bandRow="1" firstRow="1">
                <a:noFill/>
                <a:tableStyleId>{68848E3A-6274-4063-8791-6873BA5D3A22}</a:tableStyleId>
              </a:tblPr>
              <a:tblGrid>
                <a:gridCol w="2030000"/>
                <a:gridCol w="6504400"/>
              </a:tblGrid>
              <a:tr h="263525">
                <a:tc>
                  <a:txBody>
                    <a:bodyPr/>
                    <a:lstStyle/>
                    <a:p>
                      <a:pPr indent="0" lvl="0" marL="0" marR="0" rtl="0" algn="l">
                        <a:spcBef>
                          <a:spcPts val="0"/>
                        </a:spcBef>
                        <a:spcAft>
                          <a:spcPts val="0"/>
                        </a:spcAft>
                        <a:buNone/>
                      </a:pPr>
                      <a:r>
                        <a:rPr lang="en-GB">
                          <a:solidFill>
                            <a:srgbClr val="000000"/>
                          </a:solidFill>
                        </a:rPr>
                        <a:t>Bảng</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a:solidFill>
                            <a:srgbClr val="000000"/>
                          </a:solidFill>
                        </a:rPr>
                        <a:t>Các cột</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600">
                          <a:solidFill>
                            <a:srgbClr val="000000"/>
                          </a:solidFill>
                        </a:rPr>
                        <a:t>Sale</a:t>
                      </a:r>
                      <a:endParaRPr sz="16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Calibri"/>
                        <a:buNone/>
                      </a:pPr>
                      <a:r>
                        <a:rPr b="1" lang="en-GB" sz="1600">
                          <a:solidFill>
                            <a:srgbClr val="000000"/>
                          </a:solidFill>
                        </a:rPr>
                        <a:t>SaleID</a:t>
                      </a:r>
                      <a:r>
                        <a:rPr lang="en-GB" sz="1600">
                          <a:solidFill>
                            <a:srgbClr val="000000"/>
                          </a:solidFill>
                        </a:rPr>
                        <a:t>,</a:t>
                      </a:r>
                      <a:r>
                        <a:rPr lang="en-GB" sz="1600">
                          <a:solidFill>
                            <a:srgbClr val="000000"/>
                          </a:solidFill>
                        </a:rPr>
                        <a:t> </a:t>
                      </a:r>
                      <a:r>
                        <a:rPr i="1" lang="en-GB" sz="1600">
                          <a:solidFill>
                            <a:srgbClr val="000000"/>
                          </a:solidFill>
                        </a:rPr>
                        <a:t>CustomerAccountNumber</a:t>
                      </a:r>
                      <a:r>
                        <a:rPr lang="en-GB" sz="1600">
                          <a:solidFill>
                            <a:srgbClr val="000000"/>
                          </a:solidFill>
                        </a:rPr>
                        <a:t>, </a:t>
                      </a:r>
                      <a:r>
                        <a:rPr lang="en-GB" sz="1600">
                          <a:solidFill>
                            <a:srgbClr val="000000"/>
                          </a:solidFill>
                        </a:rPr>
                        <a:t>SaleDateTime,</a:t>
                      </a:r>
                      <a:r>
                        <a:rPr lang="en-GB" sz="1600">
                          <a:solidFill>
                            <a:srgbClr val="000000"/>
                          </a:solidFill>
                        </a:rPr>
                        <a:t> PriorityCode, ShippingAndHandling, Tax, TotalAmount, MountainBucks</a:t>
                      </a:r>
                      <a:endParaRPr sz="16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600">
                          <a:solidFill>
                            <a:srgbClr val="000000"/>
                          </a:solidFill>
                        </a:rPr>
                        <a:t>InStoreSale</a:t>
                      </a:r>
                      <a:endParaRPr sz="16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Calibri"/>
                        <a:buNone/>
                      </a:pPr>
                      <a:r>
                        <a:rPr b="1" i="1" lang="en-GB" sz="1600">
                          <a:solidFill>
                            <a:srgbClr val="000000"/>
                          </a:solidFill>
                        </a:rPr>
                        <a:t>SaleID</a:t>
                      </a:r>
                      <a:r>
                        <a:rPr lang="en-GB" sz="1600">
                          <a:solidFill>
                            <a:srgbClr val="000000"/>
                          </a:solidFill>
                        </a:rPr>
                        <a:t>, StoreID, RegisterID, ClerkID</a:t>
                      </a:r>
                      <a:endParaRPr b="1" sz="14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600">
                          <a:solidFill>
                            <a:srgbClr val="000000"/>
                          </a:solidFill>
                        </a:rPr>
                        <a:t>OnlineSale</a:t>
                      </a:r>
                      <a:endParaRPr sz="16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Calibri"/>
                        <a:buNone/>
                      </a:pPr>
                      <a:r>
                        <a:rPr b="1" i="1" lang="en-GB" sz="1600">
                          <a:solidFill>
                            <a:srgbClr val="000000"/>
                          </a:solidFill>
                        </a:rPr>
                        <a:t>SaleID, </a:t>
                      </a:r>
                      <a:r>
                        <a:rPr b="0" i="0" lang="en-GB" sz="1600">
                          <a:solidFill>
                            <a:srgbClr val="000000"/>
                          </a:solidFill>
                        </a:rPr>
                        <a:t>TimeOnSite, ChatUse</a:t>
                      </a:r>
                      <a:endParaRPr b="1" sz="14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0" lvl="0" marL="0" marR="0" rtl="0" algn="l">
                        <a:spcBef>
                          <a:spcPts val="0"/>
                        </a:spcBef>
                        <a:spcAft>
                          <a:spcPts val="0"/>
                        </a:spcAft>
                        <a:buNone/>
                      </a:pPr>
                      <a:r>
                        <a:rPr lang="en-GB" sz="1600">
                          <a:solidFill>
                            <a:srgbClr val="000000"/>
                          </a:solidFill>
                        </a:rPr>
                        <a:t>TelephoneSale</a:t>
                      </a:r>
                      <a:endParaRPr sz="16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Calibri"/>
                        <a:buNone/>
                      </a:pPr>
                      <a:r>
                        <a:rPr b="1" i="1" lang="en-GB" sz="1600">
                          <a:solidFill>
                            <a:srgbClr val="000000"/>
                          </a:solidFill>
                        </a:rPr>
                        <a:t>SaleID, </a:t>
                      </a:r>
                      <a:r>
                        <a:rPr b="0" i="0" lang="en-GB" sz="1600">
                          <a:solidFill>
                            <a:srgbClr val="000000"/>
                          </a:solidFill>
                        </a:rPr>
                        <a:t>ClerkID, LengthOfCall</a:t>
                      </a:r>
                      <a:endParaRPr b="1" sz="1400">
                        <a:solidFill>
                          <a:srgbClr val="000000"/>
                        </a:solidFill>
                      </a:endParaRPr>
                    </a:p>
                  </a:txBody>
                  <a:tcPr marT="45725" marB="45725" marR="89800" marL="898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3200">
                <a:tc>
                  <a:txBody>
                    <a:bodyPr/>
                    <a:lstStyle/>
                    <a:p>
                      <a:pPr indent="0" lvl="0" marL="0" marR="0" rtl="0" algn="l">
                        <a:spcBef>
                          <a:spcPts val="0"/>
                        </a:spcBef>
                        <a:spcAft>
                          <a:spcPts val="0"/>
                        </a:spcAft>
                        <a:buNone/>
                      </a:pPr>
                      <a:r>
                        <a:rPr lang="en-GB" sz="1400">
                          <a:solidFill>
                            <a:srgbClr val="000000"/>
                          </a:solidFill>
                        </a:rPr>
                        <a:t>SaleItem</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SaleItemID</a:t>
                      </a:r>
                      <a:r>
                        <a:rPr lang="en-GB" sz="1400">
                          <a:solidFill>
                            <a:srgbClr val="000000"/>
                          </a:solidFill>
                        </a:rPr>
                        <a:t>, </a:t>
                      </a:r>
                      <a:r>
                        <a:rPr i="1" lang="en-GB" sz="1400">
                          <a:solidFill>
                            <a:srgbClr val="000000"/>
                          </a:solidFill>
                        </a:rPr>
                        <a:t>InventoryItemID</a:t>
                      </a:r>
                      <a:r>
                        <a:rPr lang="en-GB" sz="1400">
                          <a:solidFill>
                            <a:srgbClr val="000000"/>
                          </a:solidFill>
                        </a:rPr>
                        <a:t>,</a:t>
                      </a:r>
                      <a:r>
                        <a:rPr lang="en-GB" sz="1400">
                          <a:solidFill>
                            <a:srgbClr val="000000"/>
                          </a:solidFill>
                        </a:rPr>
                        <a:t> </a:t>
                      </a:r>
                      <a:r>
                        <a:rPr i="1" lang="en-GB" sz="1400">
                          <a:solidFill>
                            <a:srgbClr val="000000"/>
                          </a:solidFill>
                        </a:rPr>
                        <a:t>SaleID</a:t>
                      </a:r>
                      <a:r>
                        <a:rPr lang="en-GB" sz="1400">
                          <a:solidFill>
                            <a:srgbClr val="000000"/>
                          </a:solidFill>
                        </a:rPr>
                        <a:t>, </a:t>
                      </a:r>
                      <a:r>
                        <a:rPr lang="en-GB" sz="1400">
                          <a:solidFill>
                            <a:srgbClr val="000000"/>
                          </a:solidFill>
                        </a:rPr>
                        <a:t>Quantity, SoldPrice, ShipStatus, BackOrderStatus</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400">
                          <a:solidFill>
                            <a:srgbClr val="000000"/>
                          </a:solidFill>
                        </a:rPr>
                        <a:t>SaleTransaction</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rPr b="1" lang="en-GB" sz="1400">
                          <a:solidFill>
                            <a:srgbClr val="000000"/>
                          </a:solidFill>
                        </a:rPr>
                        <a:t>SaleTransactionID</a:t>
                      </a:r>
                      <a:r>
                        <a:rPr lang="en-GB" sz="1400">
                          <a:solidFill>
                            <a:srgbClr val="000000"/>
                          </a:solidFill>
                        </a:rPr>
                        <a:t>,</a:t>
                      </a:r>
                      <a:r>
                        <a:rPr lang="en-GB" sz="1400">
                          <a:solidFill>
                            <a:srgbClr val="000000"/>
                          </a:solidFill>
                        </a:rPr>
                        <a:t> </a:t>
                      </a:r>
                      <a:r>
                        <a:rPr i="1" lang="en-GB" sz="1400">
                          <a:solidFill>
                            <a:srgbClr val="000000"/>
                          </a:solidFill>
                        </a:rPr>
                        <a:t>SaleID</a:t>
                      </a:r>
                      <a:r>
                        <a:rPr lang="en-GB" sz="1400">
                          <a:solidFill>
                            <a:srgbClr val="000000"/>
                          </a:solidFill>
                        </a:rPr>
                        <a:t>, </a:t>
                      </a:r>
                      <a:r>
                        <a:rPr lang="en-GB" sz="1400">
                          <a:solidFill>
                            <a:srgbClr val="000000"/>
                          </a:solidFill>
                        </a:rPr>
                        <a:t>Date, TransactionType,</a:t>
                      </a:r>
                      <a:r>
                        <a:rPr lang="en-GB" sz="1400">
                          <a:solidFill>
                            <a:srgbClr val="000000"/>
                          </a:solidFill>
                        </a:rPr>
                        <a:t> Amount, PaymentMethod</a:t>
                      </a:r>
                      <a:endParaRPr sz="1400">
                        <a:solidFill>
                          <a:srgbClr val="000000"/>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92" name="Google Shape;392;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3" name="Google Shape;393;p4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8. Á</a:t>
            </a:r>
            <a:r>
              <a:rPr lang="en-GB"/>
              <a:t>nh xạ RDBMS: Mô phỏng kế thừa</a:t>
            </a:r>
            <a:r>
              <a:rPr baseline="-25000" lang="en-GB"/>
              <a:t>(2)</a:t>
            </a:r>
            <a:endParaRPr baseline="-25000"/>
          </a:p>
        </p:txBody>
      </p:sp>
      <p:sp>
        <p:nvSpPr>
          <p:cNvPr id="394" name="Google Shape;394;p45"/>
          <p:cNvSpPr txBox="1"/>
          <p:nvPr/>
        </p:nvSpPr>
        <p:spPr>
          <a:xfrm>
            <a:off x="301825" y="828500"/>
            <a:ext cx="87192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R8a: Tạo cho mỗi lớp con 1 bảng &amp; thiết lập liên kết với bảng của lớp cha</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400" name="Google Shape;400;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1" name="Google Shape;401;p46"/>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Tổng quan</a:t>
            </a:r>
            <a:endParaRPr/>
          </a:p>
          <a:p>
            <a:pPr indent="-381000" lvl="0" marL="457200" rtl="0" algn="just">
              <a:spcBef>
                <a:spcPts val="0"/>
              </a:spcBef>
              <a:spcAft>
                <a:spcPts val="0"/>
              </a:spcAft>
              <a:buSzPts val="2400"/>
              <a:buChar char="●"/>
            </a:pPr>
            <a:r>
              <a:rPr lang="en-GB"/>
              <a:t>Các quy tắc ánh xạ</a:t>
            </a:r>
            <a:endParaRPr/>
          </a:p>
          <a:p>
            <a:pPr indent="-381000" lvl="0" marL="457200" rtl="0" algn="just">
              <a:spcBef>
                <a:spcPts val="0"/>
              </a:spcBef>
              <a:spcAft>
                <a:spcPts val="0"/>
              </a:spcAft>
              <a:buSzPts val="2400"/>
              <a:buChar char="●"/>
            </a:pPr>
            <a:r>
              <a:rPr lang="en-GB"/>
              <a:t>Tối ưu hóa CSDL quan hệ</a:t>
            </a:r>
            <a:endParaRPr/>
          </a:p>
          <a:p>
            <a:pPr indent="-381000" lvl="0" marL="457200" rtl="0" algn="just">
              <a:spcBef>
                <a:spcPts val="0"/>
              </a:spcBef>
              <a:spcAft>
                <a:spcPts val="0"/>
              </a:spcAft>
              <a:buSzPts val="2400"/>
              <a:buChar char="●"/>
            </a:pPr>
            <a:r>
              <a:rPr lang="en-GB"/>
              <a:t>Tầng truy cập và quản lý dữ liệu</a:t>
            </a:r>
            <a:endParaRPr/>
          </a:p>
          <a:p>
            <a:pPr indent="-381000" lvl="0" marL="457200" rtl="0" algn="just">
              <a:spcBef>
                <a:spcPts val="0"/>
              </a:spcBef>
              <a:spcAft>
                <a:spcPts val="0"/>
              </a:spcAft>
              <a:buSzPts val="2400"/>
              <a:buChar char="●"/>
            </a:pPr>
            <a:r>
              <a:rPr lang="en-GB"/>
              <a:t>CSDL phân tán</a:t>
            </a:r>
            <a:endParaRPr/>
          </a:p>
        </p:txBody>
      </p:sp>
      <p:sp>
        <p:nvSpPr>
          <p:cNvPr id="402" name="Google Shape;402;p46"/>
          <p:cNvSpPr/>
          <p:nvPr/>
        </p:nvSpPr>
        <p:spPr>
          <a:xfrm>
            <a:off x="357900" y="1684659"/>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8" name="Google Shape;408;p4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ối ưu hóa CSDL quan hệ</a:t>
            </a:r>
            <a:endParaRPr/>
          </a:p>
        </p:txBody>
      </p:sp>
      <p:sp>
        <p:nvSpPr>
          <p:cNvPr id="409" name="Google Shape;409;p47"/>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Tối ưu hóa lưu trữ</a:t>
            </a:r>
            <a:endParaRPr/>
          </a:p>
          <a:p>
            <a:pPr indent="-368300" lvl="1" marL="914400" rtl="0" algn="just">
              <a:spcBef>
                <a:spcPts val="0"/>
              </a:spcBef>
              <a:spcAft>
                <a:spcPts val="0"/>
              </a:spcAft>
              <a:buSzPts val="2200"/>
              <a:buChar char="○"/>
            </a:pPr>
            <a:r>
              <a:rPr lang="en-GB"/>
              <a:t>Chuẩn hóa các bảng</a:t>
            </a:r>
            <a:endParaRPr/>
          </a:p>
          <a:p>
            <a:pPr indent="-368300" lvl="1" marL="914400" rtl="0" algn="just">
              <a:spcBef>
                <a:spcPts val="0"/>
              </a:spcBef>
              <a:spcAft>
                <a:spcPts val="0"/>
              </a:spcAft>
              <a:buSzPts val="2200"/>
              <a:buChar char="○"/>
            </a:pPr>
            <a:r>
              <a:rPr lang="en-GB"/>
              <a:t>Giảm dư thừa dữ liệu và loại bỏ các giá trị NULL</a:t>
            </a:r>
            <a:endParaRPr/>
          </a:p>
          <a:p>
            <a:pPr indent="-381000" lvl="0" marL="457200" rtl="0" algn="just">
              <a:spcBef>
                <a:spcPts val="0"/>
              </a:spcBef>
              <a:spcAft>
                <a:spcPts val="0"/>
              </a:spcAft>
              <a:buSzPts val="2400"/>
              <a:buChar char="●"/>
            </a:pPr>
            <a:r>
              <a:rPr lang="en-GB"/>
              <a:t>Tối ưu hóa tốc độ truy cập</a:t>
            </a:r>
            <a:endParaRPr/>
          </a:p>
          <a:p>
            <a:pPr indent="-368300" lvl="1" marL="914400" rtl="0" algn="just">
              <a:spcBef>
                <a:spcPts val="0"/>
              </a:spcBef>
              <a:spcAft>
                <a:spcPts val="0"/>
              </a:spcAft>
              <a:buSzPts val="2200"/>
              <a:buChar char="○"/>
            </a:pPr>
            <a:r>
              <a:rPr lang="en-GB"/>
              <a:t>Giải chuẩn 1 số bảng / giảm nhu cầu kết nối các bảng để truy xuất dữ liệu để giảm thời gian xử lý</a:t>
            </a:r>
            <a:endParaRPr/>
          </a:p>
          <a:p>
            <a:pPr indent="-368300" lvl="1" marL="914400" rtl="0" algn="just">
              <a:spcBef>
                <a:spcPts val="0"/>
              </a:spcBef>
              <a:spcAft>
                <a:spcPts val="0"/>
              </a:spcAft>
              <a:buSzPts val="2200"/>
              <a:buChar char="○"/>
            </a:pPr>
            <a:r>
              <a:rPr lang="en-GB"/>
              <a:t>v.v..</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GB">
                <a:solidFill>
                  <a:srgbClr val="000000"/>
                </a:solidFill>
              </a:rPr>
              <a:t>Tối ưu hóa CSDL quan hệ</a:t>
            </a:r>
            <a:endParaRPr>
              <a:solidFill>
                <a:srgbClr val="000000"/>
              </a:solidFill>
            </a:endParaRPr>
          </a:p>
        </p:txBody>
      </p:sp>
      <p:sp>
        <p:nvSpPr>
          <p:cNvPr id="415" name="Google Shape;415;p48"/>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Dữ liệu phi chuẩn: Các luật chuẩn hóa không được đáp ứng</a:t>
            </a:r>
            <a:endParaRPr/>
          </a:p>
          <a:p>
            <a:pPr indent="0" lvl="0" marL="0" rtl="0" algn="just">
              <a:spcBef>
                <a:spcPts val="0"/>
              </a:spcBef>
              <a:spcAft>
                <a:spcPts val="0"/>
              </a:spcAft>
              <a:buClr>
                <a:schemeClr val="dk1"/>
              </a:buClr>
              <a:buSzPts val="1100"/>
              <a:buFont typeface="Arial"/>
              <a:buNone/>
            </a:pPr>
            <a:r>
              <a:rPr lang="en-GB"/>
              <a:t>3 mức chuẩn hóa đầu tiên gồm có:</a:t>
            </a:r>
            <a:endParaRPr/>
          </a:p>
          <a:p>
            <a:pPr indent="-381000" lvl="0" marL="457200" rtl="0" algn="just">
              <a:spcBef>
                <a:spcPts val="0"/>
              </a:spcBef>
              <a:spcAft>
                <a:spcPts val="0"/>
              </a:spcAft>
              <a:buSzPts val="2400"/>
              <a:buChar char="●"/>
            </a:pPr>
            <a:r>
              <a:rPr lang="en-GB"/>
              <a:t>Dạng chuẩn 1: Không có trường đa giá trị/Thuộc tính chỉ có giá trị nguyên tố</a:t>
            </a:r>
            <a:endParaRPr/>
          </a:p>
          <a:p>
            <a:pPr indent="-381000" lvl="0" marL="457200" rtl="0" algn="just">
              <a:spcBef>
                <a:spcPts val="0"/>
              </a:spcBef>
              <a:spcAft>
                <a:spcPts val="0"/>
              </a:spcAft>
              <a:buSzPts val="2400"/>
              <a:buChar char="●"/>
            </a:pPr>
            <a:r>
              <a:rPr lang="en-GB"/>
              <a:t>Dạng chuẩn 2: Thuộc chuẩn 1 và tất cả các thuộc tính không nằm trong khóa đều phụ thuộc vào toàn bộ khóa chính</a:t>
            </a:r>
            <a:endParaRPr/>
          </a:p>
          <a:p>
            <a:pPr indent="-381000" lvl="0" marL="457200" rtl="0" algn="just">
              <a:spcBef>
                <a:spcPts val="0"/>
              </a:spcBef>
              <a:spcAft>
                <a:spcPts val="0"/>
              </a:spcAft>
              <a:buSzPts val="2400"/>
              <a:buChar char="●"/>
            </a:pPr>
            <a:r>
              <a:rPr lang="en-GB"/>
              <a:t>Dạng chuẩn 3: Thuộc chuẩn 2 và mọi thuộc tính không khóa </a:t>
            </a:r>
            <a:r>
              <a:rPr lang="en-GB"/>
              <a:t>chỉ phụ</a:t>
            </a:r>
            <a:r>
              <a:rPr lang="en-GB"/>
              <a:t> thuộc </a:t>
            </a:r>
            <a:r>
              <a:rPr lang="en-GB"/>
              <a:t>vào</a:t>
            </a:r>
            <a:r>
              <a:rPr lang="en-GB"/>
              <a:t> khóa / </a:t>
            </a:r>
            <a:r>
              <a:rPr lang="en-GB"/>
              <a:t>Không có thuộc tính không nằm trong khóa phụ thuộc vào thuộc tính khác không nằm trong khóa</a:t>
            </a:r>
            <a:endParaRPr/>
          </a:p>
        </p:txBody>
      </p:sp>
      <p:sp>
        <p:nvSpPr>
          <p:cNvPr id="416" name="Google Shape;416;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422" name="Google Shape;422;p49"/>
          <p:cNvPicPr preferRelativeResize="0"/>
          <p:nvPr/>
        </p:nvPicPr>
        <p:blipFill>
          <a:blip r:embed="rId3">
            <a:alphaModFix/>
          </a:blip>
          <a:stretch>
            <a:fillRect/>
          </a:stretch>
        </p:blipFill>
        <p:spPr>
          <a:xfrm>
            <a:off x="48075" y="1332903"/>
            <a:ext cx="8999976" cy="2343546"/>
          </a:xfrm>
          <a:prstGeom prst="rect">
            <a:avLst/>
          </a:prstGeom>
          <a:noFill/>
          <a:ln>
            <a:noFill/>
          </a:ln>
        </p:spPr>
      </p:pic>
      <p:pic>
        <p:nvPicPr>
          <p:cNvPr id="423" name="Google Shape;423;p49"/>
          <p:cNvPicPr preferRelativeResize="0"/>
          <p:nvPr/>
        </p:nvPicPr>
        <p:blipFill>
          <a:blip r:embed="rId4">
            <a:alphaModFix/>
          </a:blip>
          <a:stretch>
            <a:fillRect/>
          </a:stretch>
        </p:blipFill>
        <p:spPr>
          <a:xfrm>
            <a:off x="169125" y="3999900"/>
            <a:ext cx="8928225" cy="1690800"/>
          </a:xfrm>
          <a:prstGeom prst="rect">
            <a:avLst/>
          </a:prstGeom>
          <a:noFill/>
          <a:ln>
            <a:noFill/>
          </a:ln>
        </p:spPr>
      </p:pic>
      <p:sp>
        <p:nvSpPr>
          <p:cNvPr id="424" name="Google Shape;424;p4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9. Chuẩn hóa</a:t>
            </a:r>
            <a:r>
              <a:rPr lang="en-GB"/>
              <a:t>: Dữ liệu phi chuẩn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430" name="Google Shape;430;p50"/>
          <p:cNvPicPr preferRelativeResize="0"/>
          <p:nvPr/>
        </p:nvPicPr>
        <p:blipFill>
          <a:blip r:embed="rId3">
            <a:alphaModFix/>
          </a:blip>
          <a:stretch>
            <a:fillRect/>
          </a:stretch>
        </p:blipFill>
        <p:spPr>
          <a:xfrm>
            <a:off x="1292272" y="1371600"/>
            <a:ext cx="6559455" cy="5143500"/>
          </a:xfrm>
          <a:prstGeom prst="rect">
            <a:avLst/>
          </a:prstGeom>
          <a:noFill/>
          <a:ln>
            <a:noFill/>
          </a:ln>
        </p:spPr>
      </p:pic>
      <p:sp>
        <p:nvSpPr>
          <p:cNvPr id="431" name="Google Shape;431;p5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9. Chuẩn hóa</a:t>
            </a:r>
            <a:r>
              <a:rPr lang="en-GB"/>
              <a:t>: Dữ liệu ở dạng chuẩn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p51"/>
          <p:cNvPicPr preferRelativeResize="0"/>
          <p:nvPr/>
        </p:nvPicPr>
        <p:blipFill rotWithShape="1">
          <a:blip r:embed="rId3">
            <a:alphaModFix/>
          </a:blip>
          <a:srcRect b="0" l="0" r="8809" t="0"/>
          <a:stretch/>
        </p:blipFill>
        <p:spPr>
          <a:xfrm>
            <a:off x="267899" y="1143000"/>
            <a:ext cx="7849724" cy="5143500"/>
          </a:xfrm>
          <a:prstGeom prst="rect">
            <a:avLst/>
          </a:prstGeom>
          <a:noFill/>
          <a:ln>
            <a:noFill/>
          </a:ln>
        </p:spPr>
      </p:pic>
      <p:sp>
        <p:nvSpPr>
          <p:cNvPr id="437" name="Google Shape;437;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38" name="Google Shape;438;p51"/>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10. C</a:t>
            </a:r>
            <a:r>
              <a:rPr lang="en-GB"/>
              <a:t>huẩn hóa</a:t>
            </a:r>
            <a:endParaRPr baseline="-25000"/>
          </a:p>
        </p:txBody>
      </p:sp>
      <p:sp>
        <p:nvSpPr>
          <p:cNvPr id="439" name="Google Shape;439;p51"/>
          <p:cNvSpPr txBox="1"/>
          <p:nvPr/>
        </p:nvSpPr>
        <p:spPr>
          <a:xfrm>
            <a:off x="297375" y="1747025"/>
            <a:ext cx="2834400" cy="58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Dữ liệu phi chuẩn</a:t>
            </a:r>
            <a:endParaRPr sz="2400">
              <a:solidFill>
                <a:srgbClr val="666666"/>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52"/>
          <p:cNvPicPr preferRelativeResize="0"/>
          <p:nvPr/>
        </p:nvPicPr>
        <p:blipFill>
          <a:blip r:embed="rId3">
            <a:alphaModFix/>
          </a:blip>
          <a:stretch>
            <a:fillRect/>
          </a:stretch>
        </p:blipFill>
        <p:spPr>
          <a:xfrm>
            <a:off x="1335725" y="833525"/>
            <a:ext cx="7577926" cy="5769450"/>
          </a:xfrm>
          <a:prstGeom prst="rect">
            <a:avLst/>
          </a:prstGeom>
          <a:noFill/>
          <a:ln>
            <a:noFill/>
          </a:ln>
        </p:spPr>
      </p:pic>
      <p:sp>
        <p:nvSpPr>
          <p:cNvPr id="445" name="Google Shape;445;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6" name="Google Shape;446;p52"/>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10. C</a:t>
            </a:r>
            <a:r>
              <a:rPr lang="en-GB"/>
              <a:t>huẩn hó</a:t>
            </a:r>
            <a:r>
              <a:rPr lang="en-GB"/>
              <a:t>a: Dạng chuẩn 1</a:t>
            </a:r>
            <a:endParaRPr baseline="-25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53"/>
          <p:cNvPicPr preferRelativeResize="0"/>
          <p:nvPr/>
        </p:nvPicPr>
        <p:blipFill>
          <a:blip r:embed="rId3">
            <a:alphaModFix/>
          </a:blip>
          <a:stretch>
            <a:fillRect/>
          </a:stretch>
        </p:blipFill>
        <p:spPr>
          <a:xfrm>
            <a:off x="270375" y="1104792"/>
            <a:ext cx="8674574" cy="5279683"/>
          </a:xfrm>
          <a:prstGeom prst="rect">
            <a:avLst/>
          </a:prstGeom>
          <a:noFill/>
          <a:ln>
            <a:noFill/>
          </a:ln>
        </p:spPr>
      </p:pic>
      <p:sp>
        <p:nvSpPr>
          <p:cNvPr id="452" name="Google Shape;452;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53" name="Google Shape;453;p53"/>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10. C</a:t>
            </a:r>
            <a:r>
              <a:rPr lang="en-GB"/>
              <a:t>huẩn hóa: </a:t>
            </a:r>
            <a:r>
              <a:rPr lang="en-GB"/>
              <a:t>Dạng chuẩn 2</a:t>
            </a:r>
            <a:endParaRPr baseline="-25000"/>
          </a:p>
        </p:txBody>
      </p:sp>
      <p:sp>
        <p:nvSpPr>
          <p:cNvPr id="454" name="Google Shape;454;p53"/>
          <p:cNvSpPr txBox="1"/>
          <p:nvPr/>
        </p:nvSpPr>
        <p:spPr>
          <a:xfrm>
            <a:off x="604025" y="5947325"/>
            <a:ext cx="1877100" cy="5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tax &amp; state?</a:t>
            </a:r>
            <a:endParaRPr sz="2400">
              <a:solidFill>
                <a:srgbClr val="666666"/>
              </a:solidFill>
            </a:endParaRPr>
          </a:p>
        </p:txBody>
      </p:sp>
      <p:cxnSp>
        <p:nvCxnSpPr>
          <p:cNvPr id="455" name="Google Shape;455;p53"/>
          <p:cNvCxnSpPr>
            <a:stCxn id="454" idx="3"/>
          </p:cNvCxnSpPr>
          <p:nvPr/>
        </p:nvCxnSpPr>
        <p:spPr>
          <a:xfrm flipH="1" rot="10800000">
            <a:off x="2481125" y="5603525"/>
            <a:ext cx="1663500" cy="622500"/>
          </a:xfrm>
          <a:prstGeom prst="straightConnector1">
            <a:avLst/>
          </a:prstGeom>
          <a:noFill/>
          <a:ln cap="flat" cmpd="sng" w="9525">
            <a:solidFill>
              <a:schemeClr val="dk2"/>
            </a:solidFill>
            <a:prstDash val="solid"/>
            <a:round/>
            <a:headEnd len="med" w="med" type="none"/>
            <a:tailEnd len="med" w="med" type="none"/>
          </a:ln>
        </p:spPr>
      </p:cxnSp>
      <p:pic>
        <p:nvPicPr>
          <p:cNvPr id="456" name="Google Shape;456;p53"/>
          <p:cNvPicPr preferRelativeResize="0"/>
          <p:nvPr/>
        </p:nvPicPr>
        <p:blipFill>
          <a:blip r:embed="rId4">
            <a:alphaModFix/>
          </a:blip>
          <a:stretch>
            <a:fillRect/>
          </a:stretch>
        </p:blipFill>
        <p:spPr>
          <a:xfrm>
            <a:off x="4312775" y="1598449"/>
            <a:ext cx="368700" cy="3858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10. Chuẩn hóa:</a:t>
            </a:r>
            <a:r>
              <a:rPr lang="en-GB"/>
              <a:t> 3NF</a:t>
            </a:r>
            <a:endParaRPr/>
          </a:p>
        </p:txBody>
      </p:sp>
      <p:sp>
        <p:nvSpPr>
          <p:cNvPr id="462" name="Google Shape;462;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463" name="Google Shape;463;p54"/>
          <p:cNvPicPr preferRelativeResize="0"/>
          <p:nvPr/>
        </p:nvPicPr>
        <p:blipFill>
          <a:blip r:embed="rId3">
            <a:alphaModFix/>
          </a:blip>
          <a:stretch>
            <a:fillRect/>
          </a:stretch>
        </p:blipFill>
        <p:spPr>
          <a:xfrm>
            <a:off x="135150" y="1447800"/>
            <a:ext cx="8697151" cy="504116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469" name="Google Shape;469;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70" name="Google Shape;470;p55"/>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Tổng quan</a:t>
            </a:r>
            <a:endParaRPr/>
          </a:p>
          <a:p>
            <a:pPr indent="-381000" lvl="0" marL="457200" rtl="0" algn="just">
              <a:spcBef>
                <a:spcPts val="0"/>
              </a:spcBef>
              <a:spcAft>
                <a:spcPts val="0"/>
              </a:spcAft>
              <a:buSzPts val="2400"/>
              <a:buChar char="●"/>
            </a:pPr>
            <a:r>
              <a:rPr lang="en-GB"/>
              <a:t>Các quy tắc ánh xạ</a:t>
            </a:r>
            <a:endParaRPr/>
          </a:p>
          <a:p>
            <a:pPr indent="-381000" lvl="0" marL="457200" rtl="0" algn="just">
              <a:spcBef>
                <a:spcPts val="0"/>
              </a:spcBef>
              <a:spcAft>
                <a:spcPts val="0"/>
              </a:spcAft>
              <a:buSzPts val="2400"/>
              <a:buChar char="●"/>
            </a:pPr>
            <a:r>
              <a:rPr lang="en-GB"/>
              <a:t>Tối ưu hóa CSDL quan hệ</a:t>
            </a:r>
            <a:endParaRPr/>
          </a:p>
          <a:p>
            <a:pPr indent="-381000" lvl="0" marL="457200" rtl="0" algn="just">
              <a:spcBef>
                <a:spcPts val="0"/>
              </a:spcBef>
              <a:spcAft>
                <a:spcPts val="0"/>
              </a:spcAft>
              <a:buSzPts val="2400"/>
              <a:buChar char="●"/>
            </a:pPr>
            <a:r>
              <a:rPr lang="en-GB"/>
              <a:t>Tầng truy cập và quản lý dữ liệu</a:t>
            </a:r>
            <a:endParaRPr/>
          </a:p>
          <a:p>
            <a:pPr indent="-381000" lvl="0" marL="457200" rtl="0" algn="just">
              <a:spcBef>
                <a:spcPts val="0"/>
              </a:spcBef>
              <a:spcAft>
                <a:spcPts val="0"/>
              </a:spcAft>
              <a:buSzPts val="2400"/>
              <a:buChar char="●"/>
            </a:pPr>
            <a:r>
              <a:rPr lang="en-GB"/>
              <a:t>CSDL phân tán</a:t>
            </a:r>
            <a:endParaRPr/>
          </a:p>
        </p:txBody>
      </p:sp>
      <p:sp>
        <p:nvSpPr>
          <p:cNvPr id="471" name="Google Shape;471;p55"/>
          <p:cNvSpPr/>
          <p:nvPr/>
        </p:nvSpPr>
        <p:spPr>
          <a:xfrm>
            <a:off x="357900" y="2085624"/>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lớp truy cập &amp; quản lý dữ liệu</a:t>
            </a:r>
            <a:endParaRPr/>
          </a:p>
        </p:txBody>
      </p:sp>
      <p:sp>
        <p:nvSpPr>
          <p:cNvPr id="477" name="Google Shape;477;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78" name="Google Shape;478;p56"/>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lớp truy cập và quản lý dữ liệu / Data Access and Management (DAM) Classes</a:t>
            </a:r>
            <a:endParaRPr/>
          </a:p>
          <a:p>
            <a:pPr indent="-381000" lvl="0" marL="457200" rtl="0" algn="just">
              <a:spcBef>
                <a:spcPts val="0"/>
              </a:spcBef>
              <a:spcAft>
                <a:spcPts val="0"/>
              </a:spcAft>
              <a:buSzPts val="2400"/>
              <a:buChar char="●"/>
            </a:pPr>
            <a:r>
              <a:rPr lang="en-GB"/>
              <a:t>G</a:t>
            </a:r>
            <a:r>
              <a:rPr lang="en-GB"/>
              <a:t>iữ vai trò trung gian kết nối các lớp lĩnh vực ứng dụng và cơ sở dữ liệu</a:t>
            </a:r>
            <a:endParaRPr/>
          </a:p>
          <a:p>
            <a:pPr indent="-381000" lvl="0" marL="457200" rtl="0" algn="just">
              <a:spcBef>
                <a:spcPts val="0"/>
              </a:spcBef>
              <a:spcAft>
                <a:spcPts val="0"/>
              </a:spcAft>
              <a:buSzPts val="2400"/>
              <a:buChar char="●"/>
            </a:pPr>
            <a:r>
              <a:rPr lang="en-GB"/>
              <a:t>Tạo 1 hoặc nhiều lớp DAM cho mỗi lớp lĩnh vực ứng dụng</a:t>
            </a:r>
            <a:endParaRPr/>
          </a:p>
          <a:p>
            <a:pPr indent="-368300" lvl="1" marL="914400" rtl="0" algn="just">
              <a:spcBef>
                <a:spcPts val="0"/>
              </a:spcBef>
              <a:spcAft>
                <a:spcPts val="0"/>
              </a:spcAft>
              <a:buSzPts val="2200"/>
              <a:buChar char="○"/>
            </a:pPr>
            <a:r>
              <a:rPr lang="en-GB"/>
              <a:t>Do dữ liệu phân tán trên nhiều bảng</a:t>
            </a:r>
            <a:endParaRPr/>
          </a:p>
          <a:p>
            <a:pPr indent="-368300" lvl="1" marL="914400" rtl="0" algn="just">
              <a:spcBef>
                <a:spcPts val="0"/>
              </a:spcBef>
              <a:spcAft>
                <a:spcPts val="0"/>
              </a:spcAft>
              <a:buSzPts val="2200"/>
              <a:buChar char="○"/>
            </a:pPr>
            <a:r>
              <a:rPr lang="en-GB"/>
              <a:t>Phân tách giao diện (ISP)</a:t>
            </a:r>
            <a:endParaRPr/>
          </a:p>
          <a:p>
            <a:pPr indent="-368300" lvl="1" marL="914400" rtl="0" algn="just">
              <a:spcBef>
                <a:spcPts val="0"/>
              </a:spcBef>
              <a:spcAft>
                <a:spcPts val="0"/>
              </a:spcAft>
              <a:buSzPts val="2200"/>
              <a:buChar char="○"/>
            </a:pPr>
            <a:r>
              <a:rPr lang="en-GB"/>
              <a:t>v.v..</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11. Các lớp DAM</a:t>
            </a:r>
            <a:endParaRPr/>
          </a:p>
        </p:txBody>
      </p:sp>
      <p:sp>
        <p:nvSpPr>
          <p:cNvPr id="484" name="Google Shape;484;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485" name="Google Shape;485;p57"/>
          <p:cNvPicPr preferRelativeResize="0"/>
          <p:nvPr/>
        </p:nvPicPr>
        <p:blipFill>
          <a:blip r:embed="rId3">
            <a:alphaModFix/>
          </a:blip>
          <a:stretch>
            <a:fillRect/>
          </a:stretch>
        </p:blipFill>
        <p:spPr>
          <a:xfrm>
            <a:off x="2089100" y="839576"/>
            <a:ext cx="5308353" cy="5978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8"/>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Mẫu thiết kế DAO</a:t>
            </a:r>
            <a:endParaRPr/>
          </a:p>
        </p:txBody>
      </p:sp>
      <p:sp>
        <p:nvSpPr>
          <p:cNvPr id="491" name="Google Shape;491;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Sử dụng lớp DAM và RDBMS</a:t>
            </a:r>
            <a:endParaRPr/>
          </a:p>
        </p:txBody>
      </p:sp>
      <p:sp>
        <p:nvSpPr>
          <p:cNvPr id="497" name="Google Shape;497;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98" name="Google Shape;498;p59"/>
          <p:cNvSpPr/>
          <p:nvPr/>
        </p:nvSpPr>
        <p:spPr>
          <a:xfrm>
            <a:off x="6169400" y="2703148"/>
            <a:ext cx="11820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id</a:t>
            </a:r>
            <a:endParaRPr/>
          </a:p>
          <a:p>
            <a:pPr indent="0" lvl="0" marL="0" rtl="0" algn="l">
              <a:spcBef>
                <a:spcPts val="0"/>
              </a:spcBef>
              <a:spcAft>
                <a:spcPts val="0"/>
              </a:spcAft>
              <a:buNone/>
            </a:pPr>
            <a:r>
              <a:rPr lang="en-GB"/>
              <a:t>- first_name</a:t>
            </a:r>
            <a:endParaRPr/>
          </a:p>
          <a:p>
            <a:pPr indent="0" lvl="0" marL="0" rtl="0" algn="l">
              <a:spcBef>
                <a:spcPts val="0"/>
              </a:spcBef>
              <a:spcAft>
                <a:spcPts val="0"/>
              </a:spcAft>
              <a:buNone/>
            </a:pPr>
            <a:r>
              <a:rPr lang="en-GB"/>
              <a:t>- last_name</a:t>
            </a:r>
            <a:endParaRPr/>
          </a:p>
        </p:txBody>
      </p:sp>
      <p:sp>
        <p:nvSpPr>
          <p:cNvPr id="499" name="Google Shape;499;p59"/>
          <p:cNvSpPr/>
          <p:nvPr/>
        </p:nvSpPr>
        <p:spPr>
          <a:xfrm>
            <a:off x="6169400" y="2322148"/>
            <a:ext cx="11820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Customer</a:t>
            </a:r>
            <a:endParaRPr/>
          </a:p>
        </p:txBody>
      </p:sp>
      <p:sp>
        <p:nvSpPr>
          <p:cNvPr id="500" name="Google Shape;500;p59"/>
          <p:cNvSpPr/>
          <p:nvPr/>
        </p:nvSpPr>
        <p:spPr>
          <a:xfrm>
            <a:off x="3705693" y="2457698"/>
            <a:ext cx="1670100" cy="1253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GetAll()</a:t>
            </a:r>
            <a:endParaRPr/>
          </a:p>
          <a:p>
            <a:pPr indent="0" lvl="0" marL="0" rtl="0" algn="l">
              <a:spcBef>
                <a:spcPts val="0"/>
              </a:spcBef>
              <a:spcAft>
                <a:spcPts val="0"/>
              </a:spcAft>
              <a:buNone/>
            </a:pPr>
            <a:r>
              <a:rPr lang="en-GB"/>
              <a:t>+ GetById()</a:t>
            </a:r>
            <a:endParaRPr/>
          </a:p>
          <a:p>
            <a:pPr indent="0" lvl="0" marL="0" rtl="0" algn="l">
              <a:spcBef>
                <a:spcPts val="0"/>
              </a:spcBef>
              <a:spcAft>
                <a:spcPts val="0"/>
              </a:spcAft>
              <a:buNone/>
            </a:pPr>
            <a:r>
              <a:rPr lang="en-GB"/>
              <a:t>+ Save()</a:t>
            </a:r>
            <a:endParaRPr/>
          </a:p>
          <a:p>
            <a:pPr indent="0" lvl="0" marL="0" rtl="0" algn="l">
              <a:spcBef>
                <a:spcPts val="0"/>
              </a:spcBef>
              <a:spcAft>
                <a:spcPts val="0"/>
              </a:spcAft>
              <a:buNone/>
            </a:pPr>
            <a:r>
              <a:rPr lang="en-GB"/>
              <a:t>+ Update()</a:t>
            </a:r>
            <a:endParaRPr/>
          </a:p>
          <a:p>
            <a:pPr indent="0" lvl="0" marL="0" rtl="0" algn="l">
              <a:spcBef>
                <a:spcPts val="0"/>
              </a:spcBef>
              <a:spcAft>
                <a:spcPts val="0"/>
              </a:spcAft>
              <a:buNone/>
            </a:pPr>
            <a:r>
              <a:rPr lang="en-GB"/>
              <a:t>+ Delete()</a:t>
            </a:r>
            <a:endParaRPr/>
          </a:p>
        </p:txBody>
      </p:sp>
      <p:sp>
        <p:nvSpPr>
          <p:cNvPr id="501" name="Google Shape;501;p59"/>
          <p:cNvSpPr/>
          <p:nvPr/>
        </p:nvSpPr>
        <p:spPr>
          <a:xfrm>
            <a:off x="3705693" y="2076698"/>
            <a:ext cx="16701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SqlCustomerDAM</a:t>
            </a:r>
            <a:endParaRPr/>
          </a:p>
        </p:txBody>
      </p:sp>
      <p:cxnSp>
        <p:nvCxnSpPr>
          <p:cNvPr id="502" name="Google Shape;502;p59"/>
          <p:cNvCxnSpPr>
            <a:stCxn id="500" idx="3"/>
            <a:endCxn id="498" idx="1"/>
          </p:cNvCxnSpPr>
          <p:nvPr/>
        </p:nvCxnSpPr>
        <p:spPr>
          <a:xfrm>
            <a:off x="5375793" y="3084548"/>
            <a:ext cx="793500" cy="300"/>
          </a:xfrm>
          <a:prstGeom prst="straightConnector1">
            <a:avLst/>
          </a:prstGeom>
          <a:noFill/>
          <a:ln cap="flat" cmpd="sng" w="9525">
            <a:solidFill>
              <a:schemeClr val="dk2"/>
            </a:solidFill>
            <a:prstDash val="solid"/>
            <a:round/>
            <a:headEnd len="med" w="med" type="none"/>
            <a:tailEnd len="med" w="med" type="none"/>
          </a:ln>
        </p:spPr>
      </p:cxnSp>
      <p:sp>
        <p:nvSpPr>
          <p:cNvPr id="503" name="Google Shape;503;p59"/>
          <p:cNvSpPr txBox="1"/>
          <p:nvPr/>
        </p:nvSpPr>
        <p:spPr>
          <a:xfrm>
            <a:off x="5375202" y="2748225"/>
            <a:ext cx="8505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CRUD &gt;</a:t>
            </a:r>
            <a:endParaRPr/>
          </a:p>
        </p:txBody>
      </p:sp>
      <p:sp>
        <p:nvSpPr>
          <p:cNvPr id="504" name="Google Shape;504;p59"/>
          <p:cNvSpPr/>
          <p:nvPr/>
        </p:nvSpPr>
        <p:spPr>
          <a:xfrm>
            <a:off x="1673600" y="2076781"/>
            <a:ext cx="11820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App</a:t>
            </a:r>
            <a:endParaRPr/>
          </a:p>
        </p:txBody>
      </p:sp>
      <p:cxnSp>
        <p:nvCxnSpPr>
          <p:cNvPr id="505" name="Google Shape;505;p59"/>
          <p:cNvCxnSpPr>
            <a:stCxn id="504" idx="3"/>
            <a:endCxn id="501" idx="1"/>
          </p:cNvCxnSpPr>
          <p:nvPr/>
        </p:nvCxnSpPr>
        <p:spPr>
          <a:xfrm>
            <a:off x="2855600" y="2265481"/>
            <a:ext cx="850200" cy="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59"/>
          <p:cNvCxnSpPr>
            <a:stCxn id="504" idx="0"/>
            <a:endCxn id="499" idx="0"/>
          </p:cNvCxnSpPr>
          <p:nvPr/>
        </p:nvCxnSpPr>
        <p:spPr>
          <a:xfrm flipH="1" rot="-5400000">
            <a:off x="4389800" y="-48419"/>
            <a:ext cx="245400" cy="4495800"/>
          </a:xfrm>
          <a:prstGeom prst="bentConnector3">
            <a:avLst>
              <a:gd fmla="val -97035" name="adj1"/>
            </a:avLst>
          </a:prstGeom>
          <a:noFill/>
          <a:ln cap="flat" cmpd="sng" w="9525">
            <a:solidFill>
              <a:schemeClr val="dk2"/>
            </a:solidFill>
            <a:prstDash val="solid"/>
            <a:round/>
            <a:headEnd len="med" w="med" type="none"/>
            <a:tailEnd len="med" w="med" type="none"/>
          </a:ln>
        </p:spPr>
      </p:cxnSp>
      <p:sp>
        <p:nvSpPr>
          <p:cNvPr id="507" name="Google Shape;507;p59"/>
          <p:cNvSpPr txBox="1"/>
          <p:nvPr/>
        </p:nvSpPr>
        <p:spPr>
          <a:xfrm>
            <a:off x="2903266" y="1926793"/>
            <a:ext cx="8505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 &gt;</a:t>
            </a:r>
            <a:endParaRPr/>
          </a:p>
        </p:txBody>
      </p:sp>
      <p:sp>
        <p:nvSpPr>
          <p:cNvPr id="508" name="Google Shape;508;p59"/>
          <p:cNvSpPr txBox="1"/>
          <p:nvPr/>
        </p:nvSpPr>
        <p:spPr>
          <a:xfrm>
            <a:off x="4122466" y="1452825"/>
            <a:ext cx="8505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 &gt;</a:t>
            </a:r>
            <a:endParaRPr/>
          </a:p>
        </p:txBody>
      </p:sp>
      <p:sp>
        <p:nvSpPr>
          <p:cNvPr id="509" name="Google Shape;509;p59"/>
          <p:cNvSpPr/>
          <p:nvPr/>
        </p:nvSpPr>
        <p:spPr>
          <a:xfrm>
            <a:off x="3655545" y="4927043"/>
            <a:ext cx="1785600" cy="791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a:t>
            </a:r>
            <a:r>
              <a:rPr b="1" lang="en-GB" u="sng"/>
              <a:t>id</a:t>
            </a:r>
            <a:r>
              <a:rPr lang="en-GB"/>
              <a:t>  &lt;&lt;PK&gt;&gt; [1..1]</a:t>
            </a:r>
            <a:endParaRPr/>
          </a:p>
          <a:p>
            <a:pPr indent="0" lvl="0" marL="0" rtl="0" algn="l">
              <a:spcBef>
                <a:spcPts val="0"/>
              </a:spcBef>
              <a:spcAft>
                <a:spcPts val="0"/>
              </a:spcAft>
              <a:buNone/>
            </a:pPr>
            <a:r>
              <a:rPr lang="en-GB"/>
              <a:t>- first_name  [1..1]</a:t>
            </a:r>
            <a:endParaRPr/>
          </a:p>
          <a:p>
            <a:pPr indent="0" lvl="0" marL="0" rtl="0" algn="l">
              <a:spcBef>
                <a:spcPts val="0"/>
              </a:spcBef>
              <a:spcAft>
                <a:spcPts val="0"/>
              </a:spcAft>
              <a:buNone/>
            </a:pPr>
            <a:r>
              <a:rPr lang="en-GB"/>
              <a:t>- last_name  [1..1]</a:t>
            </a:r>
            <a:endParaRPr/>
          </a:p>
        </p:txBody>
      </p:sp>
      <p:sp>
        <p:nvSpPr>
          <p:cNvPr id="510" name="Google Shape;510;p59"/>
          <p:cNvSpPr/>
          <p:nvPr/>
        </p:nvSpPr>
        <p:spPr>
          <a:xfrm>
            <a:off x="3655545" y="4531950"/>
            <a:ext cx="1785600" cy="39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CustomerTbl</a:t>
            </a:r>
            <a:endParaRPr/>
          </a:p>
        </p:txBody>
      </p:sp>
      <p:cxnSp>
        <p:nvCxnSpPr>
          <p:cNvPr id="511" name="Google Shape;511;p59"/>
          <p:cNvCxnSpPr>
            <a:stCxn id="500" idx="2"/>
            <a:endCxn id="510" idx="0"/>
          </p:cNvCxnSpPr>
          <p:nvPr/>
        </p:nvCxnSpPr>
        <p:spPr>
          <a:xfrm>
            <a:off x="4540743" y="3711398"/>
            <a:ext cx="7500" cy="820500"/>
          </a:xfrm>
          <a:prstGeom prst="straightConnector1">
            <a:avLst/>
          </a:prstGeom>
          <a:noFill/>
          <a:ln cap="flat" cmpd="sng" w="9525">
            <a:solidFill>
              <a:schemeClr val="dk2"/>
            </a:solidFill>
            <a:prstDash val="dash"/>
            <a:round/>
            <a:headEnd len="med" w="med" type="none"/>
            <a:tailEnd len="med" w="med" type="stealth"/>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Đặc tả bảng</a:t>
            </a:r>
            <a:endParaRPr/>
          </a:p>
        </p:txBody>
      </p:sp>
      <p:sp>
        <p:nvSpPr>
          <p:cNvPr id="517" name="Google Shape;517;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18" name="Google Shape;518;p60"/>
          <p:cNvGraphicFramePr/>
          <p:nvPr/>
        </p:nvGraphicFramePr>
        <p:xfrm>
          <a:off x="495300" y="2438400"/>
          <a:ext cx="3000000" cy="3000000"/>
        </p:xfrm>
        <a:graphic>
          <a:graphicData uri="http://schemas.openxmlformats.org/drawingml/2006/table">
            <a:tbl>
              <a:tblPr>
                <a:noFill/>
                <a:tableStyleId>{79F57D95-B6EA-4ABF-9AA9-D1E840C71FE3}</a:tableStyleId>
              </a:tblPr>
              <a:tblGrid>
                <a:gridCol w="631550"/>
                <a:gridCol w="1190275"/>
                <a:gridCol w="1716425"/>
                <a:gridCol w="1927425"/>
                <a:gridCol w="1773325"/>
              </a:tblGrid>
              <a:tr h="381000">
                <a:tc gridSpan="5">
                  <a:txBody>
                    <a:bodyPr/>
                    <a:lstStyle/>
                    <a:p>
                      <a:pPr indent="0" lvl="0" marL="0" rtl="0" algn="l">
                        <a:spcBef>
                          <a:spcPts val="0"/>
                        </a:spcBef>
                        <a:spcAft>
                          <a:spcPts val="0"/>
                        </a:spcAft>
                        <a:buNone/>
                      </a:pPr>
                      <a:r>
                        <a:rPr b="1" lang="en-GB"/>
                        <a:t>Bảng CustomerTbl</a:t>
                      </a:r>
                      <a:endParaRPr b="1"/>
                    </a:p>
                  </a:txBody>
                  <a:tcPr marT="91425" marB="91425" marR="91425" marL="91425"/>
                </a:tc>
                <a:tc hMerge="1"/>
                <a:tc hMerge="1"/>
                <a:tc hMerge="1"/>
                <a:tc hMerge="1"/>
              </a:tr>
              <a:tr h="381000">
                <a:tc>
                  <a:txBody>
                    <a:bodyPr/>
                    <a:lstStyle/>
                    <a:p>
                      <a:pPr indent="0" lvl="0" marL="0" rtl="0" algn="l">
                        <a:spcBef>
                          <a:spcPts val="0"/>
                        </a:spcBef>
                        <a:spcAft>
                          <a:spcPts val="0"/>
                        </a:spcAft>
                        <a:buNone/>
                      </a:pPr>
                      <a:r>
                        <a:rPr b="1" lang="en-GB"/>
                        <a:t>STT</a:t>
                      </a:r>
                      <a:endParaRPr b="1"/>
                    </a:p>
                  </a:txBody>
                  <a:tcPr marT="91425" marB="91425" marR="91425" marL="91425"/>
                </a:tc>
                <a:tc>
                  <a:txBody>
                    <a:bodyPr/>
                    <a:lstStyle/>
                    <a:p>
                      <a:pPr indent="0" lvl="0" marL="0" rtl="0" algn="l">
                        <a:spcBef>
                          <a:spcPts val="0"/>
                        </a:spcBef>
                        <a:spcAft>
                          <a:spcPts val="0"/>
                        </a:spcAft>
                        <a:buNone/>
                      </a:pPr>
                      <a:r>
                        <a:rPr b="1" lang="en-GB"/>
                        <a:t>Tên cột</a:t>
                      </a:r>
                      <a:endParaRPr b="1"/>
                    </a:p>
                  </a:txBody>
                  <a:tcPr marT="91425" marB="91425" marR="91425" marL="91425"/>
                </a:tc>
                <a:tc>
                  <a:txBody>
                    <a:bodyPr/>
                    <a:lstStyle/>
                    <a:p>
                      <a:pPr indent="0" lvl="0" marL="0" rtl="0" algn="l">
                        <a:spcBef>
                          <a:spcPts val="0"/>
                        </a:spcBef>
                        <a:spcAft>
                          <a:spcPts val="0"/>
                        </a:spcAft>
                        <a:buNone/>
                      </a:pPr>
                      <a:r>
                        <a:rPr b="1" lang="en-GB"/>
                        <a:t>Kiểu dữ liệu</a:t>
                      </a:r>
                      <a:endParaRPr b="1"/>
                    </a:p>
                  </a:txBody>
                  <a:tcPr marT="91425" marB="91425" marR="91425" marL="91425"/>
                </a:tc>
                <a:tc>
                  <a:txBody>
                    <a:bodyPr/>
                    <a:lstStyle/>
                    <a:p>
                      <a:pPr indent="0" lvl="0" marL="0" rtl="0" algn="l">
                        <a:spcBef>
                          <a:spcPts val="0"/>
                        </a:spcBef>
                        <a:spcAft>
                          <a:spcPts val="0"/>
                        </a:spcAft>
                        <a:buNone/>
                      </a:pPr>
                      <a:r>
                        <a:rPr b="1" lang="en-GB"/>
                        <a:t>Ràng buộc</a:t>
                      </a:r>
                      <a:endParaRPr b="1"/>
                    </a:p>
                  </a:txBody>
                  <a:tcPr marT="91425" marB="91425" marR="91425" marL="91425"/>
                </a:tc>
                <a:tc>
                  <a:txBody>
                    <a:bodyPr/>
                    <a:lstStyle/>
                    <a:p>
                      <a:pPr indent="0" lvl="0" marL="0" rtl="0" algn="l">
                        <a:spcBef>
                          <a:spcPts val="0"/>
                        </a:spcBef>
                        <a:spcAft>
                          <a:spcPts val="0"/>
                        </a:spcAft>
                        <a:buNone/>
                      </a:pPr>
                      <a:r>
                        <a:rPr b="1" lang="en-GB"/>
                        <a:t>Ghi chú</a:t>
                      </a:r>
                      <a:endParaRPr b="1"/>
                    </a:p>
                  </a:txBody>
                  <a:tcPr marT="91425" marB="91425" marR="91425" marL="91425"/>
                </a:tc>
              </a:tr>
              <a:tr h="381000">
                <a:tc>
                  <a:txBody>
                    <a:bodyPr/>
                    <a:lstStyle/>
                    <a:p>
                      <a:pPr indent="0" lvl="0" marL="0" rtl="0" algn="l">
                        <a:spcBef>
                          <a:spcPts val="0"/>
                        </a:spcBef>
                        <a:spcAft>
                          <a:spcPts val="0"/>
                        </a:spcAft>
                        <a:buNone/>
                      </a:pPr>
                      <a:r>
                        <a:rPr lang="en-GB"/>
                        <a:t>1</a:t>
                      </a:r>
                      <a:endParaRPr/>
                    </a:p>
                  </a:txBody>
                  <a:tcPr marT="91425" marB="91425" marR="91425" marL="91425"/>
                </a:tc>
                <a:tc>
                  <a:txBody>
                    <a:bodyPr/>
                    <a:lstStyle/>
                    <a:p>
                      <a:pPr indent="0" lvl="0" marL="0" rtl="0" algn="l">
                        <a:spcBef>
                          <a:spcPts val="0"/>
                        </a:spcBef>
                        <a:spcAft>
                          <a:spcPts val="0"/>
                        </a:spcAft>
                        <a:buNone/>
                      </a:pPr>
                      <a:r>
                        <a:rPr lang="en-GB"/>
                        <a:t>id</a:t>
                      </a:r>
                      <a:endParaRPr/>
                    </a:p>
                  </a:txBody>
                  <a:tcPr marT="91425" marB="91425" marR="91425" marL="91425"/>
                </a:tc>
                <a:tc>
                  <a:txBody>
                    <a:bodyPr/>
                    <a:lstStyle/>
                    <a:p>
                      <a:pPr indent="0" lvl="0" marL="0" rtl="0" algn="l">
                        <a:spcBef>
                          <a:spcPts val="0"/>
                        </a:spcBef>
                        <a:spcAft>
                          <a:spcPts val="0"/>
                        </a:spcAft>
                        <a:buNone/>
                      </a:pPr>
                      <a:r>
                        <a:rPr lang="en-GB"/>
                        <a:t>INT</a:t>
                      </a:r>
                      <a:endParaRPr/>
                    </a:p>
                  </a:txBody>
                  <a:tcPr marT="91425" marB="91425" marR="91425" marL="91425"/>
                </a:tc>
                <a:tc>
                  <a:txBody>
                    <a:bodyPr/>
                    <a:lstStyle/>
                    <a:p>
                      <a:pPr indent="0" lvl="0" marL="0" rtl="0" algn="l">
                        <a:spcBef>
                          <a:spcPts val="0"/>
                        </a:spcBef>
                        <a:spcAft>
                          <a:spcPts val="0"/>
                        </a:spcAft>
                        <a:buNone/>
                      </a:pPr>
                      <a:r>
                        <a:rPr lang="en-GB"/>
                        <a:t>AUTO_INCREMENT</a:t>
                      </a:r>
                      <a:endParaRPr/>
                    </a:p>
                  </a:txBody>
                  <a:tcPr marT="91425" marB="91425" marR="91425" marL="91425"/>
                </a:tc>
                <a:tc>
                  <a:txBody>
                    <a:bodyPr/>
                    <a:lstStyle/>
                    <a:p>
                      <a:pPr indent="0" lvl="0" marL="0" rtl="0" algn="l">
                        <a:spcBef>
                          <a:spcPts val="0"/>
                        </a:spcBef>
                        <a:spcAft>
                          <a:spcPts val="0"/>
                        </a:spcAft>
                        <a:buNone/>
                      </a:pPr>
                      <a:r>
                        <a:rPr lang="en-GB"/>
                        <a:t>Mã khách hàng</a:t>
                      </a:r>
                      <a:endParaRPr/>
                    </a:p>
                  </a:txBody>
                  <a:tcPr marT="91425" marB="91425" marR="91425" marL="91425"/>
                </a:tc>
              </a:tr>
              <a:tr h="381000">
                <a:tc>
                  <a:txBody>
                    <a:bodyPr/>
                    <a:lstStyle/>
                    <a:p>
                      <a:pPr indent="0" lvl="0" marL="0" rtl="0" algn="l">
                        <a:spcBef>
                          <a:spcPts val="0"/>
                        </a:spcBef>
                        <a:spcAft>
                          <a:spcPts val="0"/>
                        </a:spcAft>
                        <a:buNone/>
                      </a:pPr>
                      <a:r>
                        <a:rPr lang="en-GB"/>
                        <a:t>2</a:t>
                      </a:r>
                      <a:endParaRPr/>
                    </a:p>
                  </a:txBody>
                  <a:tcPr marT="91425" marB="91425" marR="91425" marL="91425"/>
                </a:tc>
                <a:tc>
                  <a:txBody>
                    <a:bodyPr/>
                    <a:lstStyle/>
                    <a:p>
                      <a:pPr indent="0" lvl="0" marL="0" rtl="0" algn="l">
                        <a:spcBef>
                          <a:spcPts val="0"/>
                        </a:spcBef>
                        <a:spcAft>
                          <a:spcPts val="0"/>
                        </a:spcAft>
                        <a:buNone/>
                      </a:pPr>
                      <a:r>
                        <a:rPr lang="en-GB"/>
                        <a:t>first_name</a:t>
                      </a:r>
                      <a:endParaRPr/>
                    </a:p>
                  </a:txBody>
                  <a:tcPr marT="91425" marB="91425" marR="91425" marL="91425"/>
                </a:tc>
                <a:tc>
                  <a:txBody>
                    <a:bodyPr/>
                    <a:lstStyle/>
                    <a:p>
                      <a:pPr indent="0" lvl="0" marL="0" rtl="0" algn="l">
                        <a:spcBef>
                          <a:spcPts val="0"/>
                        </a:spcBef>
                        <a:spcAft>
                          <a:spcPts val="0"/>
                        </a:spcAft>
                        <a:buNone/>
                      </a:pPr>
                      <a:r>
                        <a:rPr lang="en-GB"/>
                        <a:t>VARCHAR (255)</a:t>
                      </a:r>
                      <a:endParaRPr/>
                    </a:p>
                  </a:txBody>
                  <a:tcPr marT="91425" marB="91425" marR="91425" marL="91425"/>
                </a:tc>
                <a:tc>
                  <a:txBody>
                    <a:bodyPr/>
                    <a:lstStyle/>
                    <a:p>
                      <a:pPr indent="0" lvl="0" marL="0" rtl="0" algn="l">
                        <a:spcBef>
                          <a:spcPts val="0"/>
                        </a:spcBef>
                        <a:spcAft>
                          <a:spcPts val="0"/>
                        </a:spcAft>
                        <a:buNone/>
                      </a:pPr>
                      <a:r>
                        <a:rPr lang="en-GB"/>
                        <a:t>NOT NULL</a:t>
                      </a:r>
                      <a:endParaRPr/>
                    </a:p>
                  </a:txBody>
                  <a:tcPr marT="91425" marB="91425" marR="91425" marL="91425"/>
                </a:tc>
                <a:tc>
                  <a:txBody>
                    <a:bodyPr/>
                    <a:lstStyle/>
                    <a:p>
                      <a:pPr indent="0" lvl="0" marL="0" rtl="0" algn="l">
                        <a:spcBef>
                          <a:spcPts val="0"/>
                        </a:spcBef>
                        <a:spcAft>
                          <a:spcPts val="0"/>
                        </a:spcAft>
                        <a:buNone/>
                      </a:pPr>
                      <a:r>
                        <a:rPr lang="en-GB"/>
                        <a:t>Tên</a:t>
                      </a:r>
                      <a:endParaRPr/>
                    </a:p>
                  </a:txBody>
                  <a:tcPr marT="91425" marB="91425" marR="91425" marL="91425"/>
                </a:tc>
              </a:tr>
              <a:tr h="381000">
                <a:tc>
                  <a:txBody>
                    <a:bodyPr/>
                    <a:lstStyle/>
                    <a:p>
                      <a:pPr indent="0" lvl="0" marL="0" rtl="0" algn="l">
                        <a:spcBef>
                          <a:spcPts val="0"/>
                        </a:spcBef>
                        <a:spcAft>
                          <a:spcPts val="0"/>
                        </a:spcAft>
                        <a:buNone/>
                      </a:pPr>
                      <a:r>
                        <a:rPr lang="en-GB"/>
                        <a:t>3</a:t>
                      </a:r>
                      <a:endParaRPr/>
                    </a:p>
                  </a:txBody>
                  <a:tcPr marT="91425" marB="91425" marR="91425" marL="91425"/>
                </a:tc>
                <a:tc>
                  <a:txBody>
                    <a:bodyPr/>
                    <a:lstStyle/>
                    <a:p>
                      <a:pPr indent="0" lvl="0" marL="0" rtl="0" algn="l">
                        <a:spcBef>
                          <a:spcPts val="0"/>
                        </a:spcBef>
                        <a:spcAft>
                          <a:spcPts val="0"/>
                        </a:spcAft>
                        <a:buNone/>
                      </a:pPr>
                      <a:r>
                        <a:rPr lang="en-GB"/>
                        <a:t>last_name</a:t>
                      </a:r>
                      <a:endParaRPr/>
                    </a:p>
                  </a:txBody>
                  <a:tcPr marT="91425" marB="91425" marR="91425" marL="91425"/>
                </a:tc>
                <a:tc>
                  <a:txBody>
                    <a:bodyPr/>
                    <a:lstStyle/>
                    <a:p>
                      <a:pPr indent="0" lvl="0" marL="0" rtl="0" algn="l">
                        <a:spcBef>
                          <a:spcPts val="0"/>
                        </a:spcBef>
                        <a:spcAft>
                          <a:spcPts val="0"/>
                        </a:spcAft>
                        <a:buNone/>
                      </a:pPr>
                      <a:r>
                        <a:rPr lang="en-GB"/>
                        <a:t>VARCHAR(255)</a:t>
                      </a:r>
                      <a:endParaRPr/>
                    </a:p>
                  </a:txBody>
                  <a:tcPr marT="91425" marB="91425" marR="91425" marL="91425"/>
                </a:tc>
                <a:tc>
                  <a:txBody>
                    <a:bodyPr/>
                    <a:lstStyle/>
                    <a:p>
                      <a:pPr indent="0" lvl="0" marL="0" rtl="0" algn="l">
                        <a:spcBef>
                          <a:spcPts val="0"/>
                        </a:spcBef>
                        <a:spcAft>
                          <a:spcPts val="0"/>
                        </a:spcAft>
                        <a:buNone/>
                      </a:pPr>
                      <a:r>
                        <a:rPr lang="en-GB"/>
                        <a:t>NOT NULL</a:t>
                      </a:r>
                      <a:endParaRPr/>
                    </a:p>
                  </a:txBody>
                  <a:tcPr marT="91425" marB="91425" marR="91425" marL="91425"/>
                </a:tc>
                <a:tc>
                  <a:txBody>
                    <a:bodyPr/>
                    <a:lstStyle/>
                    <a:p>
                      <a:pPr indent="0" lvl="0" marL="0" rtl="0" algn="l">
                        <a:spcBef>
                          <a:spcPts val="0"/>
                        </a:spcBef>
                        <a:spcAft>
                          <a:spcPts val="0"/>
                        </a:spcAft>
                        <a:buNone/>
                      </a:pPr>
                      <a:r>
                        <a:rPr lang="en-GB"/>
                        <a:t>Họ và Đệm</a:t>
                      </a:r>
                      <a:endParaRPr/>
                    </a:p>
                  </a:txBody>
                  <a:tcPr marT="91425" marB="91425" marR="91425" marL="91425"/>
                </a:tc>
              </a:tr>
              <a:tr h="381000">
                <a:tc gridSpan="2">
                  <a:txBody>
                    <a:bodyPr/>
                    <a:lstStyle/>
                    <a:p>
                      <a:pPr indent="0" lvl="0" marL="0" rtl="0" algn="l">
                        <a:spcBef>
                          <a:spcPts val="0"/>
                        </a:spcBef>
                        <a:spcAft>
                          <a:spcPts val="0"/>
                        </a:spcAft>
                        <a:buNone/>
                      </a:pPr>
                      <a:r>
                        <a:rPr lang="en-GB"/>
                        <a:t>Khóa chính</a:t>
                      </a:r>
                      <a:endParaRPr/>
                    </a:p>
                  </a:txBody>
                  <a:tcPr marT="91425" marB="91425" marR="91425" marL="91425"/>
                </a:tc>
                <a:tc hMerge="1"/>
                <a:tc gridSpan="3">
                  <a:txBody>
                    <a:bodyPr/>
                    <a:lstStyle/>
                    <a:p>
                      <a:pPr indent="0" lvl="0" marL="0" rtl="0" algn="l">
                        <a:spcBef>
                          <a:spcPts val="0"/>
                        </a:spcBef>
                        <a:spcAft>
                          <a:spcPts val="0"/>
                        </a:spcAft>
                        <a:buNone/>
                      </a:pPr>
                      <a:r>
                        <a:rPr lang="en-GB"/>
                        <a:t>id</a:t>
                      </a:r>
                      <a:endParaRPr/>
                    </a:p>
                  </a:txBody>
                  <a:tcPr marT="91425" marB="91425" marR="91425" marL="91425"/>
                </a:tc>
                <a:tc hMerge="1"/>
                <a:tc hMerge="1"/>
              </a:tr>
              <a:tr h="381000">
                <a:tc gridSpan="2">
                  <a:txBody>
                    <a:bodyPr/>
                    <a:lstStyle/>
                    <a:p>
                      <a:pPr indent="0" lvl="0" marL="0" rtl="0" algn="l">
                        <a:spcBef>
                          <a:spcPts val="0"/>
                        </a:spcBef>
                        <a:spcAft>
                          <a:spcPts val="0"/>
                        </a:spcAft>
                        <a:buNone/>
                      </a:pPr>
                      <a:r>
                        <a:rPr lang="en-GB"/>
                        <a:t>Khóa ngoại</a:t>
                      </a:r>
                      <a:endParaRPr/>
                    </a:p>
                  </a:txBody>
                  <a:tcPr marT="91425" marB="91425" marR="91425" marL="91425"/>
                </a:tc>
                <a:tc hMerge="1"/>
                <a:tc gridSpan="3">
                  <a:txBody>
                    <a:bodyPr/>
                    <a:lstStyle/>
                    <a:p>
                      <a:pPr indent="0" lvl="0" marL="0" rtl="0" algn="l">
                        <a:spcBef>
                          <a:spcPts val="0"/>
                        </a:spcBef>
                        <a:spcAft>
                          <a:spcPts val="0"/>
                        </a:spcAft>
                        <a:buNone/>
                      </a:pPr>
                      <a:r>
                        <a:rPr i="1" lang="en-GB"/>
                        <a:t>Không có</a:t>
                      </a:r>
                      <a:endParaRPr i="1"/>
                    </a:p>
                  </a:txBody>
                  <a:tcPr marT="91425" marB="91425" marR="91425" marL="91425"/>
                </a:tc>
                <a:tc hMerge="1"/>
                <a:tc hMerge="1"/>
              </a:tr>
            </a:tbl>
          </a:graphicData>
        </a:graphic>
      </p:graphicFrame>
      <p:sp>
        <p:nvSpPr>
          <p:cNvPr id="519" name="Google Shape;519;p60"/>
          <p:cNvSpPr/>
          <p:nvPr/>
        </p:nvSpPr>
        <p:spPr>
          <a:xfrm>
            <a:off x="495300" y="1421768"/>
            <a:ext cx="1743300" cy="791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a:t>
            </a:r>
            <a:r>
              <a:rPr b="1" lang="en-GB" u="sng"/>
              <a:t>id</a:t>
            </a:r>
            <a:r>
              <a:rPr lang="en-GB"/>
              <a:t>  &lt;&lt;PK&gt;&gt; [1..1]</a:t>
            </a:r>
            <a:endParaRPr/>
          </a:p>
          <a:p>
            <a:pPr indent="0" lvl="0" marL="0" rtl="0" algn="l">
              <a:spcBef>
                <a:spcPts val="0"/>
              </a:spcBef>
              <a:spcAft>
                <a:spcPts val="0"/>
              </a:spcAft>
              <a:buNone/>
            </a:pPr>
            <a:r>
              <a:rPr lang="en-GB"/>
              <a:t>- first_name  [1..1]</a:t>
            </a:r>
            <a:endParaRPr/>
          </a:p>
          <a:p>
            <a:pPr indent="0" lvl="0" marL="0" rtl="0" algn="l">
              <a:spcBef>
                <a:spcPts val="0"/>
              </a:spcBef>
              <a:spcAft>
                <a:spcPts val="0"/>
              </a:spcAft>
              <a:buNone/>
            </a:pPr>
            <a:r>
              <a:rPr lang="en-GB"/>
              <a:t>- last_name  [1..1]</a:t>
            </a:r>
            <a:endParaRPr/>
          </a:p>
        </p:txBody>
      </p:sp>
      <p:sp>
        <p:nvSpPr>
          <p:cNvPr id="520" name="Google Shape;520;p60"/>
          <p:cNvSpPr/>
          <p:nvPr/>
        </p:nvSpPr>
        <p:spPr>
          <a:xfrm>
            <a:off x="495300" y="1026675"/>
            <a:ext cx="1743300" cy="39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CustomerTbl</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Mẫu thiết kế DAO</a:t>
            </a:r>
            <a:endParaRPr/>
          </a:p>
        </p:txBody>
      </p:sp>
      <p:sp>
        <p:nvSpPr>
          <p:cNvPr id="526" name="Google Shape;526;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27" name="Google Shape;527;p61"/>
          <p:cNvSpPr/>
          <p:nvPr/>
        </p:nvSpPr>
        <p:spPr>
          <a:xfrm>
            <a:off x="6626600" y="2322148"/>
            <a:ext cx="11820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id</a:t>
            </a:r>
            <a:endParaRPr/>
          </a:p>
          <a:p>
            <a:pPr indent="0" lvl="0" marL="0" rtl="0" algn="l">
              <a:spcBef>
                <a:spcPts val="0"/>
              </a:spcBef>
              <a:spcAft>
                <a:spcPts val="0"/>
              </a:spcAft>
              <a:buNone/>
            </a:pPr>
            <a:r>
              <a:rPr lang="en-GB"/>
              <a:t>- first_name</a:t>
            </a:r>
            <a:endParaRPr/>
          </a:p>
          <a:p>
            <a:pPr indent="0" lvl="0" marL="0" rtl="0" algn="l">
              <a:spcBef>
                <a:spcPts val="0"/>
              </a:spcBef>
              <a:spcAft>
                <a:spcPts val="0"/>
              </a:spcAft>
              <a:buNone/>
            </a:pPr>
            <a:r>
              <a:rPr lang="en-GB"/>
              <a:t>- last_name</a:t>
            </a:r>
            <a:endParaRPr/>
          </a:p>
        </p:txBody>
      </p:sp>
      <p:sp>
        <p:nvSpPr>
          <p:cNvPr id="528" name="Google Shape;528;p61"/>
          <p:cNvSpPr/>
          <p:nvPr/>
        </p:nvSpPr>
        <p:spPr>
          <a:xfrm>
            <a:off x="6626600" y="1941148"/>
            <a:ext cx="11820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Customer</a:t>
            </a:r>
            <a:endParaRPr/>
          </a:p>
        </p:txBody>
      </p:sp>
      <p:sp>
        <p:nvSpPr>
          <p:cNvPr id="529" name="Google Shape;529;p61"/>
          <p:cNvSpPr/>
          <p:nvPr/>
        </p:nvSpPr>
        <p:spPr>
          <a:xfrm>
            <a:off x="4301850" y="2069875"/>
            <a:ext cx="1474200" cy="1253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a:t>+ GetAll()</a:t>
            </a:r>
            <a:endParaRPr i="1"/>
          </a:p>
          <a:p>
            <a:pPr indent="0" lvl="0" marL="0" rtl="0" algn="l">
              <a:spcBef>
                <a:spcPts val="0"/>
              </a:spcBef>
              <a:spcAft>
                <a:spcPts val="0"/>
              </a:spcAft>
              <a:buNone/>
            </a:pPr>
            <a:r>
              <a:rPr i="1" lang="en-GB"/>
              <a:t>+ GetById()</a:t>
            </a:r>
            <a:endParaRPr i="1"/>
          </a:p>
          <a:p>
            <a:pPr indent="0" lvl="0" marL="0" rtl="0" algn="l">
              <a:spcBef>
                <a:spcPts val="0"/>
              </a:spcBef>
              <a:spcAft>
                <a:spcPts val="0"/>
              </a:spcAft>
              <a:buNone/>
            </a:pPr>
            <a:r>
              <a:rPr i="1" lang="en-GB"/>
              <a:t>+ Save()</a:t>
            </a:r>
            <a:endParaRPr i="1"/>
          </a:p>
          <a:p>
            <a:pPr indent="0" lvl="0" marL="0" rtl="0" algn="l">
              <a:spcBef>
                <a:spcPts val="0"/>
              </a:spcBef>
              <a:spcAft>
                <a:spcPts val="0"/>
              </a:spcAft>
              <a:buNone/>
            </a:pPr>
            <a:r>
              <a:rPr i="1" lang="en-GB"/>
              <a:t>+ Update()</a:t>
            </a:r>
            <a:endParaRPr i="1"/>
          </a:p>
          <a:p>
            <a:pPr indent="0" lvl="0" marL="0" rtl="0" algn="l">
              <a:spcBef>
                <a:spcPts val="0"/>
              </a:spcBef>
              <a:spcAft>
                <a:spcPts val="0"/>
              </a:spcAft>
              <a:buNone/>
            </a:pPr>
            <a:r>
              <a:rPr i="1" lang="en-GB"/>
              <a:t>+ Delete()</a:t>
            </a:r>
            <a:endParaRPr i="1"/>
          </a:p>
        </p:txBody>
      </p:sp>
      <p:sp>
        <p:nvSpPr>
          <p:cNvPr id="530" name="Google Shape;530;p61"/>
          <p:cNvSpPr/>
          <p:nvPr/>
        </p:nvSpPr>
        <p:spPr>
          <a:xfrm>
            <a:off x="4301850" y="1541575"/>
            <a:ext cx="14742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&lt;&lt; abstract&gt;&gt;</a:t>
            </a:r>
            <a:endParaRPr/>
          </a:p>
          <a:p>
            <a:pPr indent="0" lvl="0" marL="0" rtl="0" algn="ctr">
              <a:spcBef>
                <a:spcPts val="0"/>
              </a:spcBef>
              <a:spcAft>
                <a:spcPts val="0"/>
              </a:spcAft>
              <a:buNone/>
            </a:pPr>
            <a:r>
              <a:rPr lang="en-GB"/>
              <a:t>CustomerDAO</a:t>
            </a:r>
            <a:endParaRPr/>
          </a:p>
        </p:txBody>
      </p:sp>
      <p:sp>
        <p:nvSpPr>
          <p:cNvPr id="531" name="Google Shape;531;p61"/>
          <p:cNvSpPr/>
          <p:nvPr/>
        </p:nvSpPr>
        <p:spPr>
          <a:xfrm>
            <a:off x="2701650" y="4813075"/>
            <a:ext cx="1600200" cy="1253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GetAll()</a:t>
            </a:r>
            <a:endParaRPr/>
          </a:p>
          <a:p>
            <a:pPr indent="0" lvl="0" marL="0" rtl="0" algn="l">
              <a:spcBef>
                <a:spcPts val="0"/>
              </a:spcBef>
              <a:spcAft>
                <a:spcPts val="0"/>
              </a:spcAft>
              <a:buNone/>
            </a:pPr>
            <a:r>
              <a:rPr lang="en-GB"/>
              <a:t>+ GetById()</a:t>
            </a:r>
            <a:endParaRPr/>
          </a:p>
          <a:p>
            <a:pPr indent="0" lvl="0" marL="0" rtl="0" algn="l">
              <a:spcBef>
                <a:spcPts val="0"/>
              </a:spcBef>
              <a:spcAft>
                <a:spcPts val="0"/>
              </a:spcAft>
              <a:buNone/>
            </a:pPr>
            <a:r>
              <a:rPr lang="en-GB"/>
              <a:t>+ Save()</a:t>
            </a:r>
            <a:endParaRPr/>
          </a:p>
          <a:p>
            <a:pPr indent="0" lvl="0" marL="0" rtl="0" algn="l">
              <a:spcBef>
                <a:spcPts val="0"/>
              </a:spcBef>
              <a:spcAft>
                <a:spcPts val="0"/>
              </a:spcAft>
              <a:buNone/>
            </a:pPr>
            <a:r>
              <a:rPr lang="en-GB"/>
              <a:t>+ Update()</a:t>
            </a:r>
            <a:endParaRPr/>
          </a:p>
          <a:p>
            <a:pPr indent="0" lvl="0" marL="0" rtl="0" algn="l">
              <a:spcBef>
                <a:spcPts val="0"/>
              </a:spcBef>
              <a:spcAft>
                <a:spcPts val="0"/>
              </a:spcAft>
              <a:buNone/>
            </a:pPr>
            <a:r>
              <a:rPr lang="en-GB"/>
              <a:t>+ Delete()</a:t>
            </a:r>
            <a:endParaRPr/>
          </a:p>
        </p:txBody>
      </p:sp>
      <p:sp>
        <p:nvSpPr>
          <p:cNvPr id="532" name="Google Shape;532;p61"/>
          <p:cNvSpPr/>
          <p:nvPr/>
        </p:nvSpPr>
        <p:spPr>
          <a:xfrm>
            <a:off x="2701650" y="4432075"/>
            <a:ext cx="16002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SqlCustomerDAO</a:t>
            </a:r>
            <a:endParaRPr/>
          </a:p>
        </p:txBody>
      </p:sp>
      <p:sp>
        <p:nvSpPr>
          <p:cNvPr id="533" name="Google Shape;533;p61"/>
          <p:cNvSpPr/>
          <p:nvPr/>
        </p:nvSpPr>
        <p:spPr>
          <a:xfrm>
            <a:off x="5521050" y="4813075"/>
            <a:ext cx="1898100" cy="1253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GetAll()</a:t>
            </a:r>
            <a:endParaRPr/>
          </a:p>
          <a:p>
            <a:pPr indent="0" lvl="0" marL="0" rtl="0" algn="l">
              <a:spcBef>
                <a:spcPts val="0"/>
              </a:spcBef>
              <a:spcAft>
                <a:spcPts val="0"/>
              </a:spcAft>
              <a:buNone/>
            </a:pPr>
            <a:r>
              <a:rPr lang="en-GB"/>
              <a:t>+ GetById()</a:t>
            </a:r>
            <a:endParaRPr/>
          </a:p>
          <a:p>
            <a:pPr indent="0" lvl="0" marL="0" rtl="0" algn="l">
              <a:spcBef>
                <a:spcPts val="0"/>
              </a:spcBef>
              <a:spcAft>
                <a:spcPts val="0"/>
              </a:spcAft>
              <a:buNone/>
            </a:pPr>
            <a:r>
              <a:rPr lang="en-GB"/>
              <a:t>+ Save()</a:t>
            </a:r>
            <a:endParaRPr/>
          </a:p>
          <a:p>
            <a:pPr indent="0" lvl="0" marL="0" rtl="0" algn="l">
              <a:spcBef>
                <a:spcPts val="0"/>
              </a:spcBef>
              <a:spcAft>
                <a:spcPts val="0"/>
              </a:spcAft>
              <a:buNone/>
            </a:pPr>
            <a:r>
              <a:rPr lang="en-GB"/>
              <a:t>+ Update()</a:t>
            </a:r>
            <a:endParaRPr/>
          </a:p>
          <a:p>
            <a:pPr indent="0" lvl="0" marL="0" rtl="0" algn="l">
              <a:spcBef>
                <a:spcPts val="0"/>
              </a:spcBef>
              <a:spcAft>
                <a:spcPts val="0"/>
              </a:spcAft>
              <a:buNone/>
            </a:pPr>
            <a:r>
              <a:rPr lang="en-GB"/>
              <a:t>+ Delete()</a:t>
            </a:r>
            <a:endParaRPr/>
          </a:p>
        </p:txBody>
      </p:sp>
      <p:sp>
        <p:nvSpPr>
          <p:cNvPr id="534" name="Google Shape;534;p61"/>
          <p:cNvSpPr/>
          <p:nvPr/>
        </p:nvSpPr>
        <p:spPr>
          <a:xfrm>
            <a:off x="5521050" y="4432075"/>
            <a:ext cx="18981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MongoCustomerDAO</a:t>
            </a:r>
            <a:endParaRPr/>
          </a:p>
        </p:txBody>
      </p:sp>
      <p:sp>
        <p:nvSpPr>
          <p:cNvPr id="535" name="Google Shape;535;p61"/>
          <p:cNvSpPr/>
          <p:nvPr/>
        </p:nvSpPr>
        <p:spPr>
          <a:xfrm>
            <a:off x="4904000" y="3332125"/>
            <a:ext cx="184500" cy="142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6" name="Google Shape;536;p61"/>
          <p:cNvCxnSpPr>
            <a:stCxn id="532" idx="0"/>
            <a:endCxn id="535" idx="3"/>
          </p:cNvCxnSpPr>
          <p:nvPr/>
        </p:nvCxnSpPr>
        <p:spPr>
          <a:xfrm rot="-5400000">
            <a:off x="3770400" y="3206125"/>
            <a:ext cx="957300" cy="1494600"/>
          </a:xfrm>
          <a:prstGeom prst="bentConnector3">
            <a:avLst>
              <a:gd fmla="val 50008" name="adj1"/>
            </a:avLst>
          </a:prstGeom>
          <a:noFill/>
          <a:ln cap="flat" cmpd="sng" w="9525">
            <a:solidFill>
              <a:schemeClr val="dk2"/>
            </a:solidFill>
            <a:prstDash val="solid"/>
            <a:round/>
            <a:headEnd len="med" w="med" type="none"/>
            <a:tailEnd len="med" w="med" type="none"/>
          </a:ln>
        </p:spPr>
      </p:cxnSp>
      <p:cxnSp>
        <p:nvCxnSpPr>
          <p:cNvPr id="537" name="Google Shape;537;p61"/>
          <p:cNvCxnSpPr>
            <a:stCxn id="534" idx="0"/>
            <a:endCxn id="535" idx="3"/>
          </p:cNvCxnSpPr>
          <p:nvPr/>
        </p:nvCxnSpPr>
        <p:spPr>
          <a:xfrm flipH="1" rot="5400000">
            <a:off x="5254500" y="3216475"/>
            <a:ext cx="957300" cy="1473900"/>
          </a:xfrm>
          <a:prstGeom prst="bentConnector3">
            <a:avLst>
              <a:gd fmla="val 50008" name="adj1"/>
            </a:avLst>
          </a:prstGeom>
          <a:noFill/>
          <a:ln cap="flat" cmpd="sng" w="9525">
            <a:solidFill>
              <a:schemeClr val="dk2"/>
            </a:solidFill>
            <a:prstDash val="solid"/>
            <a:round/>
            <a:headEnd len="med" w="med" type="none"/>
            <a:tailEnd len="med" w="med" type="none"/>
          </a:ln>
        </p:spPr>
      </p:cxnSp>
      <p:cxnSp>
        <p:nvCxnSpPr>
          <p:cNvPr id="538" name="Google Shape;538;p61"/>
          <p:cNvCxnSpPr>
            <a:stCxn id="529" idx="3"/>
            <a:endCxn id="527" idx="1"/>
          </p:cNvCxnSpPr>
          <p:nvPr/>
        </p:nvCxnSpPr>
        <p:spPr>
          <a:xfrm>
            <a:off x="5776050" y="2696725"/>
            <a:ext cx="850500" cy="7200"/>
          </a:xfrm>
          <a:prstGeom prst="straightConnector1">
            <a:avLst/>
          </a:prstGeom>
          <a:noFill/>
          <a:ln cap="flat" cmpd="sng" w="9525">
            <a:solidFill>
              <a:schemeClr val="dk2"/>
            </a:solidFill>
            <a:prstDash val="solid"/>
            <a:round/>
            <a:headEnd len="med" w="med" type="none"/>
            <a:tailEnd len="med" w="med" type="none"/>
          </a:ln>
        </p:spPr>
      </p:cxnSp>
      <p:sp>
        <p:nvSpPr>
          <p:cNvPr id="539" name="Google Shape;539;p61"/>
          <p:cNvSpPr txBox="1"/>
          <p:nvPr/>
        </p:nvSpPr>
        <p:spPr>
          <a:xfrm>
            <a:off x="5832402" y="2367225"/>
            <a:ext cx="8505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CRUD &gt;</a:t>
            </a:r>
            <a:endParaRPr/>
          </a:p>
        </p:txBody>
      </p:sp>
      <p:sp>
        <p:nvSpPr>
          <p:cNvPr id="540" name="Google Shape;540;p61"/>
          <p:cNvSpPr/>
          <p:nvPr/>
        </p:nvSpPr>
        <p:spPr>
          <a:xfrm>
            <a:off x="2130800" y="1636348"/>
            <a:ext cx="1182000" cy="3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App</a:t>
            </a:r>
            <a:endParaRPr/>
          </a:p>
        </p:txBody>
      </p:sp>
      <p:cxnSp>
        <p:nvCxnSpPr>
          <p:cNvPr id="541" name="Google Shape;541;p61"/>
          <p:cNvCxnSpPr>
            <a:stCxn id="540" idx="3"/>
            <a:endCxn id="530" idx="1"/>
          </p:cNvCxnSpPr>
          <p:nvPr/>
        </p:nvCxnSpPr>
        <p:spPr>
          <a:xfrm flipH="1" rot="10800000">
            <a:off x="3312800" y="1804048"/>
            <a:ext cx="989100" cy="21000"/>
          </a:xfrm>
          <a:prstGeom prst="straightConnector1">
            <a:avLst/>
          </a:prstGeom>
          <a:noFill/>
          <a:ln cap="flat" cmpd="sng" w="9525">
            <a:solidFill>
              <a:schemeClr val="dk2"/>
            </a:solidFill>
            <a:prstDash val="solid"/>
            <a:round/>
            <a:headEnd len="med" w="med" type="none"/>
            <a:tailEnd len="med" w="med" type="none"/>
          </a:ln>
        </p:spPr>
      </p:cxnSp>
      <p:cxnSp>
        <p:nvCxnSpPr>
          <p:cNvPr id="542" name="Google Shape;542;p61"/>
          <p:cNvCxnSpPr>
            <a:stCxn id="540" idx="0"/>
            <a:endCxn id="528" idx="0"/>
          </p:cNvCxnSpPr>
          <p:nvPr/>
        </p:nvCxnSpPr>
        <p:spPr>
          <a:xfrm flipH="1" rot="-5400000">
            <a:off x="4817300" y="-459152"/>
            <a:ext cx="304800" cy="4495800"/>
          </a:xfrm>
          <a:prstGeom prst="bentConnector3">
            <a:avLst>
              <a:gd fmla="val -78125" name="adj1"/>
            </a:avLst>
          </a:prstGeom>
          <a:noFill/>
          <a:ln cap="flat" cmpd="sng" w="9525">
            <a:solidFill>
              <a:schemeClr val="dk2"/>
            </a:solidFill>
            <a:prstDash val="solid"/>
            <a:round/>
            <a:headEnd len="med" w="med" type="none"/>
            <a:tailEnd len="med" w="med" type="none"/>
          </a:ln>
        </p:spPr>
      </p:cxnSp>
      <p:sp>
        <p:nvSpPr>
          <p:cNvPr id="543" name="Google Shape;543;p61"/>
          <p:cNvSpPr txBox="1"/>
          <p:nvPr/>
        </p:nvSpPr>
        <p:spPr>
          <a:xfrm>
            <a:off x="3436666" y="1452825"/>
            <a:ext cx="8505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 &gt;</a:t>
            </a:r>
            <a:endParaRPr/>
          </a:p>
        </p:txBody>
      </p:sp>
      <p:sp>
        <p:nvSpPr>
          <p:cNvPr id="544" name="Google Shape;544;p61"/>
          <p:cNvSpPr txBox="1"/>
          <p:nvPr/>
        </p:nvSpPr>
        <p:spPr>
          <a:xfrm>
            <a:off x="4579666" y="1071825"/>
            <a:ext cx="8505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 &gt;</a:t>
            </a:r>
            <a:endParaRPr/>
          </a:p>
        </p:txBody>
      </p:sp>
      <p:sp>
        <p:nvSpPr>
          <p:cNvPr id="545" name="Google Shape;545;p61"/>
          <p:cNvSpPr/>
          <p:nvPr/>
        </p:nvSpPr>
        <p:spPr>
          <a:xfrm>
            <a:off x="1660000" y="2717243"/>
            <a:ext cx="1734000" cy="791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a:t>
            </a:r>
            <a:r>
              <a:rPr b="1" lang="en-GB" u="sng"/>
              <a:t>id</a:t>
            </a:r>
            <a:r>
              <a:rPr lang="en-GB"/>
              <a:t>  &lt;&lt;PK&gt;&gt; [1..1]</a:t>
            </a:r>
            <a:endParaRPr/>
          </a:p>
          <a:p>
            <a:pPr indent="0" lvl="0" marL="0" rtl="0" algn="l">
              <a:spcBef>
                <a:spcPts val="0"/>
              </a:spcBef>
              <a:spcAft>
                <a:spcPts val="0"/>
              </a:spcAft>
              <a:buNone/>
            </a:pPr>
            <a:r>
              <a:rPr lang="en-GB"/>
              <a:t>- first_name  [1..1]</a:t>
            </a:r>
            <a:endParaRPr/>
          </a:p>
          <a:p>
            <a:pPr indent="0" lvl="0" marL="0" rtl="0" algn="l">
              <a:spcBef>
                <a:spcPts val="0"/>
              </a:spcBef>
              <a:spcAft>
                <a:spcPts val="0"/>
              </a:spcAft>
              <a:buNone/>
            </a:pPr>
            <a:r>
              <a:rPr lang="en-GB"/>
              <a:t>- last_name  [1..1]</a:t>
            </a:r>
            <a:endParaRPr/>
          </a:p>
        </p:txBody>
      </p:sp>
      <p:sp>
        <p:nvSpPr>
          <p:cNvPr id="546" name="Google Shape;546;p61"/>
          <p:cNvSpPr/>
          <p:nvPr/>
        </p:nvSpPr>
        <p:spPr>
          <a:xfrm>
            <a:off x="1660000" y="2322150"/>
            <a:ext cx="1734000" cy="39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CustomerTbl</a:t>
            </a:r>
            <a:endParaRPr/>
          </a:p>
        </p:txBody>
      </p:sp>
      <p:cxnSp>
        <p:nvCxnSpPr>
          <p:cNvPr id="547" name="Google Shape;547;p61"/>
          <p:cNvCxnSpPr/>
          <p:nvPr/>
        </p:nvCxnSpPr>
        <p:spPr>
          <a:xfrm rot="10800000">
            <a:off x="3402575" y="2874475"/>
            <a:ext cx="912900" cy="0"/>
          </a:xfrm>
          <a:prstGeom prst="straightConnector1">
            <a:avLst/>
          </a:prstGeom>
          <a:noFill/>
          <a:ln cap="flat" cmpd="sng" w="9525">
            <a:solidFill>
              <a:schemeClr val="dk2"/>
            </a:solidFill>
            <a:prstDash val="dash"/>
            <a:round/>
            <a:headEnd len="med" w="med" type="none"/>
            <a:tailEnd len="med" w="med" type="stealth"/>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ền tảng Hibernate</a:t>
            </a:r>
            <a:endParaRPr/>
          </a:p>
        </p:txBody>
      </p:sp>
      <p:sp>
        <p:nvSpPr>
          <p:cNvPr id="553" name="Google Shape;553;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54" name="Google Shape;554;p62"/>
          <p:cNvPicPr preferRelativeResize="0"/>
          <p:nvPr/>
        </p:nvPicPr>
        <p:blipFill>
          <a:blip r:embed="rId3">
            <a:alphaModFix/>
          </a:blip>
          <a:stretch>
            <a:fillRect/>
          </a:stretch>
        </p:blipFill>
        <p:spPr>
          <a:xfrm>
            <a:off x="2029800" y="950478"/>
            <a:ext cx="4460450" cy="4985200"/>
          </a:xfrm>
          <a:prstGeom prst="rect">
            <a:avLst/>
          </a:prstGeom>
          <a:noFill/>
          <a:ln>
            <a:noFill/>
          </a:ln>
        </p:spPr>
      </p:pic>
      <p:sp>
        <p:nvSpPr>
          <p:cNvPr id="555" name="Google Shape;555;p62"/>
          <p:cNvSpPr txBox="1"/>
          <p:nvPr/>
        </p:nvSpPr>
        <p:spPr>
          <a:xfrm>
            <a:off x="4892375" y="5889100"/>
            <a:ext cx="3703500" cy="524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GB" sz="2200">
                <a:solidFill>
                  <a:schemeClr val="dk2"/>
                </a:solidFill>
              </a:rPr>
              <a:t>[https://docs.redhat.com/]</a:t>
            </a:r>
            <a:endParaRPr i="1" sz="22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561" name="Google Shape;561;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62" name="Google Shape;562;p63"/>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Tổng quan</a:t>
            </a:r>
            <a:endParaRPr/>
          </a:p>
          <a:p>
            <a:pPr indent="-381000" lvl="0" marL="457200" rtl="0" algn="just">
              <a:spcBef>
                <a:spcPts val="0"/>
              </a:spcBef>
              <a:spcAft>
                <a:spcPts val="0"/>
              </a:spcAft>
              <a:buSzPts val="2400"/>
              <a:buChar char="●"/>
            </a:pPr>
            <a:r>
              <a:rPr lang="en-GB"/>
              <a:t>Các quy tắc ánh xạ</a:t>
            </a:r>
            <a:endParaRPr/>
          </a:p>
          <a:p>
            <a:pPr indent="-381000" lvl="0" marL="457200" rtl="0" algn="just">
              <a:spcBef>
                <a:spcPts val="0"/>
              </a:spcBef>
              <a:spcAft>
                <a:spcPts val="0"/>
              </a:spcAft>
              <a:buSzPts val="2400"/>
              <a:buChar char="●"/>
            </a:pPr>
            <a:r>
              <a:rPr lang="en-GB"/>
              <a:t>Tối ưu hóa CSDL quan hệ</a:t>
            </a:r>
            <a:endParaRPr/>
          </a:p>
          <a:p>
            <a:pPr indent="-381000" lvl="0" marL="457200" rtl="0" algn="just">
              <a:spcBef>
                <a:spcPts val="0"/>
              </a:spcBef>
              <a:spcAft>
                <a:spcPts val="0"/>
              </a:spcAft>
              <a:buSzPts val="2400"/>
              <a:buChar char="●"/>
            </a:pPr>
            <a:r>
              <a:rPr lang="en-GB"/>
              <a:t>Tầng truy cập và quản lý dữ liệu</a:t>
            </a:r>
            <a:endParaRPr/>
          </a:p>
          <a:p>
            <a:pPr indent="-381000" lvl="0" marL="457200" rtl="0" algn="just">
              <a:spcBef>
                <a:spcPts val="0"/>
              </a:spcBef>
              <a:spcAft>
                <a:spcPts val="0"/>
              </a:spcAft>
              <a:buSzPts val="2400"/>
              <a:buChar char="●"/>
            </a:pPr>
            <a:r>
              <a:rPr lang="en-GB"/>
              <a:t>CSDL phân tán</a:t>
            </a:r>
            <a:endParaRPr/>
          </a:p>
        </p:txBody>
      </p:sp>
      <p:sp>
        <p:nvSpPr>
          <p:cNvPr id="563" name="Google Shape;563;p63"/>
          <p:cNvSpPr/>
          <p:nvPr/>
        </p:nvSpPr>
        <p:spPr>
          <a:xfrm>
            <a:off x="357900" y="2476607"/>
            <a:ext cx="6629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Kiến trúc CSDL phân tán</a:t>
            </a:r>
            <a:endParaRPr/>
          </a:p>
        </p:txBody>
      </p:sp>
      <p:sp>
        <p:nvSpPr>
          <p:cNvPr id="569" name="Google Shape;569;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70" name="Google Shape;570;p64"/>
          <p:cNvSpPr txBox="1"/>
          <p:nvPr>
            <p:ph idx="1"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CSDL phân tán đồng nhất / Homogeneous distributed database được lưu ở nhiều nơi với cùng DBMS và 1 lược đồ toàn cục.</a:t>
            </a:r>
            <a:endParaRPr/>
          </a:p>
          <a:p>
            <a:pPr indent="-381000" lvl="0" marL="457200" rtl="0" algn="just">
              <a:spcBef>
                <a:spcPts val="0"/>
              </a:spcBef>
              <a:spcAft>
                <a:spcPts val="0"/>
              </a:spcAft>
              <a:buSzPts val="2400"/>
              <a:buChar char="●"/>
            </a:pPr>
            <a:r>
              <a:rPr lang="en-GB"/>
              <a:t>CSDL phân tán không đồng nhất / Heterogeneous distributed database được lưu ở nhiều với các DBMS khác nhau và có thể có lược đồ cục bộ.</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CSDL phân tán đồng nhất</a:t>
            </a:r>
            <a:endParaRPr/>
          </a:p>
        </p:txBody>
      </p:sp>
      <p:sp>
        <p:nvSpPr>
          <p:cNvPr id="576" name="Google Shape;576;p65"/>
          <p:cNvSpPr txBox="1"/>
          <p:nvPr>
            <p:ph idx="4294967295" type="body"/>
          </p:nvPr>
        </p:nvSpPr>
        <p:spPr>
          <a:xfrm>
            <a:off x="311700" y="890168"/>
            <a:ext cx="8520600" cy="627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Truy cập thông qua 1 Hệ quản trị CSDL và lược đồ chung</a:t>
            </a:r>
            <a:endParaRPr/>
          </a:p>
        </p:txBody>
      </p:sp>
      <p:sp>
        <p:nvSpPr>
          <p:cNvPr id="577" name="Google Shape;577;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78" name="Google Shape;578;p65"/>
          <p:cNvPicPr preferRelativeResize="0"/>
          <p:nvPr/>
        </p:nvPicPr>
        <p:blipFill>
          <a:blip r:embed="rId3">
            <a:alphaModFix/>
          </a:blip>
          <a:stretch>
            <a:fillRect/>
          </a:stretch>
        </p:blipFill>
        <p:spPr>
          <a:xfrm>
            <a:off x="811759" y="1636334"/>
            <a:ext cx="1181100" cy="942975"/>
          </a:xfrm>
          <a:prstGeom prst="rect">
            <a:avLst/>
          </a:prstGeom>
          <a:noFill/>
          <a:ln>
            <a:noFill/>
          </a:ln>
        </p:spPr>
      </p:pic>
      <p:pic>
        <p:nvPicPr>
          <p:cNvPr id="579" name="Google Shape;579;p65"/>
          <p:cNvPicPr preferRelativeResize="0"/>
          <p:nvPr/>
        </p:nvPicPr>
        <p:blipFill>
          <a:blip r:embed="rId3">
            <a:alphaModFix/>
          </a:blip>
          <a:stretch>
            <a:fillRect/>
          </a:stretch>
        </p:blipFill>
        <p:spPr>
          <a:xfrm>
            <a:off x="811759" y="3337885"/>
            <a:ext cx="1181100" cy="942975"/>
          </a:xfrm>
          <a:prstGeom prst="rect">
            <a:avLst/>
          </a:prstGeom>
          <a:noFill/>
          <a:ln>
            <a:noFill/>
          </a:ln>
        </p:spPr>
      </p:pic>
      <p:pic>
        <p:nvPicPr>
          <p:cNvPr id="580" name="Google Shape;580;p65"/>
          <p:cNvPicPr preferRelativeResize="0"/>
          <p:nvPr/>
        </p:nvPicPr>
        <p:blipFill>
          <a:blip r:embed="rId3">
            <a:alphaModFix/>
          </a:blip>
          <a:stretch>
            <a:fillRect/>
          </a:stretch>
        </p:blipFill>
        <p:spPr>
          <a:xfrm>
            <a:off x="803375" y="4946469"/>
            <a:ext cx="1181100" cy="942975"/>
          </a:xfrm>
          <a:prstGeom prst="rect">
            <a:avLst/>
          </a:prstGeom>
          <a:noFill/>
          <a:ln>
            <a:noFill/>
          </a:ln>
        </p:spPr>
      </p:pic>
      <p:sp>
        <p:nvSpPr>
          <p:cNvPr id="581" name="Google Shape;581;p65"/>
          <p:cNvSpPr/>
          <p:nvPr/>
        </p:nvSpPr>
        <p:spPr>
          <a:xfrm>
            <a:off x="2833191" y="3286473"/>
            <a:ext cx="1291200" cy="94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 cho CSDL phân tán</a:t>
            </a:r>
            <a:endParaRPr sz="1800"/>
          </a:p>
        </p:txBody>
      </p:sp>
      <p:sp>
        <p:nvSpPr>
          <p:cNvPr id="582" name="Google Shape;582;p65"/>
          <p:cNvSpPr/>
          <p:nvPr/>
        </p:nvSpPr>
        <p:spPr>
          <a:xfrm>
            <a:off x="5127575" y="1890825"/>
            <a:ext cx="1291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a:t>
            </a:r>
            <a:endParaRPr sz="1800"/>
          </a:p>
        </p:txBody>
      </p:sp>
      <p:sp>
        <p:nvSpPr>
          <p:cNvPr id="583" name="Google Shape;583;p65"/>
          <p:cNvSpPr/>
          <p:nvPr/>
        </p:nvSpPr>
        <p:spPr>
          <a:xfrm>
            <a:off x="5127575" y="3380544"/>
            <a:ext cx="1291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a:t>
            </a:r>
            <a:endParaRPr sz="1800"/>
          </a:p>
        </p:txBody>
      </p:sp>
      <p:sp>
        <p:nvSpPr>
          <p:cNvPr id="584" name="Google Shape;584;p65"/>
          <p:cNvSpPr/>
          <p:nvPr/>
        </p:nvSpPr>
        <p:spPr>
          <a:xfrm>
            <a:off x="5127575" y="5015025"/>
            <a:ext cx="1291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a:t>
            </a:r>
            <a:endParaRPr sz="1800"/>
          </a:p>
        </p:txBody>
      </p:sp>
      <p:sp>
        <p:nvSpPr>
          <p:cNvPr id="585" name="Google Shape;585;p65"/>
          <p:cNvSpPr/>
          <p:nvPr/>
        </p:nvSpPr>
        <p:spPr>
          <a:xfrm>
            <a:off x="2929653" y="4816325"/>
            <a:ext cx="1102525" cy="1169750"/>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Lược đồ toàn cục</a:t>
            </a:r>
            <a:endParaRPr sz="1800"/>
          </a:p>
        </p:txBody>
      </p:sp>
      <p:sp>
        <p:nvSpPr>
          <p:cNvPr id="586" name="Google Shape;586;p65"/>
          <p:cNvSpPr/>
          <p:nvPr/>
        </p:nvSpPr>
        <p:spPr>
          <a:xfrm>
            <a:off x="7349253" y="1692125"/>
            <a:ext cx="1102525" cy="1169750"/>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Điểm lưu trữ 1</a:t>
            </a:r>
            <a:endParaRPr sz="1800"/>
          </a:p>
        </p:txBody>
      </p:sp>
      <p:sp>
        <p:nvSpPr>
          <p:cNvPr id="587" name="Google Shape;587;p65"/>
          <p:cNvSpPr/>
          <p:nvPr/>
        </p:nvSpPr>
        <p:spPr>
          <a:xfrm>
            <a:off x="7349253" y="3174206"/>
            <a:ext cx="1102525" cy="1169750"/>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Điểm lưu trữ 2</a:t>
            </a:r>
            <a:endParaRPr sz="1800"/>
          </a:p>
        </p:txBody>
      </p:sp>
      <p:sp>
        <p:nvSpPr>
          <p:cNvPr id="588" name="Google Shape;588;p65"/>
          <p:cNvSpPr/>
          <p:nvPr/>
        </p:nvSpPr>
        <p:spPr>
          <a:xfrm>
            <a:off x="7349253" y="4815580"/>
            <a:ext cx="1102525" cy="1169750"/>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Điểm lưu trữ 3</a:t>
            </a:r>
            <a:endParaRPr sz="1800"/>
          </a:p>
        </p:txBody>
      </p:sp>
      <p:cxnSp>
        <p:nvCxnSpPr>
          <p:cNvPr id="589" name="Google Shape;589;p65"/>
          <p:cNvCxnSpPr/>
          <p:nvPr/>
        </p:nvCxnSpPr>
        <p:spPr>
          <a:xfrm>
            <a:off x="1988325" y="2043175"/>
            <a:ext cx="834000" cy="14445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65"/>
          <p:cNvCxnSpPr>
            <a:endCxn id="581" idx="1"/>
          </p:cNvCxnSpPr>
          <p:nvPr/>
        </p:nvCxnSpPr>
        <p:spPr>
          <a:xfrm>
            <a:off x="1967091" y="3757923"/>
            <a:ext cx="866100" cy="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65"/>
          <p:cNvCxnSpPr/>
          <p:nvPr/>
        </p:nvCxnSpPr>
        <p:spPr>
          <a:xfrm flipH="1" rot="10800000">
            <a:off x="1984000" y="4099675"/>
            <a:ext cx="855300" cy="12660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65"/>
          <p:cNvCxnSpPr>
            <a:stCxn id="581" idx="2"/>
            <a:endCxn id="585" idx="1"/>
          </p:cNvCxnSpPr>
          <p:nvPr/>
        </p:nvCxnSpPr>
        <p:spPr>
          <a:xfrm>
            <a:off x="3478791" y="4229373"/>
            <a:ext cx="2100" cy="587100"/>
          </a:xfrm>
          <a:prstGeom prst="straightConnector1">
            <a:avLst/>
          </a:prstGeom>
          <a:noFill/>
          <a:ln cap="flat" cmpd="sng" w="9525">
            <a:solidFill>
              <a:schemeClr val="dk2"/>
            </a:solidFill>
            <a:prstDash val="solid"/>
            <a:round/>
            <a:headEnd len="med" w="med" type="none"/>
            <a:tailEnd len="med" w="med" type="none"/>
          </a:ln>
        </p:spPr>
      </p:cxnSp>
      <p:cxnSp>
        <p:nvCxnSpPr>
          <p:cNvPr id="593" name="Google Shape;593;p65"/>
          <p:cNvCxnSpPr>
            <a:stCxn id="582" idx="1"/>
          </p:cNvCxnSpPr>
          <p:nvPr/>
        </p:nvCxnSpPr>
        <p:spPr>
          <a:xfrm flipH="1">
            <a:off x="4113575" y="2272575"/>
            <a:ext cx="1014000" cy="1215000"/>
          </a:xfrm>
          <a:prstGeom prst="straightConnector1">
            <a:avLst/>
          </a:prstGeom>
          <a:noFill/>
          <a:ln cap="flat" cmpd="sng" w="9525">
            <a:solidFill>
              <a:schemeClr val="dk2"/>
            </a:solidFill>
            <a:prstDash val="solid"/>
            <a:round/>
            <a:headEnd len="med" w="med" type="none"/>
            <a:tailEnd len="med" w="med" type="none"/>
          </a:ln>
        </p:spPr>
      </p:cxnSp>
      <p:cxnSp>
        <p:nvCxnSpPr>
          <p:cNvPr id="594" name="Google Shape;594;p65"/>
          <p:cNvCxnSpPr>
            <a:stCxn id="581" idx="3"/>
            <a:endCxn id="583" idx="1"/>
          </p:cNvCxnSpPr>
          <p:nvPr/>
        </p:nvCxnSpPr>
        <p:spPr>
          <a:xfrm>
            <a:off x="4124391" y="3757923"/>
            <a:ext cx="1003200" cy="45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65"/>
          <p:cNvCxnSpPr>
            <a:stCxn id="584" idx="1"/>
          </p:cNvCxnSpPr>
          <p:nvPr/>
        </p:nvCxnSpPr>
        <p:spPr>
          <a:xfrm rot="10800000">
            <a:off x="4130375" y="4032675"/>
            <a:ext cx="997200" cy="13641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65"/>
          <p:cNvCxnSpPr>
            <a:stCxn id="582" idx="3"/>
            <a:endCxn id="586" idx="2"/>
          </p:cNvCxnSpPr>
          <p:nvPr/>
        </p:nvCxnSpPr>
        <p:spPr>
          <a:xfrm>
            <a:off x="6418775" y="2272575"/>
            <a:ext cx="930600" cy="45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65"/>
          <p:cNvCxnSpPr>
            <a:stCxn id="583" idx="3"/>
            <a:endCxn id="587" idx="2"/>
          </p:cNvCxnSpPr>
          <p:nvPr/>
        </p:nvCxnSpPr>
        <p:spPr>
          <a:xfrm flipH="1" rot="10800000">
            <a:off x="6418775" y="3758994"/>
            <a:ext cx="930600" cy="33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65"/>
          <p:cNvCxnSpPr>
            <a:stCxn id="584" idx="3"/>
            <a:endCxn id="588" idx="2"/>
          </p:cNvCxnSpPr>
          <p:nvPr/>
        </p:nvCxnSpPr>
        <p:spPr>
          <a:xfrm>
            <a:off x="6418775" y="5396775"/>
            <a:ext cx="930600" cy="3600"/>
          </a:xfrm>
          <a:prstGeom prst="straightConnector1">
            <a:avLst/>
          </a:prstGeom>
          <a:noFill/>
          <a:ln cap="flat" cmpd="sng" w="9525">
            <a:solidFill>
              <a:schemeClr val="dk2"/>
            </a:solidFill>
            <a:prstDash val="solid"/>
            <a:round/>
            <a:headEnd len="med" w="med" type="none"/>
            <a:tailEnd len="med" w="med" type="none"/>
          </a:ln>
        </p:spPr>
      </p:cxnSp>
      <p:sp>
        <p:nvSpPr>
          <p:cNvPr id="599" name="Google Shape;599;p65"/>
          <p:cNvSpPr txBox="1"/>
          <p:nvPr/>
        </p:nvSpPr>
        <p:spPr>
          <a:xfrm>
            <a:off x="595250" y="2590625"/>
            <a:ext cx="1397700" cy="5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toàn cục 1</a:t>
            </a:r>
            <a:endParaRPr/>
          </a:p>
        </p:txBody>
      </p:sp>
      <p:sp>
        <p:nvSpPr>
          <p:cNvPr id="600" name="Google Shape;600;p65"/>
          <p:cNvSpPr txBox="1"/>
          <p:nvPr/>
        </p:nvSpPr>
        <p:spPr>
          <a:xfrm>
            <a:off x="595250" y="4190825"/>
            <a:ext cx="1397700" cy="58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a:t>
            </a:r>
            <a:r>
              <a:rPr lang="en-GB"/>
              <a:t>toàn cục </a:t>
            </a:r>
            <a:r>
              <a:rPr lang="en-GB"/>
              <a:t>2</a:t>
            </a:r>
            <a:endParaRPr/>
          </a:p>
        </p:txBody>
      </p:sp>
      <p:sp>
        <p:nvSpPr>
          <p:cNvPr id="601" name="Google Shape;601;p65"/>
          <p:cNvSpPr txBox="1"/>
          <p:nvPr/>
        </p:nvSpPr>
        <p:spPr>
          <a:xfrm>
            <a:off x="595250" y="5791025"/>
            <a:ext cx="1397700" cy="58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a:t>
            </a:r>
            <a:r>
              <a:rPr lang="en-GB"/>
              <a:t>toàn cục </a:t>
            </a:r>
            <a:r>
              <a:rPr lang="en-GB"/>
              <a:t>3</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6"/>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CSDL phân tán </a:t>
            </a:r>
            <a:r>
              <a:rPr lang="en-GB"/>
              <a:t>không </a:t>
            </a:r>
            <a:r>
              <a:rPr lang="en-GB"/>
              <a:t>đồng nhất</a:t>
            </a:r>
            <a:endParaRPr/>
          </a:p>
        </p:txBody>
      </p:sp>
      <p:sp>
        <p:nvSpPr>
          <p:cNvPr id="607" name="Google Shape;607;p66"/>
          <p:cNvSpPr txBox="1"/>
          <p:nvPr>
            <p:ph idx="4294967295" type="body"/>
          </p:nvPr>
        </p:nvSpPr>
        <p:spPr>
          <a:xfrm>
            <a:off x="311700" y="813978"/>
            <a:ext cx="8520600" cy="875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Truy cập thông qua </a:t>
            </a:r>
            <a:r>
              <a:rPr lang="en-GB"/>
              <a:t>các DBMS riêng. Có thể có DBMS và lược đồ chung</a:t>
            </a:r>
            <a:endParaRPr/>
          </a:p>
        </p:txBody>
      </p:sp>
      <p:sp>
        <p:nvSpPr>
          <p:cNvPr id="608" name="Google Shape;608;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609" name="Google Shape;609;p66"/>
          <p:cNvPicPr preferRelativeResize="0"/>
          <p:nvPr/>
        </p:nvPicPr>
        <p:blipFill>
          <a:blip r:embed="rId3">
            <a:alphaModFix/>
          </a:blip>
          <a:stretch>
            <a:fillRect/>
          </a:stretch>
        </p:blipFill>
        <p:spPr>
          <a:xfrm>
            <a:off x="1205604" y="1785875"/>
            <a:ext cx="1096654" cy="875556"/>
          </a:xfrm>
          <a:prstGeom prst="rect">
            <a:avLst/>
          </a:prstGeom>
          <a:noFill/>
          <a:ln>
            <a:noFill/>
          </a:ln>
        </p:spPr>
      </p:pic>
      <p:pic>
        <p:nvPicPr>
          <p:cNvPr id="610" name="Google Shape;610;p66"/>
          <p:cNvPicPr preferRelativeResize="0"/>
          <p:nvPr/>
        </p:nvPicPr>
        <p:blipFill>
          <a:blip r:embed="rId3">
            <a:alphaModFix/>
          </a:blip>
          <a:stretch>
            <a:fillRect/>
          </a:stretch>
        </p:blipFill>
        <p:spPr>
          <a:xfrm>
            <a:off x="1205604" y="3365773"/>
            <a:ext cx="1096654" cy="875556"/>
          </a:xfrm>
          <a:prstGeom prst="rect">
            <a:avLst/>
          </a:prstGeom>
          <a:noFill/>
          <a:ln>
            <a:noFill/>
          </a:ln>
        </p:spPr>
      </p:pic>
      <p:pic>
        <p:nvPicPr>
          <p:cNvPr id="611" name="Google Shape;611;p66"/>
          <p:cNvPicPr preferRelativeResize="0"/>
          <p:nvPr/>
        </p:nvPicPr>
        <p:blipFill>
          <a:blip r:embed="rId3">
            <a:alphaModFix/>
          </a:blip>
          <a:stretch>
            <a:fillRect/>
          </a:stretch>
        </p:blipFill>
        <p:spPr>
          <a:xfrm>
            <a:off x="1197820" y="4859349"/>
            <a:ext cx="1096654" cy="875556"/>
          </a:xfrm>
          <a:prstGeom prst="rect">
            <a:avLst/>
          </a:prstGeom>
          <a:noFill/>
          <a:ln>
            <a:noFill/>
          </a:ln>
        </p:spPr>
      </p:pic>
      <p:sp>
        <p:nvSpPr>
          <p:cNvPr id="612" name="Google Shape;612;p66"/>
          <p:cNvSpPr/>
          <p:nvPr/>
        </p:nvSpPr>
        <p:spPr>
          <a:xfrm>
            <a:off x="3082508" y="3318036"/>
            <a:ext cx="1198800" cy="87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DBMS cho CSDL phân tán</a:t>
            </a:r>
            <a:endParaRPr sz="1600"/>
          </a:p>
        </p:txBody>
      </p:sp>
      <p:sp>
        <p:nvSpPr>
          <p:cNvPr id="613" name="Google Shape;613;p66"/>
          <p:cNvSpPr/>
          <p:nvPr/>
        </p:nvSpPr>
        <p:spPr>
          <a:xfrm>
            <a:off x="5566606" y="2022171"/>
            <a:ext cx="1198800" cy="70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 A</a:t>
            </a:r>
            <a:endParaRPr sz="1800"/>
          </a:p>
        </p:txBody>
      </p:sp>
      <p:sp>
        <p:nvSpPr>
          <p:cNvPr id="614" name="Google Shape;614;p66"/>
          <p:cNvSpPr/>
          <p:nvPr/>
        </p:nvSpPr>
        <p:spPr>
          <a:xfrm>
            <a:off x="5566606" y="3405382"/>
            <a:ext cx="1198800" cy="70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 B</a:t>
            </a:r>
            <a:endParaRPr sz="1800"/>
          </a:p>
        </p:txBody>
      </p:sp>
      <p:sp>
        <p:nvSpPr>
          <p:cNvPr id="615" name="Google Shape;615;p66"/>
          <p:cNvSpPr/>
          <p:nvPr/>
        </p:nvSpPr>
        <p:spPr>
          <a:xfrm>
            <a:off x="5566606" y="4923004"/>
            <a:ext cx="1198800" cy="70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DBMS C</a:t>
            </a:r>
            <a:endParaRPr sz="1800"/>
          </a:p>
        </p:txBody>
      </p:sp>
      <p:sp>
        <p:nvSpPr>
          <p:cNvPr id="616" name="Google Shape;616;p66"/>
          <p:cNvSpPr/>
          <p:nvPr/>
        </p:nvSpPr>
        <p:spPr>
          <a:xfrm>
            <a:off x="3172072" y="4526254"/>
            <a:ext cx="1023696" cy="1086118"/>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Lược đồ toàn cục</a:t>
            </a:r>
            <a:endParaRPr sz="1600"/>
          </a:p>
        </p:txBody>
      </p:sp>
      <p:sp>
        <p:nvSpPr>
          <p:cNvPr id="617" name="Google Shape;617;p66"/>
          <p:cNvSpPr/>
          <p:nvPr/>
        </p:nvSpPr>
        <p:spPr>
          <a:xfrm>
            <a:off x="7275679" y="1837677"/>
            <a:ext cx="1023696" cy="1086118"/>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Điểm lưu trữ 1</a:t>
            </a:r>
            <a:endParaRPr sz="1600"/>
          </a:p>
        </p:txBody>
      </p:sp>
      <p:sp>
        <p:nvSpPr>
          <p:cNvPr id="618" name="Google Shape;618;p66"/>
          <p:cNvSpPr/>
          <p:nvPr/>
        </p:nvSpPr>
        <p:spPr>
          <a:xfrm>
            <a:off x="7275679" y="3213795"/>
            <a:ext cx="1023696" cy="1086118"/>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Điểm lưu trữ 2</a:t>
            </a:r>
            <a:endParaRPr sz="1600"/>
          </a:p>
        </p:txBody>
      </p:sp>
      <p:sp>
        <p:nvSpPr>
          <p:cNvPr id="619" name="Google Shape;619;p66"/>
          <p:cNvSpPr/>
          <p:nvPr/>
        </p:nvSpPr>
        <p:spPr>
          <a:xfrm>
            <a:off x="7275679" y="4737818"/>
            <a:ext cx="1023696" cy="1086118"/>
          </a:xfrm>
          <a:prstGeom prst="flowChartMagneticDisk">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t>Điểm lưu trữ 3</a:t>
            </a:r>
            <a:endParaRPr sz="1600"/>
          </a:p>
        </p:txBody>
      </p:sp>
      <p:cxnSp>
        <p:nvCxnSpPr>
          <p:cNvPr id="620" name="Google Shape;620;p66"/>
          <p:cNvCxnSpPr/>
          <p:nvPr/>
        </p:nvCxnSpPr>
        <p:spPr>
          <a:xfrm>
            <a:off x="2298048" y="2163629"/>
            <a:ext cx="774300" cy="13413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66"/>
          <p:cNvCxnSpPr>
            <a:endCxn id="612" idx="1"/>
          </p:cNvCxnSpPr>
          <p:nvPr/>
        </p:nvCxnSpPr>
        <p:spPr>
          <a:xfrm>
            <a:off x="2278208" y="3755736"/>
            <a:ext cx="804300" cy="0"/>
          </a:xfrm>
          <a:prstGeom prst="straightConnector1">
            <a:avLst/>
          </a:prstGeom>
          <a:noFill/>
          <a:ln cap="flat" cmpd="sng" w="9525">
            <a:solidFill>
              <a:schemeClr val="dk2"/>
            </a:solidFill>
            <a:prstDash val="solid"/>
            <a:round/>
            <a:headEnd len="med" w="med" type="none"/>
            <a:tailEnd len="med" w="med" type="none"/>
          </a:ln>
        </p:spPr>
      </p:cxnSp>
      <p:cxnSp>
        <p:nvCxnSpPr>
          <p:cNvPr id="622" name="Google Shape;622;p66"/>
          <p:cNvCxnSpPr/>
          <p:nvPr/>
        </p:nvCxnSpPr>
        <p:spPr>
          <a:xfrm flipH="1" rot="10800000">
            <a:off x="2294032" y="4073184"/>
            <a:ext cx="794100" cy="11754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66"/>
          <p:cNvCxnSpPr>
            <a:stCxn id="612" idx="2"/>
            <a:endCxn id="616" idx="1"/>
          </p:cNvCxnSpPr>
          <p:nvPr/>
        </p:nvCxnSpPr>
        <p:spPr>
          <a:xfrm>
            <a:off x="3681908" y="4193436"/>
            <a:ext cx="2100" cy="332700"/>
          </a:xfrm>
          <a:prstGeom prst="straightConnector1">
            <a:avLst/>
          </a:prstGeom>
          <a:noFill/>
          <a:ln cap="flat" cmpd="sng" w="9525">
            <a:solidFill>
              <a:schemeClr val="dk2"/>
            </a:solidFill>
            <a:prstDash val="solid"/>
            <a:round/>
            <a:headEnd len="med" w="med" type="none"/>
            <a:tailEnd len="med" w="med" type="none"/>
          </a:ln>
        </p:spPr>
      </p:cxnSp>
      <p:cxnSp>
        <p:nvCxnSpPr>
          <p:cNvPr id="624" name="Google Shape;624;p66"/>
          <p:cNvCxnSpPr>
            <a:stCxn id="613" idx="1"/>
          </p:cNvCxnSpPr>
          <p:nvPr/>
        </p:nvCxnSpPr>
        <p:spPr>
          <a:xfrm flipH="1">
            <a:off x="4282006" y="2376621"/>
            <a:ext cx="1284600" cy="1138200"/>
          </a:xfrm>
          <a:prstGeom prst="straightConnector1">
            <a:avLst/>
          </a:prstGeom>
          <a:noFill/>
          <a:ln cap="flat" cmpd="sng" w="9525">
            <a:solidFill>
              <a:schemeClr val="dk2"/>
            </a:solidFill>
            <a:prstDash val="solid"/>
            <a:round/>
            <a:headEnd len="med" w="med" type="none"/>
            <a:tailEnd len="med" w="med" type="none"/>
          </a:ln>
        </p:spPr>
      </p:cxnSp>
      <p:cxnSp>
        <p:nvCxnSpPr>
          <p:cNvPr id="625" name="Google Shape;625;p66"/>
          <p:cNvCxnSpPr>
            <a:stCxn id="612" idx="3"/>
            <a:endCxn id="614" idx="1"/>
          </p:cNvCxnSpPr>
          <p:nvPr/>
        </p:nvCxnSpPr>
        <p:spPr>
          <a:xfrm>
            <a:off x="4281308" y="3755736"/>
            <a:ext cx="1285200" cy="42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66"/>
          <p:cNvCxnSpPr>
            <a:stCxn id="615" idx="1"/>
          </p:cNvCxnSpPr>
          <p:nvPr/>
        </p:nvCxnSpPr>
        <p:spPr>
          <a:xfrm rot="10800000">
            <a:off x="4289806" y="3982054"/>
            <a:ext cx="1276800" cy="12954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66"/>
          <p:cNvCxnSpPr>
            <a:stCxn id="613" idx="3"/>
            <a:endCxn id="617" idx="2"/>
          </p:cNvCxnSpPr>
          <p:nvPr/>
        </p:nvCxnSpPr>
        <p:spPr>
          <a:xfrm>
            <a:off x="6765406" y="2376621"/>
            <a:ext cx="510300" cy="4200"/>
          </a:xfrm>
          <a:prstGeom prst="straightConnector1">
            <a:avLst/>
          </a:prstGeom>
          <a:noFill/>
          <a:ln cap="flat" cmpd="sng" w="9525">
            <a:solidFill>
              <a:schemeClr val="dk2"/>
            </a:solidFill>
            <a:prstDash val="solid"/>
            <a:round/>
            <a:headEnd len="med" w="med" type="none"/>
            <a:tailEnd len="med" w="med" type="none"/>
          </a:ln>
        </p:spPr>
      </p:cxnSp>
      <p:cxnSp>
        <p:nvCxnSpPr>
          <p:cNvPr id="628" name="Google Shape;628;p66"/>
          <p:cNvCxnSpPr>
            <a:stCxn id="614" idx="3"/>
            <a:endCxn id="618" idx="2"/>
          </p:cNvCxnSpPr>
          <p:nvPr/>
        </p:nvCxnSpPr>
        <p:spPr>
          <a:xfrm flipH="1" rot="10800000">
            <a:off x="6765406" y="3756832"/>
            <a:ext cx="510300" cy="3000"/>
          </a:xfrm>
          <a:prstGeom prst="straightConnector1">
            <a:avLst/>
          </a:prstGeom>
          <a:noFill/>
          <a:ln cap="flat" cmpd="sng" w="9525">
            <a:solidFill>
              <a:schemeClr val="dk2"/>
            </a:solidFill>
            <a:prstDash val="solid"/>
            <a:round/>
            <a:headEnd len="med" w="med" type="none"/>
            <a:tailEnd len="med" w="med" type="none"/>
          </a:ln>
        </p:spPr>
      </p:cxnSp>
      <p:cxnSp>
        <p:nvCxnSpPr>
          <p:cNvPr id="629" name="Google Shape;629;p66"/>
          <p:cNvCxnSpPr>
            <a:stCxn id="615" idx="3"/>
            <a:endCxn id="619" idx="2"/>
          </p:cNvCxnSpPr>
          <p:nvPr/>
        </p:nvCxnSpPr>
        <p:spPr>
          <a:xfrm>
            <a:off x="6765406" y="5277454"/>
            <a:ext cx="510300" cy="3300"/>
          </a:xfrm>
          <a:prstGeom prst="straightConnector1">
            <a:avLst/>
          </a:prstGeom>
          <a:noFill/>
          <a:ln cap="flat" cmpd="sng" w="9525">
            <a:solidFill>
              <a:schemeClr val="dk2"/>
            </a:solidFill>
            <a:prstDash val="solid"/>
            <a:round/>
            <a:headEnd len="med" w="med" type="none"/>
            <a:tailEnd len="med" w="med" type="none"/>
          </a:ln>
        </p:spPr>
      </p:cxnSp>
      <p:sp>
        <p:nvSpPr>
          <p:cNvPr id="630" name="Google Shape;630;p66"/>
          <p:cNvSpPr txBox="1"/>
          <p:nvPr/>
        </p:nvSpPr>
        <p:spPr>
          <a:xfrm>
            <a:off x="1004575" y="2671938"/>
            <a:ext cx="1297800" cy="48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toàn cục 1</a:t>
            </a:r>
            <a:endParaRPr/>
          </a:p>
        </p:txBody>
      </p:sp>
      <p:sp>
        <p:nvSpPr>
          <p:cNvPr id="631" name="Google Shape;631;p66"/>
          <p:cNvSpPr txBox="1"/>
          <p:nvPr/>
        </p:nvSpPr>
        <p:spPr>
          <a:xfrm>
            <a:off x="1004575" y="4157731"/>
            <a:ext cx="12978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toàn cục 2</a:t>
            </a:r>
            <a:endParaRPr/>
          </a:p>
        </p:txBody>
      </p:sp>
      <p:sp>
        <p:nvSpPr>
          <p:cNvPr id="632" name="Google Shape;632;p66"/>
          <p:cNvSpPr txBox="1"/>
          <p:nvPr/>
        </p:nvSpPr>
        <p:spPr>
          <a:xfrm>
            <a:off x="1004575" y="5643523"/>
            <a:ext cx="12978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toàn cục 3</a:t>
            </a:r>
            <a:endParaRPr/>
          </a:p>
        </p:txBody>
      </p:sp>
      <p:pic>
        <p:nvPicPr>
          <p:cNvPr id="633" name="Google Shape;633;p66"/>
          <p:cNvPicPr preferRelativeResize="0"/>
          <p:nvPr/>
        </p:nvPicPr>
        <p:blipFill>
          <a:blip r:embed="rId3">
            <a:alphaModFix/>
          </a:blip>
          <a:stretch>
            <a:fillRect/>
          </a:stretch>
        </p:blipFill>
        <p:spPr>
          <a:xfrm>
            <a:off x="3272976" y="1785875"/>
            <a:ext cx="1096654" cy="875556"/>
          </a:xfrm>
          <a:prstGeom prst="rect">
            <a:avLst/>
          </a:prstGeom>
          <a:noFill/>
          <a:ln>
            <a:noFill/>
          </a:ln>
        </p:spPr>
      </p:pic>
      <p:sp>
        <p:nvSpPr>
          <p:cNvPr id="634" name="Google Shape;634;p66"/>
          <p:cNvSpPr txBox="1"/>
          <p:nvPr/>
        </p:nvSpPr>
        <p:spPr>
          <a:xfrm>
            <a:off x="3056378" y="2671938"/>
            <a:ext cx="1297800" cy="48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a:t>
            </a:r>
            <a:r>
              <a:rPr lang="en-GB"/>
              <a:t>địa phương</a:t>
            </a:r>
            <a:r>
              <a:rPr lang="en-GB"/>
              <a:t> 1</a:t>
            </a:r>
            <a:endParaRPr/>
          </a:p>
        </p:txBody>
      </p:sp>
      <p:pic>
        <p:nvPicPr>
          <p:cNvPr id="635" name="Google Shape;635;p66"/>
          <p:cNvPicPr preferRelativeResize="0"/>
          <p:nvPr/>
        </p:nvPicPr>
        <p:blipFill>
          <a:blip r:embed="rId3">
            <a:alphaModFix/>
          </a:blip>
          <a:stretch>
            <a:fillRect/>
          </a:stretch>
        </p:blipFill>
        <p:spPr>
          <a:xfrm>
            <a:off x="4255718" y="5323476"/>
            <a:ext cx="1096654" cy="875556"/>
          </a:xfrm>
          <a:prstGeom prst="rect">
            <a:avLst/>
          </a:prstGeom>
          <a:noFill/>
          <a:ln>
            <a:noFill/>
          </a:ln>
        </p:spPr>
      </p:pic>
      <p:sp>
        <p:nvSpPr>
          <p:cNvPr id="636" name="Google Shape;636;p66"/>
          <p:cNvSpPr txBox="1"/>
          <p:nvPr/>
        </p:nvSpPr>
        <p:spPr>
          <a:xfrm>
            <a:off x="4054689" y="6209539"/>
            <a:ext cx="1297800" cy="48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Máy khách địa phương 2</a:t>
            </a:r>
            <a:endParaRPr/>
          </a:p>
        </p:txBody>
      </p:sp>
      <p:cxnSp>
        <p:nvCxnSpPr>
          <p:cNvPr id="637" name="Google Shape;637;p66"/>
          <p:cNvCxnSpPr/>
          <p:nvPr/>
        </p:nvCxnSpPr>
        <p:spPr>
          <a:xfrm rot="10800000">
            <a:off x="4367482" y="2175720"/>
            <a:ext cx="1191000" cy="39000"/>
          </a:xfrm>
          <a:prstGeom prst="straightConnector1">
            <a:avLst/>
          </a:prstGeom>
          <a:noFill/>
          <a:ln cap="flat" cmpd="sng" w="9525">
            <a:solidFill>
              <a:schemeClr val="dk2"/>
            </a:solidFill>
            <a:prstDash val="solid"/>
            <a:round/>
            <a:headEnd len="med" w="med" type="none"/>
            <a:tailEnd len="med" w="med" type="none"/>
          </a:ln>
        </p:spPr>
      </p:cxnSp>
      <p:cxnSp>
        <p:nvCxnSpPr>
          <p:cNvPr id="638" name="Google Shape;638;p66"/>
          <p:cNvCxnSpPr/>
          <p:nvPr/>
        </p:nvCxnSpPr>
        <p:spPr>
          <a:xfrm flipH="1">
            <a:off x="5340682" y="5460840"/>
            <a:ext cx="217800" cy="241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44" name="Google Shape;644;p67"/>
          <p:cNvSpPr txBox="1"/>
          <p:nvPr>
            <p:ph idx="4294967295" type="title"/>
          </p:nvPr>
        </p:nvSpPr>
        <p:spPr>
          <a:xfrm>
            <a:off x="243125" y="186975"/>
            <a:ext cx="8589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cách triển khai</a:t>
            </a:r>
            <a:endParaRPr/>
          </a:p>
        </p:txBody>
      </p:sp>
      <p:sp>
        <p:nvSpPr>
          <p:cNvPr id="645" name="Google Shape;645;p67"/>
          <p:cNvSpPr txBox="1"/>
          <p:nvPr>
            <p:ph idx="4294967295" type="body"/>
          </p:nvPr>
        </p:nvSpPr>
        <p:spPr>
          <a:xfrm>
            <a:off x="159300" y="950475"/>
            <a:ext cx="8861700" cy="51414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Lặp dữ liệu - Mỗi điểm lưu trữ có 1 bản sao</a:t>
            </a:r>
            <a:endParaRPr/>
          </a:p>
          <a:p>
            <a:pPr indent="-368300" lvl="1" marL="914400" rtl="0" algn="just">
              <a:spcBef>
                <a:spcPts val="0"/>
              </a:spcBef>
              <a:spcAft>
                <a:spcPts val="0"/>
              </a:spcAft>
              <a:buSzPts val="2200"/>
              <a:buChar char="○"/>
            </a:pPr>
            <a:r>
              <a:rPr lang="en-GB"/>
              <a:t>Đồng bộ: Cập nhật tất cả các bản ghi khi thay đổi 1 bản ghi bất kỳ.</a:t>
            </a:r>
            <a:endParaRPr/>
          </a:p>
          <a:p>
            <a:pPr indent="-381000" lvl="0" marL="457200" rtl="0" algn="just">
              <a:spcBef>
                <a:spcPts val="0"/>
              </a:spcBef>
              <a:spcAft>
                <a:spcPts val="0"/>
              </a:spcAft>
              <a:buSzPts val="2400"/>
              <a:buChar char="●"/>
            </a:pPr>
            <a:r>
              <a:rPr lang="en-GB"/>
              <a:t>Phân mảnh theo chiều ngang - Mỗi điểm chứa 1 nhóm dòng</a:t>
            </a:r>
            <a:endParaRPr/>
          </a:p>
        </p:txBody>
      </p:sp>
      <p:pic>
        <p:nvPicPr>
          <p:cNvPr descr="A table shows people's contact and account details. A few rows are classfied as U S accounts and the other rows are classified as Hong Kong accounts. " id="646" name="Google Shape;646;p67"/>
          <p:cNvPicPr preferRelativeResize="0"/>
          <p:nvPr/>
        </p:nvPicPr>
        <p:blipFill rotWithShape="1">
          <a:blip r:embed="rId3">
            <a:alphaModFix/>
          </a:blip>
          <a:srcRect b="0" l="0" r="0" t="0"/>
          <a:stretch/>
        </p:blipFill>
        <p:spPr>
          <a:xfrm>
            <a:off x="391054" y="2772867"/>
            <a:ext cx="8592600" cy="21249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52" name="Google Shape;652;p68"/>
          <p:cNvSpPr txBox="1"/>
          <p:nvPr>
            <p:ph idx="4294967295" type="title"/>
          </p:nvPr>
        </p:nvSpPr>
        <p:spPr>
          <a:xfrm>
            <a:off x="243125" y="186975"/>
            <a:ext cx="8589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cách triển khai</a:t>
            </a:r>
            <a:r>
              <a:rPr baseline="-25000" lang="en-GB"/>
              <a:t>(2)</a:t>
            </a:r>
            <a:endParaRPr baseline="-25000"/>
          </a:p>
        </p:txBody>
      </p:sp>
      <p:sp>
        <p:nvSpPr>
          <p:cNvPr id="653" name="Google Shape;653;p68"/>
          <p:cNvSpPr txBox="1"/>
          <p:nvPr>
            <p:ph idx="4294967295" type="body"/>
          </p:nvPr>
        </p:nvSpPr>
        <p:spPr>
          <a:xfrm>
            <a:off x="159300" y="950475"/>
            <a:ext cx="8861700" cy="51414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Phân mảnh theo chiều dọc - Mỗi điểm lưu 1 nhóm cột</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381000" lvl="0" marL="457200" rtl="0" algn="just">
              <a:spcBef>
                <a:spcPts val="0"/>
              </a:spcBef>
              <a:spcAft>
                <a:spcPts val="0"/>
              </a:spcAft>
              <a:buSzPts val="2400"/>
              <a:buChar char="●"/>
            </a:pPr>
            <a:r>
              <a:rPr lang="en-GB"/>
              <a:t>Kết hợp lặp, phân mảnh theo chiều ngang và phân mảnh theo chiều dọc</a:t>
            </a:r>
            <a:endParaRPr/>
          </a:p>
        </p:txBody>
      </p:sp>
      <p:pic>
        <p:nvPicPr>
          <p:cNvPr descr="A table with data is shown. Two sets of columns are classified as U S partition. ANother set of column is clasified as Japanese partition." id="654" name="Google Shape;654;p68"/>
          <p:cNvPicPr preferRelativeResize="0"/>
          <p:nvPr/>
        </p:nvPicPr>
        <p:blipFill rotWithShape="1">
          <a:blip r:embed="rId3">
            <a:alphaModFix/>
          </a:blip>
          <a:srcRect b="0" l="0" r="0" t="0"/>
          <a:stretch/>
        </p:blipFill>
        <p:spPr>
          <a:xfrm>
            <a:off x="1069666" y="1495035"/>
            <a:ext cx="7167900" cy="27894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60" name="Google Shape;660;p69"/>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Bảo vệ CSDL</a:t>
            </a:r>
            <a:endParaRPr/>
          </a:p>
        </p:txBody>
      </p:sp>
      <p:sp>
        <p:nvSpPr>
          <p:cNvPr id="661" name="Google Shape;661;p69"/>
          <p:cNvSpPr txBox="1"/>
          <p:nvPr>
            <p:ph idx="4294967295" type="body"/>
          </p:nvPr>
        </p:nvSpPr>
        <p:spPr>
          <a:xfrm>
            <a:off x="311700" y="950475"/>
            <a:ext cx="8520600" cy="53838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Lịch sử giao dịch: Kỹ thuật lưu lại tất cả các cập nhật</a:t>
            </a:r>
            <a:endParaRPr/>
          </a:p>
          <a:p>
            <a:pPr indent="-368300" lvl="1" marL="914400" rtl="0" algn="just">
              <a:spcBef>
                <a:spcPts val="0"/>
              </a:spcBef>
              <a:spcAft>
                <a:spcPts val="0"/>
              </a:spcAft>
              <a:buSzPts val="2200"/>
              <a:buChar char="○"/>
            </a:pPr>
            <a:r>
              <a:rPr lang="en-GB"/>
              <a:t>Giúp ngăn chặn gian lận</a:t>
            </a:r>
            <a:endParaRPr/>
          </a:p>
          <a:p>
            <a:pPr indent="-368300" lvl="1" marL="914400" rtl="0" algn="just">
              <a:spcBef>
                <a:spcPts val="0"/>
              </a:spcBef>
              <a:spcAft>
                <a:spcPts val="0"/>
              </a:spcAft>
              <a:buSzPts val="2200"/>
              <a:buChar char="○"/>
            </a:pPr>
            <a:r>
              <a:rPr lang="en-GB"/>
              <a:t>Khôi phục sau sự cố</a:t>
            </a:r>
            <a:endParaRPr/>
          </a:p>
          <a:p>
            <a:pPr indent="-381000" lvl="0" marL="457200" rtl="0" algn="just">
              <a:spcBef>
                <a:spcPts val="0"/>
              </a:spcBef>
              <a:spcAft>
                <a:spcPts val="0"/>
              </a:spcAft>
              <a:buSzPts val="2400"/>
              <a:buChar char="●"/>
            </a:pPr>
            <a:r>
              <a:rPr lang="en-GB"/>
              <a:t>Kiểm soát xung đột và cập nhật</a:t>
            </a:r>
            <a:endParaRPr/>
          </a:p>
          <a:p>
            <a:pPr indent="-368300" lvl="1" marL="914400" rtl="0" algn="just">
              <a:spcBef>
                <a:spcPts val="0"/>
              </a:spcBef>
              <a:spcAft>
                <a:spcPts val="0"/>
              </a:spcAft>
              <a:buSzPts val="2200"/>
              <a:buChar char="○"/>
            </a:pPr>
            <a:r>
              <a:rPr lang="en-GB"/>
              <a:t>Giao dịch - 1 phần công việc bao gồm nhiều bước, trong đó hoặc tất cả các bước cùng hoàn thành hoặc không chấp nhận kết quả của bước nào.</a:t>
            </a:r>
            <a:endParaRPr/>
          </a:p>
          <a:p>
            <a:pPr indent="-368300" lvl="1" marL="914400" rtl="0" algn="just">
              <a:spcBef>
                <a:spcPts val="0"/>
              </a:spcBef>
              <a:spcAft>
                <a:spcPts val="0"/>
              </a:spcAft>
              <a:buSzPts val="2200"/>
              <a:buChar char="○"/>
            </a:pPr>
            <a:r>
              <a:rPr lang="en-GB"/>
              <a:t>Khóa CSDL - kỹ thuật kiểm soát truy cập (1 phần) CSDL.</a:t>
            </a:r>
            <a:endParaRPr/>
          </a:p>
          <a:p>
            <a:pPr indent="-368300" lvl="1" marL="914400" rtl="0" algn="just">
              <a:spcBef>
                <a:spcPts val="0"/>
              </a:spcBef>
              <a:spcAft>
                <a:spcPts val="0"/>
              </a:spcAft>
              <a:buSzPts val="2200"/>
              <a:buChar char="○"/>
            </a:pPr>
            <a:r>
              <a:rPr lang="en-GB"/>
              <a:t>Khóa dùng chung / khóa đọc - Cho phép nhiều người dùng cùng đọc dữ liệu.</a:t>
            </a:r>
            <a:endParaRPr/>
          </a:p>
          <a:p>
            <a:pPr indent="-368300" lvl="1" marL="914400" rtl="0" algn="just">
              <a:spcBef>
                <a:spcPts val="0"/>
              </a:spcBef>
              <a:spcAft>
                <a:spcPts val="0"/>
              </a:spcAft>
              <a:buSzPts val="2200"/>
              <a:buChar char="○"/>
            </a:pPr>
            <a:r>
              <a:rPr lang="en-GB"/>
              <a:t>Khóa loại trừ / khóa ghi - Chỉ 1 người dùng có thể truy cập phần CSDL bị khóa.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thiết kế tầng quản lý dữ liệu</a:t>
            </a:r>
            <a:endParaRPr/>
          </a:p>
        </p:txBody>
      </p:sp>
      <p:sp>
        <p:nvSpPr>
          <p:cNvPr id="667" name="Google Shape;667;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68" name="Google Shape;668;p70"/>
          <p:cNvSpPr txBox="1"/>
          <p:nvPr/>
        </p:nvSpPr>
        <p:spPr>
          <a:xfrm>
            <a:off x="3327925" y="5217650"/>
            <a:ext cx="5193900" cy="10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Thiết kế CSDL và </a:t>
            </a:r>
            <a:r>
              <a:rPr i="1" lang="en-GB" sz="1800">
                <a:solidFill>
                  <a:schemeClr val="dk1"/>
                </a:solidFill>
              </a:rPr>
              <a:t>tầng quản lý dữ liệu cho cấu trúc như trong hình vẽ, tự bổ xung các chi tiết còn thiếu</a:t>
            </a:r>
            <a:r>
              <a:rPr i="1" lang="en-GB" sz="1800"/>
              <a:t>.</a:t>
            </a:r>
            <a:endParaRPr i="1" sz="1800"/>
          </a:p>
        </p:txBody>
      </p:sp>
      <p:sp>
        <p:nvSpPr>
          <p:cNvPr id="669" name="Google Shape;669;p70"/>
          <p:cNvSpPr/>
          <p:nvPr/>
        </p:nvSpPr>
        <p:spPr>
          <a:xfrm>
            <a:off x="4357400" y="883300"/>
            <a:ext cx="14307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CartItem</a:t>
            </a:r>
            <a:endParaRPr/>
          </a:p>
        </p:txBody>
      </p:sp>
      <p:sp>
        <p:nvSpPr>
          <p:cNvPr id="670" name="Google Shape;670;p70"/>
          <p:cNvSpPr/>
          <p:nvPr/>
        </p:nvSpPr>
        <p:spPr>
          <a:xfrm>
            <a:off x="4357400" y="1182250"/>
            <a:ext cx="1430700" cy="52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quantity</a:t>
            </a:r>
            <a:endParaRPr/>
          </a:p>
          <a:p>
            <a:pPr indent="0" lvl="0" marL="0" rtl="0" algn="l">
              <a:spcBef>
                <a:spcPts val="0"/>
              </a:spcBef>
              <a:spcAft>
                <a:spcPts val="0"/>
              </a:spcAft>
              <a:buNone/>
            </a:pPr>
            <a:r>
              <a:rPr lang="en-GB"/>
              <a:t>current_price</a:t>
            </a:r>
            <a:endParaRPr/>
          </a:p>
        </p:txBody>
      </p:sp>
      <p:sp>
        <p:nvSpPr>
          <p:cNvPr id="671" name="Google Shape;671;p70"/>
          <p:cNvSpPr/>
          <p:nvPr/>
        </p:nvSpPr>
        <p:spPr>
          <a:xfrm>
            <a:off x="4357400" y="2264223"/>
            <a:ext cx="14307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OnlineCart</a:t>
            </a:r>
            <a:endParaRPr/>
          </a:p>
        </p:txBody>
      </p:sp>
      <p:sp>
        <p:nvSpPr>
          <p:cNvPr id="672" name="Google Shape;672;p70"/>
          <p:cNvSpPr/>
          <p:nvPr/>
        </p:nvSpPr>
        <p:spPr>
          <a:xfrm>
            <a:off x="4357400" y="2563173"/>
            <a:ext cx="1430700" cy="964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start_date_time</a:t>
            </a:r>
            <a:endParaRPr/>
          </a:p>
          <a:p>
            <a:pPr indent="0" lvl="0" marL="0" rtl="0" algn="l">
              <a:spcBef>
                <a:spcPts val="0"/>
              </a:spcBef>
              <a:spcAft>
                <a:spcPts val="0"/>
              </a:spcAft>
              <a:buNone/>
            </a:pPr>
            <a:r>
              <a:rPr lang="en-GB"/>
              <a:t>no_of_items</a:t>
            </a:r>
            <a:endParaRPr/>
          </a:p>
          <a:p>
            <a:pPr indent="0" lvl="0" marL="0" rtl="0" algn="l">
              <a:spcBef>
                <a:spcPts val="0"/>
              </a:spcBef>
              <a:spcAft>
                <a:spcPts val="0"/>
              </a:spcAft>
              <a:buNone/>
            </a:pPr>
            <a:r>
              <a:rPr lang="en-GB"/>
              <a:t>value_of_items</a:t>
            </a:r>
            <a:endParaRPr/>
          </a:p>
          <a:p>
            <a:pPr indent="0" lvl="0" marL="0" rtl="0" algn="l">
              <a:spcBef>
                <a:spcPts val="0"/>
              </a:spcBef>
              <a:spcAft>
                <a:spcPts val="0"/>
              </a:spcAft>
              <a:buNone/>
            </a:pPr>
            <a:r>
              <a:rPr lang="en-GB"/>
              <a:t>status</a:t>
            </a:r>
            <a:endParaRPr/>
          </a:p>
        </p:txBody>
      </p:sp>
      <p:sp>
        <p:nvSpPr>
          <p:cNvPr id="673" name="Google Shape;673;p70"/>
          <p:cNvSpPr/>
          <p:nvPr/>
        </p:nvSpPr>
        <p:spPr>
          <a:xfrm>
            <a:off x="3366800" y="4192550"/>
            <a:ext cx="14307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Active</a:t>
            </a:r>
            <a:r>
              <a:rPr lang="en-GB"/>
              <a:t>Cart</a:t>
            </a:r>
            <a:endParaRPr/>
          </a:p>
        </p:txBody>
      </p:sp>
      <p:sp>
        <p:nvSpPr>
          <p:cNvPr id="674" name="Google Shape;674;p70"/>
          <p:cNvSpPr/>
          <p:nvPr/>
        </p:nvSpPr>
        <p:spPr>
          <a:xfrm>
            <a:off x="3366800" y="4491500"/>
            <a:ext cx="1430700" cy="427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elapsed_time</a:t>
            </a:r>
            <a:endParaRPr/>
          </a:p>
        </p:txBody>
      </p:sp>
      <p:sp>
        <p:nvSpPr>
          <p:cNvPr id="675" name="Google Shape;675;p70"/>
          <p:cNvSpPr/>
          <p:nvPr/>
        </p:nvSpPr>
        <p:spPr>
          <a:xfrm>
            <a:off x="5348000" y="4192550"/>
            <a:ext cx="14307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OnReserveCart</a:t>
            </a:r>
            <a:endParaRPr/>
          </a:p>
        </p:txBody>
      </p:sp>
      <p:sp>
        <p:nvSpPr>
          <p:cNvPr id="676" name="Google Shape;676;p70"/>
          <p:cNvSpPr/>
          <p:nvPr/>
        </p:nvSpPr>
        <p:spPr>
          <a:xfrm>
            <a:off x="5348000" y="4491500"/>
            <a:ext cx="1430700" cy="427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hold_for_days</a:t>
            </a:r>
            <a:endParaRPr/>
          </a:p>
        </p:txBody>
      </p:sp>
      <p:sp>
        <p:nvSpPr>
          <p:cNvPr id="677" name="Google Shape;677;p70"/>
          <p:cNvSpPr/>
          <p:nvPr/>
        </p:nvSpPr>
        <p:spPr>
          <a:xfrm>
            <a:off x="1212975" y="4539325"/>
            <a:ext cx="14307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Customer</a:t>
            </a:r>
            <a:endParaRPr/>
          </a:p>
        </p:txBody>
      </p:sp>
      <p:sp>
        <p:nvSpPr>
          <p:cNvPr id="678" name="Google Shape;678;p70"/>
          <p:cNvSpPr/>
          <p:nvPr/>
        </p:nvSpPr>
        <p:spPr>
          <a:xfrm>
            <a:off x="1212975" y="4838275"/>
            <a:ext cx="1430700" cy="1231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name</a:t>
            </a:r>
            <a:endParaRPr/>
          </a:p>
          <a:p>
            <a:pPr indent="0" lvl="0" marL="0" rtl="0" algn="l">
              <a:spcBef>
                <a:spcPts val="0"/>
              </a:spcBef>
              <a:spcAft>
                <a:spcPts val="0"/>
              </a:spcAft>
              <a:buNone/>
            </a:pPr>
            <a:r>
              <a:rPr lang="en-GB"/>
              <a:t>mobile_phone</a:t>
            </a:r>
            <a:endParaRPr/>
          </a:p>
          <a:p>
            <a:pPr indent="0" lvl="0" marL="0" rtl="0" algn="l">
              <a:spcBef>
                <a:spcPts val="0"/>
              </a:spcBef>
              <a:spcAft>
                <a:spcPts val="0"/>
              </a:spcAft>
              <a:buNone/>
            </a:pPr>
            <a:r>
              <a:rPr lang="en-GB"/>
              <a:t>home_phone</a:t>
            </a:r>
            <a:endParaRPr/>
          </a:p>
          <a:p>
            <a:pPr indent="0" lvl="0" marL="0" rtl="0" algn="l">
              <a:spcBef>
                <a:spcPts val="0"/>
              </a:spcBef>
              <a:spcAft>
                <a:spcPts val="0"/>
              </a:spcAft>
              <a:buNone/>
            </a:pPr>
            <a:r>
              <a:rPr lang="en-GB"/>
              <a:t>email_address</a:t>
            </a:r>
            <a:endParaRPr/>
          </a:p>
          <a:p>
            <a:pPr indent="0" lvl="0" marL="0" rtl="0" algn="l">
              <a:spcBef>
                <a:spcPts val="0"/>
              </a:spcBef>
              <a:spcAft>
                <a:spcPts val="0"/>
              </a:spcAft>
              <a:buNone/>
            </a:pPr>
            <a:r>
              <a:rPr lang="en-GB"/>
              <a:t>status</a:t>
            </a:r>
            <a:endParaRPr/>
          </a:p>
        </p:txBody>
      </p:sp>
      <p:cxnSp>
        <p:nvCxnSpPr>
          <p:cNvPr id="679" name="Google Shape;679;p70"/>
          <p:cNvCxnSpPr>
            <a:stCxn id="677" idx="0"/>
            <a:endCxn id="672" idx="1"/>
          </p:cNvCxnSpPr>
          <p:nvPr/>
        </p:nvCxnSpPr>
        <p:spPr>
          <a:xfrm rot="-5400000">
            <a:off x="2395875" y="2577775"/>
            <a:ext cx="1494000" cy="2429100"/>
          </a:xfrm>
          <a:prstGeom prst="bentConnector2">
            <a:avLst/>
          </a:prstGeom>
          <a:noFill/>
          <a:ln cap="flat" cmpd="sng" w="9525">
            <a:solidFill>
              <a:schemeClr val="dk2"/>
            </a:solidFill>
            <a:prstDash val="solid"/>
            <a:round/>
            <a:headEnd len="med" w="med" type="none"/>
            <a:tailEnd len="med" w="med" type="none"/>
          </a:ln>
        </p:spPr>
      </p:cxnSp>
      <p:cxnSp>
        <p:nvCxnSpPr>
          <p:cNvPr id="680" name="Google Shape;680;p70"/>
          <p:cNvCxnSpPr>
            <a:stCxn id="670" idx="2"/>
            <a:endCxn id="671" idx="0"/>
          </p:cNvCxnSpPr>
          <p:nvPr/>
        </p:nvCxnSpPr>
        <p:spPr>
          <a:xfrm>
            <a:off x="5072750" y="1706950"/>
            <a:ext cx="0" cy="557400"/>
          </a:xfrm>
          <a:prstGeom prst="straightConnector1">
            <a:avLst/>
          </a:prstGeom>
          <a:noFill/>
          <a:ln cap="flat" cmpd="sng" w="9525">
            <a:solidFill>
              <a:schemeClr val="dk2"/>
            </a:solidFill>
            <a:prstDash val="solid"/>
            <a:round/>
            <a:headEnd len="med" w="med" type="none"/>
            <a:tailEnd len="med" w="med" type="none"/>
          </a:ln>
        </p:spPr>
      </p:cxnSp>
      <p:sp>
        <p:nvSpPr>
          <p:cNvPr id="681" name="Google Shape;681;p70"/>
          <p:cNvSpPr/>
          <p:nvPr/>
        </p:nvSpPr>
        <p:spPr>
          <a:xfrm>
            <a:off x="4979426" y="3542526"/>
            <a:ext cx="210000" cy="1476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2" name="Google Shape;682;p70"/>
          <p:cNvCxnSpPr>
            <a:stCxn id="673" idx="0"/>
            <a:endCxn id="681" idx="3"/>
          </p:cNvCxnSpPr>
          <p:nvPr/>
        </p:nvCxnSpPr>
        <p:spPr>
          <a:xfrm rot="-5400000">
            <a:off x="4332050" y="3440150"/>
            <a:ext cx="502500" cy="1002300"/>
          </a:xfrm>
          <a:prstGeom prst="bentConnector3">
            <a:avLst>
              <a:gd fmla="val 49992" name="adj1"/>
            </a:avLst>
          </a:prstGeom>
          <a:noFill/>
          <a:ln cap="flat" cmpd="sng" w="9525">
            <a:solidFill>
              <a:schemeClr val="dk2"/>
            </a:solidFill>
            <a:prstDash val="solid"/>
            <a:round/>
            <a:headEnd len="med" w="med" type="none"/>
            <a:tailEnd len="med" w="med" type="none"/>
          </a:ln>
        </p:spPr>
      </p:cxnSp>
      <p:cxnSp>
        <p:nvCxnSpPr>
          <p:cNvPr id="683" name="Google Shape;683;p70"/>
          <p:cNvCxnSpPr>
            <a:stCxn id="675" idx="0"/>
            <a:endCxn id="681" idx="3"/>
          </p:cNvCxnSpPr>
          <p:nvPr/>
        </p:nvCxnSpPr>
        <p:spPr>
          <a:xfrm flipH="1" rot="5400000">
            <a:off x="5322650" y="3451850"/>
            <a:ext cx="502500" cy="978900"/>
          </a:xfrm>
          <a:prstGeom prst="bentConnector3">
            <a:avLst>
              <a:gd fmla="val 49992" name="adj1"/>
            </a:avLst>
          </a:prstGeom>
          <a:noFill/>
          <a:ln cap="flat" cmpd="sng" w="9525">
            <a:solidFill>
              <a:schemeClr val="dk2"/>
            </a:solidFill>
            <a:prstDash val="solid"/>
            <a:round/>
            <a:headEnd len="med" w="med" type="none"/>
            <a:tailEnd len="med" w="med" type="none"/>
          </a:ln>
        </p:spPr>
      </p:cxnSp>
      <p:sp>
        <p:nvSpPr>
          <p:cNvPr id="684" name="Google Shape;684;p70"/>
          <p:cNvSpPr txBox="1"/>
          <p:nvPr/>
        </p:nvSpPr>
        <p:spPr>
          <a:xfrm>
            <a:off x="1651501" y="4236073"/>
            <a:ext cx="3576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
        <p:nvSpPr>
          <p:cNvPr id="685" name="Google Shape;685;p70"/>
          <p:cNvSpPr txBox="1"/>
          <p:nvPr/>
        </p:nvSpPr>
        <p:spPr>
          <a:xfrm>
            <a:off x="3766625" y="2746300"/>
            <a:ext cx="548700" cy="307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a:t>0..2</a:t>
            </a:r>
            <a:endParaRPr/>
          </a:p>
        </p:txBody>
      </p:sp>
      <p:sp>
        <p:nvSpPr>
          <p:cNvPr id="686" name="Google Shape;686;p70"/>
          <p:cNvSpPr txBox="1"/>
          <p:nvPr/>
        </p:nvSpPr>
        <p:spPr>
          <a:xfrm>
            <a:off x="4559727" y="1632847"/>
            <a:ext cx="548700" cy="307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a:t>1</a:t>
            </a:r>
            <a:r>
              <a:rPr lang="en-GB"/>
              <a:t>..*</a:t>
            </a:r>
            <a:endParaRPr/>
          </a:p>
        </p:txBody>
      </p:sp>
      <p:sp>
        <p:nvSpPr>
          <p:cNvPr id="687" name="Google Shape;687;p70"/>
          <p:cNvSpPr txBox="1"/>
          <p:nvPr/>
        </p:nvSpPr>
        <p:spPr>
          <a:xfrm>
            <a:off x="4645100" y="1937650"/>
            <a:ext cx="463200" cy="307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a:t>1</a:t>
            </a:r>
            <a:endParaRPr/>
          </a:p>
        </p:txBody>
      </p:sp>
      <p:sp>
        <p:nvSpPr>
          <p:cNvPr id="688" name="Google Shape;688;p70"/>
          <p:cNvSpPr/>
          <p:nvPr/>
        </p:nvSpPr>
        <p:spPr>
          <a:xfrm flipH="1">
            <a:off x="7042475" y="2669050"/>
            <a:ext cx="1693500" cy="1006200"/>
          </a:xfrm>
          <a:prstGeom prst="foldedCorner">
            <a:avLst>
              <a:gd fmla="val 16667" name="adj"/>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i="1" lang="en-GB" sz="1200"/>
              <a:t>Khách hàng g</a:t>
            </a:r>
            <a:r>
              <a:rPr i="1" lang="en-GB" sz="1200"/>
              <a:t>i</a:t>
            </a:r>
            <a:r>
              <a:rPr i="1" lang="en-GB" sz="1200"/>
              <a:t>ữ sản phẩm được ưu tiên mua trước, có thể giữ sản phẩm nhiều ngày</a:t>
            </a:r>
            <a:endParaRPr i="1" sz="1200"/>
          </a:p>
        </p:txBody>
      </p:sp>
      <p:cxnSp>
        <p:nvCxnSpPr>
          <p:cNvPr id="689" name="Google Shape;689;p70"/>
          <p:cNvCxnSpPr/>
          <p:nvPr/>
        </p:nvCxnSpPr>
        <p:spPr>
          <a:xfrm flipH="1" rot="10800000">
            <a:off x="6430425" y="3579825"/>
            <a:ext cx="704400" cy="6708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95" name="Google Shape;695;p71"/>
          <p:cNvSpPr/>
          <p:nvPr/>
        </p:nvSpPr>
        <p:spPr>
          <a:xfrm>
            <a:off x="4281200" y="2111825"/>
            <a:ext cx="1430700" cy="37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OnlineCart</a:t>
            </a:r>
            <a:endParaRPr/>
          </a:p>
        </p:txBody>
      </p:sp>
      <p:sp>
        <p:nvSpPr>
          <p:cNvPr id="696" name="Google Shape;696;p71"/>
          <p:cNvSpPr/>
          <p:nvPr/>
        </p:nvSpPr>
        <p:spPr>
          <a:xfrm>
            <a:off x="4281200" y="2472798"/>
            <a:ext cx="1430700" cy="1387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id</a:t>
            </a:r>
            <a:r>
              <a:rPr lang="en-GB"/>
              <a:t> &lt;&lt;PK&gt;&gt;</a:t>
            </a:r>
            <a:endParaRPr/>
          </a:p>
          <a:p>
            <a:pPr indent="0" lvl="0" marL="0" rtl="0" algn="l">
              <a:spcBef>
                <a:spcPts val="0"/>
              </a:spcBef>
              <a:spcAft>
                <a:spcPts val="0"/>
              </a:spcAft>
              <a:buNone/>
            </a:pPr>
            <a:r>
              <a:rPr lang="en-GB"/>
              <a:t>start_date_time</a:t>
            </a:r>
            <a:endParaRPr/>
          </a:p>
          <a:p>
            <a:pPr indent="0" lvl="0" marL="0" rtl="0" algn="l">
              <a:spcBef>
                <a:spcPts val="0"/>
              </a:spcBef>
              <a:spcAft>
                <a:spcPts val="0"/>
              </a:spcAft>
              <a:buNone/>
            </a:pPr>
            <a:r>
              <a:rPr lang="en-GB"/>
              <a:t>no_of_items</a:t>
            </a:r>
            <a:endParaRPr/>
          </a:p>
          <a:p>
            <a:pPr indent="0" lvl="0" marL="0" rtl="0" algn="l">
              <a:spcBef>
                <a:spcPts val="0"/>
              </a:spcBef>
              <a:spcAft>
                <a:spcPts val="0"/>
              </a:spcAft>
              <a:buNone/>
            </a:pPr>
            <a:r>
              <a:rPr lang="en-GB"/>
              <a:t>value_of_items</a:t>
            </a:r>
            <a:endParaRPr/>
          </a:p>
          <a:p>
            <a:pPr indent="0" lvl="0" marL="0" rtl="0" algn="l">
              <a:spcBef>
                <a:spcPts val="0"/>
              </a:spcBef>
              <a:spcAft>
                <a:spcPts val="0"/>
              </a:spcAft>
              <a:buNone/>
            </a:pPr>
            <a:r>
              <a:rPr lang="en-GB"/>
              <a:t>status</a:t>
            </a:r>
            <a:endParaRPr/>
          </a:p>
          <a:p>
            <a:pPr indent="0" lvl="0" marL="0" rtl="0" algn="l">
              <a:spcBef>
                <a:spcPts val="0"/>
              </a:spcBef>
              <a:spcAft>
                <a:spcPts val="0"/>
              </a:spcAft>
              <a:buNone/>
            </a:pPr>
            <a:r>
              <a:rPr b="1" i="1" lang="en-GB"/>
              <a:t>customer_id</a:t>
            </a:r>
            <a:endParaRPr b="1" i="1"/>
          </a:p>
        </p:txBody>
      </p:sp>
      <p:sp>
        <p:nvSpPr>
          <p:cNvPr id="697" name="Google Shape;697;p71"/>
          <p:cNvSpPr/>
          <p:nvPr/>
        </p:nvSpPr>
        <p:spPr>
          <a:xfrm>
            <a:off x="1860475" y="4649750"/>
            <a:ext cx="28611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ActiveCart</a:t>
            </a:r>
            <a:endParaRPr/>
          </a:p>
        </p:txBody>
      </p:sp>
      <p:sp>
        <p:nvSpPr>
          <p:cNvPr id="698" name="Google Shape;698;p71"/>
          <p:cNvSpPr/>
          <p:nvPr/>
        </p:nvSpPr>
        <p:spPr>
          <a:xfrm>
            <a:off x="1860475" y="4948700"/>
            <a:ext cx="2861100" cy="639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elapsed_time</a:t>
            </a:r>
            <a:endParaRPr/>
          </a:p>
          <a:p>
            <a:pPr indent="0" lvl="0" marL="0" rtl="0" algn="l">
              <a:spcBef>
                <a:spcPts val="0"/>
              </a:spcBef>
              <a:spcAft>
                <a:spcPts val="0"/>
              </a:spcAft>
              <a:buNone/>
            </a:pPr>
            <a:r>
              <a:rPr b="1" i="1" lang="en-GB" u="sng"/>
              <a:t>online_cart_id</a:t>
            </a:r>
            <a:r>
              <a:rPr lang="en-GB"/>
              <a:t> &lt;&lt;</a:t>
            </a:r>
            <a:r>
              <a:rPr lang="en-GB"/>
              <a:t>PK&gt;&gt;, </a:t>
            </a:r>
            <a:r>
              <a:rPr lang="en-GB"/>
              <a:t>&lt;&lt;FK&gt;&gt;</a:t>
            </a:r>
            <a:endParaRPr/>
          </a:p>
        </p:txBody>
      </p:sp>
      <p:sp>
        <p:nvSpPr>
          <p:cNvPr id="699" name="Google Shape;699;p71"/>
          <p:cNvSpPr/>
          <p:nvPr/>
        </p:nvSpPr>
        <p:spPr>
          <a:xfrm>
            <a:off x="5271800" y="4649750"/>
            <a:ext cx="31701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OnReserveCart</a:t>
            </a:r>
            <a:endParaRPr/>
          </a:p>
        </p:txBody>
      </p:sp>
      <p:sp>
        <p:nvSpPr>
          <p:cNvPr id="700" name="Google Shape;700;p71"/>
          <p:cNvSpPr/>
          <p:nvPr/>
        </p:nvSpPr>
        <p:spPr>
          <a:xfrm>
            <a:off x="5271800" y="4948700"/>
            <a:ext cx="3170100" cy="639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hold_for_days</a:t>
            </a:r>
            <a:endParaRPr/>
          </a:p>
          <a:p>
            <a:pPr indent="0" lvl="0" marL="0" rtl="0" algn="l">
              <a:spcBef>
                <a:spcPts val="0"/>
              </a:spcBef>
              <a:spcAft>
                <a:spcPts val="0"/>
              </a:spcAft>
              <a:buNone/>
            </a:pPr>
            <a:r>
              <a:rPr b="1" i="1" lang="en-GB" u="sng"/>
              <a:t>online_cart_id</a:t>
            </a:r>
            <a:r>
              <a:rPr lang="en-GB"/>
              <a:t> &lt;&lt;</a:t>
            </a:r>
            <a:r>
              <a:rPr lang="en-GB"/>
              <a:t>PK&gt;&gt;, </a:t>
            </a:r>
            <a:r>
              <a:rPr lang="en-GB"/>
              <a:t>&lt;&lt;FK&gt;&gt;</a:t>
            </a:r>
            <a:endParaRPr/>
          </a:p>
        </p:txBody>
      </p:sp>
      <p:cxnSp>
        <p:nvCxnSpPr>
          <p:cNvPr id="701" name="Google Shape;701;p71"/>
          <p:cNvCxnSpPr>
            <a:stCxn id="697" idx="0"/>
            <a:endCxn id="696" idx="1"/>
          </p:cNvCxnSpPr>
          <p:nvPr/>
        </p:nvCxnSpPr>
        <p:spPr>
          <a:xfrm rot="-5400000">
            <a:off x="3044575" y="3413000"/>
            <a:ext cx="1483200" cy="990300"/>
          </a:xfrm>
          <a:prstGeom prst="bentConnector2">
            <a:avLst/>
          </a:prstGeom>
          <a:noFill/>
          <a:ln cap="flat" cmpd="sng" w="9525">
            <a:solidFill>
              <a:schemeClr val="dk2"/>
            </a:solidFill>
            <a:prstDash val="solid"/>
            <a:round/>
            <a:headEnd len="med" w="med" type="none"/>
            <a:tailEnd len="med" w="med" type="none"/>
          </a:ln>
        </p:spPr>
      </p:cxnSp>
      <p:cxnSp>
        <p:nvCxnSpPr>
          <p:cNvPr id="702" name="Google Shape;702;p71"/>
          <p:cNvCxnSpPr>
            <a:stCxn id="696" idx="3"/>
            <a:endCxn id="699" idx="0"/>
          </p:cNvCxnSpPr>
          <p:nvPr/>
        </p:nvCxnSpPr>
        <p:spPr>
          <a:xfrm>
            <a:off x="5711900" y="3166548"/>
            <a:ext cx="1145100" cy="1483200"/>
          </a:xfrm>
          <a:prstGeom prst="bentConnector2">
            <a:avLst/>
          </a:prstGeom>
          <a:noFill/>
          <a:ln cap="flat" cmpd="sng" w="9525">
            <a:solidFill>
              <a:schemeClr val="dk2"/>
            </a:solidFill>
            <a:prstDash val="solid"/>
            <a:round/>
            <a:headEnd len="med" w="med" type="none"/>
            <a:tailEnd len="med" w="med" type="none"/>
          </a:ln>
        </p:spPr>
      </p:cxnSp>
      <p:sp>
        <p:nvSpPr>
          <p:cNvPr id="703" name="Google Shape;703;p71"/>
          <p:cNvSpPr txBox="1"/>
          <p:nvPr/>
        </p:nvSpPr>
        <p:spPr>
          <a:xfrm>
            <a:off x="3796400" y="28581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704" name="Google Shape;704;p71"/>
          <p:cNvSpPr txBox="1"/>
          <p:nvPr/>
        </p:nvSpPr>
        <p:spPr>
          <a:xfrm>
            <a:off x="3263000" y="43059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705" name="Google Shape;705;p71"/>
          <p:cNvSpPr txBox="1"/>
          <p:nvPr/>
        </p:nvSpPr>
        <p:spPr>
          <a:xfrm>
            <a:off x="5930000" y="43059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706" name="Google Shape;706;p71"/>
          <p:cNvSpPr txBox="1"/>
          <p:nvPr/>
        </p:nvSpPr>
        <p:spPr>
          <a:xfrm>
            <a:off x="5625200" y="28581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707" name="Google Shape;707;p71"/>
          <p:cNvSpPr txBox="1"/>
          <p:nvPr/>
        </p:nvSpPr>
        <p:spPr>
          <a:xfrm>
            <a:off x="4710800" y="3924950"/>
            <a:ext cx="7044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XOR</a:t>
            </a:r>
            <a:endParaRPr/>
          </a:p>
        </p:txBody>
      </p:sp>
      <p:cxnSp>
        <p:nvCxnSpPr>
          <p:cNvPr id="708" name="Google Shape;708;p71"/>
          <p:cNvCxnSpPr/>
          <p:nvPr/>
        </p:nvCxnSpPr>
        <p:spPr>
          <a:xfrm flipH="1" rot="10800000">
            <a:off x="3302500" y="4109575"/>
            <a:ext cx="1324500" cy="8400"/>
          </a:xfrm>
          <a:prstGeom prst="straightConnector1">
            <a:avLst/>
          </a:prstGeom>
          <a:noFill/>
          <a:ln cap="flat" cmpd="sng" w="9525">
            <a:solidFill>
              <a:schemeClr val="dk2"/>
            </a:solidFill>
            <a:prstDash val="dash"/>
            <a:round/>
            <a:headEnd len="med" w="med" type="none"/>
            <a:tailEnd len="med" w="med" type="none"/>
          </a:ln>
        </p:spPr>
      </p:cxnSp>
      <p:cxnSp>
        <p:nvCxnSpPr>
          <p:cNvPr id="709" name="Google Shape;709;p71"/>
          <p:cNvCxnSpPr/>
          <p:nvPr/>
        </p:nvCxnSpPr>
        <p:spPr>
          <a:xfrm flipH="1" rot="10800000">
            <a:off x="5372932" y="4101177"/>
            <a:ext cx="1476000" cy="8400"/>
          </a:xfrm>
          <a:prstGeom prst="straightConnector1">
            <a:avLst/>
          </a:prstGeom>
          <a:noFill/>
          <a:ln cap="flat" cmpd="sng" w="9525">
            <a:solidFill>
              <a:schemeClr val="dk2"/>
            </a:solidFill>
            <a:prstDash val="dash"/>
            <a:round/>
            <a:headEnd len="med" w="med" type="none"/>
            <a:tailEnd len="med" w="med" type="none"/>
          </a:ln>
        </p:spPr>
      </p:cxnSp>
      <p:sp>
        <p:nvSpPr>
          <p:cNvPr id="710" name="Google Shape;710;p71"/>
          <p:cNvSpPr/>
          <p:nvPr/>
        </p:nvSpPr>
        <p:spPr>
          <a:xfrm>
            <a:off x="3956307" y="381000"/>
            <a:ext cx="20805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CartItem</a:t>
            </a:r>
            <a:endParaRPr/>
          </a:p>
        </p:txBody>
      </p:sp>
      <p:sp>
        <p:nvSpPr>
          <p:cNvPr id="711" name="Google Shape;711;p71"/>
          <p:cNvSpPr/>
          <p:nvPr/>
        </p:nvSpPr>
        <p:spPr>
          <a:xfrm>
            <a:off x="3959632" y="648850"/>
            <a:ext cx="2080500" cy="8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u="sng"/>
              <a:t>id</a:t>
            </a:r>
            <a:r>
              <a:rPr lang="en-GB"/>
              <a:t>  &lt;&lt;PK&gt;&gt;</a:t>
            </a:r>
            <a:endParaRPr/>
          </a:p>
          <a:p>
            <a:pPr indent="0" lvl="0" marL="0" rtl="0" algn="l">
              <a:spcBef>
                <a:spcPts val="0"/>
              </a:spcBef>
              <a:spcAft>
                <a:spcPts val="0"/>
              </a:spcAft>
              <a:buNone/>
            </a:pPr>
            <a:r>
              <a:rPr lang="en-GB"/>
              <a:t>quantity</a:t>
            </a:r>
            <a:endParaRPr/>
          </a:p>
          <a:p>
            <a:pPr indent="0" lvl="0" marL="0" rtl="0" algn="l">
              <a:spcBef>
                <a:spcPts val="0"/>
              </a:spcBef>
              <a:spcAft>
                <a:spcPts val="0"/>
              </a:spcAft>
              <a:buNone/>
            </a:pPr>
            <a:r>
              <a:rPr lang="en-GB"/>
              <a:t>current_price</a:t>
            </a:r>
            <a:endParaRPr/>
          </a:p>
          <a:p>
            <a:pPr indent="0" lvl="0" marL="0" rtl="0" algn="l">
              <a:spcBef>
                <a:spcPts val="0"/>
              </a:spcBef>
              <a:spcAft>
                <a:spcPts val="0"/>
              </a:spcAft>
              <a:buNone/>
            </a:pPr>
            <a:r>
              <a:rPr lang="en-GB"/>
              <a:t>online_cart_id &lt;&lt;FK&gt;&gt;</a:t>
            </a:r>
            <a:endParaRPr/>
          </a:p>
        </p:txBody>
      </p:sp>
      <p:sp>
        <p:nvSpPr>
          <p:cNvPr id="712" name="Google Shape;712;p71"/>
          <p:cNvSpPr/>
          <p:nvPr/>
        </p:nvSpPr>
        <p:spPr>
          <a:xfrm>
            <a:off x="796950" y="2168000"/>
            <a:ext cx="1430700" cy="3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rPr lang="en-GB"/>
              <a:t>Customer</a:t>
            </a:r>
            <a:endParaRPr/>
          </a:p>
        </p:txBody>
      </p:sp>
      <p:sp>
        <p:nvSpPr>
          <p:cNvPr id="713" name="Google Shape;713;p71"/>
          <p:cNvSpPr/>
          <p:nvPr/>
        </p:nvSpPr>
        <p:spPr>
          <a:xfrm>
            <a:off x="796950" y="2466950"/>
            <a:ext cx="1430700" cy="1387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id</a:t>
            </a:r>
            <a:r>
              <a:rPr lang="en-GB"/>
              <a:t> &lt;&lt;PK&gt;&gt;</a:t>
            </a:r>
            <a:endParaRPr/>
          </a:p>
          <a:p>
            <a:pPr indent="0" lvl="0" marL="0" rtl="0" algn="l">
              <a:spcBef>
                <a:spcPts val="0"/>
              </a:spcBef>
              <a:spcAft>
                <a:spcPts val="0"/>
              </a:spcAft>
              <a:buNone/>
            </a:pPr>
            <a:r>
              <a:rPr lang="en-GB"/>
              <a:t>name</a:t>
            </a:r>
            <a:endParaRPr/>
          </a:p>
          <a:p>
            <a:pPr indent="0" lvl="0" marL="0" rtl="0" algn="l">
              <a:spcBef>
                <a:spcPts val="0"/>
              </a:spcBef>
              <a:spcAft>
                <a:spcPts val="0"/>
              </a:spcAft>
              <a:buNone/>
            </a:pPr>
            <a:r>
              <a:rPr lang="en-GB"/>
              <a:t>mobile_phone</a:t>
            </a:r>
            <a:endParaRPr/>
          </a:p>
          <a:p>
            <a:pPr indent="0" lvl="0" marL="0" rtl="0" algn="l">
              <a:spcBef>
                <a:spcPts val="0"/>
              </a:spcBef>
              <a:spcAft>
                <a:spcPts val="0"/>
              </a:spcAft>
              <a:buNone/>
            </a:pPr>
            <a:r>
              <a:rPr lang="en-GB"/>
              <a:t>home_phone</a:t>
            </a:r>
            <a:endParaRPr/>
          </a:p>
          <a:p>
            <a:pPr indent="0" lvl="0" marL="0" rtl="0" algn="l">
              <a:spcBef>
                <a:spcPts val="0"/>
              </a:spcBef>
              <a:spcAft>
                <a:spcPts val="0"/>
              </a:spcAft>
              <a:buNone/>
            </a:pPr>
            <a:r>
              <a:rPr lang="en-GB"/>
              <a:t>email_address</a:t>
            </a:r>
            <a:endParaRPr/>
          </a:p>
          <a:p>
            <a:pPr indent="0" lvl="0" marL="0" rtl="0" algn="l">
              <a:spcBef>
                <a:spcPts val="0"/>
              </a:spcBef>
              <a:spcAft>
                <a:spcPts val="0"/>
              </a:spcAft>
              <a:buNone/>
            </a:pPr>
            <a:r>
              <a:rPr lang="en-GB"/>
              <a:t>status</a:t>
            </a:r>
            <a:endParaRPr/>
          </a:p>
        </p:txBody>
      </p:sp>
      <p:cxnSp>
        <p:nvCxnSpPr>
          <p:cNvPr id="714" name="Google Shape;714;p71"/>
          <p:cNvCxnSpPr>
            <a:stCxn id="695" idx="1"/>
            <a:endCxn id="712" idx="3"/>
          </p:cNvCxnSpPr>
          <p:nvPr/>
        </p:nvCxnSpPr>
        <p:spPr>
          <a:xfrm flipH="1">
            <a:off x="2227700" y="2297525"/>
            <a:ext cx="2053500" cy="24300"/>
          </a:xfrm>
          <a:prstGeom prst="straightConnector1">
            <a:avLst/>
          </a:prstGeom>
          <a:noFill/>
          <a:ln cap="flat" cmpd="sng" w="9525">
            <a:solidFill>
              <a:schemeClr val="dk2"/>
            </a:solidFill>
            <a:prstDash val="solid"/>
            <a:round/>
            <a:headEnd len="med" w="med" type="none"/>
            <a:tailEnd len="med" w="med" type="none"/>
          </a:ln>
        </p:spPr>
      </p:cxnSp>
      <p:cxnSp>
        <p:nvCxnSpPr>
          <p:cNvPr id="715" name="Google Shape;715;p71"/>
          <p:cNvCxnSpPr>
            <a:stCxn id="711" idx="2"/>
            <a:endCxn id="695" idx="0"/>
          </p:cNvCxnSpPr>
          <p:nvPr/>
        </p:nvCxnSpPr>
        <p:spPr>
          <a:xfrm flipH="1">
            <a:off x="4996582" y="1539550"/>
            <a:ext cx="3300" cy="572400"/>
          </a:xfrm>
          <a:prstGeom prst="straightConnector1">
            <a:avLst/>
          </a:prstGeom>
          <a:noFill/>
          <a:ln cap="flat" cmpd="sng" w="9525">
            <a:solidFill>
              <a:schemeClr val="dk2"/>
            </a:solidFill>
            <a:prstDash val="solid"/>
            <a:round/>
            <a:headEnd len="med" w="med" type="none"/>
            <a:tailEnd len="med" w="med" type="none"/>
          </a:ln>
        </p:spPr>
      </p:cxnSp>
      <p:sp>
        <p:nvSpPr>
          <p:cNvPr id="716" name="Google Shape;716;p71"/>
          <p:cNvSpPr txBox="1"/>
          <p:nvPr/>
        </p:nvSpPr>
        <p:spPr>
          <a:xfrm>
            <a:off x="4939400" y="17913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717" name="Google Shape;717;p71"/>
          <p:cNvSpPr txBox="1"/>
          <p:nvPr/>
        </p:nvSpPr>
        <p:spPr>
          <a:xfrm>
            <a:off x="4939400" y="14865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p:txBody>
      </p:sp>
      <p:sp>
        <p:nvSpPr>
          <p:cNvPr id="718" name="Google Shape;718;p71"/>
          <p:cNvSpPr txBox="1"/>
          <p:nvPr/>
        </p:nvSpPr>
        <p:spPr>
          <a:xfrm>
            <a:off x="2196200" y="20199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1..1</a:t>
            </a:r>
            <a:endParaRPr/>
          </a:p>
        </p:txBody>
      </p:sp>
      <p:sp>
        <p:nvSpPr>
          <p:cNvPr id="719" name="Google Shape;719;p71"/>
          <p:cNvSpPr txBox="1"/>
          <p:nvPr/>
        </p:nvSpPr>
        <p:spPr>
          <a:xfrm>
            <a:off x="3796400" y="2019950"/>
            <a:ext cx="5487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0</a:t>
            </a:r>
            <a:r>
              <a:rPr lang="en-GB"/>
              <a:t>..2</a:t>
            </a:r>
            <a:endParaRPr/>
          </a:p>
        </p:txBody>
      </p:sp>
      <p:sp>
        <p:nvSpPr>
          <p:cNvPr id="720" name="Google Shape;720;p71"/>
          <p:cNvSpPr txBox="1"/>
          <p:nvPr/>
        </p:nvSpPr>
        <p:spPr>
          <a:xfrm>
            <a:off x="662325" y="5441900"/>
            <a:ext cx="7779600" cy="11388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rgbClr val="434343"/>
              </a:buClr>
              <a:buSzPts val="2400"/>
              <a:buChar char="●"/>
            </a:pPr>
            <a:r>
              <a:rPr lang="en-GB" sz="2400">
                <a:solidFill>
                  <a:srgbClr val="434343"/>
                </a:solidFill>
              </a:rPr>
              <a:t>…</a:t>
            </a:r>
            <a:endParaRPr sz="2400">
              <a:solidFill>
                <a:srgbClr val="434343"/>
              </a:solidFill>
            </a:endParaRPr>
          </a:p>
          <a:p>
            <a:pPr indent="-381000" lvl="0" marL="457200" rtl="0" algn="l">
              <a:spcBef>
                <a:spcPts val="0"/>
              </a:spcBef>
              <a:spcAft>
                <a:spcPts val="0"/>
              </a:spcAft>
              <a:buClr>
                <a:srgbClr val="434343"/>
              </a:buClr>
              <a:buSzPts val="2400"/>
              <a:buChar char="●"/>
            </a:pPr>
            <a:r>
              <a:rPr lang="en-GB" sz="2400">
                <a:solidFill>
                  <a:srgbClr val="434343"/>
                </a:solidFill>
              </a:rPr>
              <a:t>Đặc tả các bảng</a:t>
            </a:r>
            <a:endParaRPr sz="2400">
              <a:solidFill>
                <a:srgbClr val="434343"/>
              </a:solidFill>
            </a:endParaRPr>
          </a:p>
          <a:p>
            <a:pPr indent="-381000" lvl="0" marL="457200" rtl="0" algn="l">
              <a:spcBef>
                <a:spcPts val="0"/>
              </a:spcBef>
              <a:spcAft>
                <a:spcPts val="0"/>
              </a:spcAft>
              <a:buClr>
                <a:srgbClr val="434343"/>
              </a:buClr>
              <a:buSzPts val="2400"/>
              <a:buChar char="●"/>
            </a:pPr>
            <a:r>
              <a:rPr lang="en-GB" sz="2400">
                <a:solidFill>
                  <a:srgbClr val="434343"/>
                </a:solidFill>
              </a:rPr>
              <a:t>Tạo các lớp DAM hoặc DAO, …</a:t>
            </a:r>
            <a:endParaRPr sz="2400">
              <a:solidFill>
                <a:srgbClr val="434343"/>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26" name="Google Shape;726;p72"/>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