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
      <p:font typeface="Roboto Medium"/>
      <p:regular r:id="rId39"/>
      <p:bold r:id="rId40"/>
      <p:italic r:id="rId41"/>
      <p:boldItalic r:id="rId42"/>
    </p:embeddedFont>
    <p:embeddedFont>
      <p:font typeface="Google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20" Type="http://schemas.openxmlformats.org/officeDocument/2006/relationships/slide" Target="slides/slide15.xml"/><Relationship Id="rId42" Type="http://schemas.openxmlformats.org/officeDocument/2006/relationships/font" Target="fonts/RobotoMedium-boldItalic.fntdata"/><Relationship Id="rId41" Type="http://schemas.openxmlformats.org/officeDocument/2006/relationships/font" Target="fonts/RobotoMedium-italic.fntdata"/><Relationship Id="rId22" Type="http://schemas.openxmlformats.org/officeDocument/2006/relationships/slide" Target="slides/slide17.xml"/><Relationship Id="rId44" Type="http://schemas.openxmlformats.org/officeDocument/2006/relationships/font" Target="fonts/GoogleSans-bold.fntdata"/><Relationship Id="rId21" Type="http://schemas.openxmlformats.org/officeDocument/2006/relationships/slide" Target="slides/slide16.xml"/><Relationship Id="rId43" Type="http://schemas.openxmlformats.org/officeDocument/2006/relationships/font" Target="fonts/GoogleSans-regular.fntdata"/><Relationship Id="rId24" Type="http://schemas.openxmlformats.org/officeDocument/2006/relationships/slide" Target="slides/slide19.xml"/><Relationship Id="rId46" Type="http://schemas.openxmlformats.org/officeDocument/2006/relationships/font" Target="fonts/GoogleSans-boldItalic.fntdata"/><Relationship Id="rId23" Type="http://schemas.openxmlformats.org/officeDocument/2006/relationships/slide" Target="slides/slide18.xml"/><Relationship Id="rId45" Type="http://schemas.openxmlformats.org/officeDocument/2006/relationships/font" Target="fonts/Google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RobotoMedium-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e7c27c1d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e7c27c1d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e7c27c1d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e7c27c1d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e7c27c1d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e7c27c1d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e7c27c1dd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e7c27c1dd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e7c27c1dd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e7c27c1dd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e7c27c1dd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e7c27c1dd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e7c27c1dd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e7c27c1dd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e7c27c1dd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e7c27c1dd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e7c27c1dd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e7c27c1dd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07cbdd9d2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07cbdd9d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59b7bfc77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59b7bfc77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07cbdd9d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07cbdd9d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4b59e6e9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4b59e6e9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07cbdd9d2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07cbdd9d2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59c62f15d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59c62f15d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07cbdd9d2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07cbdd9d2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4b59e6e95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4b59e6e95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07cbdd9d2_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07cbdd9d2_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4d1e9866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4d1e9866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07cbdd9d2_6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07cbdd9d2_6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d7f5a10b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d7f5a10b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d7f5a10b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d7f5a10b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4b59e6e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4b59e6e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07cbdd9d2_3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07cbdd9d2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59c62f1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59c62f1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b0da72e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b0da72e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59c62f15d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959c62f15d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59c62f15d_2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59c62f15d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mailto:saivanhieu9a@gmail.com" TargetMode="External"/><Relationship Id="rId4" Type="http://schemas.openxmlformats.org/officeDocument/2006/relationships/hyperlink" Target="mailto:doanthanhbn2005@gmail.com" TargetMode="External"/><Relationship Id="rId5" Type="http://schemas.openxmlformats.org/officeDocument/2006/relationships/hyperlink" Target="mailto:lucdoka1245@gmail.com" TargetMode="External"/><Relationship Id="rId6" Type="http://schemas.openxmlformats.org/officeDocument/2006/relationships/hyperlink" Target="mailto:lqthanh12072005@gmail.com" TargetMode="External"/><Relationship Id="rId7" Type="http://schemas.openxmlformats.org/officeDocument/2006/relationships/hyperlink" Target="mailto:caohuythinh@gmail.com" TargetMode="External"/><Relationship Id="rId8" Type="http://schemas.openxmlformats.org/officeDocument/2006/relationships/hyperlink" Target="https://docs.google.com/document/d/1tgDWUyNPdBcDv92OL0pYvcq6YgTrqXtthyzgcMYRfIc/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hyperlink" Target="https://docs.google.com/document/d/12hYFmbRIOgBDHQPW9GlIxd9VfMSMNbDdhnaHkXXUDBU/edit?usp=sharing" TargetMode="External"/><Relationship Id="rId4" Type="http://schemas.openxmlformats.org/officeDocument/2006/relationships/hyperlink" Target="mailto:vutuanminhvtm2k5@gmail.com" TargetMode="External"/><Relationship Id="rId5" Type="http://schemas.openxmlformats.org/officeDocument/2006/relationships/hyperlink" Target="mailto:tranhuyduongdn@gmail.com" TargetMode="External"/><Relationship Id="rId6" Type="http://schemas.openxmlformats.org/officeDocument/2006/relationships/hyperlink" Target="mailto:ngovuminh2405@gmail.com" TargetMode="External"/><Relationship Id="rId7" Type="http://schemas.openxmlformats.org/officeDocument/2006/relationships/hyperlink" Target="mailto:nam.th180805@gmail.com" TargetMode="External"/><Relationship Id="rId8" Type="http://schemas.openxmlformats.org/officeDocument/2006/relationships/hyperlink" Target="mailto:hoangdon1804@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s://docs.google.com/document/d/159-QwzmC58ejJ2B9qlFcwVGamtufRA8Ii9tDUwSzn_Q/edit?usp=sharing" TargetMode="External"/><Relationship Id="rId4" Type="http://schemas.openxmlformats.org/officeDocument/2006/relationships/hyperlink" Target="mailto:tccmarshima@gmail.com" TargetMode="External"/><Relationship Id="rId5" Type="http://schemas.openxmlformats.org/officeDocument/2006/relationships/hyperlink" Target="mailto:mailephuquang01@gmail.com" TargetMode="External"/><Relationship Id="rId6" Type="http://schemas.openxmlformats.org/officeDocument/2006/relationships/hyperlink" Target="mailto:onenottwo1002@gmail.com" TargetMode="External"/><Relationship Id="rId7" Type="http://schemas.openxmlformats.org/officeDocument/2006/relationships/hyperlink" Target="mailto:hoangmamg1234@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https://docs.google.com/document/d/1QA61MZZhEQGo2V8uyRi8cF3rDX8R41pKAvEhZlU7b5Q/edit?usp=sharing" TargetMode="External"/><Relationship Id="rId4" Type="http://schemas.openxmlformats.org/officeDocument/2006/relationships/hyperlink" Target="mailto:thanhminhtmyt.hust@gmail.com" TargetMode="External"/><Relationship Id="rId5" Type="http://schemas.openxmlformats.org/officeDocument/2006/relationships/hyperlink" Target="mailto:thanhtucvp@gmail.com" TargetMode="External"/><Relationship Id="rId6" Type="http://schemas.openxmlformats.org/officeDocument/2006/relationships/hyperlink" Target="mailto:khoihoangminh05@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docs.google.com/document/d/15LQOrhC3Ds4IWbijl9WxtQodg_2IYeiuGvhTX_fEv60/edit?usp=sharing" TargetMode="External"/><Relationship Id="rId4" Type="http://schemas.openxmlformats.org/officeDocument/2006/relationships/hyperlink" Target="mailto:hoang0403ss@gmail.com" TargetMode="External"/><Relationship Id="rId5" Type="http://schemas.openxmlformats.org/officeDocument/2006/relationships/hyperlink" Target="mailto:trantrunghieudo@gmail.com" TargetMode="External"/><Relationship Id="rId6" Type="http://schemas.openxmlformats.org/officeDocument/2006/relationships/hyperlink" Target="mailto:huythetime1@gmail.com" TargetMode="External"/><Relationship Id="rId7" Type="http://schemas.openxmlformats.org/officeDocument/2006/relationships/hyperlink" Target="mailto:dungtoro2005@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s://docs.google.com/document/d/18WEtgM01g-gm4VblIT9NBlA7WHkEL1McvuiWaufhYEw/edit?usp=sharing" TargetMode="External"/><Relationship Id="rId4" Type="http://schemas.openxmlformats.org/officeDocument/2006/relationships/hyperlink" Target="mailto:nguyenquyduyka@gmail.com" TargetMode="External"/><Relationship Id="rId5" Type="http://schemas.openxmlformats.org/officeDocument/2006/relationships/hyperlink" Target="mailto:toannguyenngoc2601@gmail.com" TargetMode="External"/><Relationship Id="rId6" Type="http://schemas.openxmlformats.org/officeDocument/2006/relationships/hyperlink" Target="mailto:dvhung090705@gmail.com" TargetMode="External"/><Relationship Id="rId7" Type="http://schemas.openxmlformats.org/officeDocument/2006/relationships/hyperlink" Target="mailto:giahung260305@gmail.com" TargetMode="External"/><Relationship Id="rId8" Type="http://schemas.openxmlformats.org/officeDocument/2006/relationships/hyperlink" Target="mailto:trumxa2005@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docs.google.com/document/d/1XyHLQRPJqo81KI0rhsTU0pny575V6SVwGrPN5qnCC4A/edit?usp=sharing" TargetMode="External"/><Relationship Id="rId4" Type="http://schemas.openxmlformats.org/officeDocument/2006/relationships/hyperlink" Target="mailto:ndt.minh2005@gmail.com" TargetMode="External"/><Relationship Id="rId5" Type="http://schemas.openxmlformats.org/officeDocument/2006/relationships/hyperlink" Target="mailto:congson7125@gmail.com" TargetMode="External"/><Relationship Id="rId6" Type="http://schemas.openxmlformats.org/officeDocument/2006/relationships/hyperlink" Target="mailto:phamyen14092005@gmail.com" TargetMode="External"/><Relationship Id="rId7" Type="http://schemas.openxmlformats.org/officeDocument/2006/relationships/hyperlink" Target="mailto:dohai30062005@gmail.com" TargetMode="External"/><Relationship Id="rId8" Type="http://schemas.openxmlformats.org/officeDocument/2006/relationships/hyperlink" Target="mailto:tranthai189765@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docs.google.com/document/d/1Aan6Mq7eMjMzKK3Qvjz6u9PUxD4K9QyUu6hHG1_wuQg/edit?usp=sharing" TargetMode="External"/><Relationship Id="rId4" Type="http://schemas.openxmlformats.org/officeDocument/2006/relationships/hyperlink" Target="mailto:panzo2005@gmail.com" TargetMode="External"/><Relationship Id="rId5" Type="http://schemas.openxmlformats.org/officeDocument/2006/relationships/hyperlink" Target="mailto:ductamhyndt@gmail.com" TargetMode="External"/><Relationship Id="rId6" Type="http://schemas.openxmlformats.org/officeDocument/2006/relationships/hyperlink" Target="mailto:ngoctrung05hd@gmail.com" TargetMode="External"/><Relationship Id="rId7" Type="http://schemas.openxmlformats.org/officeDocument/2006/relationships/hyperlink" Target="mailto:tuannghia75789905@gmai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bangoc.b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Bảng tương tác</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61975"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t>Bốp Bốp</a:t>
            </a:r>
            <a:endParaRPr sz="1000"/>
          </a:p>
          <a:p>
            <a:pPr indent="0" lvl="0" marL="0" rtl="0" algn="l">
              <a:lnSpc>
                <a:spcPct val="115000"/>
              </a:lnSpc>
              <a:spcBef>
                <a:spcPts val="0"/>
              </a:spcBef>
              <a:spcAft>
                <a:spcPts val="0"/>
              </a:spcAft>
              <a:buNone/>
            </a:pPr>
            <a:r>
              <a:rPr b="1" lang="en-GB" sz="1000"/>
              <a:t>Danh sách</a:t>
            </a:r>
            <a:r>
              <a:rPr lang="en-GB" sz="1000"/>
              <a:t> gmail cá nhân của các thành viên:</a:t>
            </a:r>
            <a:endParaRPr sz="1000"/>
          </a:p>
          <a:p>
            <a:pPr indent="0" lvl="0" marL="0" rtl="0" algn="l">
              <a:lnSpc>
                <a:spcPct val="115000"/>
              </a:lnSpc>
              <a:spcBef>
                <a:spcPts val="0"/>
              </a:spcBef>
              <a:spcAft>
                <a:spcPts val="0"/>
              </a:spcAft>
              <a:buNone/>
            </a:pPr>
            <a:r>
              <a:rPr lang="en-GB" sz="1000" u="sng">
                <a:solidFill>
                  <a:schemeClr val="hlink"/>
                </a:solidFill>
                <a:hlinkClick r:id="rId3"/>
              </a:rPr>
              <a:t>saivanhieu9a@gmail.com</a:t>
            </a:r>
            <a:r>
              <a:rPr lang="en-GB" sz="1000"/>
              <a:t> , </a:t>
            </a:r>
            <a:r>
              <a:rPr lang="en-GB" sz="1000" u="sng">
                <a:solidFill>
                  <a:schemeClr val="hlink"/>
                </a:solidFill>
                <a:hlinkClick r:id="rId4"/>
              </a:rPr>
              <a:t>doanthanhbn2005@gmail.com</a:t>
            </a:r>
            <a:r>
              <a:rPr lang="en-GB" sz="1000"/>
              <a:t> , </a:t>
            </a:r>
            <a:r>
              <a:rPr lang="en-GB" sz="1000" u="sng">
                <a:solidFill>
                  <a:schemeClr val="hlink"/>
                </a:solidFill>
                <a:hlinkClick r:id="rId5"/>
              </a:rPr>
              <a:t>lucdoka1245@gmail.com</a:t>
            </a:r>
            <a:r>
              <a:rPr lang="en-GB" sz="1000"/>
              <a:t> , </a:t>
            </a:r>
            <a:r>
              <a:rPr lang="en-GB" sz="1000" u="sng">
                <a:solidFill>
                  <a:schemeClr val="hlink"/>
                </a:solidFill>
                <a:hlinkClick r:id="rId6"/>
              </a:rPr>
              <a:t>lqthanh12072005@gmail.com </a:t>
            </a:r>
            <a:r>
              <a:rPr lang="en-GB" sz="1000"/>
              <a:t>, </a:t>
            </a:r>
            <a:r>
              <a:rPr lang="en-GB" sz="1000" u="sng">
                <a:solidFill>
                  <a:schemeClr val="hlink"/>
                </a:solidFill>
                <a:hlinkClick r:id="rId7"/>
              </a:rPr>
              <a:t>caohuythinh@gmail.com</a:t>
            </a:r>
            <a:r>
              <a:rPr lang="en-GB" sz="1000"/>
              <a:t>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GB" sz="1800">
                <a:solidFill>
                  <a:schemeClr val="dk2"/>
                </a:solidFill>
              </a:rPr>
              <a:t>link Google Docs:</a:t>
            </a:r>
            <a:endParaRPr sz="1800">
              <a:solidFill>
                <a:schemeClr val="dk2"/>
              </a:solidFill>
            </a:endParaRPr>
          </a:p>
          <a:p>
            <a:pPr indent="0" lvl="0" marL="0" rtl="0" algn="l">
              <a:lnSpc>
                <a:spcPct val="115000"/>
              </a:lnSpc>
              <a:spcBef>
                <a:spcPts val="0"/>
              </a:spcBef>
              <a:spcAft>
                <a:spcPts val="0"/>
              </a:spcAft>
              <a:buNone/>
            </a:pPr>
            <a:r>
              <a:rPr lang="en-GB" sz="1800" u="sng">
                <a:solidFill>
                  <a:schemeClr val="hlink"/>
                </a:solidFill>
                <a:hlinkClick r:id="rId8"/>
              </a:rPr>
              <a:t>https://docs.google.com/document/d/1tgDWUyNPdBcDv92OL0pYvcq6YgTrqXtthyzgcMYRfIc/edit?usp=sharing</a:t>
            </a:r>
            <a:endParaRPr sz="1800">
              <a:solidFill>
                <a:schemeClr val="dk2"/>
              </a:solidFill>
            </a:endParaRPr>
          </a:p>
          <a:p>
            <a:pPr indent="0" lvl="0" marL="0" rtl="0" algn="l">
              <a:lnSpc>
                <a:spcPct val="115000"/>
              </a:lnSpc>
              <a:spcBef>
                <a:spcPts val="0"/>
              </a:spcBef>
              <a:spcAft>
                <a:spcPts val="0"/>
              </a:spcAft>
              <a:buNone/>
            </a:pPr>
            <a:r>
              <a:rPr lang="en-GB" sz="1800">
                <a:solidFill>
                  <a:schemeClr val="dk2"/>
                </a:solidFill>
              </a:rPr>
              <a:t>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388850"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chemeClr val="dk1"/>
                </a:solidFill>
              </a:rPr>
              <a:t>hoadon: </a:t>
            </a:r>
            <a:r>
              <a:rPr lang="en-GB" sz="1000" u="sng">
                <a:solidFill>
                  <a:schemeClr val="hlink"/>
                </a:solidFill>
                <a:hlinkClick r:id="rId3"/>
              </a:rPr>
              <a:t>https://docs.google.com/document/d/12hYFmbRIOgBDHQPW9GlIxd9VfMSMNbDdhnaHkXXUDBU/edit?usp=sharing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u="sng">
                <a:solidFill>
                  <a:schemeClr val="hlink"/>
                </a:solidFill>
                <a:hlinkClick r:id="rId4"/>
              </a:rPr>
              <a:t>vutuanminhvtm2k5@gmail.com</a:t>
            </a:r>
            <a:r>
              <a:rPr lang="en-GB">
                <a:solidFill>
                  <a:schemeClr val="dk1"/>
                </a:solidFill>
              </a:rPr>
              <a:t>, </a:t>
            </a:r>
            <a:r>
              <a:rPr lang="en-GB" u="sng">
                <a:solidFill>
                  <a:schemeClr val="hlink"/>
                </a:solidFill>
                <a:hlinkClick r:id="rId5"/>
              </a:rPr>
              <a:t>tranhuyduongdn@gmail.com</a:t>
            </a:r>
            <a:r>
              <a:rPr lang="en-GB">
                <a:solidFill>
                  <a:schemeClr val="dk1"/>
                </a:solidFill>
              </a:rPr>
              <a:t>, </a:t>
            </a:r>
            <a:r>
              <a:rPr lang="en-GB" u="sng">
                <a:solidFill>
                  <a:schemeClr val="hlink"/>
                </a:solidFill>
                <a:hlinkClick r:id="rId6"/>
              </a:rPr>
              <a:t>ngovuminh2405@gmail.com</a:t>
            </a:r>
            <a:r>
              <a:rPr lang="en-GB">
                <a:solidFill>
                  <a:schemeClr val="dk1"/>
                </a:solidFill>
              </a:rPr>
              <a:t>, </a:t>
            </a:r>
            <a:r>
              <a:rPr lang="en-GB" u="sng">
                <a:solidFill>
                  <a:schemeClr val="hlink"/>
                </a:solidFill>
                <a:hlinkClick r:id="rId7"/>
              </a:rPr>
              <a:t>nam.th180805@gmail.com</a:t>
            </a:r>
            <a:r>
              <a:rPr lang="en-GB">
                <a:solidFill>
                  <a:schemeClr val="dk1"/>
                </a:solidFill>
              </a:rPr>
              <a:t>, </a:t>
            </a:r>
            <a:r>
              <a:rPr lang="en-GB" u="sng">
                <a:solidFill>
                  <a:schemeClr val="hlink"/>
                </a:solidFill>
                <a:hlinkClick r:id="rId8"/>
              </a:rPr>
              <a:t>hoangdon1804@gmail.com</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388850"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Hòn Đảo: </a:t>
            </a:r>
            <a:r>
              <a:rPr lang="en-GB" sz="1000" u="sng">
                <a:solidFill>
                  <a:schemeClr val="hlink"/>
                </a:solidFill>
                <a:hlinkClick r:id="rId3"/>
              </a:rPr>
              <a:t>https://docs.google.com/document/d/159-QwzmC58ejJ2B9qlFcwVGamtufRA8Ii9tDUwSzn_Q/edit?usp=sharing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Danh sách gmail cá nhân của các thành viên: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800" u="sng">
                <a:solidFill>
                  <a:schemeClr val="hlink"/>
                </a:solidFill>
                <a:hlinkClick r:id="rId4"/>
              </a:rPr>
              <a:t>tccmarshima@gmail.com</a:t>
            </a:r>
            <a:r>
              <a:rPr lang="en-GB" sz="1800">
                <a:solidFill>
                  <a:schemeClr val="dk2"/>
                </a:solidFill>
              </a:rPr>
              <a:t>, </a:t>
            </a:r>
            <a:r>
              <a:rPr lang="en-GB" sz="1800" u="sng">
                <a:solidFill>
                  <a:schemeClr val="hlink"/>
                </a:solidFill>
                <a:hlinkClick r:id="rId5"/>
              </a:rPr>
              <a:t>mailephuquang01@gmail.com</a:t>
            </a:r>
            <a:r>
              <a:rPr lang="en-GB" sz="1800">
                <a:solidFill>
                  <a:schemeClr val="dk2"/>
                </a:solidFill>
              </a:rPr>
              <a:t>, </a:t>
            </a:r>
            <a:r>
              <a:rPr lang="en-GB" sz="1800" u="sng">
                <a:solidFill>
                  <a:schemeClr val="hlink"/>
                </a:solidFill>
                <a:hlinkClick r:id="rId6"/>
              </a:rPr>
              <a:t>onenottwo1002@gmail.com</a:t>
            </a:r>
            <a:r>
              <a:rPr lang="en-GB" sz="1800">
                <a:solidFill>
                  <a:schemeClr val="dk2"/>
                </a:solidFill>
              </a:rPr>
              <a:t>, </a:t>
            </a:r>
            <a:r>
              <a:rPr lang="en-GB" sz="1800" u="sng">
                <a:solidFill>
                  <a:schemeClr val="hlink"/>
                </a:solidFill>
                <a:hlinkClick r:id="rId7"/>
              </a:rPr>
              <a:t>hoangmamg1234@gmail.com</a:t>
            </a:r>
            <a:r>
              <a:rPr lang="en-GB" sz="1800">
                <a:solidFill>
                  <a:schemeClr val="dk2"/>
                </a:solidFill>
              </a:rPr>
              <a:t>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nvSpPr>
        <p:spPr>
          <a:xfrm>
            <a:off x="277200" y="198925"/>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Nhóm của Tú: </a:t>
            </a:r>
            <a:r>
              <a:rPr lang="en-GB" sz="1000" u="sng">
                <a:solidFill>
                  <a:schemeClr val="hlink"/>
                </a:solidFill>
                <a:hlinkClick r:id="rId3"/>
              </a:rPr>
              <a:t>https://docs.google.com/document/d/1QA61MZZhEQGo2V8uyRi8cF3rDX8R41pKAvEhZlU7b5Q/edit?usp=sharing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Danh sách gmail cá nhân của các thành viên: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u="sng">
                <a:solidFill>
                  <a:schemeClr val="hlink"/>
                </a:solidFill>
                <a:hlinkClick r:id="rId4"/>
              </a:rPr>
              <a:t>thanhminhtmyt.hust@gmail.com</a:t>
            </a:r>
            <a:r>
              <a:rPr lang="en-GB" sz="1000">
                <a:solidFill>
                  <a:schemeClr val="dk1"/>
                </a:solidFill>
              </a:rPr>
              <a:t>, </a:t>
            </a:r>
            <a:r>
              <a:rPr lang="en-GB" sz="1000" u="sng">
                <a:solidFill>
                  <a:schemeClr val="hlink"/>
                </a:solidFill>
                <a:hlinkClick r:id="rId5"/>
              </a:rPr>
              <a:t>thanhtucvp@gmail.com</a:t>
            </a:r>
            <a:r>
              <a:rPr lang="en-GB" sz="1000">
                <a:solidFill>
                  <a:schemeClr val="dk1"/>
                </a:solidFill>
              </a:rPr>
              <a:t>, </a:t>
            </a:r>
            <a:r>
              <a:rPr lang="en-GB" sz="1000" u="sng">
                <a:solidFill>
                  <a:schemeClr val="hlink"/>
                </a:solidFill>
                <a:hlinkClick r:id="rId6"/>
              </a:rPr>
              <a:t>khoihoangminh05@gmail.com</a:t>
            </a:r>
            <a:r>
              <a:rPr lang="en-GB" sz="1000">
                <a:solidFill>
                  <a:schemeClr val="dk1"/>
                </a:solidFill>
              </a:rPr>
              <a:t>, zangdo20052014@gmail.com</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nvSpPr>
        <p:spPr>
          <a:xfrm>
            <a:off x="388850" y="236895"/>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Ộ Ộ: </a:t>
            </a:r>
            <a:r>
              <a:rPr lang="en-GB" sz="1000" u="sng">
                <a:solidFill>
                  <a:schemeClr val="hlink"/>
                </a:solidFill>
                <a:hlinkClick r:id="rId3"/>
              </a:rPr>
              <a:t>https://docs.google.com/document/d/15LQOrhC3Ds4IWbijl9WxtQodg_2IYeiuGvhTX_fEv60/edit?usp=sharing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u="sng">
                <a:solidFill>
                  <a:schemeClr val="hlink"/>
                </a:solidFill>
                <a:hlinkClick r:id="rId4"/>
              </a:rPr>
              <a:t>hoang0403ss@gmail.com</a:t>
            </a:r>
            <a:r>
              <a:rPr lang="en-GB" sz="1000">
                <a:solidFill>
                  <a:schemeClr val="dk1"/>
                </a:solidFill>
              </a:rPr>
              <a:t>, </a:t>
            </a:r>
            <a:r>
              <a:rPr lang="en-GB" sz="1000" u="sng">
                <a:solidFill>
                  <a:schemeClr val="hlink"/>
                </a:solidFill>
                <a:hlinkClick r:id="rId5"/>
              </a:rPr>
              <a:t>trantrunghieudo@gmail.com</a:t>
            </a:r>
            <a:r>
              <a:rPr lang="en-GB" sz="1000">
                <a:solidFill>
                  <a:schemeClr val="dk1"/>
                </a:solidFill>
              </a:rPr>
              <a:t>, </a:t>
            </a:r>
            <a:r>
              <a:rPr lang="en-GB" sz="1000" u="sng">
                <a:solidFill>
                  <a:schemeClr val="hlink"/>
                </a:solidFill>
                <a:hlinkClick r:id="rId6"/>
              </a:rPr>
              <a:t>huythetime1@gmail.com</a:t>
            </a:r>
            <a:r>
              <a:rPr lang="en-GB" sz="1000">
                <a:solidFill>
                  <a:schemeClr val="dk1"/>
                </a:solidFill>
              </a:rPr>
              <a:t>, </a:t>
            </a:r>
            <a:r>
              <a:rPr lang="en-GB" sz="1000" u="sng">
                <a:solidFill>
                  <a:schemeClr val="hlink"/>
                </a:solidFill>
                <a:hlinkClick r:id="rId7"/>
              </a:rPr>
              <a:t>dungtoro2005@gmail.com</a:t>
            </a:r>
            <a:r>
              <a:rPr lang="en-GB" sz="1000">
                <a:solidFill>
                  <a:schemeClr val="dk1"/>
                </a:solidFill>
              </a:rPr>
              <a:t>,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nvSpPr>
        <p:spPr>
          <a:xfrm>
            <a:off x="388850"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Ricons: </a:t>
            </a:r>
            <a:r>
              <a:rPr lang="en-GB" u="sng">
                <a:solidFill>
                  <a:schemeClr val="hlink"/>
                </a:solidFill>
                <a:hlinkClick r:id="rId3"/>
              </a:rPr>
              <a:t>https://docs.google.com/document/d/18WEtgM01g-gm4VblIT9NBlA7WHkEL1McvuiWaufhYEw/edit?usp=sharing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u="sng">
                <a:solidFill>
                  <a:schemeClr val="hlink"/>
                </a:solidFill>
                <a:hlinkClick r:id="rId4"/>
              </a:rPr>
              <a:t>nguyenquyduyka@gmail.com</a:t>
            </a:r>
            <a:r>
              <a:rPr lang="en-GB">
                <a:solidFill>
                  <a:schemeClr val="dk1"/>
                </a:solidFill>
              </a:rPr>
              <a:t>, </a:t>
            </a:r>
            <a:r>
              <a:rPr lang="en-GB" u="sng">
                <a:solidFill>
                  <a:schemeClr val="hlink"/>
                </a:solidFill>
                <a:hlinkClick r:id="rId5"/>
              </a:rPr>
              <a:t>toannguyenngoc2601@gmail.com</a:t>
            </a:r>
            <a:r>
              <a:rPr lang="en-GB">
                <a:solidFill>
                  <a:schemeClr val="dk1"/>
                </a:solidFill>
              </a:rPr>
              <a:t>, </a:t>
            </a:r>
            <a:r>
              <a:rPr lang="en-GB" u="sng">
                <a:solidFill>
                  <a:schemeClr val="hlink"/>
                </a:solidFill>
                <a:hlinkClick r:id="rId6"/>
              </a:rPr>
              <a:t>dvhung090705@gmail.com</a:t>
            </a:r>
            <a:r>
              <a:rPr lang="en-GB">
                <a:solidFill>
                  <a:schemeClr val="dk1"/>
                </a:solidFill>
              </a:rPr>
              <a:t>, </a:t>
            </a:r>
            <a:r>
              <a:rPr lang="en-GB" u="sng">
                <a:solidFill>
                  <a:schemeClr val="hlink"/>
                </a:solidFill>
                <a:hlinkClick r:id="rId7"/>
              </a:rPr>
              <a:t>giahung260305@gmail.com</a:t>
            </a:r>
            <a:r>
              <a:rPr lang="en-GB">
                <a:solidFill>
                  <a:schemeClr val="dk1"/>
                </a:solidFill>
              </a:rPr>
              <a:t>,  </a:t>
            </a:r>
            <a:r>
              <a:rPr lang="en-GB" u="sng">
                <a:solidFill>
                  <a:schemeClr val="hlink"/>
                </a:solidFill>
                <a:hlinkClick r:id="rId8"/>
              </a:rPr>
              <a:t>trumxa2005@gmail.com</a:t>
            </a:r>
            <a:r>
              <a:rPr lang="en-GB">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nvSpPr>
        <p:spPr>
          <a:xfrm>
            <a:off x="388850"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TMYHS: </a:t>
            </a:r>
            <a:r>
              <a:rPr lang="en-GB" sz="1000" u="sng">
                <a:solidFill>
                  <a:schemeClr val="hlink"/>
                </a:solidFill>
                <a:hlinkClick r:id="rId3"/>
              </a:rPr>
              <a:t>https://docs.google.com/document/d/1XyHLQRPJqo81KI0rhsTU0pny575V6SVwGrPN5qnCC4A/edit?usp=sharing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u="sng">
                <a:solidFill>
                  <a:schemeClr val="hlink"/>
                </a:solidFill>
                <a:hlinkClick r:id="rId4"/>
              </a:rPr>
              <a:t>ndt.minh2005@gmail.com</a:t>
            </a:r>
            <a:r>
              <a:rPr lang="en-GB" sz="1000">
                <a:solidFill>
                  <a:schemeClr val="dk1"/>
                </a:solidFill>
              </a:rPr>
              <a:t>, </a:t>
            </a:r>
            <a:r>
              <a:rPr lang="en-GB" sz="1000" u="sng">
                <a:solidFill>
                  <a:schemeClr val="hlink"/>
                </a:solidFill>
                <a:hlinkClick r:id="rId5"/>
              </a:rPr>
              <a:t>congson7125@gmail.com</a:t>
            </a:r>
            <a:r>
              <a:rPr lang="en-GB" sz="1000">
                <a:solidFill>
                  <a:schemeClr val="dk1"/>
                </a:solidFill>
              </a:rPr>
              <a:t>, </a:t>
            </a:r>
            <a:r>
              <a:rPr lang="en-GB" sz="1000" u="sng">
                <a:solidFill>
                  <a:schemeClr val="hlink"/>
                </a:solidFill>
                <a:hlinkClick r:id="rId6"/>
              </a:rPr>
              <a:t>phamyen14092005@gmail.com</a:t>
            </a:r>
            <a:r>
              <a:rPr lang="en-GB" sz="1000">
                <a:solidFill>
                  <a:schemeClr val="dk1"/>
                </a:solidFill>
              </a:rPr>
              <a:t>, </a:t>
            </a:r>
            <a:r>
              <a:rPr lang="en-GB" sz="1000" u="sng">
                <a:solidFill>
                  <a:schemeClr val="hlink"/>
                </a:solidFill>
                <a:hlinkClick r:id="rId7"/>
              </a:rPr>
              <a:t>dohai30062005@gmail.com</a:t>
            </a:r>
            <a:r>
              <a:rPr lang="en-GB" sz="1000">
                <a:solidFill>
                  <a:schemeClr val="dk1"/>
                </a:solidFill>
              </a:rPr>
              <a:t>, </a:t>
            </a:r>
            <a:r>
              <a:rPr lang="en-GB" sz="1000" u="sng">
                <a:solidFill>
                  <a:schemeClr val="hlink"/>
                </a:solidFill>
                <a:hlinkClick r:id="rId8"/>
              </a:rPr>
              <a:t>tranthai189765@gmail.com</a:t>
            </a:r>
            <a:r>
              <a:rPr lang="en-GB" sz="1000">
                <a:solidFill>
                  <a:schemeClr val="dk1"/>
                </a:solidFill>
              </a:rPr>
              <a:t>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nvSpPr>
        <p:spPr>
          <a:xfrm>
            <a:off x="388850" y="265900"/>
            <a:ext cx="8181600" cy="43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tuan nha &amp; co: </a:t>
            </a:r>
            <a:r>
              <a:rPr lang="en-GB" sz="1000" u="sng">
                <a:solidFill>
                  <a:schemeClr val="hlink"/>
                </a:solidFill>
                <a:hlinkClick r:id="rId3"/>
              </a:rPr>
              <a:t>https://docs.google.com/document/d/1Aan6Mq7eMjMzKK3Qvjz6u9PUxD4K9QyUu6hHG1_wuQg/edit?usp=sharing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danh sách gmail các thành viên: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000" u="sng">
                <a:solidFill>
                  <a:schemeClr val="hlink"/>
                </a:solidFill>
                <a:hlinkClick r:id="rId4"/>
              </a:rPr>
              <a:t>panzo2005@gmail.com</a:t>
            </a:r>
            <a:r>
              <a:rPr lang="en-GB" sz="1000">
                <a:solidFill>
                  <a:schemeClr val="dk1"/>
                </a:solidFill>
              </a:rPr>
              <a:t>, </a:t>
            </a:r>
            <a:r>
              <a:rPr lang="en-GB" sz="1000" u="sng">
                <a:solidFill>
                  <a:schemeClr val="hlink"/>
                </a:solidFill>
                <a:hlinkClick r:id="rId5"/>
              </a:rPr>
              <a:t>ductamhyntt@gmail.com</a:t>
            </a:r>
            <a:r>
              <a:rPr lang="en-GB" sz="1000">
                <a:solidFill>
                  <a:schemeClr val="dk1"/>
                </a:solidFill>
              </a:rPr>
              <a:t>, </a:t>
            </a:r>
            <a:r>
              <a:rPr lang="en-GB" sz="1000" u="sng">
                <a:solidFill>
                  <a:schemeClr val="hlink"/>
                </a:solidFill>
                <a:hlinkClick r:id="rId6"/>
              </a:rPr>
              <a:t>ngoctrung05hd@gmail.com</a:t>
            </a:r>
            <a:r>
              <a:rPr lang="en-GB" sz="1000">
                <a:solidFill>
                  <a:schemeClr val="dk1"/>
                </a:solidFill>
              </a:rPr>
              <a:t>, </a:t>
            </a:r>
            <a:r>
              <a:rPr lang="en-GB" sz="1000" u="sng">
                <a:solidFill>
                  <a:schemeClr val="hlink"/>
                </a:solidFill>
                <a:hlinkClick r:id="rId7"/>
              </a:rPr>
              <a:t>tuannghia75789905@gmail.com</a:t>
            </a:r>
            <a:r>
              <a:rPr lang="en-GB" sz="1000">
                <a:solidFill>
                  <a:schemeClr val="dk1"/>
                </a:solidFill>
              </a:rPr>
              <a:t>, atuan.nh2810@gmail.com</a:t>
            </a:r>
            <a:endParaRPr sz="1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nvSpPr>
        <p:spPr>
          <a:xfrm>
            <a:off x="2560175" y="150325"/>
            <a:ext cx="4136400" cy="488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000">
                <a:solidFill>
                  <a:schemeClr val="dk1"/>
                </a:solidFill>
              </a:rPr>
              <a:t>ĐẠI HỌC BÁCH KHOA HÀ NỘI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rPr b="1" lang="en-GB" sz="1000">
                <a:solidFill>
                  <a:schemeClr val="dk1"/>
                </a:solidFill>
              </a:rPr>
              <a:t>BÀI TẬP LỚN</a:t>
            </a:r>
            <a:endParaRPr b="1" sz="1000">
              <a:solidFill>
                <a:schemeClr val="dk1"/>
              </a:solidFill>
            </a:endParaRPr>
          </a:p>
          <a:p>
            <a:pPr indent="0" lvl="0" marL="0" rtl="0" algn="ctr">
              <a:lnSpc>
                <a:spcPct val="115000"/>
              </a:lnSpc>
              <a:spcBef>
                <a:spcPts val="0"/>
              </a:spcBef>
              <a:spcAft>
                <a:spcPts val="0"/>
              </a:spcAft>
              <a:buNone/>
            </a:pPr>
            <a:r>
              <a:rPr lang="en-GB" sz="1000">
                <a:solidFill>
                  <a:schemeClr val="dk1"/>
                </a:solidFill>
              </a:rPr>
              <a:t>Phân tích và thiết kế Hệ thống</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rPr lang="en-GB" sz="1000">
                <a:solidFill>
                  <a:schemeClr val="dk1"/>
                </a:solidFill>
              </a:rPr>
              <a:t>Đề tài:</a:t>
            </a:r>
            <a:endParaRPr sz="1000">
              <a:solidFill>
                <a:schemeClr val="dk1"/>
              </a:solidFill>
            </a:endParaRPr>
          </a:p>
          <a:p>
            <a:pPr indent="0" lvl="0" marL="0" rtl="0" algn="ctr">
              <a:lnSpc>
                <a:spcPct val="115000"/>
              </a:lnSpc>
              <a:spcBef>
                <a:spcPts val="0"/>
              </a:spcBef>
              <a:spcAft>
                <a:spcPts val="0"/>
              </a:spcAft>
              <a:buNone/>
            </a:pPr>
            <a:r>
              <a:rPr lang="en-GB" sz="1000">
                <a:solidFill>
                  <a:schemeClr val="dk1"/>
                </a:solidFill>
              </a:rPr>
              <a:t>Quản lý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1890000" lvl="0" marL="0" rtl="0" algn="l">
              <a:lnSpc>
                <a:spcPct val="115000"/>
              </a:lnSpc>
              <a:spcBef>
                <a:spcPts val="0"/>
              </a:spcBef>
              <a:spcAft>
                <a:spcPts val="0"/>
              </a:spcAft>
              <a:buNone/>
            </a:pPr>
            <a:r>
              <a:rPr lang="en-GB" sz="1000">
                <a:solidFill>
                  <a:schemeClr val="dk1"/>
                </a:solidFill>
              </a:rPr>
              <a:t>Nhóm sinh viên: Ộp Ộp</a:t>
            </a:r>
            <a:endParaRPr sz="1000">
              <a:solidFill>
                <a:schemeClr val="dk1"/>
              </a:solidFill>
            </a:endParaRPr>
          </a:p>
          <a:p>
            <a:pPr indent="1981200" lvl="0" marL="269999" rtl="0" algn="l">
              <a:lnSpc>
                <a:spcPct val="115000"/>
              </a:lnSpc>
              <a:spcBef>
                <a:spcPts val="0"/>
              </a:spcBef>
              <a:spcAft>
                <a:spcPts val="0"/>
              </a:spcAft>
              <a:buNone/>
            </a:pPr>
            <a:r>
              <a:rPr lang="en-GB" sz="1000">
                <a:solidFill>
                  <a:schemeClr val="dk1"/>
                </a:solidFill>
              </a:rPr>
              <a:t>1.</a:t>
            </a:r>
            <a:endParaRPr sz="1000">
              <a:solidFill>
                <a:schemeClr val="dk1"/>
              </a:solidFill>
            </a:endParaRPr>
          </a:p>
          <a:p>
            <a:pPr indent="1981200" lvl="0" marL="269999" rtl="0" algn="l">
              <a:lnSpc>
                <a:spcPct val="115000"/>
              </a:lnSpc>
              <a:spcBef>
                <a:spcPts val="0"/>
              </a:spcBef>
              <a:spcAft>
                <a:spcPts val="0"/>
              </a:spcAft>
              <a:buNone/>
            </a:pPr>
            <a:r>
              <a:rPr lang="en-GB" sz="1000">
                <a:solidFill>
                  <a:schemeClr val="dk1"/>
                </a:solidFill>
              </a:rPr>
              <a:t>2.</a:t>
            </a:r>
            <a:endParaRPr sz="1000">
              <a:solidFill>
                <a:schemeClr val="dk1"/>
              </a:solidFill>
            </a:endParaRPr>
          </a:p>
          <a:p>
            <a:pPr indent="1981200" lvl="0" marL="269999" rtl="0" algn="l">
              <a:lnSpc>
                <a:spcPct val="115000"/>
              </a:lnSpc>
              <a:spcBef>
                <a:spcPts val="0"/>
              </a:spcBef>
              <a:spcAft>
                <a:spcPts val="0"/>
              </a:spcAft>
              <a:buNone/>
            </a:pPr>
            <a:r>
              <a:rPr lang="en-GB" sz="1000">
                <a:solidFill>
                  <a:schemeClr val="dk1"/>
                </a:solidFill>
              </a:rPr>
              <a:t>3</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179999" lvl="0" marL="2069999" rtl="0" algn="l">
              <a:lnSpc>
                <a:spcPct val="115000"/>
              </a:lnSpc>
              <a:spcBef>
                <a:spcPts val="0"/>
              </a:spcBef>
              <a:spcAft>
                <a:spcPts val="0"/>
              </a:spcAft>
              <a:buNone/>
            </a:pPr>
            <a:r>
              <a:rPr lang="en-GB" sz="1000">
                <a:solidFill>
                  <a:schemeClr val="dk1"/>
                </a:solidFill>
              </a:rPr>
              <a:t>GV. Hướng dẫn: TS. Nguyễn Bá Ngọc</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t/>
            </a:r>
            <a:endParaRPr sz="1000">
              <a:solidFill>
                <a:schemeClr val="dk1"/>
              </a:solidFill>
            </a:endParaRPr>
          </a:p>
          <a:p>
            <a:pPr indent="0" lvl="0" marL="0" rtl="0" algn="ctr">
              <a:lnSpc>
                <a:spcPct val="115000"/>
              </a:lnSpc>
              <a:spcBef>
                <a:spcPts val="0"/>
              </a:spcBef>
              <a:spcAft>
                <a:spcPts val="0"/>
              </a:spcAft>
              <a:buNone/>
            </a:pPr>
            <a:r>
              <a:rPr lang="en-GB" sz="1000">
                <a:solidFill>
                  <a:schemeClr val="dk1"/>
                </a:solidFill>
              </a:rPr>
              <a:t>Hà Nội: 6/2026</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Ộ Ộ </a:t>
            </a:r>
            <a:endParaRPr/>
          </a:p>
        </p:txBody>
      </p:sp>
      <p:sp>
        <p:nvSpPr>
          <p:cNvPr id="106" name="Google Shape;106;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Đỗ Trần Trung Hiếu</a:t>
            </a:r>
            <a:endParaRPr/>
          </a:p>
          <a:p>
            <a:pPr indent="0" lvl="0" marL="0" rtl="0" algn="l">
              <a:spcBef>
                <a:spcPts val="1200"/>
              </a:spcBef>
              <a:spcAft>
                <a:spcPts val="0"/>
              </a:spcAft>
              <a:buNone/>
            </a:pPr>
            <a:r>
              <a:rPr lang="en-GB"/>
              <a:t>2.	Lê Quang Dũng</a:t>
            </a:r>
            <a:endParaRPr/>
          </a:p>
          <a:p>
            <a:pPr indent="0" lvl="0" marL="0" rtl="0" algn="l">
              <a:spcBef>
                <a:spcPts val="1200"/>
              </a:spcBef>
              <a:spcAft>
                <a:spcPts val="0"/>
              </a:spcAft>
              <a:buNone/>
            </a:pPr>
            <a:r>
              <a:rPr lang="en-GB"/>
              <a:t>3.	Nguyễn Việt Hoàng</a:t>
            </a:r>
            <a:endParaRPr/>
          </a:p>
          <a:p>
            <a:pPr indent="0" lvl="0" marL="0" rtl="0" algn="l">
              <a:spcBef>
                <a:spcPts val="1200"/>
              </a:spcBef>
              <a:spcAft>
                <a:spcPts val="0"/>
              </a:spcAft>
              <a:buNone/>
            </a:pPr>
            <a:r>
              <a:rPr lang="en-GB"/>
              <a:t>4.	Nguyễn Quang Huy</a:t>
            </a:r>
            <a:endParaRPr/>
          </a:p>
          <a:p>
            <a:pPr indent="0" lvl="0" marL="0" rtl="0" algn="l">
              <a:spcBef>
                <a:spcPts val="1200"/>
              </a:spcBef>
              <a:spcAft>
                <a:spcPts val="1200"/>
              </a:spcAft>
              <a:buNone/>
            </a:pPr>
            <a:r>
              <a:rPr lang="en-GB"/>
              <a:t>5.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311700" y="181775"/>
            <a:ext cx="8520600" cy="44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Ộ Ộ</a:t>
            </a:r>
            <a:endParaRPr/>
          </a:p>
        </p:txBody>
      </p:sp>
      <p:sp>
        <p:nvSpPr>
          <p:cNvPr id="112" name="Google Shape;112;p24"/>
          <p:cNvSpPr txBox="1"/>
          <p:nvPr>
            <p:ph idx="1" type="body"/>
          </p:nvPr>
        </p:nvSpPr>
        <p:spPr>
          <a:xfrm>
            <a:off x="311700" y="737675"/>
            <a:ext cx="8520600" cy="455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rgbClr val="1F1F1F"/>
                </a:solidFill>
                <a:latin typeface="Google Sans"/>
                <a:ea typeface="Google Sans"/>
                <a:cs typeface="Google Sans"/>
                <a:sym typeface="Google Sans"/>
              </a:rPr>
              <a:t>Hệ Thống Quản Lý Học Tập Độ LMS</a:t>
            </a:r>
            <a:endParaRPr sz="13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GB" sz="1000">
                <a:solidFill>
                  <a:srgbClr val="1F1F1F"/>
                </a:solidFill>
                <a:latin typeface="Google Sans"/>
                <a:ea typeface="Google Sans"/>
                <a:cs typeface="Google Sans"/>
                <a:sym typeface="Google Sans"/>
              </a:rPr>
              <a:t>1. Độ LMS là gì và các thành phần cơ bản</a:t>
            </a:r>
            <a:endParaRPr sz="1000">
              <a:solidFill>
                <a:srgbClr val="1F1F1F"/>
              </a:solidFill>
              <a:latin typeface="Google Sans"/>
              <a:ea typeface="Google Sans"/>
              <a:cs typeface="Google Sans"/>
              <a:sym typeface="Google Sans"/>
            </a:endParaRPr>
          </a:p>
          <a:p>
            <a:pPr indent="0" lvl="0" marL="0" rtl="0" algn="l">
              <a:lnSpc>
                <a:spcPct val="115000"/>
              </a:lnSpc>
              <a:spcBef>
                <a:spcPts val="1200"/>
              </a:spcBef>
              <a:spcAft>
                <a:spcPts val="0"/>
              </a:spcAft>
              <a:buClr>
                <a:schemeClr val="dk1"/>
              </a:buClr>
              <a:buSzPts val="1100"/>
              <a:buFont typeface="Arial"/>
              <a:buNone/>
            </a:pPr>
            <a:r>
              <a:rPr lang="en-GB" sz="1000">
                <a:solidFill>
                  <a:srgbClr val="1F1F1F"/>
                </a:solidFill>
                <a:latin typeface="Google Sans"/>
                <a:ea typeface="Google Sans"/>
                <a:cs typeface="Google Sans"/>
                <a:sym typeface="Google Sans"/>
              </a:rPr>
              <a:t>Về mặt cấu trúc, hệ thống cung cấp các thành phần cơ bản sau:</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600"/>
              </a:spcBef>
              <a:spcAft>
                <a:spcPts val="0"/>
              </a:spcAft>
              <a:buClr>
                <a:schemeClr val="dk1"/>
              </a:buClr>
              <a:buSzPts val="1000"/>
              <a:buChar char="●"/>
            </a:pPr>
            <a:r>
              <a:rPr lang="en-GB" sz="1000">
                <a:solidFill>
                  <a:srgbClr val="1F1F1F"/>
                </a:solidFill>
                <a:latin typeface="Google Sans"/>
                <a:ea typeface="Google Sans"/>
                <a:cs typeface="Google Sans"/>
                <a:sym typeface="Google Sans"/>
              </a:rPr>
              <a:t>Quản lý khóa học và tín chỉ: Cấp phát các lớp học, môn học và cho phép sinh viên đăng ký, theo dõi lộ trình học tập.</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Quản lý vòng đời bài tập: Tự động hóa và theo dõi toàn bộ trạng thái của một bài kiểm tra/bài tập (Giảng viên mở bài -&gt; Sinh viên nộp bài -&gt; Giảng viên chấm -&gt; Công bố điểm).</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Hệ thống đánh giá và điểm số: Lưu trữ, tổng hợp và báo cáo điểm số minh bạch.</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Quản lý người dùng: Phân quyền rõ ràng cho các nhóm đối tượng như Quản trị viên, Giảng viên và Sinh viên.</a:t>
            </a:r>
            <a:endParaRPr sz="1000">
              <a:solidFill>
                <a:srgbClr val="1F1F1F"/>
              </a:solidFill>
              <a:latin typeface="Google Sans"/>
              <a:ea typeface="Google Sans"/>
              <a:cs typeface="Google Sans"/>
              <a:sym typeface="Google Sans"/>
            </a:endParaRPr>
          </a:p>
          <a:p>
            <a:pPr indent="0" lvl="0" marL="0" rtl="0" algn="l">
              <a:lnSpc>
                <a:spcPct val="115000"/>
              </a:lnSpc>
              <a:spcBef>
                <a:spcPts val="1200"/>
              </a:spcBef>
              <a:spcAft>
                <a:spcPts val="0"/>
              </a:spcAft>
              <a:buClr>
                <a:schemeClr val="dk1"/>
              </a:buClr>
              <a:buSzPts val="1100"/>
              <a:buFont typeface="Arial"/>
              <a:buNone/>
            </a:pPr>
            <a:r>
              <a:rPr lang="en-GB" sz="1000">
                <a:solidFill>
                  <a:srgbClr val="1F1F1F"/>
                </a:solidFill>
                <a:latin typeface="Google Sans"/>
                <a:ea typeface="Google Sans"/>
                <a:cs typeface="Google Sans"/>
                <a:sym typeface="Google Sans"/>
              </a:rPr>
              <a:t>2. Tại sao cần thiết xây dựng hệ thống này?</a:t>
            </a:r>
            <a:endParaRPr sz="10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rPr lang="en-GB" sz="1000">
                <a:solidFill>
                  <a:srgbClr val="1F1F1F"/>
                </a:solidFill>
                <a:latin typeface="Google Sans"/>
                <a:ea typeface="Google Sans"/>
                <a:cs typeface="Google Sans"/>
                <a:sym typeface="Google Sans"/>
              </a:rPr>
              <a:t>Việc triển khai một hệ thống thông tin toàn diện như Độ LMS nhằm giải quyết các vấn đề cốt lõi và đáp ứng tính cấp thiết trong giáo dục hiện đại:</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600"/>
              </a:spcBef>
              <a:spcAft>
                <a:spcPts val="0"/>
              </a:spcAft>
              <a:buClr>
                <a:schemeClr val="dk1"/>
              </a:buClr>
              <a:buSzPts val="1000"/>
              <a:buChar char="●"/>
            </a:pPr>
            <a:r>
              <a:rPr lang="en-GB" sz="1000">
                <a:solidFill>
                  <a:srgbClr val="1F1F1F"/>
                </a:solidFill>
                <a:latin typeface="Google Sans"/>
                <a:ea typeface="Google Sans"/>
                <a:cs typeface="Google Sans"/>
                <a:sym typeface="Google Sans"/>
              </a:rPr>
              <a:t>Tập trung hóa dữ liệu quản lý: Xóa bỏ tình trạng lưu trữ tài liệu, điểm số và bài tập phân tán trên nhiều công cụ rời rạc. Hệ thống gom mọi luồng thông tin về một nguồn duy nhất, giúp nhà trường quản lý chặt chẽ và an toàn.</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Giải quyết bài toán vận hành thủ công: Thay vì nộp bài giấy hay quản lý điểm qua bảng tính excel dễ sai sót, hệ thống số hóa hoàn toàn quy trình giao/nộp và chấm bài, tiết kiệm hàng ngàn giờ làm việc hành chính cho giảng viên.</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Nâng cao tính kết nối và tương tác: Xóa bỏ rào cản thời gian và không gian giữa giảng viên và sinh viên. Người học có thể tiếp cận tài nguyên, cập nhật thông báo và nhận phản hồi đánh giá ngay lập tức.</a:t>
            </a:r>
            <a:endParaRPr sz="1000">
              <a:solidFill>
                <a:srgbClr val="1F1F1F"/>
              </a:solidFill>
              <a:latin typeface="Google Sans"/>
              <a:ea typeface="Google Sans"/>
              <a:cs typeface="Google Sans"/>
              <a:sym typeface="Google Sans"/>
            </a:endParaRPr>
          </a:p>
          <a:p>
            <a:pPr indent="-292100" lvl="0" marL="295275" rtl="0" algn="l">
              <a:lnSpc>
                <a:spcPct val="115000"/>
              </a:lnSpc>
              <a:spcBef>
                <a:spcPts val="0"/>
              </a:spcBef>
              <a:spcAft>
                <a:spcPts val="0"/>
              </a:spcAft>
              <a:buClr>
                <a:schemeClr val="dk1"/>
              </a:buClr>
              <a:buSzPts val="1000"/>
              <a:buChar char="●"/>
            </a:pPr>
            <a:r>
              <a:rPr lang="en-GB" sz="1000">
                <a:solidFill>
                  <a:srgbClr val="1F1F1F"/>
                </a:solidFill>
                <a:latin typeface="Google Sans"/>
                <a:ea typeface="Google Sans"/>
                <a:cs typeface="Google Sans"/>
                <a:sym typeface="Google Sans"/>
              </a:rPr>
              <a:t>Tính cấp thiết của giáo dục số: Trong kỷ nguyên chuyển đổi số, việc sở hữu một nền tảng LMS ổn định là yêu cầu bắt buộc để các trường đại học duy trì sự linh hoạt, hỗ trợ cả mô hình học trực tiếp lẫn học từ xa hiệu quả.</a:t>
            </a:r>
            <a:endParaRPr sz="1000">
              <a:solidFill>
                <a:srgbClr val="1F1F1F"/>
              </a:solidFill>
              <a:latin typeface="Google Sans"/>
              <a:ea typeface="Google Sans"/>
              <a:cs typeface="Google Sans"/>
              <a:sym typeface="Google Sans"/>
            </a:endParaRPr>
          </a:p>
          <a:p>
            <a:pPr indent="0" lvl="0" marL="0" rtl="0" algn="l">
              <a:lnSpc>
                <a:spcPct val="115000"/>
              </a:lnSpc>
              <a:spcBef>
                <a:spcPts val="600"/>
              </a:spcBef>
              <a:spcAft>
                <a:spcPts val="0"/>
              </a:spcAft>
              <a:buClr>
                <a:schemeClr val="dk1"/>
              </a:buClr>
              <a:buSzPts val="1100"/>
              <a:buFont typeface="Arial"/>
              <a:buNone/>
            </a:pPr>
            <a:r>
              <a:t/>
            </a:r>
            <a:endParaRPr sz="1000">
              <a:solidFill>
                <a:srgbClr val="1F1F1F"/>
              </a:solidFill>
              <a:latin typeface="Google Sans"/>
              <a:ea typeface="Google Sans"/>
              <a:cs typeface="Google Sans"/>
              <a:sym typeface="Google Sans"/>
            </a:endParaRPr>
          </a:p>
          <a:p>
            <a:pPr indent="0" lvl="0" marL="0" rtl="0" algn="l">
              <a:spcBef>
                <a:spcPts val="1200"/>
              </a:spcBef>
              <a:spcAft>
                <a:spcPts val="120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5"/>
          <p:cNvSpPr txBox="1"/>
          <p:nvPr>
            <p:ph type="title"/>
          </p:nvPr>
        </p:nvSpPr>
        <p:spPr>
          <a:xfrm>
            <a:off x="311700" y="1134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Nhóm </a:t>
            </a:r>
            <a:r>
              <a:rPr lang="en-GB"/>
              <a:t>Hòn Đảo </a:t>
            </a:r>
            <a:endParaRPr/>
          </a:p>
        </p:txBody>
      </p:sp>
      <p:sp>
        <p:nvSpPr>
          <p:cNvPr id="118" name="Google Shape;118;p25"/>
          <p:cNvSpPr txBox="1"/>
          <p:nvPr>
            <p:ph idx="1" type="body"/>
          </p:nvPr>
        </p:nvSpPr>
        <p:spPr>
          <a:xfrm>
            <a:off x="168325" y="79370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T</a:t>
            </a:r>
            <a:r>
              <a:rPr lang="en-GB"/>
              <a:t>rương Công Cảnh</a:t>
            </a:r>
            <a:endParaRPr/>
          </a:p>
          <a:p>
            <a:pPr indent="-342900" lvl="0" marL="457200" rtl="0" algn="l">
              <a:spcBef>
                <a:spcPts val="0"/>
              </a:spcBef>
              <a:spcAft>
                <a:spcPts val="0"/>
              </a:spcAft>
              <a:buSzPts val="1800"/>
              <a:buAutoNum type="arabicPeriod"/>
            </a:pPr>
            <a:r>
              <a:rPr lang="en-GB"/>
              <a:t>Nguyễn Tấn Dũng</a:t>
            </a:r>
            <a:endParaRPr/>
          </a:p>
          <a:p>
            <a:pPr indent="-342900" lvl="0" marL="457200" rtl="0" algn="l">
              <a:spcBef>
                <a:spcPts val="0"/>
              </a:spcBef>
              <a:spcAft>
                <a:spcPts val="0"/>
              </a:spcAft>
              <a:buSzPts val="1800"/>
              <a:buAutoNum type="arabicPeriod"/>
            </a:pPr>
            <a:r>
              <a:rPr lang="en-GB"/>
              <a:t>Nguyễn Bá Nhật Hoàng</a:t>
            </a:r>
            <a:endParaRPr/>
          </a:p>
          <a:p>
            <a:pPr indent="-342900" lvl="0" marL="457200" rtl="0" algn="l">
              <a:spcBef>
                <a:spcPts val="0"/>
              </a:spcBef>
              <a:spcAft>
                <a:spcPts val="0"/>
              </a:spcAft>
              <a:buSzPts val="1800"/>
              <a:buAutoNum type="arabicPeriod"/>
            </a:pPr>
            <a:r>
              <a:rPr lang="en-GB"/>
              <a:t>Tăng Trần Mạnh Hưng</a:t>
            </a:r>
            <a:endParaRPr/>
          </a:p>
          <a:p>
            <a:pPr indent="-342900" lvl="0" marL="457200" rtl="0" algn="l">
              <a:spcBef>
                <a:spcPts val="0"/>
              </a:spcBef>
              <a:spcAft>
                <a:spcPts val="0"/>
              </a:spcAft>
              <a:buSzPts val="1800"/>
              <a:buAutoNum type="arabicPeriod"/>
            </a:pPr>
            <a:r>
              <a:rPr lang="en-GB"/>
              <a:t>Mai Lê Phú Quang</a:t>
            </a:r>
            <a:endParaRPr/>
          </a:p>
          <a:p>
            <a:pPr indent="0" lvl="0" marL="0" rtl="0" algn="l">
              <a:spcBef>
                <a:spcPts val="1200"/>
              </a:spcBef>
              <a:spcAft>
                <a:spcPts val="0"/>
              </a:spcAft>
              <a:buNone/>
            </a:pPr>
            <a:r>
              <a:rPr lang="en-GB"/>
              <a:t>(Chủ đề ở slide sau)</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6"/>
          <p:cNvSpPr txBox="1"/>
          <p:nvPr/>
        </p:nvSpPr>
        <p:spPr>
          <a:xfrm>
            <a:off x="0" y="0"/>
            <a:ext cx="8899200" cy="460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rPr>
              <a:t>Chủ đề:</a:t>
            </a:r>
            <a:r>
              <a:rPr lang="en-GB" sz="1800">
                <a:solidFill>
                  <a:schemeClr val="dk1"/>
                </a:solidFill>
              </a:rPr>
              <a:t> Hệ thống bán hàng online (e-commerce)</a:t>
            </a:r>
            <a:endParaRPr sz="1800">
              <a:solidFill>
                <a:schemeClr val="dk1"/>
              </a:solidFill>
            </a:endParaRPr>
          </a:p>
          <a:p>
            <a:pPr indent="0" lvl="0" marL="0" rtl="0" algn="l">
              <a:lnSpc>
                <a:spcPct val="115000"/>
              </a:lnSpc>
              <a:spcBef>
                <a:spcPts val="1200"/>
              </a:spcBef>
              <a:spcAft>
                <a:spcPts val="0"/>
              </a:spcAft>
              <a:buNone/>
            </a:pPr>
            <a:r>
              <a:rPr b="1" lang="en-GB" sz="1600">
                <a:solidFill>
                  <a:schemeClr val="dk1"/>
                </a:solidFill>
              </a:rPr>
              <a:t>Lí do chọn chủ đề:</a:t>
            </a:r>
            <a:endParaRPr b="1" sz="1600">
              <a:solidFill>
                <a:schemeClr val="dk1"/>
              </a:solidFill>
            </a:endParaRPr>
          </a:p>
          <a:p>
            <a:pPr indent="0" lvl="0" marL="0" rtl="0" algn="l">
              <a:lnSpc>
                <a:spcPct val="115000"/>
              </a:lnSpc>
              <a:spcBef>
                <a:spcPts val="1200"/>
              </a:spcBef>
              <a:spcAft>
                <a:spcPts val="0"/>
              </a:spcAft>
              <a:buNone/>
            </a:pPr>
            <a:r>
              <a:rPr b="1" lang="en-GB" sz="1100">
                <a:solidFill>
                  <a:schemeClr val="dk1"/>
                </a:solidFill>
              </a:rPr>
              <a:t>Tính thực tế và phổ biến cao</a:t>
            </a:r>
            <a:r>
              <a:rPr lang="en-GB" sz="1100">
                <a:solidFill>
                  <a:schemeClr val="dk1"/>
                </a:solidFill>
              </a:rPr>
              <a:t>: Hiện nay các hệ thống bán hàng online như Shopee, Lazada hay Amazon xuất hiện rất nhiều trong đời sống hàng ngày. Vì vậy chọn đề tài này giúp nhóm dễ liên hệ thực tế và hiểu rõ cách một hệ thống thương mại điện tử vận hành.</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Bao quát nhiều chức năng quan trọng của một hệ thống thông tin</a:t>
            </a:r>
            <a:r>
              <a:rPr lang="en-GB" sz="1100">
                <a:solidFill>
                  <a:schemeClr val="dk1"/>
                </a:solidFill>
              </a:rPr>
              <a:t>: Hệ thống e-commerce có đầy đủ các chức năng như quản lý người dùng, sản phẩm, giỏ hàng, đơn hàng, thanh toán và thống kê. Nhờ đó nhóm có thể áp dụng hầu hết các nội dung đã học trong môn Phân tích và Thiết kế Hệ thống.</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Phù hợp để thực hành các mô hình và sơ đồ thiết kế</a:t>
            </a:r>
            <a:r>
              <a:rPr lang="en-GB" sz="1100">
                <a:solidFill>
                  <a:schemeClr val="dk1"/>
                </a:solidFill>
              </a:rPr>
              <a:t>: Với đề tài này, nhóm có thể xây dựng use case diagram, vẽ ERD, class diagram, sequence diagram một cách rõ ràng và logic vì các thực thể và luồng xử lý tương đối dễ xác định.</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Dễ mở rộng và sáng tạo thêm tính năng</a:t>
            </a:r>
            <a:r>
              <a:rPr lang="en-GB" sz="1100">
                <a:solidFill>
                  <a:schemeClr val="dk1"/>
                </a:solidFill>
              </a:rPr>
              <a:t>: Ngoài các chức năng cơ bản, hệ thống có thể phát triển thêm các tính năng nâng cao như gợi ý sản phẩm, đánh giá – bình luận, mã giảm giá hoặc chatbot hỗ trợ khách hàng, giúp bài làm phong phú hơn.</a:t>
            </a:r>
            <a:br>
              <a:rPr lang="en-GB" sz="1100">
                <a:solidFill>
                  <a:schemeClr val="dk1"/>
                </a:solidFill>
              </a:rPr>
            </a:br>
            <a:endParaRPr sz="1100">
              <a:solidFill>
                <a:schemeClr val="dk1"/>
              </a:solidFill>
            </a:endParaRPr>
          </a:p>
          <a:p>
            <a:pPr indent="0" lvl="0" marL="0" rtl="0" algn="l">
              <a:lnSpc>
                <a:spcPct val="115000"/>
              </a:lnSpc>
              <a:spcBef>
                <a:spcPts val="1200"/>
              </a:spcBef>
              <a:spcAft>
                <a:spcPts val="1200"/>
              </a:spcAft>
              <a:buNone/>
            </a:pPr>
            <a:r>
              <a:rPr b="1" lang="en-GB" sz="1100">
                <a:solidFill>
                  <a:schemeClr val="dk1"/>
                </a:solidFill>
              </a:rPr>
              <a:t>Phù hợp làm bài tập lớn theo nhóm</a:t>
            </a:r>
            <a:r>
              <a:rPr lang="en-GB" sz="1100">
                <a:solidFill>
                  <a:schemeClr val="dk1"/>
                </a:solidFill>
              </a:rPr>
              <a:t>: Đề tài có thể chia thành nhiều phần như phân tích yêu cầu, thiết kế cơ sở dữ liệu, thiết kế giao diện, mô tả kiến trúc hệ thống… nên dễ phân công công việc cho từng thành viên và đảm bảo tiến độ thực hiện.</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hoangdon</a:t>
            </a:r>
            <a:endParaRPr sz="2100">
              <a:solidFill>
                <a:srgbClr val="212529"/>
              </a:solidFill>
              <a:highlight>
                <a:srgbClr val="FFFFFF"/>
              </a:highlight>
            </a:endParaRPr>
          </a:p>
        </p:txBody>
      </p:sp>
      <p:sp>
        <p:nvSpPr>
          <p:cNvPr id="129" name="Google Shape;129;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Trần Tuấn Hoàng</a:t>
            </a:r>
            <a:endParaRPr/>
          </a:p>
          <a:p>
            <a:pPr indent="-342900" lvl="0" marL="457200" rtl="0" algn="l">
              <a:spcBef>
                <a:spcPts val="0"/>
              </a:spcBef>
              <a:spcAft>
                <a:spcPts val="0"/>
              </a:spcAft>
              <a:buSzPts val="1800"/>
              <a:buAutoNum type="arabicPeriod"/>
            </a:pPr>
            <a:r>
              <a:rPr lang="en-GB"/>
              <a:t>Trần Huy Dương</a:t>
            </a:r>
            <a:endParaRPr/>
          </a:p>
          <a:p>
            <a:pPr indent="-342900" lvl="0" marL="457200" rtl="0" algn="l">
              <a:spcBef>
                <a:spcPts val="0"/>
              </a:spcBef>
              <a:spcAft>
                <a:spcPts val="0"/>
              </a:spcAft>
              <a:buSzPts val="1800"/>
              <a:buAutoNum type="arabicPeriod"/>
            </a:pPr>
            <a:r>
              <a:rPr lang="en-GB"/>
              <a:t>Trần Hoài Nam</a:t>
            </a:r>
            <a:endParaRPr/>
          </a:p>
          <a:p>
            <a:pPr indent="-342900" lvl="0" marL="457200" rtl="0" algn="l">
              <a:spcBef>
                <a:spcPts val="0"/>
              </a:spcBef>
              <a:spcAft>
                <a:spcPts val="0"/>
              </a:spcAft>
              <a:buSzPts val="1800"/>
              <a:buAutoNum type="arabicPeriod"/>
            </a:pPr>
            <a:r>
              <a:rPr lang="en-GB"/>
              <a:t>Ngô Vũ Minh</a:t>
            </a:r>
            <a:endParaRPr/>
          </a:p>
          <a:p>
            <a:pPr indent="-342900" lvl="0" marL="457200" rtl="0" algn="l">
              <a:spcBef>
                <a:spcPts val="0"/>
              </a:spcBef>
              <a:spcAft>
                <a:spcPts val="0"/>
              </a:spcAft>
              <a:buSzPts val="1800"/>
              <a:buAutoNum type="arabicPeriod"/>
            </a:pPr>
            <a:r>
              <a:rPr lang="en-GB"/>
              <a:t>Vũ Tuấn Minh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type="title"/>
          </p:nvPr>
        </p:nvSpPr>
        <p:spPr>
          <a:xfrm>
            <a:off x="198700" y="0"/>
            <a:ext cx="8520600" cy="5260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150">
                <a:latin typeface="Times New Roman"/>
                <a:ea typeface="Times New Roman"/>
                <a:cs typeface="Times New Roman"/>
                <a:sym typeface="Times New Roman"/>
              </a:rPr>
              <a:t>Đề tài:</a:t>
            </a:r>
            <a:r>
              <a:rPr lang="en-GB" sz="1150">
                <a:latin typeface="Times New Roman"/>
                <a:ea typeface="Times New Roman"/>
                <a:cs typeface="Times New Roman"/>
                <a:sym typeface="Times New Roman"/>
              </a:rPr>
              <a:t> </a:t>
            </a:r>
            <a:r>
              <a:rPr i="1" lang="en-GB" sz="1150">
                <a:latin typeface="Times New Roman"/>
                <a:ea typeface="Times New Roman"/>
                <a:cs typeface="Times New Roman"/>
                <a:sym typeface="Times New Roman"/>
              </a:rPr>
              <a:t>Hệ thống Quản lý Bệnh viện</a:t>
            </a:r>
            <a:endParaRPr i="1" sz="115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GB" sz="1150">
                <a:latin typeface="Times New Roman"/>
                <a:ea typeface="Times New Roman"/>
                <a:cs typeface="Times New Roman"/>
                <a:sym typeface="Times New Roman"/>
              </a:rPr>
              <a:t>Hệ thống hỗ trợ quản lý các hoạt động cơ bản như: Hồ sơ bệnh nhân, quản lí quá trình khám bệnh và kê đơn,  thanh toán viện phí. Mục tiêu là số hóa và quản lý tập trung thông tin trong bệnh viện/phòng khám.</a:t>
            </a:r>
            <a:endParaRPr sz="115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GB" sz="1150">
                <a:latin typeface="Times New Roman"/>
                <a:ea typeface="Times New Roman"/>
                <a:cs typeface="Times New Roman"/>
                <a:sym typeface="Times New Roman"/>
              </a:rPr>
              <a:t>I. Vì sao cần có hệ thống thông tin?</a:t>
            </a:r>
            <a:endParaRPr b="1" sz="1150">
              <a:latin typeface="Times New Roman"/>
              <a:ea typeface="Times New Roman"/>
              <a:cs typeface="Times New Roman"/>
              <a:sym typeface="Times New Roman"/>
            </a:endParaRPr>
          </a:p>
          <a:p>
            <a:pPr indent="-301625" lvl="0" marL="457200" rtl="0" algn="l">
              <a:lnSpc>
                <a:spcPct val="115000"/>
              </a:lnSpc>
              <a:spcBef>
                <a:spcPts val="1200"/>
              </a:spcBef>
              <a:spcAft>
                <a:spcPts val="0"/>
              </a:spcAft>
              <a:buSzPts val="1150"/>
              <a:buFont typeface="Times New Roman"/>
              <a:buChar char="●"/>
            </a:pPr>
            <a:r>
              <a:rPr lang="en-GB" sz="1150">
                <a:latin typeface="Times New Roman"/>
                <a:ea typeface="Times New Roman"/>
                <a:cs typeface="Times New Roman"/>
                <a:sym typeface="Times New Roman"/>
              </a:rPr>
              <a:t>Ngành y tế đang trong quá trình chuyển đổi số, yêu cầu nâng cao chất lượng phục vụ và hiệu quả quản lý.</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Hoạt động bệnh viện có nhiều bộ phận tham gia (tiếp nhận, bác sĩ, thu ngân…) và nhiều bước xử lý liên tiếp.</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Quy trình nghiệp vụ có tính tuần tự và cần sự phối hợp chặt chẽ giữa các bên.</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Khối lượng dữ liệu lớn (hồ sơ bệnh nhân, đơn thuốc, hóa đơn) cần được lưu trữ chính xác và tra cứu kịp thời.</a:t>
            </a:r>
            <a:endParaRPr sz="115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GB" sz="1150">
                <a:latin typeface="Times New Roman"/>
                <a:ea typeface="Times New Roman"/>
                <a:cs typeface="Times New Roman"/>
                <a:sym typeface="Times New Roman"/>
              </a:rPr>
              <a:t>Vì vậy, cần một hệ thống thông tin để hỗ trợ quản lý đồng bộ và hiệu quả hơn.</a:t>
            </a:r>
            <a:endParaRPr sz="115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GB" sz="1150">
                <a:latin typeface="Times New Roman"/>
                <a:ea typeface="Times New Roman"/>
                <a:cs typeface="Times New Roman"/>
                <a:sym typeface="Times New Roman"/>
              </a:rPr>
              <a:t>II. Hệ thống giúp giải quyết vấn đề và mang lại giá trị gì?</a:t>
            </a:r>
            <a:endParaRPr b="1" sz="115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GB" sz="1150">
                <a:latin typeface="Times New Roman"/>
                <a:ea typeface="Times New Roman"/>
                <a:cs typeface="Times New Roman"/>
                <a:sym typeface="Times New Roman"/>
              </a:rPr>
              <a:t>Giải quyết:</a:t>
            </a:r>
            <a:endParaRPr b="1" sz="1150">
              <a:latin typeface="Times New Roman"/>
              <a:ea typeface="Times New Roman"/>
              <a:cs typeface="Times New Roman"/>
              <a:sym typeface="Times New Roman"/>
            </a:endParaRPr>
          </a:p>
          <a:p>
            <a:pPr indent="-301625" lvl="0" marL="457200" rtl="0" algn="l">
              <a:lnSpc>
                <a:spcPct val="115000"/>
              </a:lnSpc>
              <a:spcBef>
                <a:spcPts val="1200"/>
              </a:spcBef>
              <a:spcAft>
                <a:spcPts val="0"/>
              </a:spcAft>
              <a:buSzPts val="1150"/>
              <a:buFont typeface="Times New Roman"/>
              <a:buChar char="●"/>
            </a:pPr>
            <a:r>
              <a:rPr lang="en-GB" sz="1150">
                <a:latin typeface="Times New Roman"/>
                <a:ea typeface="Times New Roman"/>
                <a:cs typeface="Times New Roman"/>
                <a:sym typeface="Times New Roman"/>
              </a:rPr>
              <a:t>Chuẩn hóa quy trình tiếp nhận – khám – thanh toán</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Quản lý tập trung dữ liệu</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Hỗ trợ phối hợp giữa các bộ phận</a:t>
            </a:r>
            <a:endParaRPr sz="115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GB" sz="1150">
                <a:latin typeface="Times New Roman"/>
                <a:ea typeface="Times New Roman"/>
                <a:cs typeface="Times New Roman"/>
                <a:sym typeface="Times New Roman"/>
              </a:rPr>
              <a:t>Giá trị mang lại:</a:t>
            </a:r>
            <a:endParaRPr b="1" sz="1150">
              <a:latin typeface="Times New Roman"/>
              <a:ea typeface="Times New Roman"/>
              <a:cs typeface="Times New Roman"/>
              <a:sym typeface="Times New Roman"/>
            </a:endParaRPr>
          </a:p>
          <a:p>
            <a:pPr indent="-301625" lvl="0" marL="457200" rtl="0" algn="l">
              <a:lnSpc>
                <a:spcPct val="115000"/>
              </a:lnSpc>
              <a:spcBef>
                <a:spcPts val="1200"/>
              </a:spcBef>
              <a:spcAft>
                <a:spcPts val="0"/>
              </a:spcAft>
              <a:buSzPts val="1150"/>
              <a:buFont typeface="Times New Roman"/>
              <a:buChar char="●"/>
            </a:pPr>
            <a:r>
              <a:rPr lang="en-GB" sz="1150">
                <a:latin typeface="Times New Roman"/>
                <a:ea typeface="Times New Roman"/>
                <a:cs typeface="Times New Roman"/>
                <a:sym typeface="Times New Roman"/>
              </a:rPr>
              <a:t>Nâng cao hiệu quả quản lý</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Giảm sai sót trong xử lý thông tin</a:t>
            </a:r>
            <a:endParaRPr sz="1150">
              <a:latin typeface="Times New Roman"/>
              <a:ea typeface="Times New Roman"/>
              <a:cs typeface="Times New Roman"/>
              <a:sym typeface="Times New Roman"/>
            </a:endParaRPr>
          </a:p>
          <a:p>
            <a:pPr indent="-301625" lvl="0" marL="457200" rtl="0" algn="l">
              <a:lnSpc>
                <a:spcPct val="115000"/>
              </a:lnSpc>
              <a:spcBef>
                <a:spcPts val="0"/>
              </a:spcBef>
              <a:spcAft>
                <a:spcPts val="0"/>
              </a:spcAft>
              <a:buSzPts val="1150"/>
              <a:buFont typeface="Times New Roman"/>
              <a:buChar char="●"/>
            </a:pPr>
            <a:r>
              <a:rPr lang="en-GB" sz="1150">
                <a:latin typeface="Times New Roman"/>
                <a:ea typeface="Times New Roman"/>
                <a:cs typeface="Times New Roman"/>
                <a:sym typeface="Times New Roman"/>
              </a:rPr>
              <a:t>Hỗ trợ tổng hợp và báo cáo dữ liệu</a:t>
            </a:r>
            <a:endParaRPr sz="1150">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t/>
            </a:r>
            <a:endParaRPr sz="1150">
              <a:solidFill>
                <a:srgbClr val="21252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Bop Bop</a:t>
            </a:r>
            <a:endParaRPr/>
          </a:p>
        </p:txBody>
      </p:sp>
      <p:sp>
        <p:nvSpPr>
          <p:cNvPr id="140" name="Google Shape;140;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Đoàn Tiến Thành</a:t>
            </a:r>
            <a:endParaRPr/>
          </a:p>
          <a:p>
            <a:pPr indent="-342900" lvl="0" marL="457200" rtl="0" algn="l">
              <a:spcBef>
                <a:spcPts val="0"/>
              </a:spcBef>
              <a:spcAft>
                <a:spcPts val="0"/>
              </a:spcAft>
              <a:buSzPts val="1800"/>
              <a:buAutoNum type="arabicPeriod"/>
            </a:pPr>
            <a:r>
              <a:rPr lang="en-GB"/>
              <a:t>Sái Văn Hiếu</a:t>
            </a:r>
            <a:endParaRPr/>
          </a:p>
          <a:p>
            <a:pPr indent="-342900" lvl="0" marL="457200" rtl="0" algn="l">
              <a:spcBef>
                <a:spcPts val="0"/>
              </a:spcBef>
              <a:spcAft>
                <a:spcPts val="0"/>
              </a:spcAft>
              <a:buSzPts val="1800"/>
              <a:buAutoNum type="arabicPeriod"/>
            </a:pPr>
            <a:r>
              <a:rPr lang="en-GB"/>
              <a:t>Lê Quý Thành</a:t>
            </a:r>
            <a:endParaRPr/>
          </a:p>
          <a:p>
            <a:pPr indent="-342900" lvl="0" marL="457200" rtl="0" algn="l">
              <a:spcBef>
                <a:spcPts val="0"/>
              </a:spcBef>
              <a:spcAft>
                <a:spcPts val="0"/>
              </a:spcAft>
              <a:buSzPts val="1800"/>
              <a:buAutoNum type="arabicPeriod"/>
            </a:pPr>
            <a:r>
              <a:rPr lang="en-GB"/>
              <a:t>Đỗ Văn Tài</a:t>
            </a:r>
            <a:endParaRPr/>
          </a:p>
          <a:p>
            <a:pPr indent="-342900" lvl="0" marL="457200" rtl="0" algn="l">
              <a:spcBef>
                <a:spcPts val="0"/>
              </a:spcBef>
              <a:spcAft>
                <a:spcPts val="0"/>
              </a:spcAft>
              <a:buSzPts val="1800"/>
              <a:buAutoNum type="arabicPeriod"/>
            </a:pPr>
            <a:r>
              <a:rPr lang="en-GB"/>
              <a:t>Cao Huy Thịnh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0"/>
          <p:cNvSpPr txBox="1"/>
          <p:nvPr/>
        </p:nvSpPr>
        <p:spPr>
          <a:xfrm>
            <a:off x="0" y="0"/>
            <a:ext cx="8899200" cy="52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rPr>
              <a:t>Chủ đề nhóm Bop Bop:</a:t>
            </a:r>
            <a:r>
              <a:rPr lang="en-GB" sz="1800">
                <a:solidFill>
                  <a:schemeClr val="dk1"/>
                </a:solidFill>
              </a:rPr>
              <a:t> </a:t>
            </a:r>
            <a:r>
              <a:rPr lang="en-GB" sz="1800">
                <a:solidFill>
                  <a:schemeClr val="dk1"/>
                </a:solidFill>
              </a:rPr>
              <a:t>Hệ thống quản lý dịch vụ du lịch</a:t>
            </a:r>
            <a:endParaRPr sz="18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Lý do chọn chủ đề</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1. Tính thực tiễn cao</a:t>
            </a:r>
            <a:br>
              <a:rPr b="1" lang="en-GB" sz="1100">
                <a:solidFill>
                  <a:schemeClr val="dk1"/>
                </a:solidFill>
              </a:rPr>
            </a:br>
            <a:r>
              <a:rPr lang="en-GB" sz="1100">
                <a:solidFill>
                  <a:schemeClr val="dk1"/>
                </a:solidFill>
              </a:rPr>
              <a:t> Ngành du lịch đang phát triển mạnh với nhiều nền tảng như Traveloka, Booking.com hay Agoda. Dịch vụ du lịch liên quan đến nhiều yếu tố đồng thời như tour, phương tiện di chuyển, khách sạn, hướng dẫn viên và lịch trình cụ thể theo thời gian. Việc quản lý đòi hỏi sự phối hợp chặt chẽ giữa nhiều bên và kiểm soát chính xác từng giai đoạn thực hiện dịch vụ. Vì vậy, đây là một lĩnh vực có nghiệp vụ đặc thù và phù hợp để phân tích, thiết kế hệ thống.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2. Bao quát nhiều chức năng hệ thống thông tin</a:t>
            </a:r>
            <a:br>
              <a:rPr b="1" lang="en-GB" sz="1100">
                <a:solidFill>
                  <a:schemeClr val="dk1"/>
                </a:solidFill>
              </a:rPr>
            </a:br>
            <a:r>
              <a:rPr lang="en-GB" sz="1100">
                <a:solidFill>
                  <a:schemeClr val="dk1"/>
                </a:solidFill>
              </a:rPr>
              <a:t> Hệ thống quản lý dịch vụ du lịch bao gồm nhiều chức năng quan trọng như quản lý khách hàng, tour, dịch vụ, đặt chỗ, thanh toán và báo cáo thống kê. Nhờ đó, đề tài cho phép áp dụng hầu hết các nội dung của môn Phân tích và Thiết kế Hệ thống vào thực tế triển khai.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3. Dễ mô hình hóa và thiết kế</a:t>
            </a:r>
            <a:br>
              <a:rPr b="1" lang="en-GB" sz="1100">
                <a:solidFill>
                  <a:schemeClr val="dk1"/>
                </a:solidFill>
              </a:rPr>
            </a:br>
            <a:r>
              <a:rPr lang="en-GB" sz="1100">
                <a:solidFill>
                  <a:schemeClr val="dk1"/>
                </a:solidFill>
              </a:rPr>
              <a:t> Các thực thể như Customer, Tour, Booking, Payment rõ ràng, thuận lợi để xây dựng Use Case Diagram, ERD, Class Diagram và Sequence Diagram.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4. Dễ mở rộng tính năng</a:t>
            </a:r>
            <a:br>
              <a:rPr b="1" lang="en-GB" sz="1100">
                <a:solidFill>
                  <a:schemeClr val="dk1"/>
                </a:solidFill>
              </a:rPr>
            </a:br>
            <a:r>
              <a:rPr lang="en-GB" sz="1100">
                <a:solidFill>
                  <a:schemeClr val="dk1"/>
                </a:solidFill>
              </a:rPr>
              <a:t> Có thể bổ sung các chức năng như đánh giá tour, tích điểm khách hàng, gợi ý dịch vụ hoặc chatbot hỗ trợ. Điều này giúp đề tài có chiều sâu và tạo điều kiện để nhóm sáng tạo trong quá trình thiết kế hệ thống.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5. Phù hợp phạm vi bài tập nhóm</a:t>
            </a:r>
            <a:br>
              <a:rPr b="1" lang="en-GB" sz="1100">
                <a:solidFill>
                  <a:schemeClr val="dk1"/>
                </a:solidFill>
              </a:rPr>
            </a:br>
            <a:r>
              <a:rPr lang="en-GB" sz="1100">
                <a:solidFill>
                  <a:schemeClr val="dk1"/>
                </a:solidFill>
              </a:rPr>
              <a:t> Đề tài có phạm vi rõ ràng, dễ phân chia công việc và đảm bảo tiến độ thực hiện.</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a:t>
            </a:r>
            <a:r>
              <a:rPr lang="en-GB"/>
              <a:t>Ricons</a:t>
            </a:r>
            <a:r>
              <a:rPr lang="en-GB"/>
              <a:t> </a:t>
            </a:r>
            <a:endParaRPr/>
          </a:p>
        </p:txBody>
      </p:sp>
      <p:sp>
        <p:nvSpPr>
          <p:cNvPr id="151" name="Google Shape;151;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Trương Văn Hồng</a:t>
            </a:r>
            <a:endParaRPr/>
          </a:p>
          <a:p>
            <a:pPr indent="0" lvl="0" marL="0" rtl="0" algn="l">
              <a:spcBef>
                <a:spcPts val="1200"/>
              </a:spcBef>
              <a:spcAft>
                <a:spcPts val="0"/>
              </a:spcAft>
              <a:buNone/>
            </a:pPr>
            <a:r>
              <a:rPr lang="en-GB"/>
              <a:t>2.     Đinh Việt Hùng</a:t>
            </a:r>
            <a:endParaRPr/>
          </a:p>
          <a:p>
            <a:pPr indent="0" lvl="0" marL="0" rtl="0" algn="l">
              <a:spcBef>
                <a:spcPts val="1200"/>
              </a:spcBef>
              <a:spcAft>
                <a:spcPts val="0"/>
              </a:spcAft>
              <a:buNone/>
            </a:pPr>
            <a:r>
              <a:rPr lang="en-GB"/>
              <a:t>3.     </a:t>
            </a:r>
            <a:r>
              <a:rPr lang="en-GB"/>
              <a:t>Nguyễn Ngọc Toàn</a:t>
            </a:r>
            <a:endParaRPr/>
          </a:p>
          <a:p>
            <a:pPr indent="0" lvl="0" marL="0" rtl="0" algn="l">
              <a:spcBef>
                <a:spcPts val="1200"/>
              </a:spcBef>
              <a:spcAft>
                <a:spcPts val="0"/>
              </a:spcAft>
              <a:buNone/>
            </a:pPr>
            <a:r>
              <a:rPr lang="en-GB"/>
              <a:t>4.     Nguyễn Quý Duy</a:t>
            </a:r>
            <a:endParaRPr/>
          </a:p>
          <a:p>
            <a:pPr indent="0" lvl="0" marL="0" rtl="0" algn="l">
              <a:spcBef>
                <a:spcPts val="1200"/>
              </a:spcBef>
              <a:spcAft>
                <a:spcPts val="1200"/>
              </a:spcAft>
              <a:buNone/>
            </a:pPr>
            <a:r>
              <a:rPr lang="en-GB"/>
              <a:t>5.     Phạm Gia Hưng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2"/>
          <p:cNvSpPr txBox="1"/>
          <p:nvPr>
            <p:ph type="title"/>
          </p:nvPr>
        </p:nvSpPr>
        <p:spPr>
          <a:xfrm>
            <a:off x="311700" y="461375"/>
            <a:ext cx="8520600" cy="3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Chủ đề: Hệ thống quản lý kho điện thoại T Mobile</a:t>
            </a:r>
            <a:endParaRPr sz="1600"/>
          </a:p>
        </p:txBody>
      </p:sp>
      <p:sp>
        <p:nvSpPr>
          <p:cNvPr id="157" name="Google Shape;157;p32"/>
          <p:cNvSpPr txBox="1"/>
          <p:nvPr>
            <p:ph idx="1" type="body"/>
          </p:nvPr>
        </p:nvSpPr>
        <p:spPr>
          <a:xfrm>
            <a:off x="311700" y="908400"/>
            <a:ext cx="6206100" cy="5313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b="1" lang="en-GB" sz="1000">
                <a:solidFill>
                  <a:srgbClr val="2B2D31"/>
                </a:solidFill>
                <a:latin typeface="Roboto"/>
                <a:ea typeface="Roboto"/>
                <a:cs typeface="Roboto"/>
                <a:sym typeface="Roboto"/>
              </a:rPr>
              <a:t>Tính cấp thiết:</a:t>
            </a:r>
            <a:endParaRPr b="1" sz="1000">
              <a:solidFill>
                <a:srgbClr val="2B2D31"/>
              </a:solidFill>
              <a:latin typeface="Roboto"/>
              <a:ea typeface="Roboto"/>
              <a:cs typeface="Roboto"/>
              <a:sym typeface="Roboto"/>
            </a:endParaRPr>
          </a:p>
          <a:p>
            <a:pPr indent="-292100" lvl="0" marL="457200" rtl="0" algn="l">
              <a:lnSpc>
                <a:spcPct val="150000"/>
              </a:lnSpc>
              <a:spcBef>
                <a:spcPts val="1200"/>
              </a:spcBef>
              <a:spcAft>
                <a:spcPts val="0"/>
              </a:spcAft>
              <a:buClr>
                <a:srgbClr val="2B2D31"/>
              </a:buClr>
              <a:buSzPts val="1000"/>
              <a:buFont typeface="Roboto Medium"/>
              <a:buChar char="●"/>
            </a:pPr>
            <a:r>
              <a:rPr lang="en-GB" sz="1000">
                <a:solidFill>
                  <a:srgbClr val="2B2D31"/>
                </a:solidFill>
                <a:latin typeface="Roboto Medium"/>
                <a:ea typeface="Roboto Medium"/>
                <a:cs typeface="Roboto Medium"/>
                <a:sym typeface="Roboto Medium"/>
              </a:rPr>
              <a:t>Đặc thù sản phẩm: Điện thoại là hàng hóa có giá trị cao, dễ xảy ra thất thoát hoặc gian lận nếu không được kiểm soát chặt chẽ.</a:t>
            </a:r>
            <a:endParaRPr sz="1000">
              <a:solidFill>
                <a:srgbClr val="2B2D31"/>
              </a:solidFill>
              <a:latin typeface="Roboto Medium"/>
              <a:ea typeface="Roboto Medium"/>
              <a:cs typeface="Roboto Medium"/>
              <a:sym typeface="Roboto Medium"/>
            </a:endParaRPr>
          </a:p>
          <a:p>
            <a:pPr indent="-292100" lvl="0" marL="457200" rtl="0" algn="l">
              <a:lnSpc>
                <a:spcPct val="150000"/>
              </a:lnSpc>
              <a:spcBef>
                <a:spcPts val="0"/>
              </a:spcBef>
              <a:spcAft>
                <a:spcPts val="0"/>
              </a:spcAft>
              <a:buClr>
                <a:srgbClr val="2B2D31"/>
              </a:buClr>
              <a:buSzPts val="1000"/>
              <a:buFont typeface="Roboto Medium"/>
              <a:buChar char="●"/>
            </a:pPr>
            <a:r>
              <a:rPr lang="en-GB" sz="1000">
                <a:solidFill>
                  <a:srgbClr val="2B2D31"/>
                </a:solidFill>
                <a:latin typeface="Roboto Medium"/>
                <a:ea typeface="Roboto Medium"/>
                <a:cs typeface="Roboto Medium"/>
                <a:sym typeface="Roboto Medium"/>
              </a:rPr>
              <a:t>Bất cập thủ công: Việc quản lý bằng Excel hay sổ sách khiến việc tra cứu lịch sử bảo hành, đổi trả và đối soát mã IMEI trở nên cực kỳ chậm chạp và dễ sai sót.</a:t>
            </a:r>
            <a:endParaRPr sz="1000">
              <a:solidFill>
                <a:srgbClr val="2B2D31"/>
              </a:solidFill>
              <a:latin typeface="Roboto Medium"/>
              <a:ea typeface="Roboto Medium"/>
              <a:cs typeface="Roboto Medium"/>
              <a:sym typeface="Roboto Medium"/>
            </a:endParaRPr>
          </a:p>
          <a:p>
            <a:pPr indent="-292100" lvl="0" marL="457200" rtl="0" algn="l">
              <a:lnSpc>
                <a:spcPct val="150000"/>
              </a:lnSpc>
              <a:spcBef>
                <a:spcPts val="0"/>
              </a:spcBef>
              <a:spcAft>
                <a:spcPts val="0"/>
              </a:spcAft>
              <a:buClr>
                <a:srgbClr val="2B2D31"/>
              </a:buClr>
              <a:buSzPts val="1000"/>
              <a:buFont typeface="Roboto Medium"/>
              <a:buChar char="●"/>
            </a:pPr>
            <a:r>
              <a:rPr lang="en-GB" sz="1000">
                <a:solidFill>
                  <a:srgbClr val="2B2D31"/>
                </a:solidFill>
                <a:latin typeface="Roboto Medium"/>
                <a:ea typeface="Roboto Medium"/>
                <a:cs typeface="Roboto Medium"/>
                <a:sym typeface="Roboto Medium"/>
              </a:rPr>
              <a:t>Nhu cầu tự động hóa: Trong thị trường điện thoại sôi động, doanh nghiệp cần một hệ thống có khả năng cập nhật tồn kho theo thời gian thực để đáp ứng nhanh nhu cầu khách hàng và tối ưu hóa nguồn vốn lưu động.</a:t>
            </a:r>
            <a:endParaRPr sz="1000">
              <a:solidFill>
                <a:srgbClr val="2B2D31"/>
              </a:solidFill>
              <a:latin typeface="Roboto Medium"/>
              <a:ea typeface="Roboto Medium"/>
              <a:cs typeface="Roboto Medium"/>
              <a:sym typeface="Roboto Medium"/>
            </a:endParaRPr>
          </a:p>
          <a:p>
            <a:pPr indent="0" lvl="0" marL="0" rtl="0" algn="l">
              <a:spcBef>
                <a:spcPts val="1200"/>
              </a:spcBef>
              <a:spcAft>
                <a:spcPts val="0"/>
              </a:spcAft>
              <a:buNone/>
            </a:pPr>
            <a:r>
              <a:rPr b="1" lang="en-GB" sz="1000">
                <a:solidFill>
                  <a:srgbClr val="001A1E"/>
                </a:solidFill>
                <a:latin typeface="Roboto"/>
                <a:ea typeface="Roboto"/>
                <a:cs typeface="Roboto"/>
                <a:sym typeface="Roboto"/>
              </a:rPr>
              <a:t>Giá trị kỳ vọng được mang lại: </a:t>
            </a:r>
            <a:endParaRPr b="1" sz="1000">
              <a:solidFill>
                <a:srgbClr val="001A1E"/>
              </a:solidFill>
              <a:latin typeface="Roboto"/>
              <a:ea typeface="Roboto"/>
              <a:cs typeface="Roboto"/>
              <a:sym typeface="Roboto"/>
            </a:endParaRPr>
          </a:p>
          <a:p>
            <a:pPr indent="-292100" lvl="0" marL="457200" rtl="0" algn="l">
              <a:spcBef>
                <a:spcPts val="60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Tăng chính xác trong quản lý, vận chuyển, mua bán : Giúp định danh điện thoại, loại bỏ khả năng nhầm lẫn.</a:t>
            </a:r>
            <a:endParaRPr sz="1000">
              <a:solidFill>
                <a:srgbClr val="001A1E"/>
              </a:solidFill>
              <a:latin typeface="Roboto Medium"/>
              <a:ea typeface="Roboto Medium"/>
              <a:cs typeface="Roboto Medium"/>
              <a:sym typeface="Roboto Medium"/>
            </a:endParaRPr>
          </a:p>
          <a:p>
            <a:pPr indent="-292100" lvl="0" marL="457200" rtl="0" algn="l">
              <a:spcBef>
                <a:spcPts val="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Chống gian lận và thất thoát: Phân quyền và lưu vết mọi thao tác, giúp quản lý tốt nhập xuất.</a:t>
            </a:r>
            <a:endParaRPr sz="1000">
              <a:solidFill>
                <a:srgbClr val="001A1E"/>
              </a:solidFill>
              <a:latin typeface="Roboto Medium"/>
              <a:ea typeface="Roboto Medium"/>
              <a:cs typeface="Roboto Medium"/>
              <a:sym typeface="Roboto Medium"/>
            </a:endParaRPr>
          </a:p>
          <a:p>
            <a:pPr indent="-292100" lvl="0" marL="457200" rtl="0" algn="l">
              <a:spcBef>
                <a:spcPts val="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Tối ưu hóa quản lý tồn kho: Cung cấp thời gian thực về các mẫu điện thoại bán chạy hoặc tồn kho lâu ngày để có biện pháp phù hợp.</a:t>
            </a:r>
            <a:endParaRPr sz="1000">
              <a:solidFill>
                <a:srgbClr val="001A1E"/>
              </a:solidFill>
              <a:latin typeface="Roboto Medium"/>
              <a:ea typeface="Roboto Medium"/>
              <a:cs typeface="Roboto Medium"/>
              <a:sym typeface="Roboto Medium"/>
            </a:endParaRPr>
          </a:p>
          <a:p>
            <a:pPr indent="-292100" lvl="0" marL="457200" rtl="0" algn="l">
              <a:spcBef>
                <a:spcPts val="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Nâng cao chất lượng dịch vụ khách hàng: Quy trình bảo hành, đổi trả thuận tiện hơn.</a:t>
            </a:r>
            <a:endParaRPr sz="1000">
              <a:solidFill>
                <a:srgbClr val="001A1E"/>
              </a:solidFill>
              <a:latin typeface="Roboto Medium"/>
              <a:ea typeface="Roboto Medium"/>
              <a:cs typeface="Roboto Medium"/>
              <a:sym typeface="Roboto Medium"/>
            </a:endParaRPr>
          </a:p>
          <a:p>
            <a:pPr indent="-292100" lvl="0" marL="457200" rtl="0" algn="l">
              <a:spcBef>
                <a:spcPts val="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Tăng năng suất lao động cho nhân viên: Giúp nhân viên xử lý các thủ tục hành chính tốt hơn. </a:t>
            </a:r>
            <a:endParaRPr sz="1000">
              <a:solidFill>
                <a:srgbClr val="001A1E"/>
              </a:solidFill>
              <a:latin typeface="Roboto Medium"/>
              <a:ea typeface="Roboto Medium"/>
              <a:cs typeface="Roboto Medium"/>
              <a:sym typeface="Roboto Medium"/>
            </a:endParaRPr>
          </a:p>
          <a:p>
            <a:pPr indent="-292100" lvl="0" marL="457200" rtl="0" algn="l">
              <a:spcBef>
                <a:spcPts val="0"/>
              </a:spcBef>
              <a:spcAft>
                <a:spcPts val="0"/>
              </a:spcAft>
              <a:buClr>
                <a:srgbClr val="001A1E"/>
              </a:buClr>
              <a:buSzPts val="1000"/>
              <a:buFont typeface="Roboto Medium"/>
              <a:buChar char="●"/>
            </a:pPr>
            <a:r>
              <a:rPr lang="en-GB" sz="1000">
                <a:solidFill>
                  <a:srgbClr val="001A1E"/>
                </a:solidFill>
                <a:latin typeface="Roboto Medium"/>
                <a:ea typeface="Roboto Medium"/>
                <a:cs typeface="Roboto Medium"/>
                <a:sym typeface="Roboto Medium"/>
              </a:rPr>
              <a:t>Hỗ trợ người quản lý ra quyết định chiến lược nhờ dữ liệu tổng quan về doanh thu, lợi nhuận. </a:t>
            </a:r>
            <a:endParaRPr sz="1000">
              <a:solidFill>
                <a:srgbClr val="001A1E"/>
              </a:solidFill>
              <a:latin typeface="Roboto Medium"/>
              <a:ea typeface="Roboto Medium"/>
              <a:cs typeface="Roboto Medium"/>
              <a:sym typeface="Roboto Medium"/>
            </a:endParaRPr>
          </a:p>
          <a:p>
            <a:pPr indent="0" lvl="0" marL="0" rtl="0" algn="l">
              <a:lnSpc>
                <a:spcPct val="150000"/>
              </a:lnSpc>
              <a:spcBef>
                <a:spcPts val="1400"/>
              </a:spcBef>
              <a:spcAft>
                <a:spcPts val="400"/>
              </a:spcAft>
              <a:buNone/>
            </a:pPr>
            <a:r>
              <a:t/>
            </a:r>
            <a:endParaRPr b="1" sz="1000">
              <a:solidFill>
                <a:srgbClr val="2B2D3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của Tú</a:t>
            </a:r>
            <a:endParaRPr/>
          </a:p>
        </p:txBody>
      </p:sp>
      <p:sp>
        <p:nvSpPr>
          <p:cNvPr id="163" name="Google Shape;163;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Hoàng Minh Khôi</a:t>
            </a:r>
            <a:endParaRPr/>
          </a:p>
          <a:p>
            <a:pPr indent="-342900" lvl="0" marL="457200" rtl="0" algn="l">
              <a:spcBef>
                <a:spcPts val="0"/>
              </a:spcBef>
              <a:spcAft>
                <a:spcPts val="0"/>
              </a:spcAft>
              <a:buSzPts val="1800"/>
              <a:buAutoNum type="arabicPeriod"/>
            </a:pPr>
            <a:r>
              <a:rPr lang="en-GB"/>
              <a:t>Đỗ Trường Giang</a:t>
            </a:r>
            <a:endParaRPr/>
          </a:p>
          <a:p>
            <a:pPr indent="-342900" lvl="0" marL="457200" rtl="0" algn="l">
              <a:spcBef>
                <a:spcPts val="0"/>
              </a:spcBef>
              <a:spcAft>
                <a:spcPts val="0"/>
              </a:spcAft>
              <a:buSzPts val="1800"/>
              <a:buAutoNum type="arabicPeriod"/>
            </a:pPr>
            <a:r>
              <a:rPr lang="en-GB"/>
              <a:t>Nguyễn Thanh Tú</a:t>
            </a:r>
            <a:endParaRPr/>
          </a:p>
          <a:p>
            <a:pPr indent="-342900" lvl="0" marL="457200" rtl="0" algn="l">
              <a:spcBef>
                <a:spcPts val="0"/>
              </a:spcBef>
              <a:spcAft>
                <a:spcPts val="0"/>
              </a:spcAft>
              <a:buSzPts val="1800"/>
              <a:buAutoNum type="arabicPeriod"/>
            </a:pPr>
            <a:r>
              <a:rPr lang="en-GB"/>
              <a:t> </a:t>
            </a:r>
            <a:r>
              <a:rPr lang="en-GB"/>
              <a:t>Dương Thanh Minh</a:t>
            </a:r>
            <a:endParaRPr/>
          </a:p>
          <a:p>
            <a:pPr indent="-342900" lvl="0" marL="457200" rtl="0" algn="l">
              <a:spcBef>
                <a:spcPts val="0"/>
              </a:spcBef>
              <a:spcAft>
                <a:spcPts val="0"/>
              </a:spcAft>
              <a:buSzPts val="1800"/>
              <a:buAutoNum type="arabicPeriod"/>
            </a:pPr>
            <a:r>
              <a:rPr lang="en-GB"/>
              <a:t>Nguyễn Đình Đăng Dương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Chủ đề nhóm của Tú: Hệ thống quản lý thư viện trường đại học.</a:t>
            </a:r>
            <a:endParaRPr sz="1800"/>
          </a:p>
        </p:txBody>
      </p:sp>
      <p:sp>
        <p:nvSpPr>
          <p:cNvPr id="181" name="Google Shape;181;p36"/>
          <p:cNvSpPr txBox="1"/>
          <p:nvPr>
            <p:ph idx="1" type="body"/>
          </p:nvPr>
        </p:nvSpPr>
        <p:spPr>
          <a:xfrm>
            <a:off x="311700" y="863550"/>
            <a:ext cx="8520600" cy="42282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050">
                <a:solidFill>
                  <a:schemeClr val="dk1"/>
                </a:solidFill>
              </a:rPr>
              <a:t>1. Bối cảnh và Thực trạng</a:t>
            </a:r>
            <a:endParaRPr b="1" sz="10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050">
                <a:solidFill>
                  <a:schemeClr val="dk1"/>
                </a:solidFill>
              </a:rPr>
              <a:t>Thư viện là “trái tim tri thức” của trường đại học, lưu trữ hàng chục ngàn đầu sách, giáo trình và tài liệu nghiên cứu. Tuy nhiên, tại nhiều nơi, việc quản lý vẫn dựa vào phương pháp thủ công hoặc công cụ rời rạc (Excel, Access), thiếu một hệ thống đồng bộ.</a:t>
            </a:r>
            <a:endParaRPr sz="10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050">
                <a:solidFill>
                  <a:schemeClr val="dk1"/>
                </a:solidFill>
              </a:rPr>
              <a:t>Điều này gây ra nhiều hạn chế:</a:t>
            </a:r>
            <a:endParaRPr sz="1050">
              <a:solidFill>
                <a:schemeClr val="dk1"/>
              </a:solidFill>
            </a:endParaRPr>
          </a:p>
          <a:p>
            <a:pPr indent="-295275" lvl="0" marL="457200" rtl="0" algn="l">
              <a:lnSpc>
                <a:spcPct val="115000"/>
              </a:lnSpc>
              <a:spcBef>
                <a:spcPts val="1200"/>
              </a:spcBef>
              <a:spcAft>
                <a:spcPts val="0"/>
              </a:spcAft>
              <a:buClr>
                <a:schemeClr val="dk1"/>
              </a:buClr>
              <a:buSzPts val="1050"/>
              <a:buChar char="●"/>
            </a:pPr>
            <a:r>
              <a:rPr b="1" lang="en-GB" sz="1050">
                <a:solidFill>
                  <a:schemeClr val="dk1"/>
                </a:solidFill>
              </a:rPr>
              <a:t>Đối với Độc giả:</a:t>
            </a:r>
            <a:r>
              <a:rPr lang="en-GB" sz="1050">
                <a:solidFill>
                  <a:schemeClr val="dk1"/>
                </a:solidFill>
              </a:rPr>
              <a:t> Tra cứu mất thời gian, không biết trước tình trạng còn/hết; không theo dõi được lịch sử và thời hạn mượn trả.</a:t>
            </a:r>
            <a:br>
              <a:rPr lang="en-GB" sz="1050">
                <a:solidFill>
                  <a:schemeClr val="dk1"/>
                </a:solidFill>
              </a:rPr>
            </a:b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b="1" lang="en-GB" sz="1050">
                <a:solidFill>
                  <a:schemeClr val="dk1"/>
                </a:solidFill>
              </a:rPr>
              <a:t>Đối với Thủ thư:</a:t>
            </a:r>
            <a:r>
              <a:rPr lang="en-GB" sz="1050">
                <a:solidFill>
                  <a:schemeClr val="dk1"/>
                </a:solidFill>
              </a:rPr>
              <a:t> Quy trình mượn – trả tốn công đối chiếu, dễ sai sót; kiểm kê và tính phí phạt mất nhiều thời gian.</a:t>
            </a:r>
            <a:br>
              <a:rPr lang="en-GB" sz="1050">
                <a:solidFill>
                  <a:schemeClr val="dk1"/>
                </a:solidFill>
              </a:rPr>
            </a:b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b="1" lang="en-GB" sz="1050">
                <a:solidFill>
                  <a:schemeClr val="dk1"/>
                </a:solidFill>
              </a:rPr>
              <a:t>Đối với Quản lý:</a:t>
            </a:r>
            <a:r>
              <a:rPr lang="en-GB" sz="1050">
                <a:solidFill>
                  <a:schemeClr val="dk1"/>
                </a:solidFill>
              </a:rPr>
              <a:t> Khó thống kê chính xác số lượng tài sản, tần suất mượn để hỗ trợ quyết định nhập mới hoặc thanh lý.</a:t>
            </a:r>
            <a:endParaRPr sz="1050">
              <a:solidFill>
                <a:schemeClr val="dk1"/>
              </a:solidFill>
            </a:endParaRPr>
          </a:p>
          <a:p>
            <a:pPr indent="0" lvl="0" marL="0" rtl="0" algn="l">
              <a:lnSpc>
                <a:spcPct val="115000"/>
              </a:lnSpc>
              <a:spcBef>
                <a:spcPts val="1200"/>
              </a:spcBef>
              <a:spcAft>
                <a:spcPts val="0"/>
              </a:spcAft>
              <a:buNone/>
            </a:pPr>
            <a:r>
              <a:rPr b="1" lang="en-GB" sz="1050">
                <a:solidFill>
                  <a:srgbClr val="2B2D31"/>
                </a:solidFill>
                <a:highlight>
                  <a:schemeClr val="lt1"/>
                </a:highlight>
              </a:rPr>
              <a:t>2.</a:t>
            </a:r>
            <a:r>
              <a:rPr b="1" lang="en-GB" sz="1050">
                <a:solidFill>
                  <a:srgbClr val="2B2D31"/>
                </a:solidFill>
                <a:highlight>
                  <a:schemeClr val="lt1"/>
                </a:highlight>
              </a:rPr>
              <a:t> Mục tiêu và Lý do cần thiết xây dựng hệ thống</a:t>
            </a:r>
            <a:br>
              <a:rPr b="1" lang="en-GB" sz="1050">
                <a:solidFill>
                  <a:srgbClr val="2B2D31"/>
                </a:solidFill>
                <a:highlight>
                  <a:schemeClr val="lt1"/>
                </a:highlight>
              </a:rPr>
            </a:br>
            <a:r>
              <a:rPr lang="en-GB" sz="1050">
                <a:solidFill>
                  <a:srgbClr val="2B2D31"/>
                </a:solidFill>
                <a:highlight>
                  <a:schemeClr val="lt1"/>
                </a:highlight>
              </a:rPr>
              <a:t>Để giải quyết triệt để các hạn chế trên, việc xây dựng một </a:t>
            </a:r>
            <a:r>
              <a:rPr b="1" lang="en-GB" sz="1050">
                <a:solidFill>
                  <a:srgbClr val="2B2D31"/>
                </a:solidFill>
                <a:highlight>
                  <a:schemeClr val="lt1"/>
                </a:highlight>
              </a:rPr>
              <a:t>Hệ thống Quản lý Thư viện số hóa</a:t>
            </a:r>
            <a:r>
              <a:rPr lang="en-GB" sz="1050">
                <a:solidFill>
                  <a:srgbClr val="2B2D31"/>
                </a:solidFill>
                <a:highlight>
                  <a:schemeClr val="lt1"/>
                </a:highlight>
              </a:rPr>
              <a:t> là yêu cầu cấp thiết. Hệ thống này được thiết kế nhằm mang lại các giá trị cốt lõi:</a:t>
            </a:r>
            <a:endParaRPr sz="1050">
              <a:solidFill>
                <a:srgbClr val="2B2D31"/>
              </a:solidFill>
              <a:highlight>
                <a:schemeClr val="lt1"/>
              </a:highlight>
            </a:endParaRPr>
          </a:p>
          <a:p>
            <a:pPr indent="-295275" lvl="0" marL="457200" rtl="0" algn="l">
              <a:lnSpc>
                <a:spcPct val="115000"/>
              </a:lnSpc>
              <a:spcBef>
                <a:spcPts val="1200"/>
              </a:spcBef>
              <a:spcAft>
                <a:spcPts val="0"/>
              </a:spcAft>
              <a:buClr>
                <a:srgbClr val="2B2D31"/>
              </a:buClr>
              <a:buSzPts val="1050"/>
              <a:buAutoNum type="arabicPeriod"/>
            </a:pPr>
            <a:r>
              <a:rPr b="1" lang="en-GB" sz="1050">
                <a:solidFill>
                  <a:srgbClr val="2B2D31"/>
                </a:solidFill>
                <a:highlight>
                  <a:schemeClr val="lt1"/>
                </a:highlight>
              </a:rPr>
              <a:t>Tự động hóa nghiệp vụ:</a:t>
            </a:r>
            <a:r>
              <a:rPr lang="en-GB" sz="1050">
                <a:solidFill>
                  <a:srgbClr val="2B2D31"/>
                </a:solidFill>
                <a:highlight>
                  <a:schemeClr val="lt1"/>
                </a:highlight>
              </a:rPr>
              <a:t> Chuẩn hóa quy trình Mượn - Trả sách thông qua mã vạch (Barcode), quản lý chặt chẽ trạng thái của từng cuốn sách cụ thể.</a:t>
            </a:r>
            <a:endParaRPr sz="1050">
              <a:solidFill>
                <a:srgbClr val="2B2D31"/>
              </a:solidFill>
              <a:highlight>
                <a:schemeClr val="lt1"/>
              </a:highlight>
            </a:endParaRPr>
          </a:p>
          <a:p>
            <a:pPr indent="-295275" lvl="0" marL="457200" rtl="0" algn="l">
              <a:lnSpc>
                <a:spcPct val="115000"/>
              </a:lnSpc>
              <a:spcBef>
                <a:spcPts val="0"/>
              </a:spcBef>
              <a:spcAft>
                <a:spcPts val="0"/>
              </a:spcAft>
              <a:buClr>
                <a:srgbClr val="2B2D31"/>
              </a:buClr>
              <a:buSzPts val="1050"/>
              <a:buAutoNum type="arabicPeriod"/>
            </a:pPr>
            <a:r>
              <a:rPr b="1" lang="en-GB" sz="1050">
                <a:solidFill>
                  <a:srgbClr val="2B2D31"/>
                </a:solidFill>
                <a:highlight>
                  <a:schemeClr val="lt1"/>
                </a:highlight>
              </a:rPr>
              <a:t>Tối ưu hóa trải nghiệm:</a:t>
            </a:r>
            <a:r>
              <a:rPr lang="en-GB" sz="1050">
                <a:solidFill>
                  <a:srgbClr val="2B2D31"/>
                </a:solidFill>
                <a:highlight>
                  <a:schemeClr val="lt1"/>
                </a:highlight>
              </a:rPr>
              <a:t> Cung cấp cổng thông tin (Portal) giúp độc giả chủ động tra cứu tài liệu mọi lúc, mọi nơi, nắm bắt tình trạng kho sách theo thời gian thực.</a:t>
            </a:r>
            <a:endParaRPr sz="1050">
              <a:solidFill>
                <a:srgbClr val="2B2D31"/>
              </a:solidFill>
              <a:highlight>
                <a:schemeClr val="lt1"/>
              </a:highlight>
            </a:endParaRPr>
          </a:p>
          <a:p>
            <a:pPr indent="-295275" lvl="0" marL="457200" rtl="0" algn="l">
              <a:lnSpc>
                <a:spcPct val="115000"/>
              </a:lnSpc>
              <a:spcBef>
                <a:spcPts val="0"/>
              </a:spcBef>
              <a:spcAft>
                <a:spcPts val="0"/>
              </a:spcAft>
              <a:buClr>
                <a:srgbClr val="2B2D31"/>
              </a:buClr>
              <a:buSzPts val="1050"/>
              <a:buAutoNum type="arabicPeriod"/>
            </a:pPr>
            <a:r>
              <a:rPr b="1" lang="en-GB" sz="1050">
                <a:solidFill>
                  <a:srgbClr val="2B2D31"/>
                </a:solidFill>
                <a:highlight>
                  <a:schemeClr val="lt1"/>
                </a:highlight>
              </a:rPr>
              <a:t>Minh bạch hóa quản lý:</a:t>
            </a:r>
            <a:r>
              <a:rPr lang="en-GB" sz="1050">
                <a:solidFill>
                  <a:srgbClr val="2B2D31"/>
                </a:solidFill>
                <a:highlight>
                  <a:schemeClr val="lt1"/>
                </a:highlight>
              </a:rPr>
              <a:t> Xử lý chính xác các logic nghiệp vụ phức tạp như: giới hạn số lượng sách được mượn theo hạng thẻ, tự động tính toán phí phạt vi phạm, và xuất báo cáo thống kê nhanh chóng.</a:t>
            </a:r>
            <a:br>
              <a:rPr lang="en-GB" sz="1050">
                <a:solidFill>
                  <a:schemeClr val="dk1"/>
                </a:solidFill>
              </a:rPr>
            </a:br>
            <a:endParaRPr sz="1050">
              <a:solidFill>
                <a:schemeClr val="dk1"/>
              </a:solidFill>
            </a:endParaRPr>
          </a:p>
          <a:p>
            <a:pPr indent="0" lvl="0" marL="0" rtl="0" algn="l">
              <a:spcBef>
                <a:spcPts val="1100"/>
              </a:spcBef>
              <a:spcAft>
                <a:spcPts val="1200"/>
              </a:spcAft>
              <a:buNone/>
            </a:pPr>
            <a:r>
              <a:t/>
            </a:r>
            <a:endParaRPr b="1" sz="1050">
              <a:solidFill>
                <a:srgbClr val="2B2D31"/>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a:t>
            </a:r>
            <a:r>
              <a:rPr lang="en-GB"/>
              <a:t>tuan nha &amp; co</a:t>
            </a:r>
            <a:endParaRPr/>
          </a:p>
        </p:txBody>
      </p:sp>
      <p:sp>
        <p:nvSpPr>
          <p:cNvPr id="187" name="Google Shape;187;p37"/>
          <p:cNvSpPr txBox="1"/>
          <p:nvPr>
            <p:ph idx="1" type="body"/>
          </p:nvPr>
        </p:nvSpPr>
        <p:spPr>
          <a:xfrm>
            <a:off x="311700" y="118521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Lương Đức Mạnh</a:t>
            </a:r>
            <a:endParaRPr/>
          </a:p>
          <a:p>
            <a:pPr indent="-342900" lvl="0" marL="457200" rtl="0" algn="l">
              <a:spcBef>
                <a:spcPts val="0"/>
              </a:spcBef>
              <a:spcAft>
                <a:spcPts val="0"/>
              </a:spcAft>
              <a:buSzPts val="1800"/>
              <a:buAutoNum type="arabicPeriod"/>
            </a:pPr>
            <a:r>
              <a:rPr lang="en-GB"/>
              <a:t>Nguyễn Tuấn Nghĩa</a:t>
            </a:r>
            <a:endParaRPr/>
          </a:p>
          <a:p>
            <a:pPr indent="-342900" lvl="0" marL="457200" rtl="0" algn="l">
              <a:spcBef>
                <a:spcPts val="0"/>
              </a:spcBef>
              <a:spcAft>
                <a:spcPts val="0"/>
              </a:spcAft>
              <a:buSzPts val="1800"/>
              <a:buAutoNum type="arabicPeriod"/>
            </a:pPr>
            <a:r>
              <a:rPr lang="en-GB"/>
              <a:t>Vũ Đức Tâm</a:t>
            </a:r>
            <a:endParaRPr/>
          </a:p>
          <a:p>
            <a:pPr indent="-342900" lvl="0" marL="457200" rtl="0" algn="l">
              <a:spcBef>
                <a:spcPts val="0"/>
              </a:spcBef>
              <a:spcAft>
                <a:spcPts val="0"/>
              </a:spcAft>
              <a:buSzPts val="1800"/>
              <a:buAutoNum type="arabicPeriod"/>
            </a:pPr>
            <a:r>
              <a:rPr lang="en-GB"/>
              <a:t>Nguyễn Ngọc Trung</a:t>
            </a:r>
            <a:endParaRPr/>
          </a:p>
          <a:p>
            <a:pPr indent="-342900" lvl="0" marL="457200" rtl="0" algn="l">
              <a:spcBef>
                <a:spcPts val="0"/>
              </a:spcBef>
              <a:spcAft>
                <a:spcPts val="0"/>
              </a:spcAft>
              <a:buSzPts val="1800"/>
              <a:buAutoNum type="arabicPeriod"/>
            </a:pPr>
            <a:r>
              <a:rPr lang="en-GB"/>
              <a:t>Nguyễn Hà Anh Tuấn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8"/>
          <p:cNvSpPr txBox="1"/>
          <p:nvPr>
            <p:ph type="title"/>
          </p:nvPr>
        </p:nvSpPr>
        <p:spPr>
          <a:xfrm>
            <a:off x="257175" y="70650"/>
            <a:ext cx="8520600" cy="35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Chủ đề của nhóm tuan nha &amp; co: Hệ thống quản lý </a:t>
            </a:r>
            <a:r>
              <a:rPr b="1" lang="en-GB" sz="1800"/>
              <a:t>Đặt xe Online</a:t>
            </a:r>
            <a:r>
              <a:rPr lang="en-GB" sz="1800"/>
              <a:t> </a:t>
            </a:r>
            <a:endParaRPr sz="1800"/>
          </a:p>
        </p:txBody>
      </p:sp>
      <p:sp>
        <p:nvSpPr>
          <p:cNvPr id="193" name="Google Shape;193;p38"/>
          <p:cNvSpPr txBox="1"/>
          <p:nvPr>
            <p:ph idx="1" type="body"/>
          </p:nvPr>
        </p:nvSpPr>
        <p:spPr>
          <a:xfrm>
            <a:off x="311700" y="480150"/>
            <a:ext cx="8520600" cy="43917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GB" sz="1300">
                <a:solidFill>
                  <a:schemeClr val="dk1"/>
                </a:solidFill>
              </a:rPr>
              <a:t>1. Lý do xây dựng (Tính cấp thiết)</a:t>
            </a:r>
            <a:endParaRPr b="1" sz="13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Kết nối rời rạc:</a:t>
            </a:r>
            <a:r>
              <a:rPr lang="en-GB" sz="1100">
                <a:solidFill>
                  <a:schemeClr val="dk1"/>
                </a:solidFill>
              </a:rPr>
              <a:t> Cách gọi xe truyền thống (vẫy xe, gọi tổng đài) kém hiệu quả, gây lãng phí nguồn lực.</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Thiếu minh bạch:</a:t>
            </a:r>
            <a:r>
              <a:rPr lang="en-GB" sz="1100">
                <a:solidFill>
                  <a:schemeClr val="dk1"/>
                </a:solidFill>
              </a:rPr>
              <a:t> Giá cước không cố định, dễ phát sinh tranh cãi về chi phí.</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Rủi ro an toàn:</a:t>
            </a:r>
            <a:r>
              <a:rPr lang="en-GB" sz="1100">
                <a:solidFill>
                  <a:schemeClr val="dk1"/>
                </a:solidFill>
              </a:rPr>
              <a:t> Thiếu thông tin xác thực, khó kiểm soát lịch sử chuyến đi giữa khách hàng và tài xế.</a:t>
            </a:r>
            <a:endParaRPr sz="1100">
              <a:solidFill>
                <a:schemeClr val="dk1"/>
              </a:solidFill>
            </a:endParaRPr>
          </a:p>
          <a:p>
            <a:pPr indent="0" lvl="0" marL="0" rtl="0" algn="l">
              <a:spcBef>
                <a:spcPts val="1400"/>
              </a:spcBef>
              <a:spcAft>
                <a:spcPts val="0"/>
              </a:spcAft>
              <a:buNone/>
            </a:pPr>
            <a:r>
              <a:rPr b="1" lang="en-GB" sz="1300">
                <a:solidFill>
                  <a:schemeClr val="dk1"/>
                </a:solidFill>
              </a:rPr>
              <a:t>2. Các vấn đề hướng tới giải quyết</a:t>
            </a:r>
            <a:endParaRPr b="1" sz="13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Tối ưu hóa điều phối:</a:t>
            </a:r>
            <a:r>
              <a:rPr lang="en-GB" sz="1100">
                <a:solidFill>
                  <a:schemeClr val="dk1"/>
                </a:solidFill>
              </a:rPr>
              <a:t> Sử dụng thuật toán kết nối tài xế gần nhất, giảm tối đa thời gian chờ đợi.</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Số hóa quy trình:</a:t>
            </a:r>
            <a:r>
              <a:rPr lang="en-GB" sz="1100">
                <a:solidFill>
                  <a:schemeClr val="dk1"/>
                </a:solidFill>
              </a:rPr>
              <a:t> Chốt giá trước khi đi, thanh toán điện tử, loại bỏ việc mặc cả.</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Giám sát thời gian thực:</a:t>
            </a:r>
            <a:r>
              <a:rPr lang="en-GB" sz="1100">
                <a:solidFill>
                  <a:schemeClr val="dk1"/>
                </a:solidFill>
              </a:rPr>
              <a:t> Theo dõi lộ trình qua GPS, cho phép chia sẻ hành trình để đảm bảo an toàn.</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Quản trị dữ liệu:</a:t>
            </a:r>
            <a:r>
              <a:rPr lang="en-GB" sz="1100">
                <a:solidFill>
                  <a:schemeClr val="dk1"/>
                </a:solidFill>
              </a:rPr>
              <a:t> Thay thế sổ sách thủ công bằng cơ sở dữ liệu về lịch sử hành trình và doanh thu.</a:t>
            </a:r>
            <a:endParaRPr sz="1100">
              <a:solidFill>
                <a:schemeClr val="dk1"/>
              </a:solidFill>
            </a:endParaRPr>
          </a:p>
          <a:p>
            <a:pPr indent="0" lvl="0" marL="0" rtl="0" algn="l">
              <a:spcBef>
                <a:spcPts val="1400"/>
              </a:spcBef>
              <a:spcAft>
                <a:spcPts val="0"/>
              </a:spcAft>
              <a:buNone/>
            </a:pPr>
            <a:r>
              <a:rPr b="1" lang="en-GB" sz="1300">
                <a:solidFill>
                  <a:schemeClr val="dk1"/>
                </a:solidFill>
              </a:rPr>
              <a:t>3. Những giá trị đem lại</a:t>
            </a:r>
            <a:endParaRPr b="1" sz="13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Với hành khách:</a:t>
            </a:r>
            <a:r>
              <a:rPr lang="en-GB" sz="1100">
                <a:solidFill>
                  <a:schemeClr val="dk1"/>
                </a:solidFill>
              </a:rPr>
              <a:t> Đặt xe nhanh, biết trước giá, an tâm về lộ trình.</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Với tài xế:</a:t>
            </a:r>
            <a:r>
              <a:rPr lang="en-GB" sz="1100">
                <a:solidFill>
                  <a:schemeClr val="dk1"/>
                </a:solidFill>
              </a:rPr>
              <a:t> Tăng thu nhập nhờ giảm thời gian chạy rỗng, lộ trình di chuyển được tối ưu.</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Với đơn vị quản lý:</a:t>
            </a:r>
            <a:r>
              <a:rPr lang="en-GB" sz="1100">
                <a:solidFill>
                  <a:schemeClr val="dk1"/>
                </a:solidFill>
              </a:rPr>
              <a:t> Kiểm soát dữ liệu thời gian thực, điều phối xe thông minh, minh bạch tài chính và dễ dàng quản lý chất lượng dịch vụ.</a:t>
            </a:r>
            <a:endParaRPr b="1"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Nhóm TMYHS </a:t>
            </a:r>
            <a:endParaRPr/>
          </a:p>
        </p:txBody>
      </p:sp>
      <p:sp>
        <p:nvSpPr>
          <p:cNvPr id="199" name="Google Shape;199;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Trần Quốc Thái</a:t>
            </a:r>
            <a:endParaRPr/>
          </a:p>
          <a:p>
            <a:pPr indent="-342900" lvl="0" marL="457200" rtl="0" algn="l">
              <a:spcBef>
                <a:spcPts val="0"/>
              </a:spcBef>
              <a:spcAft>
                <a:spcPts val="0"/>
              </a:spcAft>
              <a:buSzPts val="1800"/>
              <a:buAutoNum type="arabicPeriod"/>
            </a:pPr>
            <a:r>
              <a:rPr lang="en-GB"/>
              <a:t>Nguyễn Đình Tuấn Minh</a:t>
            </a:r>
            <a:endParaRPr/>
          </a:p>
          <a:p>
            <a:pPr indent="-342900" lvl="0" marL="457200" rtl="0" algn="l">
              <a:spcBef>
                <a:spcPts val="0"/>
              </a:spcBef>
              <a:spcAft>
                <a:spcPts val="0"/>
              </a:spcAft>
              <a:buSzPts val="1800"/>
              <a:buAutoNum type="arabicPeriod"/>
            </a:pPr>
            <a:r>
              <a:rPr lang="en-GB"/>
              <a:t>Phạm Bảo Yến</a:t>
            </a:r>
            <a:endParaRPr/>
          </a:p>
          <a:p>
            <a:pPr indent="-342900" lvl="0" marL="457200" rtl="0" algn="l">
              <a:spcBef>
                <a:spcPts val="0"/>
              </a:spcBef>
              <a:spcAft>
                <a:spcPts val="0"/>
              </a:spcAft>
              <a:buSzPts val="1800"/>
              <a:buAutoNum type="arabicPeriod"/>
            </a:pPr>
            <a:r>
              <a:rPr lang="en-GB"/>
              <a:t>Đỗ Ngọc Hoàng Hải</a:t>
            </a:r>
            <a:endParaRPr/>
          </a:p>
          <a:p>
            <a:pPr indent="-342900" lvl="0" marL="457200" rtl="0" algn="l">
              <a:spcBef>
                <a:spcPts val="0"/>
              </a:spcBef>
              <a:spcAft>
                <a:spcPts val="0"/>
              </a:spcAft>
              <a:buSzPts val="1800"/>
              <a:buAutoNum type="arabicPeriod"/>
            </a:pPr>
            <a:r>
              <a:rPr lang="en-GB"/>
              <a:t>Nguyễn Công Sơn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0"/>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Chủ đề của nhóm TMYHS: </a:t>
            </a:r>
            <a:r>
              <a:rPr b="1" lang="en-GB" sz="1600"/>
              <a:t>Hệ thống Quản lý Chuỗi Quán Cà Phê</a:t>
            </a:r>
            <a:endParaRPr b="1" sz="1600"/>
          </a:p>
        </p:txBody>
      </p:sp>
      <p:sp>
        <p:nvSpPr>
          <p:cNvPr id="205" name="Google Shape;205;p40"/>
          <p:cNvSpPr txBox="1"/>
          <p:nvPr>
            <p:ph idx="1" type="body"/>
          </p:nvPr>
        </p:nvSpPr>
        <p:spPr>
          <a:xfrm>
            <a:off x="311700" y="450600"/>
            <a:ext cx="8877600" cy="26196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GB" sz="1100">
                <a:solidFill>
                  <a:schemeClr val="dk1"/>
                </a:solidFill>
              </a:rPr>
              <a:t>1.  </a:t>
            </a:r>
            <a:r>
              <a:rPr b="1" lang="en-GB" sz="1100">
                <a:solidFill>
                  <a:schemeClr val="dk1"/>
                </a:solidFill>
              </a:rPr>
              <a:t>Bối cảnh:</a:t>
            </a:r>
            <a:endParaRPr b="1" sz="11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GB" sz="1100">
                <a:solidFill>
                  <a:schemeClr val="dk1"/>
                </a:solidFill>
              </a:rPr>
              <a:t>Thị trường F&amp;B tại Việt Nam phát triển mạnh, nhiều chuỗi cà phê tích hợp bán hàng online và thanh toán không tiền mặt tại từng chi nhánh. Tuy nhiên, việc quản trị và phân tích dữ liệu toàn chuỗi vẫn còn hạn chế, thiếu tính đồng bộ và tập trung.</a:t>
            </a:r>
            <a:endParaRPr sz="1100">
              <a:solidFill>
                <a:schemeClr val="dk1"/>
              </a:solidFill>
            </a:endParaRPr>
          </a:p>
          <a:p>
            <a:pPr indent="0" lvl="0" marL="0" rtl="0" algn="l">
              <a:lnSpc>
                <a:spcPct val="100000"/>
              </a:lnSpc>
              <a:spcBef>
                <a:spcPts val="1800"/>
              </a:spcBef>
              <a:spcAft>
                <a:spcPts val="0"/>
              </a:spcAft>
              <a:buNone/>
            </a:pPr>
            <a:r>
              <a:rPr b="1" lang="en-GB" sz="1100">
                <a:solidFill>
                  <a:schemeClr val="dk1"/>
                </a:solidFill>
              </a:rPr>
              <a:t>2. Tính cấp thiết:</a:t>
            </a:r>
            <a:endParaRPr b="1" sz="1100">
              <a:solidFill>
                <a:schemeClr val="dk1"/>
              </a:solidFill>
            </a:endParaRPr>
          </a:p>
          <a:p>
            <a:pPr indent="-298450" lvl="0" marL="457200" rtl="0" algn="l">
              <a:lnSpc>
                <a:spcPct val="100000"/>
              </a:lnSpc>
              <a:spcBef>
                <a:spcPts val="1200"/>
              </a:spcBef>
              <a:spcAft>
                <a:spcPts val="0"/>
              </a:spcAft>
              <a:buClr>
                <a:schemeClr val="dk1"/>
              </a:buClr>
              <a:buSzPts val="1100"/>
              <a:buFont typeface="Times New Roman"/>
              <a:buChar char="●"/>
            </a:pPr>
            <a:r>
              <a:rPr b="1" lang="en-GB" sz="1100">
                <a:solidFill>
                  <a:schemeClr val="dk1"/>
                </a:solidFill>
              </a:rPr>
              <a:t>Dữ liệu phân tán</a:t>
            </a:r>
            <a:r>
              <a:rPr lang="en-GB" sz="1100">
                <a:solidFill>
                  <a:schemeClr val="dk1"/>
                </a:solidFill>
              </a:rPr>
              <a:t>: Không đồng bộ giữa các chi nhánh, khó kiểm soát tổng thể.</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Quản lý thủ công kém hiệu quả</a:t>
            </a:r>
            <a:r>
              <a:rPr lang="en-GB" sz="1100">
                <a:solidFill>
                  <a:schemeClr val="dk1"/>
                </a:solidFill>
              </a:rPr>
              <a:t>: Tổng hợp bằng Excel, ghi chép rời rạc thiếu chính xác khi mở rộng.</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Thiếu phân tích dữ liệu</a:t>
            </a:r>
            <a:r>
              <a:rPr lang="en-GB" sz="1100">
                <a:solidFill>
                  <a:schemeClr val="dk1"/>
                </a:solidFill>
              </a:rPr>
              <a:t>: Chưa khai thác tốt sản phẩm bán chạy, giờ cao điểm, hiệu quả khuyến mãi, dự báo nhu cầu.</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Nguy cơ thất thoát cao</a:t>
            </a:r>
            <a:r>
              <a:rPr lang="en-GB" sz="1100">
                <a:solidFill>
                  <a:schemeClr val="dk1"/>
                </a:solidFill>
              </a:rPr>
              <a:t>: Không kiểm soát chặt tồn kho, định mức và doanh thu theo thời gian thực.</a:t>
            </a:r>
            <a:endParaRPr sz="1100">
              <a:solidFill>
                <a:schemeClr val="dk1"/>
              </a:solidFill>
            </a:endParaRPr>
          </a:p>
          <a:p>
            <a:pPr indent="0" lvl="0" marL="0" rtl="0" algn="l">
              <a:lnSpc>
                <a:spcPct val="100000"/>
              </a:lnSpc>
              <a:spcBef>
                <a:spcPts val="1800"/>
              </a:spcBef>
              <a:spcAft>
                <a:spcPts val="0"/>
              </a:spcAft>
              <a:buNone/>
            </a:pPr>
            <a:r>
              <a:rPr b="1" lang="en-GB" sz="1100">
                <a:solidFill>
                  <a:schemeClr val="dk1"/>
                </a:solidFill>
              </a:rPr>
              <a:t>3. Hệ thống hướng tới giải quyết</a:t>
            </a:r>
            <a:endParaRPr b="1" sz="1100">
              <a:solidFill>
                <a:schemeClr val="dk1"/>
              </a:solidFill>
            </a:endParaRPr>
          </a:p>
          <a:p>
            <a:pPr indent="-298450" lvl="0" marL="457200" rtl="0" algn="l">
              <a:lnSpc>
                <a:spcPct val="100000"/>
              </a:lnSpc>
              <a:spcBef>
                <a:spcPts val="1200"/>
              </a:spcBef>
              <a:spcAft>
                <a:spcPts val="0"/>
              </a:spcAft>
              <a:buClr>
                <a:schemeClr val="dk1"/>
              </a:buClr>
              <a:buSzPts val="1100"/>
              <a:buChar char="●"/>
            </a:pPr>
            <a:r>
              <a:rPr b="1" lang="en-GB" sz="1100">
                <a:solidFill>
                  <a:schemeClr val="dk1"/>
                </a:solidFill>
              </a:rPr>
              <a:t>Đồng bộ dữ liệu tập trung</a:t>
            </a:r>
            <a:r>
              <a:rPr lang="en-GB" sz="1100">
                <a:solidFill>
                  <a:schemeClr val="dk1"/>
                </a:solidFill>
              </a:rPr>
              <a:t>: Kết nối POS về máy chủ trung tâm, cập nhật real-time.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GB" sz="1100">
                <a:solidFill>
                  <a:schemeClr val="dk1"/>
                </a:solidFill>
              </a:rPr>
              <a:t>Kiểm soát tồn kho chặt chẽ</a:t>
            </a:r>
            <a:r>
              <a:rPr lang="en-GB" sz="1100">
                <a:solidFill>
                  <a:schemeClr val="dk1"/>
                </a:solidFill>
              </a:rPr>
              <a:t>: Theo dõi lô nhập, hạn dùng, định mức; cảnh báo khi sắp hết hàng.</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GB" sz="1100">
                <a:solidFill>
                  <a:schemeClr val="dk1"/>
                </a:solidFill>
              </a:rPr>
              <a:t>Tự động hóa nhân sự</a:t>
            </a:r>
            <a:r>
              <a:rPr lang="en-GB" sz="1100">
                <a:solidFill>
                  <a:schemeClr val="dk1"/>
                </a:solidFill>
              </a:rPr>
              <a:t>: Chấm công, phân ca, tính lương và đánh giá hiệu suất.</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GB" sz="1100">
                <a:solidFill>
                  <a:schemeClr val="dk1"/>
                </a:solidFill>
              </a:rPr>
              <a:t>Phân tích kinh doanh</a:t>
            </a:r>
            <a:r>
              <a:rPr lang="en-GB" sz="1100">
                <a:solidFill>
                  <a:schemeClr val="dk1"/>
                </a:solidFill>
              </a:rPr>
              <a:t>: Báo cáo theo chi nhánh, sản phẩm, thời gian; hỗ trợ dự báo nhu cầu.</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GB" sz="1100">
                <a:solidFill>
                  <a:schemeClr val="dk1"/>
                </a:solidFill>
              </a:rPr>
              <a:t>Cá nhân hóa khách hàng</a:t>
            </a:r>
            <a:r>
              <a:rPr lang="en-GB" sz="1100">
                <a:solidFill>
                  <a:schemeClr val="dk1"/>
                </a:solidFill>
              </a:rPr>
              <a:t>: Lưu lịch sử mua hàng, tích điểm, triển khai khuyến mãi phù hợp.</a:t>
            </a:r>
            <a:endParaRPr sz="1100">
              <a:solidFill>
                <a:schemeClr val="dk1"/>
              </a:solidFill>
            </a:endParaRPr>
          </a:p>
          <a:p>
            <a:pPr indent="0" lvl="0" marL="0" rtl="0" algn="l">
              <a:lnSpc>
                <a:spcPct val="100000"/>
              </a:lnSpc>
              <a:spcBef>
                <a:spcPts val="1200"/>
              </a:spcBef>
              <a:spcAft>
                <a:spcPts val="0"/>
              </a:spcAft>
              <a:buNone/>
            </a:pPr>
            <a:r>
              <a:rPr b="1" lang="en-GB" sz="1100">
                <a:solidFill>
                  <a:schemeClr val="dk1"/>
                </a:solidFill>
              </a:rPr>
              <a:t>4. Những giá trị mà hệ thống đem lại</a:t>
            </a:r>
            <a:endParaRPr b="1" sz="1100">
              <a:solidFill>
                <a:schemeClr val="dk1"/>
              </a:solidFill>
            </a:endParaRPr>
          </a:p>
          <a:p>
            <a:pPr indent="-298450" lvl="0" marL="457200" rtl="0" algn="l">
              <a:lnSpc>
                <a:spcPct val="100000"/>
              </a:lnSpc>
              <a:spcBef>
                <a:spcPts val="1200"/>
              </a:spcBef>
              <a:spcAft>
                <a:spcPts val="0"/>
              </a:spcAft>
              <a:buClr>
                <a:schemeClr val="dk1"/>
              </a:buClr>
              <a:buSzPts val="1100"/>
              <a:buFont typeface="Times New Roman"/>
              <a:buChar char="●"/>
            </a:pPr>
            <a:r>
              <a:rPr b="1" lang="en-GB" sz="1100">
                <a:solidFill>
                  <a:schemeClr val="dk1"/>
                </a:solidFill>
              </a:rPr>
              <a:t>Với khách hàng: </a:t>
            </a:r>
            <a:r>
              <a:rPr lang="en-GB" sz="1100">
                <a:solidFill>
                  <a:schemeClr val="dk1"/>
                </a:solidFill>
              </a:rPr>
              <a:t>Thanh toán nhanh, tích điểm tiện lợi, ưu đãi phù hợp.</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Với nhân viên:</a:t>
            </a:r>
            <a:r>
              <a:rPr lang="en-GB" sz="1100">
                <a:solidFill>
                  <a:schemeClr val="dk1"/>
                </a:solidFill>
              </a:rPr>
              <a:t> Giảm thao tác thủ công, minh bạch chấm công – lương.</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Với quản lý chi nhánh: </a:t>
            </a:r>
            <a:r>
              <a:rPr lang="en-GB" sz="1100">
                <a:solidFill>
                  <a:schemeClr val="dk1"/>
                </a:solidFill>
              </a:rPr>
              <a:t>Theo dõi doanh thu, tồn kho, hiệu suất theo thời gian thực.</a:t>
            </a:r>
            <a:endParaRPr sz="1100">
              <a:solidFill>
                <a:schemeClr val="dk1"/>
              </a:solidFill>
            </a:endParaRPr>
          </a:p>
          <a:p>
            <a:pPr indent="-298450" lvl="0" marL="457200" rtl="0" algn="l">
              <a:lnSpc>
                <a:spcPct val="100000"/>
              </a:lnSpc>
              <a:spcBef>
                <a:spcPts val="0"/>
              </a:spcBef>
              <a:spcAft>
                <a:spcPts val="0"/>
              </a:spcAft>
              <a:buClr>
                <a:schemeClr val="dk1"/>
              </a:buClr>
              <a:buSzPts val="1100"/>
              <a:buFont typeface="Times New Roman"/>
              <a:buChar char="●"/>
            </a:pPr>
            <a:r>
              <a:rPr b="1" lang="en-GB" sz="1100">
                <a:solidFill>
                  <a:schemeClr val="dk1"/>
                </a:solidFill>
              </a:rPr>
              <a:t>Với ban quản lý chuỗi: </a:t>
            </a:r>
            <a:r>
              <a:rPr lang="en-GB" sz="1100">
                <a:solidFill>
                  <a:schemeClr val="dk1"/>
                </a:solidFill>
              </a:rPr>
              <a:t>Kiểm soát tập trung, ra quyết định dựa trên dữ liệu, hỗ trợ mở rộng.</a:t>
            </a:r>
            <a:endParaRPr sz="1100">
              <a:solidFill>
                <a:schemeClr val="dk1"/>
              </a:solidFill>
            </a:endParaRPr>
          </a:p>
          <a:p>
            <a:pPr indent="0" lvl="0" marL="457200" rtl="0" algn="l">
              <a:lnSpc>
                <a:spcPct val="100000"/>
              </a:lnSpc>
              <a:spcBef>
                <a:spcPts val="1200"/>
              </a:spcBef>
              <a:spcAft>
                <a:spcPts val="0"/>
              </a:spcAft>
              <a:buNone/>
            </a:pPr>
            <a:r>
              <a:t/>
            </a:r>
            <a:endParaRPr b="1" sz="1100">
              <a:solidFill>
                <a:schemeClr val="dk1"/>
              </a:solidFill>
            </a:endParaRPr>
          </a:p>
          <a:p>
            <a:pPr indent="0" lvl="0" marL="0" rtl="0" algn="l">
              <a:lnSpc>
                <a:spcPct val="100000"/>
              </a:lnSpc>
              <a:spcBef>
                <a:spcPts val="1200"/>
              </a:spcBef>
              <a:spcAft>
                <a:spcPts val="1200"/>
              </a:spcAft>
              <a:buClr>
                <a:schemeClr val="dk1"/>
              </a:buClr>
              <a:buSzPts val="1100"/>
              <a:buFont typeface="Arial"/>
              <a:buNone/>
            </a:pPr>
            <a:r>
              <a:t/>
            </a:r>
            <a:endParaRPr b="1" sz="1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1"/>
          <p:cNvSpPr txBox="1"/>
          <p:nvPr>
            <p:ph idx="1" type="body"/>
          </p:nvPr>
        </p:nvSpPr>
        <p:spPr>
          <a:xfrm>
            <a:off x="311700" y="182500"/>
            <a:ext cx="8520600" cy="438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Wifi: bangoc.exam</a:t>
            </a:r>
            <a:endParaRPr/>
          </a:p>
          <a:p>
            <a:pPr indent="0" lvl="0" marL="0" rtl="0" algn="l">
              <a:spcBef>
                <a:spcPts val="1200"/>
              </a:spcBef>
              <a:spcAft>
                <a:spcPts val="0"/>
              </a:spcAft>
              <a:buNone/>
            </a:pPr>
            <a:r>
              <a:rPr lang="en-GB"/>
              <a:t>Pass: bangoc.hust</a:t>
            </a:r>
            <a:endParaRPr/>
          </a:p>
          <a:p>
            <a:pPr indent="-342900" lvl="0" marL="457200" rtl="0" algn="l">
              <a:spcBef>
                <a:spcPts val="1200"/>
              </a:spcBef>
              <a:spcAft>
                <a:spcPts val="0"/>
              </a:spcAft>
              <a:buSzPts val="1800"/>
              <a:buChar char="-"/>
            </a:pPr>
            <a:r>
              <a:rPr lang="en-GB"/>
              <a:t>Kết nối trực tiếp: tắt vpn, proxy, ip và dns tự động</a:t>
            </a:r>
            <a:endParaRPr/>
          </a:p>
          <a:p>
            <a:pPr indent="0" lvl="0" marL="0" rtl="0" algn="l">
              <a:spcBef>
                <a:spcPts val="1200"/>
              </a:spcBef>
              <a:spcAft>
                <a:spcPts val="0"/>
              </a:spcAft>
              <a:buNone/>
            </a:pPr>
            <a:r>
              <a:rPr lang="en-GB"/>
              <a:t>Sử dụng trình duyệt - không phải máy tìm kiếm, nhập đầy đủ:</a:t>
            </a:r>
            <a:endParaRPr/>
          </a:p>
          <a:p>
            <a:pPr indent="0" lvl="0" marL="0" rtl="0" algn="l">
              <a:spcBef>
                <a:spcPts val="1200"/>
              </a:spcBef>
              <a:spcAft>
                <a:spcPts val="0"/>
              </a:spcAft>
              <a:buNone/>
            </a:pPr>
            <a:r>
              <a:rPr lang="en-GB" u="sng">
                <a:solidFill>
                  <a:schemeClr val="hlink"/>
                </a:solidFill>
                <a:hlinkClick r:id="rId3"/>
              </a:rPr>
              <a:t>http://bangoc.bk</a:t>
            </a:r>
            <a:endParaRPr/>
          </a:p>
          <a:p>
            <a:pPr indent="0" lvl="0" marL="0" rtl="0" algn="l">
              <a:spcBef>
                <a:spcPts val="1200"/>
              </a:spcBef>
              <a:spcAft>
                <a:spcPts val="0"/>
              </a:spcAft>
              <a:buNone/>
            </a:pPr>
            <a:r>
              <a:rPr lang="en-GB"/>
              <a:t>Tên đăng nhập: phần trước @ trong email HUST viết thường.</a:t>
            </a:r>
            <a:endParaRPr/>
          </a:p>
          <a:p>
            <a:pPr indent="0" lvl="0" marL="0" rtl="0" algn="l">
              <a:spcBef>
                <a:spcPts val="1200"/>
              </a:spcBef>
              <a:spcAft>
                <a:spcPts val="1200"/>
              </a:spcAft>
              <a:buNone/>
            </a:pPr>
            <a:r>
              <a:rPr lang="en-GB"/>
              <a:t>Mật khẩu: 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