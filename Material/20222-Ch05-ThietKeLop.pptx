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772C72-16C3-4DF3-A9AC-A4513592E4A2}">
  <a:tblStyle styleId="{58772C72-16C3-4DF3-A9AC-A4513592E4A2}"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95134A9-585F-4BF3-AC60-46676E0FDF13}" styleName="Table_1">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7F4FDBC-C4A9-4F68-A135-D953BA0FE3B0}"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d0d106feaa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d0d106fe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d0d13cd312_0_4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d0d13cd31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31a29648b4_0_2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31a29648b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4bf02a6364_0_1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4bf02a636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32729d3902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32729d390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32729d3902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32729d390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32729d3902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32729d390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4c2cb7110f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4c2cb7110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4c2cb7110f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4c2cb7110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4c2cb7110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4c2cb711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32729d3902_0_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32729d390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32729d3902_0_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32729d390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32729d3902_0_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32729d390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32729d3902_0_4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32729d3902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2ef87113c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2ef87113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32729d3902_0_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32729d3902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32729d3902_0_5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32729d390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32729d3902_0_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32729d3902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32729d3902_0_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32729d390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32729d3902_0_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32729d3902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32729d3902_0_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32729d390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32729d3902_0_8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32729d3902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32729d3902_0_8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32729d390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32729d3902_0_9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32729d3902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32729d3902_0_10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32729d390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3e3df52ddb_0_4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3e3df52dd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3e3df52ddb_0_5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3e3df52dd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3e3df52ddb_0_5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3e3df52dd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3e3df52ddb_0_6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3e3df52dd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3e3df52ddb_0_6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3e3df52dd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3e3df52ddb_0_7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3e3df52dd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3e3df52ddb_0_8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3e3df52dd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3e3df52ddb_0_8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3e3df52dd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3e3df52ddb_0_9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3e3df52dd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3e3df52ddb_0_9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3e3df52ddb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3e3df52ddb_0_10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3e3df52ddb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3e3df52ddb_0_1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3e3df52ddb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3e3df52ddb_0_1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3e3df52ddb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3e3df52ddb_0_1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3e3df52ddb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3e3df52ddb_0_1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3e3df52dd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3e3df52ddb_0_1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3e3df52ddb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3e3df52ddb_0_1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3e3df52ddb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3e3df52ddb_0_1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3e3df52dd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3e3df52ddb_0_1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3e3df52ddb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3e3df52ddb_0_1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3e3df52ddb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3e3df52ddb_0_1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3e3df52ddb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3e3df52ddb_0_17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3e3df52ddb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3e3df52ddb_0_1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3e3df52ddb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3e3df52ddb_0_6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3e3df52ddb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3e3df52ddb_0_6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3e3df52ddb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3e3df52ddb_0_6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3e3df52ddb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3e3df52ddb_0_66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3e3df52ddb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3e3df52ddb_0_6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3e3df52ddb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3e3df52ddb_0_63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3e3df52ddb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3e3df52ddb_0_2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3e3df52ddb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3e3df52ddb_0_2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3e3df52ddb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3e3df52ddb_0_25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3e3df52ddb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3e3df52ddb_0_28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3e3df52ddb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3e3df52ddb_0_2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3e3df52ddb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3e3df52ddb_0_29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3e3df52ddb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3e3df52ddb_0_3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3e3df52ddb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3e3df52ddb_0_3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3e3df52ddb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4c2cb7110f_0_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4c2cb7110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3e3df52ddb_0_40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3e3df52ddb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3e3df52ddb_0_40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3e3df52ddb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3e3df52ddb_0_4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3e3df52ddb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3e3df52ddb_0_44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3e3df52ddb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3e3df52ddb_0_4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3e3df52ddb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3e3df52ddb_0_4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3e3df52ddb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3e3df52ddb_0_5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3e3df52ddb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3e3df52ddb_0_5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3e3df52ddb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3e3df52ddb_0_54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3e3df52ddb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3e3df52ddb_0_5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33e3df52ddb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12f7f353c56_0_2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12f7f353c56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8" name="Google Shape;18;p4"/>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68300" lvl="1" marL="914400" algn="ctr">
              <a:spcBef>
                <a:spcPts val="0"/>
              </a:spcBef>
              <a:spcAft>
                <a:spcPts val="0"/>
              </a:spcAft>
              <a:buSzPts val="2200"/>
              <a:buChar char="○"/>
              <a:defRPr/>
            </a:lvl2pPr>
            <a:lvl3pPr indent="-342900" lvl="2" marL="1371600" algn="ctr">
              <a:spcBef>
                <a:spcPts val="0"/>
              </a:spcBef>
              <a:spcAft>
                <a:spcPts val="0"/>
              </a:spcAft>
              <a:buSzPts val="1800"/>
              <a:buChar char="■"/>
              <a:defRPr/>
            </a:lvl3pPr>
            <a:lvl4pPr indent="-317500" lvl="3" marL="1828800" algn="ctr">
              <a:spcBef>
                <a:spcPts val="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869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None/>
              <a:defRPr b="1" sz="3200">
                <a:solidFill>
                  <a:schemeClr val="dk1"/>
                </a:solidFill>
              </a:defRPr>
            </a:lvl1pPr>
            <a:lvl2pPr lvl="1">
              <a:spcBef>
                <a:spcPts val="0"/>
              </a:spcBef>
              <a:spcAft>
                <a:spcPts val="0"/>
              </a:spcAft>
              <a:buClr>
                <a:schemeClr val="dk1"/>
              </a:buClr>
              <a:buSzPts val="3200"/>
              <a:buNone/>
              <a:defRPr sz="3200">
                <a:solidFill>
                  <a:schemeClr val="dk1"/>
                </a:solidFill>
              </a:defRPr>
            </a:lvl2pPr>
            <a:lvl3pPr lvl="2">
              <a:spcBef>
                <a:spcPts val="0"/>
              </a:spcBef>
              <a:spcAft>
                <a:spcPts val="0"/>
              </a:spcAft>
              <a:buClr>
                <a:schemeClr val="dk1"/>
              </a:buClr>
              <a:buSzPts val="3200"/>
              <a:buNone/>
              <a:defRPr sz="3200">
                <a:solidFill>
                  <a:schemeClr val="dk1"/>
                </a:solidFill>
              </a:defRPr>
            </a:lvl3pPr>
            <a:lvl4pPr lvl="3">
              <a:spcBef>
                <a:spcPts val="0"/>
              </a:spcBef>
              <a:spcAft>
                <a:spcPts val="0"/>
              </a:spcAft>
              <a:buClr>
                <a:schemeClr val="dk1"/>
              </a:buClr>
              <a:buSzPts val="3200"/>
              <a:buNone/>
              <a:defRPr sz="3200">
                <a:solidFill>
                  <a:schemeClr val="dk1"/>
                </a:solidFill>
              </a:defRPr>
            </a:lvl4pPr>
            <a:lvl5pPr lvl="4">
              <a:spcBef>
                <a:spcPts val="0"/>
              </a:spcBef>
              <a:spcAft>
                <a:spcPts val="0"/>
              </a:spcAft>
              <a:buClr>
                <a:schemeClr val="dk1"/>
              </a:buClr>
              <a:buSzPts val="3200"/>
              <a:buNone/>
              <a:defRPr sz="3200">
                <a:solidFill>
                  <a:schemeClr val="dk1"/>
                </a:solidFill>
              </a:defRPr>
            </a:lvl5pPr>
            <a:lvl6pPr lvl="5">
              <a:spcBef>
                <a:spcPts val="0"/>
              </a:spcBef>
              <a:spcAft>
                <a:spcPts val="0"/>
              </a:spcAft>
              <a:buClr>
                <a:schemeClr val="dk1"/>
              </a:buClr>
              <a:buSzPts val="3200"/>
              <a:buNone/>
              <a:defRPr sz="3200">
                <a:solidFill>
                  <a:schemeClr val="dk1"/>
                </a:solidFill>
              </a:defRPr>
            </a:lvl6pPr>
            <a:lvl7pPr lvl="6">
              <a:spcBef>
                <a:spcPts val="0"/>
              </a:spcBef>
              <a:spcAft>
                <a:spcPts val="0"/>
              </a:spcAft>
              <a:buClr>
                <a:schemeClr val="dk1"/>
              </a:buClr>
              <a:buSzPts val="3200"/>
              <a:buNone/>
              <a:defRPr sz="3200">
                <a:solidFill>
                  <a:schemeClr val="dk1"/>
                </a:solidFill>
              </a:defRPr>
            </a:lvl7pPr>
            <a:lvl8pPr lvl="7">
              <a:spcBef>
                <a:spcPts val="0"/>
              </a:spcBef>
              <a:spcAft>
                <a:spcPts val="0"/>
              </a:spcAft>
              <a:buClr>
                <a:schemeClr val="dk1"/>
              </a:buClr>
              <a:buSzPts val="3200"/>
              <a:buNone/>
              <a:defRPr sz="3200">
                <a:solidFill>
                  <a:schemeClr val="dk1"/>
                </a:solidFill>
              </a:defRPr>
            </a:lvl8pPr>
            <a:lvl9pPr lvl="8">
              <a:spcBef>
                <a:spcPts val="0"/>
              </a:spcBef>
              <a:spcAft>
                <a:spcPts val="0"/>
              </a:spcAft>
              <a:buClr>
                <a:schemeClr val="dk1"/>
              </a:buClr>
              <a:buSzPts val="3200"/>
              <a:buNone/>
              <a:defRPr sz="3200">
                <a:solidFill>
                  <a:schemeClr val="dk1"/>
                </a:solidFill>
              </a:defRPr>
            </a:lvl9pPr>
          </a:lstStyle>
          <a:p/>
        </p:txBody>
      </p:sp>
      <p:sp>
        <p:nvSpPr>
          <p:cNvPr id="7" name="Google Shape;7;p1"/>
          <p:cNvSpPr txBox="1"/>
          <p:nvPr>
            <p:ph idx="1" type="body"/>
          </p:nvPr>
        </p:nvSpPr>
        <p:spPr>
          <a:xfrm>
            <a:off x="311700" y="936100"/>
            <a:ext cx="8520600" cy="5397000"/>
          </a:xfrm>
          <a:prstGeom prst="rect">
            <a:avLst/>
          </a:prstGeom>
          <a:noFill/>
          <a:ln>
            <a:noFill/>
          </a:ln>
        </p:spPr>
        <p:txBody>
          <a:bodyPr anchorCtr="0" anchor="t" bIns="91425" lIns="91425" spcFirstLastPara="1" rIns="91425" wrap="square" tIns="91425">
            <a:no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68300" lvl="1" marL="914400">
              <a:lnSpc>
                <a:spcPct val="115000"/>
              </a:lnSpc>
              <a:spcBef>
                <a:spcPts val="0"/>
              </a:spcBef>
              <a:spcAft>
                <a:spcPts val="0"/>
              </a:spcAft>
              <a:buClr>
                <a:schemeClr val="dk2"/>
              </a:buClr>
              <a:buSzPts val="2200"/>
              <a:buChar char="○"/>
              <a:defRPr sz="2200">
                <a:solidFill>
                  <a:schemeClr val="dk2"/>
                </a:solidFill>
              </a:defRPr>
            </a:lvl2pPr>
            <a:lvl3pPr indent="-342900" lvl="2" marL="1371600">
              <a:lnSpc>
                <a:spcPct val="115000"/>
              </a:lnSpc>
              <a:spcBef>
                <a:spcPts val="0"/>
              </a:spcBef>
              <a:spcAft>
                <a:spcPts val="0"/>
              </a:spcAft>
              <a:buClr>
                <a:schemeClr val="dk2"/>
              </a:buClr>
              <a:buSzPts val="1800"/>
              <a:buChar char="■"/>
              <a:defRPr sz="1800">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77075"/>
            <a:ext cx="8520600" cy="206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4200"/>
              <a:t>Phân tích thiết kế Hệ thống</a:t>
            </a:r>
            <a:endParaRPr sz="4200"/>
          </a:p>
        </p:txBody>
      </p:sp>
      <p:sp>
        <p:nvSpPr>
          <p:cNvPr id="55" name="Google Shape;55;p13"/>
          <p:cNvSpPr txBox="1"/>
          <p:nvPr>
            <p:ph idx="1" type="subTitle"/>
          </p:nvPr>
        </p:nvSpPr>
        <p:spPr>
          <a:xfrm>
            <a:off x="311700" y="3778827"/>
            <a:ext cx="8520600" cy="812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Giảng viên: Nguyễn Bá Ngọc</a:t>
            </a:r>
            <a:endParaRPr sz="2600"/>
          </a:p>
        </p:txBody>
      </p:sp>
      <p:sp>
        <p:nvSpPr>
          <p:cNvPr id="56" name="Google Shape;56;p13"/>
          <p:cNvSpPr txBox="1"/>
          <p:nvPr/>
        </p:nvSpPr>
        <p:spPr>
          <a:xfrm>
            <a:off x="125" y="6116250"/>
            <a:ext cx="91440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600"/>
              <a:t>Hà Nội-2021</a:t>
            </a:r>
            <a:endParaRPr sz="2600"/>
          </a:p>
        </p:txBody>
      </p:sp>
      <p:sp>
        <p:nvSpPr>
          <p:cNvPr id="57" name="Google Shape;57;p13"/>
          <p:cNvSpPr txBox="1"/>
          <p:nvPr/>
        </p:nvSpPr>
        <p:spPr>
          <a:xfrm>
            <a:off x="491750" y="4667625"/>
            <a:ext cx="38571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Thiết kế lớp</a:t>
            </a:r>
            <a:endParaRPr/>
          </a:p>
        </p:txBody>
      </p:sp>
      <p:sp>
        <p:nvSpPr>
          <p:cNvPr id="63" name="Google Shape;6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69" name="Google Shape;69;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0" name="Google Shape;70;p15"/>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Vấn đề t</a:t>
            </a:r>
            <a:r>
              <a:rPr lang="en-GB"/>
              <a:t>hiết kế lớp </a:t>
            </a:r>
            <a:endParaRPr/>
          </a:p>
          <a:p>
            <a:pPr indent="-381000" lvl="0" marL="457200" rtl="0" algn="l">
              <a:spcBef>
                <a:spcPts val="0"/>
              </a:spcBef>
              <a:spcAft>
                <a:spcPts val="0"/>
              </a:spcAft>
              <a:buSzPts val="2400"/>
              <a:buChar char="●"/>
            </a:pPr>
            <a:r>
              <a:rPr lang="en-GB"/>
              <a:t>Các chỉ số chất lượng</a:t>
            </a:r>
            <a:endParaRPr/>
          </a:p>
          <a:p>
            <a:pPr indent="-381000" lvl="0" marL="457200" rtl="0" algn="l">
              <a:spcBef>
                <a:spcPts val="0"/>
              </a:spcBef>
              <a:spcAft>
                <a:spcPts val="0"/>
              </a:spcAft>
              <a:buSzPts val="2400"/>
              <a:buChar char="●"/>
            </a:pPr>
            <a:r>
              <a:rPr lang="en-GB"/>
              <a:t>Các nguyên lý SOLID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76" name="Google Shape;76;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 name="Google Shape;77;p16"/>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Vấn đề thiết kế lớp </a:t>
            </a:r>
            <a:endParaRPr/>
          </a:p>
          <a:p>
            <a:pPr indent="-381000" lvl="0" marL="457200" rtl="0" algn="l">
              <a:spcBef>
                <a:spcPts val="0"/>
              </a:spcBef>
              <a:spcAft>
                <a:spcPts val="0"/>
              </a:spcAft>
              <a:buSzPts val="2400"/>
              <a:buChar char="●"/>
            </a:pPr>
            <a:r>
              <a:rPr lang="en-GB"/>
              <a:t>Các chỉ số chất lượng</a:t>
            </a:r>
            <a:endParaRPr/>
          </a:p>
          <a:p>
            <a:pPr indent="-381000" lvl="0" marL="457200" rtl="0" algn="l">
              <a:spcBef>
                <a:spcPts val="0"/>
              </a:spcBef>
              <a:spcAft>
                <a:spcPts val="0"/>
              </a:spcAft>
              <a:buSzPts val="2400"/>
              <a:buChar char="●"/>
            </a:pPr>
            <a:r>
              <a:rPr lang="en-GB"/>
              <a:t>Các nguyên lý SOLID</a:t>
            </a:r>
            <a:endParaRPr/>
          </a:p>
        </p:txBody>
      </p:sp>
      <p:sp>
        <p:nvSpPr>
          <p:cNvPr id="78" name="Google Shape;78;p16"/>
          <p:cNvSpPr/>
          <p:nvPr/>
        </p:nvSpPr>
        <p:spPr>
          <a:xfrm>
            <a:off x="357900" y="749075"/>
            <a:ext cx="47763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4" name="Google Shape;84;p1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hoạt động thiết kế đối tượng</a:t>
            </a:r>
            <a:endParaRPr/>
          </a:p>
        </p:txBody>
      </p:sp>
      <p:sp>
        <p:nvSpPr>
          <p:cNvPr id="85" name="Google Shape;85;p17"/>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Mở rộng và tiếp tục phát triển các mô hình phân tích.</a:t>
            </a:r>
            <a:endParaRPr/>
          </a:p>
          <a:p>
            <a:pPr indent="-381000" lvl="0" marL="457200" rtl="0" algn="just">
              <a:spcBef>
                <a:spcPts val="0"/>
              </a:spcBef>
              <a:spcAft>
                <a:spcPts val="0"/>
              </a:spcAft>
              <a:buSzPts val="2400"/>
              <a:buChar char="●"/>
            </a:pPr>
            <a:r>
              <a:rPr lang="en-GB"/>
              <a:t>Tạo các mô tả cho thiết kế chi tiết lớp và phương thức</a:t>
            </a:r>
            <a:endParaRPr/>
          </a:p>
          <a:p>
            <a:pPr indent="-368300" lvl="1" marL="914400" rtl="0" algn="just">
              <a:spcBef>
                <a:spcPts val="0"/>
              </a:spcBef>
              <a:spcAft>
                <a:spcPts val="0"/>
              </a:spcAft>
              <a:buSzPts val="2200"/>
              <a:buChar char="○"/>
            </a:pPr>
            <a:r>
              <a:rPr lang="en-GB"/>
              <a:t>Bổ xung các đặc tả cho mô hình hiện có</a:t>
            </a:r>
            <a:endParaRPr/>
          </a:p>
          <a:p>
            <a:pPr indent="-368300" lvl="1" marL="914400" rtl="0" algn="just">
              <a:spcBef>
                <a:spcPts val="0"/>
              </a:spcBef>
              <a:spcAft>
                <a:spcPts val="0"/>
              </a:spcAft>
              <a:buSzPts val="2200"/>
              <a:buChar char="○"/>
            </a:pPr>
            <a:r>
              <a:rPr lang="en-GB"/>
              <a:t>Xác định các tiềm năng tái sử dụng</a:t>
            </a:r>
            <a:endParaRPr/>
          </a:p>
          <a:p>
            <a:pPr indent="-368300" lvl="1" marL="914400" rtl="0" algn="just">
              <a:spcBef>
                <a:spcPts val="0"/>
              </a:spcBef>
              <a:spcAft>
                <a:spcPts val="0"/>
              </a:spcAft>
              <a:buSzPts val="2200"/>
              <a:buChar char="○"/>
            </a:pPr>
            <a:r>
              <a:rPr lang="en-GB"/>
              <a:t>Tái cấu trúc thiết kế</a:t>
            </a:r>
            <a:endParaRPr/>
          </a:p>
          <a:p>
            <a:pPr indent="-368300" lvl="1" marL="914400" rtl="0" algn="just">
              <a:spcBef>
                <a:spcPts val="0"/>
              </a:spcBef>
              <a:spcAft>
                <a:spcPts val="0"/>
              </a:spcAft>
              <a:buSzPts val="2200"/>
              <a:buChar char="○"/>
            </a:pPr>
            <a:r>
              <a:rPr lang="en-GB"/>
              <a:t>Tối ưu hóa thiết kế</a:t>
            </a:r>
            <a:endParaRPr/>
          </a:p>
          <a:p>
            <a:pPr indent="-368300" lvl="1" marL="914400" rtl="0" algn="just">
              <a:spcBef>
                <a:spcPts val="0"/>
              </a:spcBef>
              <a:spcAft>
                <a:spcPts val="0"/>
              </a:spcAft>
              <a:buSzPts val="2200"/>
              <a:buChar char="○"/>
            </a:pPr>
            <a:r>
              <a:rPr lang="en-GB"/>
              <a:t>Ánh xạ các lớp lĩnh vực ứng dụng và ngôn ngữ triển khai</a:t>
            </a:r>
            <a:endParaRPr/>
          </a:p>
          <a:p>
            <a:pPr indent="-381000" lvl="0" marL="457200" rtl="0" algn="just">
              <a:spcBef>
                <a:spcPts val="0"/>
              </a:spcBef>
              <a:spcAft>
                <a:spcPts val="0"/>
              </a:spcAft>
              <a:buSzPts val="2400"/>
              <a:buChar char="●"/>
            </a:pPr>
            <a:r>
              <a:rPr lang="en-GB"/>
              <a:t>Thay đổi 1 lớp trên 1 tầng có thể khiến các lớp khác (có thể trên các tầng khác) có gắn kết với lớp đó thay đổi theo.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đặc tả bổ xung</a:t>
            </a:r>
            <a:endParaRPr/>
          </a:p>
        </p:txBody>
      </p:sp>
      <p:sp>
        <p:nvSpPr>
          <p:cNvPr id="91" name="Google Shape;91;p18"/>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Kiểm tra các mô hình cấu trúc và hành vi để đảm bảo các thành phần đầy đủ và cần thiết.</a:t>
            </a:r>
            <a:endParaRPr/>
          </a:p>
          <a:p>
            <a:pPr indent="-381000" lvl="0" marL="457200" rtl="0" algn="l">
              <a:spcBef>
                <a:spcPts val="0"/>
              </a:spcBef>
              <a:spcAft>
                <a:spcPts val="0"/>
              </a:spcAft>
              <a:buSzPts val="2400"/>
              <a:buChar char="●"/>
            </a:pPr>
            <a:r>
              <a:rPr lang="en-GB"/>
              <a:t>Thiết lập giới hạn nhìn của các thuộc tính và phương thức của mỗi lớp (gắn với ngôn ngữ triển khai).</a:t>
            </a:r>
            <a:endParaRPr/>
          </a:p>
          <a:p>
            <a:pPr indent="-381000" lvl="0" marL="457200" rtl="0" algn="l">
              <a:spcBef>
                <a:spcPts val="0"/>
              </a:spcBef>
              <a:spcAft>
                <a:spcPts val="0"/>
              </a:spcAft>
              <a:buSzPts val="2400"/>
              <a:buChar char="●"/>
            </a:pPr>
            <a:r>
              <a:rPr lang="en-GB"/>
              <a:t>Xác định nguyên mẫu của các phương thức: Tên, các tham số, kiểu trả về.</a:t>
            </a:r>
            <a:endParaRPr/>
          </a:p>
          <a:p>
            <a:pPr indent="-381000" lvl="0" marL="457200" rtl="0" algn="l">
              <a:spcBef>
                <a:spcPts val="0"/>
              </a:spcBef>
              <a:spcAft>
                <a:spcPts val="0"/>
              </a:spcAft>
              <a:buSzPts val="2400"/>
              <a:buChar char="●"/>
            </a:pPr>
            <a:r>
              <a:rPr lang="en-GB"/>
              <a:t>Xác định các ràng buộc mà đối tượng phải đáp ứng</a:t>
            </a:r>
            <a:endParaRPr/>
          </a:p>
          <a:p>
            <a:pPr indent="-368300" lvl="1" marL="914400" rtl="0" algn="l">
              <a:spcBef>
                <a:spcPts val="0"/>
              </a:spcBef>
              <a:spcAft>
                <a:spcPts val="0"/>
              </a:spcAft>
              <a:buSzPts val="2200"/>
              <a:buChar char="○"/>
            </a:pPr>
            <a:r>
              <a:rPr lang="en-GB"/>
              <a:t>Tiền điều kiện;</a:t>
            </a:r>
            <a:endParaRPr/>
          </a:p>
          <a:p>
            <a:pPr indent="-368300" lvl="1" marL="914400" rtl="0" algn="l">
              <a:spcBef>
                <a:spcPts val="0"/>
              </a:spcBef>
              <a:spcAft>
                <a:spcPts val="0"/>
              </a:spcAft>
              <a:buSzPts val="2200"/>
              <a:buChar char="○"/>
            </a:pPr>
            <a:r>
              <a:rPr lang="en-GB"/>
              <a:t>Hậu điều kiện; </a:t>
            </a:r>
            <a:endParaRPr/>
          </a:p>
          <a:p>
            <a:pPr indent="-368300" lvl="1" marL="914400" rtl="0" algn="l">
              <a:spcBef>
                <a:spcPts val="0"/>
              </a:spcBef>
              <a:spcAft>
                <a:spcPts val="0"/>
              </a:spcAft>
              <a:buSzPts val="2200"/>
              <a:buChar char="○"/>
            </a:pPr>
            <a:r>
              <a:rPr lang="en-GB"/>
              <a:t>Tính chất bất biến.</a:t>
            </a:r>
            <a:endParaRPr/>
          </a:p>
          <a:p>
            <a:pPr indent="-368300" lvl="1" marL="914400" rtl="0" algn="l">
              <a:spcBef>
                <a:spcPts val="0"/>
              </a:spcBef>
              <a:spcAft>
                <a:spcPts val="0"/>
              </a:spcAft>
              <a:buSzPts val="2200"/>
              <a:buChar char="○"/>
            </a:pPr>
            <a:r>
              <a:rPr i="1" lang="en-GB"/>
              <a:t>(Có thể được mô tả bằng OCL).</a:t>
            </a:r>
            <a:endParaRPr i="1"/>
          </a:p>
          <a:p>
            <a:pPr indent="-381000" lvl="0" marL="457200" rtl="0" algn="l">
              <a:spcBef>
                <a:spcPts val="0"/>
              </a:spcBef>
              <a:spcAft>
                <a:spcPts val="0"/>
              </a:spcAft>
              <a:buSzPts val="2400"/>
              <a:buChar char="●"/>
            </a:pPr>
            <a:r>
              <a:rPr lang="en-GB"/>
              <a:t>Các thông tin bổ xung được mô tả bằng hợp đồng, hoặc được thêm vào thẻ CRC và sơ đồ lớp.</a:t>
            </a:r>
            <a:endParaRPr/>
          </a:p>
        </p:txBody>
      </p:sp>
      <p:sp>
        <p:nvSpPr>
          <p:cNvPr id="92" name="Google Shape;92;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đặc tả bổ xung</a:t>
            </a:r>
            <a:r>
              <a:rPr baseline="-25000" lang="en-GB"/>
              <a:t>(2)</a:t>
            </a:r>
            <a:endParaRPr baseline="-25000"/>
          </a:p>
        </p:txBody>
      </p:sp>
      <p:sp>
        <p:nvSpPr>
          <p:cNvPr id="98" name="Google Shape;98;p19"/>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Chúng ta cũng cần xác định cách xử lý các ngoại lệ:</a:t>
            </a:r>
            <a:endParaRPr/>
          </a:p>
          <a:p>
            <a:pPr indent="-368300" lvl="1" marL="914400" rtl="0" algn="l">
              <a:spcBef>
                <a:spcPts val="0"/>
              </a:spcBef>
              <a:spcAft>
                <a:spcPts val="0"/>
              </a:spcAft>
              <a:buSzPts val="2200"/>
              <a:buChar char="○"/>
            </a:pPr>
            <a:r>
              <a:rPr i="1" lang="en-GB"/>
              <a:t>(phát sinh nếu các ràng buộc không được đảm bảo)</a:t>
            </a:r>
            <a:endParaRPr i="1"/>
          </a:p>
          <a:p>
            <a:pPr indent="-368300" lvl="1" marL="914400" rtl="0" algn="l">
              <a:spcBef>
                <a:spcPts val="0"/>
              </a:spcBef>
              <a:spcAft>
                <a:spcPts val="0"/>
              </a:spcAft>
              <a:buSzPts val="2200"/>
              <a:buChar char="○"/>
            </a:pPr>
            <a:r>
              <a:rPr lang="en-GB"/>
              <a:t>Hệ thống có thể xử lý đơn giản bằng cách bỏ qua?</a:t>
            </a:r>
            <a:endParaRPr/>
          </a:p>
          <a:p>
            <a:pPr indent="-368300" lvl="1" marL="914400" rtl="0" algn="l">
              <a:spcBef>
                <a:spcPts val="0"/>
              </a:spcBef>
              <a:spcAft>
                <a:spcPts val="0"/>
              </a:spcAft>
              <a:buSzPts val="2200"/>
              <a:buChar char="○"/>
            </a:pPr>
            <a:r>
              <a:rPr lang="en-GB"/>
              <a:t>Hoàn tác các thay đổi đã thực hiện dẫn đến ngoại lệ?</a:t>
            </a:r>
            <a:endParaRPr/>
          </a:p>
          <a:p>
            <a:pPr indent="-368300" lvl="1" marL="914400" rtl="0" algn="l">
              <a:spcBef>
                <a:spcPts val="0"/>
              </a:spcBef>
              <a:spcAft>
                <a:spcPts val="0"/>
              </a:spcAft>
              <a:buSzPts val="2200"/>
              <a:buChar char="○"/>
            </a:pPr>
            <a:r>
              <a:rPr lang="en-GB"/>
              <a:t>Để người dùng lựa chọn phương án xử lý ngoại lệ nếu có nhiều phương án?</a:t>
            </a:r>
            <a:endParaRPr/>
          </a:p>
          <a:p>
            <a:pPr indent="-381000" lvl="0" marL="457200" rtl="0" algn="l">
              <a:spcBef>
                <a:spcPts val="0"/>
              </a:spcBef>
              <a:spcAft>
                <a:spcPts val="0"/>
              </a:spcAft>
              <a:buSzPts val="2400"/>
              <a:buChar char="●"/>
            </a:pPr>
            <a:r>
              <a:rPr lang="en-GB"/>
              <a:t>Người thiết kế xác định các lỗi mà hệ thống phải xử lý</a:t>
            </a:r>
            <a:endParaRPr/>
          </a:p>
          <a:p>
            <a:pPr indent="-368300" lvl="1" marL="914400" rtl="0" algn="l">
              <a:spcBef>
                <a:spcPts val="0"/>
              </a:spcBef>
              <a:spcAft>
                <a:spcPts val="0"/>
              </a:spcAft>
              <a:buSzPts val="2200"/>
              <a:buChar char="○"/>
            </a:pPr>
            <a:r>
              <a:rPr lang="en-GB"/>
              <a:t>Gắn kết với ngôn ngữ lập trình</a:t>
            </a:r>
            <a:endParaRPr/>
          </a:p>
          <a:p>
            <a:pPr indent="-368300" lvl="1" marL="914400" rtl="0" algn="l">
              <a:spcBef>
                <a:spcPts val="0"/>
              </a:spcBef>
              <a:spcAft>
                <a:spcPts val="0"/>
              </a:spcAft>
              <a:buSzPts val="2200"/>
              <a:buChar char="○"/>
            </a:pPr>
            <a:r>
              <a:rPr lang="en-GB"/>
              <a:t>Sử dụng mã lỗi</a:t>
            </a:r>
            <a:endParaRPr/>
          </a:p>
          <a:p>
            <a:pPr indent="-368300" lvl="1" marL="914400" rtl="0" algn="l">
              <a:spcBef>
                <a:spcPts val="0"/>
              </a:spcBef>
              <a:spcAft>
                <a:spcPts val="0"/>
              </a:spcAft>
              <a:buSzPts val="2200"/>
              <a:buChar char="○"/>
            </a:pPr>
            <a:r>
              <a:rPr lang="en-GB"/>
              <a:t>Sử dụng cơ chế exception (như trong C++ hoặc Java)</a:t>
            </a:r>
            <a:endParaRPr/>
          </a:p>
        </p:txBody>
      </p:sp>
      <p:sp>
        <p:nvSpPr>
          <p:cNvPr id="99" name="Google Shape;99;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8472458" y="10789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5" name="Google Shape;105;p20"/>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5.1. Biểu diễn bất biến trên sơ đồ</a:t>
            </a:r>
            <a:endParaRPr baseline="-25000"/>
          </a:p>
        </p:txBody>
      </p:sp>
      <p:sp>
        <p:nvSpPr>
          <p:cNvPr id="106" name="Google Shape;106;p20"/>
          <p:cNvSpPr/>
          <p:nvPr/>
        </p:nvSpPr>
        <p:spPr>
          <a:xfrm>
            <a:off x="228300" y="2626875"/>
            <a:ext cx="2008800" cy="443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Customer</a:t>
            </a:r>
            <a:endParaRPr b="1" sz="1600"/>
          </a:p>
        </p:txBody>
      </p:sp>
      <p:sp>
        <p:nvSpPr>
          <p:cNvPr id="107" name="Google Shape;107;p20"/>
          <p:cNvSpPr/>
          <p:nvPr/>
        </p:nvSpPr>
        <p:spPr>
          <a:xfrm>
            <a:off x="228300" y="3074502"/>
            <a:ext cx="2008800" cy="9306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cust_id: long</a:t>
            </a:r>
            <a:endParaRPr sz="1600"/>
          </a:p>
          <a:p>
            <a:pPr indent="0" lvl="0" marL="0" rtl="0" algn="l">
              <a:spcBef>
                <a:spcPts val="0"/>
              </a:spcBef>
              <a:spcAft>
                <a:spcPts val="0"/>
              </a:spcAft>
              <a:buNone/>
            </a:pPr>
            <a:r>
              <a:rPr lang="en-GB" sz="1600"/>
              <a:t>- last_name: string</a:t>
            </a:r>
            <a:endParaRPr sz="1600"/>
          </a:p>
          <a:p>
            <a:pPr indent="0" lvl="0" marL="0" rtl="0" algn="l">
              <a:spcBef>
                <a:spcPts val="0"/>
              </a:spcBef>
              <a:spcAft>
                <a:spcPts val="0"/>
              </a:spcAft>
              <a:buNone/>
            </a:pPr>
            <a:r>
              <a:rPr lang="en-GB" sz="1600"/>
              <a:t>- first_name: string</a:t>
            </a:r>
            <a:endParaRPr sz="1600"/>
          </a:p>
        </p:txBody>
      </p:sp>
      <p:sp>
        <p:nvSpPr>
          <p:cNvPr id="108" name="Google Shape;108;p20"/>
          <p:cNvSpPr/>
          <p:nvPr/>
        </p:nvSpPr>
        <p:spPr>
          <a:xfrm>
            <a:off x="3352500" y="1331475"/>
            <a:ext cx="2349000" cy="443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Order</a:t>
            </a:r>
            <a:endParaRPr b="1" sz="1600"/>
          </a:p>
        </p:txBody>
      </p:sp>
      <p:sp>
        <p:nvSpPr>
          <p:cNvPr id="109" name="Google Shape;109;p20"/>
          <p:cNvSpPr/>
          <p:nvPr/>
        </p:nvSpPr>
        <p:spPr>
          <a:xfrm>
            <a:off x="3352500" y="1779100"/>
            <a:ext cx="2349000" cy="26571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rgbClr val="434343"/>
                </a:solidFill>
              </a:rPr>
              <a:t>- order_id: long</a:t>
            </a:r>
            <a:endParaRPr sz="1600">
              <a:solidFill>
                <a:srgbClr val="434343"/>
              </a:solidFill>
            </a:endParaRPr>
          </a:p>
          <a:p>
            <a:pPr indent="0" lvl="0" marL="0" rtl="0" algn="l">
              <a:spcBef>
                <a:spcPts val="0"/>
              </a:spcBef>
              <a:spcAft>
                <a:spcPts val="0"/>
              </a:spcAft>
              <a:buNone/>
            </a:pPr>
            <a:r>
              <a:rPr lang="en-GB" sz="1600">
                <a:solidFill>
                  <a:srgbClr val="434343"/>
                </a:solidFill>
              </a:rPr>
              <a:t>- date: Date</a:t>
            </a:r>
            <a:endParaRPr sz="1600">
              <a:solidFill>
                <a:srgbClr val="434343"/>
              </a:solidFill>
            </a:endParaRPr>
          </a:p>
          <a:p>
            <a:pPr indent="0" lvl="0" marL="0" rtl="0" algn="l">
              <a:spcBef>
                <a:spcPts val="0"/>
              </a:spcBef>
              <a:spcAft>
                <a:spcPts val="0"/>
              </a:spcAft>
              <a:buNone/>
            </a:pPr>
            <a:r>
              <a:rPr lang="en-GB" sz="1600">
                <a:solidFill>
                  <a:srgbClr val="434343"/>
                </a:solidFill>
              </a:rPr>
              <a:t>- sub_total: double</a:t>
            </a:r>
            <a:endParaRPr sz="1600">
              <a:solidFill>
                <a:srgbClr val="434343"/>
              </a:solidFill>
            </a:endParaRPr>
          </a:p>
          <a:p>
            <a:pPr indent="0" lvl="0" marL="0" rtl="0" algn="l">
              <a:spcBef>
                <a:spcPts val="0"/>
              </a:spcBef>
              <a:spcAft>
                <a:spcPts val="0"/>
              </a:spcAft>
              <a:buNone/>
            </a:pPr>
            <a:r>
              <a:rPr lang="en-GB" sz="1600">
                <a:solidFill>
                  <a:srgbClr val="434343"/>
                </a:solidFill>
              </a:rPr>
              <a:t>- tax: double</a:t>
            </a:r>
            <a:endParaRPr sz="1600">
              <a:solidFill>
                <a:srgbClr val="434343"/>
              </a:solidFill>
            </a:endParaRPr>
          </a:p>
          <a:p>
            <a:pPr indent="0" lvl="0" marL="0" rtl="0" algn="l">
              <a:spcBef>
                <a:spcPts val="0"/>
              </a:spcBef>
              <a:spcAft>
                <a:spcPts val="0"/>
              </a:spcAft>
              <a:buNone/>
            </a:pPr>
            <a:r>
              <a:rPr lang="en-GB" sz="1600">
                <a:solidFill>
                  <a:srgbClr val="434343"/>
                </a:solidFill>
              </a:rPr>
              <a:t>- shipping: double</a:t>
            </a:r>
            <a:endParaRPr sz="1600">
              <a:solidFill>
                <a:srgbClr val="434343"/>
              </a:solidFill>
            </a:endParaRPr>
          </a:p>
          <a:p>
            <a:pPr indent="0" lvl="0" marL="0" rtl="0" algn="l">
              <a:spcBef>
                <a:spcPts val="0"/>
              </a:spcBef>
              <a:spcAft>
                <a:spcPts val="0"/>
              </a:spcAft>
              <a:buNone/>
            </a:pPr>
            <a:r>
              <a:rPr lang="en-GB" sz="1600">
                <a:solidFill>
                  <a:srgbClr val="434343"/>
                </a:solidFill>
              </a:rPr>
              <a:t>- total: double</a:t>
            </a:r>
            <a:endParaRPr sz="1600">
              <a:solidFill>
                <a:srgbClr val="434343"/>
              </a:solidFill>
            </a:endParaRPr>
          </a:p>
          <a:p>
            <a:pPr indent="0" lvl="0" marL="0" rtl="0" algn="l">
              <a:spcBef>
                <a:spcPts val="0"/>
              </a:spcBef>
              <a:spcAft>
                <a:spcPts val="0"/>
              </a:spcAft>
              <a:buNone/>
            </a:pPr>
            <a:r>
              <a:rPr lang="en-GB" sz="1600">
                <a:solidFill>
                  <a:srgbClr val="434343"/>
                </a:solidFill>
              </a:rPr>
              <a:t>- customer: Customer</a:t>
            </a:r>
            <a:endParaRPr sz="1600">
              <a:solidFill>
                <a:srgbClr val="434343"/>
              </a:solidFill>
            </a:endParaRPr>
          </a:p>
          <a:p>
            <a:pPr indent="0" lvl="0" marL="0" rtl="0" algn="l">
              <a:spcBef>
                <a:spcPts val="0"/>
              </a:spcBef>
              <a:spcAft>
                <a:spcPts val="0"/>
              </a:spcAft>
              <a:buNone/>
            </a:pPr>
            <a:r>
              <a:rPr lang="en-GB" sz="1600">
                <a:solidFill>
                  <a:srgbClr val="434343"/>
                </a:solidFill>
              </a:rPr>
              <a:t>- cust_id: long</a:t>
            </a:r>
            <a:endParaRPr sz="1600">
              <a:solidFill>
                <a:srgbClr val="434343"/>
              </a:solidFill>
            </a:endParaRPr>
          </a:p>
          <a:p>
            <a:pPr indent="0" lvl="0" marL="0" rtl="0" algn="l">
              <a:spcBef>
                <a:spcPts val="0"/>
              </a:spcBef>
              <a:spcAft>
                <a:spcPts val="0"/>
              </a:spcAft>
              <a:buNone/>
            </a:pPr>
            <a:r>
              <a:rPr lang="en-GB" sz="1600">
                <a:solidFill>
                  <a:srgbClr val="434343"/>
                </a:solidFill>
              </a:rPr>
              <a:t>- state: State</a:t>
            </a:r>
            <a:endParaRPr sz="1600">
              <a:solidFill>
                <a:srgbClr val="434343"/>
              </a:solidFill>
            </a:endParaRPr>
          </a:p>
          <a:p>
            <a:pPr indent="0" lvl="0" marL="0" rtl="0" algn="l">
              <a:spcBef>
                <a:spcPts val="0"/>
              </a:spcBef>
              <a:spcAft>
                <a:spcPts val="0"/>
              </a:spcAft>
              <a:buNone/>
            </a:pPr>
            <a:r>
              <a:rPr lang="en-GB" sz="1600">
                <a:solidFill>
                  <a:srgbClr val="434343"/>
                </a:solidFill>
              </a:rPr>
              <a:t>- state_name: string</a:t>
            </a:r>
            <a:endParaRPr sz="1600">
              <a:solidFill>
                <a:srgbClr val="434343"/>
              </a:solidFill>
            </a:endParaRPr>
          </a:p>
        </p:txBody>
      </p:sp>
      <p:sp>
        <p:nvSpPr>
          <p:cNvPr id="110" name="Google Shape;110;p20"/>
          <p:cNvSpPr/>
          <p:nvPr/>
        </p:nvSpPr>
        <p:spPr>
          <a:xfrm>
            <a:off x="7061700" y="2626875"/>
            <a:ext cx="2008800" cy="443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Product</a:t>
            </a:r>
            <a:endParaRPr b="1" sz="1600"/>
          </a:p>
        </p:txBody>
      </p:sp>
      <p:sp>
        <p:nvSpPr>
          <p:cNvPr id="111" name="Google Shape;111;p20"/>
          <p:cNvSpPr/>
          <p:nvPr/>
        </p:nvSpPr>
        <p:spPr>
          <a:xfrm>
            <a:off x="7061700" y="3074502"/>
            <a:ext cx="2008800" cy="9306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prod_id: long</a:t>
            </a:r>
            <a:endParaRPr sz="1600"/>
          </a:p>
          <a:p>
            <a:pPr indent="0" lvl="0" marL="0" rtl="0" algn="l">
              <a:spcBef>
                <a:spcPts val="0"/>
              </a:spcBef>
              <a:spcAft>
                <a:spcPts val="0"/>
              </a:spcAft>
              <a:buNone/>
            </a:pPr>
            <a:r>
              <a:rPr lang="en-GB" sz="1600"/>
              <a:t>- prod_desc: string</a:t>
            </a:r>
            <a:endParaRPr sz="1600"/>
          </a:p>
          <a:p>
            <a:pPr indent="0" lvl="0" marL="0" rtl="0" algn="l">
              <a:spcBef>
                <a:spcPts val="0"/>
              </a:spcBef>
              <a:spcAft>
                <a:spcPts val="0"/>
              </a:spcAft>
              <a:buNone/>
            </a:pPr>
            <a:r>
              <a:rPr lang="en-GB" sz="1600"/>
              <a:t>- price: string</a:t>
            </a:r>
            <a:endParaRPr sz="1600"/>
          </a:p>
        </p:txBody>
      </p:sp>
      <p:sp>
        <p:nvSpPr>
          <p:cNvPr id="112" name="Google Shape;112;p20"/>
          <p:cNvSpPr/>
          <p:nvPr/>
        </p:nvSpPr>
        <p:spPr>
          <a:xfrm>
            <a:off x="6095700" y="874275"/>
            <a:ext cx="1831800" cy="443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ProductOrder</a:t>
            </a:r>
            <a:endParaRPr b="1" sz="1600"/>
          </a:p>
        </p:txBody>
      </p:sp>
      <p:sp>
        <p:nvSpPr>
          <p:cNvPr id="113" name="Google Shape;113;p20"/>
          <p:cNvSpPr/>
          <p:nvPr/>
        </p:nvSpPr>
        <p:spPr>
          <a:xfrm>
            <a:off x="6095700" y="1321900"/>
            <a:ext cx="1831800" cy="11421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order: Order</a:t>
            </a:r>
            <a:endParaRPr sz="1600"/>
          </a:p>
          <a:p>
            <a:pPr indent="0" lvl="0" marL="0" rtl="0" algn="l">
              <a:spcBef>
                <a:spcPts val="0"/>
              </a:spcBef>
              <a:spcAft>
                <a:spcPts val="0"/>
              </a:spcAft>
              <a:buNone/>
            </a:pPr>
            <a:r>
              <a:rPr lang="en-GB" sz="1600"/>
              <a:t>- product: Product</a:t>
            </a:r>
            <a:endParaRPr sz="1600"/>
          </a:p>
          <a:p>
            <a:pPr indent="0" lvl="0" marL="0" rtl="0" algn="l">
              <a:spcBef>
                <a:spcPts val="0"/>
              </a:spcBef>
              <a:spcAft>
                <a:spcPts val="0"/>
              </a:spcAft>
              <a:buNone/>
            </a:pPr>
            <a:r>
              <a:rPr lang="en-GB" sz="1600"/>
              <a:t>- quantity: int</a:t>
            </a:r>
            <a:endParaRPr sz="1600"/>
          </a:p>
          <a:p>
            <a:pPr indent="0" lvl="0" marL="0" rtl="0" algn="l">
              <a:spcBef>
                <a:spcPts val="0"/>
              </a:spcBef>
              <a:spcAft>
                <a:spcPts val="0"/>
              </a:spcAft>
              <a:buNone/>
            </a:pPr>
            <a:r>
              <a:rPr lang="en-GB" sz="1600"/>
              <a:t>- extension</a:t>
            </a:r>
            <a:endParaRPr sz="1600"/>
          </a:p>
        </p:txBody>
      </p:sp>
      <p:cxnSp>
        <p:nvCxnSpPr>
          <p:cNvPr id="114" name="Google Shape;114;p20"/>
          <p:cNvCxnSpPr>
            <a:stCxn id="107" idx="3"/>
          </p:cNvCxnSpPr>
          <p:nvPr/>
        </p:nvCxnSpPr>
        <p:spPr>
          <a:xfrm>
            <a:off x="2237100" y="3539802"/>
            <a:ext cx="1087800" cy="0"/>
          </a:xfrm>
          <a:prstGeom prst="straightConnector1">
            <a:avLst/>
          </a:prstGeom>
          <a:noFill/>
          <a:ln cap="flat" cmpd="sng" w="9525">
            <a:solidFill>
              <a:schemeClr val="dk2"/>
            </a:solidFill>
            <a:prstDash val="solid"/>
            <a:round/>
            <a:headEnd len="med" w="med" type="none"/>
            <a:tailEnd len="med" w="med" type="none"/>
          </a:ln>
        </p:spPr>
      </p:cxnSp>
      <p:cxnSp>
        <p:nvCxnSpPr>
          <p:cNvPr id="115" name="Google Shape;115;p20"/>
          <p:cNvCxnSpPr>
            <a:stCxn id="111" idx="1"/>
          </p:cNvCxnSpPr>
          <p:nvPr/>
        </p:nvCxnSpPr>
        <p:spPr>
          <a:xfrm rot="10800000">
            <a:off x="5689800" y="3539802"/>
            <a:ext cx="1371900" cy="0"/>
          </a:xfrm>
          <a:prstGeom prst="straightConnector1">
            <a:avLst/>
          </a:prstGeom>
          <a:noFill/>
          <a:ln cap="flat" cmpd="sng" w="9525">
            <a:solidFill>
              <a:schemeClr val="dk2"/>
            </a:solidFill>
            <a:prstDash val="solid"/>
            <a:round/>
            <a:headEnd len="med" w="med" type="none"/>
            <a:tailEnd len="med" w="med" type="none"/>
          </a:ln>
        </p:spPr>
      </p:cxnSp>
      <p:sp>
        <p:nvSpPr>
          <p:cNvPr id="116" name="Google Shape;116;p20"/>
          <p:cNvSpPr txBox="1"/>
          <p:nvPr/>
        </p:nvSpPr>
        <p:spPr>
          <a:xfrm>
            <a:off x="2220050" y="3461850"/>
            <a:ext cx="5487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1..1</a:t>
            </a:r>
            <a:endParaRPr>
              <a:solidFill>
                <a:schemeClr val="dk2"/>
              </a:solidFill>
            </a:endParaRPr>
          </a:p>
        </p:txBody>
      </p:sp>
      <p:sp>
        <p:nvSpPr>
          <p:cNvPr id="117" name="Google Shape;117;p20"/>
          <p:cNvSpPr txBox="1"/>
          <p:nvPr/>
        </p:nvSpPr>
        <p:spPr>
          <a:xfrm>
            <a:off x="2905850" y="3168874"/>
            <a:ext cx="5487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0..*</a:t>
            </a:r>
            <a:endParaRPr>
              <a:solidFill>
                <a:schemeClr val="dk2"/>
              </a:solidFill>
            </a:endParaRPr>
          </a:p>
        </p:txBody>
      </p:sp>
      <p:sp>
        <p:nvSpPr>
          <p:cNvPr id="118" name="Google Shape;118;p20"/>
          <p:cNvSpPr txBox="1"/>
          <p:nvPr/>
        </p:nvSpPr>
        <p:spPr>
          <a:xfrm>
            <a:off x="5725250" y="3168874"/>
            <a:ext cx="5487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0..*</a:t>
            </a:r>
            <a:endParaRPr>
              <a:solidFill>
                <a:schemeClr val="dk2"/>
              </a:solidFill>
            </a:endParaRPr>
          </a:p>
        </p:txBody>
      </p:sp>
      <p:sp>
        <p:nvSpPr>
          <p:cNvPr id="119" name="Google Shape;119;p20"/>
          <p:cNvSpPr txBox="1"/>
          <p:nvPr/>
        </p:nvSpPr>
        <p:spPr>
          <a:xfrm>
            <a:off x="6639650" y="3157050"/>
            <a:ext cx="5487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1..*</a:t>
            </a:r>
            <a:endParaRPr>
              <a:solidFill>
                <a:schemeClr val="dk2"/>
              </a:solidFill>
            </a:endParaRPr>
          </a:p>
        </p:txBody>
      </p:sp>
      <p:cxnSp>
        <p:nvCxnSpPr>
          <p:cNvPr id="120" name="Google Shape;120;p20"/>
          <p:cNvCxnSpPr/>
          <p:nvPr/>
        </p:nvCxnSpPr>
        <p:spPr>
          <a:xfrm flipH="1">
            <a:off x="6458350" y="2467300"/>
            <a:ext cx="201000" cy="1087800"/>
          </a:xfrm>
          <a:prstGeom prst="straightConnector1">
            <a:avLst/>
          </a:prstGeom>
          <a:noFill/>
          <a:ln cap="flat" cmpd="sng" w="9525">
            <a:solidFill>
              <a:schemeClr val="dk2"/>
            </a:solidFill>
            <a:prstDash val="dash"/>
            <a:round/>
            <a:headEnd len="med" w="med" type="none"/>
            <a:tailEnd len="med" w="med" type="none"/>
          </a:ln>
        </p:spPr>
      </p:cxnSp>
      <p:sp>
        <p:nvSpPr>
          <p:cNvPr id="121" name="Google Shape;121;p20"/>
          <p:cNvSpPr/>
          <p:nvPr/>
        </p:nvSpPr>
        <p:spPr>
          <a:xfrm>
            <a:off x="3604748" y="5217675"/>
            <a:ext cx="1831800" cy="443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State</a:t>
            </a:r>
            <a:endParaRPr b="1" sz="1600"/>
          </a:p>
        </p:txBody>
      </p:sp>
      <p:sp>
        <p:nvSpPr>
          <p:cNvPr id="122" name="Google Shape;122;p20"/>
          <p:cNvSpPr/>
          <p:nvPr/>
        </p:nvSpPr>
        <p:spPr>
          <a:xfrm>
            <a:off x="3604748" y="5665300"/>
            <a:ext cx="1831800" cy="6945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state_id: long</a:t>
            </a:r>
            <a:endParaRPr sz="1600"/>
          </a:p>
          <a:p>
            <a:pPr indent="0" lvl="0" marL="0" rtl="0" algn="l">
              <a:spcBef>
                <a:spcPts val="0"/>
              </a:spcBef>
              <a:spcAft>
                <a:spcPts val="0"/>
              </a:spcAft>
              <a:buNone/>
            </a:pPr>
            <a:r>
              <a:rPr lang="en-GB" sz="1600"/>
              <a:t>- tax_rate: double</a:t>
            </a:r>
            <a:endParaRPr sz="1600"/>
          </a:p>
        </p:txBody>
      </p:sp>
      <p:cxnSp>
        <p:nvCxnSpPr>
          <p:cNvPr id="123" name="Google Shape;123;p20"/>
          <p:cNvCxnSpPr>
            <a:stCxn id="109" idx="2"/>
            <a:endCxn id="121" idx="0"/>
          </p:cNvCxnSpPr>
          <p:nvPr/>
        </p:nvCxnSpPr>
        <p:spPr>
          <a:xfrm flipH="1">
            <a:off x="4520700" y="4436200"/>
            <a:ext cx="6300" cy="781500"/>
          </a:xfrm>
          <a:prstGeom prst="straightConnector1">
            <a:avLst/>
          </a:prstGeom>
          <a:noFill/>
          <a:ln cap="flat" cmpd="sng" w="9525">
            <a:solidFill>
              <a:schemeClr val="dk2"/>
            </a:solidFill>
            <a:prstDash val="solid"/>
            <a:round/>
            <a:headEnd len="med" w="med" type="none"/>
            <a:tailEnd len="med" w="med" type="none"/>
          </a:ln>
        </p:spPr>
      </p:cxnSp>
      <p:sp>
        <p:nvSpPr>
          <p:cNvPr id="124" name="Google Shape;124;p20"/>
          <p:cNvSpPr txBox="1"/>
          <p:nvPr/>
        </p:nvSpPr>
        <p:spPr>
          <a:xfrm>
            <a:off x="4125050" y="4388074"/>
            <a:ext cx="5487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0..*</a:t>
            </a:r>
            <a:endParaRPr>
              <a:solidFill>
                <a:schemeClr val="dk2"/>
              </a:solidFill>
            </a:endParaRPr>
          </a:p>
        </p:txBody>
      </p:sp>
      <p:sp>
        <p:nvSpPr>
          <p:cNvPr id="125" name="Google Shape;125;p20"/>
          <p:cNvSpPr txBox="1"/>
          <p:nvPr/>
        </p:nvSpPr>
        <p:spPr>
          <a:xfrm>
            <a:off x="4506050" y="4909650"/>
            <a:ext cx="5487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1..1</a:t>
            </a:r>
            <a:endParaRPr>
              <a:solidFill>
                <a:schemeClr val="dk2"/>
              </a:solidFill>
            </a:endParaRPr>
          </a:p>
        </p:txBody>
      </p:sp>
      <p:sp>
        <p:nvSpPr>
          <p:cNvPr id="126" name="Google Shape;126;p20"/>
          <p:cNvSpPr/>
          <p:nvPr/>
        </p:nvSpPr>
        <p:spPr>
          <a:xfrm>
            <a:off x="357100" y="5014225"/>
            <a:ext cx="2743200" cy="646550"/>
          </a:xfrm>
          <a:prstGeom prst="flowChartPunchedCard">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18000">
            <a:noAutofit/>
          </a:bodyPr>
          <a:lstStyle/>
          <a:p>
            <a:pPr indent="0" lvl="0" marL="0" rtl="0" algn="ctr">
              <a:spcBef>
                <a:spcPts val="0"/>
              </a:spcBef>
              <a:spcAft>
                <a:spcPts val="0"/>
              </a:spcAft>
              <a:buNone/>
            </a:pPr>
            <a:r>
              <a:rPr lang="en-GB"/>
              <a:t>&lt;&lt;invariant&gt;&gt;</a:t>
            </a:r>
            <a:endParaRPr/>
          </a:p>
          <a:p>
            <a:pPr indent="0" lvl="0" marL="0" rtl="0" algn="l">
              <a:spcBef>
                <a:spcPts val="0"/>
              </a:spcBef>
              <a:spcAft>
                <a:spcPts val="0"/>
              </a:spcAft>
              <a:buNone/>
            </a:pPr>
            <a:r>
              <a:rPr lang="en-GB"/>
              <a:t>cust_id = customer.getCustID()</a:t>
            </a:r>
            <a:endParaRPr/>
          </a:p>
        </p:txBody>
      </p:sp>
      <p:cxnSp>
        <p:nvCxnSpPr>
          <p:cNvPr id="127" name="Google Shape;127;p20"/>
          <p:cNvCxnSpPr>
            <a:stCxn id="126" idx="0"/>
          </p:cNvCxnSpPr>
          <p:nvPr/>
        </p:nvCxnSpPr>
        <p:spPr>
          <a:xfrm flipH="1" rot="10800000">
            <a:off x="1728700" y="3784525"/>
            <a:ext cx="1868100" cy="1229700"/>
          </a:xfrm>
          <a:prstGeom prst="straightConnector1">
            <a:avLst/>
          </a:prstGeom>
          <a:noFill/>
          <a:ln cap="flat" cmpd="sng" w="9525">
            <a:solidFill>
              <a:schemeClr val="dk2"/>
            </a:solidFill>
            <a:prstDash val="dot"/>
            <a:round/>
            <a:headEnd len="med" w="med" type="none"/>
            <a:tailEnd len="med" w="med" type="none"/>
          </a:ln>
        </p:spPr>
      </p:cxnSp>
      <p:sp>
        <p:nvSpPr>
          <p:cNvPr id="128" name="Google Shape;128;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4" name="Google Shape;134;p21"/>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5.2. Biểu diễn bất biến ngoài sơ đồ</a:t>
            </a:r>
            <a:endParaRPr baseline="-25000"/>
          </a:p>
        </p:txBody>
      </p:sp>
      <p:sp>
        <p:nvSpPr>
          <p:cNvPr id="135" name="Google Shape;135;p21"/>
          <p:cNvSpPr/>
          <p:nvPr/>
        </p:nvSpPr>
        <p:spPr>
          <a:xfrm>
            <a:off x="5400125" y="4031000"/>
            <a:ext cx="3362364" cy="1865160"/>
          </a:xfrm>
          <a:prstGeom prst="irregularSeal2">
            <a:avLst/>
          </a:prstGeom>
          <a:no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800">
                <a:solidFill>
                  <a:srgbClr val="434343"/>
                </a:solidFill>
              </a:rPr>
              <a:t>Các mô tả OCL</a:t>
            </a:r>
            <a:endParaRPr sz="1800">
              <a:solidFill>
                <a:srgbClr val="434343"/>
              </a:solidFill>
            </a:endParaRPr>
          </a:p>
        </p:txBody>
      </p:sp>
      <p:cxnSp>
        <p:nvCxnSpPr>
          <p:cNvPr id="136" name="Google Shape;136;p21"/>
          <p:cNvCxnSpPr>
            <a:endCxn id="135" idx="1"/>
          </p:cNvCxnSpPr>
          <p:nvPr/>
        </p:nvCxnSpPr>
        <p:spPr>
          <a:xfrm>
            <a:off x="3644225" y="4935929"/>
            <a:ext cx="1755900" cy="207000"/>
          </a:xfrm>
          <a:prstGeom prst="straightConnector1">
            <a:avLst/>
          </a:prstGeom>
          <a:noFill/>
          <a:ln cap="flat" cmpd="sng" w="9525">
            <a:solidFill>
              <a:schemeClr val="dk2"/>
            </a:solidFill>
            <a:prstDash val="dot"/>
            <a:round/>
            <a:headEnd len="med" w="med" type="none"/>
            <a:tailEnd len="med" w="med" type="none"/>
          </a:ln>
        </p:spPr>
      </p:cxnSp>
      <p:cxnSp>
        <p:nvCxnSpPr>
          <p:cNvPr id="137" name="Google Shape;137;p21"/>
          <p:cNvCxnSpPr/>
          <p:nvPr/>
        </p:nvCxnSpPr>
        <p:spPr>
          <a:xfrm flipH="1" rot="10800000">
            <a:off x="3620550" y="5417350"/>
            <a:ext cx="1952100" cy="617700"/>
          </a:xfrm>
          <a:prstGeom prst="straightConnector1">
            <a:avLst/>
          </a:prstGeom>
          <a:noFill/>
          <a:ln cap="flat" cmpd="sng" w="9525">
            <a:solidFill>
              <a:schemeClr val="dk2"/>
            </a:solidFill>
            <a:prstDash val="dot"/>
            <a:round/>
            <a:headEnd len="med" w="med" type="none"/>
            <a:tailEnd len="med" w="med" type="none"/>
          </a:ln>
        </p:spPr>
      </p:cxnSp>
      <p:sp>
        <p:nvSpPr>
          <p:cNvPr id="138" name="Google Shape;138;p21"/>
          <p:cNvSpPr/>
          <p:nvPr/>
        </p:nvSpPr>
        <p:spPr>
          <a:xfrm>
            <a:off x="506825" y="1026675"/>
            <a:ext cx="3628800" cy="443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Order</a:t>
            </a:r>
            <a:endParaRPr b="1" sz="1600"/>
          </a:p>
        </p:txBody>
      </p:sp>
      <p:sp>
        <p:nvSpPr>
          <p:cNvPr id="139" name="Google Shape;139;p21"/>
          <p:cNvSpPr/>
          <p:nvPr/>
        </p:nvSpPr>
        <p:spPr>
          <a:xfrm>
            <a:off x="506825" y="1474300"/>
            <a:ext cx="3628800" cy="5247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 total: Money = item-&gt;sum(subtotal)</a:t>
            </a:r>
            <a:endParaRPr sz="1600"/>
          </a:p>
        </p:txBody>
      </p:sp>
      <p:sp>
        <p:nvSpPr>
          <p:cNvPr id="140" name="Google Shape;140;p21"/>
          <p:cNvSpPr/>
          <p:nvPr/>
        </p:nvSpPr>
        <p:spPr>
          <a:xfrm>
            <a:off x="506825" y="2779275"/>
            <a:ext cx="3628800" cy="443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Item</a:t>
            </a:r>
            <a:endParaRPr b="1" sz="1600"/>
          </a:p>
        </p:txBody>
      </p:sp>
      <p:sp>
        <p:nvSpPr>
          <p:cNvPr id="141" name="Google Shape;141;p21"/>
          <p:cNvSpPr/>
          <p:nvPr/>
        </p:nvSpPr>
        <p:spPr>
          <a:xfrm>
            <a:off x="506825" y="3226900"/>
            <a:ext cx="3628800" cy="9333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quantity: Natural</a:t>
            </a:r>
            <a:endParaRPr sz="1600"/>
          </a:p>
          <a:p>
            <a:pPr indent="0" lvl="0" marL="0" rtl="0" algn="l">
              <a:spcBef>
                <a:spcPts val="0"/>
              </a:spcBef>
              <a:spcAft>
                <a:spcPts val="0"/>
              </a:spcAft>
              <a:buNone/>
            </a:pPr>
            <a:r>
              <a:rPr lang="en-GB" sz="1600"/>
              <a:t>+ price: Money = book.price</a:t>
            </a:r>
            <a:endParaRPr sz="1600"/>
          </a:p>
          <a:p>
            <a:pPr indent="0" lvl="0" marL="0" rtl="0" algn="l">
              <a:spcBef>
                <a:spcPts val="0"/>
              </a:spcBef>
              <a:spcAft>
                <a:spcPts val="0"/>
              </a:spcAft>
              <a:buNone/>
            </a:pPr>
            <a:r>
              <a:rPr lang="en-GB" sz="1600"/>
              <a:t>+/ subtotal: Money = quantity * price</a:t>
            </a:r>
            <a:endParaRPr sz="1600"/>
          </a:p>
        </p:txBody>
      </p:sp>
      <p:cxnSp>
        <p:nvCxnSpPr>
          <p:cNvPr id="142" name="Google Shape;142;p21"/>
          <p:cNvCxnSpPr>
            <a:stCxn id="139" idx="2"/>
            <a:endCxn id="140" idx="0"/>
          </p:cNvCxnSpPr>
          <p:nvPr/>
        </p:nvCxnSpPr>
        <p:spPr>
          <a:xfrm>
            <a:off x="2321225" y="1999000"/>
            <a:ext cx="0" cy="780300"/>
          </a:xfrm>
          <a:prstGeom prst="straightConnector1">
            <a:avLst/>
          </a:prstGeom>
          <a:noFill/>
          <a:ln cap="flat" cmpd="sng" w="9525">
            <a:solidFill>
              <a:schemeClr val="dk2"/>
            </a:solidFill>
            <a:prstDash val="solid"/>
            <a:round/>
            <a:headEnd len="med" w="med" type="none"/>
            <a:tailEnd len="med" w="med" type="none"/>
          </a:ln>
        </p:spPr>
      </p:cxnSp>
      <p:sp>
        <p:nvSpPr>
          <p:cNvPr id="143" name="Google Shape;143;p21"/>
          <p:cNvSpPr txBox="1"/>
          <p:nvPr/>
        </p:nvSpPr>
        <p:spPr>
          <a:xfrm>
            <a:off x="2326475" y="1995125"/>
            <a:ext cx="3969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1</a:t>
            </a:r>
            <a:endParaRPr sz="1600">
              <a:solidFill>
                <a:schemeClr val="dk2"/>
              </a:solidFill>
            </a:endParaRPr>
          </a:p>
        </p:txBody>
      </p:sp>
      <p:sp>
        <p:nvSpPr>
          <p:cNvPr id="144" name="Google Shape;144;p21"/>
          <p:cNvSpPr txBox="1"/>
          <p:nvPr/>
        </p:nvSpPr>
        <p:spPr>
          <a:xfrm>
            <a:off x="1945475" y="2376125"/>
            <a:ext cx="3969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a:t>
            </a:r>
            <a:endParaRPr sz="1600">
              <a:solidFill>
                <a:schemeClr val="dk2"/>
              </a:solidFill>
            </a:endParaRPr>
          </a:p>
        </p:txBody>
      </p:sp>
      <p:sp>
        <p:nvSpPr>
          <p:cNvPr id="145" name="Google Shape;145;p21"/>
          <p:cNvSpPr/>
          <p:nvPr/>
        </p:nvSpPr>
        <p:spPr>
          <a:xfrm>
            <a:off x="5438850" y="3031523"/>
            <a:ext cx="1744800" cy="4431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Book</a:t>
            </a:r>
            <a:endParaRPr b="1" sz="1600"/>
          </a:p>
        </p:txBody>
      </p:sp>
      <p:sp>
        <p:nvSpPr>
          <p:cNvPr id="146" name="Google Shape;146;p21"/>
          <p:cNvSpPr/>
          <p:nvPr/>
        </p:nvSpPr>
        <p:spPr>
          <a:xfrm>
            <a:off x="5438850" y="3479148"/>
            <a:ext cx="1744800" cy="443100"/>
          </a:xfrm>
          <a:prstGeom prst="rect">
            <a:avLst/>
          </a:prstGeom>
          <a:no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price: Money</a:t>
            </a:r>
            <a:endParaRPr sz="1600"/>
          </a:p>
        </p:txBody>
      </p:sp>
      <p:cxnSp>
        <p:nvCxnSpPr>
          <p:cNvPr id="147" name="Google Shape;147;p21"/>
          <p:cNvCxnSpPr>
            <a:stCxn id="141" idx="3"/>
            <a:endCxn id="146" idx="1"/>
          </p:cNvCxnSpPr>
          <p:nvPr/>
        </p:nvCxnSpPr>
        <p:spPr>
          <a:xfrm>
            <a:off x="4135625" y="3693550"/>
            <a:ext cx="1303200" cy="7200"/>
          </a:xfrm>
          <a:prstGeom prst="straightConnector1">
            <a:avLst/>
          </a:prstGeom>
          <a:noFill/>
          <a:ln cap="flat" cmpd="sng" w="9525">
            <a:solidFill>
              <a:schemeClr val="dk2"/>
            </a:solidFill>
            <a:prstDash val="solid"/>
            <a:round/>
            <a:headEnd len="med" w="med" type="none"/>
            <a:tailEnd len="med" w="med" type="none"/>
          </a:ln>
        </p:spPr>
      </p:cxnSp>
      <p:sp>
        <p:nvSpPr>
          <p:cNvPr id="148" name="Google Shape;148;p21"/>
          <p:cNvSpPr txBox="1"/>
          <p:nvPr/>
        </p:nvSpPr>
        <p:spPr>
          <a:xfrm>
            <a:off x="4155275" y="3366725"/>
            <a:ext cx="3969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a:t>
            </a:r>
            <a:endParaRPr sz="1600">
              <a:solidFill>
                <a:schemeClr val="dk2"/>
              </a:solidFill>
            </a:endParaRPr>
          </a:p>
        </p:txBody>
      </p:sp>
      <p:sp>
        <p:nvSpPr>
          <p:cNvPr id="149" name="Google Shape;149;p21"/>
          <p:cNvSpPr txBox="1"/>
          <p:nvPr/>
        </p:nvSpPr>
        <p:spPr>
          <a:xfrm>
            <a:off x="5145875" y="3290525"/>
            <a:ext cx="3969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1</a:t>
            </a:r>
            <a:endParaRPr sz="1600">
              <a:solidFill>
                <a:schemeClr val="dk2"/>
              </a:solidFill>
            </a:endParaRPr>
          </a:p>
        </p:txBody>
      </p:sp>
      <p:sp>
        <p:nvSpPr>
          <p:cNvPr id="150" name="Google Shape;150;p21"/>
          <p:cNvSpPr txBox="1"/>
          <p:nvPr/>
        </p:nvSpPr>
        <p:spPr>
          <a:xfrm>
            <a:off x="537125" y="4348975"/>
            <a:ext cx="3568200" cy="109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Context Order::total:Money</a:t>
            </a:r>
            <a:endParaRPr sz="1800">
              <a:solidFill>
                <a:schemeClr val="dk2"/>
              </a:solidFill>
            </a:endParaRPr>
          </a:p>
          <a:p>
            <a:pPr indent="0" lvl="0" marL="0" rtl="0" algn="l">
              <a:spcBef>
                <a:spcPts val="0"/>
              </a:spcBef>
              <a:spcAft>
                <a:spcPts val="0"/>
              </a:spcAft>
              <a:buNone/>
            </a:pPr>
            <a:r>
              <a:rPr lang="en-GB" sz="1800">
                <a:solidFill>
                  <a:schemeClr val="dk2"/>
                </a:solidFill>
              </a:rPr>
              <a:t>  derive:</a:t>
            </a:r>
            <a:endParaRPr sz="1800">
              <a:solidFill>
                <a:schemeClr val="dk2"/>
              </a:solidFill>
            </a:endParaRPr>
          </a:p>
          <a:p>
            <a:pPr indent="0" lvl="0" marL="0" rtl="0" algn="l">
              <a:spcBef>
                <a:spcPts val="0"/>
              </a:spcBef>
              <a:spcAft>
                <a:spcPts val="0"/>
              </a:spcAft>
              <a:buNone/>
            </a:pPr>
            <a:r>
              <a:rPr lang="en-GB" sz="1800">
                <a:solidFill>
                  <a:schemeClr val="dk2"/>
                </a:solidFill>
              </a:rPr>
              <a:t>      self.item-&gt;sum(subtotal)</a:t>
            </a:r>
            <a:endParaRPr sz="1800">
              <a:solidFill>
                <a:schemeClr val="dk2"/>
              </a:solidFill>
            </a:endParaRPr>
          </a:p>
        </p:txBody>
      </p:sp>
      <p:sp>
        <p:nvSpPr>
          <p:cNvPr id="151" name="Google Shape;151;p21"/>
          <p:cNvSpPr txBox="1"/>
          <p:nvPr/>
        </p:nvSpPr>
        <p:spPr>
          <a:xfrm>
            <a:off x="537125" y="5491975"/>
            <a:ext cx="3568200" cy="109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Context Item::subtotal:Money</a:t>
            </a:r>
            <a:endParaRPr sz="1800">
              <a:solidFill>
                <a:schemeClr val="dk2"/>
              </a:solidFill>
            </a:endParaRPr>
          </a:p>
          <a:p>
            <a:pPr indent="0" lvl="0" marL="0" rtl="0" algn="l">
              <a:spcBef>
                <a:spcPts val="0"/>
              </a:spcBef>
              <a:spcAft>
                <a:spcPts val="0"/>
              </a:spcAft>
              <a:buNone/>
            </a:pPr>
            <a:r>
              <a:rPr lang="en-GB" sz="1800">
                <a:solidFill>
                  <a:schemeClr val="dk2"/>
                </a:solidFill>
              </a:rPr>
              <a:t>  derive:</a:t>
            </a:r>
            <a:endParaRPr sz="1800">
              <a:solidFill>
                <a:schemeClr val="dk2"/>
              </a:solidFill>
            </a:endParaRPr>
          </a:p>
          <a:p>
            <a:pPr indent="0" lvl="0" marL="0" rtl="0" algn="l">
              <a:spcBef>
                <a:spcPts val="0"/>
              </a:spcBef>
              <a:spcAft>
                <a:spcPts val="0"/>
              </a:spcAft>
              <a:buNone/>
            </a:pPr>
            <a:r>
              <a:rPr lang="en-GB" sz="1800">
                <a:solidFill>
                  <a:schemeClr val="dk2"/>
                </a:solidFill>
              </a:rPr>
              <a:t>      self.quantity * self.price</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graphicFrame>
        <p:nvGraphicFramePr>
          <p:cNvPr id="156" name="Google Shape;156;p22"/>
          <p:cNvGraphicFramePr/>
          <p:nvPr/>
        </p:nvGraphicFramePr>
        <p:xfrm>
          <a:off x="533400" y="1291450"/>
          <a:ext cx="3000000" cy="3000000"/>
        </p:xfrm>
        <a:graphic>
          <a:graphicData uri="http://schemas.openxmlformats.org/drawingml/2006/table">
            <a:tbl>
              <a:tblPr>
                <a:noFill/>
                <a:tableStyleId>{58772C72-16C3-4DF3-A9AC-A4513592E4A2}</a:tableStyleId>
              </a:tblPr>
              <a:tblGrid>
                <a:gridCol w="7823650"/>
              </a:tblGrid>
              <a:tr h="5188875">
                <a:tc>
                  <a:txBody>
                    <a:bodyPr/>
                    <a:lstStyle/>
                    <a:p>
                      <a:pPr indent="0" lvl="0" marL="0" rtl="0" algn="l">
                        <a:spcBef>
                          <a:spcPts val="0"/>
                        </a:spcBef>
                        <a:spcAft>
                          <a:spcPts val="0"/>
                        </a:spcAft>
                        <a:buNone/>
                      </a:pPr>
                      <a:r>
                        <a:rPr b="1" lang="en-GB" sz="1800">
                          <a:latin typeface="Times New Roman"/>
                          <a:ea typeface="Times New Roman"/>
                          <a:cs typeface="Times New Roman"/>
                          <a:sym typeface="Times New Roman"/>
                        </a:rPr>
                        <a:t>Mặt trước:</a:t>
                      </a:r>
                      <a:endParaRPr b="1" sz="1800">
                        <a:latin typeface="Times New Roman"/>
                        <a:ea typeface="Times New Roman"/>
                        <a:cs typeface="Times New Roman"/>
                        <a:sym typeface="Times New Roman"/>
                      </a:endParaRPr>
                    </a:p>
                    <a:p>
                      <a:pPr indent="0" lvl="0" marL="0" rtl="0" algn="l">
                        <a:spcBef>
                          <a:spcPts val="0"/>
                        </a:spcBef>
                        <a:spcAft>
                          <a:spcPts val="0"/>
                        </a:spcAft>
                        <a:buNone/>
                      </a:pPr>
                      <a:r>
                        <a:t/>
                      </a:r>
                      <a:endParaRPr b="1" sz="1800">
                        <a:latin typeface="Times New Roman"/>
                        <a:ea typeface="Times New Roman"/>
                        <a:cs typeface="Times New Roman"/>
                        <a:sym typeface="Times New Roman"/>
                      </a:endParaRPr>
                    </a:p>
                    <a:p>
                      <a:pPr indent="0" lvl="0" marL="0" rtl="0" algn="l">
                        <a:spcBef>
                          <a:spcPts val="0"/>
                        </a:spcBef>
                        <a:spcAft>
                          <a:spcPts val="0"/>
                        </a:spcAft>
                        <a:buNone/>
                      </a:pPr>
                      <a:r>
                        <a:t/>
                      </a:r>
                      <a:endParaRPr b="1" sz="1800">
                        <a:latin typeface="Times New Roman"/>
                        <a:ea typeface="Times New Roman"/>
                        <a:cs typeface="Times New Roman"/>
                        <a:sym typeface="Times New Roman"/>
                      </a:endParaRPr>
                    </a:p>
                    <a:p>
                      <a:pPr indent="0" lvl="0" marL="0" rtl="0" algn="l">
                        <a:spcBef>
                          <a:spcPts val="0"/>
                        </a:spcBef>
                        <a:spcAft>
                          <a:spcPts val="0"/>
                        </a:spcAft>
                        <a:buNone/>
                      </a:pPr>
                      <a:r>
                        <a:t/>
                      </a:r>
                      <a:endParaRPr b="1" sz="1800">
                        <a:latin typeface="Times New Roman"/>
                        <a:ea typeface="Times New Roman"/>
                        <a:cs typeface="Times New Roman"/>
                        <a:sym typeface="Times New Roman"/>
                      </a:endParaRPr>
                    </a:p>
                    <a:p>
                      <a:pPr indent="0" lvl="0" marL="0" rtl="0" algn="l">
                        <a:spcBef>
                          <a:spcPts val="0"/>
                        </a:spcBef>
                        <a:spcAft>
                          <a:spcPts val="0"/>
                        </a:spcAft>
                        <a:buNone/>
                      </a:pPr>
                      <a:r>
                        <a:t/>
                      </a:r>
                      <a:endParaRPr b="1" sz="1800">
                        <a:latin typeface="Times New Roman"/>
                        <a:ea typeface="Times New Roman"/>
                        <a:cs typeface="Times New Roman"/>
                        <a:sym typeface="Times New Roman"/>
                      </a:endParaRPr>
                    </a:p>
                    <a:p>
                      <a:pPr indent="0" lvl="0" marL="0" rtl="0" algn="l">
                        <a:spcBef>
                          <a:spcPts val="0"/>
                        </a:spcBef>
                        <a:spcAft>
                          <a:spcPts val="0"/>
                        </a:spcAft>
                        <a:buNone/>
                      </a:pPr>
                      <a:r>
                        <a:t/>
                      </a:r>
                      <a:endParaRPr b="1"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b="1" lang="en-GB" sz="1800">
                          <a:latin typeface="Times New Roman"/>
                          <a:ea typeface="Times New Roman"/>
                          <a:cs typeface="Times New Roman"/>
                          <a:sym typeface="Times New Roman"/>
                        </a:rPr>
                        <a:t>Mặt sau:</a:t>
                      </a:r>
                      <a:endParaRPr sz="1800">
                        <a:latin typeface="Times New Roman"/>
                        <a:ea typeface="Times New Roman"/>
                        <a:cs typeface="Times New Roman"/>
                        <a:sym typeface="Times New Roman"/>
                      </a:endParaRPr>
                    </a:p>
                  </a:txBody>
                  <a:tcPr marT="63500" marB="63500" marR="63500" marL="63500">
                    <a:solidFill>
                      <a:srgbClr val="EFEFEF"/>
                    </a:solidFill>
                  </a:tcPr>
                </a:tc>
              </a:tr>
            </a:tbl>
          </a:graphicData>
        </a:graphic>
      </p:graphicFrame>
      <p:sp>
        <p:nvSpPr>
          <p:cNvPr id="157" name="Google Shape;157;p22"/>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bất biến</a:t>
            </a:r>
            <a:endParaRPr baseline="-25000"/>
          </a:p>
        </p:txBody>
      </p:sp>
      <p:sp>
        <p:nvSpPr>
          <p:cNvPr id="158" name="Google Shape;158;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59" name="Google Shape;159;p22"/>
          <p:cNvGraphicFramePr/>
          <p:nvPr/>
        </p:nvGraphicFramePr>
        <p:xfrm>
          <a:off x="649600" y="1679025"/>
          <a:ext cx="3000000" cy="3000000"/>
        </p:xfrm>
        <a:graphic>
          <a:graphicData uri="http://schemas.openxmlformats.org/drawingml/2006/table">
            <a:tbl>
              <a:tblPr bandCol="1" bandRow="1">
                <a:noFill/>
                <a:tableStyleId>{B95134A9-585F-4BF3-AC60-46676E0FDF13}</a:tableStyleId>
              </a:tblPr>
              <a:tblGrid>
                <a:gridCol w="2603250"/>
                <a:gridCol w="1272900"/>
                <a:gridCol w="382850"/>
                <a:gridCol w="3328925"/>
              </a:tblGrid>
              <a:tr h="291575">
                <a:tc>
                  <a:txBody>
                    <a:bodyPr/>
                    <a:lstStyle/>
                    <a:p>
                      <a:pPr indent="0" lvl="0" marL="0" rtl="0" algn="l">
                        <a:lnSpc>
                          <a:spcPct val="115000"/>
                        </a:lnSpc>
                        <a:spcBef>
                          <a:spcPts val="0"/>
                        </a:spcBef>
                        <a:spcAft>
                          <a:spcPts val="0"/>
                        </a:spcAft>
                        <a:buNone/>
                      </a:pPr>
                      <a:r>
                        <a:rPr b="1" lang="en-GB" sz="1800">
                          <a:latin typeface="Times New Roman"/>
                          <a:ea typeface="Times New Roman"/>
                          <a:cs typeface="Times New Roman"/>
                          <a:sym typeface="Times New Roman"/>
                        </a:rPr>
                        <a:t>Tên lớp:</a:t>
                      </a:r>
                      <a:r>
                        <a:rPr lang="en-GB" sz="1800">
                          <a:latin typeface="Times New Roman"/>
                          <a:ea typeface="Times New Roman"/>
                          <a:cs typeface="Times New Roman"/>
                          <a:sym typeface="Times New Roman"/>
                        </a:rPr>
                        <a:t> Order</a:t>
                      </a:r>
                      <a:endParaRPr sz="1800">
                        <a:latin typeface="Times New Roman"/>
                        <a:ea typeface="Times New Roman"/>
                        <a:cs typeface="Times New Roman"/>
                        <a:sym typeface="Times New Roman"/>
                      </a:endParaRPr>
                    </a:p>
                  </a:txBody>
                  <a:tcPr marT="0" marB="0" marR="73025" marL="73025">
                    <a:solidFill>
                      <a:srgbClr val="FFFFFF"/>
                    </a:solidFill>
                  </a:tcPr>
                </a:tc>
                <a:tc gridSpan="2">
                  <a:txBody>
                    <a:bodyPr/>
                    <a:lstStyle/>
                    <a:p>
                      <a:pPr indent="0" lvl="0" marL="0" rtl="0" algn="l">
                        <a:lnSpc>
                          <a:spcPct val="115000"/>
                        </a:lnSpc>
                        <a:spcBef>
                          <a:spcPts val="0"/>
                        </a:spcBef>
                        <a:spcAft>
                          <a:spcPts val="0"/>
                        </a:spcAft>
                        <a:buNone/>
                      </a:pPr>
                      <a:r>
                        <a:rPr b="1" lang="en-GB" sz="1800">
                          <a:latin typeface="Times New Roman"/>
                          <a:ea typeface="Times New Roman"/>
                          <a:cs typeface="Times New Roman"/>
                          <a:sym typeface="Times New Roman"/>
                        </a:rPr>
                        <a:t>ID:</a:t>
                      </a:r>
                      <a:r>
                        <a:rPr lang="en-GB" sz="1800">
                          <a:latin typeface="Times New Roman"/>
                          <a:ea typeface="Times New Roman"/>
                          <a:cs typeface="Times New Roman"/>
                          <a:sym typeface="Times New Roman"/>
                        </a:rPr>
                        <a:t> 1</a:t>
                      </a:r>
                      <a:endParaRPr sz="1800">
                        <a:latin typeface="Times New Roman"/>
                        <a:ea typeface="Times New Roman"/>
                        <a:cs typeface="Times New Roman"/>
                        <a:sym typeface="Times New Roman"/>
                      </a:endParaRPr>
                    </a:p>
                  </a:txBody>
                  <a:tcPr marT="0" marB="0" marR="73025" marL="73025">
                    <a:solidFill>
                      <a:srgbClr val="FFFFFF"/>
                    </a:solidFill>
                  </a:tcPr>
                </a:tc>
                <a:tc hMerge="1"/>
                <a:tc>
                  <a:txBody>
                    <a:bodyPr/>
                    <a:lstStyle/>
                    <a:p>
                      <a:pPr indent="0" lvl="0" marL="0" rtl="0" algn="l">
                        <a:lnSpc>
                          <a:spcPct val="115000"/>
                        </a:lnSpc>
                        <a:spcBef>
                          <a:spcPts val="0"/>
                        </a:spcBef>
                        <a:spcAft>
                          <a:spcPts val="0"/>
                        </a:spcAft>
                        <a:buNone/>
                      </a:pPr>
                      <a:r>
                        <a:rPr b="1" lang="en-GB" sz="1800">
                          <a:latin typeface="Times New Roman"/>
                          <a:ea typeface="Times New Roman"/>
                          <a:cs typeface="Times New Roman"/>
                          <a:sym typeface="Times New Roman"/>
                        </a:rPr>
                        <a:t>Kiểu:</a:t>
                      </a:r>
                      <a:r>
                        <a:rPr lang="en-GB" sz="1800">
                          <a:latin typeface="Times New Roman"/>
                          <a:ea typeface="Times New Roman"/>
                          <a:cs typeface="Times New Roman"/>
                          <a:sym typeface="Times New Roman"/>
                        </a:rPr>
                        <a:t> Cụ thể, Lĩnh vực</a:t>
                      </a:r>
                      <a:endParaRPr sz="1800">
                        <a:latin typeface="Times New Roman"/>
                        <a:ea typeface="Times New Roman"/>
                        <a:cs typeface="Times New Roman"/>
                        <a:sym typeface="Times New Roman"/>
                      </a:endParaRPr>
                    </a:p>
                  </a:txBody>
                  <a:tcPr marT="0" marB="0" marR="73025" marL="73025">
                    <a:solidFill>
                      <a:srgbClr val="FFFFFF"/>
                    </a:solidFill>
                  </a:tcPr>
                </a:tc>
              </a:tr>
              <a:tr h="291575">
                <a:tc gridSpan="3">
                  <a:txBody>
                    <a:bodyPr/>
                    <a:lstStyle/>
                    <a:p>
                      <a:pPr indent="0" lvl="0" marL="0" rtl="0" algn="l">
                        <a:lnSpc>
                          <a:spcPct val="115000"/>
                        </a:lnSpc>
                        <a:spcBef>
                          <a:spcPts val="0"/>
                        </a:spcBef>
                        <a:spcAft>
                          <a:spcPts val="0"/>
                        </a:spcAft>
                        <a:buNone/>
                      </a:pPr>
                      <a:r>
                        <a:rPr b="1" lang="en-GB" sz="1800">
                          <a:latin typeface="Times New Roman"/>
                          <a:ea typeface="Times New Roman"/>
                          <a:cs typeface="Times New Roman"/>
                          <a:sym typeface="Times New Roman"/>
                        </a:rPr>
                        <a:t>Mô tả:</a:t>
                      </a:r>
                      <a:r>
                        <a:rPr lang="en-GB" sz="1800">
                          <a:latin typeface="Times New Roman"/>
                          <a:ea typeface="Times New Roman"/>
                          <a:cs typeface="Times New Roman"/>
                          <a:sym typeface="Times New Roman"/>
                        </a:rPr>
                        <a:t> Biểu diễn đơn hàng</a:t>
                      </a:r>
                      <a:endParaRPr sz="1800">
                        <a:latin typeface="Times New Roman"/>
                        <a:ea typeface="Times New Roman"/>
                        <a:cs typeface="Times New Roman"/>
                        <a:sym typeface="Times New Roman"/>
                      </a:endParaRPr>
                    </a:p>
                  </a:txBody>
                  <a:tcPr marT="0" marB="0" marR="73025" marL="73025">
                    <a:solidFill>
                      <a:srgbClr val="FFFFFF"/>
                    </a:solidFill>
                  </a:tcPr>
                </a:tc>
                <a:tc hMerge="1"/>
                <a:tc hMerge="1"/>
                <a:tc>
                  <a:txBody>
                    <a:bodyPr/>
                    <a:lstStyle/>
                    <a:p>
                      <a:pPr indent="0" lvl="0" marL="0" rtl="0" algn="l">
                        <a:lnSpc>
                          <a:spcPct val="115000"/>
                        </a:lnSpc>
                        <a:spcBef>
                          <a:spcPts val="0"/>
                        </a:spcBef>
                        <a:spcAft>
                          <a:spcPts val="0"/>
                        </a:spcAft>
                        <a:buNone/>
                      </a:pPr>
                      <a:r>
                        <a:rPr b="1" lang="en-GB" sz="1800">
                          <a:latin typeface="Times New Roman"/>
                          <a:ea typeface="Times New Roman"/>
                          <a:cs typeface="Times New Roman"/>
                          <a:sym typeface="Times New Roman"/>
                        </a:rPr>
                        <a:t>Ca sử dụng liên quan:</a:t>
                      </a:r>
                      <a:r>
                        <a:rPr lang="en-GB" sz="1800">
                          <a:latin typeface="Times New Roman"/>
                          <a:ea typeface="Times New Roman"/>
                          <a:cs typeface="Times New Roman"/>
                          <a:sym typeface="Times New Roman"/>
                        </a:rPr>
                        <a:t> 1, 2, 3, …</a:t>
                      </a:r>
                      <a:endParaRPr sz="1800">
                        <a:latin typeface="Times New Roman"/>
                        <a:ea typeface="Times New Roman"/>
                        <a:cs typeface="Times New Roman"/>
                        <a:sym typeface="Times New Roman"/>
                      </a:endParaRPr>
                    </a:p>
                  </a:txBody>
                  <a:tcPr marT="0" marB="0" marR="73025" marL="73025">
                    <a:solidFill>
                      <a:srgbClr val="FFFFFF"/>
                    </a:solidFill>
                  </a:tcPr>
                </a:tc>
              </a:tr>
              <a:tr h="779750">
                <a:tc gridSpan="2">
                  <a:txBody>
                    <a:bodyPr/>
                    <a:lstStyle/>
                    <a:p>
                      <a:pPr indent="0" lvl="0" marL="0" rtl="0" algn="ctr">
                        <a:lnSpc>
                          <a:spcPct val="115000"/>
                        </a:lnSpc>
                        <a:spcBef>
                          <a:spcPts val="0"/>
                        </a:spcBef>
                        <a:spcAft>
                          <a:spcPts val="0"/>
                        </a:spcAft>
                        <a:buNone/>
                      </a:pPr>
                      <a:r>
                        <a:rPr b="1" lang="en-GB" sz="1800" u="sng">
                          <a:latin typeface="Times New Roman"/>
                          <a:ea typeface="Times New Roman"/>
                          <a:cs typeface="Times New Roman"/>
                          <a:sym typeface="Times New Roman"/>
                        </a:rPr>
                        <a:t>Các trách nhiệm</a:t>
                      </a:r>
                      <a:endParaRPr sz="1800">
                        <a:latin typeface="Times New Roman"/>
                        <a:ea typeface="Times New Roman"/>
                        <a:cs typeface="Times New Roman"/>
                        <a:sym typeface="Times New Roman"/>
                      </a:endParaRPr>
                    </a:p>
                    <a:p>
                      <a:pPr indent="-461010" lvl="0" marL="461010" rtl="0" algn="l">
                        <a:lnSpc>
                          <a:spcPct val="115000"/>
                        </a:lnSpc>
                        <a:spcBef>
                          <a:spcPts val="0"/>
                        </a:spcBef>
                        <a:spcAft>
                          <a:spcPts val="0"/>
                        </a:spcAft>
                        <a:buNone/>
                      </a:pPr>
                      <a:r>
                        <a:rPr lang="en-GB" sz="1800">
                          <a:latin typeface="Times New Roman"/>
                          <a:ea typeface="Times New Roman"/>
                          <a:cs typeface="Times New Roman"/>
                          <a:sym typeface="Times New Roman"/>
                        </a:rPr>
                        <a:t>…</a:t>
                      </a:r>
                      <a:endParaRPr sz="1800" u="sng">
                        <a:latin typeface="Times New Roman"/>
                        <a:ea typeface="Times New Roman"/>
                        <a:cs typeface="Times New Roman"/>
                        <a:sym typeface="Times New Roman"/>
                      </a:endParaRPr>
                    </a:p>
                  </a:txBody>
                  <a:tcPr marT="0" marB="0" marR="73025" marL="73025">
                    <a:solidFill>
                      <a:srgbClr val="FFFFFF"/>
                    </a:solidFill>
                  </a:tcPr>
                </a:tc>
                <a:tc hMerge="1"/>
                <a:tc gridSpan="2">
                  <a:txBody>
                    <a:bodyPr/>
                    <a:lstStyle/>
                    <a:p>
                      <a:pPr indent="0" lvl="0" marL="0" rtl="0" algn="ctr">
                        <a:lnSpc>
                          <a:spcPct val="115000"/>
                        </a:lnSpc>
                        <a:spcBef>
                          <a:spcPts val="0"/>
                        </a:spcBef>
                        <a:spcAft>
                          <a:spcPts val="0"/>
                        </a:spcAft>
                        <a:buNone/>
                      </a:pPr>
                      <a:r>
                        <a:rPr b="1" lang="en-GB" sz="1800" u="sng">
                          <a:latin typeface="Times New Roman"/>
                          <a:ea typeface="Times New Roman"/>
                          <a:cs typeface="Times New Roman"/>
                          <a:sym typeface="Times New Roman"/>
                        </a:rPr>
                        <a:t>Các đối tác</a:t>
                      </a:r>
                      <a:endParaRPr sz="1800" u="sng">
                        <a:latin typeface="Times New Roman"/>
                        <a:ea typeface="Times New Roman"/>
                        <a:cs typeface="Times New Roman"/>
                        <a:sym typeface="Times New Roman"/>
                      </a:endParaRPr>
                    </a:p>
                    <a:p>
                      <a:pPr indent="-575310" lvl="0" marL="575310" rtl="0" algn="l">
                        <a:lnSpc>
                          <a:spcPct val="115000"/>
                        </a:lnSpc>
                        <a:spcBef>
                          <a:spcPts val="0"/>
                        </a:spcBef>
                        <a:spcAft>
                          <a:spcPts val="0"/>
                        </a:spcAft>
                        <a:buNone/>
                      </a:pP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txBody>
                  <a:tcPr marT="0" marB="0" marR="73025" marL="73025">
                    <a:solidFill>
                      <a:srgbClr val="FFFFFF"/>
                    </a:solidFill>
                  </a:tcPr>
                </a:tc>
                <a:tc hMerge="1"/>
              </a:tr>
            </a:tbl>
          </a:graphicData>
        </a:graphic>
      </p:graphicFrame>
      <p:graphicFrame>
        <p:nvGraphicFramePr>
          <p:cNvPr id="160" name="Google Shape;160;p22"/>
          <p:cNvGraphicFramePr/>
          <p:nvPr/>
        </p:nvGraphicFramePr>
        <p:xfrm>
          <a:off x="672475" y="3779225"/>
          <a:ext cx="3000000" cy="3000000"/>
        </p:xfrm>
        <a:graphic>
          <a:graphicData uri="http://schemas.openxmlformats.org/drawingml/2006/table">
            <a:tbl>
              <a:tblPr bandCol="1" bandRow="1">
                <a:noFill/>
                <a:tableStyleId>{B95134A9-585F-4BF3-AC60-46676E0FDF13}</a:tableStyleId>
              </a:tblPr>
              <a:tblGrid>
                <a:gridCol w="7473350"/>
              </a:tblGrid>
              <a:tr h="984025">
                <a:tc>
                  <a:txBody>
                    <a:bodyPr/>
                    <a:lstStyle/>
                    <a:p>
                      <a:pPr indent="0" lvl="0" marL="0" rtl="0" algn="l">
                        <a:lnSpc>
                          <a:spcPct val="115000"/>
                        </a:lnSpc>
                        <a:spcBef>
                          <a:spcPts val="0"/>
                        </a:spcBef>
                        <a:spcAft>
                          <a:spcPts val="0"/>
                        </a:spcAft>
                        <a:buNone/>
                      </a:pPr>
                      <a:r>
                        <a:rPr b="1" lang="en-GB" sz="1800">
                          <a:latin typeface="Times New Roman"/>
                          <a:ea typeface="Times New Roman"/>
                          <a:cs typeface="Times New Roman"/>
                          <a:sym typeface="Times New Roman"/>
                        </a:rPr>
                        <a:t>Các thuộc tính:</a:t>
                      </a:r>
                      <a:endParaRPr b="1"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800">
                          <a:latin typeface="Times New Roman"/>
                          <a:ea typeface="Times New Roman"/>
                          <a:cs typeface="Times New Roman"/>
                          <a:sym typeface="Times New Roman"/>
                        </a:rPr>
                        <a:t>   order_id: long</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800">
                          <a:latin typeface="Times New Roman"/>
                          <a:ea typeface="Times New Roman"/>
                          <a:cs typeface="Times New Roman"/>
                          <a:sym typeface="Times New Roman"/>
                        </a:rPr>
                        <a:t>   customer: Customer</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GB" sz="1800">
                          <a:latin typeface="Times New Roman"/>
                          <a:ea typeface="Times New Roman"/>
                          <a:cs typeface="Times New Roman"/>
                          <a:sym typeface="Times New Roman"/>
                        </a:rPr>
                        <a:t>   cust_id: long   {cust_id = customer.getCustID()}</a:t>
                      </a:r>
                      <a:endParaRPr sz="1800">
                        <a:latin typeface="Times New Roman"/>
                        <a:ea typeface="Times New Roman"/>
                        <a:cs typeface="Times New Roman"/>
                        <a:sym typeface="Times New Roman"/>
                      </a:endParaRPr>
                    </a:p>
                  </a:txBody>
                  <a:tcPr marT="0" marB="0" marR="73025" marL="73025">
                    <a:solidFill>
                      <a:srgbClr val="FFFFFF"/>
                    </a:solidFill>
                  </a:tcPr>
                </a:tc>
              </a:tr>
              <a:tr h="1187275">
                <a:tc>
                  <a:txBody>
                    <a:bodyPr/>
                    <a:lstStyle/>
                    <a:p>
                      <a:pPr indent="0" lvl="0" marL="0" rtl="0" algn="l">
                        <a:lnSpc>
                          <a:spcPct val="115000"/>
                        </a:lnSpc>
                        <a:spcBef>
                          <a:spcPts val="0"/>
                        </a:spcBef>
                        <a:spcAft>
                          <a:spcPts val="0"/>
                        </a:spcAft>
                        <a:buNone/>
                      </a:pPr>
                      <a:r>
                        <a:rPr b="1" lang="en-GB" sz="1800">
                          <a:latin typeface="Times New Roman"/>
                          <a:ea typeface="Times New Roman"/>
                          <a:cs typeface="Times New Roman"/>
                          <a:sym typeface="Times New Roman"/>
                        </a:rPr>
                        <a:t>Các mối quan hệ</a:t>
                      </a:r>
                      <a:r>
                        <a:rPr lang="en-GB"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2282190" lvl="0" marL="2282190" rtl="0" algn="l">
                        <a:lnSpc>
                          <a:spcPct val="115000"/>
                        </a:lnSpc>
                        <a:spcBef>
                          <a:spcPts val="0"/>
                        </a:spcBef>
                        <a:spcAft>
                          <a:spcPts val="0"/>
                        </a:spcAft>
                        <a:buNone/>
                      </a:pPr>
                      <a:r>
                        <a:rPr lang="en-GB" sz="1800">
                          <a:latin typeface="Times New Roman"/>
                          <a:ea typeface="Times New Roman"/>
                          <a:cs typeface="Times New Roman"/>
                          <a:sym typeface="Times New Roman"/>
                        </a:rPr>
                        <a:t>   </a:t>
                      </a:r>
                      <a:r>
                        <a:rPr b="1" lang="en-GB" sz="1800">
                          <a:latin typeface="Times New Roman"/>
                          <a:ea typeface="Times New Roman"/>
                          <a:cs typeface="Times New Roman"/>
                          <a:sym typeface="Times New Roman"/>
                        </a:rPr>
                        <a:t>Khái quát hóa (thuộc loại):</a:t>
                      </a:r>
                      <a:r>
                        <a:rPr lang="en-GB"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282190" lvl="0" marL="2282190" rtl="0" algn="l">
                        <a:lnSpc>
                          <a:spcPct val="115000"/>
                        </a:lnSpc>
                        <a:spcBef>
                          <a:spcPts val="0"/>
                        </a:spcBef>
                        <a:spcAft>
                          <a:spcPts val="0"/>
                        </a:spcAft>
                        <a:buNone/>
                      </a:pPr>
                      <a:r>
                        <a:rPr lang="en-GB" sz="1800">
                          <a:latin typeface="Times New Roman"/>
                          <a:ea typeface="Times New Roman"/>
                          <a:cs typeface="Times New Roman"/>
                          <a:sym typeface="Times New Roman"/>
                        </a:rPr>
                        <a:t>   </a:t>
                      </a:r>
                      <a:r>
                        <a:rPr b="1" lang="en-GB" sz="1800">
                          <a:latin typeface="Times New Roman"/>
                          <a:ea typeface="Times New Roman"/>
                          <a:cs typeface="Times New Roman"/>
                          <a:sym typeface="Times New Roman"/>
                        </a:rPr>
                        <a:t>Tổng hợp (Có các phần):</a:t>
                      </a:r>
                      <a:r>
                        <a:rPr lang="en-GB" sz="1800">
                          <a:latin typeface="Times New Roman"/>
                          <a:ea typeface="Times New Roman"/>
                          <a:cs typeface="Times New Roman"/>
                          <a:sym typeface="Times New Roman"/>
                        </a:rPr>
                        <a:t> 	</a:t>
                      </a:r>
                      <a:endParaRPr b="1" sz="1800">
                        <a:latin typeface="Times New Roman"/>
                        <a:ea typeface="Times New Roman"/>
                        <a:cs typeface="Times New Roman"/>
                        <a:sym typeface="Times New Roman"/>
                      </a:endParaRPr>
                    </a:p>
                    <a:p>
                      <a:pPr indent="-2282190" lvl="0" marL="2282190" rtl="0" algn="l">
                        <a:lnSpc>
                          <a:spcPct val="115000"/>
                        </a:lnSpc>
                        <a:spcBef>
                          <a:spcPts val="0"/>
                        </a:spcBef>
                        <a:spcAft>
                          <a:spcPts val="0"/>
                        </a:spcAft>
                        <a:buNone/>
                      </a:pPr>
                      <a:r>
                        <a:rPr lang="en-GB" sz="1800">
                          <a:latin typeface="Times New Roman"/>
                          <a:ea typeface="Times New Roman"/>
                          <a:cs typeface="Times New Roman"/>
                          <a:sym typeface="Times New Roman"/>
                        </a:rPr>
                        <a:t>   </a:t>
                      </a:r>
                      <a:r>
                        <a:rPr b="1" lang="en-GB" sz="1800">
                          <a:latin typeface="Times New Roman"/>
                          <a:ea typeface="Times New Roman"/>
                          <a:cs typeface="Times New Roman"/>
                          <a:sym typeface="Times New Roman"/>
                        </a:rPr>
                        <a:t>Các mối liên quan khác:</a:t>
                      </a:r>
                      <a:r>
                        <a:rPr lang="en-GB" sz="1800">
                          <a:latin typeface="Times New Roman"/>
                          <a:ea typeface="Times New Roman"/>
                          <a:cs typeface="Times New Roman"/>
                          <a:sym typeface="Times New Roman"/>
                        </a:rPr>
                        <a:t>  </a:t>
                      </a:r>
                      <a:endParaRPr sz="1800" u="sng">
                        <a:latin typeface="Times New Roman"/>
                        <a:ea typeface="Times New Roman"/>
                        <a:cs typeface="Times New Roman"/>
                        <a:sym typeface="Times New Roman"/>
                      </a:endParaRPr>
                    </a:p>
                  </a:txBody>
                  <a:tcPr marT="0" marB="0" marR="73025" marL="73025">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Xác định các tiềm năng tái sử dụng</a:t>
            </a:r>
            <a:endParaRPr/>
          </a:p>
        </p:txBody>
      </p:sp>
      <p:sp>
        <p:nvSpPr>
          <p:cNvPr id="166" name="Google Shape;166;p23"/>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Trong pha thiết kế chúng ta có thể sử dụng:</a:t>
            </a:r>
            <a:endParaRPr/>
          </a:p>
          <a:p>
            <a:pPr indent="-368300" lvl="1" marL="914400" rtl="0" algn="l">
              <a:spcBef>
                <a:spcPts val="0"/>
              </a:spcBef>
              <a:spcAft>
                <a:spcPts val="0"/>
              </a:spcAft>
              <a:buSzPts val="2200"/>
              <a:buChar char="○"/>
            </a:pPr>
            <a:r>
              <a:rPr lang="en-GB"/>
              <a:t>Mẫu thiết kế;</a:t>
            </a:r>
            <a:endParaRPr/>
          </a:p>
          <a:p>
            <a:pPr indent="-368300" lvl="1" marL="914400" rtl="0" algn="l">
              <a:spcBef>
                <a:spcPts val="0"/>
              </a:spcBef>
              <a:spcAft>
                <a:spcPts val="0"/>
              </a:spcAft>
              <a:buSzPts val="2200"/>
              <a:buChar char="○"/>
            </a:pPr>
            <a:r>
              <a:rPr lang="en-GB"/>
              <a:t>Nền tảng; </a:t>
            </a:r>
            <a:endParaRPr/>
          </a:p>
          <a:p>
            <a:pPr indent="-368300" lvl="1" marL="914400" rtl="0" algn="l">
              <a:spcBef>
                <a:spcPts val="0"/>
              </a:spcBef>
              <a:spcAft>
                <a:spcPts val="0"/>
              </a:spcAft>
              <a:buSzPts val="2200"/>
              <a:buChar char="○"/>
            </a:pPr>
            <a:r>
              <a:rPr lang="en-GB"/>
              <a:t>Thư viện;</a:t>
            </a:r>
            <a:endParaRPr/>
          </a:p>
          <a:p>
            <a:pPr indent="-368300" lvl="1" marL="914400" rtl="0" algn="l">
              <a:spcBef>
                <a:spcPts val="0"/>
              </a:spcBef>
              <a:spcAft>
                <a:spcPts val="0"/>
              </a:spcAft>
              <a:buSzPts val="2200"/>
              <a:buChar char="○"/>
            </a:pPr>
            <a:r>
              <a:rPr lang="en-GB"/>
              <a:t>Thành phần.</a:t>
            </a:r>
            <a:endParaRPr/>
          </a:p>
          <a:p>
            <a:pPr indent="-381000" lvl="0" marL="457200" rtl="0" algn="l">
              <a:spcBef>
                <a:spcPts val="0"/>
              </a:spcBef>
              <a:spcAft>
                <a:spcPts val="0"/>
              </a:spcAft>
              <a:buSzPts val="2400"/>
              <a:buChar char="●"/>
            </a:pPr>
            <a:r>
              <a:rPr lang="en-GB"/>
              <a:t>Tiềm năng tái sử dụng có thể thay đổi theo tầng</a:t>
            </a:r>
            <a:endParaRPr/>
          </a:p>
          <a:p>
            <a:pPr indent="-368300" lvl="1" marL="914400" rtl="0" algn="l">
              <a:spcBef>
                <a:spcPts val="0"/>
              </a:spcBef>
              <a:spcAft>
                <a:spcPts val="0"/>
              </a:spcAft>
              <a:buSzPts val="2200"/>
              <a:buChar char="○"/>
            </a:pPr>
            <a:r>
              <a:rPr lang="en-GB"/>
              <a:t>Ví dụ: 1 thư viện có thể ít hữu ích trong tầng lĩnh vực ứng dụng, nhưng lại rất hữu ích trong tầng nền tảng.</a:t>
            </a:r>
            <a:endParaRPr/>
          </a:p>
          <a:p>
            <a:pPr indent="-381000" lvl="0" marL="457200" rtl="0" algn="l">
              <a:spcBef>
                <a:spcPts val="0"/>
              </a:spcBef>
              <a:spcAft>
                <a:spcPts val="0"/>
              </a:spcAft>
              <a:buSzPts val="2400"/>
              <a:buChar char="●"/>
            </a:pPr>
            <a:r>
              <a:rPr lang="en-GB"/>
              <a:t>Các mẫu thiết kế</a:t>
            </a:r>
            <a:endParaRPr/>
          </a:p>
          <a:p>
            <a:pPr indent="-368300" lvl="1" marL="914400" rtl="0" algn="l">
              <a:spcBef>
                <a:spcPts val="0"/>
              </a:spcBef>
              <a:spcAft>
                <a:spcPts val="0"/>
              </a:spcAft>
              <a:buSzPts val="2200"/>
              <a:buChar char="○"/>
            </a:pPr>
            <a:r>
              <a:rPr lang="en-GB"/>
              <a:t>Rất hữu ích để gom nhóm các lớp tương tác có thể cung cấp giải pháp cho 1 vấn đề phổ biến. Có thể giải quyết “1 vấn đề thiết kế điển hình trong 1 ngữ cảnh cụ thể”.</a:t>
            </a:r>
            <a:endParaRPr/>
          </a:p>
          <a:p>
            <a:pPr indent="-368300" lvl="1" marL="914400" rtl="0" algn="l">
              <a:spcBef>
                <a:spcPts val="0"/>
              </a:spcBef>
              <a:spcAft>
                <a:spcPts val="0"/>
              </a:spcAft>
              <a:buSzPts val="2200"/>
              <a:buChar char="○"/>
            </a:pPr>
            <a:r>
              <a:rPr i="1" lang="en-GB"/>
              <a:t>(Các chi tiết sẽ được cung cấp sau).</a:t>
            </a:r>
            <a:endParaRPr/>
          </a:p>
        </p:txBody>
      </p:sp>
      <p:sp>
        <p:nvSpPr>
          <p:cNvPr id="167" name="Google Shape;167;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Nền tảng và thư viện</a:t>
            </a:r>
            <a:endParaRPr baseline="-25000"/>
          </a:p>
        </p:txBody>
      </p:sp>
      <p:sp>
        <p:nvSpPr>
          <p:cNvPr id="173" name="Google Shape;173;p24"/>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N</a:t>
            </a:r>
            <a:r>
              <a:rPr lang="en-GB"/>
              <a:t>ền tảng cung cấp 1 tập lớp có thể được sử dụng làm khung phát triển chương trình ứng dụng</a:t>
            </a:r>
            <a:endParaRPr/>
          </a:p>
          <a:p>
            <a:pPr indent="-368300" lvl="1" marL="914400" rtl="0" algn="just">
              <a:spcBef>
                <a:spcPts val="0"/>
              </a:spcBef>
              <a:spcAft>
                <a:spcPts val="0"/>
              </a:spcAft>
              <a:buSzPts val="2200"/>
              <a:buChar char="○"/>
            </a:pPr>
            <a:r>
              <a:rPr lang="en-GB"/>
              <a:t>Có thể triển khai toàn bộ hoặc 1 phần của hệ thống.</a:t>
            </a:r>
            <a:endParaRPr/>
          </a:p>
          <a:p>
            <a:pPr indent="-368300" lvl="1" marL="914400" rtl="0" algn="just">
              <a:spcBef>
                <a:spcPts val="0"/>
              </a:spcBef>
              <a:spcAft>
                <a:spcPts val="0"/>
              </a:spcAft>
              <a:buSzPts val="2200"/>
              <a:buChar char="○"/>
            </a:pPr>
            <a:r>
              <a:rPr lang="en-GB"/>
              <a:t>CORBA, DCOM, Spring Boot, Struts, Qt, v.v..</a:t>
            </a:r>
            <a:endParaRPr/>
          </a:p>
          <a:p>
            <a:pPr indent="-381000" lvl="0" marL="457200" rtl="0" algn="just">
              <a:spcBef>
                <a:spcPts val="0"/>
              </a:spcBef>
              <a:spcAft>
                <a:spcPts val="0"/>
              </a:spcAft>
              <a:buSzPts val="2400"/>
              <a:buChar char="●"/>
            </a:pPr>
            <a:r>
              <a:rPr lang="en-GB"/>
              <a:t>Thư viện bao gồm 1 tập lớp, tương tự nền tảng, được thiết kế để tái sử dụng</a:t>
            </a:r>
            <a:endParaRPr/>
          </a:p>
          <a:p>
            <a:pPr indent="-368300" lvl="1" marL="914400" rtl="0" algn="just">
              <a:spcBef>
                <a:spcPts val="0"/>
              </a:spcBef>
              <a:spcAft>
                <a:spcPts val="0"/>
              </a:spcAft>
              <a:buSzPts val="2200"/>
              <a:buChar char="○"/>
            </a:pPr>
            <a:r>
              <a:rPr lang="en-GB"/>
              <a:t>Có nhiều thư viện hỗ trợ các mảng ứng dụng</a:t>
            </a:r>
            <a:endParaRPr/>
          </a:p>
          <a:p>
            <a:pPr indent="-342900" lvl="2" marL="1371600" rtl="0" algn="just">
              <a:spcBef>
                <a:spcPts val="0"/>
              </a:spcBef>
              <a:spcAft>
                <a:spcPts val="0"/>
              </a:spcAft>
              <a:buSzPts val="1800"/>
              <a:buChar char="■"/>
            </a:pPr>
            <a:r>
              <a:rPr lang="en-GB"/>
              <a:t>Ví dụ: Xử lý số học và thống kê; Phát triển giao diện đồ họa (tầng HCI); Kết nối với CSDL (tầng quản lý dữ liệu - DAM).</a:t>
            </a:r>
            <a:endParaRPr/>
          </a:p>
          <a:p>
            <a:pPr indent="-381000" lvl="0" marL="457200" rtl="0" algn="just">
              <a:spcBef>
                <a:spcPts val="0"/>
              </a:spcBef>
              <a:spcAft>
                <a:spcPts val="0"/>
              </a:spcAft>
              <a:buSzPts val="2400"/>
              <a:buChar char="●"/>
            </a:pPr>
            <a:r>
              <a:rPr lang="en-GB"/>
              <a:t>Nền tảng và thư viện thường cho phép kế thừa các lớp của nó, có thể kế thừa để tái sử dụng lớp hoặc tạo đối tượng trực tiếp từ các lớp đã có.</a:t>
            </a:r>
            <a:endParaRPr/>
          </a:p>
          <a:p>
            <a:pPr indent="-368300" lvl="1" marL="914400" rtl="0" algn="just">
              <a:spcBef>
                <a:spcPts val="0"/>
              </a:spcBef>
              <a:spcAft>
                <a:spcPts val="0"/>
              </a:spcAft>
              <a:buSzPts val="2200"/>
              <a:buChar char="○"/>
            </a:pPr>
            <a:r>
              <a:rPr i="1" lang="en-GB"/>
              <a:t>(Làm tăng tính ghép nối).</a:t>
            </a:r>
            <a:endParaRPr i="1"/>
          </a:p>
        </p:txBody>
      </p:sp>
      <p:sp>
        <p:nvSpPr>
          <p:cNvPr id="174" name="Google Shape;174;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a:t>
            </a:r>
            <a:r>
              <a:rPr lang="en-GB"/>
              <a:t>hành phần</a:t>
            </a:r>
            <a:endParaRPr baseline="-25000"/>
          </a:p>
        </p:txBody>
      </p:sp>
      <p:sp>
        <p:nvSpPr>
          <p:cNvPr id="180" name="Google Shape;180;p25"/>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Thành phần/component:</a:t>
            </a:r>
            <a:endParaRPr/>
          </a:p>
          <a:p>
            <a:pPr indent="-368300" lvl="1" marL="914400" rtl="0" algn="just">
              <a:spcBef>
                <a:spcPts val="0"/>
              </a:spcBef>
              <a:spcAft>
                <a:spcPts val="0"/>
              </a:spcAft>
              <a:buSzPts val="2200"/>
              <a:buChar char="○"/>
            </a:pPr>
            <a:r>
              <a:rPr lang="en-GB"/>
              <a:t>M</a:t>
            </a:r>
            <a:r>
              <a:rPr lang="en-GB"/>
              <a:t>ảnh phần mềm, được đóng gói để có thể nhúng vào 1 hệ thống để cung cấp 1 tập chức năng cụ thể.</a:t>
            </a:r>
            <a:endParaRPr/>
          </a:p>
          <a:p>
            <a:pPr indent="-342900" lvl="2" marL="1371600" rtl="0" algn="just">
              <a:spcBef>
                <a:spcPts val="0"/>
              </a:spcBef>
              <a:spcAft>
                <a:spcPts val="0"/>
              </a:spcAft>
              <a:buSzPts val="1800"/>
              <a:buChar char="■"/>
            </a:pPr>
            <a:r>
              <a:rPr lang="en-GB"/>
              <a:t>Ví dụ các thành phần được triển khai dựa trên các công nghệ ActiveX hoặc JavaBean.</a:t>
            </a:r>
            <a:endParaRPr/>
          </a:p>
          <a:p>
            <a:pPr indent="-368300" lvl="1" marL="914400" rtl="0" algn="just">
              <a:spcBef>
                <a:spcPts val="0"/>
              </a:spcBef>
              <a:spcAft>
                <a:spcPts val="0"/>
              </a:spcAft>
              <a:buSzPts val="2200"/>
              <a:buChar char="○"/>
            </a:pPr>
            <a:r>
              <a:rPr lang="en-GB"/>
              <a:t>Cung cấp 1 tập phương thức giao diện để tương tác với các đối tượng có trong nó.</a:t>
            </a:r>
            <a:endParaRPr/>
          </a:p>
          <a:p>
            <a:pPr indent="-342900" lvl="2" marL="1371600" rtl="0" algn="just">
              <a:spcBef>
                <a:spcPts val="0"/>
              </a:spcBef>
              <a:spcAft>
                <a:spcPts val="0"/>
              </a:spcAft>
              <a:buSzPts val="1800"/>
              <a:buChar char="■"/>
            </a:pPr>
            <a:r>
              <a:rPr lang="en-GB"/>
              <a:t>Lô-gic hoạt động bên trong thành phần được ẩn sau các API.</a:t>
            </a:r>
            <a:endParaRPr/>
          </a:p>
          <a:p>
            <a:pPr indent="-368300" lvl="1" marL="914400" rtl="0" algn="just">
              <a:spcBef>
                <a:spcPts val="0"/>
              </a:spcBef>
              <a:spcAft>
                <a:spcPts val="0"/>
              </a:spcAft>
              <a:buSzPts val="2200"/>
              <a:buChar char="○"/>
            </a:pPr>
            <a:r>
              <a:rPr lang="en-GB"/>
              <a:t>Có thể được triển khai bằng các lớp thư viện và nền tảng, nhưng cũng có thể được sử dụng để triển khai nền tảng.</a:t>
            </a:r>
            <a:endParaRPr/>
          </a:p>
          <a:p>
            <a:pPr indent="-368300" lvl="1" marL="914400" rtl="0" algn="just">
              <a:spcBef>
                <a:spcPts val="0"/>
              </a:spcBef>
              <a:spcAft>
                <a:spcPts val="0"/>
              </a:spcAft>
              <a:buSzPts val="2200"/>
              <a:buChar char="○"/>
            </a:pPr>
            <a:r>
              <a:rPr lang="en-GB"/>
              <a:t>Nếu giao diện không thay đổi, thì cập nhật </a:t>
            </a:r>
            <a:r>
              <a:rPr lang="en-GB"/>
              <a:t>phiên bản mới của </a:t>
            </a:r>
            <a:r>
              <a:rPr lang="en-GB"/>
              <a:t>thành phần thường không yêu cầu thay đổi mã nguồn</a:t>
            </a:r>
            <a:endParaRPr/>
          </a:p>
          <a:p>
            <a:pPr indent="-342900" lvl="2" marL="1371600" rtl="0" algn="just">
              <a:spcBef>
                <a:spcPts val="0"/>
              </a:spcBef>
              <a:spcAft>
                <a:spcPts val="0"/>
              </a:spcAft>
              <a:buSzPts val="1800"/>
              <a:buChar char="■"/>
            </a:pPr>
            <a:r>
              <a:rPr lang="en-GB"/>
              <a:t>Có thể không yêu cầu biên dịch lại.</a:t>
            </a:r>
            <a:endParaRPr/>
          </a:p>
          <a:p>
            <a:pPr indent="-368300" lvl="1" marL="914400" rtl="0" algn="just">
              <a:spcBef>
                <a:spcPts val="0"/>
              </a:spcBef>
              <a:spcAft>
                <a:spcPts val="0"/>
              </a:spcAft>
              <a:buSzPts val="2200"/>
              <a:buChar char="○"/>
            </a:pPr>
            <a:r>
              <a:rPr lang="en-GB"/>
              <a:t>Thường được sử dụng để giản lược các chi tiết triển khai.</a:t>
            </a:r>
            <a:endParaRPr/>
          </a:p>
        </p:txBody>
      </p:sp>
      <p:sp>
        <p:nvSpPr>
          <p:cNvPr id="181" name="Google Shape;181;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Tái cấu trúc</a:t>
            </a:r>
            <a:endParaRPr/>
          </a:p>
        </p:txBody>
      </p:sp>
      <p:sp>
        <p:nvSpPr>
          <p:cNvPr id="187" name="Google Shape;187;p26"/>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Đóng gói phần chung</a:t>
            </a:r>
            <a:r>
              <a:rPr lang="en-GB"/>
              <a:t> / factoring</a:t>
            </a:r>
            <a:endParaRPr/>
          </a:p>
          <a:p>
            <a:pPr indent="-368300" lvl="1" marL="914400" rtl="0" algn="l">
              <a:spcBef>
                <a:spcPts val="0"/>
              </a:spcBef>
              <a:spcAft>
                <a:spcPts val="0"/>
              </a:spcAft>
              <a:buSzPts val="2200"/>
              <a:buChar char="○"/>
            </a:pPr>
            <a:r>
              <a:rPr lang="en-GB"/>
              <a:t>Lớp mới có thể được gắn kết với các lớp cũ thông qua kế thừa, tổng hợp hoặc liên kết</a:t>
            </a:r>
            <a:endParaRPr/>
          </a:p>
          <a:p>
            <a:pPr indent="-342900" lvl="2" marL="1371600" rtl="0" algn="l">
              <a:spcBef>
                <a:spcPts val="0"/>
              </a:spcBef>
              <a:spcAft>
                <a:spcPts val="0"/>
              </a:spcAft>
              <a:buSzPts val="1800"/>
              <a:buChar char="■"/>
            </a:pPr>
            <a:r>
              <a:rPr lang="en-GB"/>
              <a:t>Lưu ý các vấn đề ghép nối, thống nhất, và đồng sinh.</a:t>
            </a:r>
            <a:endParaRPr/>
          </a:p>
          <a:p>
            <a:pPr indent="-381000" lvl="0" marL="457200" rtl="0" algn="l">
              <a:spcBef>
                <a:spcPts val="0"/>
              </a:spcBef>
              <a:spcAft>
                <a:spcPts val="0"/>
              </a:spcAft>
              <a:buSzPts val="2400"/>
              <a:buChar char="●"/>
            </a:pPr>
            <a:r>
              <a:rPr lang="en-GB"/>
              <a:t>Triển khai các mối quan hệ trên sơ đồ lớp như những thuộc tính.</a:t>
            </a:r>
            <a:endParaRPr/>
          </a:p>
          <a:p>
            <a:pPr indent="-368300" lvl="1" marL="914400" rtl="0" algn="l">
              <a:spcBef>
                <a:spcPts val="0"/>
              </a:spcBef>
              <a:spcAft>
                <a:spcPts val="0"/>
              </a:spcAft>
              <a:buSzPts val="2200"/>
              <a:buChar char="○"/>
            </a:pPr>
            <a:r>
              <a:rPr lang="en-GB"/>
              <a:t>Các ngôn ngữ hướng đối tượng hầu như không phân biệt các quan hệ như bộ phận-tổng thể và liên quan.</a:t>
            </a:r>
            <a:endParaRPr/>
          </a:p>
          <a:p>
            <a:pPr indent="-342900" lvl="2" marL="1371600" rtl="0" algn="l">
              <a:spcBef>
                <a:spcPts val="0"/>
              </a:spcBef>
              <a:spcAft>
                <a:spcPts val="0"/>
              </a:spcAft>
              <a:buSzPts val="1800"/>
              <a:buChar char="■"/>
            </a:pPr>
            <a:r>
              <a:rPr lang="en-GB"/>
              <a:t>Các mối quan hệ phải được chuyển thành các thuộc tính trong lớp.</a:t>
            </a:r>
            <a:endParaRPr/>
          </a:p>
        </p:txBody>
      </p:sp>
      <p:sp>
        <p:nvSpPr>
          <p:cNvPr id="188" name="Google Shape;188;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4" name="Google Shape;194;p2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Đóng gói phần chung</a:t>
            </a:r>
            <a:endParaRPr/>
          </a:p>
        </p:txBody>
      </p:sp>
      <p:sp>
        <p:nvSpPr>
          <p:cNvPr id="195" name="Google Shape;195;p27"/>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Tách và đóng gói phần giống nhau và khác nhau của các thứ được quan tâm</a:t>
            </a:r>
            <a:endParaRPr/>
          </a:p>
          <a:p>
            <a:pPr indent="-381000" lvl="0" marL="457200" rtl="0" algn="l">
              <a:spcBef>
                <a:spcPts val="0"/>
              </a:spcBef>
              <a:spcAft>
                <a:spcPts val="0"/>
              </a:spcAft>
              <a:buSzPts val="2400"/>
              <a:buChar char="●"/>
            </a:pPr>
            <a:r>
              <a:rPr lang="en-GB"/>
              <a:t>Các lớp mới được hình thành thông qua:</a:t>
            </a:r>
            <a:endParaRPr/>
          </a:p>
          <a:p>
            <a:pPr indent="-368300" lvl="1" marL="914400" rtl="0" algn="l">
              <a:spcBef>
                <a:spcPts val="0"/>
              </a:spcBef>
              <a:spcAft>
                <a:spcPts val="0"/>
              </a:spcAft>
              <a:buSzPts val="2200"/>
              <a:buChar char="○"/>
            </a:pPr>
            <a:r>
              <a:rPr lang="en-GB"/>
              <a:t>Quan hệ khái quát hóa (thuộc loại), hoặc </a:t>
            </a:r>
            <a:endParaRPr/>
          </a:p>
          <a:p>
            <a:pPr indent="-342900" lvl="2" marL="1371600" rtl="0" algn="l">
              <a:spcBef>
                <a:spcPts val="0"/>
              </a:spcBef>
              <a:spcAft>
                <a:spcPts val="0"/>
              </a:spcAft>
              <a:buSzPts val="1800"/>
              <a:buChar char="■"/>
            </a:pPr>
            <a:r>
              <a:rPr lang="en-GB"/>
              <a:t>Tạo lớp bậc cao hơn (ví dụ, tạo lớp Employee từ tập vị trí công việc)</a:t>
            </a:r>
            <a:endParaRPr/>
          </a:p>
          <a:p>
            <a:pPr indent="-368300" lvl="1" marL="914400" rtl="0" algn="l">
              <a:spcBef>
                <a:spcPts val="0"/>
              </a:spcBef>
              <a:spcAft>
                <a:spcPts val="0"/>
              </a:spcAft>
              <a:buSzPts val="2200"/>
              <a:buChar char="○"/>
            </a:pPr>
            <a:r>
              <a:rPr lang="en-GB"/>
              <a:t>Chi tiết hóa, hoặc</a:t>
            </a:r>
            <a:endParaRPr/>
          </a:p>
          <a:p>
            <a:pPr indent="-342900" lvl="2" marL="1371600" rtl="0" algn="l">
              <a:spcBef>
                <a:spcPts val="0"/>
              </a:spcBef>
              <a:spcAft>
                <a:spcPts val="0"/>
              </a:spcAft>
              <a:buSzPts val="1800"/>
              <a:buChar char="■"/>
            </a:pPr>
            <a:r>
              <a:rPr lang="en-GB"/>
              <a:t>Tạo lớp cụ thể (ví dụ, tạo lớp Secretary hoặc Bookkeeper từ lớp Employee)</a:t>
            </a:r>
            <a:endParaRPr/>
          </a:p>
          <a:p>
            <a:pPr indent="-368300" lvl="1" marL="914400" rtl="0" algn="l">
              <a:spcBef>
                <a:spcPts val="0"/>
              </a:spcBef>
              <a:spcAft>
                <a:spcPts val="0"/>
              </a:spcAft>
              <a:buSzPts val="2200"/>
              <a:buChar char="○"/>
            </a:pPr>
            <a:r>
              <a:rPr lang="en-GB"/>
              <a:t>Quan hệ tổng hợp (có các thành phần)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Tối ưu hóa thiết kế</a:t>
            </a:r>
            <a:endParaRPr/>
          </a:p>
        </p:txBody>
      </p:sp>
      <p:sp>
        <p:nvSpPr>
          <p:cNvPr id="201" name="Google Shape;201;p28"/>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C</a:t>
            </a:r>
            <a:r>
              <a:rPr i="1" lang="en-GB"/>
              <a:t>ó thể được thực hiện để tạo thiết kế hiệu quả hơn</a:t>
            </a:r>
            <a:endParaRPr i="1"/>
          </a:p>
          <a:p>
            <a:pPr indent="-381000" lvl="0" marL="457200" rtl="0" algn="l">
              <a:spcBef>
                <a:spcPts val="0"/>
              </a:spcBef>
              <a:spcAft>
                <a:spcPts val="0"/>
              </a:spcAft>
              <a:buSzPts val="2400"/>
              <a:buChar char="●"/>
            </a:pPr>
            <a:r>
              <a:rPr lang="en-GB"/>
              <a:t>Kiểm tra các đường dẫn tới đối tượng:</a:t>
            </a:r>
            <a:endParaRPr/>
          </a:p>
          <a:p>
            <a:pPr indent="-368300" lvl="1" marL="914400" rtl="0" algn="l">
              <a:spcBef>
                <a:spcPts val="0"/>
              </a:spcBef>
              <a:spcAft>
                <a:spcPts val="0"/>
              </a:spcAft>
              <a:buSzPts val="2200"/>
              <a:buChar char="○"/>
            </a:pPr>
            <a:r>
              <a:rPr lang="en-GB"/>
              <a:t>Có những trường hợp thông điệp từ 1 đối tượng tới 1 đối tượng khác phải qua nhiều bước trung gian.</a:t>
            </a:r>
            <a:endParaRPr/>
          </a:p>
          <a:p>
            <a:pPr indent="-368300" lvl="1" marL="914400" rtl="0" algn="l">
              <a:spcBef>
                <a:spcPts val="0"/>
              </a:spcBef>
              <a:spcAft>
                <a:spcPts val="0"/>
              </a:spcAft>
              <a:buSzPts val="2200"/>
              <a:buChar char="○"/>
            </a:pPr>
            <a:r>
              <a:rPr lang="en-GB"/>
              <a:t>Nếu đường dẫn dài và thông điệp được gửi thường xuyên, thì cân nhắc rút ngắn đường truyền thông điệp.</a:t>
            </a:r>
            <a:endParaRPr/>
          </a:p>
          <a:p>
            <a:pPr indent="-342900" lvl="2" marL="1371600" rtl="0" algn="l">
              <a:spcBef>
                <a:spcPts val="0"/>
              </a:spcBef>
              <a:spcAft>
                <a:spcPts val="0"/>
              </a:spcAft>
              <a:buSzPts val="1800"/>
              <a:buChar char="■"/>
            </a:pPr>
            <a:r>
              <a:rPr lang="en-GB"/>
              <a:t>Có thể bổ xung thuộc tính vào đối tượng gửi thông điệp để có thể truy cập trực tiếp.</a:t>
            </a:r>
            <a:endParaRPr/>
          </a:p>
        </p:txBody>
      </p:sp>
      <p:sp>
        <p:nvSpPr>
          <p:cNvPr id="202" name="Google Shape;202;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Tối ưu hóa thiết kế: </a:t>
            </a:r>
            <a:r>
              <a:rPr lang="en-GB"/>
              <a:t>Thuộc tính</a:t>
            </a:r>
            <a:endParaRPr/>
          </a:p>
        </p:txBody>
      </p:sp>
      <p:sp>
        <p:nvSpPr>
          <p:cNvPr id="208" name="Google Shape;208;p29"/>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Xác định những phương thức sử dụng thuộc tính và những đối tượng sử dụng phương thức.</a:t>
            </a:r>
            <a:endParaRPr/>
          </a:p>
          <a:p>
            <a:pPr indent="-381000" lvl="0" marL="457200" rtl="0" algn="l">
              <a:spcBef>
                <a:spcPts val="0"/>
              </a:spcBef>
              <a:spcAft>
                <a:spcPts val="0"/>
              </a:spcAft>
              <a:buSzPts val="2400"/>
              <a:buChar char="●"/>
            </a:pPr>
            <a:r>
              <a:rPr lang="en-GB"/>
              <a:t>Nếu chỉ có phương thức đọc và cập nhật sử dụng </a:t>
            </a:r>
            <a:r>
              <a:rPr lang="en-GB"/>
              <a:t>thuộc tính</a:t>
            </a:r>
            <a:r>
              <a:rPr lang="en-GB"/>
              <a:t>, và chỉ có đối tượng thuộc 1 lớp gửi thông điệp đọc và cập nhật đối tượng</a:t>
            </a:r>
            <a:endParaRPr/>
          </a:p>
          <a:p>
            <a:pPr indent="-368300" lvl="1" marL="914400" rtl="0" algn="l">
              <a:spcBef>
                <a:spcPts val="0"/>
              </a:spcBef>
              <a:spcAft>
                <a:spcPts val="0"/>
              </a:spcAft>
              <a:buSzPts val="2200"/>
              <a:buChar char="○"/>
            </a:pPr>
            <a:r>
              <a:rPr lang="en-GB"/>
              <a:t>Thuộc tính đó có thể thuộc về lớp gọi thay vì lớp được gọi</a:t>
            </a:r>
            <a:endParaRPr/>
          </a:p>
          <a:p>
            <a:pPr indent="-368300" lvl="1" marL="914400" rtl="0" algn="l">
              <a:spcBef>
                <a:spcPts val="0"/>
              </a:spcBef>
              <a:spcAft>
                <a:spcPts val="0"/>
              </a:spcAft>
              <a:buSzPts val="2200"/>
              <a:buChar char="○"/>
            </a:pPr>
            <a:r>
              <a:rPr lang="en-GB"/>
              <a:t>Chuyển thuộc tính sang lớp gọi có thể giúp hệ thống hoạt động nhanh hơn.</a:t>
            </a:r>
            <a:endParaRPr/>
          </a:p>
        </p:txBody>
      </p:sp>
      <p:sp>
        <p:nvSpPr>
          <p:cNvPr id="209" name="Google Shape;209;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Tối ưu hóa thiết kế: Luồng ra</a:t>
            </a:r>
            <a:endParaRPr/>
          </a:p>
        </p:txBody>
      </p:sp>
      <p:sp>
        <p:nvSpPr>
          <p:cNvPr id="215" name="Google Shape;215;p30"/>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Luồng ra bao gồm các thông điệp được gửi trực tiếp và gián tiếp trong thời gian thực hiện phương thức</a:t>
            </a:r>
            <a:endParaRPr/>
          </a:p>
          <a:p>
            <a:pPr indent="-368300" lvl="1" marL="914400" rtl="0" algn="l">
              <a:spcBef>
                <a:spcPts val="0"/>
              </a:spcBef>
              <a:spcAft>
                <a:spcPts val="0"/>
              </a:spcAft>
              <a:buSzPts val="2200"/>
              <a:buChar char="○"/>
            </a:pPr>
            <a:r>
              <a:rPr lang="en-GB"/>
              <a:t>Thông điệp trực tiếp được gửi bởi chính phương thức đó</a:t>
            </a:r>
            <a:endParaRPr/>
          </a:p>
          <a:p>
            <a:pPr indent="-368300" lvl="1" marL="914400" rtl="0" algn="l">
              <a:spcBef>
                <a:spcPts val="0"/>
              </a:spcBef>
              <a:spcAft>
                <a:spcPts val="0"/>
              </a:spcAft>
              <a:buSzPts val="2200"/>
              <a:buChar char="○"/>
            </a:pPr>
            <a:r>
              <a:rPr lang="en-GB"/>
              <a:t>Thông điệp gián tiếp được gửi bởi phương thức được gọi trong khi thực hiện phương thức đó</a:t>
            </a:r>
            <a:endParaRPr/>
          </a:p>
          <a:p>
            <a:pPr indent="-381000" lvl="0" marL="457200" rtl="0" algn="l">
              <a:spcBef>
                <a:spcPts val="0"/>
              </a:spcBef>
              <a:spcAft>
                <a:spcPts val="0"/>
              </a:spcAft>
              <a:buSzPts val="2400"/>
              <a:buChar char="●"/>
            </a:pPr>
            <a:r>
              <a:rPr lang="en-GB"/>
              <a:t>Nếu kích thước luồng ra quá lớn so với các phương thức khác trong hệ thống, thì phương thức đó có thể cần được điều chỉnh.</a:t>
            </a:r>
            <a:endParaRPr/>
          </a:p>
        </p:txBody>
      </p:sp>
      <p:sp>
        <p:nvSpPr>
          <p:cNvPr id="216" name="Google Shape;216;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Tối ưu hóa thiết kế: Thứ tự thực hiện</a:t>
            </a:r>
            <a:endParaRPr/>
          </a:p>
        </p:txBody>
      </p:sp>
      <p:sp>
        <p:nvSpPr>
          <p:cNvPr id="222" name="Google Shape;222;p31"/>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Kiểm tra thứ tự thực hiện các lệnh trong phương thức được sử dụng thường xuyên</a:t>
            </a:r>
            <a:endParaRPr/>
          </a:p>
          <a:p>
            <a:pPr indent="-368300" lvl="1" marL="914400" rtl="0" algn="just">
              <a:spcBef>
                <a:spcPts val="0"/>
              </a:spcBef>
              <a:spcAft>
                <a:spcPts val="0"/>
              </a:spcAft>
              <a:buSzPts val="2200"/>
              <a:buChar char="○"/>
            </a:pPr>
            <a:r>
              <a:rPr lang="en-GB"/>
              <a:t>Có những trường hợp có thể sắp xếp lại các câu lệnh để đạt được hiệu quả cao hơn.</a:t>
            </a:r>
            <a:endParaRPr/>
          </a:p>
          <a:p>
            <a:pPr indent="-368300" lvl="1" marL="914400" rtl="0" algn="just">
              <a:spcBef>
                <a:spcPts val="0"/>
              </a:spcBef>
              <a:spcAft>
                <a:spcPts val="0"/>
              </a:spcAft>
              <a:buSzPts val="2200"/>
              <a:buChar char="○"/>
            </a:pPr>
            <a:r>
              <a:rPr lang="en-GB"/>
              <a:t>Ví dụ: Giả định kịch bản tìm kiếm, trong đó phạm vi tìm kiếm được thu hẹp sau khi tìm kiếm theo 1 thuộc tính.</a:t>
            </a:r>
            <a:endParaRPr/>
          </a:p>
          <a:p>
            <a:pPr indent="-342900" lvl="2" marL="1371600" rtl="0" algn="just">
              <a:spcBef>
                <a:spcPts val="0"/>
              </a:spcBef>
              <a:spcAft>
                <a:spcPts val="0"/>
              </a:spcAft>
              <a:buSzPts val="1800"/>
              <a:buChar char="■"/>
            </a:pPr>
            <a:r>
              <a:rPr lang="en-GB"/>
              <a:t>Có thể tìm cách tối ưu hóa xử lý theo 1 thứ tự thuộc tính tối ưu.</a:t>
            </a:r>
            <a:endParaRPr/>
          </a:p>
          <a:p>
            <a:pPr indent="-342900" lvl="2" marL="1371600" rtl="0" algn="just">
              <a:spcBef>
                <a:spcPts val="0"/>
              </a:spcBef>
              <a:spcAft>
                <a:spcPts val="0"/>
              </a:spcAft>
              <a:buSzPts val="1800"/>
              <a:buChar char="■"/>
            </a:pPr>
            <a:r>
              <a:rPr lang="en-GB"/>
              <a:t>A ∩ B ∩ C  vs. A ∩ C ∩ B</a:t>
            </a:r>
            <a:endParaRPr/>
          </a:p>
        </p:txBody>
      </p:sp>
      <p:sp>
        <p:nvSpPr>
          <p:cNvPr id="223" name="Google Shape;223;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Tối ưu hóa thiết kế: Sử dụng bộ nhớ đệm</a:t>
            </a:r>
            <a:endParaRPr/>
          </a:p>
        </p:txBody>
      </p:sp>
      <p:sp>
        <p:nvSpPr>
          <p:cNvPr id="229" name="Google Shape;229;p32"/>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Tránh tính toán lại thuộc tính suy diễn: </a:t>
            </a:r>
            <a:endParaRPr/>
          </a:p>
          <a:p>
            <a:pPr indent="-368300" lvl="1" marL="914400" rtl="0" algn="l">
              <a:spcBef>
                <a:spcPts val="0"/>
              </a:spcBef>
              <a:spcAft>
                <a:spcPts val="0"/>
              </a:spcAft>
              <a:buSzPts val="2200"/>
              <a:buChar char="○"/>
            </a:pPr>
            <a:r>
              <a:rPr lang="en-GB"/>
              <a:t>Ví dụ tạo thuộc tính tổng/total để lưu tổng giá trị đơn hàng.</a:t>
            </a:r>
            <a:endParaRPr/>
          </a:p>
          <a:p>
            <a:pPr indent="-368300" lvl="1" marL="914400" rtl="0" algn="l">
              <a:spcBef>
                <a:spcPts val="0"/>
              </a:spcBef>
              <a:spcAft>
                <a:spcPts val="0"/>
              </a:spcAft>
              <a:buSzPts val="2200"/>
              <a:buChar char="○"/>
            </a:pPr>
            <a:r>
              <a:rPr lang="en-GB"/>
              <a:t>Thiết lập cơ chế kích hoạt tiến trình tính toán.</a:t>
            </a:r>
            <a:endParaRPr/>
          </a:p>
          <a:p>
            <a:pPr indent="-368300" lvl="1" marL="914400" rtl="0" algn="l">
              <a:spcBef>
                <a:spcPts val="0"/>
              </a:spcBef>
              <a:spcAft>
                <a:spcPts val="0"/>
              </a:spcAft>
              <a:buSzPts val="2200"/>
              <a:buChar char="○"/>
            </a:pPr>
            <a:r>
              <a:rPr lang="en-GB"/>
              <a:t>Chỉ tính lại giá trị của thuộc tính suy diễn khi thay đổi các thuộc tính thành phần được sử dụng trong tính toán.</a:t>
            </a:r>
            <a:endParaRPr/>
          </a:p>
        </p:txBody>
      </p:sp>
      <p:sp>
        <p:nvSpPr>
          <p:cNvPr id="230" name="Google Shape;230;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Ánh xạ các lớp lĩnh vực ứng dụng</a:t>
            </a:r>
            <a:endParaRPr/>
          </a:p>
        </p:txBody>
      </p:sp>
      <p:sp>
        <p:nvSpPr>
          <p:cNvPr id="236" name="Google Shape;236;p33"/>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Tái cấu trúc các thành phần đa kế thừa nếu ngôn ngữ chỉ hỗ trợ đơn kế thừa.</a:t>
            </a:r>
            <a:endParaRPr/>
          </a:p>
          <a:p>
            <a:pPr indent="-381000" lvl="0" marL="457200" rtl="0" algn="just">
              <a:spcBef>
                <a:spcPts val="0"/>
              </a:spcBef>
              <a:spcAft>
                <a:spcPts val="0"/>
              </a:spcAft>
              <a:buSzPts val="2400"/>
              <a:buChar char="●"/>
            </a:pPr>
            <a:r>
              <a:rPr lang="en-GB"/>
              <a:t>Tái cấu trúc các thành phần kế thừa nếu ngôn ngữ không hỗ trợ kế thừa.</a:t>
            </a:r>
            <a:endParaRPr/>
          </a:p>
          <a:p>
            <a:pPr indent="-381000" lvl="0" marL="457200" rtl="0" algn="just">
              <a:spcBef>
                <a:spcPts val="0"/>
              </a:spcBef>
              <a:spcAft>
                <a:spcPts val="0"/>
              </a:spcAft>
              <a:buSzPts val="2400"/>
              <a:buChar char="●"/>
            </a:pPr>
            <a:r>
              <a:rPr lang="en-GB"/>
              <a:t>Tránh triển khai 1 thiết kế hướng đối tượng với 1 ngôn ngữ lập trình không hỗ trợ lập trình hướng đối tượng.</a:t>
            </a:r>
            <a:endParaRPr/>
          </a:p>
        </p:txBody>
      </p:sp>
      <p:sp>
        <p:nvSpPr>
          <p:cNvPr id="237" name="Google Shape;237;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ràng buộc và các hợp đồng</a:t>
            </a:r>
            <a:endParaRPr/>
          </a:p>
        </p:txBody>
      </p:sp>
      <p:sp>
        <p:nvSpPr>
          <p:cNvPr id="243" name="Google Shape;243;p34"/>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Hợp đồng bao gồm 1 tập ràng buộc/constraints và các đảm bảo / guarantees</a:t>
            </a:r>
            <a:endParaRPr/>
          </a:p>
          <a:p>
            <a:pPr indent="-368300" lvl="1" marL="914400" rtl="0" algn="l">
              <a:spcBef>
                <a:spcPts val="0"/>
              </a:spcBef>
              <a:spcAft>
                <a:spcPts val="0"/>
              </a:spcAft>
              <a:buSzPts val="2200"/>
              <a:buChar char="○"/>
            </a:pPr>
            <a:r>
              <a:rPr lang="en-GB"/>
              <a:t>Nếu đối tượng gửi (client) đáp ứng các ràng buộc, thì đối tượng cung cấp dịch vụ (server) đảm bảo hành vi mong đợi </a:t>
            </a:r>
            <a:endParaRPr/>
          </a:p>
          <a:p>
            <a:pPr indent="-381000" lvl="0" marL="457200" rtl="0" algn="l">
              <a:spcBef>
                <a:spcPts val="0"/>
              </a:spcBef>
              <a:spcAft>
                <a:spcPts val="0"/>
              </a:spcAft>
              <a:buSzPts val="2400"/>
              <a:buChar char="●"/>
            </a:pPr>
            <a:r>
              <a:rPr lang="en-GB"/>
              <a:t>Hợp đồng mô tả thông điệp được gửi giữa các đối tượng</a:t>
            </a:r>
            <a:endParaRPr/>
          </a:p>
          <a:p>
            <a:pPr indent="-368300" lvl="1" marL="914400" rtl="0" algn="l">
              <a:spcBef>
                <a:spcPts val="0"/>
              </a:spcBef>
              <a:spcAft>
                <a:spcPts val="0"/>
              </a:spcAft>
              <a:buSzPts val="2200"/>
              <a:buChar char="○"/>
            </a:pPr>
            <a:r>
              <a:rPr lang="en-GB"/>
              <a:t>Được tạo cho các phương thức công khai của lớp.</a:t>
            </a:r>
            <a:endParaRPr/>
          </a:p>
          <a:p>
            <a:pPr indent="-368300" lvl="1" marL="914400" rtl="0" algn="l">
              <a:spcBef>
                <a:spcPts val="0"/>
              </a:spcBef>
              <a:spcAft>
                <a:spcPts val="0"/>
              </a:spcAft>
              <a:buSzPts val="2200"/>
              <a:buChar char="○"/>
            </a:pPr>
            <a:r>
              <a:rPr lang="en-GB"/>
              <a:t>Cần chứa đủ thông tin để người lập trình có thể hiểu hành vi mong đợi của phương thức.</a:t>
            </a:r>
            <a:endParaRPr/>
          </a:p>
          <a:p>
            <a:pPr indent="-381000" lvl="0" marL="457200" rtl="0" algn="l">
              <a:spcBef>
                <a:spcPts val="0"/>
              </a:spcBef>
              <a:spcAft>
                <a:spcPts val="0"/>
              </a:spcAft>
              <a:buSzPts val="2400"/>
              <a:buChar char="●"/>
            </a:pPr>
            <a:r>
              <a:rPr lang="en-GB"/>
              <a:t>Các loại ràng buộc:</a:t>
            </a:r>
            <a:endParaRPr/>
          </a:p>
          <a:p>
            <a:pPr indent="-368300" lvl="1" marL="914400" rtl="0" algn="l">
              <a:spcBef>
                <a:spcPts val="0"/>
              </a:spcBef>
              <a:spcAft>
                <a:spcPts val="0"/>
              </a:spcAft>
              <a:buSzPts val="2200"/>
              <a:buChar char="○"/>
            </a:pPr>
            <a:r>
              <a:rPr lang="en-GB"/>
              <a:t>Tiền điều kiện - Phải đúng trước khi phương thức được thực hiện</a:t>
            </a:r>
            <a:endParaRPr/>
          </a:p>
          <a:p>
            <a:pPr indent="-368300" lvl="1" marL="914400" rtl="0" algn="l">
              <a:spcBef>
                <a:spcPts val="0"/>
              </a:spcBef>
              <a:spcAft>
                <a:spcPts val="0"/>
              </a:spcAft>
              <a:buSzPts val="2200"/>
              <a:buChar char="○"/>
            </a:pPr>
            <a:r>
              <a:rPr lang="en-GB"/>
              <a:t>Hậu điều kiện - Phải đúng sau khi phương thức kết thúc</a:t>
            </a:r>
            <a:endParaRPr/>
          </a:p>
          <a:p>
            <a:pPr indent="-368300" lvl="1" marL="914400" rtl="0" algn="l">
              <a:spcBef>
                <a:spcPts val="0"/>
              </a:spcBef>
              <a:spcAft>
                <a:spcPts val="0"/>
              </a:spcAft>
              <a:buSzPts val="2200"/>
              <a:buChar char="○"/>
            </a:pPr>
            <a:r>
              <a:rPr lang="en-GB"/>
              <a:t>Bất biến - Phải luôn đúng đối với tất tất cả các đối tượng.</a:t>
            </a:r>
            <a:endParaRPr/>
          </a:p>
        </p:txBody>
      </p:sp>
      <p:sp>
        <p:nvSpPr>
          <p:cNvPr id="244" name="Google Shape;244;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5"/>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mẫu hợp đồng thông điệp</a:t>
            </a:r>
            <a:endParaRPr/>
          </a:p>
        </p:txBody>
      </p:sp>
      <p:sp>
        <p:nvSpPr>
          <p:cNvPr id="250" name="Google Shape;250;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51" name="Google Shape;251;p35"/>
          <p:cNvGraphicFramePr/>
          <p:nvPr/>
        </p:nvGraphicFramePr>
        <p:xfrm>
          <a:off x="959200" y="1399850"/>
          <a:ext cx="3000000" cy="3000000"/>
        </p:xfrm>
        <a:graphic>
          <a:graphicData uri="http://schemas.openxmlformats.org/drawingml/2006/table">
            <a:tbl>
              <a:tblPr bandCol="1" bandRow="1">
                <a:noFill/>
                <a:tableStyleId>{B95134A9-585F-4BF3-AC60-46676E0FDF13}</a:tableStyleId>
              </a:tblPr>
              <a:tblGrid>
                <a:gridCol w="2708700"/>
                <a:gridCol w="2303475"/>
                <a:gridCol w="1407675"/>
              </a:tblGrid>
              <a:tr h="205100">
                <a:tc>
                  <a:txBody>
                    <a:bodyPr/>
                    <a:lstStyle/>
                    <a:p>
                      <a:pPr indent="0" lvl="0" marL="0" rtl="0" algn="l">
                        <a:lnSpc>
                          <a:spcPct val="115000"/>
                        </a:lnSpc>
                        <a:spcBef>
                          <a:spcPts val="0"/>
                        </a:spcBef>
                        <a:spcAft>
                          <a:spcPts val="0"/>
                        </a:spcAft>
                        <a:buNone/>
                      </a:pPr>
                      <a:r>
                        <a:rPr lang="en-GB" sz="1800"/>
                        <a:t>Tên phương thức:	</a:t>
                      </a:r>
                      <a:endParaRPr sz="1800"/>
                    </a:p>
                  </a:txBody>
                  <a:tcPr marT="0" marB="0" marR="73025" marL="73025"/>
                </a:tc>
                <a:tc>
                  <a:txBody>
                    <a:bodyPr/>
                    <a:lstStyle/>
                    <a:p>
                      <a:pPr indent="0" lvl="0" marL="0" rtl="0" algn="l">
                        <a:lnSpc>
                          <a:spcPct val="115000"/>
                        </a:lnSpc>
                        <a:spcBef>
                          <a:spcPts val="0"/>
                        </a:spcBef>
                        <a:spcAft>
                          <a:spcPts val="0"/>
                        </a:spcAft>
                        <a:buNone/>
                      </a:pPr>
                      <a:r>
                        <a:rPr lang="en-GB" sz="1800"/>
                        <a:t>Tên lớp: 	</a:t>
                      </a:r>
                      <a:endParaRPr sz="1800"/>
                    </a:p>
                  </a:txBody>
                  <a:tcPr marT="0" marB="0" marR="73025" marL="73025"/>
                </a:tc>
                <a:tc>
                  <a:txBody>
                    <a:bodyPr/>
                    <a:lstStyle/>
                    <a:p>
                      <a:pPr indent="0" lvl="0" marL="0" rtl="0" algn="l">
                        <a:spcBef>
                          <a:spcPts val="0"/>
                        </a:spcBef>
                        <a:spcAft>
                          <a:spcPts val="0"/>
                        </a:spcAft>
                        <a:buNone/>
                      </a:pPr>
                      <a:r>
                        <a:rPr lang="en-GB" sz="1800"/>
                        <a:t>Mã số:	</a:t>
                      </a:r>
                      <a:endParaRPr sz="1800"/>
                    </a:p>
                  </a:txBody>
                  <a:tcPr marT="0" marB="0" marR="73025" marL="73025"/>
                </a:tc>
              </a:tr>
              <a:tr h="273675">
                <a:tc gridSpan="3">
                  <a:txBody>
                    <a:bodyPr/>
                    <a:lstStyle/>
                    <a:p>
                      <a:pPr indent="-1379220" lvl="0" marL="1379220" rtl="0" algn="l">
                        <a:lnSpc>
                          <a:spcPct val="115000"/>
                        </a:lnSpc>
                        <a:spcBef>
                          <a:spcPts val="0"/>
                        </a:spcBef>
                        <a:spcAft>
                          <a:spcPts val="0"/>
                        </a:spcAft>
                        <a:buNone/>
                      </a:pPr>
                      <a:r>
                        <a:rPr lang="en-GB" sz="1800"/>
                        <a:t>Mã khách:	</a:t>
                      </a:r>
                      <a:endParaRPr sz="1800"/>
                    </a:p>
                  </a:txBody>
                  <a:tcPr marT="0" marB="0" marR="73025" marL="73025"/>
                </a:tc>
                <a:tc hMerge="1"/>
                <a:tc hMerge="1"/>
              </a:tr>
              <a:tr h="450850">
                <a:tc gridSpan="3">
                  <a:txBody>
                    <a:bodyPr/>
                    <a:lstStyle/>
                    <a:p>
                      <a:pPr indent="-1379220" lvl="0" marL="1379220" rtl="0" algn="l">
                        <a:lnSpc>
                          <a:spcPct val="115000"/>
                        </a:lnSpc>
                        <a:spcBef>
                          <a:spcPts val="0"/>
                        </a:spcBef>
                        <a:spcAft>
                          <a:spcPts val="0"/>
                        </a:spcAft>
                        <a:buNone/>
                      </a:pPr>
                      <a:r>
                        <a:rPr lang="en-GB" sz="1800"/>
                        <a:t>Ca sử dụng liên quan:	</a:t>
                      </a:r>
                      <a:endParaRPr sz="1800"/>
                    </a:p>
                  </a:txBody>
                  <a:tcPr marT="0" marB="0" marR="73025" marL="73025"/>
                </a:tc>
                <a:tc hMerge="1"/>
                <a:tc hMerge="1"/>
              </a:tr>
              <a:tr h="862325">
                <a:tc gridSpan="3">
                  <a:txBody>
                    <a:bodyPr/>
                    <a:lstStyle/>
                    <a:p>
                      <a:pPr indent="0" lvl="0" marL="0" rtl="0" algn="l">
                        <a:lnSpc>
                          <a:spcPct val="115000"/>
                        </a:lnSpc>
                        <a:spcBef>
                          <a:spcPts val="0"/>
                        </a:spcBef>
                        <a:spcAft>
                          <a:spcPts val="0"/>
                        </a:spcAft>
                        <a:buNone/>
                      </a:pPr>
                      <a:r>
                        <a:rPr lang="en-GB" sz="1800"/>
                        <a:t>Mô tả các trách nhiệm: 	</a:t>
                      </a:r>
                      <a:endParaRPr sz="1800"/>
                    </a:p>
                    <a:p>
                      <a:pPr indent="0" lvl="0" marL="0" rtl="0" algn="l">
                        <a:lnSpc>
                          <a:spcPct val="115000"/>
                        </a:lnSpc>
                        <a:spcBef>
                          <a:spcPts val="0"/>
                        </a:spcBef>
                        <a:spcAft>
                          <a:spcPts val="0"/>
                        </a:spcAft>
                        <a:buNone/>
                      </a:pPr>
                      <a:r>
                        <a:t/>
                      </a:r>
                      <a:endParaRPr sz="1800"/>
                    </a:p>
                  </a:txBody>
                  <a:tcPr marT="0" marB="0" marR="73025" marL="73025"/>
                </a:tc>
                <a:tc hMerge="1"/>
                <a:tc hMerge="1"/>
              </a:tr>
              <a:tr h="856625">
                <a:tc gridSpan="3">
                  <a:txBody>
                    <a:bodyPr/>
                    <a:lstStyle/>
                    <a:p>
                      <a:pPr indent="0" lvl="0" marL="0" rtl="0" algn="l">
                        <a:lnSpc>
                          <a:spcPct val="115000"/>
                        </a:lnSpc>
                        <a:spcBef>
                          <a:spcPts val="0"/>
                        </a:spcBef>
                        <a:spcAft>
                          <a:spcPts val="0"/>
                        </a:spcAft>
                        <a:buNone/>
                      </a:pPr>
                      <a:r>
                        <a:rPr lang="en-GB" sz="1800"/>
                        <a:t>Các tham số nhận được:</a:t>
                      </a:r>
                      <a:endParaRPr sz="1800"/>
                    </a:p>
                    <a:p>
                      <a:pPr indent="-1371600" lvl="0" marL="1371600" rtl="0" algn="l">
                        <a:lnSpc>
                          <a:spcPct val="115000"/>
                        </a:lnSpc>
                        <a:spcBef>
                          <a:spcPts val="0"/>
                        </a:spcBef>
                        <a:spcAft>
                          <a:spcPts val="0"/>
                        </a:spcAft>
                        <a:buNone/>
                      </a:pPr>
                      <a:r>
                        <a:t/>
                      </a:r>
                      <a:endParaRPr sz="1800"/>
                    </a:p>
                  </a:txBody>
                  <a:tcPr marT="0" marB="0" marR="73025" marL="73025"/>
                </a:tc>
                <a:tc hMerge="1"/>
                <a:tc hMerge="1"/>
              </a:tr>
              <a:tr h="456575">
                <a:tc gridSpan="3">
                  <a:txBody>
                    <a:bodyPr/>
                    <a:lstStyle/>
                    <a:p>
                      <a:pPr indent="-1379220" lvl="0" marL="1379220" rtl="0" algn="l">
                        <a:lnSpc>
                          <a:spcPct val="115000"/>
                        </a:lnSpc>
                        <a:spcBef>
                          <a:spcPts val="0"/>
                        </a:spcBef>
                        <a:spcAft>
                          <a:spcPts val="0"/>
                        </a:spcAft>
                        <a:buNone/>
                      </a:pPr>
                      <a:r>
                        <a:rPr lang="en-GB" sz="1800"/>
                        <a:t>Kiểu dữ liệu trả về:	</a:t>
                      </a:r>
                      <a:endParaRPr sz="1800"/>
                    </a:p>
                  </a:txBody>
                  <a:tcPr marT="0" marB="0" marR="73025" marL="73025"/>
                </a:tc>
                <a:tc hMerge="1"/>
                <a:tc hMerge="1"/>
              </a:tr>
              <a:tr h="668025">
                <a:tc gridSpan="3">
                  <a:txBody>
                    <a:bodyPr/>
                    <a:lstStyle/>
                    <a:p>
                      <a:pPr indent="-1379220" lvl="0" marL="1379220" rtl="0" algn="l">
                        <a:lnSpc>
                          <a:spcPct val="115000"/>
                        </a:lnSpc>
                        <a:spcBef>
                          <a:spcPts val="0"/>
                        </a:spcBef>
                        <a:spcAft>
                          <a:spcPts val="0"/>
                        </a:spcAft>
                        <a:buNone/>
                      </a:pPr>
                      <a:r>
                        <a:rPr lang="en-GB" sz="1800"/>
                        <a:t>Tiền điều kiện:</a:t>
                      </a:r>
                      <a:endParaRPr sz="1800"/>
                    </a:p>
                  </a:txBody>
                  <a:tcPr marT="0" marB="0" marR="73025" marL="73025"/>
                </a:tc>
                <a:tc hMerge="1"/>
                <a:tc hMerge="1"/>
              </a:tr>
              <a:tr h="1199525">
                <a:tc gridSpan="3">
                  <a:txBody>
                    <a:bodyPr/>
                    <a:lstStyle/>
                    <a:p>
                      <a:pPr indent="-1379220" lvl="0" marL="1379220" rtl="0" algn="l">
                        <a:lnSpc>
                          <a:spcPct val="115000"/>
                        </a:lnSpc>
                        <a:spcBef>
                          <a:spcPts val="0"/>
                        </a:spcBef>
                        <a:spcAft>
                          <a:spcPts val="0"/>
                        </a:spcAft>
                        <a:buNone/>
                      </a:pPr>
                      <a:r>
                        <a:rPr lang="en-GB" sz="1800"/>
                        <a:t>Hậu điều kiện:	</a:t>
                      </a:r>
                      <a:endParaRPr sz="1800"/>
                    </a:p>
                  </a:txBody>
                  <a:tcPr marT="0" marB="0" marR="73025" marL="73025"/>
                </a:tc>
                <a:tc hMerge="1"/>
                <a:tc hMerge="1"/>
              </a:tr>
            </a:tbl>
          </a:graphicData>
        </a:graphic>
      </p:graphicFrame>
      <p:sp>
        <p:nvSpPr>
          <p:cNvPr id="252" name="Google Shape;252;p35"/>
          <p:cNvSpPr txBox="1"/>
          <p:nvPr/>
        </p:nvSpPr>
        <p:spPr>
          <a:xfrm>
            <a:off x="422700" y="793625"/>
            <a:ext cx="80499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434343"/>
                </a:solidFill>
              </a:rPr>
              <a:t>(Phi chuẩn, đ</a:t>
            </a:r>
            <a:r>
              <a:rPr i="1" lang="en-GB" sz="2400">
                <a:solidFill>
                  <a:srgbClr val="434343"/>
                </a:solidFill>
              </a:rPr>
              <a:t>ặc tả thông điệp)</a:t>
            </a:r>
            <a:endParaRPr i="1" sz="2400">
              <a:solidFill>
                <a:srgbClr val="434343"/>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58" name="Google Shape;258;p3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Đặc tả phương thức</a:t>
            </a:r>
            <a:endParaRPr/>
          </a:p>
        </p:txBody>
      </p:sp>
      <p:sp>
        <p:nvSpPr>
          <p:cNvPr id="259" name="Google Shape;259;p36"/>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 tả các chi tiết của mỗi phương thức</a:t>
            </a:r>
            <a:endParaRPr/>
          </a:p>
          <a:p>
            <a:pPr indent="-368300" lvl="1" marL="914400" rtl="0" algn="l">
              <a:spcBef>
                <a:spcPts val="0"/>
              </a:spcBef>
              <a:spcAft>
                <a:spcPts val="0"/>
              </a:spcAft>
              <a:buSzPts val="2200"/>
              <a:buChar char="○"/>
            </a:pPr>
            <a:r>
              <a:rPr lang="en-GB"/>
              <a:t>Để người lập trình viết mã nguồn </a:t>
            </a:r>
            <a:endParaRPr/>
          </a:p>
          <a:p>
            <a:pPr indent="-368300" lvl="1" marL="914400" rtl="0" algn="l">
              <a:spcBef>
                <a:spcPts val="0"/>
              </a:spcBef>
              <a:spcAft>
                <a:spcPts val="0"/>
              </a:spcAft>
              <a:buSzPts val="2200"/>
              <a:buChar char="○"/>
            </a:pPr>
            <a:r>
              <a:rPr i="1" lang="en-GB"/>
              <a:t>(đây là tài liệu thiết kế rất gần triển khai)</a:t>
            </a:r>
            <a:endParaRPr i="1"/>
          </a:p>
          <a:p>
            <a:pPr indent="-381000" lvl="0" marL="457200" rtl="0" algn="l">
              <a:spcBef>
                <a:spcPts val="0"/>
              </a:spcBef>
              <a:spcAft>
                <a:spcPts val="0"/>
              </a:spcAft>
              <a:buSzPts val="2400"/>
              <a:buChar char="●"/>
            </a:pPr>
            <a:r>
              <a:rPr lang="en-GB"/>
              <a:t>Không có quy chuẩn, tuy nhiên có thể bao gồm các mục:</a:t>
            </a:r>
            <a:endParaRPr/>
          </a:p>
          <a:p>
            <a:pPr indent="-368300" lvl="1" marL="914400" rtl="0" algn="l">
              <a:spcBef>
                <a:spcPts val="0"/>
              </a:spcBef>
              <a:spcAft>
                <a:spcPts val="0"/>
              </a:spcAft>
              <a:buSzPts val="2200"/>
              <a:buChar char="○"/>
            </a:pPr>
            <a:r>
              <a:rPr lang="en-GB"/>
              <a:t>Thông tin tổng quan (Tên phương thức, tên lớp, v.v…</a:t>
            </a:r>
            <a:r>
              <a:rPr lang="en-GB"/>
              <a:t>)</a:t>
            </a:r>
            <a:endParaRPr/>
          </a:p>
          <a:p>
            <a:pPr indent="-368300" lvl="1" marL="914400" rtl="0" algn="l">
              <a:spcBef>
                <a:spcPts val="0"/>
              </a:spcBef>
              <a:spcAft>
                <a:spcPts val="0"/>
              </a:spcAft>
              <a:buSzPts val="2200"/>
              <a:buChar char="○"/>
            </a:pPr>
            <a:r>
              <a:rPr lang="en-GB"/>
              <a:t>Sự kiện - Kích hoạt phương thức (ví dụ khi nhấn chuột)</a:t>
            </a:r>
            <a:endParaRPr/>
          </a:p>
          <a:p>
            <a:pPr indent="-368300" lvl="1" marL="914400" rtl="0" algn="l">
              <a:spcBef>
                <a:spcPts val="0"/>
              </a:spcBef>
              <a:spcAft>
                <a:spcPts val="0"/>
              </a:spcAft>
              <a:buSzPts val="2200"/>
              <a:buChar char="○"/>
            </a:pPr>
            <a:r>
              <a:rPr lang="en-GB"/>
              <a:t>Cấu trúc thông điệp được truyền tới bao gồm cả các tham số và giá trị trả về</a:t>
            </a:r>
            <a:endParaRPr/>
          </a:p>
          <a:p>
            <a:pPr indent="-368300" lvl="1" marL="914400" rtl="0" algn="l">
              <a:spcBef>
                <a:spcPts val="0"/>
              </a:spcBef>
              <a:spcAft>
                <a:spcPts val="0"/>
              </a:spcAft>
              <a:buSzPts val="2200"/>
              <a:buChar char="○"/>
            </a:pPr>
            <a:r>
              <a:rPr lang="en-GB"/>
              <a:t>Đặc tả giải thuật</a:t>
            </a:r>
            <a:endParaRPr/>
          </a:p>
          <a:p>
            <a:pPr indent="-368300" lvl="1" marL="914400" rtl="0" algn="l">
              <a:spcBef>
                <a:spcPts val="0"/>
              </a:spcBef>
              <a:spcAft>
                <a:spcPts val="0"/>
              </a:spcAft>
              <a:buSzPts val="2200"/>
              <a:buChar char="○"/>
            </a:pPr>
            <a:r>
              <a:rPr lang="en-GB"/>
              <a:t>Các thông tin liên quan khác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7"/>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mẫu đặc tả phương thức</a:t>
            </a:r>
            <a:endParaRPr/>
          </a:p>
        </p:txBody>
      </p:sp>
      <p:sp>
        <p:nvSpPr>
          <p:cNvPr id="265" name="Google Shape;265;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66" name="Google Shape;266;p37"/>
          <p:cNvGraphicFramePr/>
          <p:nvPr/>
        </p:nvGraphicFramePr>
        <p:xfrm>
          <a:off x="838200" y="990600"/>
          <a:ext cx="3000000" cy="3000000"/>
        </p:xfrm>
        <a:graphic>
          <a:graphicData uri="http://schemas.openxmlformats.org/drawingml/2006/table">
            <a:tbl>
              <a:tblPr bandCol="1" bandRow="1">
                <a:noFill/>
                <a:tableStyleId>{B95134A9-585F-4BF3-AC60-46676E0FDF13}</a:tableStyleId>
              </a:tblPr>
              <a:tblGrid>
                <a:gridCol w="2703550"/>
                <a:gridCol w="2969075"/>
                <a:gridCol w="1593175"/>
              </a:tblGrid>
              <a:tr h="257625">
                <a:tc>
                  <a:txBody>
                    <a:bodyPr/>
                    <a:lstStyle/>
                    <a:p>
                      <a:pPr indent="0" lvl="0" marL="0" rtl="0" algn="l">
                        <a:lnSpc>
                          <a:spcPct val="115000"/>
                        </a:lnSpc>
                        <a:spcBef>
                          <a:spcPts val="0"/>
                        </a:spcBef>
                        <a:spcAft>
                          <a:spcPts val="0"/>
                        </a:spcAft>
                        <a:buNone/>
                      </a:pPr>
                      <a:r>
                        <a:rPr lang="en-GB" sz="1600"/>
                        <a:t>Tên phương thức:	</a:t>
                      </a:r>
                      <a:endParaRPr sz="1600"/>
                    </a:p>
                  </a:txBody>
                  <a:tcPr marT="0" marB="0" marR="68575" marL="68575">
                    <a:lnT cap="flat" cmpd="sng" w="6350">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n-GB" sz="1600"/>
                        <a:t>Tên lớp: 	</a:t>
                      </a:r>
                      <a:endParaRPr sz="1600"/>
                    </a:p>
                  </a:txBody>
                  <a:tcPr marT="0" marB="0" marR="68575" marL="68575">
                    <a:lnT cap="flat" cmpd="sng" w="6350">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n-GB" sz="1600"/>
                        <a:t>ID:   </a:t>
                      </a:r>
                      <a:endParaRPr sz="1600"/>
                    </a:p>
                  </a:txBody>
                  <a:tcPr marT="0" marB="0" marR="68575" marL="68575">
                    <a:lnT cap="flat" cmpd="sng" w="6350">
                      <a:solidFill>
                        <a:srgbClr val="000000"/>
                      </a:solidFill>
                      <a:prstDash val="solid"/>
                      <a:round/>
                      <a:headEnd len="sm" w="sm" type="none"/>
                      <a:tailEnd len="sm" w="sm" type="none"/>
                    </a:lnT>
                  </a:tcPr>
                </a:tc>
              </a:tr>
              <a:tr h="386400">
                <a:tc>
                  <a:txBody>
                    <a:bodyPr/>
                    <a:lstStyle/>
                    <a:p>
                      <a:pPr indent="0" lvl="0" marL="0" rtl="0" algn="l">
                        <a:lnSpc>
                          <a:spcPct val="115000"/>
                        </a:lnSpc>
                        <a:spcBef>
                          <a:spcPts val="0"/>
                        </a:spcBef>
                        <a:spcAft>
                          <a:spcPts val="0"/>
                        </a:spcAft>
                        <a:buNone/>
                      </a:pPr>
                      <a:r>
                        <a:rPr lang="en-GB" sz="1600"/>
                        <a:t>Mã thỏa thuận:	</a:t>
                      </a:r>
                      <a:endParaRPr sz="1600"/>
                    </a:p>
                  </a:txBody>
                  <a:tcPr marT="0" marB="0" marR="68575" marL="68575"/>
                </a:tc>
                <a:tc>
                  <a:txBody>
                    <a:bodyPr/>
                    <a:lstStyle/>
                    <a:p>
                      <a:pPr indent="0" lvl="0" marL="0" rtl="0" algn="l">
                        <a:lnSpc>
                          <a:spcPct val="115000"/>
                        </a:lnSpc>
                        <a:spcBef>
                          <a:spcPts val="0"/>
                        </a:spcBef>
                        <a:spcAft>
                          <a:spcPts val="0"/>
                        </a:spcAft>
                        <a:buNone/>
                      </a:pPr>
                      <a:r>
                        <a:rPr lang="en-GB" sz="1600"/>
                        <a:t>Lập trình viên: 	</a:t>
                      </a:r>
                      <a:endParaRPr sz="1600"/>
                    </a:p>
                  </a:txBody>
                  <a:tcPr marT="0" marB="0" marR="68575" marL="68575"/>
                </a:tc>
                <a:tc>
                  <a:txBody>
                    <a:bodyPr/>
                    <a:lstStyle/>
                    <a:p>
                      <a:pPr indent="0" lvl="0" marL="0" rtl="0" algn="l">
                        <a:lnSpc>
                          <a:spcPct val="115000"/>
                        </a:lnSpc>
                        <a:spcBef>
                          <a:spcPts val="0"/>
                        </a:spcBef>
                        <a:spcAft>
                          <a:spcPts val="0"/>
                        </a:spcAft>
                        <a:buNone/>
                      </a:pPr>
                      <a:r>
                        <a:rPr lang="en-GB" sz="1600"/>
                        <a:t>Thời hạn:  </a:t>
                      </a:r>
                      <a:endParaRPr sz="1600"/>
                    </a:p>
                  </a:txBody>
                  <a:tcPr marT="0" marB="0" marR="68575" marL="68575"/>
                </a:tc>
              </a:tr>
              <a:tr h="515225">
                <a:tc gridSpan="3">
                  <a:txBody>
                    <a:bodyPr/>
                    <a:lstStyle/>
                    <a:p>
                      <a:pPr indent="0" lvl="0" marL="0" rtl="0" algn="l">
                        <a:lnSpc>
                          <a:spcPct val="115000"/>
                        </a:lnSpc>
                        <a:spcBef>
                          <a:spcPts val="0"/>
                        </a:spcBef>
                        <a:spcAft>
                          <a:spcPts val="0"/>
                        </a:spcAft>
                        <a:buNone/>
                      </a:pPr>
                      <a:r>
                        <a:rPr lang="en-GB" sz="1600"/>
                        <a:t>Ngôn ngữ lập trình:</a:t>
                      </a:r>
                      <a:endParaRPr sz="1600"/>
                    </a:p>
                    <a:p>
                      <a:pPr indent="-1379220" lvl="0" marL="1379220" rtl="0" algn="l">
                        <a:lnSpc>
                          <a:spcPct val="115000"/>
                        </a:lnSpc>
                        <a:spcBef>
                          <a:spcPts val="0"/>
                        </a:spcBef>
                        <a:spcAft>
                          <a:spcPts val="0"/>
                        </a:spcAft>
                        <a:buNone/>
                      </a:pPr>
                      <a:r>
                        <a:rPr lang="en-GB" sz="1600"/>
                        <a:t>      ☐ Visual Basic 		☐ Smalltalk		☐ C++		☐ Java</a:t>
                      </a:r>
                      <a:endParaRPr sz="1600"/>
                    </a:p>
                  </a:txBody>
                  <a:tcPr marT="0" marB="0" marR="68575" marL="68575"/>
                </a:tc>
                <a:tc hMerge="1"/>
                <a:tc hMerge="1"/>
              </a:tr>
              <a:tr h="444575">
                <a:tc gridSpan="3">
                  <a:txBody>
                    <a:bodyPr/>
                    <a:lstStyle/>
                    <a:p>
                      <a:pPr indent="-1379220" lvl="0" marL="1379220" rtl="0" algn="l">
                        <a:spcBef>
                          <a:spcPts val="0"/>
                        </a:spcBef>
                        <a:spcAft>
                          <a:spcPts val="0"/>
                        </a:spcAft>
                        <a:buNone/>
                      </a:pPr>
                      <a:r>
                        <a:rPr lang="en-GB" sz="1600"/>
                        <a:t>Kích hoạt/Sự kiện:</a:t>
                      </a:r>
                      <a:endParaRPr sz="1600"/>
                    </a:p>
                  </a:txBody>
                  <a:tcPr marT="0" marB="0" marR="68575" marL="68575"/>
                </a:tc>
                <a:tc hMerge="1"/>
                <a:tc hMerge="1"/>
              </a:tr>
            </a:tbl>
          </a:graphicData>
        </a:graphic>
      </p:graphicFrame>
      <p:graphicFrame>
        <p:nvGraphicFramePr>
          <p:cNvPr id="267" name="Google Shape;267;p37"/>
          <p:cNvGraphicFramePr/>
          <p:nvPr/>
        </p:nvGraphicFramePr>
        <p:xfrm>
          <a:off x="838200" y="2702250"/>
          <a:ext cx="3000000" cy="3000000"/>
        </p:xfrm>
        <a:graphic>
          <a:graphicData uri="http://schemas.openxmlformats.org/drawingml/2006/table">
            <a:tbl>
              <a:tblPr>
                <a:noFill/>
                <a:tableStyleId>{58772C72-16C3-4DF3-A9AC-A4513592E4A2}</a:tableStyleId>
              </a:tblPr>
              <a:tblGrid>
                <a:gridCol w="3878800"/>
                <a:gridCol w="3387000"/>
              </a:tblGrid>
              <a:tr h="12700">
                <a:tc>
                  <a:txBody>
                    <a:bodyPr/>
                    <a:lstStyle/>
                    <a:p>
                      <a:pPr indent="0" lvl="0" marL="0" rtl="0" algn="l">
                        <a:spcBef>
                          <a:spcPts val="0"/>
                        </a:spcBef>
                        <a:spcAft>
                          <a:spcPts val="0"/>
                        </a:spcAft>
                        <a:buNone/>
                      </a:pPr>
                      <a:r>
                        <a:rPr lang="en-GB" sz="1600"/>
                        <a:t>Các tham số nhận được: Kiểu dữ liệu:</a:t>
                      </a:r>
                      <a:endParaRPr sz="1600"/>
                    </a:p>
                  </a:txBody>
                  <a:tcPr marT="63500" marB="63500" marR="63500" marL="63500">
                    <a:solidFill>
                      <a:srgbClr val="F2F2F2"/>
                    </a:solidFill>
                  </a:tcPr>
                </a:tc>
                <a:tc>
                  <a:txBody>
                    <a:bodyPr/>
                    <a:lstStyle/>
                    <a:p>
                      <a:pPr indent="0" lvl="0" marL="0" rtl="0" algn="ctr">
                        <a:spcBef>
                          <a:spcPts val="0"/>
                        </a:spcBef>
                        <a:spcAft>
                          <a:spcPts val="0"/>
                        </a:spcAft>
                        <a:buNone/>
                      </a:pPr>
                      <a:r>
                        <a:rPr lang="en-GB" sz="1600"/>
                        <a:t>Ghi chú:</a:t>
                      </a:r>
                      <a:endParaRPr sz="1600"/>
                    </a:p>
                  </a:txBody>
                  <a:tcPr marT="63500" marB="63500" marR="63500" marL="63500">
                    <a:solidFill>
                      <a:srgbClr val="F2F2F2"/>
                    </a:solidFill>
                  </a:tcPr>
                </a:tc>
              </a:tr>
              <a:tr h="12700">
                <a:tc>
                  <a:txBody>
                    <a:bodyPr/>
                    <a:lstStyle/>
                    <a:p>
                      <a:pPr indent="0" lvl="0" marL="0" rtl="0" algn="l">
                        <a:spcBef>
                          <a:spcPts val="0"/>
                        </a:spcBef>
                        <a:spcAft>
                          <a:spcPts val="0"/>
                        </a:spcAft>
                        <a:buNone/>
                      </a:pPr>
                      <a:r>
                        <a:t/>
                      </a:r>
                      <a:endParaRPr sz="1600"/>
                    </a:p>
                  </a:txBody>
                  <a:tcPr marT="63500" marB="63500" marR="63500" marL="63500"/>
                </a:tc>
                <a:tc>
                  <a:txBody>
                    <a:bodyPr/>
                    <a:lstStyle/>
                    <a:p>
                      <a:pPr indent="0" lvl="0" marL="0" rtl="0" algn="l">
                        <a:spcBef>
                          <a:spcPts val="0"/>
                        </a:spcBef>
                        <a:spcAft>
                          <a:spcPts val="0"/>
                        </a:spcAft>
                        <a:buNone/>
                      </a:pPr>
                      <a:r>
                        <a:t/>
                      </a:r>
                      <a:endParaRPr sz="1600"/>
                    </a:p>
                  </a:txBody>
                  <a:tcPr marT="63500" marB="63500" marR="63500" marL="63500"/>
                </a:tc>
              </a:tr>
            </a:tbl>
          </a:graphicData>
        </a:graphic>
      </p:graphicFrame>
      <p:graphicFrame>
        <p:nvGraphicFramePr>
          <p:cNvPr id="268" name="Google Shape;268;p37"/>
          <p:cNvGraphicFramePr/>
          <p:nvPr/>
        </p:nvGraphicFramePr>
        <p:xfrm>
          <a:off x="842000" y="3524902"/>
          <a:ext cx="3000000" cy="3000000"/>
        </p:xfrm>
        <a:graphic>
          <a:graphicData uri="http://schemas.openxmlformats.org/drawingml/2006/table">
            <a:tbl>
              <a:tblPr bandCol="1" bandRow="1">
                <a:noFill/>
                <a:tableStyleId>{B95134A9-585F-4BF3-AC60-46676E0FDF13}</a:tableStyleId>
              </a:tblPr>
              <a:tblGrid>
                <a:gridCol w="2913500"/>
                <a:gridCol w="1739400"/>
                <a:gridCol w="2609100"/>
              </a:tblGrid>
              <a:tr h="553775">
                <a:tc>
                  <a:txBody>
                    <a:bodyPr/>
                    <a:lstStyle/>
                    <a:p>
                      <a:pPr indent="0" lvl="0" marL="0" rtl="0" algn="l">
                        <a:spcBef>
                          <a:spcPts val="0"/>
                        </a:spcBef>
                        <a:spcAft>
                          <a:spcPts val="0"/>
                        </a:spcAft>
                        <a:buNone/>
                      </a:pPr>
                      <a:r>
                        <a:rPr lang="en-GB" sz="1600"/>
                        <a:t>T</a:t>
                      </a:r>
                      <a:r>
                        <a:rPr lang="en-GB" sz="1600"/>
                        <a:t>hông điệp đã gửi &amp; tham số: TênLớp.TênPhươngThức</a:t>
                      </a:r>
                      <a:endParaRPr sz="1600"/>
                    </a:p>
                  </a:txBody>
                  <a:tcPr marT="0" marB="0" marR="68575" marL="68575">
                    <a:solidFill>
                      <a:srgbClr val="F2F2F2"/>
                    </a:solidFill>
                  </a:tcPr>
                </a:tc>
                <a:tc>
                  <a:txBody>
                    <a:bodyPr/>
                    <a:lstStyle/>
                    <a:p>
                      <a:pPr indent="0" lvl="0" marL="0" rtl="0" algn="ctr">
                        <a:spcBef>
                          <a:spcPts val="0"/>
                        </a:spcBef>
                        <a:spcAft>
                          <a:spcPts val="0"/>
                        </a:spcAft>
                        <a:buNone/>
                      </a:pPr>
                      <a:r>
                        <a:rPr lang="en-GB" sz="1600"/>
                        <a:t>Kiểu dữ liệu của tham số:</a:t>
                      </a:r>
                      <a:endParaRPr sz="1600"/>
                    </a:p>
                  </a:txBody>
                  <a:tcPr marT="0" marB="0" marR="68575" marL="68575">
                    <a:solidFill>
                      <a:srgbClr val="F2F2F2"/>
                    </a:solidFill>
                  </a:tcPr>
                </a:tc>
                <a:tc>
                  <a:txBody>
                    <a:bodyPr/>
                    <a:lstStyle/>
                    <a:p>
                      <a:pPr indent="0" lvl="0" marL="0" rtl="0" algn="ctr">
                        <a:spcBef>
                          <a:spcPts val="0"/>
                        </a:spcBef>
                        <a:spcAft>
                          <a:spcPts val="0"/>
                        </a:spcAft>
                        <a:buNone/>
                      </a:pPr>
                      <a:r>
                        <a:rPr lang="en-GB" sz="1600"/>
                        <a:t>Ghi chú:</a:t>
                      </a:r>
                      <a:endParaRPr sz="1600"/>
                    </a:p>
                  </a:txBody>
                  <a:tcPr marT="0" marB="0" marR="68575" marL="68575">
                    <a:solidFill>
                      <a:srgbClr val="F2F2F2"/>
                    </a:solidFill>
                  </a:tcPr>
                </a:tc>
              </a:tr>
              <a:tr h="12700">
                <a:tc rowSpan="3">
                  <a:txBody>
                    <a:bodyPr/>
                    <a:lstStyle/>
                    <a:p>
                      <a:pPr indent="0" lvl="0" marL="0" rtl="0" algn="l">
                        <a:spcBef>
                          <a:spcPts val="0"/>
                        </a:spcBef>
                        <a:spcAft>
                          <a:spcPts val="0"/>
                        </a:spcAft>
                        <a:buNone/>
                      </a:pPr>
                      <a:r>
                        <a:t/>
                      </a:r>
                      <a:endParaRPr sz="1600"/>
                    </a:p>
                  </a:txBody>
                  <a:tcPr marT="0" marB="0" marR="68575" marL="68575"/>
                </a:tc>
                <a:tc>
                  <a:txBody>
                    <a:bodyPr/>
                    <a:lstStyle/>
                    <a:p>
                      <a:pPr indent="0" lvl="0" marL="0" rtl="0" algn="ctr">
                        <a:spcBef>
                          <a:spcPts val="0"/>
                        </a:spcBef>
                        <a:spcAft>
                          <a:spcPts val="0"/>
                        </a:spcAft>
                        <a:buNone/>
                      </a:pPr>
                      <a:r>
                        <a:t/>
                      </a:r>
                      <a:endParaRPr sz="1600"/>
                    </a:p>
                  </a:txBody>
                  <a:tcPr marT="0" marB="0" marR="68575" marL="68575"/>
                </a:tc>
                <a:tc>
                  <a:txBody>
                    <a:bodyPr/>
                    <a:lstStyle/>
                    <a:p>
                      <a:pPr indent="0" lvl="0" marL="0" rtl="0" algn="ctr">
                        <a:spcBef>
                          <a:spcPts val="0"/>
                        </a:spcBef>
                        <a:spcAft>
                          <a:spcPts val="0"/>
                        </a:spcAft>
                        <a:buNone/>
                      </a:pPr>
                      <a:r>
                        <a:t/>
                      </a:r>
                      <a:endParaRPr sz="1600"/>
                    </a:p>
                  </a:txBody>
                  <a:tcPr marT="0" marB="0" marR="68575" marL="68575"/>
                </a:tc>
              </a:tr>
              <a:tr h="12700">
                <a:tc vMerge="1"/>
                <a:tc>
                  <a:txBody>
                    <a:bodyPr/>
                    <a:lstStyle/>
                    <a:p>
                      <a:pPr indent="0" lvl="0" marL="0" rtl="0" algn="ctr">
                        <a:spcBef>
                          <a:spcPts val="0"/>
                        </a:spcBef>
                        <a:spcAft>
                          <a:spcPts val="0"/>
                        </a:spcAft>
                        <a:buNone/>
                      </a:pPr>
                      <a:r>
                        <a:t/>
                      </a:r>
                      <a:endParaRPr sz="1600"/>
                    </a:p>
                  </a:txBody>
                  <a:tcPr marT="0" marB="0" marR="68575" marL="68575"/>
                </a:tc>
                <a:tc>
                  <a:txBody>
                    <a:bodyPr/>
                    <a:lstStyle/>
                    <a:p>
                      <a:pPr indent="0" lvl="0" marL="0" rtl="0" algn="ctr">
                        <a:spcBef>
                          <a:spcPts val="0"/>
                        </a:spcBef>
                        <a:spcAft>
                          <a:spcPts val="0"/>
                        </a:spcAft>
                        <a:buNone/>
                      </a:pPr>
                      <a:r>
                        <a:t/>
                      </a:r>
                      <a:endParaRPr sz="1600"/>
                    </a:p>
                  </a:txBody>
                  <a:tcPr marT="0" marB="0" marR="68575" marL="68575"/>
                </a:tc>
              </a:tr>
              <a:tr h="12700">
                <a:tc vMerge="1"/>
                <a:tc>
                  <a:txBody>
                    <a:bodyPr/>
                    <a:lstStyle/>
                    <a:p>
                      <a:pPr indent="0" lvl="0" marL="0" rtl="0" algn="ctr">
                        <a:spcBef>
                          <a:spcPts val="0"/>
                        </a:spcBef>
                        <a:spcAft>
                          <a:spcPts val="0"/>
                        </a:spcAft>
                        <a:buNone/>
                      </a:pPr>
                      <a:r>
                        <a:t/>
                      </a:r>
                      <a:endParaRPr sz="1600"/>
                    </a:p>
                  </a:txBody>
                  <a:tcPr marT="0" marB="0" marR="68575" marL="68575"/>
                </a:tc>
                <a:tc>
                  <a:txBody>
                    <a:bodyPr/>
                    <a:lstStyle/>
                    <a:p>
                      <a:pPr indent="0" lvl="0" marL="0" rtl="0" algn="ctr">
                        <a:spcBef>
                          <a:spcPts val="0"/>
                        </a:spcBef>
                        <a:spcAft>
                          <a:spcPts val="0"/>
                        </a:spcAft>
                        <a:buNone/>
                      </a:pPr>
                      <a:r>
                        <a:t/>
                      </a:r>
                      <a:endParaRPr sz="1600"/>
                    </a:p>
                  </a:txBody>
                  <a:tcPr marT="0" marB="0" marR="68575" marL="68575"/>
                </a:tc>
              </a:tr>
            </a:tbl>
          </a:graphicData>
        </a:graphic>
      </p:graphicFrame>
      <p:graphicFrame>
        <p:nvGraphicFramePr>
          <p:cNvPr id="269" name="Google Shape;269;p37"/>
          <p:cNvGraphicFramePr/>
          <p:nvPr/>
        </p:nvGraphicFramePr>
        <p:xfrm>
          <a:off x="852650" y="4874175"/>
          <a:ext cx="3000000" cy="3000000"/>
        </p:xfrm>
        <a:graphic>
          <a:graphicData uri="http://schemas.openxmlformats.org/drawingml/2006/table">
            <a:tbl>
              <a:tblPr>
                <a:noFill/>
                <a:tableStyleId>{58772C72-16C3-4DF3-A9AC-A4513592E4A2}</a:tableStyleId>
              </a:tblPr>
              <a:tblGrid>
                <a:gridCol w="2900700"/>
                <a:gridCol w="4361300"/>
              </a:tblGrid>
              <a:tr h="12700">
                <a:tc>
                  <a:txBody>
                    <a:bodyPr/>
                    <a:lstStyle/>
                    <a:p>
                      <a:pPr indent="0" lvl="0" marL="0" rtl="0" algn="l">
                        <a:spcBef>
                          <a:spcPts val="0"/>
                        </a:spcBef>
                        <a:spcAft>
                          <a:spcPts val="0"/>
                        </a:spcAft>
                        <a:buNone/>
                      </a:pPr>
                      <a:r>
                        <a:rPr lang="en-GB" sz="1600"/>
                        <a:t>Tham số trả về: Kiểu dữ liệu:</a:t>
                      </a:r>
                      <a:endParaRPr sz="1600"/>
                    </a:p>
                  </a:txBody>
                  <a:tcPr marT="63500" marB="63500" marR="63500" marL="63500">
                    <a:solidFill>
                      <a:srgbClr val="F2F2F2"/>
                    </a:solidFill>
                  </a:tcPr>
                </a:tc>
                <a:tc>
                  <a:txBody>
                    <a:bodyPr/>
                    <a:lstStyle/>
                    <a:p>
                      <a:pPr indent="0" lvl="0" marL="0" rtl="0" algn="ctr">
                        <a:spcBef>
                          <a:spcPts val="0"/>
                        </a:spcBef>
                        <a:spcAft>
                          <a:spcPts val="0"/>
                        </a:spcAft>
                        <a:buNone/>
                      </a:pPr>
                      <a:r>
                        <a:rPr lang="en-GB" sz="1600"/>
                        <a:t>Ghi chú</a:t>
                      </a:r>
                      <a:endParaRPr sz="1600"/>
                    </a:p>
                  </a:txBody>
                  <a:tcPr marT="63500" marB="63500" marR="63500" marL="63500">
                    <a:solidFill>
                      <a:srgbClr val="F2F2F2"/>
                    </a:solidFill>
                  </a:tcPr>
                </a:tc>
              </a:tr>
              <a:tr h="12700">
                <a:tc>
                  <a:txBody>
                    <a:bodyPr/>
                    <a:lstStyle/>
                    <a:p>
                      <a:pPr indent="0" lvl="0" marL="0" rtl="0" algn="l">
                        <a:spcBef>
                          <a:spcPts val="0"/>
                        </a:spcBef>
                        <a:spcAft>
                          <a:spcPts val="0"/>
                        </a:spcAft>
                        <a:buNone/>
                      </a:pPr>
                      <a:r>
                        <a:t/>
                      </a:r>
                      <a:endParaRPr sz="1600"/>
                    </a:p>
                  </a:txBody>
                  <a:tcPr marT="63500" marB="63500" marR="63500" marL="63500"/>
                </a:tc>
                <a:tc>
                  <a:txBody>
                    <a:bodyPr/>
                    <a:lstStyle/>
                    <a:p>
                      <a:pPr indent="0" lvl="0" marL="0" rtl="0" algn="l">
                        <a:spcBef>
                          <a:spcPts val="0"/>
                        </a:spcBef>
                        <a:spcAft>
                          <a:spcPts val="0"/>
                        </a:spcAft>
                        <a:buNone/>
                      </a:pPr>
                      <a:r>
                        <a:t/>
                      </a:r>
                      <a:endParaRPr sz="1600"/>
                    </a:p>
                  </a:txBody>
                  <a:tcPr marT="63500" marB="63500" marR="63500" marL="63500"/>
                </a:tc>
              </a:tr>
              <a:tr h="490850">
                <a:tc gridSpan="2">
                  <a:txBody>
                    <a:bodyPr/>
                    <a:lstStyle/>
                    <a:p>
                      <a:pPr indent="-1379220" lvl="0" marL="1379220" rtl="0" algn="l">
                        <a:spcBef>
                          <a:spcPts val="0"/>
                        </a:spcBef>
                        <a:spcAft>
                          <a:spcPts val="0"/>
                        </a:spcAft>
                        <a:buNone/>
                      </a:pPr>
                      <a:r>
                        <a:rPr lang="en-GB" sz="1600"/>
                        <a:t>Đặc tả giải thuật:	</a:t>
                      </a:r>
                      <a:endParaRPr sz="1600"/>
                    </a:p>
                  </a:txBody>
                  <a:tcPr marT="63500" marB="63500" marR="63500" marL="63500"/>
                </a:tc>
                <a:tc hMerge="1"/>
              </a:tr>
              <a:tr h="570875">
                <a:tc gridSpan="2">
                  <a:txBody>
                    <a:bodyPr/>
                    <a:lstStyle/>
                    <a:p>
                      <a:pPr indent="-1379220" lvl="0" marL="1379220" rtl="0" algn="l">
                        <a:spcBef>
                          <a:spcPts val="0"/>
                        </a:spcBef>
                        <a:spcAft>
                          <a:spcPts val="0"/>
                        </a:spcAft>
                        <a:buNone/>
                      </a:pPr>
                      <a:r>
                        <a:rPr lang="en-GB" sz="1600"/>
                        <a:t>Các ghi chú khác:	</a:t>
                      </a:r>
                      <a:endParaRPr sz="1600"/>
                    </a:p>
                  </a:txBody>
                  <a:tcPr marT="63500" marB="63500" marR="63500" marL="63500"/>
                </a:tc>
                <a:tc hMerge="1"/>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275" name="Google Shape;275;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76" name="Google Shape;276;p38"/>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Vấn đề thiết kế lớp </a:t>
            </a:r>
            <a:endParaRPr/>
          </a:p>
          <a:p>
            <a:pPr indent="-381000" lvl="0" marL="457200" rtl="0" algn="l">
              <a:spcBef>
                <a:spcPts val="0"/>
              </a:spcBef>
              <a:spcAft>
                <a:spcPts val="0"/>
              </a:spcAft>
              <a:buSzPts val="2400"/>
              <a:buChar char="●"/>
            </a:pPr>
            <a:r>
              <a:rPr lang="en-GB"/>
              <a:t>Các chỉ số chất lượng</a:t>
            </a:r>
            <a:endParaRPr/>
          </a:p>
          <a:p>
            <a:pPr indent="-381000" lvl="0" marL="457200" rtl="0" algn="l">
              <a:spcBef>
                <a:spcPts val="0"/>
              </a:spcBef>
              <a:spcAft>
                <a:spcPts val="0"/>
              </a:spcAft>
              <a:buSzPts val="2400"/>
              <a:buChar char="●"/>
            </a:pPr>
            <a:r>
              <a:rPr lang="en-GB"/>
              <a:t>Các nguyên lý SOLID</a:t>
            </a:r>
            <a:endParaRPr/>
          </a:p>
        </p:txBody>
      </p:sp>
      <p:sp>
        <p:nvSpPr>
          <p:cNvPr id="277" name="Google Shape;277;p38"/>
          <p:cNvSpPr/>
          <p:nvPr/>
        </p:nvSpPr>
        <p:spPr>
          <a:xfrm>
            <a:off x="357900" y="1165550"/>
            <a:ext cx="4811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Chỉ số chất lượng thiết kế</a:t>
            </a:r>
            <a:endParaRPr/>
          </a:p>
        </p:txBody>
      </p:sp>
      <p:sp>
        <p:nvSpPr>
          <p:cNvPr id="283" name="Google Shape;283;p39"/>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Ghép nối/Coupling - Phản ánh mức độ gắn kết giữa các thành phần (lớp, phương thức, v.v..).</a:t>
            </a:r>
            <a:endParaRPr/>
          </a:p>
          <a:p>
            <a:pPr indent="-381000" lvl="0" marL="457200" rtl="0" algn="just">
              <a:spcBef>
                <a:spcPts val="0"/>
              </a:spcBef>
              <a:spcAft>
                <a:spcPts val="0"/>
              </a:spcAft>
              <a:buSzPts val="2400"/>
              <a:buChar char="●"/>
            </a:pPr>
            <a:r>
              <a:rPr lang="en-GB"/>
              <a:t>Thống nhất/Cohesion - Phản ánh mức độ chuyên dụng của 1 thành phần.</a:t>
            </a:r>
            <a:endParaRPr/>
          </a:p>
          <a:p>
            <a:pPr indent="-381000" lvl="0" marL="457200" rtl="0" algn="just">
              <a:spcBef>
                <a:spcPts val="0"/>
              </a:spcBef>
              <a:spcAft>
                <a:spcPts val="0"/>
              </a:spcAft>
              <a:buSzPts val="2400"/>
              <a:buChar char="●"/>
            </a:pPr>
            <a:r>
              <a:rPr lang="en-GB"/>
              <a:t>Đồng sinh/Connascence - Khái quát hóa đồng thời kết hợp chỉ số ghép nối và chỉ số thống nhất.</a:t>
            </a:r>
            <a:endParaRPr/>
          </a:p>
          <a:p>
            <a:pPr indent="-368300" lvl="1" marL="914400" rtl="0" algn="just">
              <a:spcBef>
                <a:spcPts val="0"/>
              </a:spcBef>
              <a:spcAft>
                <a:spcPts val="0"/>
              </a:spcAft>
              <a:buSzPts val="2200"/>
              <a:buChar char="○"/>
            </a:pPr>
            <a:r>
              <a:rPr i="1" lang="en-GB"/>
              <a:t>(Xuất hiện cùng nhau/Connascence means to be born together).</a:t>
            </a:r>
            <a:endParaRPr i="1"/>
          </a:p>
        </p:txBody>
      </p:sp>
      <p:sp>
        <p:nvSpPr>
          <p:cNvPr id="284" name="Google Shape;284;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Tính ghép nối</a:t>
            </a:r>
            <a:endParaRPr/>
          </a:p>
        </p:txBody>
      </p:sp>
      <p:sp>
        <p:nvSpPr>
          <p:cNvPr id="290" name="Google Shape;290;p40"/>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Ghép nối chặt khiến thay đổi trong 1 phần của thiết kế có thể yêu cầu thay đổi trong các phần khác</a:t>
            </a:r>
            <a:endParaRPr/>
          </a:p>
          <a:p>
            <a:pPr indent="-381000" lvl="0" marL="457200" rtl="0" algn="just">
              <a:spcBef>
                <a:spcPts val="0"/>
              </a:spcBef>
              <a:spcAft>
                <a:spcPts val="0"/>
              </a:spcAft>
              <a:buSzPts val="2400"/>
              <a:buChar char="●"/>
            </a:pPr>
            <a:r>
              <a:rPr lang="en-GB"/>
              <a:t>Phân loại</a:t>
            </a:r>
            <a:endParaRPr/>
          </a:p>
          <a:p>
            <a:pPr indent="-368300" lvl="1" marL="914400" rtl="0" algn="just">
              <a:spcBef>
                <a:spcPts val="0"/>
              </a:spcBef>
              <a:spcAft>
                <a:spcPts val="0"/>
              </a:spcAft>
              <a:buSzPts val="2200"/>
              <a:buChar char="○"/>
            </a:pPr>
            <a:r>
              <a:rPr lang="en-GB"/>
              <a:t>Ghép nối tương tác - hình thành từ trao đổi thông điệp</a:t>
            </a:r>
            <a:endParaRPr/>
          </a:p>
          <a:p>
            <a:pPr indent="-368300" lvl="1" marL="914400" rtl="0" algn="just">
              <a:spcBef>
                <a:spcPts val="0"/>
              </a:spcBef>
              <a:spcAft>
                <a:spcPts val="0"/>
              </a:spcAft>
              <a:buSzPts val="2200"/>
              <a:buChar char="○"/>
            </a:pPr>
            <a:r>
              <a:rPr lang="en-GB"/>
              <a:t>Ghép nối kế thừa - hình thành từ quan hệ kế thừa</a:t>
            </a:r>
            <a:endParaRPr/>
          </a:p>
          <a:p>
            <a:pPr indent="-368300" lvl="1" marL="914400" rtl="0" algn="just">
              <a:spcBef>
                <a:spcPts val="0"/>
              </a:spcBef>
              <a:spcAft>
                <a:spcPts val="0"/>
              </a:spcAft>
              <a:buSzPts val="2200"/>
              <a:buChar char="○"/>
            </a:pPr>
            <a:r>
              <a:rPr lang="en-GB"/>
              <a:t>[</a:t>
            </a:r>
            <a:r>
              <a:rPr i="1" lang="en-GB"/>
              <a:t>Coad and Edward Yourdon, Object-Oriented Design, 1991</a:t>
            </a:r>
            <a:r>
              <a:rPr lang="en-GB"/>
              <a:t>]</a:t>
            </a:r>
            <a:endParaRPr/>
          </a:p>
          <a:p>
            <a:pPr indent="-381000" lvl="0" marL="457200" rtl="0" algn="just">
              <a:spcBef>
                <a:spcPts val="0"/>
              </a:spcBef>
              <a:spcAft>
                <a:spcPts val="0"/>
              </a:spcAft>
              <a:buSzPts val="2400"/>
              <a:buChar char="●"/>
            </a:pPr>
            <a:r>
              <a:rPr lang="en-GB"/>
              <a:t>Các giới hạn được áp dụng để giảm mức ghép nối</a:t>
            </a:r>
            <a:endParaRPr/>
          </a:p>
          <a:p>
            <a:pPr indent="-368300" lvl="1" marL="914400" rtl="0" algn="just">
              <a:spcBef>
                <a:spcPts val="0"/>
              </a:spcBef>
              <a:spcAft>
                <a:spcPts val="0"/>
              </a:spcAft>
              <a:buSzPts val="2200"/>
              <a:buChar char="○"/>
            </a:pPr>
            <a:r>
              <a:rPr lang="en-GB"/>
              <a:t>Ghép nối tương tác: Quy tắc Demeter</a:t>
            </a:r>
            <a:endParaRPr/>
          </a:p>
          <a:p>
            <a:pPr indent="-368300" lvl="1" marL="914400" rtl="0" algn="just">
              <a:spcBef>
                <a:spcPts val="0"/>
              </a:spcBef>
              <a:spcAft>
                <a:spcPts val="0"/>
              </a:spcAft>
              <a:buSzPts val="2200"/>
              <a:buChar char="○"/>
            </a:pPr>
            <a:r>
              <a:rPr lang="en-GB"/>
              <a:t>Ghép nối kế thừa: Duy trì ý nghĩa khái quát hóa/chi tiết hóa, áp dụng quy tắc khả thay/substitutability</a:t>
            </a:r>
            <a:endParaRPr/>
          </a:p>
        </p:txBody>
      </p:sp>
      <p:sp>
        <p:nvSpPr>
          <p:cNvPr id="291" name="Google Shape;291;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Quy tắc Demeter</a:t>
            </a:r>
            <a:endParaRPr/>
          </a:p>
        </p:txBody>
      </p:sp>
      <p:sp>
        <p:nvSpPr>
          <p:cNvPr id="297" name="Google Shape;297;p41"/>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Thông điệp chỉ nên được gửi từ 1 đối tượng tới:</a:t>
            </a:r>
            <a:endParaRPr i="1"/>
          </a:p>
          <a:p>
            <a:pPr indent="-381000" lvl="0" marL="457200" rtl="0" algn="l">
              <a:spcBef>
                <a:spcPts val="0"/>
              </a:spcBef>
              <a:spcAft>
                <a:spcPts val="0"/>
              </a:spcAft>
              <a:buSzPts val="2400"/>
              <a:buChar char="●"/>
            </a:pPr>
            <a:r>
              <a:rPr lang="en-GB"/>
              <a:t>Chính nó;</a:t>
            </a:r>
            <a:endParaRPr/>
          </a:p>
          <a:p>
            <a:pPr indent="-381000" lvl="0" marL="457200" rtl="0" algn="l">
              <a:spcBef>
                <a:spcPts val="0"/>
              </a:spcBef>
              <a:spcAft>
                <a:spcPts val="0"/>
              </a:spcAft>
              <a:buSzPts val="2400"/>
              <a:buChar char="●"/>
            </a:pPr>
            <a:r>
              <a:rPr lang="en-GB"/>
              <a:t>Đối tượng là thuộc tính của nó hoặc lớp trên;</a:t>
            </a:r>
            <a:endParaRPr/>
          </a:p>
          <a:p>
            <a:pPr indent="-381000" lvl="0" marL="457200" rtl="0" algn="l">
              <a:spcBef>
                <a:spcPts val="0"/>
              </a:spcBef>
              <a:spcAft>
                <a:spcPts val="0"/>
              </a:spcAft>
              <a:buSzPts val="2400"/>
              <a:buChar char="●"/>
            </a:pPr>
            <a:r>
              <a:rPr lang="en-GB"/>
              <a:t>Đối tượng là tham số của phương thức</a:t>
            </a:r>
            <a:endParaRPr/>
          </a:p>
          <a:p>
            <a:pPr indent="-381000" lvl="0" marL="457200" rtl="0" algn="l">
              <a:spcBef>
                <a:spcPts val="0"/>
              </a:spcBef>
              <a:spcAft>
                <a:spcPts val="0"/>
              </a:spcAft>
              <a:buSzPts val="2400"/>
              <a:buChar char="●"/>
            </a:pPr>
            <a:r>
              <a:rPr lang="en-GB"/>
              <a:t>Đối tượng được tạo bởi phương thức</a:t>
            </a:r>
            <a:endParaRPr/>
          </a:p>
          <a:p>
            <a:pPr indent="-381000" lvl="0" marL="457200" rtl="0" algn="l">
              <a:spcBef>
                <a:spcPts val="0"/>
              </a:spcBef>
              <a:spcAft>
                <a:spcPts val="0"/>
              </a:spcAft>
              <a:buSzPts val="2400"/>
              <a:buChar char="●"/>
            </a:pPr>
            <a:r>
              <a:rPr lang="en-GB"/>
              <a:t>Đối tượng được lưu trong biến toàn cục</a:t>
            </a:r>
            <a:endParaRPr/>
          </a:p>
        </p:txBody>
      </p:sp>
      <p:sp>
        <p:nvSpPr>
          <p:cNvPr id="298" name="Google Shape;298;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trường hợp làm tăng mức độ ghép nối</a:t>
            </a:r>
            <a:endParaRPr/>
          </a:p>
        </p:txBody>
      </p:sp>
      <p:sp>
        <p:nvSpPr>
          <p:cNvPr id="304" name="Google Shape;304;p42"/>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Phương thức gọi truyền các thuộc tính cho phương thức được gọi</a:t>
            </a:r>
            <a:endParaRPr/>
          </a:p>
          <a:p>
            <a:pPr indent="-381000" lvl="0" marL="457200" rtl="0" algn="l">
              <a:spcBef>
                <a:spcPts val="0"/>
              </a:spcBef>
              <a:spcAft>
                <a:spcPts val="0"/>
              </a:spcAft>
              <a:buSzPts val="2400"/>
              <a:buChar char="●"/>
            </a:pPr>
            <a:r>
              <a:rPr lang="en-GB"/>
              <a:t>Phương thức gọi phụ thuộc vào giá trị được trả về bởi phương thức được gọi</a:t>
            </a:r>
            <a:endParaRPr/>
          </a:p>
        </p:txBody>
      </p:sp>
      <p:sp>
        <p:nvSpPr>
          <p:cNvPr id="305" name="Google Shape;305;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mức ghép nối tương tác</a:t>
            </a:r>
            <a:endParaRPr/>
          </a:p>
        </p:txBody>
      </p:sp>
      <p:sp>
        <p:nvSpPr>
          <p:cNvPr id="311" name="Google Shape;311;p43"/>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Theo thứ tự từ lỏng (được mong đợi) đến chặt (không mong muốn):</a:t>
            </a:r>
            <a:endParaRPr i="1"/>
          </a:p>
          <a:p>
            <a:pPr indent="-381000" lvl="0" marL="457200" rtl="0" algn="l">
              <a:spcBef>
                <a:spcPts val="0"/>
              </a:spcBef>
              <a:spcAft>
                <a:spcPts val="0"/>
              </a:spcAft>
              <a:buSzPts val="2400"/>
              <a:buChar char="●"/>
            </a:pPr>
            <a:r>
              <a:rPr lang="en-GB"/>
              <a:t>Không có ghép nối trực tiếp / No Direct Coupling</a:t>
            </a:r>
            <a:endParaRPr/>
          </a:p>
          <a:p>
            <a:pPr indent="-381000" lvl="0" marL="457200" rtl="0" algn="l">
              <a:spcBef>
                <a:spcPts val="0"/>
              </a:spcBef>
              <a:spcAft>
                <a:spcPts val="0"/>
              </a:spcAft>
              <a:buSzPts val="2400"/>
              <a:buChar char="●"/>
            </a:pPr>
            <a:r>
              <a:rPr lang="en-GB"/>
              <a:t>Dữ liệu / Data</a:t>
            </a:r>
            <a:endParaRPr/>
          </a:p>
          <a:p>
            <a:pPr indent="-381000" lvl="0" marL="457200" rtl="0" algn="l">
              <a:spcBef>
                <a:spcPts val="0"/>
              </a:spcBef>
              <a:spcAft>
                <a:spcPts val="0"/>
              </a:spcAft>
              <a:buSzPts val="2400"/>
              <a:buChar char="●"/>
            </a:pPr>
            <a:r>
              <a:rPr lang="en-GB"/>
              <a:t>Dấu ấn / Stamp</a:t>
            </a:r>
            <a:endParaRPr/>
          </a:p>
          <a:p>
            <a:pPr indent="-381000" lvl="0" marL="457200" rtl="0" algn="l">
              <a:spcBef>
                <a:spcPts val="0"/>
              </a:spcBef>
              <a:spcAft>
                <a:spcPts val="0"/>
              </a:spcAft>
              <a:buSzPts val="2400"/>
              <a:buChar char="●"/>
            </a:pPr>
            <a:r>
              <a:rPr lang="en-GB"/>
              <a:t>Điều khiển / Control</a:t>
            </a:r>
            <a:endParaRPr/>
          </a:p>
          <a:p>
            <a:pPr indent="-381000" lvl="0" marL="457200" rtl="0" algn="l">
              <a:spcBef>
                <a:spcPts val="0"/>
              </a:spcBef>
              <a:spcAft>
                <a:spcPts val="0"/>
              </a:spcAft>
              <a:buSzPts val="2400"/>
              <a:buChar char="●"/>
            </a:pPr>
            <a:r>
              <a:rPr lang="en-GB"/>
              <a:t>Chung hoặc toàn cục / Common or Global</a:t>
            </a:r>
            <a:endParaRPr/>
          </a:p>
          <a:p>
            <a:pPr indent="-381000" lvl="0" marL="457200" rtl="0" algn="l">
              <a:spcBef>
                <a:spcPts val="0"/>
              </a:spcBef>
              <a:spcAft>
                <a:spcPts val="0"/>
              </a:spcAft>
              <a:buSzPts val="2400"/>
              <a:buChar char="●"/>
            </a:pPr>
            <a:r>
              <a:rPr lang="en-GB"/>
              <a:t>Nội dung hoặc biểu diễn / Content or Pathological</a:t>
            </a:r>
            <a:endParaRPr/>
          </a:p>
        </p:txBody>
      </p:sp>
      <p:sp>
        <p:nvSpPr>
          <p:cNvPr id="312" name="Google Shape;312;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mức ghép nối tương tác</a:t>
            </a:r>
            <a:r>
              <a:rPr baseline="-25000" lang="en-GB"/>
              <a:t>(2)</a:t>
            </a:r>
            <a:endParaRPr baseline="-25000"/>
          </a:p>
        </p:txBody>
      </p:sp>
      <p:sp>
        <p:nvSpPr>
          <p:cNvPr id="318" name="Google Shape;318;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19" name="Google Shape;319;p44"/>
          <p:cNvGraphicFramePr/>
          <p:nvPr/>
        </p:nvGraphicFramePr>
        <p:xfrm>
          <a:off x="338850" y="990005"/>
          <a:ext cx="3000000" cy="3000000"/>
        </p:xfrm>
        <a:graphic>
          <a:graphicData uri="http://schemas.openxmlformats.org/drawingml/2006/table">
            <a:tbl>
              <a:tblPr>
                <a:noFill/>
                <a:tableStyleId>{87F4FDBC-C4A9-4F68-A135-D953BA0FE3B0}</a:tableStyleId>
              </a:tblPr>
              <a:tblGrid>
                <a:gridCol w="1034350"/>
                <a:gridCol w="1821575"/>
                <a:gridCol w="5750175"/>
              </a:tblGrid>
              <a:tr h="386825">
                <a:tc gridSpan="2">
                  <a:txBody>
                    <a:bodyPr/>
                    <a:lstStyle/>
                    <a:p>
                      <a:pPr indent="0" lvl="0" marL="0" rtl="0" algn="ctr">
                        <a:spcBef>
                          <a:spcPts val="0"/>
                        </a:spcBef>
                        <a:spcAft>
                          <a:spcPts val="0"/>
                        </a:spcAft>
                        <a:buNone/>
                      </a:pPr>
                      <a:r>
                        <a:rPr b="1" lang="en-GB" sz="1800"/>
                        <a:t>Mức độ</a:t>
                      </a:r>
                      <a:endParaRPr b="1" sz="1800"/>
                    </a:p>
                  </a:txBody>
                  <a:tcPr marT="54000" marB="18000" marR="54000" marL="54000"/>
                </a:tc>
                <a:tc hMerge="1"/>
                <a:tc>
                  <a:txBody>
                    <a:bodyPr/>
                    <a:lstStyle/>
                    <a:p>
                      <a:pPr indent="0" lvl="0" marL="0" rtl="0" algn="ctr">
                        <a:spcBef>
                          <a:spcPts val="0"/>
                        </a:spcBef>
                        <a:spcAft>
                          <a:spcPts val="0"/>
                        </a:spcAft>
                        <a:buNone/>
                      </a:pPr>
                      <a:r>
                        <a:rPr b="1" lang="en-GB" sz="1800"/>
                        <a:t>Mô tả</a:t>
                      </a:r>
                      <a:endParaRPr b="1" sz="1800"/>
                    </a:p>
                  </a:txBody>
                  <a:tcPr marT="54000" marB="18000" marR="54000" marL="54000"/>
                </a:tc>
              </a:tr>
              <a:tr h="604000">
                <a:tc>
                  <a:txBody>
                    <a:bodyPr/>
                    <a:lstStyle/>
                    <a:p>
                      <a:pPr indent="0" lvl="0" marL="0" rtl="0" algn="ctr">
                        <a:spcBef>
                          <a:spcPts val="0"/>
                        </a:spcBef>
                        <a:spcAft>
                          <a:spcPts val="0"/>
                        </a:spcAft>
                        <a:buNone/>
                      </a:pPr>
                      <a:r>
                        <a:rPr lang="en-GB" sz="1600"/>
                        <a:t>Lỏng</a:t>
                      </a:r>
                      <a:endParaRPr sz="1600"/>
                    </a:p>
                  </a:txBody>
                  <a:tcPr marT="54000" marB="54000" marR="54000" marL="54000">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1600"/>
                        <a:t>Không có ghép nối trực tiếp</a:t>
                      </a:r>
                      <a:endParaRPr sz="1600"/>
                    </a:p>
                  </a:txBody>
                  <a:tcPr marT="54000" marB="54000" marR="54000" marL="54000"/>
                </a:tc>
                <a:tc>
                  <a:txBody>
                    <a:bodyPr/>
                    <a:lstStyle/>
                    <a:p>
                      <a:pPr indent="0" lvl="0" marL="0" rtl="0" algn="l">
                        <a:spcBef>
                          <a:spcPts val="0"/>
                        </a:spcBef>
                        <a:spcAft>
                          <a:spcPts val="0"/>
                        </a:spcAft>
                        <a:buNone/>
                      </a:pPr>
                      <a:r>
                        <a:rPr lang="en-GB" sz="1600"/>
                        <a:t>Các phương thức không liên kết với nhau/không gọi lẫn nhau</a:t>
                      </a:r>
                      <a:endParaRPr sz="1600"/>
                    </a:p>
                  </a:txBody>
                  <a:tcPr marT="54000" marB="54000" marR="54000" marL="54000"/>
                </a:tc>
              </a:tr>
              <a:tr h="1098475">
                <a:tc>
                  <a:txBody>
                    <a:bodyPr/>
                    <a:lstStyle/>
                    <a:p>
                      <a:pPr indent="0" lvl="0" marL="0" rtl="0" algn="l">
                        <a:spcBef>
                          <a:spcPts val="0"/>
                        </a:spcBef>
                        <a:spcAft>
                          <a:spcPts val="0"/>
                        </a:spcAft>
                        <a:buNone/>
                      </a:pPr>
                      <a:r>
                        <a:t/>
                      </a:r>
                      <a:endParaRPr sz="1600"/>
                    </a:p>
                  </a:txBody>
                  <a:tcPr marT="54000" marB="54000" marR="54000" marL="54000">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1600"/>
                        <a:t>Dữ liệu</a:t>
                      </a:r>
                      <a:endParaRPr sz="1600"/>
                    </a:p>
                  </a:txBody>
                  <a:tcPr marT="54000" marB="54000" marR="54000" marL="54000"/>
                </a:tc>
                <a:tc>
                  <a:txBody>
                    <a:bodyPr/>
                    <a:lstStyle/>
                    <a:p>
                      <a:pPr indent="0" lvl="0" marL="0" rtl="0" algn="l">
                        <a:spcBef>
                          <a:spcPts val="0"/>
                        </a:spcBef>
                        <a:spcAft>
                          <a:spcPts val="0"/>
                        </a:spcAft>
                        <a:buNone/>
                      </a:pPr>
                      <a:r>
                        <a:rPr lang="en-GB" sz="1600"/>
                        <a:t>Phía gọi truyền tham số cho phương thức được gọi. Nếu đó là 1 đối tượng bao gồm nhiều thuộc tính thì tất cả các thuộc tính đều được sử dụng bởi phương thức được gọi để thực hiện trách nhiệm của nó.</a:t>
                      </a:r>
                      <a:endParaRPr sz="1600"/>
                    </a:p>
                  </a:txBody>
                  <a:tcPr marT="54000" marB="54000" marR="54000" marL="54000"/>
                </a:tc>
              </a:tr>
              <a:tr h="614725">
                <a:tc>
                  <a:txBody>
                    <a:bodyPr/>
                    <a:lstStyle/>
                    <a:p>
                      <a:pPr indent="0" lvl="0" marL="0" rtl="0" algn="l">
                        <a:spcBef>
                          <a:spcPts val="0"/>
                        </a:spcBef>
                        <a:spcAft>
                          <a:spcPts val="0"/>
                        </a:spcAft>
                        <a:buNone/>
                      </a:pPr>
                      <a:r>
                        <a:t/>
                      </a:r>
                      <a:endParaRPr sz="1600"/>
                    </a:p>
                  </a:txBody>
                  <a:tcPr marT="54000" marB="54000" marR="54000" marL="54000">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1600"/>
                        <a:t>Dấu ấn </a:t>
                      </a:r>
                      <a:endParaRPr sz="1600"/>
                    </a:p>
                  </a:txBody>
                  <a:tcPr marT="54000" marB="54000" marR="54000" marL="54000"/>
                </a:tc>
                <a:tc>
                  <a:txBody>
                    <a:bodyPr/>
                    <a:lstStyle/>
                    <a:p>
                      <a:pPr indent="0" lvl="0" marL="0" rtl="0" algn="l">
                        <a:spcBef>
                          <a:spcPts val="0"/>
                        </a:spcBef>
                        <a:spcAft>
                          <a:spcPts val="0"/>
                        </a:spcAft>
                        <a:buNone/>
                      </a:pPr>
                      <a:r>
                        <a:rPr lang="en-GB" sz="1600"/>
                        <a:t>Phía gọi truyền tham số, nhưng phương thức được gọi chỉ sử dụng 1 phần dữ liệu để thực hiện trách nhiệm của nó.</a:t>
                      </a:r>
                      <a:endParaRPr sz="1600"/>
                    </a:p>
                  </a:txBody>
                  <a:tcPr marT="54000" marB="54000" marR="54000" marL="54000"/>
                </a:tc>
              </a:tr>
              <a:tr h="604000">
                <a:tc>
                  <a:txBody>
                    <a:bodyPr/>
                    <a:lstStyle/>
                    <a:p>
                      <a:pPr indent="0" lvl="0" marL="0" rtl="0" algn="l">
                        <a:spcBef>
                          <a:spcPts val="0"/>
                        </a:spcBef>
                        <a:spcAft>
                          <a:spcPts val="0"/>
                        </a:spcAft>
                        <a:buNone/>
                      </a:pPr>
                      <a:r>
                        <a:t/>
                      </a:r>
                      <a:endParaRPr sz="1600"/>
                    </a:p>
                  </a:txBody>
                  <a:tcPr marT="54000" marB="54000" marR="54000" marL="54000">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1600"/>
                        <a:t>Điều khiển</a:t>
                      </a:r>
                      <a:endParaRPr sz="1600"/>
                    </a:p>
                  </a:txBody>
                  <a:tcPr marT="54000" marB="54000" marR="54000" marL="54000"/>
                </a:tc>
                <a:tc>
                  <a:txBody>
                    <a:bodyPr/>
                    <a:lstStyle/>
                    <a:p>
                      <a:pPr indent="0" lvl="0" marL="0" rtl="0" algn="l">
                        <a:spcBef>
                          <a:spcPts val="0"/>
                        </a:spcBef>
                        <a:spcAft>
                          <a:spcPts val="0"/>
                        </a:spcAft>
                        <a:buNone/>
                      </a:pPr>
                      <a:r>
                        <a:rPr lang="en-GB" sz="1600"/>
                        <a:t>Phía gọi truyền 1 biến điều khiển được sử dụng để điều khiển phương thức được gọi.</a:t>
                      </a:r>
                      <a:endParaRPr sz="1600"/>
                    </a:p>
                  </a:txBody>
                  <a:tcPr marT="54000" marB="54000" marR="54000" marL="54000"/>
                </a:tc>
              </a:tr>
              <a:tr h="604000">
                <a:tc>
                  <a:txBody>
                    <a:bodyPr/>
                    <a:lstStyle/>
                    <a:p>
                      <a:pPr indent="0" lvl="0" marL="0" rtl="0" algn="l">
                        <a:spcBef>
                          <a:spcPts val="0"/>
                        </a:spcBef>
                        <a:spcAft>
                          <a:spcPts val="0"/>
                        </a:spcAft>
                        <a:buNone/>
                      </a:pPr>
                      <a:r>
                        <a:t/>
                      </a:r>
                      <a:endParaRPr sz="1600"/>
                    </a:p>
                  </a:txBody>
                  <a:tcPr marT="54000" marB="54000" marR="54000" marL="54000">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1600"/>
                        <a:t>Chung hoặc toàn cục</a:t>
                      </a:r>
                      <a:endParaRPr sz="1600"/>
                    </a:p>
                  </a:txBody>
                  <a:tcPr marT="54000" marB="54000" marR="54000" marL="54000"/>
                </a:tc>
                <a:tc>
                  <a:txBody>
                    <a:bodyPr/>
                    <a:lstStyle/>
                    <a:p>
                      <a:pPr indent="0" lvl="0" marL="0" rtl="0" algn="l">
                        <a:spcBef>
                          <a:spcPts val="0"/>
                        </a:spcBef>
                        <a:spcAft>
                          <a:spcPts val="0"/>
                        </a:spcAft>
                        <a:buNone/>
                      </a:pPr>
                      <a:r>
                        <a:rPr lang="en-GB" sz="1600"/>
                        <a:t>Các phương thức dùng chung ”1 vùng dữ liệu toàn cục” nằm ngoài phạm vi của đối tượng.</a:t>
                      </a:r>
                      <a:endParaRPr sz="1600"/>
                    </a:p>
                  </a:txBody>
                  <a:tcPr marT="54000" marB="54000" marR="54000" marL="54000"/>
                </a:tc>
              </a:tr>
              <a:tr h="851225">
                <a:tc>
                  <a:txBody>
                    <a:bodyPr/>
                    <a:lstStyle/>
                    <a:p>
                      <a:pPr indent="0" lvl="0" marL="0" rtl="0" algn="ctr">
                        <a:spcBef>
                          <a:spcPts val="0"/>
                        </a:spcBef>
                        <a:spcAft>
                          <a:spcPts val="0"/>
                        </a:spcAft>
                        <a:buNone/>
                      </a:pPr>
                      <a:r>
                        <a:rPr lang="en-GB" sz="1600"/>
                        <a:t>Chặt</a:t>
                      </a:r>
                      <a:endParaRPr sz="1600"/>
                    </a:p>
                  </a:txBody>
                  <a:tcPr marT="54000" marB="54000" marR="54000" marL="54000">
                    <a:lnT cap="flat" cmpd="sng" w="9525">
                      <a:solidFill>
                        <a:srgbClr val="9E9E9E">
                          <a:alpha val="0"/>
                        </a:srgbClr>
                      </a:solidFill>
                      <a:prstDash val="solid"/>
                      <a:round/>
                      <a:headEnd len="sm" w="sm" type="none"/>
                      <a:tailEnd len="sm" w="sm" type="none"/>
                    </a:lnT>
                  </a:tcPr>
                </a:tc>
                <a:tc>
                  <a:txBody>
                    <a:bodyPr/>
                    <a:lstStyle/>
                    <a:p>
                      <a:pPr indent="0" lvl="0" marL="0" rtl="0" algn="l">
                        <a:spcBef>
                          <a:spcPts val="0"/>
                        </a:spcBef>
                        <a:spcAft>
                          <a:spcPts val="0"/>
                        </a:spcAft>
                        <a:buNone/>
                      </a:pPr>
                      <a:r>
                        <a:rPr lang="en-GB" sz="1600"/>
                        <a:t>Nội dung hoặc Biểu diễn</a:t>
                      </a:r>
                      <a:endParaRPr sz="1600"/>
                    </a:p>
                  </a:txBody>
                  <a:tcPr marT="54000" marB="54000" marR="54000" marL="54000"/>
                </a:tc>
                <a:tc>
                  <a:txBody>
                    <a:bodyPr/>
                    <a:lstStyle/>
                    <a:p>
                      <a:pPr indent="0" lvl="0" marL="0" rtl="0" algn="l">
                        <a:spcBef>
                          <a:spcPts val="0"/>
                        </a:spcBef>
                        <a:spcAft>
                          <a:spcPts val="0"/>
                        </a:spcAft>
                        <a:buNone/>
                      </a:pPr>
                      <a:r>
                        <a:rPr lang="en-GB" sz="1600"/>
                        <a:t>Phương thức của 1 đối tượng truy cập biểu diễn bên trong của đối tượng khác. Hình thành ngoại lệ đối với quy tắc đóng gói và ẩn dữ liệu. (ví dụ Lớp bạn/friend trong C++).</a:t>
                      </a:r>
                      <a:endParaRPr sz="1600"/>
                    </a:p>
                  </a:txBody>
                  <a:tcPr marT="54000" marB="54000" marR="54000" marL="54000"/>
                </a:tc>
              </a:tr>
              <a:tr h="381875">
                <a:tc gridSpan="3">
                  <a:txBody>
                    <a:bodyPr/>
                    <a:lstStyle/>
                    <a:p>
                      <a:pPr indent="0" lvl="0" marL="0" rtl="0" algn="l">
                        <a:spcBef>
                          <a:spcPts val="0"/>
                        </a:spcBef>
                        <a:spcAft>
                          <a:spcPts val="0"/>
                        </a:spcAft>
                        <a:buNone/>
                      </a:pPr>
                      <a:r>
                        <a:rPr lang="en-GB" sz="1600"/>
                        <a:t>Nguồn: Meilir Page-Jones, T</a:t>
                      </a:r>
                      <a:r>
                        <a:rPr i="1" lang="en-GB" sz="1600"/>
                        <a:t>he Practical Guide to Structured Systems Design</a:t>
                      </a:r>
                      <a:r>
                        <a:rPr lang="en-GB" sz="1600"/>
                        <a:t>, 2nd, 1978.</a:t>
                      </a:r>
                      <a:endParaRPr sz="1600"/>
                    </a:p>
                  </a:txBody>
                  <a:tcPr marT="54000" marB="0" marR="54000" marL="54000"/>
                </a:tc>
                <a:tc hMerge="1"/>
                <a:tc hMerge="1"/>
              </a:tr>
            </a:tbl>
          </a:graphicData>
        </a:graphic>
      </p:graphicFrame>
      <p:cxnSp>
        <p:nvCxnSpPr>
          <p:cNvPr id="320" name="Google Shape;320;p44"/>
          <p:cNvCxnSpPr/>
          <p:nvPr/>
        </p:nvCxnSpPr>
        <p:spPr>
          <a:xfrm>
            <a:off x="874169" y="1752225"/>
            <a:ext cx="26700" cy="31122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Ghép nối kế thừa</a:t>
            </a:r>
            <a:endParaRPr/>
          </a:p>
        </p:txBody>
      </p:sp>
      <p:sp>
        <p:nvSpPr>
          <p:cNvPr id="326" name="Google Shape;326;p45"/>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Có nhiều luồng quan điểm cho rằng ghép nối kế thừa là cần thiết.</a:t>
            </a:r>
            <a:endParaRPr/>
          </a:p>
          <a:p>
            <a:pPr indent="-381000" lvl="0" marL="457200" rtl="0" algn="l">
              <a:spcBef>
                <a:spcPts val="0"/>
              </a:spcBef>
              <a:spcAft>
                <a:spcPts val="0"/>
              </a:spcAft>
              <a:buSzPts val="2400"/>
              <a:buChar char="●"/>
            </a:pPr>
            <a:r>
              <a:rPr lang="en-GB"/>
              <a:t>Tuy nhiên vẫn cần cân nhắc các trường hợp:</a:t>
            </a:r>
            <a:endParaRPr/>
          </a:p>
          <a:p>
            <a:pPr indent="-368300" lvl="1" marL="914400" rtl="0" algn="l">
              <a:spcBef>
                <a:spcPts val="0"/>
              </a:spcBef>
              <a:spcAft>
                <a:spcPts val="0"/>
              </a:spcAft>
              <a:buSzPts val="2200"/>
              <a:buChar char="○"/>
            </a:pPr>
            <a:r>
              <a:rPr lang="en-GB"/>
              <a:t>Phương thức được định nghĩa trong lớp dưới có nên gọi phương thức được định nghĩa trong lớp trên?</a:t>
            </a:r>
            <a:endParaRPr/>
          </a:p>
          <a:p>
            <a:pPr indent="-368300" lvl="1" marL="914400" rtl="0" algn="l">
              <a:spcBef>
                <a:spcPts val="0"/>
              </a:spcBef>
              <a:spcAft>
                <a:spcPts val="0"/>
              </a:spcAft>
              <a:buSzPts val="2200"/>
              <a:buChar char="○"/>
            </a:pPr>
            <a:r>
              <a:rPr lang="en-GB"/>
              <a:t>Phương thức được định nghĩa trong lớp dưới có nên sử dụng thuộc tính được định nghĩa trong lớp trên?</a:t>
            </a:r>
            <a:endParaRPr/>
          </a:p>
          <a:p>
            <a:pPr indent="-368300" lvl="1" marL="914400" rtl="0" algn="l">
              <a:spcBef>
                <a:spcPts val="0"/>
              </a:spcBef>
              <a:spcAft>
                <a:spcPts val="0"/>
              </a:spcAft>
              <a:buSzPts val="2200"/>
              <a:buChar char="○"/>
            </a:pPr>
            <a:r>
              <a:rPr lang="en-GB"/>
              <a:t>Phương thức được định nghĩa trong lớp trên có nên dựa vào các lớp con của nó để định nghĩa 1 phần xử lý?</a:t>
            </a:r>
            <a:endParaRPr/>
          </a:p>
          <a:p>
            <a:pPr indent="-342900" lvl="2" marL="1371600" rtl="0" algn="l">
              <a:spcBef>
                <a:spcPts val="0"/>
              </a:spcBef>
              <a:spcAft>
                <a:spcPts val="0"/>
              </a:spcAft>
              <a:buSzPts val="1800"/>
              <a:buChar char="■"/>
            </a:pPr>
            <a:r>
              <a:rPr i="1" lang="en-GB"/>
              <a:t>(Có thể triển khai dựa trên phương thức ảo và đa hình)</a:t>
            </a:r>
            <a:endParaRPr/>
          </a:p>
          <a:p>
            <a:pPr indent="-381000" lvl="0" marL="457200" rtl="0" algn="l">
              <a:spcBef>
                <a:spcPts val="0"/>
              </a:spcBef>
              <a:spcAft>
                <a:spcPts val="0"/>
              </a:spcAft>
              <a:buSzPts val="2400"/>
              <a:buChar char="●"/>
            </a:pPr>
            <a:r>
              <a:rPr lang="en-GB"/>
              <a:t>Người thiết kế cần cân đối việc phá vỡ quy tắc đóng gói và ẩn dữ liệu và tăng những ghép nối mong đợi giữa các lớp dưới và các lớp trên.</a:t>
            </a:r>
            <a:endParaRPr/>
          </a:p>
        </p:txBody>
      </p:sp>
      <p:sp>
        <p:nvSpPr>
          <p:cNvPr id="327" name="Google Shape;327;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33" name="Google Shape;333;p4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Tính ghép nối trong thiết kế</a:t>
            </a:r>
            <a:endParaRPr/>
          </a:p>
        </p:txBody>
      </p:sp>
      <p:sp>
        <p:nvSpPr>
          <p:cNvPr id="334" name="Google Shape;334;p46"/>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Hướng tới ghép nối lỏng, đưa chỉ số ghép nối về mức nhỏ nhất có thể.</a:t>
            </a:r>
            <a:endParaRPr/>
          </a:p>
          <a:p>
            <a:pPr indent="-381000" lvl="0" marL="457200" rtl="0" algn="l">
              <a:spcBef>
                <a:spcPts val="0"/>
              </a:spcBef>
              <a:spcAft>
                <a:spcPts val="0"/>
              </a:spcAft>
              <a:buSzPts val="2400"/>
              <a:buChar char="●"/>
            </a:pPr>
            <a:r>
              <a:rPr lang="en-GB"/>
              <a:t>Trong thực tế có những ghép nối khó tránh:</a:t>
            </a:r>
            <a:endParaRPr/>
          </a:p>
          <a:p>
            <a:pPr indent="-368300" lvl="1" marL="914400" rtl="0" algn="l">
              <a:spcBef>
                <a:spcPts val="0"/>
              </a:spcBef>
              <a:spcAft>
                <a:spcPts val="0"/>
              </a:spcAft>
              <a:buSzPts val="2200"/>
              <a:buChar char="○"/>
            </a:pPr>
            <a:r>
              <a:rPr lang="en-GB"/>
              <a:t>Ví dụ 1 lớp HCI phụ thuộc vào 1 lớp lĩnh vực ứng dụng - lớp biểu diễn dữ liệu được hiển thị trên giao diện -</a:t>
            </a:r>
            <a:endParaRPr/>
          </a:p>
          <a:p>
            <a:pPr indent="-368300" lvl="1" marL="914400" rtl="0" algn="l">
              <a:spcBef>
                <a:spcPts val="0"/>
              </a:spcBef>
              <a:spcAft>
                <a:spcPts val="0"/>
              </a:spcAft>
              <a:buSzPts val="2200"/>
              <a:buChar char="○"/>
            </a:pPr>
            <a:r>
              <a:rPr i="1" lang="en-GB"/>
              <a:t>Biểu mẫu thông tin sinh viên hiển thị các thông tin của 1 đối tượng thuộc lớp Student trong tầng lĩnh vực ứng dụng.</a:t>
            </a:r>
            <a:endParaRPr i="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40" name="Google Shape;340;p4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Tính thống nhất</a:t>
            </a:r>
            <a:endParaRPr/>
          </a:p>
        </p:txBody>
      </p:sp>
      <p:sp>
        <p:nvSpPr>
          <p:cNvPr id="341" name="Google Shape;341;p47"/>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Mức độ thống nhất cao thể hiện tính chuyên dụng của mỗi thành phần: 1 lớp chỉ biểu diễn 1 loại đối tượng, 1 phương thức chỉ có 1 trách nhiệm.</a:t>
            </a:r>
            <a:endParaRPr/>
          </a:p>
          <a:p>
            <a:pPr indent="-381000" lvl="0" marL="457200" rtl="0" algn="l">
              <a:spcBef>
                <a:spcPts val="0"/>
              </a:spcBef>
              <a:spcAft>
                <a:spcPts val="0"/>
              </a:spcAft>
              <a:buSzPts val="2400"/>
              <a:buChar char="●"/>
            </a:pPr>
            <a:r>
              <a:rPr lang="en-GB"/>
              <a:t>Phân loại:</a:t>
            </a:r>
            <a:endParaRPr/>
          </a:p>
          <a:p>
            <a:pPr indent="-368300" lvl="1" marL="914400" rtl="0" algn="l">
              <a:spcBef>
                <a:spcPts val="0"/>
              </a:spcBef>
              <a:spcAft>
                <a:spcPts val="0"/>
              </a:spcAft>
              <a:buSzPts val="2200"/>
              <a:buChar char="○"/>
            </a:pPr>
            <a:r>
              <a:rPr lang="en-GB"/>
              <a:t>Thống nhất phương thức</a:t>
            </a:r>
            <a:endParaRPr/>
          </a:p>
          <a:p>
            <a:pPr indent="-342900" lvl="2" marL="1371600" rtl="0" algn="l">
              <a:spcBef>
                <a:spcPts val="0"/>
              </a:spcBef>
              <a:spcAft>
                <a:spcPts val="0"/>
              </a:spcAft>
              <a:buSzPts val="1800"/>
              <a:buChar char="■"/>
            </a:pPr>
            <a:r>
              <a:rPr lang="en-GB"/>
              <a:t>1 phương thức có đảm nhận nhiều hơn 1 trách nhiệm?</a:t>
            </a:r>
            <a:endParaRPr/>
          </a:p>
          <a:p>
            <a:pPr indent="-342900" lvl="2" marL="1371600" rtl="0" algn="l">
              <a:spcBef>
                <a:spcPts val="0"/>
              </a:spcBef>
              <a:spcAft>
                <a:spcPts val="0"/>
              </a:spcAft>
              <a:buSzPts val="1800"/>
              <a:buChar char="■"/>
            </a:pPr>
            <a:r>
              <a:rPr lang="en-GB"/>
              <a:t>Càng nhiều trách nhiệm thì càng phức tạp và khó triển khai.</a:t>
            </a:r>
            <a:endParaRPr/>
          </a:p>
          <a:p>
            <a:pPr indent="-368300" lvl="1" marL="914400" rtl="0" algn="l">
              <a:spcBef>
                <a:spcPts val="0"/>
              </a:spcBef>
              <a:spcAft>
                <a:spcPts val="0"/>
              </a:spcAft>
              <a:buSzPts val="2200"/>
              <a:buChar char="○"/>
            </a:pPr>
            <a:r>
              <a:rPr lang="en-GB"/>
              <a:t>Thống nhất lớp</a:t>
            </a:r>
            <a:endParaRPr/>
          </a:p>
          <a:p>
            <a:pPr indent="-342900" lvl="2" marL="1371600" rtl="0" algn="l">
              <a:spcBef>
                <a:spcPts val="0"/>
              </a:spcBef>
              <a:spcAft>
                <a:spcPts val="0"/>
              </a:spcAft>
              <a:buSzPts val="1800"/>
              <a:buChar char="■"/>
            </a:pPr>
            <a:r>
              <a:rPr lang="en-GB"/>
              <a:t>Các thuộc tính và phương thức có biểu diễn 1 loại đối tượng?</a:t>
            </a:r>
            <a:endParaRPr/>
          </a:p>
          <a:p>
            <a:pPr indent="-342900" lvl="2" marL="1371600" rtl="0" algn="l">
              <a:spcBef>
                <a:spcPts val="0"/>
              </a:spcBef>
              <a:spcAft>
                <a:spcPts val="0"/>
              </a:spcAft>
              <a:buSzPts val="1800"/>
              <a:buChar char="■"/>
            </a:pPr>
            <a:r>
              <a:rPr lang="en-GB"/>
              <a:t>Không nên trộn lẫn nhiều vai trò, loại đối tượng vào 1 lớp.</a:t>
            </a:r>
            <a:endParaRPr/>
          </a:p>
          <a:p>
            <a:pPr indent="-368300" lvl="1" marL="914400" rtl="0" algn="l">
              <a:spcBef>
                <a:spcPts val="0"/>
              </a:spcBef>
              <a:spcAft>
                <a:spcPts val="0"/>
              </a:spcAft>
              <a:buSzPts val="2200"/>
              <a:buChar char="○"/>
            </a:pPr>
            <a:r>
              <a:rPr lang="en-GB"/>
              <a:t>Thống nhất cây kế thừa</a:t>
            </a:r>
            <a:endParaRPr/>
          </a:p>
          <a:p>
            <a:pPr indent="-342900" lvl="2" marL="1371600" rtl="0" algn="l">
              <a:spcBef>
                <a:spcPts val="0"/>
              </a:spcBef>
              <a:spcAft>
                <a:spcPts val="0"/>
              </a:spcAft>
              <a:buSzPts val="1800"/>
              <a:buChar char="■"/>
            </a:pPr>
            <a:r>
              <a:rPr lang="en-GB"/>
              <a:t>Quan hệ giữa các lớp trong 1 cây kế thừa nên biểu diễn nhất quán quan hệ ”1 loại của”/”a-kind-of”, không phải tổng hợp hoặc liên quan.</a:t>
            </a:r>
            <a:endParaRPr/>
          </a:p>
          <a:p>
            <a:pPr indent="-342900" lvl="2" marL="1371600" rtl="0" algn="l">
              <a:spcBef>
                <a:spcPts val="0"/>
              </a:spcBef>
              <a:spcAft>
                <a:spcPts val="0"/>
              </a:spcAft>
              <a:buSzPts val="1800"/>
              <a:buChar char="■"/>
            </a:pPr>
            <a:r>
              <a:rPr lang="en-GB"/>
              <a:t>Các lớp tương thích với nguyên lý khả thay / Substitutability</a:t>
            </a:r>
            <a:endParaRPr/>
          </a:p>
          <a:p>
            <a:pPr indent="-381000" lvl="0" marL="457200" rtl="0" algn="l">
              <a:spcBef>
                <a:spcPts val="0"/>
              </a:spcBef>
              <a:spcAft>
                <a:spcPts val="0"/>
              </a:spcAft>
              <a:buSzPts val="2400"/>
              <a:buChar char="●"/>
            </a:pPr>
            <a:r>
              <a:rPr lang="en-GB"/>
              <a:t>Hướng tới thống nhất ở mức độ cao nhất.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Thống nhất phương thức</a:t>
            </a:r>
            <a:endParaRPr/>
          </a:p>
        </p:txBody>
      </p:sp>
      <p:sp>
        <p:nvSpPr>
          <p:cNvPr id="347" name="Google Shape;347;p48"/>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Thể hiện tính thống nhất trong 1 phương thức</a:t>
            </a:r>
            <a:endParaRPr/>
          </a:p>
          <a:p>
            <a:pPr indent="-368300" lvl="1" marL="914400" rtl="0" algn="l">
              <a:spcBef>
                <a:spcPts val="0"/>
              </a:spcBef>
              <a:spcAft>
                <a:spcPts val="0"/>
              </a:spcAft>
              <a:buSzPts val="2200"/>
              <a:buChar char="○"/>
            </a:pPr>
            <a:r>
              <a:rPr lang="en-GB"/>
              <a:t>Các lệnh trong phương thức cùng xử lý 1 công việc.</a:t>
            </a:r>
            <a:endParaRPr/>
          </a:p>
          <a:p>
            <a:pPr indent="-368300" lvl="1" marL="914400" rtl="0" algn="just">
              <a:spcBef>
                <a:spcPts val="0"/>
              </a:spcBef>
              <a:spcAft>
                <a:spcPts val="0"/>
              </a:spcAft>
              <a:buSzPts val="2200"/>
              <a:buChar char="○"/>
            </a:pPr>
            <a:r>
              <a:rPr lang="en-GB"/>
              <a:t>Mỗi phương thức chỉ nên làm 1 việc - lãnh 1 trách nhiệm</a:t>
            </a:r>
            <a:endParaRPr/>
          </a:p>
          <a:p>
            <a:pPr indent="-381000" lvl="0" marL="457200" rtl="0" algn="just">
              <a:spcBef>
                <a:spcPts val="0"/>
              </a:spcBef>
              <a:spcAft>
                <a:spcPts val="0"/>
              </a:spcAft>
              <a:buSzPts val="2400"/>
              <a:buChar char="●"/>
            </a:pPr>
            <a:r>
              <a:rPr lang="en-GB"/>
              <a:t>Các mức thống nhất phương thức theo thứ tự giảm dần từ cao (được mong đợi) đến thấp (không mong muốn)</a:t>
            </a:r>
            <a:endParaRPr/>
          </a:p>
          <a:p>
            <a:pPr indent="-368300" lvl="1" marL="914400" rtl="0" algn="l">
              <a:spcBef>
                <a:spcPts val="0"/>
              </a:spcBef>
              <a:spcAft>
                <a:spcPts val="0"/>
              </a:spcAft>
              <a:buSzPts val="2200"/>
              <a:buChar char="○"/>
            </a:pPr>
            <a:r>
              <a:rPr lang="en-GB"/>
              <a:t>Chức năng / Functional</a:t>
            </a:r>
            <a:endParaRPr/>
          </a:p>
          <a:p>
            <a:pPr indent="-368300" lvl="1" marL="914400" rtl="0" algn="l">
              <a:spcBef>
                <a:spcPts val="0"/>
              </a:spcBef>
              <a:spcAft>
                <a:spcPts val="0"/>
              </a:spcAft>
              <a:buSzPts val="2200"/>
              <a:buChar char="○"/>
            </a:pPr>
            <a:r>
              <a:rPr lang="en-GB"/>
              <a:t>Tuần tự / Sequential</a:t>
            </a:r>
            <a:endParaRPr/>
          </a:p>
          <a:p>
            <a:pPr indent="-368300" lvl="1" marL="914400" rtl="0" algn="l">
              <a:spcBef>
                <a:spcPts val="0"/>
              </a:spcBef>
              <a:spcAft>
                <a:spcPts val="0"/>
              </a:spcAft>
              <a:buSzPts val="2200"/>
              <a:buChar char="○"/>
            </a:pPr>
            <a:r>
              <a:rPr lang="en-GB"/>
              <a:t>Giao tiếp / Communicational</a:t>
            </a:r>
            <a:endParaRPr/>
          </a:p>
          <a:p>
            <a:pPr indent="-368300" lvl="1" marL="914400" rtl="0" algn="l">
              <a:spcBef>
                <a:spcPts val="0"/>
              </a:spcBef>
              <a:spcAft>
                <a:spcPts val="0"/>
              </a:spcAft>
              <a:buSzPts val="2200"/>
              <a:buChar char="○"/>
            </a:pPr>
            <a:r>
              <a:rPr lang="en-GB"/>
              <a:t>Tiến trình / Procedural</a:t>
            </a:r>
            <a:endParaRPr/>
          </a:p>
          <a:p>
            <a:pPr indent="-368300" lvl="1" marL="914400" rtl="0" algn="l">
              <a:spcBef>
                <a:spcPts val="0"/>
              </a:spcBef>
              <a:spcAft>
                <a:spcPts val="0"/>
              </a:spcAft>
              <a:buSzPts val="2200"/>
              <a:buChar char="○"/>
            </a:pPr>
            <a:r>
              <a:rPr lang="en-GB"/>
              <a:t>Tạm thời hoặc cổ điển / Temporal or Classical</a:t>
            </a:r>
            <a:endParaRPr/>
          </a:p>
          <a:p>
            <a:pPr indent="-368300" lvl="1" marL="914400" rtl="0" algn="l">
              <a:spcBef>
                <a:spcPts val="0"/>
              </a:spcBef>
              <a:spcAft>
                <a:spcPts val="0"/>
              </a:spcAft>
              <a:buSzPts val="2200"/>
              <a:buChar char="○"/>
            </a:pPr>
            <a:r>
              <a:rPr lang="en-GB"/>
              <a:t>Lô-gic / Logical</a:t>
            </a:r>
            <a:endParaRPr/>
          </a:p>
          <a:p>
            <a:pPr indent="-368300" lvl="1" marL="914400" rtl="0" algn="l">
              <a:spcBef>
                <a:spcPts val="0"/>
              </a:spcBef>
              <a:spcAft>
                <a:spcPts val="0"/>
              </a:spcAft>
              <a:buSzPts val="2200"/>
              <a:buChar char="○"/>
            </a:pPr>
            <a:r>
              <a:rPr lang="en-GB"/>
              <a:t>Ngẫu nhiên / Coincidental</a:t>
            </a:r>
            <a:endParaRPr/>
          </a:p>
        </p:txBody>
      </p:sp>
      <p:sp>
        <p:nvSpPr>
          <p:cNvPr id="348" name="Google Shape;348;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9"/>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mức thống nhất phương thức</a:t>
            </a:r>
            <a:endParaRPr/>
          </a:p>
        </p:txBody>
      </p:sp>
      <p:sp>
        <p:nvSpPr>
          <p:cNvPr id="354" name="Google Shape;354;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55" name="Google Shape;355;p49"/>
          <p:cNvGraphicFramePr/>
          <p:nvPr/>
        </p:nvGraphicFramePr>
        <p:xfrm>
          <a:off x="311700" y="890825"/>
          <a:ext cx="3000000" cy="3000000"/>
        </p:xfrm>
        <a:graphic>
          <a:graphicData uri="http://schemas.openxmlformats.org/drawingml/2006/table">
            <a:tbl>
              <a:tblPr>
                <a:noFill/>
                <a:tableStyleId>{87F4FDBC-C4A9-4F68-A135-D953BA0FE3B0}</a:tableStyleId>
              </a:tblPr>
              <a:tblGrid>
                <a:gridCol w="999275"/>
                <a:gridCol w="1188150"/>
                <a:gridCol w="6389400"/>
              </a:tblGrid>
              <a:tr h="230975">
                <a:tc gridSpan="2">
                  <a:txBody>
                    <a:bodyPr/>
                    <a:lstStyle/>
                    <a:p>
                      <a:pPr indent="0" lvl="0" marL="0" rtl="0" algn="ctr">
                        <a:spcBef>
                          <a:spcPts val="0"/>
                        </a:spcBef>
                        <a:spcAft>
                          <a:spcPts val="0"/>
                        </a:spcAft>
                        <a:buNone/>
                      </a:pPr>
                      <a:r>
                        <a:rPr b="1" lang="en-GB" sz="1800"/>
                        <a:t>Mức độ</a:t>
                      </a:r>
                      <a:endParaRPr b="1" sz="1800"/>
                    </a:p>
                  </a:txBody>
                  <a:tcPr marT="54000" marB="54000" marR="54000" marL="54000"/>
                </a:tc>
                <a:tc hMerge="1"/>
                <a:tc>
                  <a:txBody>
                    <a:bodyPr/>
                    <a:lstStyle/>
                    <a:p>
                      <a:pPr indent="0" lvl="0" marL="0" rtl="0" algn="ctr">
                        <a:spcBef>
                          <a:spcPts val="0"/>
                        </a:spcBef>
                        <a:spcAft>
                          <a:spcPts val="0"/>
                        </a:spcAft>
                        <a:buNone/>
                      </a:pPr>
                      <a:r>
                        <a:rPr b="1" lang="en-GB" sz="1800"/>
                        <a:t>Mô tả</a:t>
                      </a:r>
                      <a:endParaRPr b="1" sz="1800"/>
                    </a:p>
                  </a:txBody>
                  <a:tcPr marT="54000" marB="54000" marR="54000" marL="54000"/>
                </a:tc>
              </a:tr>
              <a:tr h="359850">
                <a:tc>
                  <a:txBody>
                    <a:bodyPr/>
                    <a:lstStyle/>
                    <a:p>
                      <a:pPr indent="0" lvl="0" marL="0" rtl="0" algn="ctr">
                        <a:spcBef>
                          <a:spcPts val="0"/>
                        </a:spcBef>
                        <a:spcAft>
                          <a:spcPts val="0"/>
                        </a:spcAft>
                        <a:buNone/>
                      </a:pPr>
                      <a:r>
                        <a:rPr lang="en-GB"/>
                        <a:t>Cao</a:t>
                      </a:r>
                      <a:endParaRPr/>
                    </a:p>
                  </a:txBody>
                  <a:tcPr marT="54000" marB="54000" marR="54000" marL="54000">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a:t>Chức năng</a:t>
                      </a:r>
                      <a:endParaRPr/>
                    </a:p>
                  </a:txBody>
                  <a:tcPr marT="54000" marB="54000" marR="54000" marL="54000"/>
                </a:tc>
                <a:tc>
                  <a:txBody>
                    <a:bodyPr/>
                    <a:lstStyle/>
                    <a:p>
                      <a:pPr indent="0" lvl="0" marL="0" rtl="0" algn="l">
                        <a:spcBef>
                          <a:spcPts val="0"/>
                        </a:spcBef>
                        <a:spcAft>
                          <a:spcPts val="0"/>
                        </a:spcAft>
                        <a:buNone/>
                      </a:pPr>
                      <a:r>
                        <a:rPr lang="en-GB"/>
                        <a:t>Mỗi phương thức thực hiện 1 công việc (ví dụ, tính GPA hiện tại)</a:t>
                      </a:r>
                      <a:endParaRPr/>
                    </a:p>
                  </a:txBody>
                  <a:tcPr marT="54000" marB="54000" marR="54000" marL="54000"/>
                </a:tc>
              </a:tr>
              <a:tr h="507175">
                <a:tc>
                  <a:txBody>
                    <a:bodyPr/>
                    <a:lstStyle/>
                    <a:p>
                      <a:pPr indent="0" lvl="0" marL="0" rtl="0" algn="ctr">
                        <a:spcBef>
                          <a:spcPts val="0"/>
                        </a:spcBef>
                        <a:spcAft>
                          <a:spcPts val="0"/>
                        </a:spcAft>
                        <a:buNone/>
                      </a:pPr>
                      <a:r>
                        <a:t/>
                      </a:r>
                      <a:endParaRPr/>
                    </a:p>
                  </a:txBody>
                  <a:tcPr marT="54000" marB="54000" marR="54000" marL="54000">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a:t>Tuần tự</a:t>
                      </a:r>
                      <a:endParaRPr/>
                    </a:p>
                  </a:txBody>
                  <a:tcPr marT="54000" marB="54000" marR="54000" marL="54000"/>
                </a:tc>
                <a:tc>
                  <a:txBody>
                    <a:bodyPr/>
                    <a:lstStyle/>
                    <a:p>
                      <a:pPr indent="0" lvl="0" marL="0" rtl="0" algn="l">
                        <a:spcBef>
                          <a:spcPts val="0"/>
                        </a:spcBef>
                        <a:spcAft>
                          <a:spcPts val="0"/>
                        </a:spcAft>
                        <a:buNone/>
                      </a:pPr>
                      <a:r>
                        <a:rPr lang="en-GB"/>
                        <a:t>Phương thức kết hợp 2 chức năng, trong đó đầu ra của chức năng đầu tiên được sử dụng như đầu vào của chức năng tiếp theo (ví dụ, chuẩn hóa và kiểm tra GPA hiện tại)</a:t>
                      </a:r>
                      <a:endParaRPr/>
                    </a:p>
                  </a:txBody>
                  <a:tcPr marT="54000" marB="54000" marR="54000" marL="54000"/>
                </a:tc>
              </a:tr>
              <a:tr h="507175">
                <a:tc>
                  <a:txBody>
                    <a:bodyPr/>
                    <a:lstStyle/>
                    <a:p>
                      <a:pPr indent="0" lvl="0" marL="0" rtl="0" algn="ctr">
                        <a:spcBef>
                          <a:spcPts val="0"/>
                        </a:spcBef>
                        <a:spcAft>
                          <a:spcPts val="0"/>
                        </a:spcAft>
                        <a:buNone/>
                      </a:pPr>
                      <a:r>
                        <a:t/>
                      </a:r>
                      <a:endParaRPr/>
                    </a:p>
                  </a:txBody>
                  <a:tcPr marT="54000" marB="54000" marR="54000" marL="54000">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a:t>Giao tiếp</a:t>
                      </a:r>
                      <a:endParaRPr/>
                    </a:p>
                  </a:txBody>
                  <a:tcPr marT="54000" marB="54000" marR="54000" marL="54000"/>
                </a:tc>
                <a:tc>
                  <a:txBody>
                    <a:bodyPr/>
                    <a:lstStyle/>
                    <a:p>
                      <a:pPr indent="0" lvl="0" marL="0" rtl="0" algn="l">
                        <a:spcBef>
                          <a:spcPts val="0"/>
                        </a:spcBef>
                        <a:spcAft>
                          <a:spcPts val="0"/>
                        </a:spcAft>
                        <a:buNone/>
                      </a:pPr>
                      <a:r>
                        <a:rPr lang="en-GB"/>
                        <a:t>Phương thức kết hợp 2 chức năng sử dụng chung tập thuộc tính (ví dụ, tính điểm GPA hiện tại và điểm GPA tích lũy)</a:t>
                      </a:r>
                      <a:endParaRPr/>
                    </a:p>
                  </a:txBody>
                  <a:tcPr marT="54000" marB="54000" marR="54000" marL="54000"/>
                </a:tc>
              </a:tr>
              <a:tr h="507175">
                <a:tc>
                  <a:txBody>
                    <a:bodyPr/>
                    <a:lstStyle/>
                    <a:p>
                      <a:pPr indent="0" lvl="0" marL="0" rtl="0" algn="ctr">
                        <a:spcBef>
                          <a:spcPts val="0"/>
                        </a:spcBef>
                        <a:spcAft>
                          <a:spcPts val="0"/>
                        </a:spcAft>
                        <a:buNone/>
                      </a:pPr>
                      <a:r>
                        <a:t/>
                      </a:r>
                      <a:endParaRPr/>
                    </a:p>
                  </a:txBody>
                  <a:tcPr marT="54000" marB="54000" marR="54000" marL="54000">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a:t>Tiến trình</a:t>
                      </a:r>
                      <a:endParaRPr/>
                    </a:p>
                  </a:txBody>
                  <a:tcPr marT="54000" marB="54000" marR="54000" marL="54000"/>
                </a:tc>
                <a:tc>
                  <a:txBody>
                    <a:bodyPr/>
                    <a:lstStyle/>
                    <a:p>
                      <a:pPr indent="0" lvl="0" marL="0" rtl="0" algn="l">
                        <a:spcBef>
                          <a:spcPts val="0"/>
                        </a:spcBef>
                        <a:spcAft>
                          <a:spcPts val="0"/>
                        </a:spcAft>
                        <a:buNone/>
                      </a:pPr>
                      <a:r>
                        <a:rPr lang="en-GB"/>
                        <a:t>Phương thức hỗ trợ nhiều chức năng liên kết yếu, ví dụ, tính GPA của sinh viên, in thông tin sinh viên, tính GPA tích lũy.</a:t>
                      </a:r>
                      <a:endParaRPr/>
                    </a:p>
                  </a:txBody>
                  <a:tcPr marT="54000" marB="54000" marR="54000" marL="54000"/>
                </a:tc>
              </a:tr>
              <a:tr h="359850">
                <a:tc>
                  <a:txBody>
                    <a:bodyPr/>
                    <a:lstStyle/>
                    <a:p>
                      <a:pPr indent="0" lvl="0" marL="0" rtl="0" algn="ctr">
                        <a:spcBef>
                          <a:spcPts val="0"/>
                        </a:spcBef>
                        <a:spcAft>
                          <a:spcPts val="0"/>
                        </a:spcAft>
                        <a:buNone/>
                      </a:pPr>
                      <a:r>
                        <a:t/>
                      </a:r>
                      <a:endParaRPr/>
                    </a:p>
                  </a:txBody>
                  <a:tcPr marT="54000" marB="54000" marR="54000" marL="54000">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a:t>Tạm thời hoặc cổ điển</a:t>
                      </a:r>
                      <a:endParaRPr/>
                    </a:p>
                  </a:txBody>
                  <a:tcPr marT="54000" marB="54000" marR="54000" marL="54000"/>
                </a:tc>
                <a:tc>
                  <a:txBody>
                    <a:bodyPr/>
                    <a:lstStyle/>
                    <a:p>
                      <a:pPr indent="0" lvl="0" marL="0" rtl="0" algn="l">
                        <a:spcBef>
                          <a:spcPts val="0"/>
                        </a:spcBef>
                        <a:spcAft>
                          <a:spcPts val="0"/>
                        </a:spcAft>
                        <a:buNone/>
                      </a:pPr>
                      <a:r>
                        <a:rPr lang="en-GB"/>
                        <a:t>Phương thức hỗ trợ nhiều chức năng liên quan theo thời gian (ví dụ, khởi tạo tất cả các thuộc tính)</a:t>
                      </a:r>
                      <a:endParaRPr/>
                    </a:p>
                  </a:txBody>
                  <a:tcPr marT="54000" marB="54000" marR="54000" marL="54000"/>
                </a:tc>
              </a:tr>
              <a:tr h="580825">
                <a:tc>
                  <a:txBody>
                    <a:bodyPr/>
                    <a:lstStyle/>
                    <a:p>
                      <a:pPr indent="0" lvl="0" marL="0" rtl="0" algn="ctr">
                        <a:spcBef>
                          <a:spcPts val="0"/>
                        </a:spcBef>
                        <a:spcAft>
                          <a:spcPts val="0"/>
                        </a:spcAft>
                        <a:buNone/>
                      </a:pPr>
                      <a:r>
                        <a:t/>
                      </a:r>
                      <a:endParaRPr/>
                    </a:p>
                  </a:txBody>
                  <a:tcPr marT="54000" marB="54000" marR="54000" marL="54000">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a:t>Lô-gic</a:t>
                      </a:r>
                      <a:endParaRPr/>
                    </a:p>
                  </a:txBody>
                  <a:tcPr marT="54000" marB="54000" marR="54000" marL="54000"/>
                </a:tc>
                <a:tc>
                  <a:txBody>
                    <a:bodyPr/>
                    <a:lstStyle/>
                    <a:p>
                      <a:pPr indent="0" lvl="0" marL="0" rtl="0" algn="l">
                        <a:spcBef>
                          <a:spcPts val="0"/>
                        </a:spcBef>
                        <a:spcAft>
                          <a:spcPts val="0"/>
                        </a:spcAft>
                        <a:buNone/>
                      </a:pPr>
                      <a:r>
                        <a:rPr lang="en-GB"/>
                        <a:t>Phương thức hỗ trợ nhiều chức năng liên quan, nhưng lựa chọn chức năng cụ thể được thực hiện dựa trên biến điều khiển được cung cấp như tham số. Ví dụ, phương thức có thể mở tài khoản tiết kiệm, tài khoản ghi nợ, hoặc tính lãi dựa theo thông điệp được gửi tới bởi phương thức gọi.</a:t>
                      </a:r>
                      <a:endParaRPr/>
                    </a:p>
                  </a:txBody>
                  <a:tcPr marT="54000" marB="54000" marR="54000" marL="54000"/>
                </a:tc>
              </a:tr>
              <a:tr h="451925">
                <a:tc>
                  <a:txBody>
                    <a:bodyPr/>
                    <a:lstStyle/>
                    <a:p>
                      <a:pPr indent="0" lvl="0" marL="0" rtl="0" algn="ctr">
                        <a:spcBef>
                          <a:spcPts val="0"/>
                        </a:spcBef>
                        <a:spcAft>
                          <a:spcPts val="0"/>
                        </a:spcAft>
                        <a:buNone/>
                      </a:pPr>
                      <a:r>
                        <a:rPr lang="en-GB"/>
                        <a:t>Thấp</a:t>
                      </a:r>
                      <a:endParaRPr/>
                    </a:p>
                  </a:txBody>
                  <a:tcPr marT="54000" marB="54000" marR="54000" marL="54000">
                    <a:lnT cap="flat" cmpd="sng" w="9525">
                      <a:solidFill>
                        <a:srgbClr val="9E9E9E">
                          <a:alpha val="0"/>
                        </a:srgbClr>
                      </a:solidFill>
                      <a:prstDash val="solid"/>
                      <a:round/>
                      <a:headEnd len="sm" w="sm" type="none"/>
                      <a:tailEnd len="sm" w="sm" type="none"/>
                    </a:lnT>
                  </a:tcPr>
                </a:tc>
                <a:tc>
                  <a:txBody>
                    <a:bodyPr/>
                    <a:lstStyle/>
                    <a:p>
                      <a:pPr indent="0" lvl="0" marL="0" rtl="0" algn="l">
                        <a:spcBef>
                          <a:spcPts val="0"/>
                        </a:spcBef>
                        <a:spcAft>
                          <a:spcPts val="0"/>
                        </a:spcAft>
                        <a:buNone/>
                      </a:pPr>
                      <a:r>
                        <a:rPr lang="en-GB"/>
                        <a:t>Ngẫu nhiên</a:t>
                      </a:r>
                      <a:endParaRPr/>
                    </a:p>
                  </a:txBody>
                  <a:tcPr marT="54000" marB="54000" marR="54000" marL="54000"/>
                </a:tc>
                <a:tc>
                  <a:txBody>
                    <a:bodyPr/>
                    <a:lstStyle/>
                    <a:p>
                      <a:pPr indent="0" lvl="0" marL="0" rtl="0" algn="l">
                        <a:spcBef>
                          <a:spcPts val="0"/>
                        </a:spcBef>
                        <a:spcAft>
                          <a:spcPts val="0"/>
                        </a:spcAft>
                        <a:buNone/>
                      </a:pPr>
                      <a:r>
                        <a:rPr lang="en-GB"/>
                        <a:t>Không thể xác định mục đích của phương thức hoặc nó thực hiện nhiều chức năng không liên quan. Ví dụ, phương thức có thể cập nhật hồ sơ khách hàng, tính lãi khoản vay, và phân tích cấu trúc giá của đối thủ.</a:t>
                      </a:r>
                      <a:endParaRPr/>
                    </a:p>
                  </a:txBody>
                  <a:tcPr marT="54000" marB="54000" marR="54000" marL="54000"/>
                </a:tc>
              </a:tr>
              <a:tr h="212550">
                <a:tc gridSpan="3">
                  <a:txBody>
                    <a:bodyPr/>
                    <a:lstStyle/>
                    <a:p>
                      <a:pPr indent="0" lvl="0" marL="0" rtl="0" algn="l">
                        <a:spcBef>
                          <a:spcPts val="0"/>
                        </a:spcBef>
                        <a:spcAft>
                          <a:spcPts val="0"/>
                        </a:spcAft>
                        <a:buNone/>
                      </a:pPr>
                      <a:r>
                        <a:rPr lang="en-GB"/>
                        <a:t>Nguồn: Page-Jones, </a:t>
                      </a:r>
                      <a:r>
                        <a:rPr i="1" lang="en-GB"/>
                        <a:t>The Practical Guide to Structured System</a:t>
                      </a:r>
                      <a:r>
                        <a:rPr lang="en-GB"/>
                        <a:t>, và Myers, </a:t>
                      </a:r>
                      <a:r>
                        <a:rPr i="1" lang="en-GB"/>
                        <a:t>Composite/Structured Design.</a:t>
                      </a:r>
                      <a:endParaRPr i="1"/>
                    </a:p>
                  </a:txBody>
                  <a:tcPr marT="54000" marB="54000" marR="54000" marL="54000"/>
                </a:tc>
                <a:tc hMerge="1"/>
                <a:tc hMerge="1"/>
              </a:tr>
            </a:tbl>
          </a:graphicData>
        </a:graphic>
      </p:graphicFrame>
      <p:cxnSp>
        <p:nvCxnSpPr>
          <p:cNvPr id="356" name="Google Shape;356;p49"/>
          <p:cNvCxnSpPr/>
          <p:nvPr/>
        </p:nvCxnSpPr>
        <p:spPr>
          <a:xfrm>
            <a:off x="809700" y="1549600"/>
            <a:ext cx="0" cy="33783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62" name="Google Shape;362;p5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Thống nhất lớp</a:t>
            </a:r>
            <a:endParaRPr/>
          </a:p>
        </p:txBody>
      </p:sp>
      <p:sp>
        <p:nvSpPr>
          <p:cNvPr id="363" name="Google Shape;363;p50"/>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Các yếu tố đảm bảo thống nhất lớp:</a:t>
            </a:r>
            <a:endParaRPr i="1"/>
          </a:p>
          <a:p>
            <a:pPr indent="-381000" lvl="0" marL="457200" rtl="0" algn="just">
              <a:spcBef>
                <a:spcPts val="1000"/>
              </a:spcBef>
              <a:spcAft>
                <a:spcPts val="0"/>
              </a:spcAft>
              <a:buSzPts val="2400"/>
              <a:buChar char="●"/>
            </a:pPr>
            <a:r>
              <a:rPr lang="en-GB"/>
              <a:t>Tất cả các thuộc tính và các phương thức của 1 lớp, cùng hỗ trợ biểu diễn 1 thứ</a:t>
            </a:r>
            <a:endParaRPr/>
          </a:p>
          <a:p>
            <a:pPr indent="-381000" lvl="0" marL="457200" rtl="0" algn="l">
              <a:spcBef>
                <a:spcPts val="0"/>
              </a:spcBef>
              <a:spcAft>
                <a:spcPts val="0"/>
              </a:spcAft>
              <a:buSzPts val="2400"/>
              <a:buChar char="●"/>
            </a:pPr>
            <a:r>
              <a:rPr lang="en-GB"/>
              <a:t>Tất cả các thuộc tính và các phương thức trong 1 lớp đều cần thiết</a:t>
            </a:r>
            <a:endParaRPr/>
          </a:p>
          <a:p>
            <a:pPr indent="-368300" lvl="1" marL="914400" rtl="0" algn="l">
              <a:spcBef>
                <a:spcPts val="0"/>
              </a:spcBef>
              <a:spcAft>
                <a:spcPts val="0"/>
              </a:spcAft>
              <a:buSzPts val="2200"/>
              <a:buChar char="○"/>
            </a:pPr>
            <a:r>
              <a:rPr lang="en-GB"/>
              <a:t>Mỗi lớp chỉ nên có các thuộc tính và phương thức cần thiết để biểu diễn các đối tượng của nó.</a:t>
            </a:r>
            <a:endParaRPr/>
          </a:p>
          <a:p>
            <a:pPr indent="-381000" lvl="0" marL="457200" rtl="0" algn="l">
              <a:spcBef>
                <a:spcPts val="0"/>
              </a:spcBef>
              <a:spcAft>
                <a:spcPts val="0"/>
              </a:spcAft>
              <a:buSzPts val="2400"/>
              <a:buChar char="●"/>
            </a:pPr>
            <a:r>
              <a:rPr lang="en-GB"/>
              <a:t>Ví dụ,</a:t>
            </a:r>
            <a:endParaRPr/>
          </a:p>
          <a:p>
            <a:pPr indent="-368300" lvl="1" marL="914400" rtl="0" algn="l">
              <a:spcBef>
                <a:spcPts val="0"/>
              </a:spcBef>
              <a:spcAft>
                <a:spcPts val="0"/>
              </a:spcAft>
              <a:buSzPts val="2200"/>
              <a:buChar char="○"/>
            </a:pPr>
            <a:r>
              <a:rPr lang="en-GB"/>
              <a:t>Lớp Student cần có các thuộc tính như: MSSV, Họ, Tên, Địa Chỉ</a:t>
            </a:r>
            <a:endParaRPr/>
          </a:p>
          <a:p>
            <a:pPr indent="-368300" lvl="1" marL="914400" rtl="0" algn="l">
              <a:spcBef>
                <a:spcPts val="0"/>
              </a:spcBef>
              <a:spcAft>
                <a:spcPts val="0"/>
              </a:spcAft>
              <a:buSzPts val="2200"/>
              <a:buChar char="○"/>
            </a:pPr>
            <a:r>
              <a:rPr lang="en-GB"/>
              <a:t>Nhưng không có các thuộc tính như: CPU, RAM, OS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mức thống nhất lớp</a:t>
            </a:r>
            <a:endParaRPr/>
          </a:p>
        </p:txBody>
      </p:sp>
      <p:sp>
        <p:nvSpPr>
          <p:cNvPr id="369" name="Google Shape;369;p51"/>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Các mức thống nhất lớp theo thứ tự giảm dần:</a:t>
            </a:r>
            <a:endParaRPr i="1"/>
          </a:p>
          <a:p>
            <a:pPr indent="-381000" lvl="0" marL="457200" rtl="0" algn="l">
              <a:spcBef>
                <a:spcPts val="0"/>
              </a:spcBef>
              <a:spcAft>
                <a:spcPts val="0"/>
              </a:spcAft>
              <a:buSzPts val="2400"/>
              <a:buChar char="●"/>
            </a:pPr>
            <a:r>
              <a:rPr lang="en-GB"/>
              <a:t>Lý tưởng / Ideal</a:t>
            </a:r>
            <a:endParaRPr/>
          </a:p>
          <a:p>
            <a:pPr indent="-381000" lvl="0" marL="457200" rtl="0" algn="l">
              <a:spcBef>
                <a:spcPts val="0"/>
              </a:spcBef>
              <a:spcAft>
                <a:spcPts val="0"/>
              </a:spcAft>
              <a:buSzPts val="2400"/>
              <a:buChar char="●"/>
            </a:pPr>
            <a:r>
              <a:rPr lang="en-GB"/>
              <a:t>Hỗn hợp vai trò / Mixed-Role</a:t>
            </a:r>
            <a:endParaRPr/>
          </a:p>
          <a:p>
            <a:pPr indent="-381000" lvl="0" marL="457200" rtl="0" algn="l">
              <a:spcBef>
                <a:spcPts val="0"/>
              </a:spcBef>
              <a:spcAft>
                <a:spcPts val="0"/>
              </a:spcAft>
              <a:buSzPts val="2400"/>
              <a:buChar char="●"/>
            </a:pPr>
            <a:r>
              <a:rPr lang="en-GB"/>
              <a:t>Hỗn hợp lĩnh vực / Mixed-Domain</a:t>
            </a:r>
            <a:endParaRPr/>
          </a:p>
          <a:p>
            <a:pPr indent="-381000" lvl="0" marL="457200" rtl="0" algn="l">
              <a:spcBef>
                <a:spcPts val="0"/>
              </a:spcBef>
              <a:spcAft>
                <a:spcPts val="0"/>
              </a:spcAft>
              <a:buSzPts val="2400"/>
              <a:buChar char="●"/>
            </a:pPr>
            <a:r>
              <a:rPr lang="en-GB"/>
              <a:t>Hỗn hợp đối tượng / Mixed-Instance</a:t>
            </a:r>
            <a:endParaRPr/>
          </a:p>
        </p:txBody>
      </p:sp>
      <p:sp>
        <p:nvSpPr>
          <p:cNvPr id="370" name="Google Shape;370;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76" name="Google Shape;376;p52"/>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mức thống nhất lớp</a:t>
            </a:r>
            <a:r>
              <a:rPr baseline="-25000" lang="en-GB"/>
              <a:t>(2)</a:t>
            </a:r>
            <a:endParaRPr baseline="-25000"/>
          </a:p>
        </p:txBody>
      </p:sp>
      <p:graphicFrame>
        <p:nvGraphicFramePr>
          <p:cNvPr id="377" name="Google Shape;377;p52"/>
          <p:cNvGraphicFramePr/>
          <p:nvPr/>
        </p:nvGraphicFramePr>
        <p:xfrm>
          <a:off x="311700" y="950475"/>
          <a:ext cx="3000000" cy="3000000"/>
        </p:xfrm>
        <a:graphic>
          <a:graphicData uri="http://schemas.openxmlformats.org/drawingml/2006/table">
            <a:tbl>
              <a:tblPr>
                <a:noFill/>
                <a:tableStyleId>{87F4FDBC-C4A9-4F68-A135-D953BA0FE3B0}</a:tableStyleId>
              </a:tblPr>
              <a:tblGrid>
                <a:gridCol w="1137050"/>
                <a:gridCol w="1402275"/>
                <a:gridCol w="5981275"/>
              </a:tblGrid>
              <a:tr h="371775">
                <a:tc gridSpan="2">
                  <a:txBody>
                    <a:bodyPr/>
                    <a:lstStyle/>
                    <a:p>
                      <a:pPr indent="0" lvl="0" marL="0" rtl="0" algn="ctr">
                        <a:spcBef>
                          <a:spcPts val="0"/>
                        </a:spcBef>
                        <a:spcAft>
                          <a:spcPts val="0"/>
                        </a:spcAft>
                        <a:buNone/>
                      </a:pPr>
                      <a:r>
                        <a:rPr b="1" lang="en-GB" sz="1800"/>
                        <a:t>Mức độ</a:t>
                      </a:r>
                      <a:endParaRPr b="1" sz="1800"/>
                    </a:p>
                  </a:txBody>
                  <a:tcPr marT="91425" marB="91425" marR="91425" marL="91425"/>
                </a:tc>
                <a:tc hMerge="1"/>
                <a:tc>
                  <a:txBody>
                    <a:bodyPr/>
                    <a:lstStyle/>
                    <a:p>
                      <a:pPr indent="0" lvl="0" marL="0" rtl="0" algn="ctr">
                        <a:spcBef>
                          <a:spcPts val="0"/>
                        </a:spcBef>
                        <a:spcAft>
                          <a:spcPts val="0"/>
                        </a:spcAft>
                        <a:buNone/>
                      </a:pPr>
                      <a:r>
                        <a:rPr b="1" lang="en-GB" sz="1800"/>
                        <a:t>Mô tả</a:t>
                      </a:r>
                      <a:endParaRPr b="1" sz="1800"/>
                    </a:p>
                  </a:txBody>
                  <a:tcPr marT="91425" marB="91425" marR="91425" marL="91425"/>
                </a:tc>
              </a:tr>
              <a:tr h="371775">
                <a:tc>
                  <a:txBody>
                    <a:bodyPr/>
                    <a:lstStyle/>
                    <a:p>
                      <a:pPr indent="0" lvl="0" marL="0" rtl="0" algn="ctr">
                        <a:spcBef>
                          <a:spcPts val="0"/>
                        </a:spcBef>
                        <a:spcAft>
                          <a:spcPts val="0"/>
                        </a:spcAft>
                        <a:buNone/>
                      </a:pPr>
                      <a:r>
                        <a:rPr lang="en-GB" sz="1600"/>
                        <a:t>Cao</a:t>
                      </a:r>
                      <a:endParaRPr sz="1600"/>
                    </a:p>
                  </a:txBody>
                  <a:tcPr marT="91425" marB="91425" marR="91425" marL="91425">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1600"/>
                        <a:t>Lý tưởng</a:t>
                      </a:r>
                      <a:endParaRPr sz="1600"/>
                    </a:p>
                  </a:txBody>
                  <a:tcPr marT="91425" marB="91425" marR="91425" marL="91425"/>
                </a:tc>
                <a:tc>
                  <a:txBody>
                    <a:bodyPr/>
                    <a:lstStyle/>
                    <a:p>
                      <a:pPr indent="0" lvl="0" marL="0" rtl="0" algn="l">
                        <a:spcBef>
                          <a:spcPts val="0"/>
                        </a:spcBef>
                        <a:spcAft>
                          <a:spcPts val="0"/>
                        </a:spcAft>
                        <a:buNone/>
                      </a:pPr>
                      <a:r>
                        <a:rPr lang="en-GB" sz="1600"/>
                        <a:t>Lớp không có yếu tố hỗn hợp</a:t>
                      </a:r>
                      <a:endParaRPr sz="1600"/>
                    </a:p>
                  </a:txBody>
                  <a:tcPr marT="91425" marB="91425" marR="91425" marL="91425"/>
                </a:tc>
              </a:tr>
              <a:tr h="371775">
                <a:tc>
                  <a:txBody>
                    <a:bodyPr/>
                    <a:lstStyle/>
                    <a:p>
                      <a:pPr indent="0" lvl="0" marL="0" rtl="0" algn="ctr">
                        <a:spcBef>
                          <a:spcPts val="0"/>
                        </a:spcBef>
                        <a:spcAft>
                          <a:spcPts val="0"/>
                        </a:spcAft>
                        <a:buNone/>
                      </a:pPr>
                      <a:r>
                        <a:t/>
                      </a:r>
                      <a:endParaRPr sz="1600"/>
                    </a:p>
                  </a:txBody>
                  <a:tcPr marT="91425" marB="91425" marR="91425" marL="91425">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1600"/>
                        <a:t>Hỗn hợp vai trò</a:t>
                      </a:r>
                      <a:endParaRPr sz="1600"/>
                    </a:p>
                  </a:txBody>
                  <a:tcPr marT="91425" marB="91425" marR="91425" marL="91425"/>
                </a:tc>
                <a:tc>
                  <a:txBody>
                    <a:bodyPr/>
                    <a:lstStyle/>
                    <a:p>
                      <a:pPr indent="0" lvl="0" marL="0" rtl="0" algn="just">
                        <a:spcBef>
                          <a:spcPts val="0"/>
                        </a:spcBef>
                        <a:spcAft>
                          <a:spcPts val="0"/>
                        </a:spcAft>
                        <a:buNone/>
                      </a:pPr>
                      <a:r>
                        <a:rPr lang="en-GB" sz="1600"/>
                        <a:t>Lớp có thành phần trực tiếp kết nối đối tượng của lớp với đối tượng thuộc lớp khác trên cùng tầng (ví dụ, tầng lĩnh vực ứng dụng), nhưng các thuộc tính đó không liên quan với ý nghĩa cơ bản của lớp.</a:t>
                      </a:r>
                      <a:endParaRPr sz="1600"/>
                    </a:p>
                  </a:txBody>
                  <a:tcPr marT="91425" marB="91425" marR="91425" marL="91425"/>
                </a:tc>
              </a:tr>
              <a:tr h="619600">
                <a:tc>
                  <a:txBody>
                    <a:bodyPr/>
                    <a:lstStyle/>
                    <a:p>
                      <a:pPr indent="0" lvl="0" marL="0" rtl="0" algn="ctr">
                        <a:spcBef>
                          <a:spcPts val="0"/>
                        </a:spcBef>
                        <a:spcAft>
                          <a:spcPts val="0"/>
                        </a:spcAft>
                        <a:buNone/>
                      </a:pPr>
                      <a:r>
                        <a:t/>
                      </a:r>
                      <a:endParaRPr sz="1600"/>
                    </a:p>
                  </a:txBody>
                  <a:tcPr marT="91425" marB="91425" marR="91425" marL="91425">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GB" sz="1600"/>
                        <a:t>Hỗn hợp lĩnh vực</a:t>
                      </a:r>
                      <a:endParaRPr sz="1600"/>
                    </a:p>
                  </a:txBody>
                  <a:tcPr marT="91425" marB="91425" marR="91425" marL="91425"/>
                </a:tc>
                <a:tc>
                  <a:txBody>
                    <a:bodyPr/>
                    <a:lstStyle/>
                    <a:p>
                      <a:pPr indent="0" lvl="0" marL="0" rtl="0" algn="just">
                        <a:spcBef>
                          <a:spcPts val="0"/>
                        </a:spcBef>
                        <a:spcAft>
                          <a:spcPts val="0"/>
                        </a:spcAft>
                        <a:buNone/>
                      </a:pPr>
                      <a:r>
                        <a:rPr lang="en-GB" sz="1600"/>
                        <a:t>Lớp có thành phần trực tiếp kết nối đối tượng thuộc lớp với đối tượng thuộc lớp khác tầng, nhưng thành phần đó không liên quan đến ý nghĩa cơ bản của lớp. Trong những trường hợp này, các thành phần liên kết thuộc về lớp trên tầng kia. Ví dụ, thuộc tính cổng nằm trong 1 lớp lĩnh vực đúng ra phải nằm trong lớp thuộc tầng kiến trúc hệ thống liên quan với lớp lĩnh vực.</a:t>
                      </a:r>
                      <a:endParaRPr sz="1600"/>
                    </a:p>
                  </a:txBody>
                  <a:tcPr marT="91425" marB="91425" marR="91425" marL="91425"/>
                </a:tc>
              </a:tr>
              <a:tr h="371775">
                <a:tc>
                  <a:txBody>
                    <a:bodyPr/>
                    <a:lstStyle/>
                    <a:p>
                      <a:pPr indent="0" lvl="0" marL="0" rtl="0" algn="ctr">
                        <a:spcBef>
                          <a:spcPts val="0"/>
                        </a:spcBef>
                        <a:spcAft>
                          <a:spcPts val="0"/>
                        </a:spcAft>
                        <a:buNone/>
                      </a:pPr>
                      <a:r>
                        <a:rPr lang="en-GB" sz="1600"/>
                        <a:t>Thấp</a:t>
                      </a:r>
                      <a:endParaRPr sz="1600"/>
                    </a:p>
                  </a:txBody>
                  <a:tcPr marT="91425" marB="91425" marR="91425" marL="91425">
                    <a:lnT cap="flat" cmpd="sng" w="9525">
                      <a:solidFill>
                        <a:srgbClr val="9E9E9E">
                          <a:alpha val="0"/>
                        </a:srgbClr>
                      </a:solidFill>
                      <a:prstDash val="solid"/>
                      <a:round/>
                      <a:headEnd len="sm" w="sm" type="none"/>
                      <a:tailEnd len="sm" w="sm" type="none"/>
                    </a:lnT>
                  </a:tcPr>
                </a:tc>
                <a:tc>
                  <a:txBody>
                    <a:bodyPr/>
                    <a:lstStyle/>
                    <a:p>
                      <a:pPr indent="0" lvl="0" marL="0" rtl="0" algn="l">
                        <a:spcBef>
                          <a:spcPts val="0"/>
                        </a:spcBef>
                        <a:spcAft>
                          <a:spcPts val="0"/>
                        </a:spcAft>
                        <a:buNone/>
                      </a:pPr>
                      <a:r>
                        <a:rPr lang="en-GB" sz="1600"/>
                        <a:t>Hỗn hợp đối tượng</a:t>
                      </a:r>
                      <a:endParaRPr sz="1600"/>
                    </a:p>
                  </a:txBody>
                  <a:tcPr marT="91425" marB="91425" marR="91425" marL="91425"/>
                </a:tc>
                <a:tc>
                  <a:txBody>
                    <a:bodyPr/>
                    <a:lstStyle/>
                    <a:p>
                      <a:pPr indent="0" lvl="0" marL="0" rtl="0" algn="just">
                        <a:spcBef>
                          <a:spcPts val="0"/>
                        </a:spcBef>
                        <a:spcAft>
                          <a:spcPts val="0"/>
                        </a:spcAft>
                        <a:buNone/>
                      </a:pPr>
                      <a:r>
                        <a:rPr lang="en-GB" sz="1600"/>
                        <a:t>Lớp biểu diễn nhiều loại đối tượng. Lớp như vậy cần được phân tách thành các lớp riêng biệt. Thông thường, mỗi đối tượng chỉ sử dụng 1 phần định nghĩa của lớp.</a:t>
                      </a:r>
                      <a:endParaRPr sz="1600"/>
                    </a:p>
                  </a:txBody>
                  <a:tcPr marT="91425" marB="91425" marR="91425" marL="91425"/>
                </a:tc>
              </a:tr>
              <a:tr h="371775">
                <a:tc gridSpan="3">
                  <a:txBody>
                    <a:bodyPr/>
                    <a:lstStyle/>
                    <a:p>
                      <a:pPr indent="0" lvl="0" marL="0" rtl="0" algn="l">
                        <a:spcBef>
                          <a:spcPts val="0"/>
                        </a:spcBef>
                        <a:spcAft>
                          <a:spcPts val="0"/>
                        </a:spcAft>
                        <a:buNone/>
                      </a:pPr>
                      <a:r>
                        <a:rPr lang="en-GB" sz="1600"/>
                        <a:t>Nguồn: Page-Jones, </a:t>
                      </a:r>
                      <a:r>
                        <a:rPr i="1" lang="en-GB" sz="1600"/>
                        <a:t>Fundamentals of Object-Oriented Design in UML.</a:t>
                      </a:r>
                      <a:endParaRPr i="1" sz="1600"/>
                    </a:p>
                  </a:txBody>
                  <a:tcPr marT="91425" marB="91425" marR="91425" marL="91425"/>
                </a:tc>
                <a:tc hMerge="1"/>
                <a:tc hMerge="1"/>
              </a:tr>
            </a:tbl>
          </a:graphicData>
        </a:graphic>
      </p:graphicFrame>
      <p:cxnSp>
        <p:nvCxnSpPr>
          <p:cNvPr id="378" name="Google Shape;378;p52"/>
          <p:cNvCxnSpPr/>
          <p:nvPr/>
        </p:nvCxnSpPr>
        <p:spPr>
          <a:xfrm flipH="1">
            <a:off x="877450" y="1717125"/>
            <a:ext cx="9600" cy="29817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Lớp thống nhất lý tưởng</a:t>
            </a:r>
            <a:endParaRPr/>
          </a:p>
        </p:txBody>
      </p:sp>
      <p:sp>
        <p:nvSpPr>
          <p:cNvPr id="384" name="Google Shape;384;p53"/>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Chứa nhiều phương thức có thể được nhìn thấy từ bên ngoài lớp,</a:t>
            </a:r>
            <a:endParaRPr/>
          </a:p>
          <a:p>
            <a:pPr indent="-381000" lvl="0" marL="457200" rtl="0" algn="just">
              <a:spcBef>
                <a:spcPts val="0"/>
              </a:spcBef>
              <a:spcAft>
                <a:spcPts val="0"/>
              </a:spcAft>
              <a:buSzPts val="2400"/>
              <a:buChar char="●"/>
            </a:pPr>
            <a:r>
              <a:rPr lang="en-GB"/>
              <a:t>Mỗi phương thức công khai chỉ thực hiện 1 chức năng,</a:t>
            </a:r>
            <a:endParaRPr/>
          </a:p>
          <a:p>
            <a:pPr indent="-381000" lvl="0" marL="457200" rtl="0" algn="just">
              <a:spcBef>
                <a:spcPts val="0"/>
              </a:spcBef>
              <a:spcAft>
                <a:spcPts val="0"/>
              </a:spcAft>
              <a:buSzPts val="2400"/>
              <a:buChar char="●"/>
            </a:pPr>
            <a:r>
              <a:rPr lang="en-GB"/>
              <a:t>Các phương thức chỉ sử dụng các thuộc tính và các phương thức khác được định nghĩa trong cùng lớp hoặc (các) lớp trên của nó,</a:t>
            </a:r>
            <a:endParaRPr/>
          </a:p>
          <a:p>
            <a:pPr indent="-381000" lvl="0" marL="457200" rtl="0" algn="just">
              <a:spcBef>
                <a:spcPts val="0"/>
              </a:spcBef>
              <a:spcAft>
                <a:spcPts val="0"/>
              </a:spcAft>
              <a:buSzPts val="2400"/>
              <a:buChar char="●"/>
            </a:pPr>
            <a:r>
              <a:rPr lang="en-GB"/>
              <a:t>Không có ghép nối mức điều khiển giữa các phương thức công khai của nó.</a:t>
            </a:r>
            <a:endParaRPr/>
          </a:p>
          <a:p>
            <a:pPr indent="0" lvl="0" marL="0" rtl="0" algn="just">
              <a:spcBef>
                <a:spcPts val="0"/>
              </a:spcBef>
              <a:spcAft>
                <a:spcPts val="0"/>
              </a:spcAft>
              <a:buNone/>
            </a:pPr>
            <a:r>
              <a:rPr lang="en-GB"/>
              <a:t>[</a:t>
            </a:r>
            <a:r>
              <a:rPr i="1" lang="en-GB"/>
              <a:t>Glenford J. Myers, Composite/Structured Design, 1998</a:t>
            </a:r>
            <a:r>
              <a:rPr lang="en-GB"/>
              <a:t>]</a:t>
            </a:r>
            <a:endParaRPr/>
          </a:p>
        </p:txBody>
      </p:sp>
      <p:sp>
        <p:nvSpPr>
          <p:cNvPr id="385" name="Google Shape;385;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Mức thống nhất: Hỗn hợp vai trò</a:t>
            </a:r>
            <a:endParaRPr/>
          </a:p>
        </p:txBody>
      </p:sp>
      <p:sp>
        <p:nvSpPr>
          <p:cNvPr id="391" name="Google Shape;391;p54"/>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Tính hỗn hợp vai trò làm giảm khả năng tái sử dụng</a:t>
            </a:r>
            <a:endParaRPr/>
          </a:p>
          <a:p>
            <a:pPr indent="-381000" lvl="0" marL="457200" rtl="0" algn="just">
              <a:spcBef>
                <a:spcPts val="0"/>
              </a:spcBef>
              <a:spcAft>
                <a:spcPts val="0"/>
              </a:spcAft>
              <a:buSzPts val="2400"/>
              <a:buChar char="●"/>
            </a:pPr>
            <a:r>
              <a:rPr lang="en-GB"/>
              <a:t>Ví dụ 1: lớp Student và Room cùng thuộc tầng lĩnh vực ứng dụng, nhưng phòng học không phải thuộc tính mô tả sinh viên.</a:t>
            </a:r>
            <a:endParaRPr/>
          </a:p>
          <a:p>
            <a:pPr indent="-368300" lvl="1" marL="914400" rtl="0" algn="just">
              <a:spcBef>
                <a:spcPts val="0"/>
              </a:spcBef>
              <a:spcAft>
                <a:spcPts val="0"/>
              </a:spcAft>
              <a:buSzPts val="2200"/>
              <a:buChar char="○"/>
            </a:pPr>
            <a:r>
              <a:rPr lang="en-GB"/>
              <a:t>Thiết kế lớp Student trực tiếp gắn kết với lớp Room làm phát sinh vấn đề hỗn hợp vai trò.</a:t>
            </a:r>
            <a:endParaRPr/>
          </a:p>
          <a:p>
            <a:pPr indent="-381000" lvl="0" marL="457200" rtl="0" algn="just">
              <a:spcBef>
                <a:spcPts val="0"/>
              </a:spcBef>
              <a:spcAft>
                <a:spcPts val="0"/>
              </a:spcAft>
              <a:buSzPts val="2400"/>
              <a:buChar char="●"/>
            </a:pPr>
            <a:r>
              <a:rPr lang="en-GB"/>
              <a:t>Ví dụ 2: Lớp Student và lớp Registration cũng cùng thuộc tầng lĩnh vực ứng dụng, và sinh viên là 1 phần trong đăng ký học tập </a:t>
            </a:r>
            <a:endParaRPr/>
          </a:p>
          <a:p>
            <a:pPr indent="-368300" lvl="1" marL="914400" rtl="0" algn="just">
              <a:spcBef>
                <a:spcPts val="0"/>
              </a:spcBef>
              <a:spcAft>
                <a:spcPts val="0"/>
              </a:spcAft>
              <a:buSzPts val="2200"/>
              <a:buChar char="○"/>
            </a:pPr>
            <a:r>
              <a:rPr lang="en-GB"/>
              <a:t>Thiết kế lớp Registration trực tiếp gắn kết với lớp Student không phát sinh vấn đề hỗn hợp vai trò</a:t>
            </a:r>
            <a:endParaRPr/>
          </a:p>
        </p:txBody>
      </p:sp>
      <p:sp>
        <p:nvSpPr>
          <p:cNvPr id="392" name="Google Shape;392;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Mức thống nhất: Hỗn hợp lĩnh vực </a:t>
            </a:r>
            <a:endParaRPr/>
          </a:p>
        </p:txBody>
      </p:sp>
      <p:sp>
        <p:nvSpPr>
          <p:cNvPr id="398" name="Google Shape;398;p55"/>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Phát sinh khi lớp chứa thành phần trực tiếp gắn kết với lớp trên 1 tầng khác / không thuộc tầng của nó.</a:t>
            </a:r>
            <a:endParaRPr/>
          </a:p>
          <a:p>
            <a:pPr indent="-381000" lvl="0" marL="457200" rtl="0" algn="l">
              <a:spcBef>
                <a:spcPts val="0"/>
              </a:spcBef>
              <a:spcAft>
                <a:spcPts val="0"/>
              </a:spcAft>
              <a:buSzPts val="2400"/>
              <a:buChar char="●"/>
            </a:pPr>
            <a:r>
              <a:rPr lang="en-GB"/>
              <a:t>Kiểm tra tính năng có thiết yếu đối với lớp không?</a:t>
            </a:r>
            <a:endParaRPr/>
          </a:p>
          <a:p>
            <a:pPr indent="-368300" lvl="1" marL="914400" rtl="0" algn="l">
              <a:spcBef>
                <a:spcPts val="0"/>
              </a:spcBef>
              <a:spcAft>
                <a:spcPts val="0"/>
              </a:spcAft>
              <a:buSzPts val="2200"/>
              <a:buChar char="○"/>
            </a:pPr>
            <a:r>
              <a:rPr lang="en-GB"/>
              <a:t>Ví dụ 1: Lớp Order và lớp Printer thuộc các tầng khác nhau</a:t>
            </a:r>
            <a:endParaRPr/>
          </a:p>
          <a:p>
            <a:pPr indent="-342900" lvl="2" marL="1371600" rtl="0" algn="l">
              <a:spcBef>
                <a:spcPts val="0"/>
              </a:spcBef>
              <a:spcAft>
                <a:spcPts val="0"/>
              </a:spcAft>
              <a:buSzPts val="1800"/>
              <a:buChar char="■"/>
            </a:pPr>
            <a:r>
              <a:rPr lang="en-GB"/>
              <a:t>Triển khai phương thức in hóa đơn trong lớp đơn hàng? Có thể triển khai lớp đơn hàng mà không có phương thức in hay không?</a:t>
            </a:r>
            <a:endParaRPr/>
          </a:p>
          <a:p>
            <a:pPr indent="-368300" lvl="1" marL="914400" rtl="0" algn="l">
              <a:spcBef>
                <a:spcPts val="0"/>
              </a:spcBef>
              <a:spcAft>
                <a:spcPts val="0"/>
              </a:spcAft>
              <a:buSzPts val="2200"/>
              <a:buChar char="○"/>
            </a:pPr>
            <a:r>
              <a:rPr lang="en-GB"/>
              <a:t>Ví dụ 2: Lớp OrderDetailView và lớp Order cũng thuộc các tầng khác nhau</a:t>
            </a:r>
            <a:endParaRPr/>
          </a:p>
          <a:p>
            <a:pPr indent="-342900" lvl="2" marL="1371600" rtl="0" algn="l">
              <a:spcBef>
                <a:spcPts val="0"/>
              </a:spcBef>
              <a:spcAft>
                <a:spcPts val="0"/>
              </a:spcAft>
              <a:buSzPts val="1800"/>
              <a:buChar char="■"/>
            </a:pPr>
            <a:r>
              <a:rPr lang="en-GB"/>
              <a:t>Có thể triển khai giao diện đơn hàng mà không đọc dữ liệu đơn hàng hay không?</a:t>
            </a:r>
            <a:endParaRPr/>
          </a:p>
        </p:txBody>
      </p:sp>
      <p:sp>
        <p:nvSpPr>
          <p:cNvPr id="399" name="Google Shape;399;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Mức thống nhất: Hỗn hợp đối tượng</a:t>
            </a:r>
            <a:endParaRPr/>
          </a:p>
        </p:txBody>
      </p:sp>
      <p:sp>
        <p:nvSpPr>
          <p:cNvPr id="405" name="Google Shape;405;p56"/>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Lớp biểu diễn nhiều hơn 1 nhóm đối tượng / Có thành phần không được sử dụng cho 1 số đối tượng</a:t>
            </a:r>
            <a:endParaRPr/>
          </a:p>
          <a:p>
            <a:pPr indent="-381000" lvl="0" marL="457200" rtl="0" algn="l">
              <a:spcBef>
                <a:spcPts val="0"/>
              </a:spcBef>
              <a:spcAft>
                <a:spcPts val="0"/>
              </a:spcAft>
              <a:buSzPts val="2400"/>
              <a:buChar char="●"/>
            </a:pPr>
            <a:r>
              <a:rPr lang="en-GB"/>
              <a:t>Ví dụ: Giả sử chúng ta đang triển khai 1 lớp Person với các phương thức:</a:t>
            </a:r>
            <a:endParaRPr/>
          </a:p>
          <a:p>
            <a:pPr indent="-368300" lvl="1" marL="914400" rtl="0" algn="l">
              <a:spcBef>
                <a:spcPts val="0"/>
              </a:spcBef>
              <a:spcAft>
                <a:spcPts val="0"/>
              </a:spcAft>
              <a:buSzPts val="2200"/>
              <a:buChar char="○"/>
            </a:pPr>
            <a:r>
              <a:rPr lang="en-GB"/>
              <a:t>GetSalary() trả về lương nếu là nhân viên.</a:t>
            </a:r>
            <a:endParaRPr/>
          </a:p>
          <a:p>
            <a:pPr indent="-368300" lvl="1" marL="914400" rtl="0" algn="l">
              <a:spcBef>
                <a:spcPts val="0"/>
              </a:spcBef>
              <a:spcAft>
                <a:spcPts val="0"/>
              </a:spcAft>
              <a:buSzPts val="2200"/>
              <a:buChar char="○"/>
            </a:pPr>
            <a:r>
              <a:rPr lang="en-GB"/>
              <a:t>GetCashBack() trả về số dư tài khoản hoàn tiền nếu là khách hàng.</a:t>
            </a:r>
            <a:endParaRPr/>
          </a:p>
          <a:p>
            <a:pPr indent="-368300" lvl="1" marL="914400" rtl="0" algn="l">
              <a:spcBef>
                <a:spcPts val="0"/>
              </a:spcBef>
              <a:spcAft>
                <a:spcPts val="0"/>
              </a:spcAft>
              <a:buSzPts val="2200"/>
              <a:buChar char="○"/>
            </a:pPr>
            <a:r>
              <a:rPr lang="en-GB"/>
              <a:t>Với mỗi đối tượng Person là của 1 nhân viên hoặc 1 khách hàng chúng ta đều có tính năng không sử dụng đến</a:t>
            </a:r>
            <a:endParaRPr/>
          </a:p>
          <a:p>
            <a:pPr indent="-342900" lvl="2" marL="1371600" rtl="0" algn="l">
              <a:spcBef>
                <a:spcPts val="0"/>
              </a:spcBef>
              <a:spcAft>
                <a:spcPts val="0"/>
              </a:spcAft>
              <a:buSzPts val="1800"/>
              <a:buChar char="■"/>
            </a:pPr>
            <a:r>
              <a:rPr lang="en-GB"/>
              <a:t>Cho thấy lớp Person đang quá rộng.</a:t>
            </a:r>
            <a:endParaRPr/>
          </a:p>
          <a:p>
            <a:pPr indent="-368300" lvl="1" marL="914400" rtl="0" algn="l">
              <a:spcBef>
                <a:spcPts val="0"/>
              </a:spcBef>
              <a:spcAft>
                <a:spcPts val="0"/>
              </a:spcAft>
              <a:buSzPts val="2200"/>
              <a:buChar char="○"/>
            </a:pPr>
            <a:r>
              <a:rPr lang="en-GB"/>
              <a:t>Giải pháp:</a:t>
            </a:r>
            <a:endParaRPr/>
          </a:p>
          <a:p>
            <a:pPr indent="-342900" lvl="2" marL="1371600" rtl="0" algn="l">
              <a:spcBef>
                <a:spcPts val="0"/>
              </a:spcBef>
              <a:spcAft>
                <a:spcPts val="0"/>
              </a:spcAft>
              <a:buSzPts val="1800"/>
              <a:buChar char="■"/>
            </a:pPr>
            <a:r>
              <a:rPr lang="en-GB"/>
              <a:t>Tách các tính năng gắn với nhân viên và đưa vào 1 lớp Employee</a:t>
            </a:r>
            <a:endParaRPr/>
          </a:p>
          <a:p>
            <a:pPr indent="-342900" lvl="2" marL="1371600" rtl="0" algn="l">
              <a:spcBef>
                <a:spcPts val="0"/>
              </a:spcBef>
              <a:spcAft>
                <a:spcPts val="0"/>
              </a:spcAft>
              <a:buSzPts val="1800"/>
              <a:buChar char="■"/>
            </a:pPr>
            <a:r>
              <a:rPr lang="en-GB"/>
              <a:t>Tách các tính năng gắn với khách hàng và đưa vào 1 lớp Customer</a:t>
            </a:r>
            <a:endParaRPr/>
          </a:p>
          <a:p>
            <a:pPr indent="-342900" lvl="2" marL="1371600" rtl="0" algn="l">
              <a:spcBef>
                <a:spcPts val="0"/>
              </a:spcBef>
              <a:spcAft>
                <a:spcPts val="0"/>
              </a:spcAft>
              <a:buSzPts val="1800"/>
              <a:buChar char="■"/>
            </a:pPr>
            <a:r>
              <a:rPr lang="en-GB"/>
              <a:t>Các lớp Employee và Customer kế thừa lớp Person</a:t>
            </a:r>
            <a:endParaRPr/>
          </a:p>
        </p:txBody>
      </p:sp>
      <p:sp>
        <p:nvSpPr>
          <p:cNvPr id="406" name="Google Shape;406;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12" name="Google Shape;412;p57"/>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thành phần phụ thuộc lẫn nhau khiến thay đổi trong 1 thành phần kéo theo thay đổi trong các thành phần khác.</a:t>
            </a:r>
            <a:endParaRPr/>
          </a:p>
          <a:p>
            <a:pPr indent="-381000" lvl="0" marL="457200" rtl="0" algn="just">
              <a:spcBef>
                <a:spcPts val="0"/>
              </a:spcBef>
              <a:spcAft>
                <a:spcPts val="0"/>
              </a:spcAft>
              <a:buSzPts val="2400"/>
              <a:buChar char="●"/>
            </a:pPr>
            <a:r>
              <a:rPr lang="en-GB"/>
              <a:t>Kết hợp chỉ số ghép nối và chỉ số thống nhất trong các giới hạn đóng gói</a:t>
            </a:r>
            <a:endParaRPr/>
          </a:p>
          <a:p>
            <a:pPr indent="-381000" lvl="0" marL="457200" rtl="0" algn="just">
              <a:spcBef>
                <a:spcPts val="0"/>
              </a:spcBef>
              <a:spcAft>
                <a:spcPts val="0"/>
              </a:spcAft>
              <a:buSzPts val="2400"/>
              <a:buChar char="●"/>
            </a:pPr>
            <a:r>
              <a:rPr lang="en-GB"/>
              <a:t>Có 3 mức đóng gói được sử dụng:</a:t>
            </a:r>
            <a:endParaRPr/>
          </a:p>
          <a:p>
            <a:pPr indent="-368300" lvl="1" marL="914400" rtl="0" algn="just">
              <a:spcBef>
                <a:spcPts val="0"/>
              </a:spcBef>
              <a:spcAft>
                <a:spcPts val="0"/>
              </a:spcAft>
              <a:buSzPts val="2200"/>
              <a:buChar char="○"/>
            </a:pPr>
            <a:r>
              <a:rPr lang="en-GB"/>
              <a:t>Đóng gói mức 0: Đóng gói trong phạm vi 1 câu lệnh</a:t>
            </a:r>
            <a:endParaRPr/>
          </a:p>
          <a:p>
            <a:pPr indent="-368300" lvl="1" marL="914400" rtl="0" algn="just">
              <a:spcBef>
                <a:spcPts val="0"/>
              </a:spcBef>
              <a:spcAft>
                <a:spcPts val="0"/>
              </a:spcAft>
              <a:buSzPts val="2200"/>
              <a:buChar char="○"/>
            </a:pPr>
            <a:r>
              <a:rPr lang="en-GB"/>
              <a:t>Đóng gói mức 1: Phương thức - tổng hợp nhiều câu lệnh</a:t>
            </a:r>
            <a:endParaRPr/>
          </a:p>
          <a:p>
            <a:pPr indent="-342900" lvl="2" marL="1371600" rtl="0" algn="just">
              <a:spcBef>
                <a:spcPts val="0"/>
              </a:spcBef>
              <a:spcAft>
                <a:spcPts val="0"/>
              </a:spcAft>
              <a:buSzPts val="1800"/>
              <a:buChar char="■"/>
            </a:pPr>
            <a:r>
              <a:rPr lang="en-GB"/>
              <a:t>Kết hợp thống nhất phương thức và ghép nối tương tác.</a:t>
            </a:r>
            <a:endParaRPr/>
          </a:p>
          <a:p>
            <a:pPr indent="-368300" lvl="1" marL="914400" rtl="0" algn="just">
              <a:spcBef>
                <a:spcPts val="0"/>
              </a:spcBef>
              <a:spcAft>
                <a:spcPts val="0"/>
              </a:spcAft>
              <a:buSzPts val="2200"/>
              <a:buChar char="○"/>
            </a:pPr>
            <a:r>
              <a:rPr lang="en-GB"/>
              <a:t>Đóng gói mức 2: Lớp - Chứa cả thuộc tính và phương thức</a:t>
            </a:r>
            <a:endParaRPr/>
          </a:p>
          <a:p>
            <a:pPr indent="-342900" lvl="2" marL="1371600" rtl="0" algn="just">
              <a:spcBef>
                <a:spcPts val="0"/>
              </a:spcBef>
              <a:spcAft>
                <a:spcPts val="0"/>
              </a:spcAft>
              <a:buSzPts val="1800"/>
              <a:buChar char="■"/>
            </a:pPr>
            <a:r>
              <a:rPr lang="en-GB"/>
              <a:t>Kết hợp thống nhất lớp, thống nhất cây kế thừa, và ghép nối kế thừa</a:t>
            </a:r>
            <a:endParaRPr/>
          </a:p>
        </p:txBody>
      </p:sp>
      <p:sp>
        <p:nvSpPr>
          <p:cNvPr id="413" name="Google Shape;413;p5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Đồng sinh</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19" name="Google Shape;419;p5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Đánh giá mức độ đồng sinh</a:t>
            </a:r>
            <a:endParaRPr/>
          </a:p>
        </p:txBody>
      </p:sp>
      <p:sp>
        <p:nvSpPr>
          <p:cNvPr id="420" name="Google Shape;420;p58"/>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Mức độ đồng sinh thường được đánh giá trong phạm vi đóng gói mức 1 (mức phương thức), và đóng gói mức 2 (mức lớp).</a:t>
            </a:r>
            <a:endParaRPr/>
          </a:p>
          <a:p>
            <a:pPr indent="-381000" lvl="0" marL="457200" rtl="0" algn="l">
              <a:spcBef>
                <a:spcPts val="0"/>
              </a:spcBef>
              <a:spcAft>
                <a:spcPts val="0"/>
              </a:spcAft>
              <a:buSzPts val="2400"/>
              <a:buChar char="●"/>
            </a:pPr>
            <a:r>
              <a:rPr lang="en-GB"/>
              <a:t>Mã nguồn cần hướng tới:</a:t>
            </a:r>
            <a:endParaRPr/>
          </a:p>
          <a:p>
            <a:pPr indent="-368300" lvl="1" marL="914400" rtl="0" algn="l">
              <a:spcBef>
                <a:spcPts val="0"/>
              </a:spcBef>
              <a:spcAft>
                <a:spcPts val="0"/>
              </a:spcAft>
              <a:buSzPts val="2200"/>
              <a:buChar char="○"/>
            </a:pPr>
            <a:r>
              <a:rPr lang="en-GB"/>
              <a:t>Cực tiểu hóa đồng sinh giữa các giới hạn đóng gói (ít liên kết phụ thuộc giữa các thành phần).</a:t>
            </a:r>
            <a:endParaRPr/>
          </a:p>
          <a:p>
            <a:pPr indent="-368300" lvl="1" marL="914400" rtl="0" algn="l">
              <a:spcBef>
                <a:spcPts val="0"/>
              </a:spcBef>
              <a:spcAft>
                <a:spcPts val="0"/>
              </a:spcAft>
              <a:buSzPts val="2200"/>
              <a:buChar char="○"/>
            </a:pPr>
            <a:r>
              <a:rPr lang="en-GB"/>
              <a:t>Cực đại hóa đồng sinh trong phạm vi đóng gói (nhiều quan hệ phụ thuộc trong 1 thành phần).</a:t>
            </a:r>
            <a:endParaRPr/>
          </a:p>
          <a:p>
            <a:pPr indent="-368300" lvl="1" marL="914400" rtl="0" algn="l">
              <a:spcBef>
                <a:spcPts val="0"/>
              </a:spcBef>
              <a:spcAft>
                <a:spcPts val="0"/>
              </a:spcAft>
              <a:buSzPts val="2200"/>
              <a:buChar char="○"/>
            </a:pPr>
            <a:r>
              <a:rPr lang="en-GB"/>
              <a:t>=&gt; Lớp con không nên trực tiếp truy cập thuộc tính hoặc phương thức của lớp cha</a:t>
            </a:r>
            <a:endParaRPr i="1">
              <a:solidFill>
                <a:srgbClr val="1155CC"/>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26" name="Google Shape;426;p5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trường hợp đồng sinh</a:t>
            </a:r>
            <a:endParaRPr/>
          </a:p>
        </p:txBody>
      </p:sp>
      <p:sp>
        <p:nvSpPr>
          <p:cNvPr id="427" name="Google Shape;427;p59"/>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Tên / Name</a:t>
            </a:r>
            <a:endParaRPr/>
          </a:p>
          <a:p>
            <a:pPr indent="-381000" lvl="0" marL="457200" rtl="0" algn="l">
              <a:spcBef>
                <a:spcPts val="0"/>
              </a:spcBef>
              <a:spcAft>
                <a:spcPts val="0"/>
              </a:spcAft>
              <a:buSzPts val="2400"/>
              <a:buChar char="●"/>
            </a:pPr>
            <a:r>
              <a:rPr lang="en-GB"/>
              <a:t>Kiểu hoặc Lớp / Type or Class</a:t>
            </a:r>
            <a:endParaRPr/>
          </a:p>
          <a:p>
            <a:pPr indent="-381000" lvl="0" marL="457200" rtl="0" algn="l">
              <a:spcBef>
                <a:spcPts val="0"/>
              </a:spcBef>
              <a:spcAft>
                <a:spcPts val="0"/>
              </a:spcAft>
              <a:buSzPts val="2400"/>
              <a:buChar char="●"/>
            </a:pPr>
            <a:r>
              <a:rPr lang="en-GB"/>
              <a:t>Quy ước / Convention</a:t>
            </a:r>
            <a:endParaRPr/>
          </a:p>
          <a:p>
            <a:pPr indent="-381000" lvl="0" marL="457200" rtl="0" algn="l">
              <a:spcBef>
                <a:spcPts val="0"/>
              </a:spcBef>
              <a:spcAft>
                <a:spcPts val="0"/>
              </a:spcAft>
              <a:buSzPts val="2400"/>
              <a:buChar char="●"/>
            </a:pPr>
            <a:r>
              <a:rPr lang="en-GB"/>
              <a:t>Giải thuật / Algorithm</a:t>
            </a:r>
            <a:endParaRPr/>
          </a:p>
          <a:p>
            <a:pPr indent="-381000" lvl="0" marL="457200" rtl="0" algn="l">
              <a:spcBef>
                <a:spcPts val="0"/>
              </a:spcBef>
              <a:spcAft>
                <a:spcPts val="0"/>
              </a:spcAft>
              <a:buSzPts val="2400"/>
              <a:buChar char="●"/>
            </a:pPr>
            <a:r>
              <a:rPr lang="en-GB"/>
              <a:t>Vị trí / Position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trường hợp đồng sinh</a:t>
            </a:r>
            <a:r>
              <a:rPr baseline="-25000" lang="en-GB"/>
              <a:t>(2)</a:t>
            </a:r>
            <a:endParaRPr baseline="-25000"/>
          </a:p>
        </p:txBody>
      </p:sp>
      <p:sp>
        <p:nvSpPr>
          <p:cNvPr id="433" name="Google Shape;433;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434" name="Google Shape;434;p60"/>
          <p:cNvGraphicFramePr/>
          <p:nvPr/>
        </p:nvGraphicFramePr>
        <p:xfrm>
          <a:off x="311700" y="950475"/>
          <a:ext cx="3000000" cy="3000000"/>
        </p:xfrm>
        <a:graphic>
          <a:graphicData uri="http://schemas.openxmlformats.org/drawingml/2006/table">
            <a:tbl>
              <a:tblPr>
                <a:noFill/>
                <a:tableStyleId>{87F4FDBC-C4A9-4F68-A135-D953BA0FE3B0}</a:tableStyleId>
              </a:tblPr>
              <a:tblGrid>
                <a:gridCol w="1663675"/>
                <a:gridCol w="6856925"/>
              </a:tblGrid>
              <a:tr h="274800">
                <a:tc>
                  <a:txBody>
                    <a:bodyPr/>
                    <a:lstStyle/>
                    <a:p>
                      <a:pPr indent="0" lvl="0" marL="0" rtl="0" algn="l">
                        <a:spcBef>
                          <a:spcPts val="0"/>
                        </a:spcBef>
                        <a:spcAft>
                          <a:spcPts val="0"/>
                        </a:spcAft>
                        <a:buNone/>
                      </a:pPr>
                      <a:r>
                        <a:rPr b="1" lang="en-GB" sz="1800"/>
                        <a:t>Phân loại</a:t>
                      </a:r>
                      <a:endParaRPr b="1" sz="1800"/>
                    </a:p>
                  </a:txBody>
                  <a:tcPr marT="54000" marB="54000" marR="54000" marL="54000"/>
                </a:tc>
                <a:tc>
                  <a:txBody>
                    <a:bodyPr/>
                    <a:lstStyle/>
                    <a:p>
                      <a:pPr indent="0" lvl="0" marL="0" rtl="0" algn="ctr">
                        <a:spcBef>
                          <a:spcPts val="0"/>
                        </a:spcBef>
                        <a:spcAft>
                          <a:spcPts val="0"/>
                        </a:spcAft>
                        <a:buNone/>
                      </a:pPr>
                      <a:r>
                        <a:rPr b="1" lang="en-GB" sz="1800"/>
                        <a:t>Mô tả</a:t>
                      </a:r>
                      <a:endParaRPr b="1" sz="1800"/>
                    </a:p>
                  </a:txBody>
                  <a:tcPr marT="54000" marB="54000" marR="54000" marL="54000"/>
                </a:tc>
              </a:tr>
              <a:tr h="274800">
                <a:tc>
                  <a:txBody>
                    <a:bodyPr/>
                    <a:lstStyle/>
                    <a:p>
                      <a:pPr indent="0" lvl="0" marL="0" rtl="0" algn="l">
                        <a:spcBef>
                          <a:spcPts val="0"/>
                        </a:spcBef>
                        <a:spcAft>
                          <a:spcPts val="0"/>
                        </a:spcAft>
                        <a:buNone/>
                      </a:pPr>
                      <a:r>
                        <a:rPr lang="en-GB" sz="1600"/>
                        <a:t>Tên</a:t>
                      </a:r>
                      <a:endParaRPr sz="1600"/>
                    </a:p>
                  </a:txBody>
                  <a:tcPr marT="54000" marB="54000" marR="54000" marL="54000"/>
                </a:tc>
                <a:tc>
                  <a:txBody>
                    <a:bodyPr/>
                    <a:lstStyle/>
                    <a:p>
                      <a:pPr indent="0" lvl="0" marL="0" rtl="0" algn="l">
                        <a:spcBef>
                          <a:spcPts val="0"/>
                        </a:spcBef>
                        <a:spcAft>
                          <a:spcPts val="0"/>
                        </a:spcAft>
                        <a:buNone/>
                      </a:pPr>
                      <a:r>
                        <a:rPr lang="en-GB" sz="1600"/>
                        <a:t>Nếu 1 phương thức sử dụng 1 thuộc tính, thì nó được gắn với tên của thuộc tính. Nếu tên thuộc tính thay đổi, nội dung của phương thức cũng sẽ phải thay đổi.</a:t>
                      </a:r>
                      <a:endParaRPr sz="1600"/>
                    </a:p>
                  </a:txBody>
                  <a:tcPr marT="54000" marB="54000" marR="54000" marL="54000"/>
                </a:tc>
              </a:tr>
              <a:tr h="274800">
                <a:tc>
                  <a:txBody>
                    <a:bodyPr/>
                    <a:lstStyle/>
                    <a:p>
                      <a:pPr indent="0" lvl="0" marL="0" rtl="0" algn="l">
                        <a:spcBef>
                          <a:spcPts val="0"/>
                        </a:spcBef>
                        <a:spcAft>
                          <a:spcPts val="0"/>
                        </a:spcAft>
                        <a:buNone/>
                      </a:pPr>
                      <a:r>
                        <a:rPr lang="en-GB" sz="1600"/>
                        <a:t>Kiểu hoặc Lớp</a:t>
                      </a:r>
                      <a:endParaRPr sz="1600"/>
                    </a:p>
                  </a:txBody>
                  <a:tcPr marT="54000" marB="54000" marR="54000" marL="54000"/>
                </a:tc>
                <a:tc>
                  <a:txBody>
                    <a:bodyPr/>
                    <a:lstStyle/>
                    <a:p>
                      <a:pPr indent="0" lvl="0" marL="0" rtl="0" algn="l">
                        <a:spcBef>
                          <a:spcPts val="0"/>
                        </a:spcBef>
                        <a:spcAft>
                          <a:spcPts val="0"/>
                        </a:spcAft>
                        <a:buNone/>
                      </a:pPr>
                      <a:r>
                        <a:rPr lang="en-GB" sz="1600"/>
                        <a:t>Nếu 1 lớp có 1 thuộc tính thuộc kiểu A, nó được gắn với kiểu của thuộc tính. Nếu kiểu của thuộc tính thay đổi, khai báo thuộc tính cũng sẽ phải thay đổi.</a:t>
                      </a:r>
                      <a:endParaRPr sz="1600"/>
                    </a:p>
                  </a:txBody>
                  <a:tcPr marT="54000" marB="54000" marR="54000" marL="54000"/>
                </a:tc>
              </a:tr>
              <a:tr h="274800">
                <a:tc>
                  <a:txBody>
                    <a:bodyPr/>
                    <a:lstStyle/>
                    <a:p>
                      <a:pPr indent="0" lvl="0" marL="0" rtl="0" algn="l">
                        <a:spcBef>
                          <a:spcPts val="0"/>
                        </a:spcBef>
                        <a:spcAft>
                          <a:spcPts val="0"/>
                        </a:spcAft>
                        <a:buNone/>
                      </a:pPr>
                      <a:r>
                        <a:rPr lang="en-GB" sz="1600"/>
                        <a:t>Quy ước</a:t>
                      </a:r>
                      <a:endParaRPr sz="1600"/>
                    </a:p>
                  </a:txBody>
                  <a:tcPr marT="54000" marB="54000" marR="54000" marL="54000"/>
                </a:tc>
                <a:tc>
                  <a:txBody>
                    <a:bodyPr/>
                    <a:lstStyle/>
                    <a:p>
                      <a:pPr indent="0" lvl="0" marL="0" rtl="0" algn="l">
                        <a:spcBef>
                          <a:spcPts val="0"/>
                        </a:spcBef>
                        <a:spcAft>
                          <a:spcPts val="0"/>
                        </a:spcAft>
                        <a:buNone/>
                      </a:pPr>
                      <a:r>
                        <a:rPr lang="en-GB" sz="1600"/>
                        <a:t>Một lớp có 1 thuộc tính mà miền giá trị có ý nghĩa (ví dụ, số tài khoản với các giá trị trong phạm vi từ 1000 tới 1999 là các tài sản). Nếu khoảng thay đổi, thì tất cả phương thức sử dụng thuộc tính cũng cần phải thay đổi.</a:t>
                      </a:r>
                      <a:endParaRPr sz="1600"/>
                    </a:p>
                  </a:txBody>
                  <a:tcPr marT="54000" marB="54000" marR="54000" marL="54000"/>
                </a:tc>
              </a:tr>
              <a:tr h="274800">
                <a:tc>
                  <a:txBody>
                    <a:bodyPr/>
                    <a:lstStyle/>
                    <a:p>
                      <a:pPr indent="0" lvl="0" marL="0" rtl="0" algn="l">
                        <a:spcBef>
                          <a:spcPts val="0"/>
                        </a:spcBef>
                        <a:spcAft>
                          <a:spcPts val="0"/>
                        </a:spcAft>
                        <a:buNone/>
                      </a:pPr>
                      <a:r>
                        <a:rPr lang="en-GB" sz="1600"/>
                        <a:t>Giải thuật</a:t>
                      </a:r>
                      <a:endParaRPr sz="1600"/>
                    </a:p>
                  </a:txBody>
                  <a:tcPr marT="54000" marB="54000" marR="54000" marL="54000"/>
                </a:tc>
                <a:tc>
                  <a:txBody>
                    <a:bodyPr/>
                    <a:lstStyle/>
                    <a:p>
                      <a:pPr indent="0" lvl="0" marL="0" rtl="0" algn="l">
                        <a:spcBef>
                          <a:spcPts val="0"/>
                        </a:spcBef>
                        <a:spcAft>
                          <a:spcPts val="0"/>
                        </a:spcAft>
                        <a:buNone/>
                      </a:pPr>
                      <a:r>
                        <a:rPr lang="en-GB" sz="1600"/>
                        <a:t>Hai phương thức khác nhau của 1 lớp cùng phụ thuộc vào 1 giải thuật để chạy đúng (ví dụ, kiểm tra tính hợp lệ của địa chỉ email khi tạo tài khoản và khi gửi yêu cầu khôi phục mật khẩu). Nếu giải thuật cơ sở cần thay đổi, thì phương thức thêm và tìm kiếm cũng sẽ phải thay đổi.</a:t>
                      </a:r>
                      <a:endParaRPr sz="1600"/>
                    </a:p>
                  </a:txBody>
                  <a:tcPr marT="54000" marB="54000" marR="54000" marL="54000"/>
                </a:tc>
              </a:tr>
              <a:tr h="274800">
                <a:tc>
                  <a:txBody>
                    <a:bodyPr/>
                    <a:lstStyle/>
                    <a:p>
                      <a:pPr indent="0" lvl="0" marL="0" rtl="0" algn="l">
                        <a:spcBef>
                          <a:spcPts val="0"/>
                        </a:spcBef>
                        <a:spcAft>
                          <a:spcPts val="0"/>
                        </a:spcAft>
                        <a:buNone/>
                      </a:pPr>
                      <a:r>
                        <a:rPr lang="en-GB" sz="1600"/>
                        <a:t>Vị trí</a:t>
                      </a:r>
                      <a:endParaRPr sz="1600"/>
                    </a:p>
                  </a:txBody>
                  <a:tcPr marT="54000" marB="54000" marR="54000" marL="54000"/>
                </a:tc>
                <a:tc>
                  <a:txBody>
                    <a:bodyPr/>
                    <a:lstStyle/>
                    <a:p>
                      <a:pPr indent="0" lvl="0" marL="0" rtl="0" algn="l">
                        <a:spcBef>
                          <a:spcPts val="0"/>
                        </a:spcBef>
                        <a:spcAft>
                          <a:spcPts val="0"/>
                        </a:spcAft>
                        <a:buNone/>
                      </a:pPr>
                      <a:r>
                        <a:rPr lang="en-GB" sz="1600"/>
                        <a:t>Thứ tự mã nguồn trong 1 phương thức hoặc thứ tự các tham số trong 1 phương thức là đặc biệt quan trọng để phương thức chạy đúng. Nếu bất kỳ thứ tự nào sai, thì phương thức có thể hoạt động sai.</a:t>
                      </a:r>
                      <a:endParaRPr sz="1600"/>
                    </a:p>
                  </a:txBody>
                  <a:tcPr marT="54000" marB="54000" marR="54000" marL="54000"/>
                </a:tc>
              </a:tr>
              <a:tr h="274800">
                <a:tc gridSpan="2">
                  <a:txBody>
                    <a:bodyPr/>
                    <a:lstStyle/>
                    <a:p>
                      <a:pPr indent="0" lvl="0" marL="0" rtl="0" algn="l">
                        <a:spcBef>
                          <a:spcPts val="0"/>
                        </a:spcBef>
                        <a:spcAft>
                          <a:spcPts val="0"/>
                        </a:spcAft>
                        <a:buNone/>
                      </a:pPr>
                      <a:r>
                        <a:rPr lang="en-GB" sz="1600"/>
                        <a:t>Nguồn: Meilir Page-Jones, </a:t>
                      </a:r>
                      <a:r>
                        <a:rPr i="1" lang="en-GB" sz="1600"/>
                        <a:t>Comparing Techniques by Means of Encapsulation and Connascence</a:t>
                      </a:r>
                      <a:r>
                        <a:rPr lang="en-GB" sz="1600"/>
                        <a:t> and Meilir Page-Jones, </a:t>
                      </a:r>
                      <a:r>
                        <a:rPr i="1" lang="en-GB" sz="1600"/>
                        <a:t>Fundamentals of Object-Oriented Design</a:t>
                      </a:r>
                      <a:r>
                        <a:rPr lang="en-GB" sz="1600"/>
                        <a:t> in UML.</a:t>
                      </a:r>
                      <a:endParaRPr sz="1600"/>
                    </a:p>
                  </a:txBody>
                  <a:tcPr marT="54000" marB="54000" marR="54000" marL="54000"/>
                </a:tc>
                <a:tc hMerge="1"/>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5.3. Đồng sinh tên</a:t>
            </a:r>
            <a:endParaRPr/>
          </a:p>
        </p:txBody>
      </p:sp>
      <p:sp>
        <p:nvSpPr>
          <p:cNvPr id="440" name="Google Shape;440;p6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41" name="Google Shape;441;p61"/>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GB">
                <a:solidFill>
                  <a:srgbClr val="3F51B5"/>
                </a:solidFill>
              </a:rPr>
              <a:t>struct</a:t>
            </a:r>
            <a:r>
              <a:rPr lang="en-GB">
                <a:solidFill>
                  <a:srgbClr val="37474F"/>
                </a:solidFill>
              </a:rPr>
              <a:t> student {</a:t>
            </a:r>
            <a:endParaRPr>
              <a:solidFill>
                <a:schemeClr val="dk1"/>
              </a:solidFill>
            </a:endParaRPr>
          </a:p>
          <a:p>
            <a:pPr indent="0" lvl="0" marL="0" rtl="0" algn="l">
              <a:lnSpc>
                <a:spcPct val="150000"/>
              </a:lnSpc>
              <a:spcBef>
                <a:spcPts val="0"/>
              </a:spcBef>
              <a:spcAft>
                <a:spcPts val="0"/>
              </a:spcAft>
              <a:buNone/>
            </a:pPr>
            <a:r>
              <a:rPr lang="en-GB">
                <a:solidFill>
                  <a:srgbClr val="3F51B5"/>
                </a:solidFill>
              </a:rPr>
              <a:t>  long</a:t>
            </a:r>
            <a:r>
              <a:rPr lang="en-GB">
                <a:solidFill>
                  <a:srgbClr val="37474F"/>
                </a:solidFill>
              </a:rPr>
              <a:t> id;</a:t>
            </a:r>
            <a:endParaRPr>
              <a:solidFill>
                <a:schemeClr val="dk1"/>
              </a:solidFill>
            </a:endParaRPr>
          </a:p>
          <a:p>
            <a:pPr indent="0" lvl="0" marL="0" rtl="0" algn="l">
              <a:lnSpc>
                <a:spcPct val="150000"/>
              </a:lnSpc>
              <a:spcBef>
                <a:spcPts val="0"/>
              </a:spcBef>
              <a:spcAft>
                <a:spcPts val="0"/>
              </a:spcAft>
              <a:buNone/>
            </a:pPr>
            <a:r>
              <a:rPr lang="en-GB">
                <a:solidFill>
                  <a:srgbClr val="3F51B5"/>
                </a:solidFill>
              </a:rPr>
              <a:t>  char</a:t>
            </a:r>
            <a:r>
              <a:rPr lang="en-GB">
                <a:solidFill>
                  <a:srgbClr val="0097A7"/>
                </a:solidFill>
              </a:rPr>
              <a:t> fullname</a:t>
            </a:r>
            <a:r>
              <a:rPr lang="en-GB">
                <a:solidFill>
                  <a:srgbClr val="37474F"/>
                </a:solidFill>
              </a:rPr>
              <a:t>[</a:t>
            </a:r>
            <a:r>
              <a:rPr lang="en-GB">
                <a:solidFill>
                  <a:srgbClr val="C53929"/>
                </a:solidFill>
              </a:rPr>
              <a:t>256</a:t>
            </a:r>
            <a:r>
              <a:rPr lang="en-GB">
                <a:solidFill>
                  <a:srgbClr val="37474F"/>
                </a:solidFill>
              </a:rPr>
              <a:t>];</a:t>
            </a:r>
            <a:endParaRPr>
              <a:solidFill>
                <a:schemeClr val="dk1"/>
              </a:solidFill>
            </a:endParaRPr>
          </a:p>
          <a:p>
            <a:pPr indent="0" lvl="0" marL="0" rtl="0" algn="l">
              <a:lnSpc>
                <a:spcPct val="150000"/>
              </a:lnSpc>
              <a:spcBef>
                <a:spcPts val="0"/>
              </a:spcBef>
              <a:spcAft>
                <a:spcPts val="0"/>
              </a:spcAft>
              <a:buNone/>
            </a:pPr>
            <a:r>
              <a:rPr lang="en-GB">
                <a:solidFill>
                  <a:srgbClr val="37474F"/>
                </a:solidFill>
              </a:rPr>
              <a:t>};</a:t>
            </a:r>
            <a:endParaRPr>
              <a:solidFill>
                <a:srgbClr val="3F51B5"/>
              </a:solidFill>
            </a:endParaRPr>
          </a:p>
        </p:txBody>
      </p:sp>
      <p:sp>
        <p:nvSpPr>
          <p:cNvPr id="442" name="Google Shape;442;p61"/>
          <p:cNvSpPr txBox="1"/>
          <p:nvPr/>
        </p:nvSpPr>
        <p:spPr>
          <a:xfrm>
            <a:off x="309800" y="3244550"/>
            <a:ext cx="8520600" cy="131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2"/>
                </a:solidFill>
              </a:rPr>
              <a:t>Mã nguồn sử dụng cấu trúc student phụ thuộc vào các định danh của cấu trúc student.</a:t>
            </a:r>
            <a:endParaRPr sz="2400">
              <a:solidFill>
                <a:schemeClr val="dk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5.4. Đồng sinh kiểu</a:t>
            </a:r>
            <a:endParaRPr/>
          </a:p>
        </p:txBody>
      </p:sp>
      <p:sp>
        <p:nvSpPr>
          <p:cNvPr id="448" name="Google Shape;448;p62"/>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3F51B5"/>
                </a:solidFill>
              </a:rPr>
              <a:t>char *</a:t>
            </a:r>
            <a:r>
              <a:rPr lang="en-GB">
                <a:solidFill>
                  <a:srgbClr val="37474F"/>
                </a:solidFill>
              </a:rPr>
              <a:t>s </a:t>
            </a:r>
            <a:r>
              <a:rPr lang="en-GB">
                <a:solidFill>
                  <a:srgbClr val="3F51B5"/>
                </a:solidFill>
              </a:rPr>
              <a:t>=</a:t>
            </a:r>
            <a:r>
              <a:rPr lang="en-GB">
                <a:solidFill>
                  <a:srgbClr val="C53929"/>
                </a:solidFill>
              </a:rPr>
              <a:t> NULL</a:t>
            </a:r>
            <a:r>
              <a:rPr lang="en-GB">
                <a:solidFill>
                  <a:srgbClr val="37474F"/>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rgbClr val="37474F"/>
                </a:solidFill>
              </a:rPr>
              <a:t>s </a:t>
            </a:r>
            <a:r>
              <a:rPr lang="en-GB">
                <a:solidFill>
                  <a:srgbClr val="3F51B5"/>
                </a:solidFill>
              </a:rPr>
              <a:t>=</a:t>
            </a:r>
            <a:r>
              <a:rPr lang="en-GB">
                <a:solidFill>
                  <a:srgbClr val="388E3C"/>
                </a:solidFill>
              </a:rPr>
              <a:t> "Hi!"</a:t>
            </a:r>
            <a:r>
              <a:rPr lang="en-GB">
                <a:solidFill>
                  <a:srgbClr val="37474F"/>
                </a:solidFill>
              </a:rPr>
              <a:t>;</a:t>
            </a:r>
            <a:r>
              <a:rPr lang="en-GB">
                <a:solidFill>
                  <a:srgbClr val="D81B60"/>
                </a:solidFill>
              </a:rPr>
              <a:t>  // OK</a:t>
            </a:r>
            <a:endParaRPr>
              <a:solidFill>
                <a:schemeClr val="dk1"/>
              </a:solidFill>
            </a:endParaRPr>
          </a:p>
          <a:p>
            <a:pPr indent="0" lvl="0" marL="0" rtl="0" algn="l">
              <a:lnSpc>
                <a:spcPct val="150000"/>
              </a:lnSpc>
              <a:spcBef>
                <a:spcPts val="0"/>
              </a:spcBef>
              <a:spcAft>
                <a:spcPts val="0"/>
              </a:spcAft>
              <a:buNone/>
            </a:pPr>
            <a:r>
              <a:rPr lang="en-GB">
                <a:solidFill>
                  <a:srgbClr val="37474F"/>
                </a:solidFill>
              </a:rPr>
              <a:t>s </a:t>
            </a:r>
            <a:r>
              <a:rPr lang="en-GB">
                <a:solidFill>
                  <a:srgbClr val="3F51B5"/>
                </a:solidFill>
              </a:rPr>
              <a:t>=</a:t>
            </a:r>
            <a:r>
              <a:rPr lang="en-GB">
                <a:solidFill>
                  <a:srgbClr val="C53929"/>
                </a:solidFill>
              </a:rPr>
              <a:t> 100</a:t>
            </a:r>
            <a:r>
              <a:rPr lang="en-GB">
                <a:solidFill>
                  <a:srgbClr val="37474F"/>
                </a:solidFill>
              </a:rPr>
              <a:t>;</a:t>
            </a:r>
            <a:r>
              <a:rPr lang="en-GB">
                <a:solidFill>
                  <a:srgbClr val="D81B60"/>
                </a:solidFill>
              </a:rPr>
              <a:t>  // NOK</a:t>
            </a:r>
            <a:endParaRPr/>
          </a:p>
        </p:txBody>
      </p:sp>
      <p:sp>
        <p:nvSpPr>
          <p:cNvPr id="449" name="Google Shape;449;p6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50" name="Google Shape;450;p62"/>
          <p:cNvSpPr txBox="1"/>
          <p:nvPr/>
        </p:nvSpPr>
        <p:spPr>
          <a:xfrm>
            <a:off x="309800" y="2939750"/>
            <a:ext cx="85206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rPr>
              <a:t>Mã nguồn sử dụng </a:t>
            </a:r>
            <a:r>
              <a:rPr i="1" lang="en-GB" sz="2400">
                <a:solidFill>
                  <a:schemeClr val="dk2"/>
                </a:solidFill>
              </a:rPr>
              <a:t>biến s phụ thuộc vào kiểu của biến s</a:t>
            </a:r>
            <a:r>
              <a:rPr i="1" lang="en-GB" sz="2400">
                <a:solidFill>
                  <a:schemeClr val="dk2"/>
                </a:solidFill>
              </a:rPr>
              <a:t>.</a:t>
            </a:r>
            <a:endParaRPr i="1" sz="2400">
              <a:solidFill>
                <a:schemeClr val="dk2"/>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5.5. Đồng sinh ý nghĩa</a:t>
            </a:r>
            <a:endParaRPr/>
          </a:p>
        </p:txBody>
      </p:sp>
      <p:sp>
        <p:nvSpPr>
          <p:cNvPr id="456" name="Google Shape;456;p63"/>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3F51B5"/>
                </a:solidFill>
              </a:rPr>
              <a:t>struct</a:t>
            </a:r>
            <a:r>
              <a:rPr lang="en-GB">
                <a:solidFill>
                  <a:srgbClr val="37474F"/>
                </a:solidFill>
              </a:rPr>
              <a:t> bst_node </a:t>
            </a:r>
            <a:r>
              <a:rPr lang="en-GB">
                <a:solidFill>
                  <a:srgbClr val="3F51B5"/>
                </a:solidFill>
              </a:rPr>
              <a:t>*</a:t>
            </a:r>
            <a:r>
              <a:rPr lang="en-GB">
                <a:solidFill>
                  <a:srgbClr val="37474F"/>
                </a:solidFill>
              </a:rPr>
              <a:t>ret </a:t>
            </a:r>
            <a:r>
              <a:rPr lang="en-GB">
                <a:solidFill>
                  <a:srgbClr val="3F51B5"/>
                </a:solidFill>
              </a:rPr>
              <a:t>=</a:t>
            </a:r>
            <a:r>
              <a:rPr lang="en-GB">
                <a:solidFill>
                  <a:srgbClr val="9C27B0"/>
                </a:solidFill>
              </a:rPr>
              <a:t> bst_put</a:t>
            </a:r>
            <a:r>
              <a:rPr lang="en-GB">
                <a:solidFill>
                  <a:srgbClr val="37474F"/>
                </a:solidFill>
              </a:rPr>
              <a:t>(bst, key, value);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rgbClr val="3F51B5"/>
                </a:solidFill>
              </a:rPr>
              <a:t>if</a:t>
            </a:r>
            <a:r>
              <a:rPr lang="en-GB">
                <a:solidFill>
                  <a:srgbClr val="37474F"/>
                </a:solidFill>
              </a:rPr>
              <a:t> (ret </a:t>
            </a:r>
            <a:r>
              <a:rPr lang="en-GB">
                <a:solidFill>
                  <a:srgbClr val="3F51B5"/>
                </a:solidFill>
              </a:rPr>
              <a:t>==</a:t>
            </a:r>
            <a:r>
              <a:rPr lang="en-GB">
                <a:solidFill>
                  <a:srgbClr val="C53929"/>
                </a:solidFill>
              </a:rPr>
              <a:t> NULL</a:t>
            </a:r>
            <a:r>
              <a:rPr lang="en-GB">
                <a:solidFill>
                  <a:srgbClr val="37474F"/>
                </a:solidFill>
              </a:rPr>
              <a:t>) {</a:t>
            </a:r>
            <a:endParaRPr>
              <a:solidFill>
                <a:schemeClr val="dk1"/>
              </a:solidFill>
            </a:endParaRPr>
          </a:p>
          <a:p>
            <a:pPr indent="0" lvl="0" marL="0" rtl="0" algn="l">
              <a:spcBef>
                <a:spcPts val="0"/>
              </a:spcBef>
              <a:spcAft>
                <a:spcPts val="0"/>
              </a:spcAft>
              <a:buNone/>
            </a:pPr>
            <a:r>
              <a:rPr lang="en-GB">
                <a:solidFill>
                  <a:srgbClr val="9C27B0"/>
                </a:solidFill>
              </a:rPr>
              <a:t>  printf</a:t>
            </a:r>
            <a:r>
              <a:rPr lang="en-GB">
                <a:solidFill>
                  <a:srgbClr val="37474F"/>
                </a:solidFill>
              </a:rPr>
              <a:t>(</a:t>
            </a:r>
            <a:r>
              <a:rPr lang="en-GB">
                <a:solidFill>
                  <a:srgbClr val="388E3C"/>
                </a:solidFill>
              </a:rPr>
              <a:t>"Khóa mới."</a:t>
            </a:r>
            <a:r>
              <a:rPr lang="en-GB">
                <a:solidFill>
                  <a:srgbClr val="37474F"/>
                </a:solidFill>
              </a:rPr>
              <a:t>);</a:t>
            </a:r>
            <a:endParaRPr>
              <a:solidFill>
                <a:schemeClr val="dk1"/>
              </a:solidFill>
            </a:endParaRPr>
          </a:p>
          <a:p>
            <a:pPr indent="0" lvl="0" marL="0" rtl="0" algn="l">
              <a:spcBef>
                <a:spcPts val="0"/>
              </a:spcBef>
              <a:spcAft>
                <a:spcPts val="0"/>
              </a:spcAft>
              <a:buNone/>
            </a:pPr>
            <a:r>
              <a:rPr lang="en-GB">
                <a:solidFill>
                  <a:srgbClr val="37474F"/>
                </a:solidFill>
              </a:rPr>
              <a:t>} </a:t>
            </a:r>
            <a:r>
              <a:rPr lang="en-GB">
                <a:solidFill>
                  <a:srgbClr val="3F51B5"/>
                </a:solidFill>
              </a:rPr>
              <a:t>else</a:t>
            </a:r>
            <a:r>
              <a:rPr lang="en-GB">
                <a:solidFill>
                  <a:srgbClr val="37474F"/>
                </a:solidFill>
              </a:rPr>
              <a:t> {</a:t>
            </a:r>
            <a:endParaRPr>
              <a:solidFill>
                <a:schemeClr val="dk1"/>
              </a:solidFill>
            </a:endParaRPr>
          </a:p>
          <a:p>
            <a:pPr indent="0" lvl="0" marL="0" rtl="0" algn="l">
              <a:spcBef>
                <a:spcPts val="0"/>
              </a:spcBef>
              <a:spcAft>
                <a:spcPts val="0"/>
              </a:spcAft>
              <a:buNone/>
            </a:pPr>
            <a:r>
              <a:rPr lang="en-GB">
                <a:solidFill>
                  <a:srgbClr val="9C27B0"/>
                </a:solidFill>
              </a:rPr>
              <a:t>  printf</a:t>
            </a:r>
            <a:r>
              <a:rPr lang="en-GB">
                <a:solidFill>
                  <a:srgbClr val="37474F"/>
                </a:solidFill>
              </a:rPr>
              <a:t>(</a:t>
            </a:r>
            <a:r>
              <a:rPr lang="en-GB">
                <a:solidFill>
                  <a:srgbClr val="388E3C"/>
                </a:solidFill>
              </a:rPr>
              <a:t>"Khóa đã tồn tại."</a:t>
            </a:r>
            <a:r>
              <a:rPr lang="en-GB">
                <a:solidFill>
                  <a:srgbClr val="37474F"/>
                </a:solidFill>
              </a:rPr>
              <a:t>);</a:t>
            </a:r>
            <a:endParaRPr>
              <a:solidFill>
                <a:schemeClr val="dk1"/>
              </a:solidFill>
            </a:endParaRPr>
          </a:p>
          <a:p>
            <a:pPr indent="0" lvl="0" marL="0" rtl="0" algn="l">
              <a:lnSpc>
                <a:spcPct val="150000"/>
              </a:lnSpc>
              <a:spcBef>
                <a:spcPts val="0"/>
              </a:spcBef>
              <a:spcAft>
                <a:spcPts val="0"/>
              </a:spcAft>
              <a:buNone/>
            </a:pPr>
            <a:r>
              <a:rPr lang="en-GB">
                <a:solidFill>
                  <a:srgbClr val="37474F"/>
                </a:solidFill>
              </a:rPr>
              <a:t>}</a:t>
            </a:r>
            <a:endParaRPr/>
          </a:p>
        </p:txBody>
      </p:sp>
      <p:sp>
        <p:nvSpPr>
          <p:cNvPr id="457" name="Google Shape;457;p6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58" name="Google Shape;458;p63"/>
          <p:cNvSpPr txBox="1"/>
          <p:nvPr/>
        </p:nvSpPr>
        <p:spPr>
          <a:xfrm>
            <a:off x="309800" y="4006550"/>
            <a:ext cx="8520600" cy="9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rPr>
              <a:t>Mã nguồn sử dụng </a:t>
            </a:r>
            <a:r>
              <a:rPr i="1" lang="en-GB" sz="2400">
                <a:solidFill>
                  <a:schemeClr val="dk2"/>
                </a:solidFill>
              </a:rPr>
              <a:t>hàm bst_put phụ thuộc vào quy ước đối với giá trị trả về</a:t>
            </a:r>
            <a:r>
              <a:rPr i="1" lang="en-GB" sz="2400">
                <a:solidFill>
                  <a:schemeClr val="dk2"/>
                </a:solidFill>
              </a:rPr>
              <a:t>.</a:t>
            </a:r>
            <a:endParaRPr i="1" sz="2400">
              <a:solidFill>
                <a:schemeClr val="dk2"/>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4"/>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5.6. Đồng sinh vị trí</a:t>
            </a:r>
            <a:endParaRPr/>
          </a:p>
        </p:txBody>
      </p:sp>
      <p:sp>
        <p:nvSpPr>
          <p:cNvPr id="464" name="Google Shape;464;p64"/>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3F51B5"/>
                </a:solidFill>
              </a:rPr>
              <a:t>int</a:t>
            </a:r>
            <a:r>
              <a:rPr lang="en-GB">
                <a:solidFill>
                  <a:srgbClr val="9C27B0"/>
                </a:solidFill>
              </a:rPr>
              <a:t> less</a:t>
            </a:r>
            <a:r>
              <a:rPr lang="en-GB">
                <a:solidFill>
                  <a:srgbClr val="37474F"/>
                </a:solidFill>
              </a:rPr>
              <a:t>(</a:t>
            </a:r>
            <a:r>
              <a:rPr lang="en-GB">
                <a:solidFill>
                  <a:srgbClr val="3F51B5"/>
                </a:solidFill>
              </a:rPr>
              <a:t>int</a:t>
            </a:r>
            <a:r>
              <a:rPr lang="en-GB">
                <a:solidFill>
                  <a:srgbClr val="0097A7"/>
                </a:solidFill>
              </a:rPr>
              <a:t> a</a:t>
            </a:r>
            <a:r>
              <a:rPr lang="en-GB">
                <a:solidFill>
                  <a:srgbClr val="37474F"/>
                </a:solidFill>
              </a:rPr>
              <a:t>, </a:t>
            </a:r>
            <a:r>
              <a:rPr lang="en-GB">
                <a:solidFill>
                  <a:srgbClr val="3F51B5"/>
                </a:solidFill>
              </a:rPr>
              <a:t>int</a:t>
            </a:r>
            <a:r>
              <a:rPr lang="en-GB">
                <a:solidFill>
                  <a:srgbClr val="0097A7"/>
                </a:solidFill>
              </a:rPr>
              <a:t> b</a:t>
            </a:r>
            <a:r>
              <a:rPr lang="en-GB">
                <a:solidFill>
                  <a:srgbClr val="37474F"/>
                </a:solidFill>
              </a:rPr>
              <a:t>) {</a:t>
            </a:r>
            <a:endParaRPr>
              <a:solidFill>
                <a:schemeClr val="dk1"/>
              </a:solidFill>
            </a:endParaRPr>
          </a:p>
          <a:p>
            <a:pPr indent="0" lvl="0" marL="0" rtl="0" algn="l">
              <a:spcBef>
                <a:spcPts val="0"/>
              </a:spcBef>
              <a:spcAft>
                <a:spcPts val="0"/>
              </a:spcAft>
              <a:buNone/>
            </a:pPr>
            <a:r>
              <a:rPr lang="en-GB">
                <a:solidFill>
                  <a:srgbClr val="3F51B5"/>
                </a:solidFill>
              </a:rPr>
              <a:t>  return</a:t>
            </a:r>
            <a:r>
              <a:rPr lang="en-GB">
                <a:solidFill>
                  <a:srgbClr val="37474F"/>
                </a:solidFill>
              </a:rPr>
              <a:t> a </a:t>
            </a:r>
            <a:r>
              <a:rPr lang="en-GB">
                <a:solidFill>
                  <a:srgbClr val="3F51B5"/>
                </a:solidFill>
              </a:rPr>
              <a:t>&lt;</a:t>
            </a:r>
            <a:r>
              <a:rPr lang="en-GB">
                <a:solidFill>
                  <a:srgbClr val="37474F"/>
                </a:solidFill>
              </a:rPr>
              <a:t> b;</a:t>
            </a:r>
            <a:endParaRPr>
              <a:solidFill>
                <a:schemeClr val="dk1"/>
              </a:solidFill>
            </a:endParaRPr>
          </a:p>
          <a:p>
            <a:pPr indent="0" lvl="0" marL="0" rtl="0" algn="l">
              <a:spcBef>
                <a:spcPts val="0"/>
              </a:spcBef>
              <a:spcAft>
                <a:spcPts val="0"/>
              </a:spcAft>
              <a:buNone/>
            </a:pPr>
            <a:r>
              <a:rPr lang="en-GB">
                <a:solidFill>
                  <a:srgbClr val="37474F"/>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rgbClr val="3F51B5"/>
                </a:solidFill>
              </a:rPr>
              <a:t>if</a:t>
            </a:r>
            <a:r>
              <a:rPr lang="en-GB">
                <a:solidFill>
                  <a:srgbClr val="37474F"/>
                </a:solidFill>
              </a:rPr>
              <a:t> (</a:t>
            </a:r>
            <a:r>
              <a:rPr lang="en-GB">
                <a:solidFill>
                  <a:srgbClr val="9C27B0"/>
                </a:solidFill>
              </a:rPr>
              <a:t>less</a:t>
            </a:r>
            <a:r>
              <a:rPr lang="en-GB">
                <a:solidFill>
                  <a:srgbClr val="37474F"/>
                </a:solidFill>
              </a:rPr>
              <a:t>(</a:t>
            </a:r>
            <a:r>
              <a:rPr lang="en-GB">
                <a:solidFill>
                  <a:srgbClr val="C53929"/>
                </a:solidFill>
              </a:rPr>
              <a:t>3</a:t>
            </a:r>
            <a:r>
              <a:rPr lang="en-GB">
                <a:solidFill>
                  <a:srgbClr val="37474F"/>
                </a:solidFill>
              </a:rPr>
              <a:t>, </a:t>
            </a:r>
            <a:r>
              <a:rPr lang="en-GB">
                <a:solidFill>
                  <a:srgbClr val="C53929"/>
                </a:solidFill>
              </a:rPr>
              <a:t>5</a:t>
            </a:r>
            <a:r>
              <a:rPr lang="en-GB">
                <a:solidFill>
                  <a:srgbClr val="37474F"/>
                </a:solidFill>
              </a:rPr>
              <a:t>)) {</a:t>
            </a:r>
            <a:endParaRPr>
              <a:solidFill>
                <a:schemeClr val="dk1"/>
              </a:solidFill>
            </a:endParaRPr>
          </a:p>
          <a:p>
            <a:pPr indent="0" lvl="0" marL="0" rtl="0" algn="l">
              <a:spcBef>
                <a:spcPts val="0"/>
              </a:spcBef>
              <a:spcAft>
                <a:spcPts val="0"/>
              </a:spcAft>
              <a:buNone/>
            </a:pPr>
            <a:r>
              <a:rPr lang="en-GB">
                <a:solidFill>
                  <a:srgbClr val="9C27B0"/>
                </a:solidFill>
              </a:rPr>
              <a:t>  printf</a:t>
            </a:r>
            <a:r>
              <a:rPr lang="en-GB">
                <a:solidFill>
                  <a:srgbClr val="37474F"/>
                </a:solidFill>
              </a:rPr>
              <a:t>(</a:t>
            </a:r>
            <a:r>
              <a:rPr lang="en-GB">
                <a:solidFill>
                  <a:srgbClr val="388E3C"/>
                </a:solidFill>
              </a:rPr>
              <a:t>"OK!"</a:t>
            </a:r>
            <a:r>
              <a:rPr lang="en-GB">
                <a:solidFill>
                  <a:srgbClr val="37474F"/>
                </a:solidFill>
              </a:rPr>
              <a:t>);</a:t>
            </a:r>
            <a:endParaRPr>
              <a:solidFill>
                <a:schemeClr val="dk1"/>
              </a:solidFill>
            </a:endParaRPr>
          </a:p>
          <a:p>
            <a:pPr indent="0" lvl="0" marL="0" rtl="0" algn="l">
              <a:lnSpc>
                <a:spcPct val="150000"/>
              </a:lnSpc>
              <a:spcBef>
                <a:spcPts val="0"/>
              </a:spcBef>
              <a:spcAft>
                <a:spcPts val="0"/>
              </a:spcAft>
              <a:buNone/>
            </a:pPr>
            <a:r>
              <a:rPr lang="en-GB">
                <a:solidFill>
                  <a:srgbClr val="37474F"/>
                </a:solidFill>
              </a:rPr>
              <a:t>}</a:t>
            </a:r>
            <a:endParaRPr/>
          </a:p>
        </p:txBody>
      </p:sp>
      <p:sp>
        <p:nvSpPr>
          <p:cNvPr id="465" name="Google Shape;465;p6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66" name="Google Shape;466;p64"/>
          <p:cNvSpPr txBox="1"/>
          <p:nvPr/>
        </p:nvSpPr>
        <p:spPr>
          <a:xfrm>
            <a:off x="309800" y="4006550"/>
            <a:ext cx="8520600" cy="9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rPr>
              <a:t>Hàm less kiểm tra mệnh đề a &lt; b, mã nguồn sử dụng hàm less cần truyền tham số theo đúng thứ tự.</a:t>
            </a:r>
            <a:endParaRPr i="1" sz="2400">
              <a:solidFill>
                <a:schemeClr val="dk2"/>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5.7. Đồng sinh thuật toán</a:t>
            </a:r>
            <a:endParaRPr/>
          </a:p>
        </p:txBody>
      </p:sp>
      <p:sp>
        <p:nvSpPr>
          <p:cNvPr id="472" name="Google Shape;472;p65"/>
          <p:cNvSpPr txBox="1"/>
          <p:nvPr>
            <p:ph idx="1" type="body"/>
          </p:nvPr>
        </p:nvSpPr>
        <p:spPr>
          <a:xfrm>
            <a:off x="311700" y="874800"/>
            <a:ext cx="8520600" cy="310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3F51B5"/>
                </a:solidFill>
              </a:rPr>
              <a:t>char *</a:t>
            </a:r>
            <a:r>
              <a:rPr lang="en-GB">
                <a:solidFill>
                  <a:srgbClr val="9C27B0"/>
                </a:solidFill>
              </a:rPr>
              <a:t>vb_encode</a:t>
            </a:r>
            <a:r>
              <a:rPr lang="en-GB">
                <a:solidFill>
                  <a:srgbClr val="37474F"/>
                </a:solidFill>
              </a:rPr>
              <a:t>(</a:t>
            </a:r>
            <a:r>
              <a:rPr lang="en-GB">
                <a:solidFill>
                  <a:srgbClr val="3F51B5"/>
                </a:solidFill>
              </a:rPr>
              <a:t>int *</a:t>
            </a:r>
            <a:r>
              <a:rPr lang="en-GB">
                <a:solidFill>
                  <a:srgbClr val="0097A7"/>
                </a:solidFill>
              </a:rPr>
              <a:t>inp</a:t>
            </a:r>
            <a:r>
              <a:rPr lang="en-GB">
                <a:solidFill>
                  <a:srgbClr val="37474F"/>
                </a:solidFill>
              </a:rPr>
              <a:t>);</a:t>
            </a:r>
            <a:endParaRPr>
              <a:solidFill>
                <a:schemeClr val="dk1"/>
              </a:solidFill>
            </a:endParaRPr>
          </a:p>
          <a:p>
            <a:pPr indent="0" lvl="0" marL="0" rtl="0" algn="l">
              <a:spcBef>
                <a:spcPts val="0"/>
              </a:spcBef>
              <a:spcAft>
                <a:spcPts val="0"/>
              </a:spcAft>
              <a:buNone/>
            </a:pPr>
            <a:r>
              <a:rPr lang="en-GB">
                <a:solidFill>
                  <a:srgbClr val="3F51B5"/>
                </a:solidFill>
              </a:rPr>
              <a:t>int *</a:t>
            </a:r>
            <a:r>
              <a:rPr lang="en-GB">
                <a:solidFill>
                  <a:srgbClr val="9C27B0"/>
                </a:solidFill>
              </a:rPr>
              <a:t>vb_decode</a:t>
            </a:r>
            <a:r>
              <a:rPr lang="en-GB">
                <a:solidFill>
                  <a:srgbClr val="37474F"/>
                </a:solidFill>
              </a:rPr>
              <a:t>(</a:t>
            </a:r>
            <a:r>
              <a:rPr lang="en-GB">
                <a:solidFill>
                  <a:srgbClr val="3F51B5"/>
                </a:solidFill>
              </a:rPr>
              <a:t>char *</a:t>
            </a:r>
            <a:r>
              <a:rPr lang="en-GB">
                <a:solidFill>
                  <a:srgbClr val="0097A7"/>
                </a:solidFill>
              </a:rPr>
              <a:t>inp</a:t>
            </a:r>
            <a:r>
              <a:rPr lang="en-GB">
                <a:solidFill>
                  <a:srgbClr val="37474F"/>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rgbClr val="3F51B5"/>
                </a:solidFill>
              </a:rPr>
              <a:t>int</a:t>
            </a:r>
            <a:r>
              <a:rPr lang="en-GB">
                <a:solidFill>
                  <a:srgbClr val="0097A7"/>
                </a:solidFill>
              </a:rPr>
              <a:t> arr</a:t>
            </a:r>
            <a:r>
              <a:rPr lang="en-GB">
                <a:solidFill>
                  <a:srgbClr val="37474F"/>
                </a:solidFill>
              </a:rPr>
              <a:t>[</a:t>
            </a:r>
            <a:r>
              <a:rPr lang="en-GB">
                <a:solidFill>
                  <a:srgbClr val="C53929"/>
                </a:solidFill>
              </a:rPr>
              <a:t>100</a:t>
            </a:r>
            <a:r>
              <a:rPr lang="en-GB">
                <a:solidFill>
                  <a:srgbClr val="37474F"/>
                </a:solidFill>
              </a:rPr>
              <a:t>];</a:t>
            </a:r>
            <a:r>
              <a:rPr lang="en-GB">
                <a:solidFill>
                  <a:srgbClr val="D81B60"/>
                </a:solidFill>
              </a:rPr>
              <a:t>  // Sử dụng lính canh để đánh dấu điểm cuối</a:t>
            </a:r>
            <a:endParaRPr>
              <a:solidFill>
                <a:schemeClr val="dk1"/>
              </a:solidFill>
            </a:endParaRPr>
          </a:p>
          <a:p>
            <a:pPr indent="0" lvl="0" marL="0" rtl="0" algn="l">
              <a:spcBef>
                <a:spcPts val="0"/>
              </a:spcBef>
              <a:spcAft>
                <a:spcPts val="0"/>
              </a:spcAft>
              <a:buNone/>
            </a:pPr>
            <a:r>
              <a:rPr lang="en-GB">
                <a:solidFill>
                  <a:srgbClr val="37474F"/>
                </a:solidFill>
              </a:rPr>
              <a:t>…</a:t>
            </a:r>
            <a:endParaRPr>
              <a:solidFill>
                <a:schemeClr val="dk1"/>
              </a:solidFill>
            </a:endParaRPr>
          </a:p>
          <a:p>
            <a:pPr indent="0" lvl="0" marL="0" rtl="0" algn="l">
              <a:spcBef>
                <a:spcPts val="0"/>
              </a:spcBef>
              <a:spcAft>
                <a:spcPts val="0"/>
              </a:spcAft>
              <a:buNone/>
            </a:pPr>
            <a:r>
              <a:rPr lang="en-GB">
                <a:solidFill>
                  <a:srgbClr val="3F51B5"/>
                </a:solidFill>
              </a:rPr>
              <a:t>char *</a:t>
            </a:r>
            <a:r>
              <a:rPr lang="en-GB">
                <a:solidFill>
                  <a:srgbClr val="37474F"/>
                </a:solidFill>
              </a:rPr>
              <a:t>data </a:t>
            </a:r>
            <a:r>
              <a:rPr lang="en-GB">
                <a:solidFill>
                  <a:srgbClr val="3F51B5"/>
                </a:solidFill>
              </a:rPr>
              <a:t>=</a:t>
            </a:r>
            <a:r>
              <a:rPr lang="en-GB">
                <a:solidFill>
                  <a:srgbClr val="9C27B0"/>
                </a:solidFill>
              </a:rPr>
              <a:t> vb_encode</a:t>
            </a:r>
            <a:r>
              <a:rPr lang="en-GB">
                <a:solidFill>
                  <a:srgbClr val="37474F"/>
                </a:solidFill>
              </a:rPr>
              <a:t>(arr);</a:t>
            </a:r>
            <a:endParaRPr>
              <a:solidFill>
                <a:schemeClr val="dk1"/>
              </a:solidFill>
            </a:endParaRPr>
          </a:p>
          <a:p>
            <a:pPr indent="0" lvl="0" marL="0" rtl="0" algn="l">
              <a:lnSpc>
                <a:spcPct val="150000"/>
              </a:lnSpc>
              <a:spcBef>
                <a:spcPts val="0"/>
              </a:spcBef>
              <a:spcAft>
                <a:spcPts val="0"/>
              </a:spcAft>
              <a:buNone/>
            </a:pPr>
            <a:r>
              <a:rPr lang="en-GB">
                <a:solidFill>
                  <a:srgbClr val="3F51B5"/>
                </a:solidFill>
              </a:rPr>
              <a:t>int *</a:t>
            </a:r>
            <a:r>
              <a:rPr lang="en-GB">
                <a:solidFill>
                  <a:srgbClr val="37474F"/>
                </a:solidFill>
              </a:rPr>
              <a:t>arr </a:t>
            </a:r>
            <a:r>
              <a:rPr lang="en-GB">
                <a:solidFill>
                  <a:srgbClr val="3F51B5"/>
                </a:solidFill>
              </a:rPr>
              <a:t>=</a:t>
            </a:r>
            <a:r>
              <a:rPr lang="en-GB">
                <a:solidFill>
                  <a:srgbClr val="9C27B0"/>
                </a:solidFill>
              </a:rPr>
              <a:t> vb_decode</a:t>
            </a:r>
            <a:r>
              <a:rPr lang="en-GB">
                <a:solidFill>
                  <a:srgbClr val="37474F"/>
                </a:solidFill>
              </a:rPr>
              <a:t>(data);</a:t>
            </a:r>
            <a:endParaRPr/>
          </a:p>
        </p:txBody>
      </p:sp>
      <p:sp>
        <p:nvSpPr>
          <p:cNvPr id="473" name="Google Shape;473;p6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74" name="Google Shape;474;p65"/>
          <p:cNvSpPr txBox="1"/>
          <p:nvPr/>
        </p:nvSpPr>
        <p:spPr>
          <a:xfrm>
            <a:off x="309800" y="4082750"/>
            <a:ext cx="8520600" cy="9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rPr>
              <a:t>Thuật toán giải nén phụ thuộc vào thuật toán nén</a:t>
            </a:r>
            <a:r>
              <a:rPr i="1" lang="en-GB" sz="2400">
                <a:solidFill>
                  <a:schemeClr val="dk2"/>
                </a:solidFill>
              </a:rPr>
              <a:t>.</a:t>
            </a:r>
            <a:endParaRPr i="1" sz="2400">
              <a:solidFill>
                <a:schemeClr val="dk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480" name="Google Shape;480;p6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81" name="Google Shape;481;p66"/>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Vấn đề thiết kế lớp </a:t>
            </a:r>
            <a:endParaRPr/>
          </a:p>
          <a:p>
            <a:pPr indent="-381000" lvl="0" marL="457200" rtl="0" algn="l">
              <a:spcBef>
                <a:spcPts val="0"/>
              </a:spcBef>
              <a:spcAft>
                <a:spcPts val="0"/>
              </a:spcAft>
              <a:buSzPts val="2400"/>
              <a:buChar char="●"/>
            </a:pPr>
            <a:r>
              <a:rPr lang="en-GB"/>
              <a:t>Các chỉ số chất lượng</a:t>
            </a:r>
            <a:endParaRPr/>
          </a:p>
          <a:p>
            <a:pPr indent="-381000" lvl="0" marL="457200" rtl="0" algn="l">
              <a:spcBef>
                <a:spcPts val="0"/>
              </a:spcBef>
              <a:spcAft>
                <a:spcPts val="0"/>
              </a:spcAft>
              <a:buSzPts val="2400"/>
              <a:buChar char="●"/>
            </a:pPr>
            <a:r>
              <a:rPr lang="en-GB"/>
              <a:t>Các nguyên lý SOLID</a:t>
            </a:r>
            <a:endParaRPr/>
          </a:p>
        </p:txBody>
      </p:sp>
      <p:sp>
        <p:nvSpPr>
          <p:cNvPr id="482" name="Google Shape;482;p66"/>
          <p:cNvSpPr/>
          <p:nvPr/>
        </p:nvSpPr>
        <p:spPr>
          <a:xfrm>
            <a:off x="357900" y="1582022"/>
            <a:ext cx="4811700" cy="831900"/>
          </a:xfrm>
          <a:prstGeom prst="rightArrow">
            <a:avLst>
              <a:gd fmla="val 50000" name="adj1"/>
              <a:gd fmla="val 50000"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lý trách nhiệm duy nhất</a:t>
            </a:r>
            <a:endParaRPr/>
          </a:p>
        </p:txBody>
      </p:sp>
      <p:sp>
        <p:nvSpPr>
          <p:cNvPr id="488" name="Google Shape;488;p67"/>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Nguyên lý trách nhiệm duy nhất / Single Responsibility Principle (SRP)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2800"/>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GB"/>
              <a:t>Trách nhiệm được gán cho lớp</a:t>
            </a:r>
            <a:endParaRPr/>
          </a:p>
          <a:p>
            <a:pPr indent="-381000" lvl="0" marL="457200" rtl="0" algn="just">
              <a:spcBef>
                <a:spcPts val="0"/>
              </a:spcBef>
              <a:spcAft>
                <a:spcPts val="0"/>
              </a:spcAft>
              <a:buSzPts val="2400"/>
              <a:buChar char="●"/>
            </a:pPr>
            <a:r>
              <a:rPr lang="en-GB"/>
              <a:t>Nếu phát sinh nhu cầu triển khai chức năng mới, hoặc chức năng đang có thay đổi, thì các trách nhiệm của các lớp phải thay đổi.</a:t>
            </a:r>
            <a:endParaRPr/>
          </a:p>
          <a:p>
            <a:pPr indent="-381000" lvl="0" marL="457200" rtl="0" algn="l">
              <a:spcBef>
                <a:spcPts val="0"/>
              </a:spcBef>
              <a:spcAft>
                <a:spcPts val="0"/>
              </a:spcAft>
              <a:buSzPts val="2400"/>
              <a:buChar char="●"/>
            </a:pPr>
            <a:r>
              <a:rPr lang="en-GB"/>
              <a:t>Lớp có 1 trách nhiệm sẽ chỉ có 1 lý do để thay đổi.</a:t>
            </a:r>
            <a:endParaRPr/>
          </a:p>
          <a:p>
            <a:pPr indent="0" lvl="0" marL="0" rtl="0" algn="ctr">
              <a:lnSpc>
                <a:spcPct val="100000"/>
              </a:lnSpc>
              <a:spcBef>
                <a:spcPts val="0"/>
              </a:spcBef>
              <a:spcAft>
                <a:spcPts val="0"/>
              </a:spcAft>
              <a:buNone/>
            </a:pPr>
            <a:r>
              <a:rPr i="1" lang="en-GB">
                <a:solidFill>
                  <a:srgbClr val="1155CC"/>
                </a:solidFill>
              </a:rPr>
              <a:t>Mỗi thành phần chỉ nên có đảm nhận 1 trách nhiệm</a:t>
            </a:r>
            <a:endParaRPr>
              <a:solidFill>
                <a:srgbClr val="1155CC"/>
              </a:solidFill>
            </a:endParaRPr>
          </a:p>
        </p:txBody>
      </p:sp>
      <p:sp>
        <p:nvSpPr>
          <p:cNvPr id="489" name="Google Shape;489;p6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90" name="Google Shape;490;p67"/>
          <p:cNvSpPr/>
          <p:nvPr/>
        </p:nvSpPr>
        <p:spPr>
          <a:xfrm>
            <a:off x="1414925" y="1828334"/>
            <a:ext cx="7177200" cy="1304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i="1" lang="en-GB" sz="2400"/>
              <a:t>Mỗi lớp chỉ nên có 1 lý do duy nhất để thay đổi / </a:t>
            </a:r>
            <a:endParaRPr i="1" sz="2400"/>
          </a:p>
          <a:p>
            <a:pPr indent="0" lvl="0" marL="0" rtl="0" algn="ctr">
              <a:spcBef>
                <a:spcPts val="0"/>
              </a:spcBef>
              <a:spcAft>
                <a:spcPts val="0"/>
              </a:spcAft>
              <a:buNone/>
            </a:pPr>
            <a:r>
              <a:rPr i="1" lang="en-GB" sz="2400"/>
              <a:t>A class should have only one reason to change</a:t>
            </a:r>
            <a:r>
              <a:rPr lang="en-GB" sz="2400"/>
              <a:t> </a:t>
            </a:r>
            <a:endParaRPr sz="2400"/>
          </a:p>
          <a:p>
            <a:pPr indent="0" lvl="0" marL="0" rtl="0" algn="r">
              <a:spcBef>
                <a:spcPts val="0"/>
              </a:spcBef>
              <a:spcAft>
                <a:spcPts val="0"/>
              </a:spcAft>
              <a:buNone/>
            </a:pPr>
            <a:r>
              <a:rPr lang="en-GB" sz="2400"/>
              <a:t>[Robert .C Martin]</a:t>
            </a:r>
            <a:endParaRPr sz="24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8"/>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Trách nhiệm và tính thống nhất</a:t>
            </a:r>
            <a:endParaRPr/>
          </a:p>
        </p:txBody>
      </p:sp>
      <p:sp>
        <p:nvSpPr>
          <p:cNvPr id="496" name="Google Shape;496;p68"/>
          <p:cNvSpPr txBox="1"/>
          <p:nvPr>
            <p:ph idx="1" type="body"/>
          </p:nvPr>
        </p:nvSpPr>
        <p:spPr>
          <a:xfrm>
            <a:off x="311700" y="1055825"/>
            <a:ext cx="8520600" cy="50361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Lớp có tính thống nhất ở mức cao chỉ triển khai 1 trách nhiệm (hoặc ít trách nhiệm) / Lớp chỉ triển khai 1 trách nhiệm có tính thống nhất ở mức cao.</a:t>
            </a:r>
            <a:endParaRPr/>
          </a:p>
          <a:p>
            <a:pPr indent="-381000" lvl="0" marL="457200" rtl="0" algn="just">
              <a:spcBef>
                <a:spcPts val="0"/>
              </a:spcBef>
              <a:spcAft>
                <a:spcPts val="0"/>
              </a:spcAft>
              <a:buSzPts val="2400"/>
              <a:buChar char="●"/>
            </a:pPr>
            <a:r>
              <a:rPr lang="en-GB"/>
              <a:t>Lớp có tính thống nhất ở mức thấp thường vi phạm nguyên lý SRP / Lớp vi phạm SRP thường có tính thống nhất ở mức thấp.</a:t>
            </a:r>
            <a:endParaRPr/>
          </a:p>
          <a:p>
            <a:pPr indent="-381000" lvl="0" marL="457200" rtl="0" algn="just">
              <a:spcBef>
                <a:spcPts val="0"/>
              </a:spcBef>
              <a:spcAft>
                <a:spcPts val="0"/>
              </a:spcAft>
              <a:buSzPts val="2400"/>
              <a:buChar char="●"/>
            </a:pPr>
            <a:r>
              <a:rPr lang="en-GB"/>
              <a:t>Ưu điểm: Các lớp 1 trách nhiệm thường nhỏ, dễ tái sử dụng, và dễ hiểu hơn, và ít thay đổi.</a:t>
            </a:r>
            <a:endParaRPr/>
          </a:p>
          <a:p>
            <a:pPr indent="-381000" lvl="0" marL="457200" rtl="0" algn="just">
              <a:spcBef>
                <a:spcPts val="0"/>
              </a:spcBef>
              <a:spcAft>
                <a:spcPts val="0"/>
              </a:spcAft>
              <a:buSzPts val="2400"/>
              <a:buChar char="●"/>
            </a:pPr>
            <a:r>
              <a:rPr lang="en-GB"/>
              <a:t>Lưu ý: Phân tách trách nhiệm có thể phức tạp và có hiệu ứng phụ, áp dụng SRP khi thực sự cần thiết, thực sự có thay đổi thường xuyên.</a:t>
            </a:r>
            <a:endParaRPr/>
          </a:p>
        </p:txBody>
      </p:sp>
      <p:sp>
        <p:nvSpPr>
          <p:cNvPr id="497" name="Google Shape;497;p6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9"/>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5.8. </a:t>
            </a:r>
            <a:r>
              <a:rPr lang="en-GB"/>
              <a:t>SRP</a:t>
            </a:r>
            <a:endParaRPr/>
          </a:p>
        </p:txBody>
      </p:sp>
      <p:sp>
        <p:nvSpPr>
          <p:cNvPr id="503" name="Google Shape;503;p6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04" name="Google Shape;504;p69"/>
          <p:cNvSpPr/>
          <p:nvPr/>
        </p:nvSpPr>
        <p:spPr>
          <a:xfrm>
            <a:off x="956475" y="1069800"/>
            <a:ext cx="1674900" cy="97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Geometry Application</a:t>
            </a:r>
            <a:endParaRPr sz="1800"/>
          </a:p>
        </p:txBody>
      </p:sp>
      <p:sp>
        <p:nvSpPr>
          <p:cNvPr id="505" name="Google Shape;505;p69"/>
          <p:cNvSpPr/>
          <p:nvPr/>
        </p:nvSpPr>
        <p:spPr>
          <a:xfrm>
            <a:off x="3613300" y="808775"/>
            <a:ext cx="2040900" cy="414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Rectangle</a:t>
            </a:r>
            <a:endParaRPr sz="1800"/>
          </a:p>
        </p:txBody>
      </p:sp>
      <p:sp>
        <p:nvSpPr>
          <p:cNvPr id="506" name="Google Shape;506;p69"/>
          <p:cNvSpPr/>
          <p:nvPr/>
        </p:nvSpPr>
        <p:spPr>
          <a:xfrm>
            <a:off x="3613300" y="1202213"/>
            <a:ext cx="2040900" cy="723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draw()</a:t>
            </a:r>
            <a:endParaRPr sz="1800"/>
          </a:p>
          <a:p>
            <a:pPr indent="0" lvl="0" marL="0" rtl="0" algn="l">
              <a:spcBef>
                <a:spcPts val="0"/>
              </a:spcBef>
              <a:spcAft>
                <a:spcPts val="0"/>
              </a:spcAft>
              <a:buNone/>
            </a:pPr>
            <a:r>
              <a:rPr lang="en-GB" sz="1800"/>
              <a:t>+ area(): double</a:t>
            </a:r>
            <a:endParaRPr sz="1800"/>
          </a:p>
        </p:txBody>
      </p:sp>
      <p:sp>
        <p:nvSpPr>
          <p:cNvPr id="507" name="Google Shape;507;p69"/>
          <p:cNvSpPr/>
          <p:nvPr/>
        </p:nvSpPr>
        <p:spPr>
          <a:xfrm>
            <a:off x="6329075" y="1075800"/>
            <a:ext cx="1768500" cy="974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Graphical Application</a:t>
            </a:r>
            <a:endParaRPr sz="1800"/>
          </a:p>
        </p:txBody>
      </p:sp>
      <p:sp>
        <p:nvSpPr>
          <p:cNvPr id="508" name="Google Shape;508;p69"/>
          <p:cNvSpPr/>
          <p:nvPr/>
        </p:nvSpPr>
        <p:spPr>
          <a:xfrm>
            <a:off x="3855697" y="2459825"/>
            <a:ext cx="1552800" cy="828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GUI</a:t>
            </a:r>
            <a:endParaRPr sz="1800"/>
          </a:p>
        </p:txBody>
      </p:sp>
      <p:sp>
        <p:nvSpPr>
          <p:cNvPr id="509" name="Google Shape;509;p69"/>
          <p:cNvSpPr/>
          <p:nvPr/>
        </p:nvSpPr>
        <p:spPr>
          <a:xfrm>
            <a:off x="3855699" y="2261675"/>
            <a:ext cx="548700" cy="198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0" name="Google Shape;510;p69"/>
          <p:cNvCxnSpPr>
            <a:stCxn id="506" idx="2"/>
            <a:endCxn id="508" idx="0"/>
          </p:cNvCxnSpPr>
          <p:nvPr/>
        </p:nvCxnSpPr>
        <p:spPr>
          <a:xfrm flipH="1">
            <a:off x="4631950" y="1925213"/>
            <a:ext cx="1800" cy="534600"/>
          </a:xfrm>
          <a:prstGeom prst="straightConnector1">
            <a:avLst/>
          </a:prstGeom>
          <a:noFill/>
          <a:ln cap="flat" cmpd="sng" w="9525">
            <a:solidFill>
              <a:schemeClr val="dk2"/>
            </a:solidFill>
            <a:prstDash val="dash"/>
            <a:round/>
            <a:headEnd len="med" w="med" type="none"/>
            <a:tailEnd len="med" w="med" type="stealth"/>
          </a:ln>
        </p:spPr>
      </p:cxnSp>
      <p:cxnSp>
        <p:nvCxnSpPr>
          <p:cNvPr id="511" name="Google Shape;511;p69"/>
          <p:cNvCxnSpPr>
            <a:stCxn id="507" idx="1"/>
            <a:endCxn id="506" idx="3"/>
          </p:cNvCxnSpPr>
          <p:nvPr/>
        </p:nvCxnSpPr>
        <p:spPr>
          <a:xfrm flipH="1">
            <a:off x="5654075" y="1563150"/>
            <a:ext cx="675000" cy="600"/>
          </a:xfrm>
          <a:prstGeom prst="straightConnector1">
            <a:avLst/>
          </a:prstGeom>
          <a:noFill/>
          <a:ln cap="flat" cmpd="sng" w="9525">
            <a:solidFill>
              <a:schemeClr val="dk2"/>
            </a:solidFill>
            <a:prstDash val="dash"/>
            <a:round/>
            <a:headEnd len="med" w="med" type="none"/>
            <a:tailEnd len="med" w="med" type="stealth"/>
          </a:ln>
        </p:spPr>
      </p:cxnSp>
      <p:cxnSp>
        <p:nvCxnSpPr>
          <p:cNvPr id="512" name="Google Shape;512;p69"/>
          <p:cNvCxnSpPr>
            <a:stCxn id="504" idx="3"/>
            <a:endCxn id="506" idx="1"/>
          </p:cNvCxnSpPr>
          <p:nvPr/>
        </p:nvCxnSpPr>
        <p:spPr>
          <a:xfrm>
            <a:off x="2631375" y="1557150"/>
            <a:ext cx="981900" cy="6600"/>
          </a:xfrm>
          <a:prstGeom prst="straightConnector1">
            <a:avLst/>
          </a:prstGeom>
          <a:noFill/>
          <a:ln cap="flat" cmpd="sng" w="9525">
            <a:solidFill>
              <a:schemeClr val="dk2"/>
            </a:solidFill>
            <a:prstDash val="dash"/>
            <a:round/>
            <a:headEnd len="med" w="med" type="none"/>
            <a:tailEnd len="med" w="med" type="stealth"/>
          </a:ln>
        </p:spPr>
      </p:cxnSp>
      <p:cxnSp>
        <p:nvCxnSpPr>
          <p:cNvPr id="513" name="Google Shape;513;p69"/>
          <p:cNvCxnSpPr>
            <a:stCxn id="507" idx="2"/>
            <a:endCxn id="508" idx="3"/>
          </p:cNvCxnSpPr>
          <p:nvPr/>
        </p:nvCxnSpPr>
        <p:spPr>
          <a:xfrm rot="5400000">
            <a:off x="5899175" y="1559850"/>
            <a:ext cx="823500" cy="1804800"/>
          </a:xfrm>
          <a:prstGeom prst="bentConnector2">
            <a:avLst/>
          </a:prstGeom>
          <a:noFill/>
          <a:ln cap="flat" cmpd="sng" w="9525">
            <a:solidFill>
              <a:schemeClr val="dk2"/>
            </a:solidFill>
            <a:prstDash val="dash"/>
            <a:round/>
            <a:headEnd len="med" w="med" type="none"/>
            <a:tailEnd len="med" w="med" type="stealth"/>
          </a:ln>
        </p:spPr>
      </p:cxnSp>
      <p:sp>
        <p:nvSpPr>
          <p:cNvPr id="514" name="Google Shape;514;p69"/>
          <p:cNvSpPr/>
          <p:nvPr/>
        </p:nvSpPr>
        <p:spPr>
          <a:xfrm>
            <a:off x="1087188" y="3856773"/>
            <a:ext cx="1534800" cy="828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Geometry Application</a:t>
            </a:r>
            <a:endParaRPr sz="1800"/>
          </a:p>
        </p:txBody>
      </p:sp>
      <p:sp>
        <p:nvSpPr>
          <p:cNvPr id="515" name="Google Shape;515;p69"/>
          <p:cNvSpPr/>
          <p:nvPr/>
        </p:nvSpPr>
        <p:spPr>
          <a:xfrm>
            <a:off x="920708" y="5219974"/>
            <a:ext cx="1854000" cy="336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Rectangle</a:t>
            </a:r>
            <a:endParaRPr sz="1800"/>
          </a:p>
        </p:txBody>
      </p:sp>
      <p:sp>
        <p:nvSpPr>
          <p:cNvPr id="516" name="Google Shape;516;p69"/>
          <p:cNvSpPr/>
          <p:nvPr/>
        </p:nvSpPr>
        <p:spPr>
          <a:xfrm>
            <a:off x="920700" y="5556173"/>
            <a:ext cx="1854000" cy="586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 area(): double</a:t>
            </a:r>
            <a:endParaRPr sz="1800"/>
          </a:p>
        </p:txBody>
      </p:sp>
      <p:sp>
        <p:nvSpPr>
          <p:cNvPr id="517" name="Google Shape;517;p69"/>
          <p:cNvSpPr/>
          <p:nvPr/>
        </p:nvSpPr>
        <p:spPr>
          <a:xfrm>
            <a:off x="3917113" y="3909325"/>
            <a:ext cx="1586400" cy="828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Graphical Application</a:t>
            </a:r>
            <a:endParaRPr sz="1800"/>
          </a:p>
        </p:txBody>
      </p:sp>
      <p:sp>
        <p:nvSpPr>
          <p:cNvPr id="518" name="Google Shape;518;p69"/>
          <p:cNvSpPr/>
          <p:nvPr/>
        </p:nvSpPr>
        <p:spPr>
          <a:xfrm>
            <a:off x="6551675" y="5366925"/>
            <a:ext cx="1552800" cy="828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GUI</a:t>
            </a:r>
            <a:endParaRPr sz="1800"/>
          </a:p>
        </p:txBody>
      </p:sp>
      <p:sp>
        <p:nvSpPr>
          <p:cNvPr id="519" name="Google Shape;519;p69"/>
          <p:cNvSpPr/>
          <p:nvPr/>
        </p:nvSpPr>
        <p:spPr>
          <a:xfrm>
            <a:off x="6551676" y="5168775"/>
            <a:ext cx="548700" cy="198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0" name="Google Shape;520;p69"/>
          <p:cNvCxnSpPr>
            <a:endCxn id="518" idx="1"/>
          </p:cNvCxnSpPr>
          <p:nvPr/>
        </p:nvCxnSpPr>
        <p:spPr>
          <a:xfrm>
            <a:off x="5648975" y="5774175"/>
            <a:ext cx="902700" cy="6900"/>
          </a:xfrm>
          <a:prstGeom prst="straightConnector1">
            <a:avLst/>
          </a:prstGeom>
          <a:noFill/>
          <a:ln cap="flat" cmpd="sng" w="9525">
            <a:solidFill>
              <a:schemeClr val="dk2"/>
            </a:solidFill>
            <a:prstDash val="dash"/>
            <a:round/>
            <a:headEnd len="med" w="med" type="none"/>
            <a:tailEnd len="med" w="med" type="stealth"/>
          </a:ln>
        </p:spPr>
      </p:cxnSp>
      <p:cxnSp>
        <p:nvCxnSpPr>
          <p:cNvPr id="521" name="Google Shape;521;p69"/>
          <p:cNvCxnSpPr>
            <a:stCxn id="517" idx="2"/>
            <a:endCxn id="522" idx="0"/>
          </p:cNvCxnSpPr>
          <p:nvPr/>
        </p:nvCxnSpPr>
        <p:spPr>
          <a:xfrm>
            <a:off x="4710313" y="4737625"/>
            <a:ext cx="10500" cy="534900"/>
          </a:xfrm>
          <a:prstGeom prst="straightConnector1">
            <a:avLst/>
          </a:prstGeom>
          <a:noFill/>
          <a:ln cap="flat" cmpd="sng" w="9525">
            <a:solidFill>
              <a:schemeClr val="dk2"/>
            </a:solidFill>
            <a:prstDash val="dash"/>
            <a:round/>
            <a:headEnd len="med" w="med" type="none"/>
            <a:tailEnd len="med" w="med" type="stealth"/>
          </a:ln>
        </p:spPr>
      </p:cxnSp>
      <p:cxnSp>
        <p:nvCxnSpPr>
          <p:cNvPr id="523" name="Google Shape;523;p69"/>
          <p:cNvCxnSpPr>
            <a:stCxn id="514" idx="2"/>
            <a:endCxn id="515" idx="0"/>
          </p:cNvCxnSpPr>
          <p:nvPr/>
        </p:nvCxnSpPr>
        <p:spPr>
          <a:xfrm flipH="1">
            <a:off x="1847688" y="4685073"/>
            <a:ext cx="6900" cy="534900"/>
          </a:xfrm>
          <a:prstGeom prst="straightConnector1">
            <a:avLst/>
          </a:prstGeom>
          <a:noFill/>
          <a:ln cap="flat" cmpd="sng" w="9525">
            <a:solidFill>
              <a:schemeClr val="dk2"/>
            </a:solidFill>
            <a:prstDash val="dash"/>
            <a:round/>
            <a:headEnd len="med" w="med" type="none"/>
            <a:tailEnd len="med" w="med" type="stealth"/>
          </a:ln>
        </p:spPr>
      </p:cxnSp>
      <p:cxnSp>
        <p:nvCxnSpPr>
          <p:cNvPr id="524" name="Google Shape;524;p69"/>
          <p:cNvCxnSpPr>
            <a:stCxn id="517" idx="3"/>
            <a:endCxn id="518" idx="0"/>
          </p:cNvCxnSpPr>
          <p:nvPr/>
        </p:nvCxnSpPr>
        <p:spPr>
          <a:xfrm>
            <a:off x="5503513" y="4323475"/>
            <a:ext cx="1824600" cy="1043400"/>
          </a:xfrm>
          <a:prstGeom prst="bentConnector2">
            <a:avLst/>
          </a:prstGeom>
          <a:noFill/>
          <a:ln cap="flat" cmpd="sng" w="9525">
            <a:solidFill>
              <a:schemeClr val="dk2"/>
            </a:solidFill>
            <a:prstDash val="dash"/>
            <a:round/>
            <a:headEnd len="med" w="med" type="none"/>
            <a:tailEnd len="med" w="med" type="stealth"/>
          </a:ln>
        </p:spPr>
      </p:cxnSp>
      <p:sp>
        <p:nvSpPr>
          <p:cNvPr id="522" name="Google Shape;522;p69"/>
          <p:cNvSpPr/>
          <p:nvPr/>
        </p:nvSpPr>
        <p:spPr>
          <a:xfrm>
            <a:off x="3762509" y="5272525"/>
            <a:ext cx="1916400" cy="336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RectangleView</a:t>
            </a:r>
            <a:endParaRPr sz="1800"/>
          </a:p>
        </p:txBody>
      </p:sp>
      <p:sp>
        <p:nvSpPr>
          <p:cNvPr id="525" name="Google Shape;525;p69"/>
          <p:cNvSpPr/>
          <p:nvPr/>
        </p:nvSpPr>
        <p:spPr>
          <a:xfrm>
            <a:off x="3762501" y="5608724"/>
            <a:ext cx="1916400" cy="586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 draw()</a:t>
            </a:r>
            <a:endParaRPr sz="1800"/>
          </a:p>
        </p:txBody>
      </p:sp>
      <p:cxnSp>
        <p:nvCxnSpPr>
          <p:cNvPr id="526" name="Google Shape;526;p69"/>
          <p:cNvCxnSpPr/>
          <p:nvPr/>
        </p:nvCxnSpPr>
        <p:spPr>
          <a:xfrm>
            <a:off x="954825" y="3485325"/>
            <a:ext cx="7142700" cy="0"/>
          </a:xfrm>
          <a:prstGeom prst="straightConnector1">
            <a:avLst/>
          </a:prstGeom>
          <a:noFill/>
          <a:ln cap="flat" cmpd="sng" w="19050">
            <a:solidFill>
              <a:schemeClr val="dk2"/>
            </a:solidFill>
            <a:prstDash val="solid"/>
            <a:round/>
            <a:headEnd len="med" w="med" type="none"/>
            <a:tailEnd len="med" w="med" type="none"/>
          </a:ln>
        </p:spPr>
      </p:cxnSp>
      <p:sp>
        <p:nvSpPr>
          <p:cNvPr id="527" name="Google Shape;527;p69"/>
          <p:cNvSpPr/>
          <p:nvPr/>
        </p:nvSpPr>
        <p:spPr>
          <a:xfrm>
            <a:off x="586775" y="2984975"/>
            <a:ext cx="327900" cy="9747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69"/>
          <p:cNvSpPr/>
          <p:nvPr/>
        </p:nvSpPr>
        <p:spPr>
          <a:xfrm>
            <a:off x="3525950" y="5798550"/>
            <a:ext cx="218075" cy="12870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29" name="Google Shape;529;p69"/>
          <p:cNvCxnSpPr>
            <a:stCxn id="516" idx="3"/>
            <a:endCxn id="528" idx="1"/>
          </p:cNvCxnSpPr>
          <p:nvPr/>
        </p:nvCxnSpPr>
        <p:spPr>
          <a:xfrm>
            <a:off x="2774700" y="5849423"/>
            <a:ext cx="751200" cy="13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7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35" name="Google Shape;535;p7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lý Mở-Đóng</a:t>
            </a:r>
            <a:endParaRPr/>
          </a:p>
        </p:txBody>
      </p:sp>
      <p:sp>
        <p:nvSpPr>
          <p:cNvPr id="536" name="Google Shape;536;p70"/>
          <p:cNvSpPr txBox="1"/>
          <p:nvPr>
            <p:ph idx="1" type="body"/>
          </p:nvPr>
        </p:nvSpPr>
        <p:spPr>
          <a:xfrm>
            <a:off x="311700" y="874800"/>
            <a:ext cx="8520600" cy="5586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Nguyên lý Mở-Đóng / Open-Close Principle (OCP)</a:t>
            </a:r>
            <a:endParaRPr/>
          </a:p>
          <a:p>
            <a:pPr indent="0" lvl="0" marL="0" rtl="0" algn="l">
              <a:spcBef>
                <a:spcPts val="0"/>
              </a:spcBef>
              <a:spcAft>
                <a:spcPts val="0"/>
              </a:spcAft>
              <a:buNone/>
            </a:pPr>
            <a:r>
              <a:t/>
            </a:r>
            <a:endParaRPr sz="29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2200"/>
          </a:p>
          <a:p>
            <a:pPr indent="-381000" lvl="0" marL="457200" rtl="0" algn="l">
              <a:spcBef>
                <a:spcPts val="0"/>
              </a:spcBef>
              <a:spcAft>
                <a:spcPts val="0"/>
              </a:spcAft>
              <a:buSzPts val="2400"/>
              <a:buChar char="●"/>
            </a:pPr>
            <a:r>
              <a:rPr lang="en-GB"/>
              <a:t>Mở rộng hành vi của 1 thành phần:</a:t>
            </a:r>
            <a:endParaRPr/>
          </a:p>
          <a:p>
            <a:pPr indent="-368300" lvl="1" marL="914400" rtl="0" algn="l">
              <a:spcBef>
                <a:spcPts val="0"/>
              </a:spcBef>
              <a:spcAft>
                <a:spcPts val="0"/>
              </a:spcAft>
              <a:buSzPts val="2200"/>
              <a:buChar char="○"/>
            </a:pPr>
            <a:r>
              <a:rPr lang="en-GB"/>
              <a:t>Khi yêu cầu ứng dụng thay đổi, chúng ta có thể mở rộng thành phần đã có, thêm vào các hành vi mới.</a:t>
            </a:r>
            <a:endParaRPr/>
          </a:p>
          <a:p>
            <a:pPr indent="-381000" lvl="0" marL="457200" rtl="0" algn="l">
              <a:spcBef>
                <a:spcPts val="0"/>
              </a:spcBef>
              <a:spcAft>
                <a:spcPts val="0"/>
              </a:spcAft>
              <a:buSzPts val="2400"/>
              <a:buChar char="●"/>
            </a:pPr>
            <a:r>
              <a:rPr lang="en-GB"/>
              <a:t>Không thay đổi mã nguồn đã có:</a:t>
            </a:r>
            <a:endParaRPr/>
          </a:p>
          <a:p>
            <a:pPr indent="-368300" lvl="1" marL="914400" rtl="0" algn="l">
              <a:spcBef>
                <a:spcPts val="0"/>
              </a:spcBef>
              <a:spcAft>
                <a:spcPts val="0"/>
              </a:spcAft>
              <a:buSzPts val="2200"/>
              <a:buChar char="○"/>
            </a:pPr>
            <a:r>
              <a:rPr lang="en-GB"/>
              <a:t>Mã nguồn đã có được giữ nguyên trong quá trình bổ xung hành vi mới.</a:t>
            </a:r>
            <a:endParaRPr/>
          </a:p>
          <a:p>
            <a:pPr indent="-368300" lvl="1" marL="914400" rtl="0" algn="l">
              <a:spcBef>
                <a:spcPts val="0"/>
              </a:spcBef>
              <a:spcAft>
                <a:spcPts val="0"/>
              </a:spcAft>
              <a:buSzPts val="2200"/>
              <a:buChar char="○"/>
            </a:pPr>
            <a:r>
              <a:rPr lang="en-GB"/>
              <a:t>Đem lại nhiều lợi ích trong quá trình phát triển.</a:t>
            </a:r>
            <a:endParaRPr/>
          </a:p>
        </p:txBody>
      </p:sp>
      <p:sp>
        <p:nvSpPr>
          <p:cNvPr id="537" name="Google Shape;537;p70"/>
          <p:cNvSpPr/>
          <p:nvPr/>
        </p:nvSpPr>
        <p:spPr>
          <a:xfrm>
            <a:off x="865525" y="1501199"/>
            <a:ext cx="7847400" cy="20100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i="1" lang="en-GB" sz="2400"/>
              <a:t>Các thực thể phần mềm cần có khả năng mở rộng mà không thay đổi / </a:t>
            </a:r>
            <a:endParaRPr i="1" sz="2400"/>
          </a:p>
          <a:p>
            <a:pPr indent="0" lvl="0" marL="0" rtl="0" algn="just">
              <a:spcBef>
                <a:spcPts val="0"/>
              </a:spcBef>
              <a:spcAft>
                <a:spcPts val="0"/>
              </a:spcAft>
              <a:buNone/>
            </a:pPr>
            <a:r>
              <a:rPr i="1" lang="en-GB" sz="2400"/>
              <a:t>Software entities should be open for extension, but closed for modifications. </a:t>
            </a:r>
            <a:endParaRPr i="1" sz="2400"/>
          </a:p>
          <a:p>
            <a:pPr indent="0" lvl="0" marL="0" rtl="0" algn="r">
              <a:spcBef>
                <a:spcPts val="0"/>
              </a:spcBef>
              <a:spcAft>
                <a:spcPts val="0"/>
              </a:spcAft>
              <a:buNone/>
            </a:pPr>
            <a:r>
              <a:rPr lang="en-GB" sz="2400"/>
              <a:t>[Bertrand Meyer]</a:t>
            </a:r>
            <a:endParaRPr sz="24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71"/>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Trừu tượng hóa là chìa khóa</a:t>
            </a:r>
            <a:endParaRPr/>
          </a:p>
        </p:txBody>
      </p:sp>
      <p:sp>
        <p:nvSpPr>
          <p:cNvPr id="543" name="Google Shape;543;p71"/>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Để mở rộng một thành phần mà không thay đổi nó, thì phần thay đổi trong triển khai của thành phần đó phải được trừu tượng hóa.</a:t>
            </a:r>
            <a:endParaRPr/>
          </a:p>
          <a:p>
            <a:pPr indent="-381000" lvl="0" marL="457200" rtl="0" algn="just">
              <a:spcBef>
                <a:spcPts val="0"/>
              </a:spcBef>
              <a:spcAft>
                <a:spcPts val="0"/>
              </a:spcAft>
              <a:buSzPts val="2400"/>
              <a:buChar char="●"/>
            </a:pPr>
            <a:r>
              <a:rPr lang="en-GB"/>
              <a:t>Lập trình hướng đối tượng: Lớp ảo, giao diện, phương thức ảo, kế thừa, v.v..</a:t>
            </a:r>
            <a:endParaRPr/>
          </a:p>
          <a:p>
            <a:pPr indent="-381000" lvl="0" marL="457200" rtl="0" algn="just">
              <a:spcBef>
                <a:spcPts val="0"/>
              </a:spcBef>
              <a:spcAft>
                <a:spcPts val="0"/>
              </a:spcAft>
              <a:buSzPts val="2400"/>
              <a:buChar char="●"/>
            </a:pPr>
            <a:r>
              <a:rPr lang="en-GB"/>
              <a:t>Lập trình hàm: Kiểu khái quát, hàm khái quát, v.v..</a:t>
            </a:r>
            <a:endParaRPr/>
          </a:p>
          <a:p>
            <a:pPr indent="-381000" lvl="0" marL="457200" rtl="0" algn="just">
              <a:spcBef>
                <a:spcPts val="0"/>
              </a:spcBef>
              <a:spcAft>
                <a:spcPts val="0"/>
              </a:spcAft>
              <a:buSzPts val="2400"/>
              <a:buChar char="●"/>
            </a:pPr>
            <a:r>
              <a:rPr lang="en-GB"/>
              <a:t>(</a:t>
            </a:r>
            <a:r>
              <a:rPr i="1" lang="en-GB"/>
              <a:t>Khả năng tránh thay đổi có tính tương đối: Rất khó tuyệt đối tránh thay đổi mã nguồn / Thường vẫn có những yêu cầu thay đổi dẫn đến thay đổi mã nguồn</a:t>
            </a:r>
            <a:r>
              <a:rPr lang="en-GB"/>
              <a:t>).</a:t>
            </a:r>
            <a:endParaRPr/>
          </a:p>
        </p:txBody>
      </p:sp>
      <p:sp>
        <p:nvSpPr>
          <p:cNvPr id="544" name="Google Shape;544;p7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2"/>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Khái quát hóa dựa trên kế thừa</a:t>
            </a:r>
            <a:endParaRPr/>
          </a:p>
        </p:txBody>
      </p:sp>
      <p:sp>
        <p:nvSpPr>
          <p:cNvPr id="550" name="Google Shape;550;p7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51" name="Google Shape;551;p72"/>
          <p:cNvSpPr/>
          <p:nvPr/>
        </p:nvSpPr>
        <p:spPr>
          <a:xfrm>
            <a:off x="522625" y="3490025"/>
            <a:ext cx="2388600" cy="406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ContainerFlowLayout</a:t>
            </a:r>
            <a:endParaRPr sz="1800"/>
          </a:p>
        </p:txBody>
      </p:sp>
      <p:sp>
        <p:nvSpPr>
          <p:cNvPr id="552" name="Google Shape;552;p72"/>
          <p:cNvSpPr/>
          <p:nvPr/>
        </p:nvSpPr>
        <p:spPr>
          <a:xfrm>
            <a:off x="522625" y="3889375"/>
            <a:ext cx="2388600" cy="52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Layout()</a:t>
            </a:r>
            <a:endParaRPr sz="1800"/>
          </a:p>
        </p:txBody>
      </p:sp>
      <p:sp>
        <p:nvSpPr>
          <p:cNvPr id="553" name="Google Shape;553;p72"/>
          <p:cNvSpPr/>
          <p:nvPr/>
        </p:nvSpPr>
        <p:spPr>
          <a:xfrm>
            <a:off x="3336776" y="3490025"/>
            <a:ext cx="2388600" cy="406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ContainerGridLayout</a:t>
            </a:r>
            <a:endParaRPr sz="1800"/>
          </a:p>
        </p:txBody>
      </p:sp>
      <p:sp>
        <p:nvSpPr>
          <p:cNvPr id="554" name="Google Shape;554;p72"/>
          <p:cNvSpPr/>
          <p:nvPr/>
        </p:nvSpPr>
        <p:spPr>
          <a:xfrm>
            <a:off x="3336776" y="3889375"/>
            <a:ext cx="2388600" cy="52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Layout()</a:t>
            </a:r>
            <a:endParaRPr sz="1800"/>
          </a:p>
        </p:txBody>
      </p:sp>
      <p:sp>
        <p:nvSpPr>
          <p:cNvPr id="555" name="Google Shape;555;p72"/>
          <p:cNvSpPr/>
          <p:nvPr/>
        </p:nvSpPr>
        <p:spPr>
          <a:xfrm>
            <a:off x="6050350" y="3490025"/>
            <a:ext cx="2667600" cy="406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ContainerCustomLayout</a:t>
            </a:r>
            <a:endParaRPr sz="1800"/>
          </a:p>
        </p:txBody>
      </p:sp>
      <p:sp>
        <p:nvSpPr>
          <p:cNvPr id="556" name="Google Shape;556;p72"/>
          <p:cNvSpPr/>
          <p:nvPr/>
        </p:nvSpPr>
        <p:spPr>
          <a:xfrm>
            <a:off x="6050350" y="3889375"/>
            <a:ext cx="2667600" cy="52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Layout()</a:t>
            </a:r>
            <a:endParaRPr sz="1800"/>
          </a:p>
        </p:txBody>
      </p:sp>
      <p:cxnSp>
        <p:nvCxnSpPr>
          <p:cNvPr id="557" name="Google Shape;557;p72"/>
          <p:cNvCxnSpPr>
            <a:stCxn id="553" idx="0"/>
            <a:endCxn id="558" idx="3"/>
          </p:cNvCxnSpPr>
          <p:nvPr/>
        </p:nvCxnSpPr>
        <p:spPr>
          <a:xfrm rot="10800000">
            <a:off x="4522376" y="2616425"/>
            <a:ext cx="8700" cy="873600"/>
          </a:xfrm>
          <a:prstGeom prst="straightConnector1">
            <a:avLst/>
          </a:prstGeom>
          <a:noFill/>
          <a:ln cap="flat" cmpd="sng" w="9525">
            <a:solidFill>
              <a:schemeClr val="dk2"/>
            </a:solidFill>
            <a:prstDash val="solid"/>
            <a:round/>
            <a:headEnd len="med" w="med" type="none"/>
            <a:tailEnd len="med" w="med" type="none"/>
          </a:ln>
        </p:spPr>
      </p:cxnSp>
      <p:cxnSp>
        <p:nvCxnSpPr>
          <p:cNvPr id="559" name="Google Shape;559;p72"/>
          <p:cNvCxnSpPr>
            <a:stCxn id="551" idx="0"/>
            <a:endCxn id="558" idx="3"/>
          </p:cNvCxnSpPr>
          <p:nvPr/>
        </p:nvCxnSpPr>
        <p:spPr>
          <a:xfrm rot="-5400000">
            <a:off x="2682775" y="1650575"/>
            <a:ext cx="873600" cy="2805300"/>
          </a:xfrm>
          <a:prstGeom prst="bentConnector3">
            <a:avLst>
              <a:gd fmla="val 50002" name="adj1"/>
            </a:avLst>
          </a:prstGeom>
          <a:noFill/>
          <a:ln cap="flat" cmpd="sng" w="9525">
            <a:solidFill>
              <a:schemeClr val="dk2"/>
            </a:solidFill>
            <a:prstDash val="solid"/>
            <a:round/>
            <a:headEnd len="med" w="med" type="none"/>
            <a:tailEnd len="med" w="med" type="none"/>
          </a:ln>
        </p:spPr>
      </p:cxnSp>
      <p:cxnSp>
        <p:nvCxnSpPr>
          <p:cNvPr id="560" name="Google Shape;560;p72"/>
          <p:cNvCxnSpPr>
            <a:stCxn id="555" idx="0"/>
            <a:endCxn id="558" idx="3"/>
          </p:cNvCxnSpPr>
          <p:nvPr/>
        </p:nvCxnSpPr>
        <p:spPr>
          <a:xfrm flipH="1" rot="5400000">
            <a:off x="5516500" y="1622375"/>
            <a:ext cx="873600" cy="2861700"/>
          </a:xfrm>
          <a:prstGeom prst="bentConnector3">
            <a:avLst>
              <a:gd fmla="val 50002" name="adj1"/>
            </a:avLst>
          </a:prstGeom>
          <a:noFill/>
          <a:ln cap="flat" cmpd="sng" w="9525">
            <a:solidFill>
              <a:schemeClr val="dk2"/>
            </a:solidFill>
            <a:prstDash val="solid"/>
            <a:round/>
            <a:headEnd len="med" w="med" type="none"/>
            <a:tailEnd len="med" w="med" type="none"/>
          </a:ln>
        </p:spPr>
      </p:cxnSp>
      <p:sp>
        <p:nvSpPr>
          <p:cNvPr id="558" name="Google Shape;558;p72"/>
          <p:cNvSpPr/>
          <p:nvPr/>
        </p:nvSpPr>
        <p:spPr>
          <a:xfrm>
            <a:off x="4410600" y="2440891"/>
            <a:ext cx="223500" cy="1755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72"/>
          <p:cNvSpPr/>
          <p:nvPr/>
        </p:nvSpPr>
        <p:spPr>
          <a:xfrm>
            <a:off x="3780308" y="1267264"/>
            <a:ext cx="1484100" cy="50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54000">
            <a:noAutofit/>
          </a:bodyPr>
          <a:lstStyle/>
          <a:p>
            <a:pPr indent="0" lvl="0" marL="0" rtl="0" algn="ctr">
              <a:spcBef>
                <a:spcPts val="0"/>
              </a:spcBef>
              <a:spcAft>
                <a:spcPts val="0"/>
              </a:spcAft>
              <a:buNone/>
            </a:pPr>
            <a:r>
              <a:rPr lang="en-GB" sz="1800"/>
              <a:t>Container</a:t>
            </a:r>
            <a:endParaRPr sz="1800"/>
          </a:p>
        </p:txBody>
      </p:sp>
      <p:sp>
        <p:nvSpPr>
          <p:cNvPr id="562" name="Google Shape;562;p72"/>
          <p:cNvSpPr/>
          <p:nvPr/>
        </p:nvSpPr>
        <p:spPr>
          <a:xfrm>
            <a:off x="3780308" y="1771725"/>
            <a:ext cx="1484100" cy="647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 Layout()</a:t>
            </a:r>
            <a:endParaRPr i="1" sz="1800"/>
          </a:p>
          <a:p>
            <a:pPr indent="0" lvl="0" marL="0" rtl="0" algn="l">
              <a:spcBef>
                <a:spcPts val="0"/>
              </a:spcBef>
              <a:spcAft>
                <a:spcPts val="0"/>
              </a:spcAft>
              <a:buNone/>
            </a:pPr>
            <a:r>
              <a:rPr i="1" lang="en-GB" sz="1800"/>
              <a:t>…</a:t>
            </a:r>
            <a:endParaRPr i="1" sz="1800"/>
          </a:p>
        </p:txBody>
      </p:sp>
      <p:sp>
        <p:nvSpPr>
          <p:cNvPr id="563" name="Google Shape;563;p72"/>
          <p:cNvSpPr txBox="1"/>
          <p:nvPr/>
        </p:nvSpPr>
        <p:spPr>
          <a:xfrm>
            <a:off x="5729200" y="1353625"/>
            <a:ext cx="2667600" cy="64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Layout của Container là 1 phương thức ảo</a:t>
            </a:r>
            <a:endParaRPr i="1" sz="1800"/>
          </a:p>
        </p:txBody>
      </p:sp>
      <p:sp>
        <p:nvSpPr>
          <p:cNvPr id="564" name="Google Shape;564;p72"/>
          <p:cNvSpPr txBox="1"/>
          <p:nvPr/>
        </p:nvSpPr>
        <p:spPr>
          <a:xfrm>
            <a:off x="522625" y="4706425"/>
            <a:ext cx="8253300" cy="87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400">
                <a:solidFill>
                  <a:srgbClr val="434343"/>
                </a:solidFill>
              </a:rPr>
              <a:t>Lớp con sẽ cung cấp triển khai cụ thể cho Layout</a:t>
            </a:r>
            <a:endParaRPr i="1" sz="2400">
              <a:solidFill>
                <a:srgbClr val="434343"/>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70" name="Google Shape;570;p73"/>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Khái quát hóa dựa trên tổng hợp</a:t>
            </a:r>
            <a:endParaRPr/>
          </a:p>
        </p:txBody>
      </p:sp>
      <p:sp>
        <p:nvSpPr>
          <p:cNvPr id="571" name="Google Shape;571;p73"/>
          <p:cNvSpPr/>
          <p:nvPr/>
        </p:nvSpPr>
        <p:spPr>
          <a:xfrm>
            <a:off x="1984225" y="3413825"/>
            <a:ext cx="1738500" cy="406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FlowLayout</a:t>
            </a:r>
            <a:endParaRPr sz="1800"/>
          </a:p>
        </p:txBody>
      </p:sp>
      <p:sp>
        <p:nvSpPr>
          <p:cNvPr id="572" name="Google Shape;572;p73"/>
          <p:cNvSpPr/>
          <p:nvPr/>
        </p:nvSpPr>
        <p:spPr>
          <a:xfrm>
            <a:off x="1984225" y="3813176"/>
            <a:ext cx="1738500" cy="52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DoLayout()</a:t>
            </a:r>
            <a:endParaRPr sz="1800"/>
          </a:p>
        </p:txBody>
      </p:sp>
      <p:sp>
        <p:nvSpPr>
          <p:cNvPr id="573" name="Google Shape;573;p73"/>
          <p:cNvSpPr/>
          <p:nvPr/>
        </p:nvSpPr>
        <p:spPr>
          <a:xfrm>
            <a:off x="4335574" y="3413825"/>
            <a:ext cx="1738500" cy="406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GridLayout</a:t>
            </a:r>
            <a:endParaRPr sz="1800"/>
          </a:p>
        </p:txBody>
      </p:sp>
      <p:sp>
        <p:nvSpPr>
          <p:cNvPr id="574" name="Google Shape;574;p73"/>
          <p:cNvSpPr/>
          <p:nvPr/>
        </p:nvSpPr>
        <p:spPr>
          <a:xfrm>
            <a:off x="4335574" y="3813176"/>
            <a:ext cx="1738500" cy="52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DoLayout()</a:t>
            </a:r>
            <a:endParaRPr sz="1800"/>
          </a:p>
        </p:txBody>
      </p:sp>
      <p:sp>
        <p:nvSpPr>
          <p:cNvPr id="575" name="Google Shape;575;p73"/>
          <p:cNvSpPr/>
          <p:nvPr/>
        </p:nvSpPr>
        <p:spPr>
          <a:xfrm>
            <a:off x="6552561" y="3413826"/>
            <a:ext cx="2038200" cy="406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CustomLayout</a:t>
            </a:r>
            <a:endParaRPr sz="1800"/>
          </a:p>
        </p:txBody>
      </p:sp>
      <p:sp>
        <p:nvSpPr>
          <p:cNvPr id="576" name="Google Shape;576;p73"/>
          <p:cNvSpPr/>
          <p:nvPr/>
        </p:nvSpPr>
        <p:spPr>
          <a:xfrm>
            <a:off x="6552561" y="3813175"/>
            <a:ext cx="2038200" cy="52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DoLayout()</a:t>
            </a:r>
            <a:endParaRPr sz="1800"/>
          </a:p>
        </p:txBody>
      </p:sp>
      <p:cxnSp>
        <p:nvCxnSpPr>
          <p:cNvPr id="577" name="Google Shape;577;p73"/>
          <p:cNvCxnSpPr>
            <a:stCxn id="573" idx="0"/>
            <a:endCxn id="578" idx="3"/>
          </p:cNvCxnSpPr>
          <p:nvPr/>
        </p:nvCxnSpPr>
        <p:spPr>
          <a:xfrm flipH="1" rot="10800000">
            <a:off x="5204824" y="2628125"/>
            <a:ext cx="3300" cy="785700"/>
          </a:xfrm>
          <a:prstGeom prst="straightConnector1">
            <a:avLst/>
          </a:prstGeom>
          <a:noFill/>
          <a:ln cap="flat" cmpd="sng" w="9525">
            <a:solidFill>
              <a:schemeClr val="dk2"/>
            </a:solidFill>
            <a:prstDash val="lgDash"/>
            <a:round/>
            <a:headEnd len="med" w="med" type="none"/>
            <a:tailEnd len="med" w="med" type="none"/>
          </a:ln>
        </p:spPr>
      </p:cxnSp>
      <p:cxnSp>
        <p:nvCxnSpPr>
          <p:cNvPr id="579" name="Google Shape;579;p73"/>
          <p:cNvCxnSpPr>
            <a:stCxn id="571" idx="0"/>
            <a:endCxn id="578" idx="3"/>
          </p:cNvCxnSpPr>
          <p:nvPr/>
        </p:nvCxnSpPr>
        <p:spPr>
          <a:xfrm rot="-5400000">
            <a:off x="3637975" y="1843625"/>
            <a:ext cx="785700" cy="2354700"/>
          </a:xfrm>
          <a:prstGeom prst="bentConnector3">
            <a:avLst>
              <a:gd fmla="val 49994" name="adj1"/>
            </a:avLst>
          </a:prstGeom>
          <a:noFill/>
          <a:ln cap="flat" cmpd="sng" w="9525">
            <a:solidFill>
              <a:schemeClr val="dk2"/>
            </a:solidFill>
            <a:prstDash val="lgDash"/>
            <a:round/>
            <a:headEnd len="med" w="med" type="none"/>
            <a:tailEnd len="med" w="med" type="none"/>
          </a:ln>
        </p:spPr>
      </p:cxnSp>
      <p:cxnSp>
        <p:nvCxnSpPr>
          <p:cNvPr id="580" name="Google Shape;580;p73"/>
          <p:cNvCxnSpPr>
            <a:stCxn id="575" idx="0"/>
            <a:endCxn id="578" idx="3"/>
          </p:cNvCxnSpPr>
          <p:nvPr/>
        </p:nvCxnSpPr>
        <p:spPr>
          <a:xfrm flipH="1" rot="5400000">
            <a:off x="5997111" y="1839276"/>
            <a:ext cx="785700" cy="2363400"/>
          </a:xfrm>
          <a:prstGeom prst="bentConnector3">
            <a:avLst>
              <a:gd fmla="val 49994" name="adj1"/>
            </a:avLst>
          </a:prstGeom>
          <a:noFill/>
          <a:ln cap="flat" cmpd="sng" w="9525">
            <a:solidFill>
              <a:schemeClr val="dk2"/>
            </a:solidFill>
            <a:prstDash val="lgDash"/>
            <a:round/>
            <a:headEnd len="med" w="med" type="none"/>
            <a:tailEnd len="med" w="med" type="none"/>
          </a:ln>
        </p:spPr>
      </p:cxnSp>
      <p:sp>
        <p:nvSpPr>
          <p:cNvPr id="578" name="Google Shape;578;p73"/>
          <p:cNvSpPr/>
          <p:nvPr/>
        </p:nvSpPr>
        <p:spPr>
          <a:xfrm>
            <a:off x="5096400" y="2452715"/>
            <a:ext cx="223500" cy="1755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73"/>
          <p:cNvSpPr/>
          <p:nvPr/>
        </p:nvSpPr>
        <p:spPr>
          <a:xfrm>
            <a:off x="4237500" y="1935945"/>
            <a:ext cx="1927800" cy="52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 DoLayout()</a:t>
            </a:r>
            <a:endParaRPr i="1" sz="1800"/>
          </a:p>
        </p:txBody>
      </p:sp>
      <p:sp>
        <p:nvSpPr>
          <p:cNvPr id="582" name="Google Shape;582;p73"/>
          <p:cNvSpPr/>
          <p:nvPr/>
        </p:nvSpPr>
        <p:spPr>
          <a:xfrm>
            <a:off x="4237500" y="1352675"/>
            <a:ext cx="1927800" cy="576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54000">
            <a:noAutofit/>
          </a:bodyPr>
          <a:lstStyle/>
          <a:p>
            <a:pPr indent="0" lvl="0" marL="0" rtl="0" algn="ctr">
              <a:spcBef>
                <a:spcPts val="0"/>
              </a:spcBef>
              <a:spcAft>
                <a:spcPts val="0"/>
              </a:spcAft>
              <a:buNone/>
            </a:pPr>
            <a:r>
              <a:rPr lang="en-GB" sz="1800"/>
              <a:t>&lt;&lt;Interface&gt;&gt;</a:t>
            </a:r>
            <a:endParaRPr sz="1800"/>
          </a:p>
          <a:p>
            <a:pPr indent="0" lvl="0" marL="0" rtl="0" algn="ctr">
              <a:spcBef>
                <a:spcPts val="0"/>
              </a:spcBef>
              <a:spcAft>
                <a:spcPts val="0"/>
              </a:spcAft>
              <a:buNone/>
            </a:pPr>
            <a:r>
              <a:rPr lang="en-GB" sz="1800"/>
              <a:t>LayoutManager</a:t>
            </a:r>
            <a:endParaRPr sz="1800"/>
          </a:p>
        </p:txBody>
      </p:sp>
      <p:sp>
        <p:nvSpPr>
          <p:cNvPr id="583" name="Google Shape;583;p73"/>
          <p:cNvSpPr/>
          <p:nvPr/>
        </p:nvSpPr>
        <p:spPr>
          <a:xfrm>
            <a:off x="612625" y="1461528"/>
            <a:ext cx="1738500" cy="406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Container</a:t>
            </a:r>
            <a:endParaRPr sz="1800"/>
          </a:p>
        </p:txBody>
      </p:sp>
      <p:sp>
        <p:nvSpPr>
          <p:cNvPr id="584" name="Google Shape;584;p73"/>
          <p:cNvSpPr/>
          <p:nvPr/>
        </p:nvSpPr>
        <p:spPr>
          <a:xfrm>
            <a:off x="612625" y="1860879"/>
            <a:ext cx="1738500" cy="52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Layout()</a:t>
            </a:r>
            <a:endParaRPr sz="1800"/>
          </a:p>
        </p:txBody>
      </p:sp>
      <p:cxnSp>
        <p:nvCxnSpPr>
          <p:cNvPr id="585" name="Google Shape;585;p73"/>
          <p:cNvCxnSpPr>
            <a:stCxn id="582" idx="1"/>
            <a:endCxn id="586" idx="3"/>
          </p:cNvCxnSpPr>
          <p:nvPr/>
        </p:nvCxnSpPr>
        <p:spPr>
          <a:xfrm rot="10800000">
            <a:off x="2574600" y="1633025"/>
            <a:ext cx="1662900" cy="8100"/>
          </a:xfrm>
          <a:prstGeom prst="straightConnector1">
            <a:avLst/>
          </a:prstGeom>
          <a:noFill/>
          <a:ln cap="flat" cmpd="sng" w="9525">
            <a:solidFill>
              <a:schemeClr val="dk2"/>
            </a:solidFill>
            <a:prstDash val="solid"/>
            <a:round/>
            <a:headEnd len="med" w="med" type="none"/>
            <a:tailEnd len="med" w="med" type="none"/>
          </a:ln>
        </p:spPr>
      </p:cxnSp>
      <p:sp>
        <p:nvSpPr>
          <p:cNvPr id="586" name="Google Shape;586;p73"/>
          <p:cNvSpPr/>
          <p:nvPr/>
        </p:nvSpPr>
        <p:spPr>
          <a:xfrm>
            <a:off x="2351125" y="1545262"/>
            <a:ext cx="223500" cy="175500"/>
          </a:xfrm>
          <a:prstGeom prst="flowChartDecision">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3"/>
          <p:cNvSpPr txBox="1"/>
          <p:nvPr/>
        </p:nvSpPr>
        <p:spPr>
          <a:xfrm>
            <a:off x="510875" y="4731550"/>
            <a:ext cx="8321400" cy="1260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i="1" lang="en-GB" sz="2400">
                <a:solidFill>
                  <a:srgbClr val="434343"/>
                </a:solidFill>
              </a:rPr>
              <a:t>Chúng ta có thể thay đổi hành vi của Container bằng cách thiết lập 1 đối tượng quản lý bố cục phù hợp (kế thừa LayoutManager)</a:t>
            </a:r>
            <a:endParaRPr i="1" sz="2400">
              <a:solidFill>
                <a:srgbClr val="434343"/>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93" name="Google Shape;593;p74"/>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5.9. </a:t>
            </a:r>
            <a:r>
              <a:rPr lang="en-GB"/>
              <a:t>OCP</a:t>
            </a:r>
            <a:endParaRPr/>
          </a:p>
        </p:txBody>
      </p:sp>
      <p:sp>
        <p:nvSpPr>
          <p:cNvPr id="594" name="Google Shape;594;p74"/>
          <p:cNvSpPr txBox="1"/>
          <p:nvPr/>
        </p:nvSpPr>
        <p:spPr>
          <a:xfrm>
            <a:off x="5404000" y="1545950"/>
            <a:ext cx="2983500" cy="81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Lớp Beverage quản lý các thành phần thêm vào</a:t>
            </a:r>
            <a:endParaRPr i="1" sz="1800"/>
          </a:p>
        </p:txBody>
      </p:sp>
      <p:sp>
        <p:nvSpPr>
          <p:cNvPr id="595" name="Google Shape;595;p74"/>
          <p:cNvSpPr txBox="1"/>
          <p:nvPr/>
        </p:nvSpPr>
        <p:spPr>
          <a:xfrm>
            <a:off x="5925000" y="3050600"/>
            <a:ext cx="24069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Các lớp dưới quản lý đồ uống</a:t>
            </a:r>
            <a:endParaRPr i="1" sz="1800"/>
          </a:p>
        </p:txBody>
      </p:sp>
      <p:sp>
        <p:nvSpPr>
          <p:cNvPr id="596" name="Google Shape;596;p74"/>
          <p:cNvSpPr txBox="1"/>
          <p:nvPr/>
        </p:nvSpPr>
        <p:spPr>
          <a:xfrm>
            <a:off x="403575" y="5714850"/>
            <a:ext cx="80688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rgbClr val="E69138"/>
                </a:solidFill>
              </a:rPr>
              <a:t>Thiết kế này không tương thích OCP, để thay đổi giá của thành phần thêm vào hoặc bổ sung món mới chúng ta phải sửa lớp Beverage.</a:t>
            </a:r>
            <a:endParaRPr i="1" sz="1800">
              <a:solidFill>
                <a:srgbClr val="E69138"/>
              </a:solidFill>
            </a:endParaRPr>
          </a:p>
        </p:txBody>
      </p:sp>
      <p:sp>
        <p:nvSpPr>
          <p:cNvPr id="597" name="Google Shape;597;p74"/>
          <p:cNvSpPr/>
          <p:nvPr/>
        </p:nvSpPr>
        <p:spPr>
          <a:xfrm>
            <a:off x="3460275" y="687900"/>
            <a:ext cx="1525200" cy="28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Beverage</a:t>
            </a:r>
            <a:endParaRPr/>
          </a:p>
        </p:txBody>
      </p:sp>
      <p:sp>
        <p:nvSpPr>
          <p:cNvPr id="598" name="Google Shape;598;p74"/>
          <p:cNvSpPr/>
          <p:nvPr/>
        </p:nvSpPr>
        <p:spPr>
          <a:xfrm>
            <a:off x="3460275" y="980875"/>
            <a:ext cx="1525200" cy="1841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milk</a:t>
            </a:r>
            <a:endParaRPr/>
          </a:p>
          <a:p>
            <a:pPr indent="0" lvl="0" marL="0" rtl="0" algn="l">
              <a:spcBef>
                <a:spcPts val="0"/>
              </a:spcBef>
              <a:spcAft>
                <a:spcPts val="0"/>
              </a:spcAft>
              <a:buNone/>
            </a:pPr>
            <a:r>
              <a:rPr lang="en-GB"/>
              <a:t>soy</a:t>
            </a:r>
            <a:endParaRPr/>
          </a:p>
          <a:p>
            <a:pPr indent="0" lvl="0" marL="0" rtl="0" algn="l">
              <a:spcBef>
                <a:spcPts val="0"/>
              </a:spcBef>
              <a:spcAft>
                <a:spcPts val="0"/>
              </a:spcAft>
              <a:buNone/>
            </a:pPr>
            <a:r>
              <a:rPr lang="en-GB"/>
              <a:t>mocha</a:t>
            </a:r>
            <a:endParaRPr/>
          </a:p>
          <a:p>
            <a:pPr indent="0" lvl="0" marL="0" rtl="0" algn="l">
              <a:spcBef>
                <a:spcPts val="0"/>
              </a:spcBef>
              <a:spcAft>
                <a:spcPts val="0"/>
              </a:spcAft>
              <a:buNone/>
            </a:pPr>
            <a:r>
              <a:rPr lang="en-GB"/>
              <a:t>whip</a:t>
            </a:r>
            <a:endParaRPr/>
          </a:p>
          <a:p>
            <a:pPr indent="0" lvl="0" marL="0" rtl="0" algn="l">
              <a:spcBef>
                <a:spcPts val="0"/>
              </a:spcBef>
              <a:spcAft>
                <a:spcPts val="0"/>
              </a:spcAft>
              <a:buNone/>
            </a:pPr>
            <a:r>
              <a:rPr lang="en-GB"/>
              <a:t>milk_price</a:t>
            </a:r>
            <a:endParaRPr/>
          </a:p>
          <a:p>
            <a:pPr indent="0" lvl="0" marL="0" rtl="0" algn="l">
              <a:spcBef>
                <a:spcPts val="0"/>
              </a:spcBef>
              <a:spcAft>
                <a:spcPts val="0"/>
              </a:spcAft>
              <a:buNone/>
            </a:pPr>
            <a:r>
              <a:rPr lang="en-GB"/>
              <a:t>soy_price</a:t>
            </a:r>
            <a:endParaRPr/>
          </a:p>
          <a:p>
            <a:pPr indent="0" lvl="0" marL="0" rtl="0" algn="l">
              <a:spcBef>
                <a:spcPts val="0"/>
              </a:spcBef>
              <a:spcAft>
                <a:spcPts val="0"/>
              </a:spcAft>
              <a:buNone/>
            </a:pPr>
            <a:r>
              <a:rPr lang="en-GB"/>
              <a:t>mocha_price</a:t>
            </a:r>
            <a:endParaRPr/>
          </a:p>
          <a:p>
            <a:pPr indent="0" lvl="0" marL="0" rtl="0" algn="l">
              <a:spcBef>
                <a:spcPts val="0"/>
              </a:spcBef>
              <a:spcAft>
                <a:spcPts val="0"/>
              </a:spcAft>
              <a:buNone/>
            </a:pPr>
            <a:r>
              <a:rPr lang="en-GB"/>
              <a:t>whip_price</a:t>
            </a:r>
            <a:endParaRPr/>
          </a:p>
        </p:txBody>
      </p:sp>
      <p:sp>
        <p:nvSpPr>
          <p:cNvPr id="599" name="Google Shape;599;p74"/>
          <p:cNvSpPr/>
          <p:nvPr/>
        </p:nvSpPr>
        <p:spPr>
          <a:xfrm>
            <a:off x="3460275" y="2821500"/>
            <a:ext cx="1525200" cy="609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 description()</a:t>
            </a:r>
            <a:endParaRPr/>
          </a:p>
          <a:p>
            <a:pPr indent="0" lvl="0" marL="0" rtl="0" algn="l">
              <a:spcBef>
                <a:spcPts val="0"/>
              </a:spcBef>
              <a:spcAft>
                <a:spcPts val="0"/>
              </a:spcAft>
              <a:buNone/>
            </a:pPr>
            <a:r>
              <a:rPr lang="en-GB"/>
              <a:t>+ cost()</a:t>
            </a:r>
            <a:endParaRPr/>
          </a:p>
        </p:txBody>
      </p:sp>
      <p:sp>
        <p:nvSpPr>
          <p:cNvPr id="600" name="Google Shape;600;p74"/>
          <p:cNvSpPr/>
          <p:nvPr/>
        </p:nvSpPr>
        <p:spPr>
          <a:xfrm>
            <a:off x="793275" y="4269300"/>
            <a:ext cx="1525200" cy="28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Decaf</a:t>
            </a:r>
            <a:endParaRPr/>
          </a:p>
        </p:txBody>
      </p:sp>
      <p:sp>
        <p:nvSpPr>
          <p:cNvPr id="601" name="Google Shape;601;p74"/>
          <p:cNvSpPr/>
          <p:nvPr/>
        </p:nvSpPr>
        <p:spPr>
          <a:xfrm>
            <a:off x="793275" y="4562275"/>
            <a:ext cx="1525200" cy="391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price</a:t>
            </a:r>
            <a:endParaRPr/>
          </a:p>
        </p:txBody>
      </p:sp>
      <p:sp>
        <p:nvSpPr>
          <p:cNvPr id="602" name="Google Shape;602;p74"/>
          <p:cNvSpPr/>
          <p:nvPr/>
        </p:nvSpPr>
        <p:spPr>
          <a:xfrm>
            <a:off x="793275" y="4955100"/>
            <a:ext cx="1525200" cy="609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 description()</a:t>
            </a:r>
            <a:endParaRPr/>
          </a:p>
          <a:p>
            <a:pPr indent="0" lvl="0" marL="0" rtl="0" algn="l">
              <a:spcBef>
                <a:spcPts val="0"/>
              </a:spcBef>
              <a:spcAft>
                <a:spcPts val="0"/>
              </a:spcAft>
              <a:buNone/>
            </a:pPr>
            <a:r>
              <a:rPr lang="en-GB"/>
              <a:t>+ cost()</a:t>
            </a:r>
            <a:endParaRPr/>
          </a:p>
        </p:txBody>
      </p:sp>
      <p:sp>
        <p:nvSpPr>
          <p:cNvPr id="603" name="Google Shape;603;p74"/>
          <p:cNvSpPr/>
          <p:nvPr/>
        </p:nvSpPr>
        <p:spPr>
          <a:xfrm>
            <a:off x="3460275" y="4269300"/>
            <a:ext cx="1525200" cy="28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Expresso</a:t>
            </a:r>
            <a:endParaRPr/>
          </a:p>
        </p:txBody>
      </p:sp>
      <p:sp>
        <p:nvSpPr>
          <p:cNvPr id="604" name="Google Shape;604;p74"/>
          <p:cNvSpPr/>
          <p:nvPr/>
        </p:nvSpPr>
        <p:spPr>
          <a:xfrm>
            <a:off x="3460275" y="4562275"/>
            <a:ext cx="1525200" cy="391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price</a:t>
            </a:r>
            <a:endParaRPr/>
          </a:p>
        </p:txBody>
      </p:sp>
      <p:sp>
        <p:nvSpPr>
          <p:cNvPr id="605" name="Google Shape;605;p74"/>
          <p:cNvSpPr/>
          <p:nvPr/>
        </p:nvSpPr>
        <p:spPr>
          <a:xfrm>
            <a:off x="3460275" y="4955100"/>
            <a:ext cx="1525200" cy="609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 description()</a:t>
            </a:r>
            <a:endParaRPr/>
          </a:p>
          <a:p>
            <a:pPr indent="0" lvl="0" marL="0" rtl="0" algn="l">
              <a:spcBef>
                <a:spcPts val="0"/>
              </a:spcBef>
              <a:spcAft>
                <a:spcPts val="0"/>
              </a:spcAft>
              <a:buNone/>
            </a:pPr>
            <a:r>
              <a:rPr lang="en-GB"/>
              <a:t>+ cost()</a:t>
            </a:r>
            <a:endParaRPr/>
          </a:p>
        </p:txBody>
      </p:sp>
      <p:sp>
        <p:nvSpPr>
          <p:cNvPr id="606" name="Google Shape;606;p74"/>
          <p:cNvSpPr/>
          <p:nvPr/>
        </p:nvSpPr>
        <p:spPr>
          <a:xfrm>
            <a:off x="5910499" y="4245652"/>
            <a:ext cx="1525200" cy="28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HouseBlend</a:t>
            </a:r>
            <a:endParaRPr/>
          </a:p>
        </p:txBody>
      </p:sp>
      <p:sp>
        <p:nvSpPr>
          <p:cNvPr id="607" name="Google Shape;607;p74"/>
          <p:cNvSpPr/>
          <p:nvPr/>
        </p:nvSpPr>
        <p:spPr>
          <a:xfrm>
            <a:off x="5910499" y="4538627"/>
            <a:ext cx="1525200" cy="391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price</a:t>
            </a:r>
            <a:endParaRPr/>
          </a:p>
        </p:txBody>
      </p:sp>
      <p:sp>
        <p:nvSpPr>
          <p:cNvPr id="608" name="Google Shape;608;p74"/>
          <p:cNvSpPr/>
          <p:nvPr/>
        </p:nvSpPr>
        <p:spPr>
          <a:xfrm>
            <a:off x="5910499" y="4931452"/>
            <a:ext cx="1525200" cy="609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 description()</a:t>
            </a:r>
            <a:endParaRPr/>
          </a:p>
          <a:p>
            <a:pPr indent="0" lvl="0" marL="0" rtl="0" algn="l">
              <a:spcBef>
                <a:spcPts val="0"/>
              </a:spcBef>
              <a:spcAft>
                <a:spcPts val="0"/>
              </a:spcAft>
              <a:buNone/>
            </a:pPr>
            <a:r>
              <a:rPr lang="en-GB"/>
              <a:t>+ cost()</a:t>
            </a:r>
            <a:endParaRPr/>
          </a:p>
        </p:txBody>
      </p:sp>
      <p:sp>
        <p:nvSpPr>
          <p:cNvPr id="609" name="Google Shape;609;p74"/>
          <p:cNvSpPr/>
          <p:nvPr/>
        </p:nvSpPr>
        <p:spPr>
          <a:xfrm>
            <a:off x="3703327" y="3442923"/>
            <a:ext cx="224700" cy="215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0" name="Google Shape;610;p74"/>
          <p:cNvSpPr/>
          <p:nvPr/>
        </p:nvSpPr>
        <p:spPr>
          <a:xfrm>
            <a:off x="4107975" y="3442923"/>
            <a:ext cx="224700" cy="215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1" name="Google Shape;611;p74"/>
          <p:cNvSpPr/>
          <p:nvPr/>
        </p:nvSpPr>
        <p:spPr>
          <a:xfrm>
            <a:off x="4565175" y="3442923"/>
            <a:ext cx="224700" cy="215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12" name="Google Shape;612;p74"/>
          <p:cNvCxnSpPr>
            <a:stCxn id="600" idx="0"/>
            <a:endCxn id="609" idx="3"/>
          </p:cNvCxnSpPr>
          <p:nvPr/>
        </p:nvCxnSpPr>
        <p:spPr>
          <a:xfrm rot="-5400000">
            <a:off x="2380125" y="2833650"/>
            <a:ext cx="611400" cy="2259900"/>
          </a:xfrm>
          <a:prstGeom prst="bentConnector3">
            <a:avLst>
              <a:gd fmla="val 49990" name="adj1"/>
            </a:avLst>
          </a:prstGeom>
          <a:noFill/>
          <a:ln cap="flat" cmpd="sng" w="9525">
            <a:solidFill>
              <a:schemeClr val="dk2"/>
            </a:solidFill>
            <a:prstDash val="solid"/>
            <a:round/>
            <a:headEnd len="med" w="med" type="none"/>
            <a:tailEnd len="med" w="med" type="none"/>
          </a:ln>
        </p:spPr>
      </p:cxnSp>
      <p:cxnSp>
        <p:nvCxnSpPr>
          <p:cNvPr id="613" name="Google Shape;613;p74"/>
          <p:cNvCxnSpPr>
            <a:stCxn id="603" idx="0"/>
            <a:endCxn id="610" idx="3"/>
          </p:cNvCxnSpPr>
          <p:nvPr/>
        </p:nvCxnSpPr>
        <p:spPr>
          <a:xfrm flipH="1" rot="5400000">
            <a:off x="3915975" y="3962400"/>
            <a:ext cx="611400" cy="2400"/>
          </a:xfrm>
          <a:prstGeom prst="bentConnector3">
            <a:avLst>
              <a:gd fmla="val 49990" name="adj1"/>
            </a:avLst>
          </a:prstGeom>
          <a:noFill/>
          <a:ln cap="flat" cmpd="sng" w="9525">
            <a:solidFill>
              <a:schemeClr val="dk2"/>
            </a:solidFill>
            <a:prstDash val="solid"/>
            <a:round/>
            <a:headEnd len="med" w="med" type="none"/>
            <a:tailEnd len="med" w="med" type="none"/>
          </a:ln>
        </p:spPr>
      </p:cxnSp>
      <p:cxnSp>
        <p:nvCxnSpPr>
          <p:cNvPr id="614" name="Google Shape;614;p74"/>
          <p:cNvCxnSpPr>
            <a:stCxn id="606" idx="0"/>
            <a:endCxn id="611" idx="3"/>
          </p:cNvCxnSpPr>
          <p:nvPr/>
        </p:nvCxnSpPr>
        <p:spPr>
          <a:xfrm flipH="1" rot="5400000">
            <a:off x="5381449" y="2954002"/>
            <a:ext cx="587700" cy="1995600"/>
          </a:xfrm>
          <a:prstGeom prst="bentConnector3">
            <a:avLst>
              <a:gd fmla="val 49994"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20" name="Google Shape;620;p75"/>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5.9. OCP</a:t>
            </a:r>
            <a:r>
              <a:rPr baseline="-25000" lang="en-GB"/>
              <a:t>(2)</a:t>
            </a:r>
            <a:endParaRPr baseline="-25000"/>
          </a:p>
        </p:txBody>
      </p:sp>
      <p:sp>
        <p:nvSpPr>
          <p:cNvPr id="621" name="Google Shape;621;p75"/>
          <p:cNvSpPr txBox="1"/>
          <p:nvPr/>
        </p:nvSpPr>
        <p:spPr>
          <a:xfrm>
            <a:off x="5876725" y="836800"/>
            <a:ext cx="2763300" cy="10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Đối tượng món thêm vào có thể gói đối tượng món đồ uống</a:t>
            </a:r>
            <a:endParaRPr i="1" sz="1800"/>
          </a:p>
        </p:txBody>
      </p:sp>
      <p:sp>
        <p:nvSpPr>
          <p:cNvPr id="622" name="Google Shape;622;p75"/>
          <p:cNvSpPr txBox="1"/>
          <p:nvPr/>
        </p:nvSpPr>
        <p:spPr>
          <a:xfrm>
            <a:off x="5881672" y="1712700"/>
            <a:ext cx="28194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(Mẫu Tô Điểm/Decorator)</a:t>
            </a:r>
            <a:endParaRPr i="1" sz="1800"/>
          </a:p>
        </p:txBody>
      </p:sp>
      <p:sp>
        <p:nvSpPr>
          <p:cNvPr id="623" name="Google Shape;623;p75"/>
          <p:cNvSpPr txBox="1"/>
          <p:nvPr/>
        </p:nvSpPr>
        <p:spPr>
          <a:xfrm>
            <a:off x="253475" y="4989075"/>
            <a:ext cx="8640600" cy="1642500"/>
          </a:xfrm>
          <a:prstGeom prst="rect">
            <a:avLst/>
          </a:prstGeom>
          <a:noFill/>
          <a:ln>
            <a:noFill/>
          </a:ln>
        </p:spPr>
        <p:txBody>
          <a:bodyPr anchorCtr="0" anchor="t" bIns="91425" lIns="91425" spcFirstLastPara="1" rIns="91425" wrap="square" tIns="91425">
            <a:noAutofit/>
          </a:bodyPr>
          <a:lstStyle/>
          <a:p>
            <a:pPr indent="-381000" lvl="0" marL="457200" rtl="0" algn="just">
              <a:spcBef>
                <a:spcPts val="0"/>
              </a:spcBef>
              <a:spcAft>
                <a:spcPts val="0"/>
              </a:spcAft>
              <a:buClr>
                <a:srgbClr val="434343"/>
              </a:buClr>
              <a:buSzPts val="2400"/>
              <a:buChar char="●"/>
            </a:pPr>
            <a:r>
              <a:rPr lang="en-GB" sz="2400">
                <a:solidFill>
                  <a:srgbClr val="434343"/>
                </a:solidFill>
              </a:rPr>
              <a:t>Gói đối tượng Beverage trong đối tượng CondimentDecorator.</a:t>
            </a:r>
            <a:endParaRPr sz="2400">
              <a:solidFill>
                <a:srgbClr val="434343"/>
              </a:solidFill>
            </a:endParaRPr>
          </a:p>
          <a:p>
            <a:pPr indent="-381000" lvl="0" marL="457200" rtl="0" algn="just">
              <a:spcBef>
                <a:spcPts val="0"/>
              </a:spcBef>
              <a:spcAft>
                <a:spcPts val="0"/>
              </a:spcAft>
              <a:buClr>
                <a:srgbClr val="434343"/>
              </a:buClr>
              <a:buSzPts val="2400"/>
              <a:buChar char="●"/>
            </a:pPr>
            <a:r>
              <a:rPr lang="en-GB" sz="2400">
                <a:solidFill>
                  <a:srgbClr val="434343"/>
                </a:solidFill>
              </a:rPr>
              <a:t>name và price được tính theo cấu trúc đóng gói.</a:t>
            </a:r>
            <a:endParaRPr sz="2400">
              <a:solidFill>
                <a:srgbClr val="434343"/>
              </a:solidFill>
            </a:endParaRPr>
          </a:p>
          <a:p>
            <a:pPr indent="0" lvl="0" marL="0" rtl="0" algn="ctr">
              <a:spcBef>
                <a:spcPts val="1000"/>
              </a:spcBef>
              <a:spcAft>
                <a:spcPts val="0"/>
              </a:spcAft>
              <a:buNone/>
            </a:pPr>
            <a:r>
              <a:rPr i="1" lang="en-GB" sz="2400">
                <a:solidFill>
                  <a:srgbClr val="0B5394"/>
                </a:solidFill>
              </a:rPr>
              <a:t>Thiết kế này </a:t>
            </a:r>
            <a:r>
              <a:rPr i="1" lang="en-GB" sz="2400">
                <a:solidFill>
                  <a:srgbClr val="0B5394"/>
                </a:solidFill>
              </a:rPr>
              <a:t>tương thích với</a:t>
            </a:r>
            <a:r>
              <a:rPr i="1" lang="en-GB" sz="2400">
                <a:solidFill>
                  <a:srgbClr val="0B5394"/>
                </a:solidFill>
              </a:rPr>
              <a:t> OCP.</a:t>
            </a:r>
            <a:endParaRPr i="1" sz="2400">
              <a:solidFill>
                <a:srgbClr val="0B5394"/>
              </a:solidFill>
            </a:endParaRPr>
          </a:p>
        </p:txBody>
      </p:sp>
      <p:sp>
        <p:nvSpPr>
          <p:cNvPr id="624" name="Google Shape;624;p75"/>
          <p:cNvSpPr/>
          <p:nvPr/>
        </p:nvSpPr>
        <p:spPr>
          <a:xfrm>
            <a:off x="1926625" y="1026675"/>
            <a:ext cx="1525200" cy="28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Beverage</a:t>
            </a:r>
            <a:endParaRPr b="1" sz="1600"/>
          </a:p>
        </p:txBody>
      </p:sp>
      <p:sp>
        <p:nvSpPr>
          <p:cNvPr id="625" name="Google Shape;625;p75"/>
          <p:cNvSpPr/>
          <p:nvPr/>
        </p:nvSpPr>
        <p:spPr>
          <a:xfrm>
            <a:off x="1926625" y="1319650"/>
            <a:ext cx="1525200" cy="609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#name</a:t>
            </a:r>
            <a:endParaRPr sz="1600"/>
          </a:p>
          <a:p>
            <a:pPr indent="0" lvl="0" marL="0" rtl="0" algn="l">
              <a:spcBef>
                <a:spcPts val="0"/>
              </a:spcBef>
              <a:spcAft>
                <a:spcPts val="0"/>
              </a:spcAft>
              <a:buNone/>
            </a:pPr>
            <a:r>
              <a:rPr lang="en-GB" sz="1600"/>
              <a:t>#price</a:t>
            </a:r>
            <a:endParaRPr sz="1600"/>
          </a:p>
        </p:txBody>
      </p:sp>
      <p:sp>
        <p:nvSpPr>
          <p:cNvPr id="626" name="Google Shape;626;p75"/>
          <p:cNvSpPr/>
          <p:nvPr/>
        </p:nvSpPr>
        <p:spPr>
          <a:xfrm>
            <a:off x="1926625" y="1941075"/>
            <a:ext cx="1525200" cy="609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description()</a:t>
            </a:r>
            <a:endParaRPr sz="1600"/>
          </a:p>
          <a:p>
            <a:pPr indent="0" lvl="0" marL="0" rtl="0" algn="l">
              <a:spcBef>
                <a:spcPts val="0"/>
              </a:spcBef>
              <a:spcAft>
                <a:spcPts val="0"/>
              </a:spcAft>
              <a:buNone/>
            </a:pPr>
            <a:r>
              <a:rPr lang="en-GB" sz="1600"/>
              <a:t>+ cost()</a:t>
            </a:r>
            <a:endParaRPr sz="1600"/>
          </a:p>
        </p:txBody>
      </p:sp>
      <p:sp>
        <p:nvSpPr>
          <p:cNvPr id="627" name="Google Shape;627;p75"/>
          <p:cNvSpPr/>
          <p:nvPr/>
        </p:nvSpPr>
        <p:spPr>
          <a:xfrm>
            <a:off x="478825" y="3160275"/>
            <a:ext cx="1068600" cy="28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Decaf</a:t>
            </a:r>
            <a:endParaRPr b="1" sz="1600"/>
          </a:p>
        </p:txBody>
      </p:sp>
      <p:sp>
        <p:nvSpPr>
          <p:cNvPr id="628" name="Google Shape;628;p75"/>
          <p:cNvSpPr/>
          <p:nvPr/>
        </p:nvSpPr>
        <p:spPr>
          <a:xfrm>
            <a:off x="1121725" y="3769875"/>
            <a:ext cx="1187700" cy="28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Expresso</a:t>
            </a:r>
            <a:endParaRPr b="1" sz="1600"/>
          </a:p>
        </p:txBody>
      </p:sp>
      <p:sp>
        <p:nvSpPr>
          <p:cNvPr id="629" name="Google Shape;629;p75"/>
          <p:cNvSpPr/>
          <p:nvPr/>
        </p:nvSpPr>
        <p:spPr>
          <a:xfrm>
            <a:off x="3145825" y="3465075"/>
            <a:ext cx="1447800" cy="28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HouseBlend</a:t>
            </a:r>
            <a:endParaRPr b="1" sz="1600"/>
          </a:p>
        </p:txBody>
      </p:sp>
      <p:sp>
        <p:nvSpPr>
          <p:cNvPr id="630" name="Google Shape;630;p75"/>
          <p:cNvSpPr/>
          <p:nvPr/>
        </p:nvSpPr>
        <p:spPr>
          <a:xfrm>
            <a:off x="4974625" y="2550675"/>
            <a:ext cx="22851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CondimentDecorator</a:t>
            </a:r>
            <a:endParaRPr b="1" sz="1600"/>
          </a:p>
        </p:txBody>
      </p:sp>
      <p:sp>
        <p:nvSpPr>
          <p:cNvPr id="631" name="Google Shape;631;p75"/>
          <p:cNvSpPr/>
          <p:nvPr/>
        </p:nvSpPr>
        <p:spPr>
          <a:xfrm>
            <a:off x="4974625" y="2919851"/>
            <a:ext cx="2285100" cy="609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description()</a:t>
            </a:r>
            <a:endParaRPr sz="1600"/>
          </a:p>
          <a:p>
            <a:pPr indent="0" lvl="0" marL="0" rtl="0" algn="l">
              <a:spcBef>
                <a:spcPts val="0"/>
              </a:spcBef>
              <a:spcAft>
                <a:spcPts val="0"/>
              </a:spcAft>
              <a:buNone/>
            </a:pPr>
            <a:r>
              <a:rPr lang="en-GB" sz="1600"/>
              <a:t>+ cost()</a:t>
            </a:r>
            <a:endParaRPr sz="1600"/>
          </a:p>
        </p:txBody>
      </p:sp>
      <p:sp>
        <p:nvSpPr>
          <p:cNvPr id="632" name="Google Shape;632;p75"/>
          <p:cNvSpPr/>
          <p:nvPr/>
        </p:nvSpPr>
        <p:spPr>
          <a:xfrm>
            <a:off x="4060225" y="4303275"/>
            <a:ext cx="989700" cy="28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Milk</a:t>
            </a:r>
            <a:endParaRPr b="1" sz="1600"/>
          </a:p>
        </p:txBody>
      </p:sp>
      <p:sp>
        <p:nvSpPr>
          <p:cNvPr id="633" name="Google Shape;633;p75"/>
          <p:cNvSpPr/>
          <p:nvPr/>
        </p:nvSpPr>
        <p:spPr>
          <a:xfrm>
            <a:off x="5162497" y="4303275"/>
            <a:ext cx="989700" cy="28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Mocha</a:t>
            </a:r>
            <a:endParaRPr b="1" sz="1600"/>
          </a:p>
        </p:txBody>
      </p:sp>
      <p:sp>
        <p:nvSpPr>
          <p:cNvPr id="634" name="Google Shape;634;p75"/>
          <p:cNvSpPr/>
          <p:nvPr/>
        </p:nvSpPr>
        <p:spPr>
          <a:xfrm>
            <a:off x="6270025" y="4303275"/>
            <a:ext cx="989700" cy="28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Soy</a:t>
            </a:r>
            <a:endParaRPr b="1" sz="1600"/>
          </a:p>
        </p:txBody>
      </p:sp>
      <p:sp>
        <p:nvSpPr>
          <p:cNvPr id="635" name="Google Shape;635;p75"/>
          <p:cNvSpPr/>
          <p:nvPr/>
        </p:nvSpPr>
        <p:spPr>
          <a:xfrm>
            <a:off x="7489225" y="4303275"/>
            <a:ext cx="989700" cy="28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Whip</a:t>
            </a:r>
            <a:endParaRPr b="1" sz="1600"/>
          </a:p>
        </p:txBody>
      </p:sp>
      <p:sp>
        <p:nvSpPr>
          <p:cNvPr id="636" name="Google Shape;636;p75"/>
          <p:cNvSpPr/>
          <p:nvPr/>
        </p:nvSpPr>
        <p:spPr>
          <a:xfrm>
            <a:off x="1944150" y="2564000"/>
            <a:ext cx="224700" cy="1998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7" name="Google Shape;637;p75"/>
          <p:cNvSpPr/>
          <p:nvPr/>
        </p:nvSpPr>
        <p:spPr>
          <a:xfrm>
            <a:off x="2401350" y="2564000"/>
            <a:ext cx="224700" cy="1998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8" name="Google Shape;638;p75"/>
          <p:cNvSpPr/>
          <p:nvPr/>
        </p:nvSpPr>
        <p:spPr>
          <a:xfrm>
            <a:off x="2782350" y="2564000"/>
            <a:ext cx="224700" cy="1998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39" name="Google Shape;639;p75"/>
          <p:cNvCxnSpPr>
            <a:stCxn id="627" idx="3"/>
            <a:endCxn id="636" idx="3"/>
          </p:cNvCxnSpPr>
          <p:nvPr/>
        </p:nvCxnSpPr>
        <p:spPr>
          <a:xfrm flipH="1" rot="10800000">
            <a:off x="1547425" y="2763675"/>
            <a:ext cx="509100" cy="538500"/>
          </a:xfrm>
          <a:prstGeom prst="bentConnector2">
            <a:avLst/>
          </a:prstGeom>
          <a:noFill/>
          <a:ln cap="flat" cmpd="sng" w="9525">
            <a:solidFill>
              <a:schemeClr val="dk2"/>
            </a:solidFill>
            <a:prstDash val="solid"/>
            <a:round/>
            <a:headEnd len="med" w="med" type="none"/>
            <a:tailEnd len="med" w="med" type="none"/>
          </a:ln>
        </p:spPr>
      </p:cxnSp>
      <p:cxnSp>
        <p:nvCxnSpPr>
          <p:cNvPr id="640" name="Google Shape;640;p75"/>
          <p:cNvCxnSpPr>
            <a:stCxn id="628" idx="3"/>
            <a:endCxn id="637" idx="3"/>
          </p:cNvCxnSpPr>
          <p:nvPr/>
        </p:nvCxnSpPr>
        <p:spPr>
          <a:xfrm flipH="1" rot="10800000">
            <a:off x="2309425" y="2763675"/>
            <a:ext cx="204300" cy="1148100"/>
          </a:xfrm>
          <a:prstGeom prst="bentConnector2">
            <a:avLst/>
          </a:prstGeom>
          <a:noFill/>
          <a:ln cap="flat" cmpd="sng" w="9525">
            <a:solidFill>
              <a:schemeClr val="dk2"/>
            </a:solidFill>
            <a:prstDash val="solid"/>
            <a:round/>
            <a:headEnd len="med" w="med" type="none"/>
            <a:tailEnd len="med" w="med" type="none"/>
          </a:ln>
        </p:spPr>
      </p:cxnSp>
      <p:cxnSp>
        <p:nvCxnSpPr>
          <p:cNvPr id="641" name="Google Shape;641;p75"/>
          <p:cNvCxnSpPr>
            <a:stCxn id="629" idx="1"/>
            <a:endCxn id="638" idx="3"/>
          </p:cNvCxnSpPr>
          <p:nvPr/>
        </p:nvCxnSpPr>
        <p:spPr>
          <a:xfrm rot="10800000">
            <a:off x="2894725" y="2763675"/>
            <a:ext cx="251100" cy="843300"/>
          </a:xfrm>
          <a:prstGeom prst="bentConnector2">
            <a:avLst/>
          </a:prstGeom>
          <a:noFill/>
          <a:ln cap="flat" cmpd="sng" w="9525">
            <a:solidFill>
              <a:schemeClr val="dk2"/>
            </a:solidFill>
            <a:prstDash val="solid"/>
            <a:round/>
            <a:headEnd len="med" w="med" type="none"/>
            <a:tailEnd len="med" w="med" type="none"/>
          </a:ln>
        </p:spPr>
      </p:cxnSp>
      <p:sp>
        <p:nvSpPr>
          <p:cNvPr id="642" name="Google Shape;642;p75"/>
          <p:cNvSpPr/>
          <p:nvPr/>
        </p:nvSpPr>
        <p:spPr>
          <a:xfrm>
            <a:off x="3239550" y="2564000"/>
            <a:ext cx="224700" cy="1998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43" name="Google Shape;643;p75"/>
          <p:cNvCxnSpPr>
            <a:stCxn id="631" idx="1"/>
            <a:endCxn id="642" idx="3"/>
          </p:cNvCxnSpPr>
          <p:nvPr/>
        </p:nvCxnSpPr>
        <p:spPr>
          <a:xfrm rot="10800000">
            <a:off x="3351925" y="2763851"/>
            <a:ext cx="1622700" cy="460800"/>
          </a:xfrm>
          <a:prstGeom prst="bentConnector2">
            <a:avLst/>
          </a:prstGeom>
          <a:noFill/>
          <a:ln cap="flat" cmpd="sng" w="9525">
            <a:solidFill>
              <a:schemeClr val="dk2"/>
            </a:solidFill>
            <a:prstDash val="solid"/>
            <a:round/>
            <a:headEnd len="med" w="med" type="none"/>
            <a:tailEnd len="med" w="med" type="none"/>
          </a:ln>
        </p:spPr>
      </p:cxnSp>
      <p:sp>
        <p:nvSpPr>
          <p:cNvPr id="644" name="Google Shape;644;p75"/>
          <p:cNvSpPr/>
          <p:nvPr/>
        </p:nvSpPr>
        <p:spPr>
          <a:xfrm>
            <a:off x="5490075" y="2349849"/>
            <a:ext cx="204300" cy="199800"/>
          </a:xfrm>
          <a:prstGeom prst="diamond">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45" name="Google Shape;645;p75"/>
          <p:cNvCxnSpPr>
            <a:stCxn id="625" idx="3"/>
            <a:endCxn id="644" idx="0"/>
          </p:cNvCxnSpPr>
          <p:nvPr/>
        </p:nvCxnSpPr>
        <p:spPr>
          <a:xfrm>
            <a:off x="3451825" y="1624450"/>
            <a:ext cx="2140500" cy="725400"/>
          </a:xfrm>
          <a:prstGeom prst="bentConnector2">
            <a:avLst/>
          </a:prstGeom>
          <a:noFill/>
          <a:ln cap="flat" cmpd="sng" w="9525">
            <a:solidFill>
              <a:schemeClr val="dk2"/>
            </a:solidFill>
            <a:prstDash val="solid"/>
            <a:round/>
            <a:headEnd len="med" w="med" type="none"/>
            <a:tailEnd len="med" w="med" type="none"/>
          </a:ln>
        </p:spPr>
      </p:cxnSp>
      <p:sp>
        <p:nvSpPr>
          <p:cNvPr id="646" name="Google Shape;646;p75"/>
          <p:cNvSpPr/>
          <p:nvPr/>
        </p:nvSpPr>
        <p:spPr>
          <a:xfrm>
            <a:off x="5144550" y="3554600"/>
            <a:ext cx="224700" cy="1998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7" name="Google Shape;647;p75"/>
          <p:cNvSpPr/>
          <p:nvPr/>
        </p:nvSpPr>
        <p:spPr>
          <a:xfrm>
            <a:off x="5601750" y="3554600"/>
            <a:ext cx="224700" cy="1998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p75"/>
          <p:cNvSpPr/>
          <p:nvPr/>
        </p:nvSpPr>
        <p:spPr>
          <a:xfrm>
            <a:off x="6058950" y="3554600"/>
            <a:ext cx="224700" cy="1998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9" name="Google Shape;649;p75"/>
          <p:cNvSpPr/>
          <p:nvPr/>
        </p:nvSpPr>
        <p:spPr>
          <a:xfrm>
            <a:off x="6820950" y="3554600"/>
            <a:ext cx="224700" cy="1998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50" name="Google Shape;650;p75"/>
          <p:cNvCxnSpPr>
            <a:stCxn id="632" idx="0"/>
            <a:endCxn id="646" idx="3"/>
          </p:cNvCxnSpPr>
          <p:nvPr/>
        </p:nvCxnSpPr>
        <p:spPr>
          <a:xfrm rot="-5400000">
            <a:off x="4631425" y="3677925"/>
            <a:ext cx="549000" cy="701700"/>
          </a:xfrm>
          <a:prstGeom prst="bentConnector3">
            <a:avLst>
              <a:gd fmla="val 49989" name="adj1"/>
            </a:avLst>
          </a:prstGeom>
          <a:noFill/>
          <a:ln cap="flat" cmpd="sng" w="9525">
            <a:solidFill>
              <a:schemeClr val="dk2"/>
            </a:solidFill>
            <a:prstDash val="solid"/>
            <a:round/>
            <a:headEnd len="med" w="med" type="none"/>
            <a:tailEnd len="med" w="med" type="none"/>
          </a:ln>
        </p:spPr>
      </p:cxnSp>
      <p:cxnSp>
        <p:nvCxnSpPr>
          <p:cNvPr id="651" name="Google Shape;651;p75"/>
          <p:cNvCxnSpPr>
            <a:stCxn id="633" idx="0"/>
            <a:endCxn id="647" idx="3"/>
          </p:cNvCxnSpPr>
          <p:nvPr/>
        </p:nvCxnSpPr>
        <p:spPr>
          <a:xfrm rot="-5400000">
            <a:off x="5411197" y="4000425"/>
            <a:ext cx="549000" cy="56700"/>
          </a:xfrm>
          <a:prstGeom prst="bentConnector3">
            <a:avLst>
              <a:gd fmla="val 49989" name="adj1"/>
            </a:avLst>
          </a:prstGeom>
          <a:noFill/>
          <a:ln cap="flat" cmpd="sng" w="9525">
            <a:solidFill>
              <a:schemeClr val="dk2"/>
            </a:solidFill>
            <a:prstDash val="solid"/>
            <a:round/>
            <a:headEnd len="med" w="med" type="none"/>
            <a:tailEnd len="med" w="med" type="none"/>
          </a:ln>
        </p:spPr>
      </p:cxnSp>
      <p:cxnSp>
        <p:nvCxnSpPr>
          <p:cNvPr id="652" name="Google Shape;652;p75"/>
          <p:cNvCxnSpPr>
            <a:stCxn id="634" idx="0"/>
            <a:endCxn id="648" idx="3"/>
          </p:cNvCxnSpPr>
          <p:nvPr/>
        </p:nvCxnSpPr>
        <p:spPr>
          <a:xfrm flipH="1" rot="5400000">
            <a:off x="6193525" y="3731925"/>
            <a:ext cx="549000" cy="593700"/>
          </a:xfrm>
          <a:prstGeom prst="bentConnector3">
            <a:avLst>
              <a:gd fmla="val 49989" name="adj1"/>
            </a:avLst>
          </a:prstGeom>
          <a:noFill/>
          <a:ln cap="flat" cmpd="sng" w="9525">
            <a:solidFill>
              <a:schemeClr val="dk2"/>
            </a:solidFill>
            <a:prstDash val="solid"/>
            <a:round/>
            <a:headEnd len="med" w="med" type="none"/>
            <a:tailEnd len="med" w="med" type="none"/>
          </a:ln>
        </p:spPr>
      </p:cxnSp>
      <p:cxnSp>
        <p:nvCxnSpPr>
          <p:cNvPr id="653" name="Google Shape;653;p75"/>
          <p:cNvCxnSpPr>
            <a:stCxn id="635" idx="0"/>
            <a:endCxn id="649" idx="3"/>
          </p:cNvCxnSpPr>
          <p:nvPr/>
        </p:nvCxnSpPr>
        <p:spPr>
          <a:xfrm flipH="1" rot="5400000">
            <a:off x="7184125" y="3503325"/>
            <a:ext cx="549000" cy="1050900"/>
          </a:xfrm>
          <a:prstGeom prst="bentConnector3">
            <a:avLst>
              <a:gd fmla="val 49989" name="adj1"/>
            </a:avLst>
          </a:prstGeom>
          <a:noFill/>
          <a:ln cap="flat" cmpd="sng" w="9525">
            <a:solidFill>
              <a:schemeClr val="dk2"/>
            </a:solidFill>
            <a:prstDash val="solid"/>
            <a:round/>
            <a:headEnd len="med" w="med" type="none"/>
            <a:tailEnd len="med" w="med" type="none"/>
          </a:ln>
        </p:spPr>
      </p:cxnSp>
      <p:sp>
        <p:nvSpPr>
          <p:cNvPr id="654" name="Google Shape;654;p75"/>
          <p:cNvSpPr txBox="1"/>
          <p:nvPr/>
        </p:nvSpPr>
        <p:spPr>
          <a:xfrm>
            <a:off x="3522025" y="1229175"/>
            <a:ext cx="1353600" cy="28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beverage</a:t>
            </a:r>
            <a:endParaRPr sz="1600">
              <a:solidFill>
                <a:schemeClr val="dk2"/>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7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60" name="Google Shape;660;p76"/>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lý khả thay Liskov</a:t>
            </a:r>
            <a:endParaRPr/>
          </a:p>
        </p:txBody>
      </p:sp>
      <p:sp>
        <p:nvSpPr>
          <p:cNvPr id="661" name="Google Shape;661;p76"/>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Nguyên lý khả thay Liskov / Liskov Substitution Principle (LSP)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GB"/>
              <a:t>Như dấu hiệu chất lượng thiết kế kế thừa.</a:t>
            </a:r>
            <a:endParaRPr/>
          </a:p>
          <a:p>
            <a:pPr indent="-381000" lvl="0" marL="457200" rtl="0" algn="l">
              <a:spcBef>
                <a:spcPts val="0"/>
              </a:spcBef>
              <a:spcAft>
                <a:spcPts val="0"/>
              </a:spcAft>
              <a:buSzPts val="2400"/>
              <a:buChar char="●"/>
            </a:pPr>
            <a:r>
              <a:rPr lang="en-GB"/>
              <a:t>Hạn chế các vấn đề có thể phát sinh khi lập trình với các giao diện khái quát.</a:t>
            </a:r>
            <a:endParaRPr/>
          </a:p>
        </p:txBody>
      </p:sp>
      <p:sp>
        <p:nvSpPr>
          <p:cNvPr id="662" name="Google Shape;662;p76"/>
          <p:cNvSpPr/>
          <p:nvPr/>
        </p:nvSpPr>
        <p:spPr>
          <a:xfrm>
            <a:off x="851150" y="1846727"/>
            <a:ext cx="7861800" cy="1600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i="1" lang="en-GB" sz="2400"/>
              <a:t>Các lớp con phải có khả năng thay thế các lớp cơ sở về mặt hành vi/ </a:t>
            </a:r>
            <a:endParaRPr i="1" sz="2400"/>
          </a:p>
          <a:p>
            <a:pPr indent="0" lvl="0" marL="0" rtl="0" algn="just">
              <a:spcBef>
                <a:spcPts val="0"/>
              </a:spcBef>
              <a:spcAft>
                <a:spcPts val="0"/>
              </a:spcAft>
              <a:buNone/>
            </a:pPr>
            <a:r>
              <a:rPr i="1" lang="en-GB" sz="2400"/>
              <a:t>Subtypes must be behaviorally substitutable for their base types. </a:t>
            </a:r>
            <a:r>
              <a:rPr lang="en-GB" sz="2400"/>
              <a:t>[Barbara Liskov, 1988]</a:t>
            </a:r>
            <a:endParaRPr sz="24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77"/>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Khả thay hành vi</a:t>
            </a:r>
            <a:endParaRPr/>
          </a:p>
        </p:txBody>
      </p:sp>
      <p:sp>
        <p:nvSpPr>
          <p:cNvPr id="668" name="Google Shape;668;p77"/>
          <p:cNvSpPr txBox="1"/>
          <p:nvPr>
            <p:ph idx="1" type="body"/>
          </p:nvPr>
        </p:nvSpPr>
        <p:spPr>
          <a:xfrm>
            <a:off x="5913100" y="1483875"/>
            <a:ext cx="2782200" cy="71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sz="1800"/>
              <a:t>DoSomething là phương thức ảo trong Base</a:t>
            </a:r>
            <a:endParaRPr i="1" sz="1800"/>
          </a:p>
        </p:txBody>
      </p:sp>
      <p:sp>
        <p:nvSpPr>
          <p:cNvPr id="669" name="Google Shape;669;p7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70" name="Google Shape;670;p77"/>
          <p:cNvSpPr/>
          <p:nvPr/>
        </p:nvSpPr>
        <p:spPr>
          <a:xfrm>
            <a:off x="3492743" y="1483875"/>
            <a:ext cx="20523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Base</a:t>
            </a:r>
            <a:endParaRPr sz="1800"/>
          </a:p>
        </p:txBody>
      </p:sp>
      <p:sp>
        <p:nvSpPr>
          <p:cNvPr id="671" name="Google Shape;671;p77"/>
          <p:cNvSpPr/>
          <p:nvPr/>
        </p:nvSpPr>
        <p:spPr>
          <a:xfrm>
            <a:off x="3492743" y="1813842"/>
            <a:ext cx="2052300" cy="43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a:t>
            </a:r>
            <a:r>
              <a:rPr i="1" lang="en-GB" sz="1800"/>
              <a:t>DoSomething()</a:t>
            </a:r>
            <a:endParaRPr i="1" sz="1800"/>
          </a:p>
        </p:txBody>
      </p:sp>
      <p:sp>
        <p:nvSpPr>
          <p:cNvPr id="672" name="Google Shape;672;p77"/>
          <p:cNvSpPr/>
          <p:nvPr/>
        </p:nvSpPr>
        <p:spPr>
          <a:xfrm>
            <a:off x="1599926" y="2855483"/>
            <a:ext cx="20523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Derived1</a:t>
            </a:r>
            <a:endParaRPr sz="1800"/>
          </a:p>
        </p:txBody>
      </p:sp>
      <p:sp>
        <p:nvSpPr>
          <p:cNvPr id="673" name="Google Shape;673;p77"/>
          <p:cNvSpPr/>
          <p:nvPr/>
        </p:nvSpPr>
        <p:spPr>
          <a:xfrm>
            <a:off x="1599926" y="3185450"/>
            <a:ext cx="2052300" cy="43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DoSomething()</a:t>
            </a:r>
            <a:endParaRPr sz="1800"/>
          </a:p>
        </p:txBody>
      </p:sp>
      <p:sp>
        <p:nvSpPr>
          <p:cNvPr id="674" name="Google Shape;674;p77"/>
          <p:cNvSpPr/>
          <p:nvPr/>
        </p:nvSpPr>
        <p:spPr>
          <a:xfrm>
            <a:off x="5285938" y="2855483"/>
            <a:ext cx="20523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Derived2</a:t>
            </a:r>
            <a:endParaRPr sz="1800"/>
          </a:p>
        </p:txBody>
      </p:sp>
      <p:sp>
        <p:nvSpPr>
          <p:cNvPr id="675" name="Google Shape;675;p77"/>
          <p:cNvSpPr/>
          <p:nvPr/>
        </p:nvSpPr>
        <p:spPr>
          <a:xfrm>
            <a:off x="5285938" y="3185450"/>
            <a:ext cx="2052300" cy="43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DoSomething()</a:t>
            </a:r>
            <a:endParaRPr sz="1800"/>
          </a:p>
        </p:txBody>
      </p:sp>
      <p:cxnSp>
        <p:nvCxnSpPr>
          <p:cNvPr id="676" name="Google Shape;676;p77"/>
          <p:cNvCxnSpPr>
            <a:stCxn id="672" idx="0"/>
            <a:endCxn id="677" idx="3"/>
          </p:cNvCxnSpPr>
          <p:nvPr/>
        </p:nvCxnSpPr>
        <p:spPr>
          <a:xfrm flipH="1" rot="10800000">
            <a:off x="2626076" y="2370683"/>
            <a:ext cx="1305600" cy="484800"/>
          </a:xfrm>
          <a:prstGeom prst="straightConnector1">
            <a:avLst/>
          </a:prstGeom>
          <a:noFill/>
          <a:ln cap="flat" cmpd="sng" w="9525">
            <a:solidFill>
              <a:schemeClr val="dk2"/>
            </a:solidFill>
            <a:prstDash val="solid"/>
            <a:round/>
            <a:headEnd len="med" w="med" type="none"/>
            <a:tailEnd len="med" w="med" type="none"/>
          </a:ln>
        </p:spPr>
      </p:cxnSp>
      <p:cxnSp>
        <p:nvCxnSpPr>
          <p:cNvPr id="678" name="Google Shape;678;p77"/>
          <p:cNvCxnSpPr>
            <a:stCxn id="674" idx="0"/>
            <a:endCxn id="679" idx="3"/>
          </p:cNvCxnSpPr>
          <p:nvPr/>
        </p:nvCxnSpPr>
        <p:spPr>
          <a:xfrm rot="10800000">
            <a:off x="5139688" y="2375783"/>
            <a:ext cx="1172400" cy="479700"/>
          </a:xfrm>
          <a:prstGeom prst="straightConnector1">
            <a:avLst/>
          </a:prstGeom>
          <a:noFill/>
          <a:ln cap="flat" cmpd="sng" w="9525">
            <a:solidFill>
              <a:schemeClr val="dk2"/>
            </a:solidFill>
            <a:prstDash val="solid"/>
            <a:round/>
            <a:headEnd len="med" w="med" type="none"/>
            <a:tailEnd len="med" w="med" type="none"/>
          </a:ln>
        </p:spPr>
      </p:cxnSp>
      <p:sp>
        <p:nvSpPr>
          <p:cNvPr id="677" name="Google Shape;677;p77"/>
          <p:cNvSpPr/>
          <p:nvPr/>
        </p:nvSpPr>
        <p:spPr>
          <a:xfrm rot="3386370">
            <a:off x="3912072" y="2235646"/>
            <a:ext cx="183967" cy="173816"/>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77"/>
          <p:cNvSpPr/>
          <p:nvPr/>
        </p:nvSpPr>
        <p:spPr>
          <a:xfrm rot="-3132905">
            <a:off x="4978889" y="2235603"/>
            <a:ext cx="184103" cy="173842"/>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77"/>
          <p:cNvSpPr txBox="1"/>
          <p:nvPr>
            <p:ph idx="1" type="body"/>
          </p:nvPr>
        </p:nvSpPr>
        <p:spPr>
          <a:xfrm>
            <a:off x="391650" y="3799600"/>
            <a:ext cx="8360700" cy="26376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sz="2400"/>
              <a:t>Ngoài định nghĩa lại phương thức DoSomething() trong Derived1 và Derived2, LSP còn ràng buộc về hành vi đối với các đối tượng thuộc các lớp Derived1 và Derived2:</a:t>
            </a:r>
            <a:endParaRPr sz="2400"/>
          </a:p>
          <a:p>
            <a:pPr indent="-381000" lvl="1" marL="914400" rtl="0" algn="just">
              <a:spcBef>
                <a:spcPts val="0"/>
              </a:spcBef>
              <a:spcAft>
                <a:spcPts val="0"/>
              </a:spcAft>
              <a:buSzPts val="2400"/>
              <a:buChar char="○"/>
            </a:pPr>
            <a:r>
              <a:rPr lang="en-GB"/>
              <a:t>Có thể diễn đạt một cách gần đúng là bảo toàn ý nghĩa của lớp cơ sở.</a:t>
            </a:r>
            <a:endParaRPr sz="22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78"/>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5.10. </a:t>
            </a:r>
            <a:r>
              <a:rPr lang="en-GB"/>
              <a:t>LSP</a:t>
            </a:r>
            <a:endParaRPr/>
          </a:p>
        </p:txBody>
      </p:sp>
      <p:sp>
        <p:nvSpPr>
          <p:cNvPr id="686" name="Google Shape;686;p7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87" name="Google Shape;687;p78"/>
          <p:cNvSpPr/>
          <p:nvPr/>
        </p:nvSpPr>
        <p:spPr>
          <a:xfrm>
            <a:off x="315024" y="1222200"/>
            <a:ext cx="26433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Rectangle</a:t>
            </a:r>
            <a:endParaRPr sz="1800"/>
          </a:p>
        </p:txBody>
      </p:sp>
      <p:sp>
        <p:nvSpPr>
          <p:cNvPr id="688" name="Google Shape;688;p78"/>
          <p:cNvSpPr/>
          <p:nvPr/>
        </p:nvSpPr>
        <p:spPr>
          <a:xfrm>
            <a:off x="315025" y="1552174"/>
            <a:ext cx="2643300" cy="969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SetWidth(double w)</a:t>
            </a:r>
            <a:endParaRPr sz="1800"/>
          </a:p>
          <a:p>
            <a:pPr indent="0" lvl="0" marL="0" rtl="0" algn="l">
              <a:spcBef>
                <a:spcPts val="0"/>
              </a:spcBef>
              <a:spcAft>
                <a:spcPts val="0"/>
              </a:spcAft>
              <a:buNone/>
            </a:pPr>
            <a:r>
              <a:rPr lang="en-GB" sz="1800"/>
              <a:t>+ SetHeigh(double h)</a:t>
            </a:r>
            <a:endParaRPr sz="1800"/>
          </a:p>
          <a:p>
            <a:pPr indent="0" lvl="0" marL="0" rtl="0" algn="l">
              <a:spcBef>
                <a:spcPts val="0"/>
              </a:spcBef>
              <a:spcAft>
                <a:spcPts val="0"/>
              </a:spcAft>
              <a:buNone/>
            </a:pPr>
            <a:r>
              <a:rPr lang="en-GB" sz="1800"/>
              <a:t>+ area(): double</a:t>
            </a:r>
            <a:endParaRPr sz="1800"/>
          </a:p>
        </p:txBody>
      </p:sp>
      <p:sp>
        <p:nvSpPr>
          <p:cNvPr id="689" name="Google Shape;689;p78"/>
          <p:cNvSpPr/>
          <p:nvPr/>
        </p:nvSpPr>
        <p:spPr>
          <a:xfrm>
            <a:off x="289746" y="3332771"/>
            <a:ext cx="26433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Square</a:t>
            </a:r>
            <a:endParaRPr sz="1800"/>
          </a:p>
        </p:txBody>
      </p:sp>
      <p:sp>
        <p:nvSpPr>
          <p:cNvPr id="690" name="Google Shape;690;p78"/>
          <p:cNvSpPr/>
          <p:nvPr/>
        </p:nvSpPr>
        <p:spPr>
          <a:xfrm>
            <a:off x="289750" y="3662750"/>
            <a:ext cx="2643300" cy="1000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SetWidth(double w)</a:t>
            </a:r>
            <a:endParaRPr sz="1800"/>
          </a:p>
          <a:p>
            <a:pPr indent="0" lvl="0" marL="0" rtl="0" algn="l">
              <a:spcBef>
                <a:spcPts val="0"/>
              </a:spcBef>
              <a:spcAft>
                <a:spcPts val="0"/>
              </a:spcAft>
              <a:buNone/>
            </a:pPr>
            <a:r>
              <a:rPr lang="en-GB" sz="1800"/>
              <a:t>+ SetHeigh(double h)</a:t>
            </a:r>
            <a:endParaRPr sz="1800"/>
          </a:p>
          <a:p>
            <a:pPr indent="0" lvl="0" marL="0" rtl="0" algn="l">
              <a:spcBef>
                <a:spcPts val="0"/>
              </a:spcBef>
              <a:spcAft>
                <a:spcPts val="0"/>
              </a:spcAft>
              <a:buNone/>
            </a:pPr>
            <a:r>
              <a:rPr lang="en-GB" sz="1800"/>
              <a:t>+ area(): double</a:t>
            </a:r>
            <a:endParaRPr sz="1800"/>
          </a:p>
        </p:txBody>
      </p:sp>
      <p:sp>
        <p:nvSpPr>
          <p:cNvPr id="691" name="Google Shape;691;p78"/>
          <p:cNvSpPr/>
          <p:nvPr/>
        </p:nvSpPr>
        <p:spPr>
          <a:xfrm>
            <a:off x="1495258" y="2521800"/>
            <a:ext cx="230025" cy="184025"/>
          </a:xfrm>
          <a:prstGeom prst="flowChartExtra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2" name="Google Shape;692;p78"/>
          <p:cNvCxnSpPr>
            <a:stCxn id="691" idx="2"/>
            <a:endCxn id="689" idx="0"/>
          </p:cNvCxnSpPr>
          <p:nvPr/>
        </p:nvCxnSpPr>
        <p:spPr>
          <a:xfrm>
            <a:off x="1610270" y="2705825"/>
            <a:ext cx="1200" cy="627000"/>
          </a:xfrm>
          <a:prstGeom prst="straightConnector1">
            <a:avLst/>
          </a:prstGeom>
          <a:noFill/>
          <a:ln cap="flat" cmpd="sng" w="9525">
            <a:solidFill>
              <a:schemeClr val="dk2"/>
            </a:solidFill>
            <a:prstDash val="solid"/>
            <a:round/>
            <a:headEnd len="med" w="med" type="none"/>
            <a:tailEnd len="med" w="med" type="none"/>
          </a:ln>
        </p:spPr>
      </p:cxnSp>
      <p:sp>
        <p:nvSpPr>
          <p:cNvPr id="693" name="Google Shape;693;p78"/>
          <p:cNvSpPr/>
          <p:nvPr/>
        </p:nvSpPr>
        <p:spPr>
          <a:xfrm>
            <a:off x="3742213" y="3180425"/>
            <a:ext cx="24795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Rectangle</a:t>
            </a:r>
            <a:endParaRPr sz="1800"/>
          </a:p>
        </p:txBody>
      </p:sp>
      <p:sp>
        <p:nvSpPr>
          <p:cNvPr id="694" name="Google Shape;694;p78"/>
          <p:cNvSpPr/>
          <p:nvPr/>
        </p:nvSpPr>
        <p:spPr>
          <a:xfrm>
            <a:off x="3742225" y="3516424"/>
            <a:ext cx="2479500" cy="969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SetWidth(double w)</a:t>
            </a:r>
            <a:endParaRPr sz="1800"/>
          </a:p>
          <a:p>
            <a:pPr indent="0" lvl="0" marL="0" rtl="0" algn="l">
              <a:spcBef>
                <a:spcPts val="0"/>
              </a:spcBef>
              <a:spcAft>
                <a:spcPts val="0"/>
              </a:spcAft>
              <a:buNone/>
            </a:pPr>
            <a:r>
              <a:rPr lang="en-GB" sz="1800"/>
              <a:t>+ SetHeigh(double h)</a:t>
            </a:r>
            <a:endParaRPr sz="1800"/>
          </a:p>
          <a:p>
            <a:pPr indent="0" lvl="0" marL="0" rtl="0" algn="l">
              <a:spcBef>
                <a:spcPts val="0"/>
              </a:spcBef>
              <a:spcAft>
                <a:spcPts val="0"/>
              </a:spcAft>
              <a:buNone/>
            </a:pPr>
            <a:r>
              <a:rPr lang="en-GB" sz="1800"/>
              <a:t>+ area(): double</a:t>
            </a:r>
            <a:endParaRPr sz="1800"/>
          </a:p>
        </p:txBody>
      </p:sp>
      <p:sp>
        <p:nvSpPr>
          <p:cNvPr id="695" name="Google Shape;695;p78"/>
          <p:cNvSpPr/>
          <p:nvPr/>
        </p:nvSpPr>
        <p:spPr>
          <a:xfrm>
            <a:off x="6563275" y="3185875"/>
            <a:ext cx="23544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Square</a:t>
            </a:r>
            <a:endParaRPr sz="1800"/>
          </a:p>
        </p:txBody>
      </p:sp>
      <p:sp>
        <p:nvSpPr>
          <p:cNvPr id="696" name="Google Shape;696;p78"/>
          <p:cNvSpPr/>
          <p:nvPr/>
        </p:nvSpPr>
        <p:spPr>
          <a:xfrm>
            <a:off x="6563275" y="3515853"/>
            <a:ext cx="2354400" cy="817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SetSize(double sz)</a:t>
            </a:r>
            <a:endParaRPr sz="1800"/>
          </a:p>
          <a:p>
            <a:pPr indent="0" lvl="0" marL="0" rtl="0" algn="l">
              <a:spcBef>
                <a:spcPts val="0"/>
              </a:spcBef>
              <a:spcAft>
                <a:spcPts val="0"/>
              </a:spcAft>
              <a:buNone/>
            </a:pPr>
            <a:r>
              <a:rPr lang="en-GB" sz="1800"/>
              <a:t>+ area(): double</a:t>
            </a:r>
            <a:endParaRPr sz="1800"/>
          </a:p>
        </p:txBody>
      </p:sp>
      <p:sp>
        <p:nvSpPr>
          <p:cNvPr id="697" name="Google Shape;697;p78"/>
          <p:cNvSpPr/>
          <p:nvPr/>
        </p:nvSpPr>
        <p:spPr>
          <a:xfrm>
            <a:off x="6372058" y="2240004"/>
            <a:ext cx="230025" cy="184025"/>
          </a:xfrm>
          <a:prstGeom prst="flowChartExtra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78"/>
          <p:cNvSpPr/>
          <p:nvPr/>
        </p:nvSpPr>
        <p:spPr>
          <a:xfrm>
            <a:off x="5476950" y="1083575"/>
            <a:ext cx="2087100" cy="62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&lt;&lt;interface&gt;&gt;</a:t>
            </a:r>
            <a:endParaRPr sz="1800"/>
          </a:p>
          <a:p>
            <a:pPr indent="0" lvl="0" marL="0" rtl="0" algn="ctr">
              <a:spcBef>
                <a:spcPts val="0"/>
              </a:spcBef>
              <a:spcAft>
                <a:spcPts val="0"/>
              </a:spcAft>
              <a:buNone/>
            </a:pPr>
            <a:r>
              <a:rPr lang="en-GB" sz="1800"/>
              <a:t>Shape</a:t>
            </a:r>
            <a:endParaRPr sz="1800"/>
          </a:p>
        </p:txBody>
      </p:sp>
      <p:sp>
        <p:nvSpPr>
          <p:cNvPr id="699" name="Google Shape;699;p78"/>
          <p:cNvSpPr/>
          <p:nvPr/>
        </p:nvSpPr>
        <p:spPr>
          <a:xfrm>
            <a:off x="5476950" y="1710600"/>
            <a:ext cx="2087100" cy="524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area(): double</a:t>
            </a:r>
            <a:endParaRPr sz="1800"/>
          </a:p>
        </p:txBody>
      </p:sp>
      <p:cxnSp>
        <p:nvCxnSpPr>
          <p:cNvPr id="700" name="Google Shape;700;p78"/>
          <p:cNvCxnSpPr>
            <a:stCxn id="693" idx="0"/>
            <a:endCxn id="697" idx="2"/>
          </p:cNvCxnSpPr>
          <p:nvPr/>
        </p:nvCxnSpPr>
        <p:spPr>
          <a:xfrm rot="-5400000">
            <a:off x="5356363" y="2049725"/>
            <a:ext cx="756300" cy="1505100"/>
          </a:xfrm>
          <a:prstGeom prst="bentConnector3">
            <a:avLst>
              <a:gd fmla="val 50006" name="adj1"/>
            </a:avLst>
          </a:prstGeom>
          <a:noFill/>
          <a:ln cap="flat" cmpd="sng" w="9525">
            <a:solidFill>
              <a:schemeClr val="dk2"/>
            </a:solidFill>
            <a:prstDash val="dash"/>
            <a:round/>
            <a:headEnd len="med" w="med" type="none"/>
            <a:tailEnd len="med" w="med" type="none"/>
          </a:ln>
        </p:spPr>
      </p:cxnSp>
      <p:cxnSp>
        <p:nvCxnSpPr>
          <p:cNvPr id="701" name="Google Shape;701;p78"/>
          <p:cNvCxnSpPr>
            <a:stCxn id="695" idx="0"/>
            <a:endCxn id="697" idx="2"/>
          </p:cNvCxnSpPr>
          <p:nvPr/>
        </p:nvCxnSpPr>
        <p:spPr>
          <a:xfrm flipH="1" rot="5400000">
            <a:off x="6732925" y="2178325"/>
            <a:ext cx="761700" cy="1253400"/>
          </a:xfrm>
          <a:prstGeom prst="bentConnector3">
            <a:avLst>
              <a:gd fmla="val 50010" name="adj1"/>
            </a:avLst>
          </a:prstGeom>
          <a:noFill/>
          <a:ln cap="flat" cmpd="sng" w="9525">
            <a:solidFill>
              <a:schemeClr val="dk2"/>
            </a:solidFill>
            <a:prstDash val="dash"/>
            <a:round/>
            <a:headEnd len="med" w="med" type="none"/>
            <a:tailEnd len="med" w="med" type="none"/>
          </a:ln>
        </p:spPr>
      </p:cxnSp>
      <p:cxnSp>
        <p:nvCxnSpPr>
          <p:cNvPr id="702" name="Google Shape;702;p78"/>
          <p:cNvCxnSpPr/>
          <p:nvPr/>
        </p:nvCxnSpPr>
        <p:spPr>
          <a:xfrm>
            <a:off x="3220525" y="1115675"/>
            <a:ext cx="0" cy="3466500"/>
          </a:xfrm>
          <a:prstGeom prst="straightConnector1">
            <a:avLst/>
          </a:prstGeom>
          <a:noFill/>
          <a:ln cap="flat" cmpd="sng" w="28575">
            <a:solidFill>
              <a:schemeClr val="dk2"/>
            </a:solidFill>
            <a:prstDash val="solid"/>
            <a:round/>
            <a:headEnd len="med" w="med" type="none"/>
            <a:tailEnd len="med" w="med" type="none"/>
          </a:ln>
        </p:spPr>
      </p:cxnSp>
      <p:sp>
        <p:nvSpPr>
          <p:cNvPr id="703" name="Google Shape;703;p78"/>
          <p:cNvSpPr/>
          <p:nvPr/>
        </p:nvSpPr>
        <p:spPr>
          <a:xfrm>
            <a:off x="2912850" y="4653950"/>
            <a:ext cx="1104300" cy="424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78"/>
          <p:cNvSpPr txBox="1"/>
          <p:nvPr/>
        </p:nvSpPr>
        <p:spPr>
          <a:xfrm>
            <a:off x="311700" y="5088175"/>
            <a:ext cx="3805500" cy="12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rgbClr val="434343"/>
                </a:solidFill>
              </a:rPr>
              <a:t>Không tương thích LSP, </a:t>
            </a:r>
            <a:r>
              <a:rPr lang="en-GB" sz="1800">
                <a:solidFill>
                  <a:srgbClr val="434343"/>
                </a:solidFill>
              </a:rPr>
              <a:t>SetHeigh</a:t>
            </a:r>
            <a:r>
              <a:rPr i="1" lang="en-GB" sz="1800">
                <a:solidFill>
                  <a:srgbClr val="434343"/>
                </a:solidFill>
              </a:rPr>
              <a:t> và </a:t>
            </a:r>
            <a:r>
              <a:rPr lang="en-GB" sz="1800">
                <a:solidFill>
                  <a:srgbClr val="434343"/>
                </a:solidFill>
              </a:rPr>
              <a:t>SetWidth</a:t>
            </a:r>
            <a:r>
              <a:rPr i="1" lang="en-GB" sz="1800">
                <a:solidFill>
                  <a:srgbClr val="434343"/>
                </a:solidFill>
              </a:rPr>
              <a:t> có ý nghĩa khác nhau trong </a:t>
            </a:r>
            <a:r>
              <a:rPr lang="en-GB" sz="1800">
                <a:solidFill>
                  <a:srgbClr val="434343"/>
                </a:solidFill>
              </a:rPr>
              <a:t>Rectangle</a:t>
            </a:r>
            <a:r>
              <a:rPr i="1" lang="en-GB" sz="1800">
                <a:solidFill>
                  <a:srgbClr val="434343"/>
                </a:solidFill>
              </a:rPr>
              <a:t> và </a:t>
            </a:r>
            <a:r>
              <a:rPr lang="en-GB" sz="1800">
                <a:solidFill>
                  <a:srgbClr val="434343"/>
                </a:solidFill>
              </a:rPr>
              <a:t>Square</a:t>
            </a:r>
            <a:r>
              <a:rPr i="1" lang="en-GB" sz="1800">
                <a:solidFill>
                  <a:srgbClr val="434343"/>
                </a:solidFill>
              </a:rPr>
              <a:t>.</a:t>
            </a:r>
            <a:endParaRPr i="1" sz="1800">
              <a:solidFill>
                <a:srgbClr val="434343"/>
              </a:solidFill>
            </a:endParaRPr>
          </a:p>
        </p:txBody>
      </p:sp>
      <p:sp>
        <p:nvSpPr>
          <p:cNvPr id="705" name="Google Shape;705;p78"/>
          <p:cNvSpPr txBox="1"/>
          <p:nvPr/>
        </p:nvSpPr>
        <p:spPr>
          <a:xfrm>
            <a:off x="5049325" y="5088175"/>
            <a:ext cx="2715900" cy="84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solidFill>
                  <a:srgbClr val="434343"/>
                </a:solidFill>
              </a:rPr>
              <a:t>Đáp ứng được LSP</a:t>
            </a:r>
            <a:endParaRPr i="1" sz="1800">
              <a:solidFill>
                <a:srgbClr val="434343"/>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7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11" name="Google Shape;711;p79"/>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5.10. </a:t>
            </a:r>
            <a:r>
              <a:rPr lang="en-GB"/>
              <a:t>LSP</a:t>
            </a:r>
            <a:r>
              <a:rPr baseline="-25000" lang="en-GB"/>
              <a:t>(2)</a:t>
            </a:r>
            <a:endParaRPr baseline="-25000"/>
          </a:p>
        </p:txBody>
      </p:sp>
      <p:sp>
        <p:nvSpPr>
          <p:cNvPr id="712" name="Google Shape;712;p79"/>
          <p:cNvSpPr/>
          <p:nvPr/>
        </p:nvSpPr>
        <p:spPr>
          <a:xfrm>
            <a:off x="3455875" y="926827"/>
            <a:ext cx="29079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Set</a:t>
            </a:r>
            <a:endParaRPr sz="1800"/>
          </a:p>
        </p:txBody>
      </p:sp>
      <p:sp>
        <p:nvSpPr>
          <p:cNvPr id="713" name="Google Shape;713;p79"/>
          <p:cNvSpPr/>
          <p:nvPr/>
        </p:nvSpPr>
        <p:spPr>
          <a:xfrm>
            <a:off x="3455875" y="1256801"/>
            <a:ext cx="2907900" cy="1002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Add(Object o)</a:t>
            </a:r>
            <a:endParaRPr sz="1800"/>
          </a:p>
          <a:p>
            <a:pPr indent="0" lvl="0" marL="0" rtl="0" algn="l">
              <a:spcBef>
                <a:spcPts val="0"/>
              </a:spcBef>
              <a:spcAft>
                <a:spcPts val="0"/>
              </a:spcAft>
              <a:buNone/>
            </a:pPr>
            <a:r>
              <a:rPr lang="en-GB" sz="1800"/>
              <a:t>+ Remove(Object o)</a:t>
            </a:r>
            <a:endParaRPr sz="1800"/>
          </a:p>
          <a:p>
            <a:pPr indent="0" lvl="0" marL="0" rtl="0" algn="l">
              <a:spcBef>
                <a:spcPts val="0"/>
              </a:spcBef>
              <a:spcAft>
                <a:spcPts val="0"/>
              </a:spcAft>
              <a:buNone/>
            </a:pPr>
            <a:r>
              <a:rPr lang="en-GB" sz="1800"/>
              <a:t>+ Contains(Object o): bool</a:t>
            </a:r>
            <a:endParaRPr sz="1800"/>
          </a:p>
        </p:txBody>
      </p:sp>
      <p:sp>
        <p:nvSpPr>
          <p:cNvPr id="714" name="Google Shape;714;p79"/>
          <p:cNvSpPr/>
          <p:nvPr/>
        </p:nvSpPr>
        <p:spPr>
          <a:xfrm>
            <a:off x="3319750" y="3118234"/>
            <a:ext cx="29079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PersistentSetAdapter</a:t>
            </a:r>
            <a:endParaRPr sz="1800"/>
          </a:p>
        </p:txBody>
      </p:sp>
      <p:sp>
        <p:nvSpPr>
          <p:cNvPr id="715" name="Google Shape;715;p79"/>
          <p:cNvSpPr/>
          <p:nvPr/>
        </p:nvSpPr>
        <p:spPr>
          <a:xfrm>
            <a:off x="3319750" y="3448208"/>
            <a:ext cx="2907900" cy="1002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Add(Object o)</a:t>
            </a:r>
            <a:endParaRPr sz="1800"/>
          </a:p>
          <a:p>
            <a:pPr indent="0" lvl="0" marL="0" rtl="0" algn="l">
              <a:spcBef>
                <a:spcPts val="0"/>
              </a:spcBef>
              <a:spcAft>
                <a:spcPts val="0"/>
              </a:spcAft>
              <a:buNone/>
            </a:pPr>
            <a:r>
              <a:rPr lang="en-GB" sz="1800"/>
              <a:t>+ Remove(Object o)</a:t>
            </a:r>
            <a:endParaRPr sz="1800"/>
          </a:p>
          <a:p>
            <a:pPr indent="0" lvl="0" marL="0" rtl="0" algn="l">
              <a:spcBef>
                <a:spcPts val="0"/>
              </a:spcBef>
              <a:spcAft>
                <a:spcPts val="0"/>
              </a:spcAft>
              <a:buNone/>
            </a:pPr>
            <a:r>
              <a:rPr lang="en-GB" sz="1800"/>
              <a:t>+ Contains(Object o): bool</a:t>
            </a:r>
            <a:endParaRPr sz="1800"/>
          </a:p>
        </p:txBody>
      </p:sp>
      <p:sp>
        <p:nvSpPr>
          <p:cNvPr id="716" name="Google Shape;716;p79"/>
          <p:cNvSpPr/>
          <p:nvPr/>
        </p:nvSpPr>
        <p:spPr>
          <a:xfrm>
            <a:off x="5906575" y="4684275"/>
            <a:ext cx="30141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PersistentSet</a:t>
            </a:r>
            <a:endParaRPr sz="1800"/>
          </a:p>
        </p:txBody>
      </p:sp>
      <p:sp>
        <p:nvSpPr>
          <p:cNvPr id="717" name="Google Shape;717;p79"/>
          <p:cNvSpPr/>
          <p:nvPr/>
        </p:nvSpPr>
        <p:spPr>
          <a:xfrm>
            <a:off x="5906575" y="5014251"/>
            <a:ext cx="3014100" cy="817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Add(PersistentObject po)</a:t>
            </a:r>
            <a:endParaRPr sz="1800"/>
          </a:p>
          <a:p>
            <a:pPr indent="0" lvl="0" marL="0" rtl="0" algn="l">
              <a:spcBef>
                <a:spcPts val="0"/>
              </a:spcBef>
              <a:spcAft>
                <a:spcPts val="0"/>
              </a:spcAft>
              <a:buNone/>
            </a:pPr>
            <a:r>
              <a:rPr lang="en-GB" sz="1800"/>
              <a:t>…</a:t>
            </a:r>
            <a:endParaRPr sz="1800"/>
          </a:p>
        </p:txBody>
      </p:sp>
      <p:sp>
        <p:nvSpPr>
          <p:cNvPr id="718" name="Google Shape;718;p79"/>
          <p:cNvSpPr/>
          <p:nvPr/>
        </p:nvSpPr>
        <p:spPr>
          <a:xfrm>
            <a:off x="6456249" y="2474475"/>
            <a:ext cx="18666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PersistentObject</a:t>
            </a:r>
            <a:endParaRPr sz="1800"/>
          </a:p>
        </p:txBody>
      </p:sp>
      <p:sp>
        <p:nvSpPr>
          <p:cNvPr id="719" name="Google Shape;719;p79"/>
          <p:cNvSpPr/>
          <p:nvPr/>
        </p:nvSpPr>
        <p:spPr>
          <a:xfrm>
            <a:off x="729425" y="1583723"/>
            <a:ext cx="18666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Object</a:t>
            </a:r>
            <a:endParaRPr sz="1800"/>
          </a:p>
        </p:txBody>
      </p:sp>
      <p:sp>
        <p:nvSpPr>
          <p:cNvPr id="720" name="Google Shape;720;p79"/>
          <p:cNvSpPr/>
          <p:nvPr/>
        </p:nvSpPr>
        <p:spPr>
          <a:xfrm>
            <a:off x="215200" y="3118234"/>
            <a:ext cx="2907900" cy="33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InMemorySet</a:t>
            </a:r>
            <a:endParaRPr sz="1800"/>
          </a:p>
        </p:txBody>
      </p:sp>
      <p:sp>
        <p:nvSpPr>
          <p:cNvPr id="721" name="Google Shape;721;p79"/>
          <p:cNvSpPr/>
          <p:nvPr/>
        </p:nvSpPr>
        <p:spPr>
          <a:xfrm>
            <a:off x="215200" y="3448208"/>
            <a:ext cx="2907900" cy="1002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t>+ Add(Object o)</a:t>
            </a:r>
            <a:endParaRPr sz="1800"/>
          </a:p>
          <a:p>
            <a:pPr indent="0" lvl="0" marL="0" rtl="0" algn="l">
              <a:spcBef>
                <a:spcPts val="0"/>
              </a:spcBef>
              <a:spcAft>
                <a:spcPts val="0"/>
              </a:spcAft>
              <a:buNone/>
            </a:pPr>
            <a:r>
              <a:rPr lang="en-GB" sz="1800"/>
              <a:t>+ Remove(Object o)</a:t>
            </a:r>
            <a:endParaRPr sz="1800"/>
          </a:p>
          <a:p>
            <a:pPr indent="0" lvl="0" marL="0" rtl="0" algn="l">
              <a:spcBef>
                <a:spcPts val="0"/>
              </a:spcBef>
              <a:spcAft>
                <a:spcPts val="0"/>
              </a:spcAft>
              <a:buNone/>
            </a:pPr>
            <a:r>
              <a:rPr lang="en-GB" sz="1800"/>
              <a:t>+ Contains(Object o): bool</a:t>
            </a:r>
            <a:endParaRPr sz="1800"/>
          </a:p>
        </p:txBody>
      </p:sp>
      <p:sp>
        <p:nvSpPr>
          <p:cNvPr id="722" name="Google Shape;722;p79"/>
          <p:cNvSpPr/>
          <p:nvPr/>
        </p:nvSpPr>
        <p:spPr>
          <a:xfrm>
            <a:off x="4641023" y="2256325"/>
            <a:ext cx="237300" cy="1791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3" name="Google Shape;723;p79"/>
          <p:cNvCxnSpPr>
            <a:stCxn id="716" idx="0"/>
            <a:endCxn id="718" idx="2"/>
          </p:cNvCxnSpPr>
          <p:nvPr/>
        </p:nvCxnSpPr>
        <p:spPr>
          <a:xfrm rot="10800000">
            <a:off x="7389625" y="2810475"/>
            <a:ext cx="24000" cy="1873800"/>
          </a:xfrm>
          <a:prstGeom prst="straightConnector1">
            <a:avLst/>
          </a:prstGeom>
          <a:noFill/>
          <a:ln cap="flat" cmpd="sng" w="9525">
            <a:solidFill>
              <a:schemeClr val="dk2"/>
            </a:solidFill>
            <a:prstDash val="dash"/>
            <a:round/>
            <a:headEnd len="med" w="med" type="none"/>
            <a:tailEnd len="med" w="med" type="stealth"/>
          </a:ln>
        </p:spPr>
      </p:cxnSp>
      <p:cxnSp>
        <p:nvCxnSpPr>
          <p:cNvPr id="724" name="Google Shape;724;p79"/>
          <p:cNvCxnSpPr>
            <a:stCxn id="713" idx="1"/>
            <a:endCxn id="719" idx="3"/>
          </p:cNvCxnSpPr>
          <p:nvPr/>
        </p:nvCxnSpPr>
        <p:spPr>
          <a:xfrm rot="10800000">
            <a:off x="2596075" y="1751801"/>
            <a:ext cx="859800" cy="6300"/>
          </a:xfrm>
          <a:prstGeom prst="straightConnector1">
            <a:avLst/>
          </a:prstGeom>
          <a:noFill/>
          <a:ln cap="flat" cmpd="sng" w="9525">
            <a:solidFill>
              <a:schemeClr val="dk2"/>
            </a:solidFill>
            <a:prstDash val="dash"/>
            <a:round/>
            <a:headEnd len="med" w="med" type="none"/>
            <a:tailEnd len="med" w="med" type="stealth"/>
          </a:ln>
        </p:spPr>
      </p:cxnSp>
      <p:cxnSp>
        <p:nvCxnSpPr>
          <p:cNvPr id="725" name="Google Shape;725;p79"/>
          <p:cNvCxnSpPr>
            <a:stCxn id="714" idx="0"/>
            <a:endCxn id="722" idx="3"/>
          </p:cNvCxnSpPr>
          <p:nvPr/>
        </p:nvCxnSpPr>
        <p:spPr>
          <a:xfrm rot="10800000">
            <a:off x="4759600" y="2435434"/>
            <a:ext cx="14100" cy="682800"/>
          </a:xfrm>
          <a:prstGeom prst="straightConnector1">
            <a:avLst/>
          </a:prstGeom>
          <a:noFill/>
          <a:ln cap="flat" cmpd="sng" w="9525">
            <a:solidFill>
              <a:schemeClr val="dk2"/>
            </a:solidFill>
            <a:prstDash val="solid"/>
            <a:round/>
            <a:headEnd len="med" w="med" type="none"/>
            <a:tailEnd len="med" w="med" type="none"/>
          </a:ln>
        </p:spPr>
      </p:cxnSp>
      <p:cxnSp>
        <p:nvCxnSpPr>
          <p:cNvPr id="726" name="Google Shape;726;p79"/>
          <p:cNvCxnSpPr>
            <a:stCxn id="720" idx="0"/>
            <a:endCxn id="722" idx="3"/>
          </p:cNvCxnSpPr>
          <p:nvPr/>
        </p:nvCxnSpPr>
        <p:spPr>
          <a:xfrm rot="-5400000">
            <a:off x="2873050" y="1231534"/>
            <a:ext cx="682800" cy="3090600"/>
          </a:xfrm>
          <a:prstGeom prst="bentConnector3">
            <a:avLst>
              <a:gd fmla="val 50001" name="adj1"/>
            </a:avLst>
          </a:prstGeom>
          <a:noFill/>
          <a:ln cap="flat" cmpd="sng" w="9525">
            <a:solidFill>
              <a:schemeClr val="dk2"/>
            </a:solidFill>
            <a:prstDash val="solid"/>
            <a:round/>
            <a:headEnd len="med" w="med" type="none"/>
            <a:tailEnd len="med" w="med" type="none"/>
          </a:ln>
        </p:spPr>
      </p:cxnSp>
      <p:sp>
        <p:nvSpPr>
          <p:cNvPr id="727" name="Google Shape;727;p79"/>
          <p:cNvSpPr/>
          <p:nvPr/>
        </p:nvSpPr>
        <p:spPr>
          <a:xfrm>
            <a:off x="4773697" y="4485174"/>
            <a:ext cx="198900" cy="179100"/>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79"/>
          <p:cNvSpPr txBox="1"/>
          <p:nvPr/>
        </p:nvSpPr>
        <p:spPr>
          <a:xfrm>
            <a:off x="307125" y="5844575"/>
            <a:ext cx="8613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t>Đánh giá thiết kế và đề xuất phương án nếu cần?</a:t>
            </a:r>
            <a:endParaRPr i="1" sz="2400"/>
          </a:p>
        </p:txBody>
      </p:sp>
      <p:cxnSp>
        <p:nvCxnSpPr>
          <p:cNvPr id="729" name="Google Shape;729;p79"/>
          <p:cNvCxnSpPr>
            <a:stCxn id="717" idx="1"/>
            <a:endCxn id="727" idx="2"/>
          </p:cNvCxnSpPr>
          <p:nvPr/>
        </p:nvCxnSpPr>
        <p:spPr>
          <a:xfrm rot="10800000">
            <a:off x="4873075" y="4664151"/>
            <a:ext cx="1033500" cy="758700"/>
          </a:xfrm>
          <a:prstGeom prst="bentConnector2">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80"/>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lý tách bạch giao diện</a:t>
            </a:r>
            <a:endParaRPr/>
          </a:p>
        </p:txBody>
      </p:sp>
      <p:sp>
        <p:nvSpPr>
          <p:cNvPr id="735" name="Google Shape;735;p8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36" name="Google Shape;736;p80"/>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Nguyên lý tách bạch giao diện / Interface Segregation Principle (ISP)</a:t>
            </a:r>
            <a:endParaRPr/>
          </a:p>
          <a:p>
            <a:pPr indent="0" lvl="0" marL="0" rtl="0" algn="l">
              <a:spcBef>
                <a:spcPts val="0"/>
              </a:spcBef>
              <a:spcAft>
                <a:spcPts val="0"/>
              </a:spcAft>
              <a:buNone/>
            </a:pPr>
            <a:r>
              <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t/>
            </a:r>
            <a:endParaRPr sz="2900"/>
          </a:p>
          <a:p>
            <a:pPr indent="0" lvl="0" marL="0" rtl="0" algn="l">
              <a:spcBef>
                <a:spcPts val="0"/>
              </a:spcBef>
              <a:spcAft>
                <a:spcPts val="0"/>
              </a:spcAft>
              <a:buNone/>
            </a:pPr>
            <a:r>
              <a:t/>
            </a:r>
            <a:endParaRPr sz="2900"/>
          </a:p>
          <a:p>
            <a:pPr indent="-381000" lvl="0" marL="457200" rtl="0" algn="l">
              <a:spcBef>
                <a:spcPts val="0"/>
              </a:spcBef>
              <a:spcAft>
                <a:spcPts val="0"/>
              </a:spcAft>
              <a:buSzPts val="2400"/>
              <a:buChar char="●"/>
            </a:pPr>
            <a:r>
              <a:rPr lang="en-GB"/>
              <a:t>Các giao diện chứa phương thức không liên quan ép các thành phần sử dụng giao diện đó chịu các thay đổi đúng ra không ảnh hưởng tới chúng.</a:t>
            </a:r>
            <a:endParaRPr/>
          </a:p>
          <a:p>
            <a:pPr indent="-381000" lvl="0" marL="457200" rtl="0" algn="l">
              <a:spcBef>
                <a:spcPts val="0"/>
              </a:spcBef>
              <a:spcAft>
                <a:spcPts val="0"/>
              </a:spcAft>
              <a:buSzPts val="2400"/>
              <a:buChar char="●"/>
            </a:pPr>
            <a:r>
              <a:rPr lang="en-GB"/>
              <a:t>Các giao diện pha trộn cần được phân tách</a:t>
            </a:r>
            <a:endParaRPr/>
          </a:p>
          <a:p>
            <a:pPr indent="-381000" lvl="0" marL="457200" rtl="0" algn="l">
              <a:spcBef>
                <a:spcPts val="0"/>
              </a:spcBef>
              <a:spcAft>
                <a:spcPts val="0"/>
              </a:spcAft>
              <a:buSzPts val="2400"/>
              <a:buChar char="●"/>
            </a:pPr>
            <a:r>
              <a:rPr lang="en-GB"/>
              <a:t>Nhưng cũng cần tránh làm nát vụn các giao diện</a:t>
            </a:r>
            <a:endParaRPr/>
          </a:p>
        </p:txBody>
      </p:sp>
      <p:sp>
        <p:nvSpPr>
          <p:cNvPr id="737" name="Google Shape;737;p80"/>
          <p:cNvSpPr/>
          <p:nvPr/>
        </p:nvSpPr>
        <p:spPr>
          <a:xfrm>
            <a:off x="907825" y="1823078"/>
            <a:ext cx="7684500" cy="18630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18000" lIns="91425" spcFirstLastPara="1" rIns="91425" wrap="square" tIns="18000">
            <a:noAutofit/>
          </a:bodyPr>
          <a:lstStyle/>
          <a:p>
            <a:pPr indent="0" lvl="0" marL="0" rtl="0" algn="just">
              <a:spcBef>
                <a:spcPts val="0"/>
              </a:spcBef>
              <a:spcAft>
                <a:spcPts val="0"/>
              </a:spcAft>
              <a:buNone/>
            </a:pPr>
            <a:r>
              <a:rPr i="1" lang="en-GB" sz="2400"/>
              <a:t>Không ép phía khách phụ thuộc vào các phương thức không được sử dụng trong 1 giao diện /</a:t>
            </a:r>
            <a:endParaRPr i="1" sz="2400"/>
          </a:p>
          <a:p>
            <a:pPr indent="0" lvl="0" marL="0" rtl="0" algn="just">
              <a:spcBef>
                <a:spcPts val="0"/>
              </a:spcBef>
              <a:spcAft>
                <a:spcPts val="0"/>
              </a:spcAft>
              <a:buNone/>
            </a:pPr>
            <a:r>
              <a:rPr i="1" lang="en-GB" sz="2400"/>
              <a:t>Clients should not be forced to depend on methods that they do not use</a:t>
            </a:r>
            <a:endParaRPr i="1" sz="2400"/>
          </a:p>
          <a:p>
            <a:pPr indent="0" lvl="0" marL="0" rtl="0" algn="r">
              <a:spcBef>
                <a:spcPts val="0"/>
              </a:spcBef>
              <a:spcAft>
                <a:spcPts val="0"/>
              </a:spcAft>
              <a:buNone/>
            </a:pPr>
            <a:r>
              <a:rPr lang="en-GB" sz="2400"/>
              <a:t>[Robert C. Martin]</a:t>
            </a:r>
            <a:endParaRPr sz="24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81"/>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5.11. </a:t>
            </a:r>
            <a:r>
              <a:rPr lang="en-GB"/>
              <a:t>ISP</a:t>
            </a:r>
            <a:endParaRPr/>
          </a:p>
        </p:txBody>
      </p:sp>
      <p:sp>
        <p:nvSpPr>
          <p:cNvPr id="743" name="Google Shape;743;p8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cxnSp>
        <p:nvCxnSpPr>
          <p:cNvPr id="744" name="Google Shape;744;p81"/>
          <p:cNvCxnSpPr/>
          <p:nvPr/>
        </p:nvCxnSpPr>
        <p:spPr>
          <a:xfrm>
            <a:off x="4413178" y="947300"/>
            <a:ext cx="0" cy="5158800"/>
          </a:xfrm>
          <a:prstGeom prst="straightConnector1">
            <a:avLst/>
          </a:prstGeom>
          <a:noFill/>
          <a:ln cap="flat" cmpd="sng" w="28575">
            <a:solidFill>
              <a:schemeClr val="dk2"/>
            </a:solidFill>
            <a:prstDash val="solid"/>
            <a:round/>
            <a:headEnd len="med" w="med" type="none"/>
            <a:tailEnd len="med" w="med" type="none"/>
          </a:ln>
        </p:spPr>
      </p:cxnSp>
      <p:sp>
        <p:nvSpPr>
          <p:cNvPr id="745" name="Google Shape;745;p81"/>
          <p:cNvSpPr/>
          <p:nvPr/>
        </p:nvSpPr>
        <p:spPr>
          <a:xfrm>
            <a:off x="4116450" y="6198525"/>
            <a:ext cx="1598700" cy="40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81"/>
          <p:cNvSpPr/>
          <p:nvPr/>
        </p:nvSpPr>
        <p:spPr>
          <a:xfrm>
            <a:off x="1116025" y="874275"/>
            <a:ext cx="15987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TimerClient</a:t>
            </a:r>
            <a:endParaRPr b="1" sz="1600"/>
          </a:p>
        </p:txBody>
      </p:sp>
      <p:sp>
        <p:nvSpPr>
          <p:cNvPr id="747" name="Google Shape;747;p81"/>
          <p:cNvSpPr/>
          <p:nvPr/>
        </p:nvSpPr>
        <p:spPr>
          <a:xfrm>
            <a:off x="1116025" y="1243450"/>
            <a:ext cx="1598700" cy="892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timeOut()</a:t>
            </a:r>
            <a:endParaRPr i="1" sz="1600"/>
          </a:p>
          <a:p>
            <a:pPr indent="0" lvl="0" marL="0" rtl="0" algn="l">
              <a:spcBef>
                <a:spcPts val="0"/>
              </a:spcBef>
              <a:spcAft>
                <a:spcPts val="0"/>
              </a:spcAft>
              <a:buNone/>
            </a:pPr>
            <a:r>
              <a:rPr i="1" lang="en-GB" sz="1600"/>
              <a:t>+ startTiming()</a:t>
            </a:r>
            <a:endParaRPr i="1" sz="1600"/>
          </a:p>
          <a:p>
            <a:pPr indent="0" lvl="0" marL="0" rtl="0" algn="l">
              <a:spcBef>
                <a:spcPts val="0"/>
              </a:spcBef>
              <a:spcAft>
                <a:spcPts val="0"/>
              </a:spcAft>
              <a:buNone/>
            </a:pPr>
            <a:r>
              <a:rPr i="1" lang="en-GB" sz="1600"/>
              <a:t>+ stopTiming()</a:t>
            </a:r>
            <a:endParaRPr i="1" sz="1600"/>
          </a:p>
        </p:txBody>
      </p:sp>
      <p:sp>
        <p:nvSpPr>
          <p:cNvPr id="748" name="Google Shape;748;p81"/>
          <p:cNvSpPr/>
          <p:nvPr/>
        </p:nvSpPr>
        <p:spPr>
          <a:xfrm>
            <a:off x="3325825" y="950475"/>
            <a:ext cx="9252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Timer</a:t>
            </a:r>
            <a:endParaRPr b="1" sz="1600"/>
          </a:p>
        </p:txBody>
      </p:sp>
      <p:sp>
        <p:nvSpPr>
          <p:cNvPr id="749" name="Google Shape;749;p81"/>
          <p:cNvSpPr/>
          <p:nvPr/>
        </p:nvSpPr>
        <p:spPr>
          <a:xfrm>
            <a:off x="3325825" y="1319650"/>
            <a:ext cx="9252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start()</a:t>
            </a:r>
            <a:endParaRPr i="1" sz="1600"/>
          </a:p>
          <a:p>
            <a:pPr indent="0" lvl="0" marL="0" rtl="0" algn="l">
              <a:spcBef>
                <a:spcPts val="0"/>
              </a:spcBef>
              <a:spcAft>
                <a:spcPts val="0"/>
              </a:spcAft>
              <a:buNone/>
            </a:pPr>
            <a:r>
              <a:rPr i="1" lang="en-GB" sz="1600"/>
              <a:t>+ stop()</a:t>
            </a:r>
            <a:endParaRPr i="1" sz="1600"/>
          </a:p>
        </p:txBody>
      </p:sp>
      <p:sp>
        <p:nvSpPr>
          <p:cNvPr id="750" name="Google Shape;750;p81"/>
          <p:cNvSpPr/>
          <p:nvPr/>
        </p:nvSpPr>
        <p:spPr>
          <a:xfrm>
            <a:off x="1116025" y="2550675"/>
            <a:ext cx="15987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Door</a:t>
            </a:r>
            <a:endParaRPr b="1" sz="1600"/>
          </a:p>
        </p:txBody>
      </p:sp>
      <p:sp>
        <p:nvSpPr>
          <p:cNvPr id="751" name="Google Shape;751;p81"/>
          <p:cNvSpPr/>
          <p:nvPr/>
        </p:nvSpPr>
        <p:spPr>
          <a:xfrm>
            <a:off x="1116025" y="2919850"/>
            <a:ext cx="1598700" cy="407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is_open</a:t>
            </a:r>
            <a:endParaRPr i="1" sz="1600"/>
          </a:p>
        </p:txBody>
      </p:sp>
      <p:sp>
        <p:nvSpPr>
          <p:cNvPr id="752" name="Google Shape;752;p81"/>
          <p:cNvSpPr/>
          <p:nvPr/>
        </p:nvSpPr>
        <p:spPr>
          <a:xfrm>
            <a:off x="1116025" y="3324498"/>
            <a:ext cx="1598700" cy="892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lock()</a:t>
            </a:r>
            <a:endParaRPr i="1" sz="1600"/>
          </a:p>
          <a:p>
            <a:pPr indent="0" lvl="0" marL="0" rtl="0" algn="l">
              <a:spcBef>
                <a:spcPts val="0"/>
              </a:spcBef>
              <a:spcAft>
                <a:spcPts val="0"/>
              </a:spcAft>
              <a:buNone/>
            </a:pPr>
            <a:r>
              <a:rPr i="1" lang="en-GB" sz="1600"/>
              <a:t>+ unlock</a:t>
            </a:r>
            <a:endParaRPr i="1" sz="1600"/>
          </a:p>
          <a:p>
            <a:pPr indent="0" lvl="0" marL="0" rtl="0" algn="l">
              <a:spcBef>
                <a:spcPts val="0"/>
              </a:spcBef>
              <a:spcAft>
                <a:spcPts val="0"/>
              </a:spcAft>
              <a:buNone/>
            </a:pPr>
            <a:r>
              <a:rPr i="1" lang="en-GB" sz="1600"/>
              <a:t>+ isDoorOpen()</a:t>
            </a:r>
            <a:endParaRPr i="1" sz="1600"/>
          </a:p>
        </p:txBody>
      </p:sp>
      <p:sp>
        <p:nvSpPr>
          <p:cNvPr id="753" name="Google Shape;753;p81"/>
          <p:cNvSpPr/>
          <p:nvPr/>
        </p:nvSpPr>
        <p:spPr>
          <a:xfrm>
            <a:off x="184546" y="4684275"/>
            <a:ext cx="15987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OriginalDoor</a:t>
            </a:r>
            <a:endParaRPr b="1" sz="1600"/>
          </a:p>
        </p:txBody>
      </p:sp>
      <p:sp>
        <p:nvSpPr>
          <p:cNvPr id="754" name="Google Shape;754;p81"/>
          <p:cNvSpPr/>
          <p:nvPr/>
        </p:nvSpPr>
        <p:spPr>
          <a:xfrm>
            <a:off x="184546" y="5053450"/>
            <a:ext cx="1598700" cy="1162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lock()</a:t>
            </a:r>
            <a:endParaRPr i="1" sz="1600"/>
          </a:p>
          <a:p>
            <a:pPr indent="0" lvl="0" marL="0" rtl="0" algn="l">
              <a:spcBef>
                <a:spcPts val="0"/>
              </a:spcBef>
              <a:spcAft>
                <a:spcPts val="0"/>
              </a:spcAft>
              <a:buNone/>
            </a:pPr>
            <a:r>
              <a:rPr i="1" lang="en-GB" sz="1600"/>
              <a:t>+ unlock</a:t>
            </a:r>
            <a:endParaRPr i="1" sz="1600"/>
          </a:p>
          <a:p>
            <a:pPr indent="0" lvl="0" marL="0" rtl="0" algn="l">
              <a:spcBef>
                <a:spcPts val="0"/>
              </a:spcBef>
              <a:spcAft>
                <a:spcPts val="0"/>
              </a:spcAft>
              <a:buNone/>
            </a:pPr>
            <a:r>
              <a:rPr i="1" lang="en-GB" sz="1600"/>
              <a:t>+ isDoorOpen()</a:t>
            </a:r>
            <a:endParaRPr i="1" sz="1600"/>
          </a:p>
          <a:p>
            <a:pPr indent="0" lvl="0" marL="0" rtl="0" algn="l">
              <a:spcBef>
                <a:spcPts val="0"/>
              </a:spcBef>
              <a:spcAft>
                <a:spcPts val="0"/>
              </a:spcAft>
              <a:buNone/>
            </a:pPr>
            <a:r>
              <a:rPr i="1" lang="en-GB" sz="1600">
                <a:solidFill>
                  <a:srgbClr val="FF0000"/>
                </a:solidFill>
              </a:rPr>
              <a:t>+ timeOut()</a:t>
            </a:r>
            <a:endParaRPr i="1" sz="1600">
              <a:solidFill>
                <a:srgbClr val="FF0000"/>
              </a:solidFill>
            </a:endParaRPr>
          </a:p>
        </p:txBody>
      </p:sp>
      <p:sp>
        <p:nvSpPr>
          <p:cNvPr id="755" name="Google Shape;755;p81"/>
          <p:cNvSpPr/>
          <p:nvPr/>
        </p:nvSpPr>
        <p:spPr>
          <a:xfrm>
            <a:off x="2182825" y="4684275"/>
            <a:ext cx="15987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TimedDoor</a:t>
            </a:r>
            <a:endParaRPr b="1" sz="1600"/>
          </a:p>
        </p:txBody>
      </p:sp>
      <p:sp>
        <p:nvSpPr>
          <p:cNvPr id="756" name="Google Shape;756;p81"/>
          <p:cNvSpPr/>
          <p:nvPr/>
        </p:nvSpPr>
        <p:spPr>
          <a:xfrm>
            <a:off x="2182825" y="5469922"/>
            <a:ext cx="1598700" cy="1162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lock()</a:t>
            </a:r>
            <a:endParaRPr i="1" sz="1600"/>
          </a:p>
          <a:p>
            <a:pPr indent="0" lvl="0" marL="0" rtl="0" algn="l">
              <a:spcBef>
                <a:spcPts val="0"/>
              </a:spcBef>
              <a:spcAft>
                <a:spcPts val="0"/>
              </a:spcAft>
              <a:buNone/>
            </a:pPr>
            <a:r>
              <a:rPr i="1" lang="en-GB" sz="1600"/>
              <a:t>+ unlock</a:t>
            </a:r>
            <a:endParaRPr i="1" sz="1600"/>
          </a:p>
          <a:p>
            <a:pPr indent="0" lvl="0" marL="0" rtl="0" algn="l">
              <a:spcBef>
                <a:spcPts val="0"/>
              </a:spcBef>
              <a:spcAft>
                <a:spcPts val="0"/>
              </a:spcAft>
              <a:buNone/>
            </a:pPr>
            <a:r>
              <a:rPr i="1" lang="en-GB" sz="1600"/>
              <a:t>+ isDoorOpen()</a:t>
            </a:r>
            <a:endParaRPr i="1" sz="1600"/>
          </a:p>
          <a:p>
            <a:pPr indent="0" lvl="0" marL="0" rtl="0" algn="l">
              <a:spcBef>
                <a:spcPts val="0"/>
              </a:spcBef>
              <a:spcAft>
                <a:spcPts val="0"/>
              </a:spcAft>
              <a:buNone/>
            </a:pPr>
            <a:r>
              <a:rPr i="1" lang="en-GB" sz="1600"/>
              <a:t>+ timeOut()</a:t>
            </a:r>
            <a:endParaRPr i="1" sz="1600"/>
          </a:p>
        </p:txBody>
      </p:sp>
      <p:sp>
        <p:nvSpPr>
          <p:cNvPr id="757" name="Google Shape;757;p81"/>
          <p:cNvSpPr/>
          <p:nvPr/>
        </p:nvSpPr>
        <p:spPr>
          <a:xfrm>
            <a:off x="2182825" y="5053450"/>
            <a:ext cx="1598700" cy="407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alarm_secs</a:t>
            </a:r>
            <a:endParaRPr i="1" sz="1600"/>
          </a:p>
        </p:txBody>
      </p:sp>
      <p:sp>
        <p:nvSpPr>
          <p:cNvPr id="758" name="Google Shape;758;p81"/>
          <p:cNvSpPr/>
          <p:nvPr/>
        </p:nvSpPr>
        <p:spPr>
          <a:xfrm>
            <a:off x="2729800" y="1606252"/>
            <a:ext cx="248300" cy="1655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9" name="Google Shape;759;p81"/>
          <p:cNvSpPr/>
          <p:nvPr/>
        </p:nvSpPr>
        <p:spPr>
          <a:xfrm>
            <a:off x="1802272" y="2146200"/>
            <a:ext cx="236400" cy="1485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0" name="Google Shape;760;p81"/>
          <p:cNvSpPr/>
          <p:nvPr/>
        </p:nvSpPr>
        <p:spPr>
          <a:xfrm>
            <a:off x="1450175" y="4256152"/>
            <a:ext cx="236400" cy="1485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1" name="Google Shape;761;p81"/>
          <p:cNvSpPr/>
          <p:nvPr/>
        </p:nvSpPr>
        <p:spPr>
          <a:xfrm>
            <a:off x="2288375" y="4256152"/>
            <a:ext cx="236400" cy="1485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62" name="Google Shape;762;p81"/>
          <p:cNvCxnSpPr>
            <a:stCxn id="750" idx="0"/>
            <a:endCxn id="759" idx="3"/>
          </p:cNvCxnSpPr>
          <p:nvPr/>
        </p:nvCxnSpPr>
        <p:spPr>
          <a:xfrm flipH="1" rot="10800000">
            <a:off x="1915375" y="2294775"/>
            <a:ext cx="5100" cy="255900"/>
          </a:xfrm>
          <a:prstGeom prst="straightConnector1">
            <a:avLst/>
          </a:prstGeom>
          <a:noFill/>
          <a:ln cap="flat" cmpd="sng" w="9525">
            <a:solidFill>
              <a:schemeClr val="dk2"/>
            </a:solidFill>
            <a:prstDash val="solid"/>
            <a:round/>
            <a:headEnd len="med" w="med" type="none"/>
            <a:tailEnd len="med" w="med" type="none"/>
          </a:ln>
        </p:spPr>
      </p:cxnSp>
      <p:cxnSp>
        <p:nvCxnSpPr>
          <p:cNvPr id="763" name="Google Shape;763;p81"/>
          <p:cNvCxnSpPr>
            <a:stCxn id="749" idx="1"/>
            <a:endCxn id="758" idx="3"/>
          </p:cNvCxnSpPr>
          <p:nvPr/>
        </p:nvCxnSpPr>
        <p:spPr>
          <a:xfrm rot="10800000">
            <a:off x="2978125" y="1689100"/>
            <a:ext cx="347700" cy="1230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81"/>
          <p:cNvCxnSpPr>
            <a:stCxn id="753" idx="0"/>
            <a:endCxn id="760" idx="3"/>
          </p:cNvCxnSpPr>
          <p:nvPr/>
        </p:nvCxnSpPr>
        <p:spPr>
          <a:xfrm rot="-5400000">
            <a:off x="1136296" y="4252275"/>
            <a:ext cx="279600" cy="584400"/>
          </a:xfrm>
          <a:prstGeom prst="bentConnector3">
            <a:avLst>
              <a:gd fmla="val 50004" name="adj1"/>
            </a:avLst>
          </a:prstGeom>
          <a:noFill/>
          <a:ln cap="flat" cmpd="sng" w="9525">
            <a:solidFill>
              <a:schemeClr val="dk2"/>
            </a:solidFill>
            <a:prstDash val="solid"/>
            <a:round/>
            <a:headEnd len="med" w="med" type="none"/>
            <a:tailEnd len="med" w="med" type="none"/>
          </a:ln>
        </p:spPr>
      </p:cxnSp>
      <p:cxnSp>
        <p:nvCxnSpPr>
          <p:cNvPr id="765" name="Google Shape;765;p81"/>
          <p:cNvCxnSpPr>
            <a:stCxn id="755" idx="0"/>
            <a:endCxn id="761" idx="3"/>
          </p:cNvCxnSpPr>
          <p:nvPr/>
        </p:nvCxnSpPr>
        <p:spPr>
          <a:xfrm flipH="1" rot="5400000">
            <a:off x="2554525" y="4256625"/>
            <a:ext cx="279600" cy="575700"/>
          </a:xfrm>
          <a:prstGeom prst="bentConnector3">
            <a:avLst>
              <a:gd fmla="val 50004" name="adj1"/>
            </a:avLst>
          </a:prstGeom>
          <a:noFill/>
          <a:ln cap="flat" cmpd="sng" w="9525">
            <a:solidFill>
              <a:schemeClr val="dk2"/>
            </a:solidFill>
            <a:prstDash val="solid"/>
            <a:round/>
            <a:headEnd len="med" w="med" type="none"/>
            <a:tailEnd len="med" w="med" type="none"/>
          </a:ln>
        </p:spPr>
      </p:cxnSp>
      <p:sp>
        <p:nvSpPr>
          <p:cNvPr id="766" name="Google Shape;766;p81"/>
          <p:cNvSpPr/>
          <p:nvPr/>
        </p:nvSpPr>
        <p:spPr>
          <a:xfrm>
            <a:off x="5078425" y="2474475"/>
            <a:ext cx="15987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Door</a:t>
            </a:r>
            <a:endParaRPr b="1" sz="1600"/>
          </a:p>
        </p:txBody>
      </p:sp>
      <p:sp>
        <p:nvSpPr>
          <p:cNvPr id="767" name="Google Shape;767;p81"/>
          <p:cNvSpPr/>
          <p:nvPr/>
        </p:nvSpPr>
        <p:spPr>
          <a:xfrm>
            <a:off x="5078425" y="2843650"/>
            <a:ext cx="1598700" cy="407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is_open</a:t>
            </a:r>
            <a:endParaRPr i="1" sz="1600"/>
          </a:p>
        </p:txBody>
      </p:sp>
      <p:sp>
        <p:nvSpPr>
          <p:cNvPr id="768" name="Google Shape;768;p81"/>
          <p:cNvSpPr/>
          <p:nvPr/>
        </p:nvSpPr>
        <p:spPr>
          <a:xfrm>
            <a:off x="5078425" y="3248298"/>
            <a:ext cx="1598700" cy="892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lock()</a:t>
            </a:r>
            <a:endParaRPr i="1" sz="1600"/>
          </a:p>
          <a:p>
            <a:pPr indent="0" lvl="0" marL="0" rtl="0" algn="l">
              <a:spcBef>
                <a:spcPts val="0"/>
              </a:spcBef>
              <a:spcAft>
                <a:spcPts val="0"/>
              </a:spcAft>
              <a:buNone/>
            </a:pPr>
            <a:r>
              <a:rPr i="1" lang="en-GB" sz="1600"/>
              <a:t>+ unlock</a:t>
            </a:r>
            <a:endParaRPr i="1" sz="1600"/>
          </a:p>
          <a:p>
            <a:pPr indent="0" lvl="0" marL="0" rtl="0" algn="l">
              <a:spcBef>
                <a:spcPts val="0"/>
              </a:spcBef>
              <a:spcAft>
                <a:spcPts val="0"/>
              </a:spcAft>
              <a:buNone/>
            </a:pPr>
            <a:r>
              <a:rPr i="1" lang="en-GB" sz="1600"/>
              <a:t>+ isDoorOpen()</a:t>
            </a:r>
            <a:endParaRPr i="1" sz="1600"/>
          </a:p>
        </p:txBody>
      </p:sp>
      <p:sp>
        <p:nvSpPr>
          <p:cNvPr id="769" name="Google Shape;769;p81"/>
          <p:cNvSpPr/>
          <p:nvPr/>
        </p:nvSpPr>
        <p:spPr>
          <a:xfrm>
            <a:off x="4527946" y="4608075"/>
            <a:ext cx="15987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OriginalDoor</a:t>
            </a:r>
            <a:endParaRPr b="1" sz="1600"/>
          </a:p>
        </p:txBody>
      </p:sp>
      <p:sp>
        <p:nvSpPr>
          <p:cNvPr id="770" name="Google Shape;770;p81"/>
          <p:cNvSpPr/>
          <p:nvPr/>
        </p:nvSpPr>
        <p:spPr>
          <a:xfrm>
            <a:off x="4527950" y="4977250"/>
            <a:ext cx="1598700" cy="687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lock()</a:t>
            </a:r>
            <a:endParaRPr i="1" sz="1600"/>
          </a:p>
          <a:p>
            <a:pPr indent="0" lvl="0" marL="0" rtl="0" algn="l">
              <a:spcBef>
                <a:spcPts val="0"/>
              </a:spcBef>
              <a:spcAft>
                <a:spcPts val="0"/>
              </a:spcAft>
              <a:buNone/>
            </a:pPr>
            <a:r>
              <a:rPr i="1" lang="en-GB" sz="1600"/>
              <a:t>+ unlock</a:t>
            </a:r>
            <a:endParaRPr i="1" sz="1600"/>
          </a:p>
        </p:txBody>
      </p:sp>
      <p:sp>
        <p:nvSpPr>
          <p:cNvPr id="771" name="Google Shape;771;p81"/>
          <p:cNvSpPr/>
          <p:nvPr/>
        </p:nvSpPr>
        <p:spPr>
          <a:xfrm>
            <a:off x="6297625" y="4608075"/>
            <a:ext cx="15987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TimedDoor</a:t>
            </a:r>
            <a:endParaRPr b="1" sz="1600"/>
          </a:p>
        </p:txBody>
      </p:sp>
      <p:sp>
        <p:nvSpPr>
          <p:cNvPr id="772" name="Google Shape;772;p81"/>
          <p:cNvSpPr/>
          <p:nvPr/>
        </p:nvSpPr>
        <p:spPr>
          <a:xfrm>
            <a:off x="6297625" y="5393725"/>
            <a:ext cx="1598700" cy="942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lock()</a:t>
            </a:r>
            <a:endParaRPr i="1" sz="1600"/>
          </a:p>
          <a:p>
            <a:pPr indent="0" lvl="0" marL="0" rtl="0" algn="l">
              <a:spcBef>
                <a:spcPts val="0"/>
              </a:spcBef>
              <a:spcAft>
                <a:spcPts val="0"/>
              </a:spcAft>
              <a:buNone/>
            </a:pPr>
            <a:r>
              <a:rPr i="1" lang="en-GB" sz="1600"/>
              <a:t>+ unlock</a:t>
            </a:r>
            <a:endParaRPr i="1" sz="1600"/>
          </a:p>
          <a:p>
            <a:pPr indent="0" lvl="0" marL="0" rtl="0" algn="l">
              <a:spcBef>
                <a:spcPts val="0"/>
              </a:spcBef>
              <a:spcAft>
                <a:spcPts val="0"/>
              </a:spcAft>
              <a:buNone/>
            </a:pPr>
            <a:r>
              <a:rPr i="1" lang="en-GB" sz="1600"/>
              <a:t>+ timeOut()</a:t>
            </a:r>
            <a:endParaRPr i="1" sz="1600"/>
          </a:p>
        </p:txBody>
      </p:sp>
      <p:sp>
        <p:nvSpPr>
          <p:cNvPr id="773" name="Google Shape;773;p81"/>
          <p:cNvSpPr/>
          <p:nvPr/>
        </p:nvSpPr>
        <p:spPr>
          <a:xfrm>
            <a:off x="6297625" y="4977250"/>
            <a:ext cx="1598700" cy="407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alarm_secs</a:t>
            </a:r>
            <a:endParaRPr i="1" sz="1600"/>
          </a:p>
        </p:txBody>
      </p:sp>
      <p:sp>
        <p:nvSpPr>
          <p:cNvPr id="774" name="Google Shape;774;p81"/>
          <p:cNvSpPr/>
          <p:nvPr/>
        </p:nvSpPr>
        <p:spPr>
          <a:xfrm>
            <a:off x="5564975" y="4179952"/>
            <a:ext cx="236400" cy="1485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5" name="Google Shape;775;p81"/>
          <p:cNvSpPr/>
          <p:nvPr/>
        </p:nvSpPr>
        <p:spPr>
          <a:xfrm>
            <a:off x="6174575" y="4179952"/>
            <a:ext cx="236400" cy="1485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76" name="Google Shape;776;p81"/>
          <p:cNvCxnSpPr>
            <a:stCxn id="769" idx="0"/>
            <a:endCxn id="774" idx="3"/>
          </p:cNvCxnSpPr>
          <p:nvPr/>
        </p:nvCxnSpPr>
        <p:spPr>
          <a:xfrm rot="-5400000">
            <a:off x="5365396" y="4290375"/>
            <a:ext cx="279600" cy="355800"/>
          </a:xfrm>
          <a:prstGeom prst="bentConnector3">
            <a:avLst>
              <a:gd fmla="val 50004" name="adj1"/>
            </a:avLst>
          </a:prstGeom>
          <a:noFill/>
          <a:ln cap="flat" cmpd="sng" w="9525">
            <a:solidFill>
              <a:schemeClr val="dk2"/>
            </a:solidFill>
            <a:prstDash val="solid"/>
            <a:round/>
            <a:headEnd len="med" w="med" type="none"/>
            <a:tailEnd len="med" w="med" type="none"/>
          </a:ln>
        </p:spPr>
      </p:cxnSp>
      <p:cxnSp>
        <p:nvCxnSpPr>
          <p:cNvPr id="777" name="Google Shape;777;p81"/>
          <p:cNvCxnSpPr>
            <a:stCxn id="771" idx="0"/>
            <a:endCxn id="775" idx="3"/>
          </p:cNvCxnSpPr>
          <p:nvPr/>
        </p:nvCxnSpPr>
        <p:spPr>
          <a:xfrm flipH="1" rot="5400000">
            <a:off x="6555025" y="4066125"/>
            <a:ext cx="279600" cy="804300"/>
          </a:xfrm>
          <a:prstGeom prst="bentConnector3">
            <a:avLst>
              <a:gd fmla="val 50004" name="adj1"/>
            </a:avLst>
          </a:prstGeom>
          <a:noFill/>
          <a:ln cap="flat" cmpd="sng" w="9525">
            <a:solidFill>
              <a:schemeClr val="dk2"/>
            </a:solidFill>
            <a:prstDash val="solid"/>
            <a:round/>
            <a:headEnd len="med" w="med" type="none"/>
            <a:tailEnd len="med" w="med" type="none"/>
          </a:ln>
        </p:spPr>
      </p:cxnSp>
      <p:sp>
        <p:nvSpPr>
          <p:cNvPr id="778" name="Google Shape;778;p81"/>
          <p:cNvSpPr/>
          <p:nvPr/>
        </p:nvSpPr>
        <p:spPr>
          <a:xfrm>
            <a:off x="7364425" y="645675"/>
            <a:ext cx="15987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TimerClient</a:t>
            </a:r>
            <a:endParaRPr b="1" sz="1600"/>
          </a:p>
        </p:txBody>
      </p:sp>
      <p:sp>
        <p:nvSpPr>
          <p:cNvPr id="779" name="Google Shape;779;p81"/>
          <p:cNvSpPr/>
          <p:nvPr/>
        </p:nvSpPr>
        <p:spPr>
          <a:xfrm>
            <a:off x="7364425" y="1014850"/>
            <a:ext cx="1598700" cy="892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timeOut()</a:t>
            </a:r>
            <a:endParaRPr i="1" sz="1600"/>
          </a:p>
          <a:p>
            <a:pPr indent="0" lvl="0" marL="0" rtl="0" algn="l">
              <a:spcBef>
                <a:spcPts val="0"/>
              </a:spcBef>
              <a:spcAft>
                <a:spcPts val="0"/>
              </a:spcAft>
              <a:buNone/>
            </a:pPr>
            <a:r>
              <a:rPr i="1" lang="en-GB" sz="1600"/>
              <a:t>+ startTiming()</a:t>
            </a:r>
            <a:endParaRPr i="1" sz="1600"/>
          </a:p>
          <a:p>
            <a:pPr indent="0" lvl="0" marL="0" rtl="0" algn="l">
              <a:spcBef>
                <a:spcPts val="0"/>
              </a:spcBef>
              <a:spcAft>
                <a:spcPts val="0"/>
              </a:spcAft>
              <a:buNone/>
            </a:pPr>
            <a:r>
              <a:rPr i="1" lang="en-GB" sz="1600"/>
              <a:t>+ stopTiming()</a:t>
            </a:r>
            <a:endParaRPr i="1" sz="1600"/>
          </a:p>
        </p:txBody>
      </p:sp>
      <p:sp>
        <p:nvSpPr>
          <p:cNvPr id="780" name="Google Shape;780;p81"/>
          <p:cNvSpPr/>
          <p:nvPr/>
        </p:nvSpPr>
        <p:spPr>
          <a:xfrm>
            <a:off x="5764225" y="698227"/>
            <a:ext cx="9252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Timer</a:t>
            </a:r>
            <a:endParaRPr b="1" sz="1600"/>
          </a:p>
        </p:txBody>
      </p:sp>
      <p:sp>
        <p:nvSpPr>
          <p:cNvPr id="781" name="Google Shape;781;p81"/>
          <p:cNvSpPr/>
          <p:nvPr/>
        </p:nvSpPr>
        <p:spPr>
          <a:xfrm>
            <a:off x="5764225" y="1067402"/>
            <a:ext cx="925200" cy="763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start()</a:t>
            </a:r>
            <a:endParaRPr i="1" sz="1600"/>
          </a:p>
          <a:p>
            <a:pPr indent="0" lvl="0" marL="0" rtl="0" algn="l">
              <a:spcBef>
                <a:spcPts val="0"/>
              </a:spcBef>
              <a:spcAft>
                <a:spcPts val="0"/>
              </a:spcAft>
              <a:buNone/>
            </a:pPr>
            <a:r>
              <a:rPr i="1" lang="en-GB" sz="1600"/>
              <a:t>+ stop()</a:t>
            </a:r>
            <a:endParaRPr i="1" sz="1600"/>
          </a:p>
        </p:txBody>
      </p:sp>
      <p:sp>
        <p:nvSpPr>
          <p:cNvPr id="782" name="Google Shape;782;p81"/>
          <p:cNvSpPr/>
          <p:nvPr/>
        </p:nvSpPr>
        <p:spPr>
          <a:xfrm>
            <a:off x="7073200" y="1354003"/>
            <a:ext cx="248300" cy="1655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83" name="Google Shape;783;p81"/>
          <p:cNvCxnSpPr>
            <a:stCxn id="781" idx="3"/>
            <a:endCxn id="782" idx="1"/>
          </p:cNvCxnSpPr>
          <p:nvPr/>
        </p:nvCxnSpPr>
        <p:spPr>
          <a:xfrm flipH="1" rot="10800000">
            <a:off x="6689425" y="1436852"/>
            <a:ext cx="383700" cy="12300"/>
          </a:xfrm>
          <a:prstGeom prst="straightConnector1">
            <a:avLst/>
          </a:prstGeom>
          <a:noFill/>
          <a:ln cap="flat" cmpd="sng" w="9525">
            <a:solidFill>
              <a:schemeClr val="dk2"/>
            </a:solidFill>
            <a:prstDash val="solid"/>
            <a:round/>
            <a:headEnd len="med" w="med" type="none"/>
            <a:tailEnd len="med" w="med" type="none"/>
          </a:ln>
        </p:spPr>
      </p:cxnSp>
      <p:sp>
        <p:nvSpPr>
          <p:cNvPr id="784" name="Google Shape;784;p81"/>
          <p:cNvSpPr/>
          <p:nvPr/>
        </p:nvSpPr>
        <p:spPr>
          <a:xfrm>
            <a:off x="7735350" y="2474475"/>
            <a:ext cx="13038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DoorAlarm</a:t>
            </a:r>
            <a:endParaRPr b="1" sz="1600"/>
          </a:p>
        </p:txBody>
      </p:sp>
      <p:sp>
        <p:nvSpPr>
          <p:cNvPr id="785" name="Google Shape;785;p81"/>
          <p:cNvSpPr/>
          <p:nvPr/>
        </p:nvSpPr>
        <p:spPr>
          <a:xfrm>
            <a:off x="7735350" y="2843650"/>
            <a:ext cx="1303800" cy="480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timeOut()</a:t>
            </a:r>
            <a:endParaRPr sz="1600"/>
          </a:p>
        </p:txBody>
      </p:sp>
      <p:sp>
        <p:nvSpPr>
          <p:cNvPr id="786" name="Google Shape;786;p81"/>
          <p:cNvSpPr/>
          <p:nvPr/>
        </p:nvSpPr>
        <p:spPr>
          <a:xfrm>
            <a:off x="7237500" y="4379650"/>
            <a:ext cx="232475" cy="211525"/>
          </a:xfrm>
          <a:prstGeom prst="flowChartDecision">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87" name="Google Shape;787;p81"/>
          <p:cNvCxnSpPr>
            <a:endCxn id="786" idx="0"/>
          </p:cNvCxnSpPr>
          <p:nvPr/>
        </p:nvCxnSpPr>
        <p:spPr>
          <a:xfrm flipH="1">
            <a:off x="7353738" y="1932250"/>
            <a:ext cx="121500" cy="2447400"/>
          </a:xfrm>
          <a:prstGeom prst="straightConnector1">
            <a:avLst/>
          </a:prstGeom>
          <a:noFill/>
          <a:ln cap="flat" cmpd="sng" w="9525">
            <a:solidFill>
              <a:schemeClr val="dk2"/>
            </a:solidFill>
            <a:prstDash val="solid"/>
            <a:round/>
            <a:headEnd len="med" w="med" type="none"/>
            <a:tailEnd len="med" w="med" type="none"/>
          </a:ln>
        </p:spPr>
      </p:cxnSp>
      <p:sp>
        <p:nvSpPr>
          <p:cNvPr id="788" name="Google Shape;788;p81"/>
          <p:cNvSpPr/>
          <p:nvPr/>
        </p:nvSpPr>
        <p:spPr>
          <a:xfrm>
            <a:off x="8272703" y="1946503"/>
            <a:ext cx="236400" cy="1485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89" name="Google Shape;789;p81"/>
          <p:cNvCxnSpPr>
            <a:stCxn id="784" idx="0"/>
            <a:endCxn id="788" idx="3"/>
          </p:cNvCxnSpPr>
          <p:nvPr/>
        </p:nvCxnSpPr>
        <p:spPr>
          <a:xfrm flipH="1" rot="10800000">
            <a:off x="8387250" y="2094975"/>
            <a:ext cx="3600" cy="379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8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95" name="Google Shape;795;p82"/>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lý đảo ngược phụ thuộc</a:t>
            </a:r>
            <a:endParaRPr/>
          </a:p>
        </p:txBody>
      </p:sp>
      <p:sp>
        <p:nvSpPr>
          <p:cNvPr id="796" name="Google Shape;796;p82"/>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Nguyên lý đảo ngược phụ thuộc / Dependency Inversion Principle (DIP)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97" name="Google Shape;797;p82"/>
          <p:cNvSpPr/>
          <p:nvPr/>
        </p:nvSpPr>
        <p:spPr>
          <a:xfrm>
            <a:off x="475325" y="1946575"/>
            <a:ext cx="8117100" cy="4227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i="1" lang="en-GB" sz="2400"/>
              <a:t>Các mô-đun bậc cao không nên phụ thuộc vào các mô-đun bậc thấp. Cả 2 nên phụ thuộc vào các thành phần trừu tượng. </a:t>
            </a:r>
            <a:endParaRPr i="1" sz="2400"/>
          </a:p>
          <a:p>
            <a:pPr indent="0" lvl="0" marL="0" rtl="0" algn="just">
              <a:spcBef>
                <a:spcPts val="0"/>
              </a:spcBef>
              <a:spcAft>
                <a:spcPts val="0"/>
              </a:spcAft>
              <a:buNone/>
            </a:pPr>
            <a:r>
              <a:rPr i="1" lang="en-GB" sz="2400"/>
              <a:t>Các thành phần trừu tượng không nên phụ thuộc vào các thành phần cụ thể. Các thành phần cụ thể nên phụ thuộc vào các thành phần trừu tượng. /</a:t>
            </a:r>
            <a:endParaRPr i="1" sz="2400"/>
          </a:p>
          <a:p>
            <a:pPr indent="0" lvl="0" marL="0" rtl="0" algn="just">
              <a:spcBef>
                <a:spcPts val="0"/>
              </a:spcBef>
              <a:spcAft>
                <a:spcPts val="0"/>
              </a:spcAft>
              <a:buNone/>
            </a:pPr>
            <a:r>
              <a:rPr i="1" lang="en-GB" sz="2400"/>
              <a:t>High-level modules should not depend on low-level modules. Both should depend on abstractions.</a:t>
            </a:r>
            <a:endParaRPr i="1" sz="2400"/>
          </a:p>
          <a:p>
            <a:pPr indent="0" lvl="0" marL="0" rtl="0" algn="just">
              <a:spcBef>
                <a:spcPts val="0"/>
              </a:spcBef>
              <a:spcAft>
                <a:spcPts val="0"/>
              </a:spcAft>
              <a:buNone/>
            </a:pPr>
            <a:r>
              <a:rPr i="1" lang="en-GB" sz="2400"/>
              <a:t>Abstractions should not depend upon details. Details should depend upon abstractions.</a:t>
            </a:r>
            <a:endParaRPr i="1" sz="2400"/>
          </a:p>
          <a:p>
            <a:pPr indent="0" lvl="0" marL="0" rtl="0" algn="r">
              <a:spcBef>
                <a:spcPts val="0"/>
              </a:spcBef>
              <a:spcAft>
                <a:spcPts val="0"/>
              </a:spcAft>
              <a:buNone/>
            </a:pPr>
            <a:r>
              <a:rPr lang="en-GB" sz="2400"/>
              <a:t>[Robert C. Martin]</a:t>
            </a:r>
            <a:endParaRPr sz="24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8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03" name="Google Shape;803;p83"/>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Nguyên lý đảo ngược phụ thuộc</a:t>
            </a:r>
            <a:r>
              <a:rPr baseline="-25000" lang="en-GB"/>
              <a:t>(2)</a:t>
            </a:r>
            <a:endParaRPr baseline="-25000"/>
          </a:p>
        </p:txBody>
      </p:sp>
      <p:sp>
        <p:nvSpPr>
          <p:cNvPr id="804" name="Google Shape;804;p83"/>
          <p:cNvSpPr txBox="1"/>
          <p:nvPr>
            <p:ph idx="1" type="body"/>
          </p:nvPr>
        </p:nvSpPr>
        <p:spPr>
          <a:xfrm>
            <a:off x="311700" y="903075"/>
            <a:ext cx="8520600" cy="572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Phần mềm với thiết kế tốt thường được chia nhỏ thành các mô-đun</a:t>
            </a:r>
            <a:endParaRPr/>
          </a:p>
          <a:p>
            <a:pPr indent="-368300" lvl="1" marL="914400" rtl="0" algn="l">
              <a:spcBef>
                <a:spcPts val="0"/>
              </a:spcBef>
              <a:spcAft>
                <a:spcPts val="0"/>
              </a:spcAft>
              <a:buSzPts val="2200"/>
              <a:buChar char="○"/>
            </a:pPr>
            <a:r>
              <a:rPr lang="en-GB"/>
              <a:t>Mô-đun bậc thấp cung cấp các dịch vụ để triển khai mô-đun bậc cao.</a:t>
            </a:r>
            <a:endParaRPr/>
          </a:p>
          <a:p>
            <a:pPr indent="-381000" lvl="0" marL="457200" rtl="0" algn="l">
              <a:spcBef>
                <a:spcPts val="0"/>
              </a:spcBef>
              <a:spcAft>
                <a:spcPts val="0"/>
              </a:spcAft>
              <a:buSzPts val="2400"/>
              <a:buChar char="●"/>
            </a:pPr>
            <a:r>
              <a:rPr lang="en-GB"/>
              <a:t>Phụ thuộc vào các cơ chế trừu tượng giúp nâng cao khả năng tái sử dụng các thành phần.</a:t>
            </a:r>
            <a:endParaRPr/>
          </a:p>
          <a:p>
            <a:pPr indent="-381000" lvl="0" marL="457200" rtl="0" algn="l">
              <a:spcBef>
                <a:spcPts val="0"/>
              </a:spcBef>
              <a:spcAft>
                <a:spcPts val="0"/>
              </a:spcAft>
              <a:buSzPts val="2400"/>
              <a:buChar char="●"/>
            </a:pPr>
            <a:r>
              <a:rPr lang="en-GB"/>
              <a:t>Áp dụng DIP giúp nới lỏng các phụ thuộc.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84"/>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5.12. </a:t>
            </a:r>
            <a:r>
              <a:rPr lang="en-GB"/>
              <a:t>DIP</a:t>
            </a:r>
            <a:endParaRPr/>
          </a:p>
        </p:txBody>
      </p:sp>
      <p:sp>
        <p:nvSpPr>
          <p:cNvPr id="810" name="Google Shape;810;p8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cxnSp>
        <p:nvCxnSpPr>
          <p:cNvPr id="811" name="Google Shape;811;p84"/>
          <p:cNvCxnSpPr/>
          <p:nvPr/>
        </p:nvCxnSpPr>
        <p:spPr>
          <a:xfrm>
            <a:off x="4018123" y="826175"/>
            <a:ext cx="0" cy="5681700"/>
          </a:xfrm>
          <a:prstGeom prst="straightConnector1">
            <a:avLst/>
          </a:prstGeom>
          <a:noFill/>
          <a:ln cap="flat" cmpd="sng" w="28575">
            <a:solidFill>
              <a:schemeClr val="dk2"/>
            </a:solidFill>
            <a:prstDash val="solid"/>
            <a:round/>
            <a:headEnd len="med" w="med" type="none"/>
            <a:tailEnd len="med" w="med" type="none"/>
          </a:ln>
        </p:spPr>
      </p:cxnSp>
      <p:sp>
        <p:nvSpPr>
          <p:cNvPr id="812" name="Google Shape;812;p84"/>
          <p:cNvSpPr txBox="1"/>
          <p:nvPr/>
        </p:nvSpPr>
        <p:spPr>
          <a:xfrm>
            <a:off x="360950" y="4403550"/>
            <a:ext cx="3573300" cy="1263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i="1" lang="en-GB" sz="1800"/>
              <a:t>Thiết kế này không tương thích với DIP do Project phụ thuộc trực tiếp vào </a:t>
            </a:r>
            <a:r>
              <a:rPr lang="en-GB" sz="1800"/>
              <a:t>FrontEndDeveloper</a:t>
            </a:r>
            <a:r>
              <a:rPr i="1" lang="en-GB" sz="1800"/>
              <a:t> và </a:t>
            </a:r>
            <a:r>
              <a:rPr lang="en-GB" sz="1800"/>
              <a:t>BackEndDeveloper</a:t>
            </a:r>
            <a:r>
              <a:rPr i="1" lang="en-GB" sz="1800"/>
              <a:t>.</a:t>
            </a:r>
            <a:endParaRPr i="1" sz="1800"/>
          </a:p>
        </p:txBody>
      </p:sp>
      <p:sp>
        <p:nvSpPr>
          <p:cNvPr id="813" name="Google Shape;813;p84"/>
          <p:cNvSpPr txBox="1"/>
          <p:nvPr/>
        </p:nvSpPr>
        <p:spPr>
          <a:xfrm>
            <a:off x="360625" y="1280200"/>
            <a:ext cx="1380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Bậc cao</a:t>
            </a:r>
            <a:endParaRPr i="1" sz="1800"/>
          </a:p>
        </p:txBody>
      </p:sp>
      <p:sp>
        <p:nvSpPr>
          <p:cNvPr id="814" name="Google Shape;814;p84"/>
          <p:cNvSpPr txBox="1"/>
          <p:nvPr/>
        </p:nvSpPr>
        <p:spPr>
          <a:xfrm>
            <a:off x="360625" y="3429000"/>
            <a:ext cx="1380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Bậc thấp</a:t>
            </a:r>
            <a:endParaRPr i="1" sz="1800"/>
          </a:p>
        </p:txBody>
      </p:sp>
      <p:sp>
        <p:nvSpPr>
          <p:cNvPr id="815" name="Google Shape;815;p84"/>
          <p:cNvSpPr txBox="1"/>
          <p:nvPr/>
        </p:nvSpPr>
        <p:spPr>
          <a:xfrm>
            <a:off x="4522731" y="288750"/>
            <a:ext cx="1380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Bậc cao</a:t>
            </a:r>
            <a:endParaRPr i="1" sz="1800"/>
          </a:p>
        </p:txBody>
      </p:sp>
      <p:sp>
        <p:nvSpPr>
          <p:cNvPr id="816" name="Google Shape;816;p84"/>
          <p:cNvSpPr txBox="1"/>
          <p:nvPr/>
        </p:nvSpPr>
        <p:spPr>
          <a:xfrm>
            <a:off x="4452603" y="3108150"/>
            <a:ext cx="1380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Bậc thấp</a:t>
            </a:r>
            <a:endParaRPr i="1" sz="1800"/>
          </a:p>
        </p:txBody>
      </p:sp>
      <p:sp>
        <p:nvSpPr>
          <p:cNvPr id="817" name="Google Shape;817;p84"/>
          <p:cNvSpPr txBox="1"/>
          <p:nvPr/>
        </p:nvSpPr>
        <p:spPr>
          <a:xfrm>
            <a:off x="6562500" y="288750"/>
            <a:ext cx="18771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800"/>
              <a:t>Trừu tượng hóa</a:t>
            </a:r>
            <a:endParaRPr i="1" sz="1800"/>
          </a:p>
        </p:txBody>
      </p:sp>
      <p:sp>
        <p:nvSpPr>
          <p:cNvPr id="818" name="Google Shape;818;p84"/>
          <p:cNvSpPr txBox="1"/>
          <p:nvPr/>
        </p:nvSpPr>
        <p:spPr>
          <a:xfrm>
            <a:off x="4170950" y="4251150"/>
            <a:ext cx="4734900" cy="1966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i="1" lang="en-GB" sz="1800"/>
              <a:t>Triển khai cụ thể phụ thuộc vào cơ chế trừu tượng. </a:t>
            </a:r>
            <a:endParaRPr i="1" sz="1800"/>
          </a:p>
          <a:p>
            <a:pPr indent="0" lvl="0" marL="0" rtl="0" algn="just">
              <a:spcBef>
                <a:spcPts val="0"/>
              </a:spcBef>
              <a:spcAft>
                <a:spcPts val="0"/>
              </a:spcAft>
              <a:buNone/>
            </a:pPr>
            <a:r>
              <a:rPr i="1" lang="en-GB" sz="1800"/>
              <a:t>Đáp ứng được DIP, chiều phụ thuộc vào mô-đun bậc thấp đã được đảo ngược: Các mô-đun bậc thấp phụ thuộc vào giao diện khái quát được dùng trong mô-đun bậc cao.</a:t>
            </a:r>
            <a:endParaRPr i="1" sz="1800"/>
          </a:p>
        </p:txBody>
      </p:sp>
      <p:sp>
        <p:nvSpPr>
          <p:cNvPr id="819" name="Google Shape;819;p84"/>
          <p:cNvSpPr/>
          <p:nvPr/>
        </p:nvSpPr>
        <p:spPr>
          <a:xfrm>
            <a:off x="1649425" y="1026675"/>
            <a:ext cx="12489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Project</a:t>
            </a:r>
            <a:endParaRPr b="1" sz="1600"/>
          </a:p>
        </p:txBody>
      </p:sp>
      <p:sp>
        <p:nvSpPr>
          <p:cNvPr id="820" name="Google Shape;820;p84"/>
          <p:cNvSpPr/>
          <p:nvPr/>
        </p:nvSpPr>
        <p:spPr>
          <a:xfrm>
            <a:off x="1649425" y="1395850"/>
            <a:ext cx="1248900" cy="445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Deliver()</a:t>
            </a:r>
            <a:endParaRPr sz="1600"/>
          </a:p>
        </p:txBody>
      </p:sp>
      <p:sp>
        <p:nvSpPr>
          <p:cNvPr id="821" name="Google Shape;821;p84"/>
          <p:cNvSpPr/>
          <p:nvPr/>
        </p:nvSpPr>
        <p:spPr>
          <a:xfrm>
            <a:off x="234900" y="2684863"/>
            <a:ext cx="2108700" cy="462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developGUI()</a:t>
            </a:r>
            <a:endParaRPr i="1" sz="1600"/>
          </a:p>
        </p:txBody>
      </p:sp>
      <p:sp>
        <p:nvSpPr>
          <p:cNvPr id="822" name="Google Shape;822;p84"/>
          <p:cNvSpPr/>
          <p:nvPr/>
        </p:nvSpPr>
        <p:spPr>
          <a:xfrm>
            <a:off x="234900" y="2322075"/>
            <a:ext cx="21087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FrontEndDeveloper</a:t>
            </a:r>
            <a:endParaRPr b="1" sz="1600"/>
          </a:p>
        </p:txBody>
      </p:sp>
      <p:sp>
        <p:nvSpPr>
          <p:cNvPr id="823" name="Google Shape;823;p84"/>
          <p:cNvSpPr/>
          <p:nvPr/>
        </p:nvSpPr>
        <p:spPr>
          <a:xfrm>
            <a:off x="1758900" y="3388875"/>
            <a:ext cx="21087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BackEndDeveloper</a:t>
            </a:r>
            <a:endParaRPr b="1" sz="1600"/>
          </a:p>
        </p:txBody>
      </p:sp>
      <p:sp>
        <p:nvSpPr>
          <p:cNvPr id="824" name="Google Shape;824;p84"/>
          <p:cNvSpPr/>
          <p:nvPr/>
        </p:nvSpPr>
        <p:spPr>
          <a:xfrm>
            <a:off x="1758900" y="3764751"/>
            <a:ext cx="2108700" cy="445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developServices()</a:t>
            </a:r>
            <a:endParaRPr i="1" sz="1600"/>
          </a:p>
        </p:txBody>
      </p:sp>
      <p:sp>
        <p:nvSpPr>
          <p:cNvPr id="825" name="Google Shape;825;p84"/>
          <p:cNvSpPr/>
          <p:nvPr/>
        </p:nvSpPr>
        <p:spPr>
          <a:xfrm>
            <a:off x="4316425" y="874275"/>
            <a:ext cx="12489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Project</a:t>
            </a:r>
            <a:endParaRPr b="1" sz="1600"/>
          </a:p>
        </p:txBody>
      </p:sp>
      <p:sp>
        <p:nvSpPr>
          <p:cNvPr id="826" name="Google Shape;826;p84"/>
          <p:cNvSpPr/>
          <p:nvPr/>
        </p:nvSpPr>
        <p:spPr>
          <a:xfrm>
            <a:off x="4316425" y="1243450"/>
            <a:ext cx="1248900" cy="445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Deliver()</a:t>
            </a:r>
            <a:endParaRPr sz="1600"/>
          </a:p>
        </p:txBody>
      </p:sp>
      <p:sp>
        <p:nvSpPr>
          <p:cNvPr id="827" name="Google Shape;827;p84"/>
          <p:cNvSpPr/>
          <p:nvPr/>
        </p:nvSpPr>
        <p:spPr>
          <a:xfrm>
            <a:off x="4197300" y="2169675"/>
            <a:ext cx="21087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FrontEndDeveloper</a:t>
            </a:r>
            <a:endParaRPr b="1" sz="1600"/>
          </a:p>
        </p:txBody>
      </p:sp>
      <p:sp>
        <p:nvSpPr>
          <p:cNvPr id="828" name="Google Shape;828;p84"/>
          <p:cNvSpPr/>
          <p:nvPr/>
        </p:nvSpPr>
        <p:spPr>
          <a:xfrm>
            <a:off x="4197300" y="2538850"/>
            <a:ext cx="2108700" cy="462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developGUI()</a:t>
            </a:r>
            <a:endParaRPr i="1" sz="1600"/>
          </a:p>
        </p:txBody>
      </p:sp>
      <p:sp>
        <p:nvSpPr>
          <p:cNvPr id="829" name="Google Shape;829;p84"/>
          <p:cNvSpPr/>
          <p:nvPr/>
        </p:nvSpPr>
        <p:spPr>
          <a:xfrm>
            <a:off x="5721300" y="3312675"/>
            <a:ext cx="21087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BackEndDeveloper</a:t>
            </a:r>
            <a:endParaRPr b="1" sz="1600"/>
          </a:p>
        </p:txBody>
      </p:sp>
      <p:sp>
        <p:nvSpPr>
          <p:cNvPr id="830" name="Google Shape;830;p84"/>
          <p:cNvSpPr/>
          <p:nvPr/>
        </p:nvSpPr>
        <p:spPr>
          <a:xfrm>
            <a:off x="5721300" y="3697667"/>
            <a:ext cx="2108700" cy="4620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1600"/>
              <a:t>+ developServices()</a:t>
            </a:r>
            <a:endParaRPr i="1" sz="1600"/>
          </a:p>
        </p:txBody>
      </p:sp>
      <p:sp>
        <p:nvSpPr>
          <p:cNvPr id="831" name="Google Shape;831;p84"/>
          <p:cNvSpPr/>
          <p:nvPr/>
        </p:nvSpPr>
        <p:spPr>
          <a:xfrm>
            <a:off x="6831025" y="874275"/>
            <a:ext cx="1248900" cy="365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600"/>
              <a:t>Developer</a:t>
            </a:r>
            <a:endParaRPr b="1" sz="1600"/>
          </a:p>
        </p:txBody>
      </p:sp>
      <p:sp>
        <p:nvSpPr>
          <p:cNvPr id="832" name="Google Shape;832;p84"/>
          <p:cNvSpPr/>
          <p:nvPr/>
        </p:nvSpPr>
        <p:spPr>
          <a:xfrm>
            <a:off x="6831025" y="1243450"/>
            <a:ext cx="1248900" cy="445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 develop()</a:t>
            </a:r>
            <a:endParaRPr sz="1600"/>
          </a:p>
        </p:txBody>
      </p:sp>
      <p:sp>
        <p:nvSpPr>
          <p:cNvPr id="833" name="Google Shape;833;p84"/>
          <p:cNvSpPr/>
          <p:nvPr/>
        </p:nvSpPr>
        <p:spPr>
          <a:xfrm>
            <a:off x="1823275" y="1849300"/>
            <a:ext cx="201025" cy="201000"/>
          </a:xfrm>
          <a:prstGeom prst="flowChartDecision">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4" name="Google Shape;834;p84"/>
          <p:cNvSpPr/>
          <p:nvPr/>
        </p:nvSpPr>
        <p:spPr>
          <a:xfrm>
            <a:off x="2432875" y="1849300"/>
            <a:ext cx="201025" cy="201000"/>
          </a:xfrm>
          <a:prstGeom prst="flowChartDecision">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5" name="Google Shape;835;p84"/>
          <p:cNvSpPr/>
          <p:nvPr/>
        </p:nvSpPr>
        <p:spPr>
          <a:xfrm>
            <a:off x="5557075" y="1392100"/>
            <a:ext cx="201025" cy="147450"/>
          </a:xfrm>
          <a:prstGeom prst="flowChartDecision">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6" name="Google Shape;836;p84"/>
          <p:cNvSpPr/>
          <p:nvPr/>
        </p:nvSpPr>
        <p:spPr>
          <a:xfrm>
            <a:off x="7025900" y="1695575"/>
            <a:ext cx="153600" cy="147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7" name="Google Shape;837;p84"/>
          <p:cNvSpPr/>
          <p:nvPr/>
        </p:nvSpPr>
        <p:spPr>
          <a:xfrm>
            <a:off x="7635500" y="1695575"/>
            <a:ext cx="153600" cy="1476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38" name="Google Shape;838;p84"/>
          <p:cNvCxnSpPr>
            <a:stCxn id="827" idx="3"/>
            <a:endCxn id="836" idx="3"/>
          </p:cNvCxnSpPr>
          <p:nvPr/>
        </p:nvCxnSpPr>
        <p:spPr>
          <a:xfrm flipH="1" rot="10800000">
            <a:off x="6306000" y="1843275"/>
            <a:ext cx="796800" cy="509100"/>
          </a:xfrm>
          <a:prstGeom prst="bentConnector2">
            <a:avLst/>
          </a:prstGeom>
          <a:noFill/>
          <a:ln cap="flat" cmpd="sng" w="9525">
            <a:solidFill>
              <a:schemeClr val="dk2"/>
            </a:solidFill>
            <a:prstDash val="solid"/>
            <a:round/>
            <a:headEnd len="med" w="med" type="none"/>
            <a:tailEnd len="med" w="med" type="none"/>
          </a:ln>
        </p:spPr>
      </p:cxnSp>
      <p:cxnSp>
        <p:nvCxnSpPr>
          <p:cNvPr id="839" name="Google Shape;839;p84"/>
          <p:cNvCxnSpPr>
            <a:stCxn id="829" idx="3"/>
            <a:endCxn id="837" idx="3"/>
          </p:cNvCxnSpPr>
          <p:nvPr/>
        </p:nvCxnSpPr>
        <p:spPr>
          <a:xfrm rot="10800000">
            <a:off x="7712400" y="1843275"/>
            <a:ext cx="117600" cy="1652100"/>
          </a:xfrm>
          <a:prstGeom prst="bentConnector4">
            <a:avLst>
              <a:gd fmla="val -202487" name="adj1"/>
              <a:gd fmla="val 55532" name="adj2"/>
            </a:avLst>
          </a:prstGeom>
          <a:noFill/>
          <a:ln cap="flat" cmpd="sng" w="9525">
            <a:solidFill>
              <a:schemeClr val="dk2"/>
            </a:solidFill>
            <a:prstDash val="solid"/>
            <a:round/>
            <a:headEnd len="med" w="med" type="none"/>
            <a:tailEnd len="med" w="med" type="none"/>
          </a:ln>
        </p:spPr>
      </p:cxnSp>
      <p:cxnSp>
        <p:nvCxnSpPr>
          <p:cNvPr id="840" name="Google Shape;840;p84"/>
          <p:cNvCxnSpPr>
            <a:stCxn id="822" idx="0"/>
            <a:endCxn id="833" idx="2"/>
          </p:cNvCxnSpPr>
          <p:nvPr/>
        </p:nvCxnSpPr>
        <p:spPr>
          <a:xfrm rot="-5400000">
            <a:off x="1470600" y="1868925"/>
            <a:ext cx="271800" cy="634500"/>
          </a:xfrm>
          <a:prstGeom prst="bentConnector3">
            <a:avLst>
              <a:gd fmla="val 49995" name="adj1"/>
            </a:avLst>
          </a:prstGeom>
          <a:noFill/>
          <a:ln cap="flat" cmpd="sng" w="9525">
            <a:solidFill>
              <a:schemeClr val="dk2"/>
            </a:solidFill>
            <a:prstDash val="solid"/>
            <a:round/>
            <a:headEnd len="med" w="med" type="none"/>
            <a:tailEnd len="med" w="med" type="none"/>
          </a:ln>
        </p:spPr>
      </p:cxnSp>
      <p:cxnSp>
        <p:nvCxnSpPr>
          <p:cNvPr id="841" name="Google Shape;841;p84"/>
          <p:cNvCxnSpPr>
            <a:stCxn id="823" idx="0"/>
            <a:endCxn id="834" idx="2"/>
          </p:cNvCxnSpPr>
          <p:nvPr/>
        </p:nvCxnSpPr>
        <p:spPr>
          <a:xfrm flipH="1" rot="5400000">
            <a:off x="2004000" y="2579625"/>
            <a:ext cx="1338600" cy="279900"/>
          </a:xfrm>
          <a:prstGeom prst="bentConnector3">
            <a:avLst>
              <a:gd fmla="val 49999" name="adj1"/>
            </a:avLst>
          </a:prstGeom>
          <a:noFill/>
          <a:ln cap="flat" cmpd="sng" w="9525">
            <a:solidFill>
              <a:schemeClr val="dk2"/>
            </a:solidFill>
            <a:prstDash val="solid"/>
            <a:round/>
            <a:headEnd len="med" w="med" type="none"/>
            <a:tailEnd len="med" w="med" type="none"/>
          </a:ln>
        </p:spPr>
      </p:cxnSp>
      <p:cxnSp>
        <p:nvCxnSpPr>
          <p:cNvPr id="842" name="Google Shape;842;p84"/>
          <p:cNvCxnSpPr>
            <a:stCxn id="832" idx="1"/>
            <a:endCxn id="835" idx="3"/>
          </p:cNvCxnSpPr>
          <p:nvPr/>
        </p:nvCxnSpPr>
        <p:spPr>
          <a:xfrm rot="10800000">
            <a:off x="5758225" y="1465750"/>
            <a:ext cx="1072800" cy="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8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48" name="Google Shape;848;p85"/>
          <p:cNvSpPr txBox="1"/>
          <p:nvPr>
            <p:ph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Chèn phụ thuộc</a:t>
            </a:r>
            <a:endParaRPr/>
          </a:p>
        </p:txBody>
      </p:sp>
      <p:sp>
        <p:nvSpPr>
          <p:cNvPr id="849" name="Google Shape;849;p85"/>
          <p:cNvSpPr txBox="1"/>
          <p:nvPr>
            <p:ph idx="1" type="body"/>
          </p:nvPr>
        </p:nvSpPr>
        <p:spPr>
          <a:xfrm>
            <a:off x="311700" y="874800"/>
            <a:ext cx="8520600" cy="5493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Chèn phụ thuộc / Dependency Injection (DI)</a:t>
            </a:r>
            <a:endParaRPr/>
          </a:p>
          <a:p>
            <a:pPr indent="-381000" lvl="0" marL="457200" rtl="0" algn="l">
              <a:spcBef>
                <a:spcPts val="0"/>
              </a:spcBef>
              <a:spcAft>
                <a:spcPts val="0"/>
              </a:spcAft>
              <a:buSzPts val="2400"/>
              <a:buChar char="●"/>
            </a:pPr>
            <a:r>
              <a:rPr lang="en-GB"/>
              <a:t>Phương pháp nghịch đảo phụ thuộc cụ thể, có thể được sử dụng để nghịch đảo phụ thuộc.</a:t>
            </a:r>
            <a:endParaRPr/>
          </a:p>
          <a:p>
            <a:pPr indent="-381000" lvl="0" marL="457200" rtl="0" algn="l">
              <a:spcBef>
                <a:spcPts val="0"/>
              </a:spcBef>
              <a:spcAft>
                <a:spcPts val="0"/>
              </a:spcAft>
              <a:buSzPts val="2400"/>
              <a:buChar char="●"/>
            </a:pPr>
            <a:r>
              <a:rPr lang="en-GB"/>
              <a:t>Đối tượng thích hợp được tạo và đưa vào từ bên ngoài.</a:t>
            </a:r>
            <a:endParaRPr/>
          </a:p>
          <a:p>
            <a:pPr indent="-381000" lvl="0" marL="457200" rtl="0" algn="l">
              <a:spcBef>
                <a:spcPts val="0"/>
              </a:spcBef>
              <a:spcAft>
                <a:spcPts val="0"/>
              </a:spcAft>
              <a:buSzPts val="2400"/>
              <a:buChar char="●"/>
            </a:pPr>
            <a:r>
              <a:rPr lang="en-GB"/>
              <a:t>Đối tượng phụ thuộc có thể được đưa vào thông qua:</a:t>
            </a:r>
            <a:endParaRPr/>
          </a:p>
          <a:p>
            <a:pPr indent="-368300" lvl="1" marL="914400" rtl="0" algn="l">
              <a:spcBef>
                <a:spcPts val="0"/>
              </a:spcBef>
              <a:spcAft>
                <a:spcPts val="0"/>
              </a:spcAft>
              <a:buSzPts val="2200"/>
              <a:buChar char="○"/>
            </a:pPr>
            <a:r>
              <a:rPr lang="en-GB"/>
              <a:t>Tham số cho hàm tạo (được sử dụng cho những phụ thuộc bắt buộc)</a:t>
            </a:r>
            <a:endParaRPr/>
          </a:p>
          <a:p>
            <a:pPr indent="-342900" lvl="2" marL="1371600" rtl="0" algn="l">
              <a:spcBef>
                <a:spcPts val="0"/>
              </a:spcBef>
              <a:spcAft>
                <a:spcPts val="0"/>
              </a:spcAft>
              <a:buSzPts val="1800"/>
              <a:buChar char="■"/>
            </a:pPr>
            <a:r>
              <a:rPr lang="en-GB"/>
              <a:t>Như trong mẫu thiết kế Tô điểm / Decorator</a:t>
            </a:r>
            <a:endParaRPr/>
          </a:p>
          <a:p>
            <a:pPr indent="-368300" lvl="1" marL="914400" rtl="0" algn="l">
              <a:spcBef>
                <a:spcPts val="0"/>
              </a:spcBef>
              <a:spcAft>
                <a:spcPts val="0"/>
              </a:spcAft>
              <a:buSzPts val="2200"/>
              <a:buChar char="○"/>
            </a:pPr>
            <a:r>
              <a:rPr lang="en-GB"/>
              <a:t>Tham số cho phương thức thiết lập phụ thuộc  (được sử dụng cho các phụ thuộc không bắt buộc)</a:t>
            </a:r>
            <a:endParaRPr/>
          </a:p>
          <a:p>
            <a:pPr indent="-342900" lvl="2" marL="1371600" rtl="0" algn="l">
              <a:spcBef>
                <a:spcPts val="0"/>
              </a:spcBef>
              <a:spcAft>
                <a:spcPts val="0"/>
              </a:spcAft>
              <a:buSzPts val="1800"/>
              <a:buChar char="■"/>
            </a:pPr>
            <a:r>
              <a:rPr lang="en-GB"/>
              <a:t>Như trong mẫu thiết kế Trạng thái / State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8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855" name="Google Shape;855;p86"/>
          <p:cNvPicPr preferRelativeResize="0"/>
          <p:nvPr/>
        </p:nvPicPr>
        <p:blipFill rotWithShape="1">
          <a:blip r:embed="rId3">
            <a:alphaModFix/>
          </a:blip>
          <a:srcRect b="0" l="0" r="0" t="0"/>
          <a:stretch/>
        </p:blipFill>
        <p:spPr>
          <a:xfrm>
            <a:off x="2779680" y="1531800"/>
            <a:ext cx="3565079" cy="41032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