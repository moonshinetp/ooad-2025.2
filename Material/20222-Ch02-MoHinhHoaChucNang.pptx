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0663242-BC61-42DA-8F7E-C39FB40C49E1}">
  <a:tblStyle styleId="{70663242-BC61-42DA-8F7E-C39FB40C49E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80dfe10e99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80dfe10e9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230f49d8e8_0_42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230f49d8e8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122fad121b3_0_5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122fad121b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c77e48307d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c77e4830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22fad121b3_0_5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22fad121b3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22fad121b3_0_6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22fad121b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22fad121b3_0_7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22fad121b3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22fad121b3_0_8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22fad121b3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235a4815a2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235a4815a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c43fc2dc49_0_6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c43fc2dc49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235a4815a2_0_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235a4815a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235a4815a2_0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235a4815a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230f49d8e8_0_1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230f49d8e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230f49d8e8_0_1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230f49d8e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230f49d8e8_0_2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230f49d8e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230f49d8e8_0_44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230f49d8e8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230f49d8e8_0_3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230f49d8e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230f49d8e8_0_3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230f49d8e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230f49d8e8_0_4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230f49d8e8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230f49d8e8_0_8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230f49d8e8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230f49d8e8_0_5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230f49d8e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230f49d8e8_0_10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230f49d8e8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235a4815a2_0_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1235a4815a2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39484a1974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39484a19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235a4815a2_0_4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1235a4815a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235a4815a2_0_6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1235a4815a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312f53625e_0_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312f53625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312f53625e_0_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312f53625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312f53625e_0_7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312f53625e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317c3ef15d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317c3ef1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317c3ef15d_0_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317c3ef15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1230f49d8e8_0_19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1230f49d8e8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1230f49d8e8_0_21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1230f49d8e8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1230f49d8e8_0_20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1230f49d8e8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123e299d0ef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123e299d0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1230f49d8e8_0_21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1230f49d8e8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1230f49d8e8_0_22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1230f49d8e8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2c77e48307d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2c77e48307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2c77e48307d_0_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2c77e48307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1230f49d8e8_0_23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1230f49d8e8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1230f49d8e8_0_28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1230f49d8e8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1230f49d8e8_0_29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g1230f49d8e8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1230f49d8e8_0_29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1230f49d8e8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1235a4815a2_0_3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1235a4815a2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1230f49d8e8_0_30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1230f49d8e8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1230f49d8e8_0_31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1230f49d8e8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31b747a14c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331b747a1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1230f49d8e8_0_32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1230f49d8e8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123e293c253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123e293c25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1230f49d8e8_0_37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1230f49d8e8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8" name="Google Shape;18;p4"/>
          <p:cNvSpPr txBox="1"/>
          <p:nvPr>
            <p:ph idx="1" type="body"/>
          </p:nvPr>
        </p:nvSpPr>
        <p:spPr>
          <a:xfrm>
            <a:off x="311700" y="1034900"/>
            <a:ext cx="8520600" cy="52860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81000" lvl="0" marL="457200" algn="ctr">
              <a:spcBef>
                <a:spcPts val="0"/>
              </a:spcBef>
              <a:spcAft>
                <a:spcPts val="0"/>
              </a:spcAft>
              <a:buSzPts val="2400"/>
              <a:buChar char="●"/>
              <a:defRPr/>
            </a:lvl1pPr>
            <a:lvl2pPr indent="-368300" lvl="1" marL="914400" algn="ctr">
              <a:spcBef>
                <a:spcPts val="0"/>
              </a:spcBef>
              <a:spcAft>
                <a:spcPts val="0"/>
              </a:spcAft>
              <a:buSzPts val="2200"/>
              <a:buChar char="○"/>
              <a:defRPr/>
            </a:lvl2pPr>
            <a:lvl3pPr indent="-342900" lvl="2" marL="1371600" algn="ctr">
              <a:spcBef>
                <a:spcPts val="0"/>
              </a:spcBef>
              <a:spcAft>
                <a:spcPts val="0"/>
              </a:spcAft>
              <a:buSzPts val="18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12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1pPr>
            <a:lvl2pPr lvl="1">
              <a:spcBef>
                <a:spcPts val="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2pPr>
            <a:lvl3pPr lvl="2">
              <a:spcBef>
                <a:spcPts val="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3pPr>
            <a:lvl4pPr lvl="3">
              <a:spcBef>
                <a:spcPts val="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4pPr>
            <a:lvl5pPr lvl="4">
              <a:spcBef>
                <a:spcPts val="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5pPr>
            <a:lvl6pPr lvl="5">
              <a:spcBef>
                <a:spcPts val="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6pPr>
            <a:lvl7pPr lvl="6">
              <a:spcBef>
                <a:spcPts val="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7pPr>
            <a:lvl8pPr lvl="7">
              <a:spcBef>
                <a:spcPts val="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8pPr>
            <a:lvl9pPr lvl="8">
              <a:spcBef>
                <a:spcPts val="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9pPr>
          </a:lstStyle>
          <a:p/>
        </p:txBody>
      </p:sp>
      <p:sp>
        <p:nvSpPr>
          <p:cNvPr id="7" name="Google Shape;7;p1"/>
          <p:cNvSpPr txBox="1"/>
          <p:nvPr>
            <p:ph idx="1" type="body"/>
          </p:nvPr>
        </p:nvSpPr>
        <p:spPr>
          <a:xfrm>
            <a:off x="311700" y="1034900"/>
            <a:ext cx="8520600" cy="5286000"/>
          </a:xfrm>
          <a:prstGeom prst="rect">
            <a:avLst/>
          </a:prstGeom>
          <a:noFill/>
          <a:ln>
            <a:noFill/>
          </a:ln>
        </p:spPr>
        <p:txBody>
          <a:bodyPr anchorCtr="0" anchor="t" bIns="91425" lIns="91425" spcFirstLastPara="1" rIns="91425" wrap="square" tIns="91425">
            <a:noAutofit/>
          </a:bodyPr>
          <a:lstStyle>
            <a:lvl1pPr indent="-381000" lvl="0" marL="457200">
              <a:lnSpc>
                <a:spcPct val="115000"/>
              </a:lnSpc>
              <a:spcBef>
                <a:spcPts val="0"/>
              </a:spcBef>
              <a:spcAft>
                <a:spcPts val="0"/>
              </a:spcAft>
              <a:buClr>
                <a:schemeClr val="dk2"/>
              </a:buClr>
              <a:buSzPts val="2400"/>
              <a:buFont typeface="Times New Roman"/>
              <a:buChar char="●"/>
              <a:defRPr sz="2400">
                <a:solidFill>
                  <a:schemeClr val="dk2"/>
                </a:solidFill>
                <a:latin typeface="Times New Roman"/>
                <a:ea typeface="Times New Roman"/>
                <a:cs typeface="Times New Roman"/>
                <a:sym typeface="Times New Roman"/>
              </a:defRPr>
            </a:lvl1pPr>
            <a:lvl2pPr indent="-368300" lvl="1" marL="914400">
              <a:lnSpc>
                <a:spcPct val="115000"/>
              </a:lnSpc>
              <a:spcBef>
                <a:spcPts val="0"/>
              </a:spcBef>
              <a:spcAft>
                <a:spcPts val="0"/>
              </a:spcAft>
              <a:buClr>
                <a:schemeClr val="dk2"/>
              </a:buClr>
              <a:buSzPts val="2200"/>
              <a:buFont typeface="Times New Roman"/>
              <a:buChar char="○"/>
              <a:defRPr sz="2200">
                <a:solidFill>
                  <a:schemeClr val="dk2"/>
                </a:solidFill>
                <a:latin typeface="Times New Roman"/>
                <a:ea typeface="Times New Roman"/>
                <a:cs typeface="Times New Roman"/>
                <a:sym typeface="Times New Roman"/>
              </a:defRPr>
            </a:lvl2pPr>
            <a:lvl3pPr indent="-342900" lvl="2" marL="1371600">
              <a:lnSpc>
                <a:spcPct val="115000"/>
              </a:lnSpc>
              <a:spcBef>
                <a:spcPts val="0"/>
              </a:spcBef>
              <a:spcAft>
                <a:spcPts val="0"/>
              </a:spcAft>
              <a:buClr>
                <a:schemeClr val="dk2"/>
              </a:buClr>
              <a:buSzPts val="1800"/>
              <a:buFont typeface="Times New Roman"/>
              <a:buChar char="■"/>
              <a:defRPr sz="1800">
                <a:solidFill>
                  <a:schemeClr val="dk2"/>
                </a:solidFill>
                <a:latin typeface="Times New Roman"/>
                <a:ea typeface="Times New Roman"/>
                <a:cs typeface="Times New Roman"/>
                <a:sym typeface="Times New Roman"/>
              </a:defRPr>
            </a:lvl3pPr>
            <a:lvl4pPr indent="-317500" lvl="3" marL="18288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4pPr>
            <a:lvl5pPr indent="-317500" lvl="4" marL="22860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5pPr>
            <a:lvl6pPr indent="-317500" lvl="5" marL="2743200">
              <a:lnSpc>
                <a:spcPct val="115000"/>
              </a:lnSpc>
              <a:spcBef>
                <a:spcPts val="160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6pPr>
            <a:lvl7pPr indent="-317500" lvl="6" marL="3200400">
              <a:lnSpc>
                <a:spcPct val="115000"/>
              </a:lnSpc>
              <a:spcBef>
                <a:spcPts val="160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7pPr>
            <a:lvl8pPr indent="-317500" lvl="7" marL="3657600">
              <a:lnSpc>
                <a:spcPct val="115000"/>
              </a:lnSpc>
              <a:spcBef>
                <a:spcPts val="160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8pPr>
            <a:lvl9pPr indent="-317500" lvl="8" marL="4114800">
              <a:lnSpc>
                <a:spcPct val="115000"/>
              </a:lnSpc>
              <a:spcBef>
                <a:spcPts val="1600"/>
              </a:spcBef>
              <a:spcAft>
                <a:spcPts val="160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hyperlink" Target="https://docs.google.com/document/d/1A14p2-GtCtdtZNuBG1DIDf6z0TpEg_N5p1fsfhDhD7k/edit?usp=sharing"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 Id="rId3" Type="http://schemas.openxmlformats.org/officeDocument/2006/relationships/image" Target="../media/image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 Id="rId3"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 Id="rId3" Type="http://schemas.openxmlformats.org/officeDocument/2006/relationships/image" Target="../media/image1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 Id="rId3"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hyperlink" Target="https://docs.google.com/document/d/1jO4KzqaEZN8TqxDcAqb1f7kp79mpyAdhvNc_FP2toIk/edit?usp=sharing"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 Id="rId3"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77075"/>
            <a:ext cx="8520600" cy="2065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4200"/>
              <a:t>Ph</a:t>
            </a:r>
            <a:r>
              <a:rPr lang="en-GB" sz="4200"/>
              <a:t>ân tích thiết kế hệ thống</a:t>
            </a:r>
            <a:endParaRPr sz="4200"/>
          </a:p>
        </p:txBody>
      </p:sp>
      <p:sp>
        <p:nvSpPr>
          <p:cNvPr id="55" name="Google Shape;55;p13"/>
          <p:cNvSpPr txBox="1"/>
          <p:nvPr>
            <p:ph idx="1" type="subTitle"/>
          </p:nvPr>
        </p:nvSpPr>
        <p:spPr>
          <a:xfrm>
            <a:off x="311700" y="3778827"/>
            <a:ext cx="8520600" cy="812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sz="2600"/>
              <a:t>S</a:t>
            </a:r>
            <a:r>
              <a:rPr lang="en-GB" sz="2600"/>
              <a:t>oạn bởi: </a:t>
            </a:r>
            <a:r>
              <a:rPr lang="en-GB" sz="2600"/>
              <a:t>Ng</a:t>
            </a:r>
            <a:r>
              <a:rPr lang="en-GB" sz="2600"/>
              <a:t>uyễn </a:t>
            </a:r>
            <a:r>
              <a:rPr lang="en-GB" sz="2600"/>
              <a:t>Bá Ng</a:t>
            </a:r>
            <a:r>
              <a:rPr lang="en-GB" sz="2600"/>
              <a:t>ọc</a:t>
            </a:r>
            <a:endParaRPr sz="2600"/>
          </a:p>
        </p:txBody>
      </p:sp>
      <p:sp>
        <p:nvSpPr>
          <p:cNvPr id="56" name="Google Shape;56;p13"/>
          <p:cNvSpPr txBox="1"/>
          <p:nvPr/>
        </p:nvSpPr>
        <p:spPr>
          <a:xfrm>
            <a:off x="125" y="6116250"/>
            <a:ext cx="9144000" cy="60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600"/>
              <a:t>Hà Nội-2022</a:t>
            </a:r>
            <a:endParaRPr sz="2600"/>
          </a:p>
        </p:txBody>
      </p:sp>
      <p:sp>
        <p:nvSpPr>
          <p:cNvPr id="57" name="Google Shape;57;p13"/>
          <p:cNvSpPr txBox="1"/>
          <p:nvPr/>
        </p:nvSpPr>
        <p:spPr>
          <a:xfrm>
            <a:off x="491750" y="4667633"/>
            <a:ext cx="2658600" cy="10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600"/>
              <a:t>Chương 2</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459625"/>
            <a:ext cx="8520600" cy="169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t>
            </a:r>
            <a:r>
              <a:rPr lang="en-GB"/>
              <a:t>ương 2.</a:t>
            </a:r>
            <a:endParaRPr/>
          </a:p>
          <a:p>
            <a:pPr indent="0" lvl="0" marL="0" rtl="0" algn="ctr">
              <a:spcBef>
                <a:spcPts val="0"/>
              </a:spcBef>
              <a:spcAft>
                <a:spcPts val="0"/>
              </a:spcAft>
              <a:buNone/>
            </a:pPr>
            <a:r>
              <a:rPr lang="en-GB"/>
              <a:t>M</a:t>
            </a:r>
            <a:r>
              <a:rPr lang="en-GB"/>
              <a:t>ô hình hóa chức năng</a:t>
            </a:r>
            <a:endParaRPr/>
          </a:p>
        </p:txBody>
      </p:sp>
      <p:sp>
        <p:nvSpPr>
          <p:cNvPr id="63" name="Google Shape;63;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69" name="Google Shape;69;p15"/>
          <p:cNvSpPr txBox="1"/>
          <p:nvPr>
            <p:ph idx="1" type="body"/>
          </p:nvPr>
        </p:nvSpPr>
        <p:spPr>
          <a:xfrm>
            <a:off x="311700" y="1034900"/>
            <a:ext cx="8520600" cy="5286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Mô hình hóa nghiệp vụ </a:t>
            </a:r>
            <a:endParaRPr/>
          </a:p>
          <a:p>
            <a:pPr indent="-381000" lvl="0" marL="457200" rtl="0" algn="l">
              <a:spcBef>
                <a:spcPts val="0"/>
              </a:spcBef>
              <a:spcAft>
                <a:spcPts val="0"/>
              </a:spcAft>
              <a:buSzPts val="2400"/>
              <a:buChar char="●"/>
            </a:pPr>
            <a:r>
              <a:rPr lang="en-GB"/>
              <a:t>Sơ đồ ca sử dụng</a:t>
            </a:r>
            <a:endParaRPr/>
          </a:p>
          <a:p>
            <a:pPr indent="-381000" lvl="0" marL="457200" rtl="0" algn="l">
              <a:spcBef>
                <a:spcPts val="0"/>
              </a:spcBef>
              <a:spcAft>
                <a:spcPts val="0"/>
              </a:spcAft>
              <a:buSzPts val="2400"/>
              <a:buChar char="●"/>
            </a:pPr>
            <a:r>
              <a:rPr lang="en-GB"/>
              <a:t>Đặc tả ca sử dụng</a:t>
            </a:r>
            <a:endParaRPr/>
          </a:p>
          <a:p>
            <a:pPr indent="-381000" lvl="0" marL="457200" rtl="0" algn="l">
              <a:spcBef>
                <a:spcPts val="0"/>
              </a:spcBef>
              <a:spcAft>
                <a:spcPts val="0"/>
              </a:spcAft>
              <a:buSzPts val="2400"/>
              <a:buChar char="●"/>
            </a:pPr>
            <a:r>
              <a:rPr lang="en-GB"/>
              <a:t>Phương pháp đơn vị ca sử dụng</a:t>
            </a:r>
            <a:endParaRPr/>
          </a:p>
        </p:txBody>
      </p:sp>
      <p:sp>
        <p:nvSpPr>
          <p:cNvPr id="70" name="Google Shape;70;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76" name="Google Shape;76;p16"/>
          <p:cNvSpPr txBox="1"/>
          <p:nvPr>
            <p:ph idx="1" type="body"/>
          </p:nvPr>
        </p:nvSpPr>
        <p:spPr>
          <a:xfrm>
            <a:off x="311700" y="1034900"/>
            <a:ext cx="8520600" cy="5286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Mô hình hóa nghiệp vụ </a:t>
            </a:r>
            <a:endParaRPr/>
          </a:p>
          <a:p>
            <a:pPr indent="-381000" lvl="0" marL="457200" rtl="0" algn="l">
              <a:spcBef>
                <a:spcPts val="0"/>
              </a:spcBef>
              <a:spcAft>
                <a:spcPts val="0"/>
              </a:spcAft>
              <a:buSzPts val="2400"/>
              <a:buChar char="●"/>
            </a:pPr>
            <a:r>
              <a:rPr lang="en-GB"/>
              <a:t>Sơ đồ ca sử dụng</a:t>
            </a:r>
            <a:endParaRPr/>
          </a:p>
          <a:p>
            <a:pPr indent="-381000" lvl="0" marL="457200" rtl="0" algn="l">
              <a:spcBef>
                <a:spcPts val="0"/>
              </a:spcBef>
              <a:spcAft>
                <a:spcPts val="0"/>
              </a:spcAft>
              <a:buSzPts val="2400"/>
              <a:buChar char="●"/>
            </a:pPr>
            <a:r>
              <a:rPr lang="en-GB"/>
              <a:t>Đặc tả ca sử dụng</a:t>
            </a:r>
            <a:endParaRPr/>
          </a:p>
          <a:p>
            <a:pPr indent="-381000" lvl="0" marL="457200" rtl="0" algn="l">
              <a:spcBef>
                <a:spcPts val="0"/>
              </a:spcBef>
              <a:spcAft>
                <a:spcPts val="0"/>
              </a:spcAft>
              <a:buSzPts val="2400"/>
              <a:buChar char="●"/>
            </a:pPr>
            <a:r>
              <a:rPr lang="en-GB"/>
              <a:t>Phương pháp đơn vị ca sử dụng</a:t>
            </a:r>
            <a:endParaRPr/>
          </a:p>
        </p:txBody>
      </p:sp>
      <p:sp>
        <p:nvSpPr>
          <p:cNvPr id="77" name="Google Shape;77;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8" name="Google Shape;78;p16"/>
          <p:cNvSpPr/>
          <p:nvPr/>
        </p:nvSpPr>
        <p:spPr>
          <a:xfrm>
            <a:off x="376175" y="960188"/>
            <a:ext cx="4572000" cy="763500"/>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idx="4294967295" type="title"/>
          </p:nvPr>
        </p:nvSpPr>
        <p:spPr>
          <a:xfrm>
            <a:off x="311700" y="288575"/>
            <a:ext cx="8709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Kh</a:t>
            </a:r>
            <a:r>
              <a:rPr lang="en-GB"/>
              <a:t>ái niệm</a:t>
            </a:r>
            <a:r>
              <a:rPr lang="en-GB"/>
              <a:t> quy trình nghiệp vụ</a:t>
            </a:r>
            <a:endParaRPr/>
          </a:p>
        </p:txBody>
      </p:sp>
      <p:sp>
        <p:nvSpPr>
          <p:cNvPr id="84" name="Google Shape;84;p17"/>
          <p:cNvSpPr txBox="1"/>
          <p:nvPr>
            <p:ph idx="4294967295" type="body"/>
          </p:nvPr>
        </p:nvSpPr>
        <p:spPr>
          <a:xfrm>
            <a:off x="311700" y="1098425"/>
            <a:ext cx="8645400" cy="5562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Quy trình nghiệp vụ có thể được hiểu như sự kết hợp của các sự kiện, hoạt động, và các quyết định có liên quan lẫn nhau với sự tham gia của nhiều tác nhân và đối tượng, tất cả cùng góp phần vào kết quả đầu ra có giá trị cho ít nhất một người dùng.</a:t>
            </a:r>
            <a:endParaRPr/>
          </a:p>
          <a:p>
            <a:pPr indent="-381000" lvl="0" marL="457200" rtl="0" algn="just">
              <a:spcBef>
                <a:spcPts val="0"/>
              </a:spcBef>
              <a:spcAft>
                <a:spcPts val="0"/>
              </a:spcAft>
              <a:buSzPts val="2400"/>
              <a:buChar char="●"/>
            </a:pPr>
            <a:r>
              <a:rPr lang="en-GB"/>
              <a:t>Q</a:t>
            </a:r>
            <a:r>
              <a:rPr lang="en-GB"/>
              <a:t>uy trình nghiệp vụ </a:t>
            </a:r>
            <a:r>
              <a:rPr lang="en-GB"/>
              <a:t>thường </a:t>
            </a:r>
            <a:r>
              <a:rPr lang="en-GB"/>
              <a:t>được mô hình hóa như các luồng công việc được thực hiện theo </a:t>
            </a:r>
            <a:r>
              <a:rPr lang="en-GB"/>
              <a:t>quy tắc</a:t>
            </a:r>
            <a:r>
              <a:rPr lang="en-GB"/>
              <a:t> để hoàn thành giao dịch hoặc đáp ứng nhu cầu </a:t>
            </a:r>
            <a:r>
              <a:rPr lang="en-GB"/>
              <a:t>nghiệp vụ</a:t>
            </a:r>
            <a:r>
              <a:rPr lang="en-GB"/>
              <a:t>.</a:t>
            </a:r>
            <a:endParaRPr/>
          </a:p>
          <a:p>
            <a:pPr indent="-368300" lvl="1" marL="914400" rtl="0" algn="just">
              <a:spcBef>
                <a:spcPts val="0"/>
              </a:spcBef>
              <a:spcAft>
                <a:spcPts val="0"/>
              </a:spcAft>
              <a:buSzPts val="2200"/>
              <a:buChar char="○"/>
            </a:pPr>
            <a:r>
              <a:rPr lang="en-GB"/>
              <a:t>Thường được biểu diễn bằng </a:t>
            </a:r>
            <a:r>
              <a:rPr lang="en-GB"/>
              <a:t>sơ đồ</a:t>
            </a:r>
            <a:r>
              <a:rPr lang="en-GB"/>
              <a:t> </a:t>
            </a:r>
            <a:r>
              <a:rPr lang="en-GB"/>
              <a:t>BPMN hoặc sơ đồ </a:t>
            </a:r>
            <a:r>
              <a:rPr lang="en-GB"/>
              <a:t>hoạt động.</a:t>
            </a:r>
            <a:endParaRPr/>
          </a:p>
          <a:p>
            <a:pPr indent="-381000" lvl="0" marL="457200" rtl="0" algn="just">
              <a:spcBef>
                <a:spcPts val="0"/>
              </a:spcBef>
              <a:spcAft>
                <a:spcPts val="0"/>
              </a:spcAft>
              <a:buSzPts val="2400"/>
              <a:buChar char="●"/>
            </a:pPr>
            <a:r>
              <a:rPr lang="en-GB"/>
              <a:t>Quy trình nghiệp vụ cơ bản (EBP - Elementary Business Process): Nhiệm vụ được thực hiện bởi 1 người ở 1 địa điểm để đáp ứng 1 sự kiện nghiệp vụ, tạo ra giá trị có thể đo được, dẫn đến các giao dịch làm thay đổi dữ liệu của hệ thống.</a:t>
            </a:r>
            <a:endParaRPr/>
          </a:p>
        </p:txBody>
      </p:sp>
      <p:sp>
        <p:nvSpPr>
          <p:cNvPr id="85" name="Google Shape;85;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idx="4294967295" type="title"/>
          </p:nvPr>
        </p:nvSpPr>
        <p:spPr>
          <a:xfrm>
            <a:off x="311700" y="288575"/>
            <a:ext cx="8709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Mô hình hóa </a:t>
            </a:r>
            <a:r>
              <a:rPr lang="en-GB"/>
              <a:t>quy trình </a:t>
            </a:r>
            <a:r>
              <a:rPr lang="en-GB"/>
              <a:t>nghiệp vụ</a:t>
            </a:r>
            <a:endParaRPr/>
          </a:p>
        </p:txBody>
      </p:sp>
      <p:sp>
        <p:nvSpPr>
          <p:cNvPr id="91" name="Google Shape;91;p18"/>
          <p:cNvSpPr txBox="1"/>
          <p:nvPr>
            <p:ph idx="4294967295" type="body"/>
          </p:nvPr>
        </p:nvSpPr>
        <p:spPr>
          <a:xfrm>
            <a:off x="311700" y="1098425"/>
            <a:ext cx="8645400" cy="5562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Sơ đồ</a:t>
            </a:r>
            <a:r>
              <a:rPr lang="en-GB"/>
              <a:t> hoạt động </a:t>
            </a:r>
            <a:r>
              <a:rPr lang="en-GB"/>
              <a:t>là 1 sơ đồ UML thường được sử dụng để mô hình hóa quy trình nghiệp vụ</a:t>
            </a:r>
            <a:r>
              <a:rPr lang="en-GB"/>
              <a:t>:</a:t>
            </a:r>
            <a:endParaRPr/>
          </a:p>
          <a:p>
            <a:pPr indent="-368300" lvl="1" marL="914400" rtl="0" algn="l">
              <a:spcBef>
                <a:spcPts val="0"/>
              </a:spcBef>
              <a:spcAft>
                <a:spcPts val="0"/>
              </a:spcAft>
              <a:buSzPts val="2200"/>
              <a:buChar char="○"/>
            </a:pPr>
            <a:r>
              <a:rPr lang="en-GB"/>
              <a:t>Biểu diễn các hoạt động của người dùng </a:t>
            </a:r>
            <a:r>
              <a:rPr lang="en-GB"/>
              <a:t>và</a:t>
            </a:r>
            <a:r>
              <a:rPr lang="en-GB"/>
              <a:t> hệ thống, </a:t>
            </a:r>
            <a:r>
              <a:rPr lang="en-GB"/>
              <a:t>chủ thể</a:t>
            </a:r>
            <a:r>
              <a:rPr lang="en-GB"/>
              <a:t> thực hiện hoạt động, </a:t>
            </a:r>
            <a:r>
              <a:rPr lang="en-GB"/>
              <a:t>thông tin được trao đổi giữa các hoạt động </a:t>
            </a:r>
            <a:r>
              <a:rPr lang="en-GB"/>
              <a:t>và </a:t>
            </a:r>
            <a:r>
              <a:rPr lang="en-GB"/>
              <a:t>lô-gic</a:t>
            </a:r>
            <a:r>
              <a:rPr lang="en-GB"/>
              <a:t> thực hiện </a:t>
            </a:r>
            <a:r>
              <a:rPr lang="en-GB"/>
              <a:t>các</a:t>
            </a:r>
            <a:r>
              <a:rPr lang="en-GB"/>
              <a:t> hoạt động.</a:t>
            </a:r>
            <a:endParaRPr/>
          </a:p>
        </p:txBody>
      </p:sp>
      <p:sp>
        <p:nvSpPr>
          <p:cNvPr id="92" name="Google Shape;92;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idx="4294967295" type="body"/>
          </p:nvPr>
        </p:nvSpPr>
        <p:spPr>
          <a:xfrm>
            <a:off x="1122700" y="1003223"/>
            <a:ext cx="7898400" cy="53895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sz="2400"/>
              <a:t>Hành động &amp; Hoạt động</a:t>
            </a:r>
            <a:endParaRPr sz="2400"/>
          </a:p>
          <a:p>
            <a:pPr indent="-355600" lvl="1" marL="914400" rtl="0" algn="l">
              <a:spcBef>
                <a:spcPts val="0"/>
              </a:spcBef>
              <a:spcAft>
                <a:spcPts val="0"/>
              </a:spcAft>
              <a:buSzPts val="2000"/>
              <a:buChar char="○"/>
            </a:pPr>
            <a:r>
              <a:rPr lang="en-GB" sz="2000"/>
              <a:t>Công việc được thực hiện trong tiến trình nghiệp vụ</a:t>
            </a:r>
            <a:endParaRPr sz="2000"/>
          </a:p>
          <a:p>
            <a:pPr indent="-355600" lvl="1" marL="914400" rtl="0" algn="l">
              <a:spcBef>
                <a:spcPts val="0"/>
              </a:spcBef>
              <a:spcAft>
                <a:spcPts val="0"/>
              </a:spcAft>
              <a:buSzPts val="2000"/>
              <a:buChar char="○"/>
            </a:pPr>
            <a:r>
              <a:rPr lang="en-GB" sz="2000"/>
              <a:t>Được đặt tên </a:t>
            </a:r>
            <a:r>
              <a:rPr lang="en-GB" sz="2000"/>
              <a:t>theo phong cách</a:t>
            </a:r>
            <a:r>
              <a:rPr lang="en-GB" sz="2000"/>
              <a:t> động từ + danh từ (ví dụ, tra cứu thông tin khách hàng)</a:t>
            </a:r>
            <a:endParaRPr sz="2000"/>
          </a:p>
          <a:p>
            <a:pPr indent="-355600" lvl="1" marL="914400" rtl="0" algn="l">
              <a:spcBef>
                <a:spcPts val="0"/>
              </a:spcBef>
              <a:spcAft>
                <a:spcPts val="0"/>
              </a:spcAft>
              <a:buSzPts val="2000"/>
              <a:buChar char="○"/>
            </a:pPr>
            <a:r>
              <a:rPr lang="en-GB" sz="2000"/>
              <a:t>Hoạt động có thể tiếp tục được chia nhỏ, còn hành động thì không</a:t>
            </a:r>
            <a:endParaRPr sz="2000"/>
          </a:p>
          <a:p>
            <a:pPr indent="-381000" lvl="0" marL="457200" rtl="0" algn="l">
              <a:spcBef>
                <a:spcPts val="0"/>
              </a:spcBef>
              <a:spcAft>
                <a:spcPts val="0"/>
              </a:spcAft>
              <a:buSzPts val="2400"/>
              <a:buChar char="●"/>
            </a:pPr>
            <a:r>
              <a:rPr lang="en-GB" sz="2400"/>
              <a:t>Luồng điều khiển: Mô hình hóa trình tự thực hiện</a:t>
            </a:r>
            <a:endParaRPr sz="2400"/>
          </a:p>
          <a:p>
            <a:pPr indent="-381000" lvl="0" marL="457200" rtl="0" algn="l">
              <a:spcBef>
                <a:spcPts val="0"/>
              </a:spcBef>
              <a:spcAft>
                <a:spcPts val="0"/>
              </a:spcAft>
              <a:buSzPts val="2400"/>
              <a:buChar char="●"/>
            </a:pPr>
            <a:r>
              <a:rPr lang="en-GB" sz="2400"/>
              <a:t>Các nút đối tượng: Có thể được sử dụng để biểu diễn dữ liệu được tạo ra hoặc được sử dụng bởi các hoạt động</a:t>
            </a:r>
            <a:endParaRPr sz="2400"/>
          </a:p>
          <a:p>
            <a:pPr indent="-381000" lvl="0" marL="457200" rtl="0" algn="l">
              <a:spcBef>
                <a:spcPts val="0"/>
              </a:spcBef>
              <a:spcAft>
                <a:spcPts val="0"/>
              </a:spcAft>
              <a:buSzPts val="2400"/>
              <a:buChar char="●"/>
            </a:pPr>
            <a:r>
              <a:rPr lang="en-GB" sz="2400"/>
              <a:t>Luồng đối tượng: Mô hình hóa đường đi của các đối tượng</a:t>
            </a:r>
            <a:endParaRPr sz="2400"/>
          </a:p>
          <a:p>
            <a:pPr indent="-381000" lvl="0" marL="457200" rtl="0" algn="l">
              <a:spcBef>
                <a:spcPts val="0"/>
              </a:spcBef>
              <a:spcAft>
                <a:spcPts val="0"/>
              </a:spcAft>
              <a:buSzPts val="2400"/>
              <a:buChar char="●"/>
            </a:pPr>
            <a:r>
              <a:rPr lang="en-GB" sz="2400"/>
              <a:t>Đường bơi: Biểu diễn chủ thể thực hiện hoạt động</a:t>
            </a:r>
            <a:endParaRPr sz="2400"/>
          </a:p>
          <a:p>
            <a:pPr indent="-381000" lvl="0" marL="457200" rtl="0" algn="l">
              <a:spcBef>
                <a:spcPts val="0"/>
              </a:spcBef>
              <a:spcAft>
                <a:spcPts val="0"/>
              </a:spcAft>
              <a:buSzPts val="2400"/>
              <a:buChar char="●"/>
            </a:pPr>
            <a:r>
              <a:rPr lang="en-GB" sz="2400"/>
              <a:t>… Các nút điều khiển: Có 7 loại </a:t>
            </a:r>
            <a:endParaRPr sz="2400"/>
          </a:p>
        </p:txBody>
      </p:sp>
      <p:sp>
        <p:nvSpPr>
          <p:cNvPr id="98" name="Google Shape;98;p19"/>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thành phần của </a:t>
            </a:r>
            <a:r>
              <a:rPr lang="en-GB"/>
              <a:t>sơ đồ</a:t>
            </a:r>
            <a:r>
              <a:rPr lang="en-GB"/>
              <a:t> hoạt động</a:t>
            </a:r>
            <a:endParaRPr/>
          </a:p>
        </p:txBody>
      </p:sp>
      <p:sp>
        <p:nvSpPr>
          <p:cNvPr id="99" name="Google Shape;99;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0" name="Google Shape;100;p19"/>
          <p:cNvSpPr/>
          <p:nvPr/>
        </p:nvSpPr>
        <p:spPr>
          <a:xfrm>
            <a:off x="192875" y="1123496"/>
            <a:ext cx="929700" cy="330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1" name="Google Shape;101;p19"/>
          <p:cNvCxnSpPr/>
          <p:nvPr/>
        </p:nvCxnSpPr>
        <p:spPr>
          <a:xfrm>
            <a:off x="795032" y="3156342"/>
            <a:ext cx="372300" cy="0"/>
          </a:xfrm>
          <a:prstGeom prst="straightConnector1">
            <a:avLst/>
          </a:prstGeom>
          <a:noFill/>
          <a:ln cap="flat" cmpd="sng" w="9525">
            <a:solidFill>
              <a:schemeClr val="dk2"/>
            </a:solidFill>
            <a:prstDash val="solid"/>
            <a:round/>
            <a:headEnd len="med" w="med" type="none"/>
            <a:tailEnd len="med" w="med" type="none"/>
          </a:ln>
        </p:spPr>
      </p:cxnSp>
      <p:cxnSp>
        <p:nvCxnSpPr>
          <p:cNvPr id="102" name="Google Shape;102;p19"/>
          <p:cNvCxnSpPr/>
          <p:nvPr/>
        </p:nvCxnSpPr>
        <p:spPr>
          <a:xfrm rot="10800000">
            <a:off x="1167357" y="2932842"/>
            <a:ext cx="0" cy="223500"/>
          </a:xfrm>
          <a:prstGeom prst="straightConnector1">
            <a:avLst/>
          </a:prstGeom>
          <a:noFill/>
          <a:ln cap="flat" cmpd="sng" w="9525">
            <a:solidFill>
              <a:schemeClr val="dk2"/>
            </a:solidFill>
            <a:prstDash val="solid"/>
            <a:round/>
            <a:headEnd len="med" w="med" type="none"/>
            <a:tailEnd len="med" w="med" type="triangle"/>
          </a:ln>
        </p:spPr>
      </p:cxnSp>
      <p:sp>
        <p:nvSpPr>
          <p:cNvPr id="103" name="Google Shape;103;p19"/>
          <p:cNvSpPr/>
          <p:nvPr/>
        </p:nvSpPr>
        <p:spPr>
          <a:xfrm>
            <a:off x="662000" y="3406054"/>
            <a:ext cx="460500" cy="33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 name="Google Shape;104;p19"/>
          <p:cNvCxnSpPr>
            <a:endCxn id="103" idx="1"/>
          </p:cNvCxnSpPr>
          <p:nvPr/>
        </p:nvCxnSpPr>
        <p:spPr>
          <a:xfrm>
            <a:off x="319400" y="3562504"/>
            <a:ext cx="342600" cy="9000"/>
          </a:xfrm>
          <a:prstGeom prst="straightConnector1">
            <a:avLst/>
          </a:prstGeom>
          <a:noFill/>
          <a:ln cap="flat" cmpd="sng" w="9525">
            <a:solidFill>
              <a:schemeClr val="dk2"/>
            </a:solidFill>
            <a:prstDash val="solid"/>
            <a:round/>
            <a:headEnd len="med" w="med" type="none"/>
            <a:tailEnd len="med" w="med" type="triangle"/>
          </a:ln>
        </p:spPr>
      </p:cxnSp>
      <p:cxnSp>
        <p:nvCxnSpPr>
          <p:cNvPr id="105" name="Google Shape;105;p19"/>
          <p:cNvCxnSpPr>
            <a:stCxn id="103" idx="2"/>
          </p:cNvCxnSpPr>
          <p:nvPr/>
        </p:nvCxnSpPr>
        <p:spPr>
          <a:xfrm>
            <a:off x="892250" y="3736954"/>
            <a:ext cx="8100" cy="175500"/>
          </a:xfrm>
          <a:prstGeom prst="straightConnector1">
            <a:avLst/>
          </a:prstGeom>
          <a:noFill/>
          <a:ln cap="flat" cmpd="sng" w="9525">
            <a:solidFill>
              <a:schemeClr val="dk2"/>
            </a:solidFill>
            <a:prstDash val="solid"/>
            <a:round/>
            <a:headEnd len="med" w="med" type="none"/>
            <a:tailEnd len="med" w="med" type="triangle"/>
          </a:ln>
        </p:spPr>
      </p:cxnSp>
      <p:cxnSp>
        <p:nvCxnSpPr>
          <p:cNvPr id="106" name="Google Shape;106;p19"/>
          <p:cNvCxnSpPr/>
          <p:nvPr/>
        </p:nvCxnSpPr>
        <p:spPr>
          <a:xfrm>
            <a:off x="738200" y="3662597"/>
            <a:ext cx="297900" cy="0"/>
          </a:xfrm>
          <a:prstGeom prst="straightConnector1">
            <a:avLst/>
          </a:prstGeom>
          <a:noFill/>
          <a:ln cap="flat" cmpd="sng" w="9525">
            <a:solidFill>
              <a:schemeClr val="dk2"/>
            </a:solidFill>
            <a:prstDash val="solid"/>
            <a:round/>
            <a:headEnd len="med" w="med" type="none"/>
            <a:tailEnd len="med" w="med" type="none"/>
          </a:ln>
        </p:spPr>
      </p:cxnSp>
      <p:cxnSp>
        <p:nvCxnSpPr>
          <p:cNvPr id="107" name="Google Shape;107;p19"/>
          <p:cNvCxnSpPr/>
          <p:nvPr/>
        </p:nvCxnSpPr>
        <p:spPr>
          <a:xfrm>
            <a:off x="795032" y="4451742"/>
            <a:ext cx="372300" cy="0"/>
          </a:xfrm>
          <a:prstGeom prst="straightConnector1">
            <a:avLst/>
          </a:prstGeom>
          <a:noFill/>
          <a:ln cap="flat" cmpd="sng" w="9525">
            <a:solidFill>
              <a:schemeClr val="dk2"/>
            </a:solidFill>
            <a:prstDash val="solid"/>
            <a:round/>
            <a:headEnd len="med" w="med" type="none"/>
            <a:tailEnd len="med" w="med" type="none"/>
          </a:ln>
        </p:spPr>
      </p:cxnSp>
      <p:cxnSp>
        <p:nvCxnSpPr>
          <p:cNvPr id="108" name="Google Shape;108;p19"/>
          <p:cNvCxnSpPr/>
          <p:nvPr/>
        </p:nvCxnSpPr>
        <p:spPr>
          <a:xfrm rot="10800000">
            <a:off x="1167357" y="4228242"/>
            <a:ext cx="0" cy="223500"/>
          </a:xfrm>
          <a:prstGeom prst="straightConnector1">
            <a:avLst/>
          </a:prstGeom>
          <a:noFill/>
          <a:ln cap="flat" cmpd="sng" w="9525">
            <a:solidFill>
              <a:schemeClr val="dk2"/>
            </a:solidFill>
            <a:prstDash val="solid"/>
            <a:round/>
            <a:headEnd len="med" w="med" type="none"/>
            <a:tailEnd len="med" w="med" type="triangle"/>
          </a:ln>
        </p:spPr>
      </p:cxnSp>
      <p:sp>
        <p:nvSpPr>
          <p:cNvPr id="109" name="Google Shape;109;p19"/>
          <p:cNvSpPr/>
          <p:nvPr/>
        </p:nvSpPr>
        <p:spPr>
          <a:xfrm>
            <a:off x="1107607" y="4165554"/>
            <a:ext cx="98100" cy="7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9"/>
          <p:cNvSpPr/>
          <p:nvPr/>
        </p:nvSpPr>
        <p:spPr>
          <a:xfrm>
            <a:off x="726607" y="4409047"/>
            <a:ext cx="98100" cy="7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9"/>
          <p:cNvSpPr/>
          <p:nvPr/>
        </p:nvSpPr>
        <p:spPr>
          <a:xfrm>
            <a:off x="341739" y="4669169"/>
            <a:ext cx="238500" cy="27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2" name="Google Shape;112;p19"/>
          <p:cNvCxnSpPr/>
          <p:nvPr/>
        </p:nvCxnSpPr>
        <p:spPr>
          <a:xfrm>
            <a:off x="520559" y="4698954"/>
            <a:ext cx="0" cy="201000"/>
          </a:xfrm>
          <a:prstGeom prst="straightConnector1">
            <a:avLst/>
          </a:prstGeom>
          <a:noFill/>
          <a:ln cap="flat" cmpd="sng" w="9525">
            <a:solidFill>
              <a:schemeClr val="dk2"/>
            </a:solidFill>
            <a:prstDash val="solid"/>
            <a:round/>
            <a:headEnd len="med" w="med" type="none"/>
            <a:tailEnd len="med" w="med" type="none"/>
          </a:ln>
        </p:spPr>
      </p:cxnSp>
      <p:cxnSp>
        <p:nvCxnSpPr>
          <p:cNvPr id="113" name="Google Shape;113;p19"/>
          <p:cNvCxnSpPr/>
          <p:nvPr/>
        </p:nvCxnSpPr>
        <p:spPr>
          <a:xfrm>
            <a:off x="576157" y="4942447"/>
            <a:ext cx="469200" cy="7500"/>
          </a:xfrm>
          <a:prstGeom prst="straightConnector1">
            <a:avLst/>
          </a:prstGeom>
          <a:noFill/>
          <a:ln cap="flat" cmpd="sng" w="9525">
            <a:solidFill>
              <a:schemeClr val="dk2"/>
            </a:solidFill>
            <a:prstDash val="solid"/>
            <a:round/>
            <a:headEnd len="med" w="med" type="none"/>
            <a:tailEnd len="med" w="med" type="none"/>
          </a:ln>
        </p:spPr>
      </p:cxnSp>
      <p:cxnSp>
        <p:nvCxnSpPr>
          <p:cNvPr id="114" name="Google Shape;114;p19"/>
          <p:cNvCxnSpPr/>
          <p:nvPr/>
        </p:nvCxnSpPr>
        <p:spPr>
          <a:xfrm>
            <a:off x="576157" y="4669169"/>
            <a:ext cx="469200" cy="7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p:nvPr/>
        </p:nvSpPr>
        <p:spPr>
          <a:xfrm>
            <a:off x="364136" y="1648200"/>
            <a:ext cx="312900" cy="3129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0"/>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nút điều khiển</a:t>
            </a:r>
            <a:endParaRPr/>
          </a:p>
        </p:txBody>
      </p:sp>
      <p:sp>
        <p:nvSpPr>
          <p:cNvPr id="121" name="Google Shape;121;p20"/>
          <p:cNvSpPr txBox="1"/>
          <p:nvPr>
            <p:ph idx="4294967295" type="body"/>
          </p:nvPr>
        </p:nvSpPr>
        <p:spPr>
          <a:xfrm>
            <a:off x="838375" y="1086800"/>
            <a:ext cx="8182800" cy="5544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b="1" lang="en-GB" sz="2400"/>
              <a:t>Nút khởi đầu:</a:t>
            </a:r>
            <a:r>
              <a:rPr lang="en-GB" sz="2400"/>
              <a:t> Điểm bắt đầu </a:t>
            </a:r>
            <a:r>
              <a:rPr lang="en-GB" sz="2400"/>
              <a:t>luồng</a:t>
            </a:r>
            <a:r>
              <a:rPr lang="en-GB" sz="2400"/>
              <a:t> hoạt động</a:t>
            </a:r>
            <a:endParaRPr sz="2400"/>
          </a:p>
          <a:p>
            <a:pPr indent="-381000" lvl="0" marL="457200" rtl="0" algn="l">
              <a:spcBef>
                <a:spcPts val="0"/>
              </a:spcBef>
              <a:spcAft>
                <a:spcPts val="0"/>
              </a:spcAft>
              <a:buSzPts val="2400"/>
              <a:buChar char="●"/>
            </a:pPr>
            <a:r>
              <a:rPr b="1" lang="en-GB" sz="2400"/>
              <a:t>Nút kết thúc:</a:t>
            </a:r>
            <a:r>
              <a:rPr lang="en-GB" sz="2400"/>
              <a:t> </a:t>
            </a:r>
            <a:r>
              <a:rPr lang="en-GB" sz="2400"/>
              <a:t>Điểm kết thúc luồng, dừng </a:t>
            </a:r>
            <a:r>
              <a:rPr lang="en-GB" sz="2400"/>
              <a:t>tất cả các tiến trình</a:t>
            </a:r>
            <a:endParaRPr sz="2400"/>
          </a:p>
          <a:p>
            <a:pPr indent="-381000" lvl="0" marL="457200" rtl="0" algn="l">
              <a:spcBef>
                <a:spcPts val="0"/>
              </a:spcBef>
              <a:spcAft>
                <a:spcPts val="0"/>
              </a:spcAft>
              <a:buSzPts val="2400"/>
              <a:buChar char="●"/>
            </a:pPr>
            <a:r>
              <a:rPr b="1" lang="en-GB" sz="2400"/>
              <a:t>Nút kết thúc nhánh:</a:t>
            </a:r>
            <a:r>
              <a:rPr lang="en-GB" sz="2400"/>
              <a:t> Kết thúc một nhánh, các nhánh khác </a:t>
            </a:r>
            <a:r>
              <a:rPr lang="en-GB" sz="2400"/>
              <a:t>vẫn có thể </a:t>
            </a:r>
            <a:r>
              <a:rPr lang="en-GB" sz="2400"/>
              <a:t>tiếp tục thực hiện</a:t>
            </a:r>
            <a:endParaRPr sz="2400"/>
          </a:p>
          <a:p>
            <a:pPr indent="-381000" lvl="0" marL="457200" rtl="0" algn="l">
              <a:spcBef>
                <a:spcPts val="0"/>
              </a:spcBef>
              <a:spcAft>
                <a:spcPts val="0"/>
              </a:spcAft>
              <a:buSzPts val="2400"/>
              <a:buChar char="●"/>
            </a:pPr>
            <a:r>
              <a:rPr b="1" lang="en-GB" sz="2400"/>
              <a:t>Nút quyết định:</a:t>
            </a:r>
            <a:r>
              <a:rPr lang="en-GB" sz="2400"/>
              <a:t> Biểu diễn một phép thử để xác định sẽ tiếp tục theo đường dẫn nào dựa trên một điều kiện bảo vệ, </a:t>
            </a:r>
            <a:r>
              <a:rPr lang="en-GB" sz="2400"/>
              <a:t>các nhánh loại trừ lẫn nhau.</a:t>
            </a:r>
            <a:endParaRPr sz="2400"/>
          </a:p>
          <a:p>
            <a:pPr indent="-381000" lvl="0" marL="457200" rtl="0" algn="l">
              <a:spcBef>
                <a:spcPts val="0"/>
              </a:spcBef>
              <a:spcAft>
                <a:spcPts val="0"/>
              </a:spcAft>
              <a:buSzPts val="2400"/>
              <a:buChar char="●"/>
            </a:pPr>
            <a:r>
              <a:rPr b="1" lang="en-GB" sz="2400"/>
              <a:t>Nút hợp nhất:</a:t>
            </a:r>
            <a:r>
              <a:rPr lang="en-GB" sz="2400"/>
              <a:t> Kết hợp các nhánh </a:t>
            </a:r>
            <a:r>
              <a:rPr lang="en-GB" sz="2400"/>
              <a:t>của nút quyết định (các nhánh loại trừ).</a:t>
            </a:r>
            <a:endParaRPr sz="2400"/>
          </a:p>
          <a:p>
            <a:pPr indent="-381000" lvl="0" marL="457200" rtl="0" algn="l">
              <a:spcBef>
                <a:spcPts val="0"/>
              </a:spcBef>
              <a:spcAft>
                <a:spcPts val="0"/>
              </a:spcAft>
              <a:buSzPts val="2400"/>
              <a:buChar char="●"/>
            </a:pPr>
            <a:r>
              <a:rPr b="1" lang="en-GB" sz="2400"/>
              <a:t>Thanh chia đồng bộ:</a:t>
            </a:r>
            <a:r>
              <a:rPr lang="en-GB" sz="2400"/>
              <a:t> </a:t>
            </a:r>
            <a:r>
              <a:rPr lang="en-GB" sz="2400"/>
              <a:t>Tách</a:t>
            </a:r>
            <a:r>
              <a:rPr lang="en-GB" sz="2400"/>
              <a:t> một tiến trình thành nhiều đường dẫn/tiến trình </a:t>
            </a:r>
            <a:r>
              <a:rPr lang="en-GB" sz="2400"/>
              <a:t>được </a:t>
            </a:r>
            <a:r>
              <a:rPr lang="en-GB" sz="2400"/>
              <a:t>thực hiện song song</a:t>
            </a:r>
            <a:endParaRPr sz="2400"/>
          </a:p>
          <a:p>
            <a:pPr indent="-381000" lvl="0" marL="457200" rtl="0" algn="l">
              <a:spcBef>
                <a:spcPts val="0"/>
              </a:spcBef>
              <a:spcAft>
                <a:spcPts val="0"/>
              </a:spcAft>
              <a:buSzPts val="2400"/>
              <a:buChar char="●"/>
            </a:pPr>
            <a:r>
              <a:rPr b="1" lang="en-GB" sz="2400"/>
              <a:t>Thanh hợp nhất đồng độ:</a:t>
            </a:r>
            <a:r>
              <a:rPr lang="en-GB" sz="2400"/>
              <a:t> Tái hợp các tiến trình </a:t>
            </a:r>
            <a:r>
              <a:rPr lang="en-GB" sz="2400"/>
              <a:t>của thanh chia đồng bộ (được thực hiện song song).</a:t>
            </a:r>
            <a:endParaRPr sz="2400"/>
          </a:p>
        </p:txBody>
      </p:sp>
      <p:sp>
        <p:nvSpPr>
          <p:cNvPr id="122" name="Google Shape;122;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3" name="Google Shape;123;p20"/>
          <p:cNvSpPr/>
          <p:nvPr/>
        </p:nvSpPr>
        <p:spPr>
          <a:xfrm>
            <a:off x="416251" y="1283351"/>
            <a:ext cx="215100" cy="215100"/>
          </a:xfrm>
          <a:prstGeom prst="ellipse">
            <a:avLst/>
          </a:prstGeom>
          <a:solidFill>
            <a:srgbClr val="9E9E9E"/>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0"/>
          <p:cNvSpPr/>
          <p:nvPr/>
        </p:nvSpPr>
        <p:spPr>
          <a:xfrm>
            <a:off x="416251" y="1693850"/>
            <a:ext cx="215100" cy="215100"/>
          </a:xfrm>
          <a:prstGeom prst="ellipse">
            <a:avLst/>
          </a:prstGeom>
          <a:solidFill>
            <a:srgbClr val="9E9E9E"/>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0"/>
          <p:cNvSpPr/>
          <p:nvPr/>
        </p:nvSpPr>
        <p:spPr>
          <a:xfrm>
            <a:off x="416251" y="2099212"/>
            <a:ext cx="215100" cy="215100"/>
          </a:xfrm>
          <a:prstGeom prst="ellipse">
            <a:avLst/>
          </a:prstGeom>
          <a:no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 name="Google Shape;126;p20"/>
          <p:cNvCxnSpPr>
            <a:stCxn id="125" idx="1"/>
            <a:endCxn id="125" idx="5"/>
          </p:cNvCxnSpPr>
          <p:nvPr/>
        </p:nvCxnSpPr>
        <p:spPr>
          <a:xfrm>
            <a:off x="447752" y="2130713"/>
            <a:ext cx="152100" cy="152100"/>
          </a:xfrm>
          <a:prstGeom prst="straightConnector1">
            <a:avLst/>
          </a:prstGeom>
          <a:noFill/>
          <a:ln cap="flat" cmpd="sng" w="9525">
            <a:solidFill>
              <a:schemeClr val="dk2"/>
            </a:solidFill>
            <a:prstDash val="solid"/>
            <a:round/>
            <a:headEnd len="med" w="med" type="none"/>
            <a:tailEnd len="med" w="med" type="none"/>
          </a:ln>
        </p:spPr>
      </p:cxnSp>
      <p:cxnSp>
        <p:nvCxnSpPr>
          <p:cNvPr id="127" name="Google Shape;127;p20"/>
          <p:cNvCxnSpPr>
            <a:stCxn id="125" idx="7"/>
            <a:endCxn id="125" idx="3"/>
          </p:cNvCxnSpPr>
          <p:nvPr/>
        </p:nvCxnSpPr>
        <p:spPr>
          <a:xfrm flipH="1">
            <a:off x="447750" y="2130713"/>
            <a:ext cx="152100" cy="152100"/>
          </a:xfrm>
          <a:prstGeom prst="straightConnector1">
            <a:avLst/>
          </a:prstGeom>
          <a:noFill/>
          <a:ln cap="flat" cmpd="sng" w="9525">
            <a:solidFill>
              <a:schemeClr val="dk2"/>
            </a:solidFill>
            <a:prstDash val="solid"/>
            <a:round/>
            <a:headEnd len="med" w="med" type="none"/>
            <a:tailEnd len="med" w="med" type="none"/>
          </a:ln>
        </p:spPr>
      </p:cxnSp>
      <p:sp>
        <p:nvSpPr>
          <p:cNvPr id="128" name="Google Shape;128;p20"/>
          <p:cNvSpPr/>
          <p:nvPr/>
        </p:nvSpPr>
        <p:spPr>
          <a:xfrm>
            <a:off x="379025" y="2869400"/>
            <a:ext cx="312900" cy="3129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9" name="Google Shape;129;p20"/>
          <p:cNvCxnSpPr>
            <a:endCxn id="128" idx="1"/>
          </p:cNvCxnSpPr>
          <p:nvPr/>
        </p:nvCxnSpPr>
        <p:spPr>
          <a:xfrm flipH="1" rot="10800000">
            <a:off x="140825" y="3025850"/>
            <a:ext cx="238200" cy="7200"/>
          </a:xfrm>
          <a:prstGeom prst="straightConnector1">
            <a:avLst/>
          </a:prstGeom>
          <a:noFill/>
          <a:ln cap="flat" cmpd="sng" w="9525">
            <a:solidFill>
              <a:schemeClr val="dk2"/>
            </a:solidFill>
            <a:prstDash val="solid"/>
            <a:round/>
            <a:headEnd len="med" w="med" type="none"/>
            <a:tailEnd len="med" w="med" type="triangle"/>
          </a:ln>
        </p:spPr>
      </p:cxnSp>
      <p:cxnSp>
        <p:nvCxnSpPr>
          <p:cNvPr id="130" name="Google Shape;130;p20"/>
          <p:cNvCxnSpPr/>
          <p:nvPr/>
        </p:nvCxnSpPr>
        <p:spPr>
          <a:xfrm flipH="1" rot="10800000">
            <a:off x="617318" y="2772553"/>
            <a:ext cx="171300" cy="171300"/>
          </a:xfrm>
          <a:prstGeom prst="straightConnector1">
            <a:avLst/>
          </a:prstGeom>
          <a:noFill/>
          <a:ln cap="flat" cmpd="sng" w="9525">
            <a:solidFill>
              <a:schemeClr val="dk2"/>
            </a:solidFill>
            <a:prstDash val="solid"/>
            <a:round/>
            <a:headEnd len="med" w="med" type="none"/>
            <a:tailEnd len="med" w="med" type="triangle"/>
          </a:ln>
        </p:spPr>
      </p:cxnSp>
      <p:cxnSp>
        <p:nvCxnSpPr>
          <p:cNvPr id="131" name="Google Shape;131;p20"/>
          <p:cNvCxnSpPr/>
          <p:nvPr/>
        </p:nvCxnSpPr>
        <p:spPr>
          <a:xfrm flipH="1" rot="-5400000">
            <a:off x="617318" y="3107138"/>
            <a:ext cx="171300" cy="171300"/>
          </a:xfrm>
          <a:prstGeom prst="straightConnector1">
            <a:avLst/>
          </a:prstGeom>
          <a:noFill/>
          <a:ln cap="flat" cmpd="sng" w="9525">
            <a:solidFill>
              <a:schemeClr val="dk2"/>
            </a:solidFill>
            <a:prstDash val="solid"/>
            <a:round/>
            <a:headEnd len="med" w="med" type="none"/>
            <a:tailEnd len="med" w="med" type="triangle"/>
          </a:ln>
        </p:spPr>
      </p:cxnSp>
      <p:sp>
        <p:nvSpPr>
          <p:cNvPr id="132" name="Google Shape;132;p20"/>
          <p:cNvSpPr/>
          <p:nvPr/>
        </p:nvSpPr>
        <p:spPr>
          <a:xfrm>
            <a:off x="371579" y="4148170"/>
            <a:ext cx="312900" cy="3129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3" name="Google Shape;133;p20"/>
          <p:cNvCxnSpPr/>
          <p:nvPr/>
        </p:nvCxnSpPr>
        <p:spPr>
          <a:xfrm flipH="1" rot="10800000">
            <a:off x="674225" y="4304620"/>
            <a:ext cx="238200" cy="7200"/>
          </a:xfrm>
          <a:prstGeom prst="straightConnector1">
            <a:avLst/>
          </a:prstGeom>
          <a:noFill/>
          <a:ln cap="flat" cmpd="sng" w="9525">
            <a:solidFill>
              <a:schemeClr val="dk2"/>
            </a:solidFill>
            <a:prstDash val="solid"/>
            <a:round/>
            <a:headEnd len="med" w="med" type="none"/>
            <a:tailEnd len="med" w="med" type="triangle"/>
          </a:ln>
        </p:spPr>
      </p:cxnSp>
      <p:cxnSp>
        <p:nvCxnSpPr>
          <p:cNvPr id="134" name="Google Shape;134;p20"/>
          <p:cNvCxnSpPr/>
          <p:nvPr/>
        </p:nvCxnSpPr>
        <p:spPr>
          <a:xfrm flipH="1" rot="10800000">
            <a:off x="282732" y="4378461"/>
            <a:ext cx="171300" cy="171300"/>
          </a:xfrm>
          <a:prstGeom prst="straightConnector1">
            <a:avLst/>
          </a:prstGeom>
          <a:noFill/>
          <a:ln cap="flat" cmpd="sng" w="9525">
            <a:solidFill>
              <a:schemeClr val="dk2"/>
            </a:solidFill>
            <a:prstDash val="solid"/>
            <a:round/>
            <a:headEnd len="med" w="med" type="none"/>
            <a:tailEnd len="med" w="med" type="triangle"/>
          </a:ln>
        </p:spPr>
      </p:cxnSp>
      <p:cxnSp>
        <p:nvCxnSpPr>
          <p:cNvPr id="135" name="Google Shape;135;p20"/>
          <p:cNvCxnSpPr/>
          <p:nvPr/>
        </p:nvCxnSpPr>
        <p:spPr>
          <a:xfrm flipH="1" rot="-5400000">
            <a:off x="282732" y="4058769"/>
            <a:ext cx="171300" cy="171300"/>
          </a:xfrm>
          <a:prstGeom prst="straightConnector1">
            <a:avLst/>
          </a:prstGeom>
          <a:noFill/>
          <a:ln cap="flat" cmpd="sng" w="9525">
            <a:solidFill>
              <a:schemeClr val="dk2"/>
            </a:solidFill>
            <a:prstDash val="solid"/>
            <a:round/>
            <a:headEnd len="med" w="med" type="none"/>
            <a:tailEnd len="med" w="med" type="triangle"/>
          </a:ln>
        </p:spPr>
      </p:cxnSp>
      <p:cxnSp>
        <p:nvCxnSpPr>
          <p:cNvPr id="136" name="Google Shape;136;p20"/>
          <p:cNvCxnSpPr/>
          <p:nvPr/>
        </p:nvCxnSpPr>
        <p:spPr>
          <a:xfrm>
            <a:off x="542850" y="5001516"/>
            <a:ext cx="0" cy="320100"/>
          </a:xfrm>
          <a:prstGeom prst="straightConnector1">
            <a:avLst/>
          </a:prstGeom>
          <a:noFill/>
          <a:ln cap="flat" cmpd="sng" w="38100">
            <a:solidFill>
              <a:schemeClr val="dk2"/>
            </a:solidFill>
            <a:prstDash val="solid"/>
            <a:round/>
            <a:headEnd len="med" w="med" type="none"/>
            <a:tailEnd len="med" w="med" type="none"/>
          </a:ln>
        </p:spPr>
      </p:cxnSp>
      <p:cxnSp>
        <p:nvCxnSpPr>
          <p:cNvPr id="137" name="Google Shape;137;p20"/>
          <p:cNvCxnSpPr/>
          <p:nvPr/>
        </p:nvCxnSpPr>
        <p:spPr>
          <a:xfrm flipH="1" rot="10800000">
            <a:off x="565194" y="4949093"/>
            <a:ext cx="171300" cy="171300"/>
          </a:xfrm>
          <a:prstGeom prst="straightConnector1">
            <a:avLst/>
          </a:prstGeom>
          <a:noFill/>
          <a:ln cap="flat" cmpd="sng" w="9525">
            <a:solidFill>
              <a:schemeClr val="dk2"/>
            </a:solidFill>
            <a:prstDash val="solid"/>
            <a:round/>
            <a:headEnd len="med" w="med" type="none"/>
            <a:tailEnd len="med" w="med" type="triangle"/>
          </a:ln>
        </p:spPr>
      </p:cxnSp>
      <p:cxnSp>
        <p:nvCxnSpPr>
          <p:cNvPr id="138" name="Google Shape;138;p20"/>
          <p:cNvCxnSpPr/>
          <p:nvPr/>
        </p:nvCxnSpPr>
        <p:spPr>
          <a:xfrm flipH="1" rot="-5400000">
            <a:off x="565194" y="5185139"/>
            <a:ext cx="171300" cy="171300"/>
          </a:xfrm>
          <a:prstGeom prst="straightConnector1">
            <a:avLst/>
          </a:prstGeom>
          <a:noFill/>
          <a:ln cap="flat" cmpd="sng" w="9525">
            <a:solidFill>
              <a:schemeClr val="dk2"/>
            </a:solidFill>
            <a:prstDash val="solid"/>
            <a:round/>
            <a:headEnd len="med" w="med" type="none"/>
            <a:tailEnd len="med" w="med" type="triangle"/>
          </a:ln>
        </p:spPr>
      </p:cxnSp>
      <p:cxnSp>
        <p:nvCxnSpPr>
          <p:cNvPr id="139" name="Google Shape;139;p20"/>
          <p:cNvCxnSpPr/>
          <p:nvPr/>
        </p:nvCxnSpPr>
        <p:spPr>
          <a:xfrm flipH="1" rot="10800000">
            <a:off x="293150" y="5150416"/>
            <a:ext cx="238200" cy="7200"/>
          </a:xfrm>
          <a:prstGeom prst="straightConnector1">
            <a:avLst/>
          </a:prstGeom>
          <a:noFill/>
          <a:ln cap="flat" cmpd="sng" w="9525">
            <a:solidFill>
              <a:schemeClr val="dk2"/>
            </a:solidFill>
            <a:prstDash val="solid"/>
            <a:round/>
            <a:headEnd len="med" w="med" type="none"/>
            <a:tailEnd len="med" w="med" type="triangle"/>
          </a:ln>
        </p:spPr>
      </p:cxnSp>
      <p:cxnSp>
        <p:nvCxnSpPr>
          <p:cNvPr id="140" name="Google Shape;140;p20"/>
          <p:cNvCxnSpPr/>
          <p:nvPr/>
        </p:nvCxnSpPr>
        <p:spPr>
          <a:xfrm>
            <a:off x="542850" y="5839716"/>
            <a:ext cx="0" cy="320100"/>
          </a:xfrm>
          <a:prstGeom prst="straightConnector1">
            <a:avLst/>
          </a:prstGeom>
          <a:noFill/>
          <a:ln cap="flat" cmpd="sng" w="38100">
            <a:solidFill>
              <a:schemeClr val="dk2"/>
            </a:solidFill>
            <a:prstDash val="solid"/>
            <a:round/>
            <a:headEnd len="med" w="med" type="none"/>
            <a:tailEnd len="med" w="med" type="none"/>
          </a:ln>
        </p:spPr>
      </p:cxnSp>
      <p:cxnSp>
        <p:nvCxnSpPr>
          <p:cNvPr id="141" name="Google Shape;141;p20"/>
          <p:cNvCxnSpPr/>
          <p:nvPr/>
        </p:nvCxnSpPr>
        <p:spPr>
          <a:xfrm flipH="1" rot="10800000">
            <a:off x="336594" y="6015893"/>
            <a:ext cx="171300" cy="171300"/>
          </a:xfrm>
          <a:prstGeom prst="straightConnector1">
            <a:avLst/>
          </a:prstGeom>
          <a:noFill/>
          <a:ln cap="flat" cmpd="sng" w="9525">
            <a:solidFill>
              <a:schemeClr val="dk2"/>
            </a:solidFill>
            <a:prstDash val="solid"/>
            <a:round/>
            <a:headEnd len="med" w="med" type="none"/>
            <a:tailEnd len="med" w="med" type="triangle"/>
          </a:ln>
        </p:spPr>
      </p:cxnSp>
      <p:cxnSp>
        <p:nvCxnSpPr>
          <p:cNvPr id="142" name="Google Shape;142;p20"/>
          <p:cNvCxnSpPr/>
          <p:nvPr/>
        </p:nvCxnSpPr>
        <p:spPr>
          <a:xfrm flipH="1" rot="-5400000">
            <a:off x="336594" y="5794739"/>
            <a:ext cx="171300" cy="171300"/>
          </a:xfrm>
          <a:prstGeom prst="straightConnector1">
            <a:avLst/>
          </a:prstGeom>
          <a:noFill/>
          <a:ln cap="flat" cmpd="sng" w="9525">
            <a:solidFill>
              <a:schemeClr val="dk2"/>
            </a:solidFill>
            <a:prstDash val="solid"/>
            <a:round/>
            <a:headEnd len="med" w="med" type="none"/>
            <a:tailEnd len="med" w="med" type="triangle"/>
          </a:ln>
        </p:spPr>
      </p:cxnSp>
      <p:cxnSp>
        <p:nvCxnSpPr>
          <p:cNvPr id="143" name="Google Shape;143;p20"/>
          <p:cNvCxnSpPr/>
          <p:nvPr/>
        </p:nvCxnSpPr>
        <p:spPr>
          <a:xfrm flipH="1" rot="10800000">
            <a:off x="568165" y="5988616"/>
            <a:ext cx="238200" cy="7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p:nvPr/>
        </p:nvSpPr>
        <p:spPr>
          <a:xfrm>
            <a:off x="3498700" y="133800"/>
            <a:ext cx="5171400" cy="6504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9" name="Google Shape;149;p21"/>
          <p:cNvPicPr preferRelativeResize="0"/>
          <p:nvPr/>
        </p:nvPicPr>
        <p:blipFill>
          <a:blip r:embed="rId3">
            <a:alphaModFix/>
          </a:blip>
          <a:stretch>
            <a:fillRect/>
          </a:stretch>
        </p:blipFill>
        <p:spPr>
          <a:xfrm>
            <a:off x="4005225" y="842850"/>
            <a:ext cx="4483950" cy="5732075"/>
          </a:xfrm>
          <a:prstGeom prst="rect">
            <a:avLst/>
          </a:prstGeom>
          <a:noFill/>
          <a:ln>
            <a:noFill/>
          </a:ln>
        </p:spPr>
      </p:pic>
      <p:sp>
        <p:nvSpPr>
          <p:cNvPr id="150" name="Google Shape;150;p21"/>
          <p:cNvSpPr txBox="1"/>
          <p:nvPr>
            <p:ph idx="4294967295" type="title"/>
          </p:nvPr>
        </p:nvSpPr>
        <p:spPr>
          <a:xfrm>
            <a:off x="311700" y="220925"/>
            <a:ext cx="5755500" cy="52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2.1. </a:t>
            </a:r>
            <a:r>
              <a:rPr lang="en-GB"/>
              <a:t>Sơ đồ</a:t>
            </a:r>
            <a:r>
              <a:rPr lang="en-GB"/>
              <a:t> hoạt động</a:t>
            </a:r>
            <a:endParaRPr/>
          </a:p>
        </p:txBody>
      </p:sp>
      <p:sp>
        <p:nvSpPr>
          <p:cNvPr id="151" name="Google Shape;151;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2" name="Google Shape;152;p21"/>
          <p:cNvSpPr txBox="1"/>
          <p:nvPr/>
        </p:nvSpPr>
        <p:spPr>
          <a:xfrm>
            <a:off x="1387775" y="1419600"/>
            <a:ext cx="9531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Bắt đầu</a:t>
            </a:r>
            <a:endParaRPr sz="1800">
              <a:latin typeface="Times New Roman"/>
              <a:ea typeface="Times New Roman"/>
              <a:cs typeface="Times New Roman"/>
              <a:sym typeface="Times New Roman"/>
            </a:endParaRPr>
          </a:p>
        </p:txBody>
      </p:sp>
      <p:cxnSp>
        <p:nvCxnSpPr>
          <p:cNvPr id="153" name="Google Shape;153;p21"/>
          <p:cNvCxnSpPr>
            <a:stCxn id="152" idx="3"/>
          </p:cNvCxnSpPr>
          <p:nvPr/>
        </p:nvCxnSpPr>
        <p:spPr>
          <a:xfrm flipH="1" rot="10800000">
            <a:off x="2340875" y="986850"/>
            <a:ext cx="3920700" cy="663600"/>
          </a:xfrm>
          <a:prstGeom prst="straightConnector1">
            <a:avLst/>
          </a:prstGeom>
          <a:noFill/>
          <a:ln cap="flat" cmpd="sng" w="9525">
            <a:solidFill>
              <a:schemeClr val="dk2"/>
            </a:solidFill>
            <a:prstDash val="dash"/>
            <a:round/>
            <a:headEnd len="med" w="med" type="none"/>
            <a:tailEnd len="med" w="med" type="triangle"/>
          </a:ln>
        </p:spPr>
      </p:cxnSp>
      <p:sp>
        <p:nvSpPr>
          <p:cNvPr id="154" name="Google Shape;154;p21"/>
          <p:cNvSpPr txBox="1"/>
          <p:nvPr/>
        </p:nvSpPr>
        <p:spPr>
          <a:xfrm>
            <a:off x="1387775" y="2029200"/>
            <a:ext cx="13965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Hoạt động</a:t>
            </a:r>
            <a:endParaRPr sz="1800">
              <a:latin typeface="Times New Roman"/>
              <a:ea typeface="Times New Roman"/>
              <a:cs typeface="Times New Roman"/>
              <a:sym typeface="Times New Roman"/>
            </a:endParaRPr>
          </a:p>
        </p:txBody>
      </p:sp>
      <p:cxnSp>
        <p:nvCxnSpPr>
          <p:cNvPr id="155" name="Google Shape;155;p21"/>
          <p:cNvCxnSpPr/>
          <p:nvPr/>
        </p:nvCxnSpPr>
        <p:spPr>
          <a:xfrm flipH="1" rot="10800000">
            <a:off x="2493275" y="1619550"/>
            <a:ext cx="2725800" cy="640500"/>
          </a:xfrm>
          <a:prstGeom prst="straightConnector1">
            <a:avLst/>
          </a:prstGeom>
          <a:noFill/>
          <a:ln cap="flat" cmpd="sng" w="9525">
            <a:solidFill>
              <a:schemeClr val="dk2"/>
            </a:solidFill>
            <a:prstDash val="dash"/>
            <a:round/>
            <a:headEnd len="med" w="med" type="none"/>
            <a:tailEnd len="med" w="med" type="triangle"/>
          </a:ln>
        </p:spPr>
      </p:cxnSp>
      <p:sp>
        <p:nvSpPr>
          <p:cNvPr id="156" name="Google Shape;156;p21"/>
          <p:cNvSpPr txBox="1"/>
          <p:nvPr/>
        </p:nvSpPr>
        <p:spPr>
          <a:xfrm>
            <a:off x="1346825" y="4422250"/>
            <a:ext cx="13965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Đối tượng</a:t>
            </a:r>
            <a:endParaRPr sz="1800">
              <a:latin typeface="Times New Roman"/>
              <a:ea typeface="Times New Roman"/>
              <a:cs typeface="Times New Roman"/>
              <a:sym typeface="Times New Roman"/>
            </a:endParaRPr>
          </a:p>
        </p:txBody>
      </p:sp>
      <p:sp>
        <p:nvSpPr>
          <p:cNvPr id="157" name="Google Shape;157;p21"/>
          <p:cNvSpPr txBox="1"/>
          <p:nvPr/>
        </p:nvSpPr>
        <p:spPr>
          <a:xfrm>
            <a:off x="1387775" y="5229600"/>
            <a:ext cx="13146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Kết thúc</a:t>
            </a:r>
            <a:endParaRPr sz="1800">
              <a:latin typeface="Times New Roman"/>
              <a:ea typeface="Times New Roman"/>
              <a:cs typeface="Times New Roman"/>
              <a:sym typeface="Times New Roman"/>
            </a:endParaRPr>
          </a:p>
        </p:txBody>
      </p:sp>
      <p:cxnSp>
        <p:nvCxnSpPr>
          <p:cNvPr id="158" name="Google Shape;158;p21"/>
          <p:cNvCxnSpPr/>
          <p:nvPr/>
        </p:nvCxnSpPr>
        <p:spPr>
          <a:xfrm>
            <a:off x="2472800" y="4781450"/>
            <a:ext cx="1532400" cy="557100"/>
          </a:xfrm>
          <a:prstGeom prst="straightConnector1">
            <a:avLst/>
          </a:prstGeom>
          <a:noFill/>
          <a:ln cap="flat" cmpd="sng" w="9525">
            <a:solidFill>
              <a:schemeClr val="dk2"/>
            </a:solidFill>
            <a:prstDash val="dash"/>
            <a:round/>
            <a:headEnd len="med" w="med" type="none"/>
            <a:tailEnd len="med" w="med" type="triangle"/>
          </a:ln>
        </p:spPr>
      </p:cxnSp>
      <p:cxnSp>
        <p:nvCxnSpPr>
          <p:cNvPr id="159" name="Google Shape;159;p21"/>
          <p:cNvCxnSpPr/>
          <p:nvPr/>
        </p:nvCxnSpPr>
        <p:spPr>
          <a:xfrm>
            <a:off x="2493275" y="5460450"/>
            <a:ext cx="3879900" cy="850500"/>
          </a:xfrm>
          <a:prstGeom prst="straightConnector1">
            <a:avLst/>
          </a:prstGeom>
          <a:noFill/>
          <a:ln cap="flat" cmpd="sng" w="9525">
            <a:solidFill>
              <a:schemeClr val="dk2"/>
            </a:solidFill>
            <a:prstDash val="dash"/>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5" name="Google Shape;165;p22"/>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2.2. Biểu diễn chủ thể của hoạt động</a:t>
            </a:r>
            <a:endParaRPr baseline="-25000"/>
          </a:p>
        </p:txBody>
      </p:sp>
      <p:pic>
        <p:nvPicPr>
          <p:cNvPr id="166" name="Google Shape;166;p22"/>
          <p:cNvPicPr preferRelativeResize="0"/>
          <p:nvPr/>
        </p:nvPicPr>
        <p:blipFill>
          <a:blip r:embed="rId3">
            <a:alphaModFix/>
          </a:blip>
          <a:stretch>
            <a:fillRect/>
          </a:stretch>
        </p:blipFill>
        <p:spPr>
          <a:xfrm>
            <a:off x="3267891" y="975867"/>
            <a:ext cx="5513748" cy="5577333"/>
          </a:xfrm>
          <a:prstGeom prst="rect">
            <a:avLst/>
          </a:prstGeom>
          <a:noFill/>
          <a:ln>
            <a:noFill/>
          </a:ln>
        </p:spPr>
      </p:pic>
      <p:sp>
        <p:nvSpPr>
          <p:cNvPr id="167" name="Google Shape;167;p22"/>
          <p:cNvSpPr txBox="1"/>
          <p:nvPr/>
        </p:nvSpPr>
        <p:spPr>
          <a:xfrm>
            <a:off x="980816" y="6090900"/>
            <a:ext cx="17052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Các đường bơi</a:t>
            </a:r>
            <a:endParaRPr sz="1800">
              <a:latin typeface="Times New Roman"/>
              <a:ea typeface="Times New Roman"/>
              <a:cs typeface="Times New Roman"/>
              <a:sym typeface="Times New Roman"/>
            </a:endParaRPr>
          </a:p>
        </p:txBody>
      </p:sp>
      <p:cxnSp>
        <p:nvCxnSpPr>
          <p:cNvPr id="168" name="Google Shape;168;p22"/>
          <p:cNvCxnSpPr/>
          <p:nvPr/>
        </p:nvCxnSpPr>
        <p:spPr>
          <a:xfrm flipH="1" rot="10800000">
            <a:off x="2082841" y="5733450"/>
            <a:ext cx="1385100" cy="417000"/>
          </a:xfrm>
          <a:prstGeom prst="straightConnector1">
            <a:avLst/>
          </a:prstGeom>
          <a:noFill/>
          <a:ln cap="flat" cmpd="sng" w="9525">
            <a:solidFill>
              <a:schemeClr val="dk2"/>
            </a:solidFill>
            <a:prstDash val="dash"/>
            <a:round/>
            <a:headEnd len="med" w="med" type="none"/>
            <a:tailEnd len="med" w="med" type="triangle"/>
          </a:ln>
        </p:spPr>
      </p:cxnSp>
      <p:cxnSp>
        <p:nvCxnSpPr>
          <p:cNvPr id="169" name="Google Shape;169;p22"/>
          <p:cNvCxnSpPr/>
          <p:nvPr/>
        </p:nvCxnSpPr>
        <p:spPr>
          <a:xfrm flipH="1" rot="10800000">
            <a:off x="2574291" y="5744550"/>
            <a:ext cx="3268200" cy="450600"/>
          </a:xfrm>
          <a:prstGeom prst="straightConnector1">
            <a:avLst/>
          </a:prstGeom>
          <a:noFill/>
          <a:ln cap="flat" cmpd="sng" w="9525">
            <a:solidFill>
              <a:schemeClr val="dk2"/>
            </a:solidFill>
            <a:prstDash val="dash"/>
            <a:round/>
            <a:headEnd len="med" w="med" type="none"/>
            <a:tailEnd len="med" w="med" type="triangle"/>
          </a:ln>
        </p:spPr>
      </p:cxnSp>
      <p:sp>
        <p:nvSpPr>
          <p:cNvPr id="170" name="Google Shape;170;p22"/>
          <p:cNvSpPr txBox="1"/>
          <p:nvPr/>
        </p:nvSpPr>
        <p:spPr>
          <a:xfrm>
            <a:off x="143175" y="3348100"/>
            <a:ext cx="3406200" cy="27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rgbClr val="FF9900"/>
                </a:solidFill>
                <a:latin typeface="Times New Roman"/>
                <a:ea typeface="Times New Roman"/>
                <a:cs typeface="Times New Roman"/>
                <a:sym typeface="Times New Roman"/>
              </a:rPr>
              <a:t>! Khách hàng có cần sử dụng hệ thống để thực hiện hoạt động như: Chọn ngày? Chọn cuộc hẹn?</a:t>
            </a:r>
            <a:endParaRPr i="1" sz="1800">
              <a:solidFill>
                <a:srgbClr val="FF9900"/>
              </a:solidFill>
              <a:latin typeface="Times New Roman"/>
              <a:ea typeface="Times New Roman"/>
              <a:cs typeface="Times New Roman"/>
              <a:sym typeface="Times New Roman"/>
            </a:endParaRPr>
          </a:p>
          <a:p>
            <a:pPr indent="-342900" lvl="0" marL="457200" rtl="0" algn="l">
              <a:spcBef>
                <a:spcPts val="0"/>
              </a:spcBef>
              <a:spcAft>
                <a:spcPts val="0"/>
              </a:spcAft>
              <a:buClr>
                <a:srgbClr val="FF9900"/>
              </a:buClr>
              <a:buSzPts val="1800"/>
              <a:buFont typeface="Times New Roman"/>
              <a:buChar char="-"/>
            </a:pPr>
            <a:r>
              <a:rPr i="1" lang="en-GB" sz="1800">
                <a:solidFill>
                  <a:srgbClr val="FF9900"/>
                </a:solidFill>
                <a:latin typeface="Times New Roman"/>
                <a:ea typeface="Times New Roman"/>
                <a:cs typeface="Times New Roman"/>
                <a:sym typeface="Times New Roman"/>
              </a:rPr>
              <a:t>Nhập nhằng từ góc nhìn hướng đối tượng.</a:t>
            </a:r>
            <a:endParaRPr i="1" sz="1800">
              <a:solidFill>
                <a:srgbClr val="FF9900"/>
              </a:solidFill>
              <a:latin typeface="Times New Roman"/>
              <a:ea typeface="Times New Roman"/>
              <a:cs typeface="Times New Roman"/>
              <a:sym typeface="Times New Roman"/>
            </a:endParaRPr>
          </a:p>
          <a:p>
            <a:pPr indent="-342900" lvl="0" marL="457200" rtl="0" algn="l">
              <a:spcBef>
                <a:spcPts val="0"/>
              </a:spcBef>
              <a:spcAft>
                <a:spcPts val="0"/>
              </a:spcAft>
              <a:buClr>
                <a:srgbClr val="FF9900"/>
              </a:buClr>
              <a:buSzPts val="1800"/>
              <a:buFont typeface="Times New Roman"/>
              <a:buChar char="-"/>
            </a:pPr>
            <a:r>
              <a:rPr i="1" lang="en-GB" sz="1800">
                <a:solidFill>
                  <a:srgbClr val="FF9900"/>
                </a:solidFill>
                <a:latin typeface="Times New Roman"/>
                <a:ea typeface="Times New Roman"/>
                <a:cs typeface="Times New Roman"/>
                <a:sym typeface="Times New Roman"/>
              </a:rPr>
              <a:t>→ Mũi tên xuyên đường bơi có thể được đọc là yêu cầu …</a:t>
            </a:r>
            <a:endParaRPr i="1" sz="1800">
              <a:solidFill>
                <a:srgbClr val="FF9900"/>
              </a:solidFill>
              <a:latin typeface="Times New Roman"/>
              <a:ea typeface="Times New Roman"/>
              <a:cs typeface="Times New Roman"/>
              <a:sym typeface="Times New Roman"/>
            </a:endParaRPr>
          </a:p>
          <a:p>
            <a:pPr indent="0" lvl="0" marL="0" rtl="0" algn="l">
              <a:spcBef>
                <a:spcPts val="0"/>
              </a:spcBef>
              <a:spcAft>
                <a:spcPts val="0"/>
              </a:spcAft>
              <a:buNone/>
            </a:pPr>
            <a:r>
              <a:rPr i="1" lang="en-GB" sz="1800">
                <a:solidFill>
                  <a:srgbClr val="FF9900"/>
                </a:solidFill>
                <a:latin typeface="Times New Roman"/>
                <a:ea typeface="Times New Roman"/>
                <a:cs typeface="Times New Roman"/>
                <a:sym typeface="Times New Roman"/>
              </a:rPr>
              <a:t>!Có thể được thay thế bằng lời văn, sơ đồ tương tác, v.v..</a:t>
            </a:r>
            <a:endParaRPr i="1" sz="1800">
              <a:solidFill>
                <a:srgbClr val="FF9900"/>
              </a:solidFill>
              <a:latin typeface="Times New Roman"/>
              <a:ea typeface="Times New Roman"/>
              <a:cs typeface="Times New Roman"/>
              <a:sym typeface="Times New Roman"/>
            </a:endParaRPr>
          </a:p>
          <a:p>
            <a:pPr indent="0" lvl="0" marL="0" rtl="0" algn="l">
              <a:spcBef>
                <a:spcPts val="0"/>
              </a:spcBef>
              <a:spcAft>
                <a:spcPts val="0"/>
              </a:spcAft>
              <a:buNone/>
            </a:pPr>
            <a:r>
              <a:t/>
            </a:r>
            <a:endParaRPr i="1" sz="1800">
              <a:solidFill>
                <a:srgbClr val="FF99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3"/>
          <p:cNvSpPr/>
          <p:nvPr/>
        </p:nvSpPr>
        <p:spPr>
          <a:xfrm>
            <a:off x="427950" y="895800"/>
            <a:ext cx="8319900" cy="57540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3"/>
          <p:cNvSpPr txBox="1"/>
          <p:nvPr>
            <p:ph idx="4294967295" type="title"/>
          </p:nvPr>
        </p:nvSpPr>
        <p:spPr>
          <a:xfrm>
            <a:off x="311700" y="131200"/>
            <a:ext cx="8530500" cy="6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2.3. Biểu diễn các luồng song song</a:t>
            </a:r>
            <a:endParaRPr baseline="-25000"/>
          </a:p>
        </p:txBody>
      </p:sp>
      <p:sp>
        <p:nvSpPr>
          <p:cNvPr id="177" name="Google Shape;177;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8" name="Google Shape;178;p23"/>
          <p:cNvSpPr/>
          <p:nvPr/>
        </p:nvSpPr>
        <p:spPr>
          <a:xfrm>
            <a:off x="559966" y="998142"/>
            <a:ext cx="1860000" cy="33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Bộ phận b</a:t>
            </a:r>
            <a:r>
              <a:rPr lang="en-GB" sz="1800">
                <a:latin typeface="Times New Roman"/>
                <a:ea typeface="Times New Roman"/>
                <a:cs typeface="Times New Roman"/>
                <a:sym typeface="Times New Roman"/>
              </a:rPr>
              <a:t>án hàng</a:t>
            </a:r>
            <a:endParaRPr sz="1800">
              <a:latin typeface="Times New Roman"/>
              <a:ea typeface="Times New Roman"/>
              <a:cs typeface="Times New Roman"/>
              <a:sym typeface="Times New Roman"/>
            </a:endParaRPr>
          </a:p>
        </p:txBody>
      </p:sp>
      <p:sp>
        <p:nvSpPr>
          <p:cNvPr id="179" name="Google Shape;179;p23"/>
          <p:cNvSpPr/>
          <p:nvPr/>
        </p:nvSpPr>
        <p:spPr>
          <a:xfrm>
            <a:off x="2437600" y="998142"/>
            <a:ext cx="1498200" cy="33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K</a:t>
            </a:r>
            <a:r>
              <a:rPr lang="en-GB" sz="1800">
                <a:latin typeface="Times New Roman"/>
                <a:ea typeface="Times New Roman"/>
                <a:cs typeface="Times New Roman"/>
                <a:sym typeface="Times New Roman"/>
              </a:rPr>
              <a:t>ỹ thuật</a:t>
            </a:r>
            <a:endParaRPr sz="1800">
              <a:latin typeface="Times New Roman"/>
              <a:ea typeface="Times New Roman"/>
              <a:cs typeface="Times New Roman"/>
              <a:sym typeface="Times New Roman"/>
            </a:endParaRPr>
          </a:p>
        </p:txBody>
      </p:sp>
      <p:sp>
        <p:nvSpPr>
          <p:cNvPr id="180" name="Google Shape;180;p23"/>
          <p:cNvSpPr/>
          <p:nvPr/>
        </p:nvSpPr>
        <p:spPr>
          <a:xfrm>
            <a:off x="3934104" y="998142"/>
            <a:ext cx="1498200" cy="33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C</a:t>
            </a:r>
            <a:r>
              <a:rPr lang="en-GB" sz="1800">
                <a:latin typeface="Times New Roman"/>
                <a:ea typeface="Times New Roman"/>
                <a:cs typeface="Times New Roman"/>
                <a:sym typeface="Times New Roman"/>
              </a:rPr>
              <a:t>ung ứng</a:t>
            </a:r>
            <a:endParaRPr sz="1800">
              <a:latin typeface="Times New Roman"/>
              <a:ea typeface="Times New Roman"/>
              <a:cs typeface="Times New Roman"/>
              <a:sym typeface="Times New Roman"/>
            </a:endParaRPr>
          </a:p>
        </p:txBody>
      </p:sp>
      <p:sp>
        <p:nvSpPr>
          <p:cNvPr id="181" name="Google Shape;181;p23"/>
          <p:cNvSpPr/>
          <p:nvPr/>
        </p:nvSpPr>
        <p:spPr>
          <a:xfrm>
            <a:off x="5437652" y="998142"/>
            <a:ext cx="1498200" cy="33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S</a:t>
            </a:r>
            <a:r>
              <a:rPr lang="en-GB" sz="1800">
                <a:latin typeface="Times New Roman"/>
                <a:ea typeface="Times New Roman"/>
                <a:cs typeface="Times New Roman"/>
                <a:sym typeface="Times New Roman"/>
              </a:rPr>
              <a:t>ản xuất</a:t>
            </a:r>
            <a:endParaRPr sz="1800">
              <a:latin typeface="Times New Roman"/>
              <a:ea typeface="Times New Roman"/>
              <a:cs typeface="Times New Roman"/>
              <a:sym typeface="Times New Roman"/>
            </a:endParaRPr>
          </a:p>
        </p:txBody>
      </p:sp>
      <p:sp>
        <p:nvSpPr>
          <p:cNvPr id="182" name="Google Shape;182;p23"/>
          <p:cNvSpPr/>
          <p:nvPr/>
        </p:nvSpPr>
        <p:spPr>
          <a:xfrm>
            <a:off x="6943350" y="998142"/>
            <a:ext cx="1668900" cy="33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Phòng kế hoạch</a:t>
            </a:r>
            <a:endParaRPr sz="1800">
              <a:latin typeface="Times New Roman"/>
              <a:ea typeface="Times New Roman"/>
              <a:cs typeface="Times New Roman"/>
              <a:sym typeface="Times New Roman"/>
            </a:endParaRPr>
          </a:p>
        </p:txBody>
      </p:sp>
      <p:cxnSp>
        <p:nvCxnSpPr>
          <p:cNvPr id="183" name="Google Shape;183;p23"/>
          <p:cNvCxnSpPr/>
          <p:nvPr/>
        </p:nvCxnSpPr>
        <p:spPr>
          <a:xfrm>
            <a:off x="559975" y="1158850"/>
            <a:ext cx="0" cy="4830600"/>
          </a:xfrm>
          <a:prstGeom prst="straightConnector1">
            <a:avLst/>
          </a:prstGeom>
          <a:noFill/>
          <a:ln cap="flat" cmpd="sng" w="9525">
            <a:solidFill>
              <a:schemeClr val="dk2"/>
            </a:solidFill>
            <a:prstDash val="solid"/>
            <a:round/>
            <a:headEnd len="med" w="med" type="none"/>
            <a:tailEnd len="med" w="med" type="none"/>
          </a:ln>
        </p:spPr>
      </p:cxnSp>
      <p:cxnSp>
        <p:nvCxnSpPr>
          <p:cNvPr id="184" name="Google Shape;184;p23"/>
          <p:cNvCxnSpPr/>
          <p:nvPr/>
        </p:nvCxnSpPr>
        <p:spPr>
          <a:xfrm>
            <a:off x="2434873" y="1227401"/>
            <a:ext cx="0" cy="4830600"/>
          </a:xfrm>
          <a:prstGeom prst="straightConnector1">
            <a:avLst/>
          </a:prstGeom>
          <a:noFill/>
          <a:ln cap="flat" cmpd="sng" w="9525">
            <a:solidFill>
              <a:schemeClr val="dk2"/>
            </a:solidFill>
            <a:prstDash val="solid"/>
            <a:round/>
            <a:headEnd len="med" w="med" type="none"/>
            <a:tailEnd len="med" w="med" type="none"/>
          </a:ln>
        </p:spPr>
      </p:cxnSp>
      <p:cxnSp>
        <p:nvCxnSpPr>
          <p:cNvPr id="185" name="Google Shape;185;p23"/>
          <p:cNvCxnSpPr/>
          <p:nvPr/>
        </p:nvCxnSpPr>
        <p:spPr>
          <a:xfrm>
            <a:off x="3935818" y="1227401"/>
            <a:ext cx="0" cy="4830600"/>
          </a:xfrm>
          <a:prstGeom prst="straightConnector1">
            <a:avLst/>
          </a:prstGeom>
          <a:noFill/>
          <a:ln cap="flat" cmpd="sng" w="9525">
            <a:solidFill>
              <a:schemeClr val="dk2"/>
            </a:solidFill>
            <a:prstDash val="solid"/>
            <a:round/>
            <a:headEnd len="med" w="med" type="none"/>
            <a:tailEnd len="med" w="med" type="none"/>
          </a:ln>
        </p:spPr>
      </p:cxnSp>
      <p:cxnSp>
        <p:nvCxnSpPr>
          <p:cNvPr id="186" name="Google Shape;186;p23"/>
          <p:cNvCxnSpPr/>
          <p:nvPr/>
        </p:nvCxnSpPr>
        <p:spPr>
          <a:xfrm>
            <a:off x="5433235" y="1227401"/>
            <a:ext cx="0" cy="4830600"/>
          </a:xfrm>
          <a:prstGeom prst="straightConnector1">
            <a:avLst/>
          </a:prstGeom>
          <a:noFill/>
          <a:ln cap="flat" cmpd="sng" w="9525">
            <a:solidFill>
              <a:schemeClr val="dk2"/>
            </a:solidFill>
            <a:prstDash val="solid"/>
            <a:round/>
            <a:headEnd len="med" w="med" type="none"/>
            <a:tailEnd len="med" w="med" type="none"/>
          </a:ln>
        </p:spPr>
      </p:cxnSp>
      <p:cxnSp>
        <p:nvCxnSpPr>
          <p:cNvPr id="187" name="Google Shape;187;p23"/>
          <p:cNvCxnSpPr/>
          <p:nvPr/>
        </p:nvCxnSpPr>
        <p:spPr>
          <a:xfrm>
            <a:off x="6943942" y="1227401"/>
            <a:ext cx="0" cy="4830600"/>
          </a:xfrm>
          <a:prstGeom prst="straightConnector1">
            <a:avLst/>
          </a:prstGeom>
          <a:noFill/>
          <a:ln cap="flat" cmpd="sng" w="9525">
            <a:solidFill>
              <a:schemeClr val="dk2"/>
            </a:solidFill>
            <a:prstDash val="solid"/>
            <a:round/>
            <a:headEnd len="med" w="med" type="none"/>
            <a:tailEnd len="med" w="med" type="none"/>
          </a:ln>
        </p:spPr>
      </p:cxnSp>
      <p:cxnSp>
        <p:nvCxnSpPr>
          <p:cNvPr id="188" name="Google Shape;188;p23"/>
          <p:cNvCxnSpPr/>
          <p:nvPr/>
        </p:nvCxnSpPr>
        <p:spPr>
          <a:xfrm>
            <a:off x="8607050" y="1239841"/>
            <a:ext cx="0" cy="4795200"/>
          </a:xfrm>
          <a:prstGeom prst="straightConnector1">
            <a:avLst/>
          </a:prstGeom>
          <a:noFill/>
          <a:ln cap="flat" cmpd="sng" w="9525">
            <a:solidFill>
              <a:schemeClr val="dk2"/>
            </a:solidFill>
            <a:prstDash val="solid"/>
            <a:round/>
            <a:headEnd len="med" w="med" type="none"/>
            <a:tailEnd len="med" w="med" type="none"/>
          </a:ln>
        </p:spPr>
      </p:cxnSp>
      <p:sp>
        <p:nvSpPr>
          <p:cNvPr id="189" name="Google Shape;189;p23"/>
          <p:cNvSpPr/>
          <p:nvPr/>
        </p:nvSpPr>
        <p:spPr>
          <a:xfrm>
            <a:off x="1253759" y="1394710"/>
            <a:ext cx="355200" cy="342000"/>
          </a:xfrm>
          <a:prstGeom prst="ellipse">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90" name="Google Shape;190;p23"/>
          <p:cNvSpPr/>
          <p:nvPr/>
        </p:nvSpPr>
        <p:spPr>
          <a:xfrm>
            <a:off x="7668906" y="5886733"/>
            <a:ext cx="355200" cy="342000"/>
          </a:xfrm>
          <a:prstGeom prst="ellipse">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91" name="Google Shape;191;p23"/>
          <p:cNvSpPr/>
          <p:nvPr/>
        </p:nvSpPr>
        <p:spPr>
          <a:xfrm>
            <a:off x="7632397" y="5852599"/>
            <a:ext cx="421500" cy="405600"/>
          </a:xfrm>
          <a:prstGeom prst="ellipse">
            <a:avLst/>
          </a:prstGeom>
          <a:no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92" name="Google Shape;192;p23"/>
          <p:cNvSpPr/>
          <p:nvPr/>
        </p:nvSpPr>
        <p:spPr>
          <a:xfrm>
            <a:off x="660991" y="1983197"/>
            <a:ext cx="1528500" cy="528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8000" lIns="91425" spcFirstLastPara="1" rIns="91425" wrap="square" tIns="18000">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Tiếp nhận đơn hàng</a:t>
            </a:r>
            <a:endParaRPr sz="1800">
              <a:latin typeface="Times New Roman"/>
              <a:ea typeface="Times New Roman"/>
              <a:cs typeface="Times New Roman"/>
              <a:sym typeface="Times New Roman"/>
            </a:endParaRPr>
          </a:p>
        </p:txBody>
      </p:sp>
      <p:sp>
        <p:nvSpPr>
          <p:cNvPr id="193" name="Google Shape;193;p23"/>
          <p:cNvSpPr/>
          <p:nvPr/>
        </p:nvSpPr>
        <p:spPr>
          <a:xfrm>
            <a:off x="2516368" y="2672771"/>
            <a:ext cx="1327200" cy="528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8000" lIns="91425" spcFirstLastPara="1" rIns="91425" wrap="square" tIns="18000">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Tạo đặc tả</a:t>
            </a:r>
            <a:endParaRPr sz="1800">
              <a:latin typeface="Times New Roman"/>
              <a:ea typeface="Times New Roman"/>
              <a:cs typeface="Times New Roman"/>
              <a:sym typeface="Times New Roman"/>
            </a:endParaRPr>
          </a:p>
        </p:txBody>
      </p:sp>
      <p:sp>
        <p:nvSpPr>
          <p:cNvPr id="194" name="Google Shape;194;p23"/>
          <p:cNvSpPr/>
          <p:nvPr/>
        </p:nvSpPr>
        <p:spPr>
          <a:xfrm>
            <a:off x="2624476" y="2047158"/>
            <a:ext cx="1109400" cy="38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Đơn hàng</a:t>
            </a:r>
            <a:endParaRPr sz="1800">
              <a:latin typeface="Times New Roman"/>
              <a:ea typeface="Times New Roman"/>
              <a:cs typeface="Times New Roman"/>
              <a:sym typeface="Times New Roman"/>
            </a:endParaRPr>
          </a:p>
        </p:txBody>
      </p:sp>
      <p:cxnSp>
        <p:nvCxnSpPr>
          <p:cNvPr id="195" name="Google Shape;195;p23"/>
          <p:cNvCxnSpPr>
            <a:stCxn id="192" idx="3"/>
            <a:endCxn id="194" idx="1"/>
          </p:cNvCxnSpPr>
          <p:nvPr/>
        </p:nvCxnSpPr>
        <p:spPr>
          <a:xfrm flipH="1" rot="10800000">
            <a:off x="2189491" y="2239097"/>
            <a:ext cx="435000" cy="8400"/>
          </a:xfrm>
          <a:prstGeom prst="straightConnector1">
            <a:avLst/>
          </a:prstGeom>
          <a:noFill/>
          <a:ln cap="flat" cmpd="sng" w="19050">
            <a:solidFill>
              <a:schemeClr val="dk2"/>
            </a:solidFill>
            <a:prstDash val="solid"/>
            <a:round/>
            <a:headEnd len="med" w="med" type="none"/>
            <a:tailEnd len="med" w="med" type="triangle"/>
          </a:ln>
        </p:spPr>
      </p:cxnSp>
      <p:cxnSp>
        <p:nvCxnSpPr>
          <p:cNvPr id="196" name="Google Shape;196;p23"/>
          <p:cNvCxnSpPr>
            <a:stCxn id="194" idx="2"/>
            <a:endCxn id="193" idx="0"/>
          </p:cNvCxnSpPr>
          <p:nvPr/>
        </p:nvCxnSpPr>
        <p:spPr>
          <a:xfrm>
            <a:off x="3179176" y="2430858"/>
            <a:ext cx="900" cy="241800"/>
          </a:xfrm>
          <a:prstGeom prst="straightConnector1">
            <a:avLst/>
          </a:prstGeom>
          <a:noFill/>
          <a:ln cap="flat" cmpd="sng" w="19050">
            <a:solidFill>
              <a:schemeClr val="dk2"/>
            </a:solidFill>
            <a:prstDash val="solid"/>
            <a:round/>
            <a:headEnd len="med" w="med" type="none"/>
            <a:tailEnd len="med" w="med" type="triangle"/>
          </a:ln>
        </p:spPr>
      </p:cxnSp>
      <p:cxnSp>
        <p:nvCxnSpPr>
          <p:cNvPr id="197" name="Google Shape;197;p23"/>
          <p:cNvCxnSpPr/>
          <p:nvPr/>
        </p:nvCxnSpPr>
        <p:spPr>
          <a:xfrm>
            <a:off x="2571316" y="3537957"/>
            <a:ext cx="1156200" cy="0"/>
          </a:xfrm>
          <a:prstGeom prst="straightConnector1">
            <a:avLst/>
          </a:prstGeom>
          <a:noFill/>
          <a:ln cap="flat" cmpd="sng" w="76200">
            <a:solidFill>
              <a:schemeClr val="dk2"/>
            </a:solidFill>
            <a:prstDash val="solid"/>
            <a:round/>
            <a:headEnd len="med" w="med" type="none"/>
            <a:tailEnd len="med" w="med" type="none"/>
          </a:ln>
        </p:spPr>
      </p:cxnSp>
      <p:cxnSp>
        <p:nvCxnSpPr>
          <p:cNvPr id="198" name="Google Shape;198;p23"/>
          <p:cNvCxnSpPr>
            <a:stCxn id="193" idx="2"/>
          </p:cNvCxnSpPr>
          <p:nvPr/>
        </p:nvCxnSpPr>
        <p:spPr>
          <a:xfrm>
            <a:off x="3179968" y="3201371"/>
            <a:ext cx="0" cy="303300"/>
          </a:xfrm>
          <a:prstGeom prst="straightConnector1">
            <a:avLst/>
          </a:prstGeom>
          <a:noFill/>
          <a:ln cap="flat" cmpd="sng" w="19050">
            <a:solidFill>
              <a:schemeClr val="dk2"/>
            </a:solidFill>
            <a:prstDash val="solid"/>
            <a:round/>
            <a:headEnd len="med" w="med" type="none"/>
            <a:tailEnd len="med" w="med" type="triangle"/>
          </a:ln>
        </p:spPr>
      </p:cxnSp>
      <p:sp>
        <p:nvSpPr>
          <p:cNvPr id="199" name="Google Shape;199;p23"/>
          <p:cNvSpPr/>
          <p:nvPr/>
        </p:nvSpPr>
        <p:spPr>
          <a:xfrm>
            <a:off x="4027100" y="3912362"/>
            <a:ext cx="1327200" cy="591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8000" lIns="54000" spcFirstLastPara="1" rIns="54000" wrap="square" tIns="18000">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Chuẩn bị nguyên liệu</a:t>
            </a:r>
            <a:endParaRPr sz="1800">
              <a:latin typeface="Times New Roman"/>
              <a:ea typeface="Times New Roman"/>
              <a:cs typeface="Times New Roman"/>
              <a:sym typeface="Times New Roman"/>
            </a:endParaRPr>
          </a:p>
        </p:txBody>
      </p:sp>
      <p:sp>
        <p:nvSpPr>
          <p:cNvPr id="200" name="Google Shape;200;p23"/>
          <p:cNvSpPr/>
          <p:nvPr/>
        </p:nvSpPr>
        <p:spPr>
          <a:xfrm>
            <a:off x="5524504" y="3912362"/>
            <a:ext cx="1327200" cy="591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8000" lIns="54000" spcFirstLastPara="1" rIns="54000" wrap="square" tIns="18000">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Chuẩn bị máy móc</a:t>
            </a:r>
            <a:endParaRPr sz="1800">
              <a:latin typeface="Times New Roman"/>
              <a:ea typeface="Times New Roman"/>
              <a:cs typeface="Times New Roman"/>
              <a:sym typeface="Times New Roman"/>
            </a:endParaRPr>
          </a:p>
        </p:txBody>
      </p:sp>
      <p:cxnSp>
        <p:nvCxnSpPr>
          <p:cNvPr id="201" name="Google Shape;201;p23"/>
          <p:cNvCxnSpPr/>
          <p:nvPr/>
        </p:nvCxnSpPr>
        <p:spPr>
          <a:xfrm>
            <a:off x="7219516" y="4858181"/>
            <a:ext cx="1156200" cy="0"/>
          </a:xfrm>
          <a:prstGeom prst="straightConnector1">
            <a:avLst/>
          </a:prstGeom>
          <a:noFill/>
          <a:ln cap="flat" cmpd="sng" w="76200">
            <a:solidFill>
              <a:schemeClr val="dk2"/>
            </a:solidFill>
            <a:prstDash val="solid"/>
            <a:round/>
            <a:headEnd len="med" w="med" type="none"/>
            <a:tailEnd len="med" w="med" type="none"/>
          </a:ln>
        </p:spPr>
      </p:cxnSp>
      <p:sp>
        <p:nvSpPr>
          <p:cNvPr id="202" name="Google Shape;202;p23"/>
          <p:cNvSpPr/>
          <p:nvPr/>
        </p:nvSpPr>
        <p:spPr>
          <a:xfrm>
            <a:off x="7124690" y="5120862"/>
            <a:ext cx="1414200" cy="504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8000" lIns="54000" spcFirstLastPara="1" rIns="54000" wrap="square" tIns="18000">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Lập kế hoạch sản xuất</a:t>
            </a:r>
            <a:endParaRPr sz="1800">
              <a:latin typeface="Times New Roman"/>
              <a:ea typeface="Times New Roman"/>
              <a:cs typeface="Times New Roman"/>
              <a:sym typeface="Times New Roman"/>
            </a:endParaRPr>
          </a:p>
        </p:txBody>
      </p:sp>
      <p:cxnSp>
        <p:nvCxnSpPr>
          <p:cNvPr id="203" name="Google Shape;203;p23"/>
          <p:cNvCxnSpPr>
            <a:stCxn id="189" idx="4"/>
            <a:endCxn id="192" idx="0"/>
          </p:cNvCxnSpPr>
          <p:nvPr/>
        </p:nvCxnSpPr>
        <p:spPr>
          <a:xfrm flipH="1">
            <a:off x="1425359" y="1736710"/>
            <a:ext cx="6000" cy="246600"/>
          </a:xfrm>
          <a:prstGeom prst="straightConnector1">
            <a:avLst/>
          </a:prstGeom>
          <a:noFill/>
          <a:ln cap="flat" cmpd="sng" w="19050">
            <a:solidFill>
              <a:schemeClr val="dk2"/>
            </a:solidFill>
            <a:prstDash val="solid"/>
            <a:round/>
            <a:headEnd len="med" w="med" type="none"/>
            <a:tailEnd len="med" w="med" type="triangle"/>
          </a:ln>
        </p:spPr>
      </p:cxnSp>
      <p:sp>
        <p:nvSpPr>
          <p:cNvPr id="204" name="Google Shape;204;p23"/>
          <p:cNvSpPr/>
          <p:nvPr/>
        </p:nvSpPr>
        <p:spPr>
          <a:xfrm>
            <a:off x="3541516" y="3499578"/>
            <a:ext cx="66600" cy="861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205" name="Google Shape;205;p23"/>
          <p:cNvSpPr/>
          <p:nvPr/>
        </p:nvSpPr>
        <p:spPr>
          <a:xfrm>
            <a:off x="2779516" y="3499578"/>
            <a:ext cx="66600" cy="861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206" name="Google Shape;206;p23"/>
          <p:cNvSpPr/>
          <p:nvPr/>
        </p:nvSpPr>
        <p:spPr>
          <a:xfrm>
            <a:off x="8113516" y="4959212"/>
            <a:ext cx="66600" cy="894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207" name="Google Shape;207;p23"/>
          <p:cNvSpPr/>
          <p:nvPr/>
        </p:nvSpPr>
        <p:spPr>
          <a:xfrm>
            <a:off x="7351516" y="4807009"/>
            <a:ext cx="66600" cy="861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208" name="Google Shape;208;p23"/>
          <p:cNvCxnSpPr>
            <a:stCxn id="204" idx="4"/>
            <a:endCxn id="200" idx="0"/>
          </p:cNvCxnSpPr>
          <p:nvPr/>
        </p:nvCxnSpPr>
        <p:spPr>
          <a:xfrm flipH="1" rot="-5400000">
            <a:off x="4718116" y="2442378"/>
            <a:ext cx="326700" cy="2613300"/>
          </a:xfrm>
          <a:prstGeom prst="bentConnector3">
            <a:avLst>
              <a:gd fmla="val 50022" name="adj1"/>
            </a:avLst>
          </a:prstGeom>
          <a:noFill/>
          <a:ln cap="flat" cmpd="sng" w="19050">
            <a:solidFill>
              <a:schemeClr val="dk2"/>
            </a:solidFill>
            <a:prstDash val="solid"/>
            <a:round/>
            <a:headEnd len="med" w="med" type="none"/>
            <a:tailEnd len="med" w="med" type="triangle"/>
          </a:ln>
        </p:spPr>
      </p:cxnSp>
      <p:cxnSp>
        <p:nvCxnSpPr>
          <p:cNvPr id="209" name="Google Shape;209;p23"/>
          <p:cNvCxnSpPr>
            <a:stCxn id="205" idx="5"/>
            <a:endCxn id="199" idx="1"/>
          </p:cNvCxnSpPr>
          <p:nvPr/>
        </p:nvCxnSpPr>
        <p:spPr>
          <a:xfrm flipH="1" rot="-5400000">
            <a:off x="3114162" y="3295269"/>
            <a:ext cx="635100" cy="1190700"/>
          </a:xfrm>
          <a:prstGeom prst="bentConnector2">
            <a:avLst/>
          </a:prstGeom>
          <a:noFill/>
          <a:ln cap="flat" cmpd="sng" w="19050">
            <a:solidFill>
              <a:schemeClr val="dk2"/>
            </a:solidFill>
            <a:prstDash val="solid"/>
            <a:round/>
            <a:headEnd len="med" w="med" type="none"/>
            <a:tailEnd len="med" w="med" type="triangle"/>
          </a:ln>
        </p:spPr>
      </p:cxnSp>
      <p:cxnSp>
        <p:nvCxnSpPr>
          <p:cNvPr id="210" name="Google Shape;210;p23"/>
          <p:cNvCxnSpPr>
            <a:stCxn id="200" idx="3"/>
            <a:endCxn id="206" idx="0"/>
          </p:cNvCxnSpPr>
          <p:nvPr/>
        </p:nvCxnSpPr>
        <p:spPr>
          <a:xfrm>
            <a:off x="6851704" y="4208312"/>
            <a:ext cx="1295100" cy="750900"/>
          </a:xfrm>
          <a:prstGeom prst="bentConnector2">
            <a:avLst/>
          </a:prstGeom>
          <a:noFill/>
          <a:ln cap="flat" cmpd="sng" w="19050">
            <a:solidFill>
              <a:schemeClr val="dk2"/>
            </a:solidFill>
            <a:prstDash val="solid"/>
            <a:round/>
            <a:headEnd len="med" w="med" type="none"/>
            <a:tailEnd len="med" w="med" type="triangle"/>
          </a:ln>
        </p:spPr>
      </p:cxnSp>
      <p:cxnSp>
        <p:nvCxnSpPr>
          <p:cNvPr id="211" name="Google Shape;211;p23"/>
          <p:cNvCxnSpPr>
            <a:stCxn id="199" idx="2"/>
            <a:endCxn id="207" idx="0"/>
          </p:cNvCxnSpPr>
          <p:nvPr/>
        </p:nvCxnSpPr>
        <p:spPr>
          <a:xfrm flipH="1" rot="-5400000">
            <a:off x="5886350" y="3308612"/>
            <a:ext cx="302700" cy="2694000"/>
          </a:xfrm>
          <a:prstGeom prst="bentConnector3">
            <a:avLst>
              <a:gd fmla="val 50010" name="adj1"/>
            </a:avLst>
          </a:prstGeom>
          <a:noFill/>
          <a:ln cap="flat" cmpd="sng" w="19050">
            <a:solidFill>
              <a:schemeClr val="dk2"/>
            </a:solidFill>
            <a:prstDash val="solid"/>
            <a:round/>
            <a:headEnd len="med" w="med" type="none"/>
            <a:tailEnd len="med" w="med" type="triangle"/>
          </a:ln>
        </p:spPr>
      </p:cxnSp>
      <p:cxnSp>
        <p:nvCxnSpPr>
          <p:cNvPr id="212" name="Google Shape;212;p23"/>
          <p:cNvCxnSpPr>
            <a:endCxn id="202" idx="0"/>
          </p:cNvCxnSpPr>
          <p:nvPr/>
        </p:nvCxnSpPr>
        <p:spPr>
          <a:xfrm>
            <a:off x="7821290" y="4839462"/>
            <a:ext cx="10500" cy="281400"/>
          </a:xfrm>
          <a:prstGeom prst="straightConnector1">
            <a:avLst/>
          </a:prstGeom>
          <a:noFill/>
          <a:ln cap="flat" cmpd="sng" w="19050">
            <a:solidFill>
              <a:schemeClr val="dk2"/>
            </a:solidFill>
            <a:prstDash val="solid"/>
            <a:round/>
            <a:headEnd len="med" w="med" type="none"/>
            <a:tailEnd len="med" w="med" type="triangle"/>
          </a:ln>
        </p:spPr>
      </p:cxnSp>
      <p:cxnSp>
        <p:nvCxnSpPr>
          <p:cNvPr id="213" name="Google Shape;213;p23"/>
          <p:cNvCxnSpPr>
            <a:stCxn id="202" idx="2"/>
            <a:endCxn id="191" idx="0"/>
          </p:cNvCxnSpPr>
          <p:nvPr/>
        </p:nvCxnSpPr>
        <p:spPr>
          <a:xfrm>
            <a:off x="7831790" y="5625762"/>
            <a:ext cx="11400" cy="226800"/>
          </a:xfrm>
          <a:prstGeom prst="straightConnector1">
            <a:avLst/>
          </a:prstGeom>
          <a:noFill/>
          <a:ln cap="flat" cmpd="sng" w="19050">
            <a:solidFill>
              <a:schemeClr val="dk2"/>
            </a:solidFill>
            <a:prstDash val="solid"/>
            <a:round/>
            <a:headEnd len="med" w="med" type="none"/>
            <a:tailEnd len="med" w="med" type="triangle"/>
          </a:ln>
        </p:spPr>
      </p:cxnSp>
      <p:sp>
        <p:nvSpPr>
          <p:cNvPr id="214" name="Google Shape;214;p23"/>
          <p:cNvSpPr txBox="1"/>
          <p:nvPr/>
        </p:nvSpPr>
        <p:spPr>
          <a:xfrm>
            <a:off x="1253750" y="6091000"/>
            <a:ext cx="6589500" cy="41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rgbClr val="1155CC"/>
                </a:solidFill>
                <a:latin typeface="Times New Roman"/>
                <a:ea typeface="Times New Roman"/>
                <a:cs typeface="Times New Roman"/>
                <a:sym typeface="Times New Roman"/>
              </a:rPr>
              <a:t>… Thử tiếp tục câu chuyện theo cách của bạn!</a:t>
            </a:r>
            <a:endParaRPr i="1" sz="2400">
              <a:solidFill>
                <a:srgbClr val="1155CC"/>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20" name="Google Shape;220;p2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a:t>
            </a:r>
            <a:r>
              <a:rPr lang="en-GB"/>
              <a:t>út đối tượng</a:t>
            </a:r>
            <a:endParaRPr/>
          </a:p>
        </p:txBody>
      </p:sp>
      <p:sp>
        <p:nvSpPr>
          <p:cNvPr id="221" name="Google Shape;221;p24"/>
          <p:cNvSpPr txBox="1"/>
          <p:nvPr>
            <p:ph idx="1" type="body"/>
          </p:nvPr>
        </p:nvSpPr>
        <p:spPr>
          <a:xfrm>
            <a:off x="311700" y="1034900"/>
            <a:ext cx="8520600" cy="5286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Biểu diễn dữ liệu được sử dụng trong các hoạt động</a:t>
            </a:r>
            <a:endParaRPr/>
          </a:p>
          <a:p>
            <a:pPr indent="-381000" lvl="0" marL="457200" rtl="0" algn="l">
              <a:spcBef>
                <a:spcPts val="0"/>
              </a:spcBef>
              <a:spcAft>
                <a:spcPts val="0"/>
              </a:spcAft>
              <a:buSzPts val="2400"/>
              <a:buChar char="●"/>
            </a:pPr>
            <a:r>
              <a:rPr lang="en-GB"/>
              <a:t>Có thể được định kiểu</a:t>
            </a:r>
            <a:endParaRPr/>
          </a:p>
          <a:p>
            <a:pPr indent="-368300" lvl="1" marL="914400" rtl="0" algn="l">
              <a:spcBef>
                <a:spcPts val="0"/>
              </a:spcBef>
              <a:spcAft>
                <a:spcPts val="0"/>
              </a:spcAft>
              <a:buSzPts val="2200"/>
              <a:buChar char="○"/>
            </a:pPr>
            <a:r>
              <a:rPr lang="en-GB"/>
              <a:t>Sử dụng các lớp trong mô hình cấu trúc</a:t>
            </a:r>
            <a:endParaRPr/>
          </a:p>
          <a:p>
            <a:pPr indent="-381000" lvl="0" marL="457200" rtl="0" algn="l">
              <a:spcBef>
                <a:spcPts val="0"/>
              </a:spcBef>
              <a:spcAft>
                <a:spcPts val="0"/>
              </a:spcAft>
              <a:buSzPts val="2400"/>
              <a:buChar char="●"/>
            </a:pPr>
            <a:r>
              <a:rPr lang="en-GB"/>
              <a:t>Có thể hàm chứa nhiều đối tượng.</a:t>
            </a:r>
            <a:endParaRPr/>
          </a:p>
          <a:p>
            <a:pPr indent="-381000" lvl="0" marL="457200" rtl="0" algn="l">
              <a:spcBef>
                <a:spcPts val="0"/>
              </a:spcBef>
              <a:spcAft>
                <a:spcPts val="0"/>
              </a:spcAft>
              <a:buSzPts val="2400"/>
              <a:buChar char="●"/>
            </a:pPr>
            <a:r>
              <a:rPr lang="en-GB"/>
              <a:t>Các loại nút đối tượng:</a:t>
            </a:r>
            <a:endParaRPr/>
          </a:p>
          <a:p>
            <a:pPr indent="-368300" lvl="1" marL="914400" rtl="0" algn="l">
              <a:spcBef>
                <a:spcPts val="0"/>
              </a:spcBef>
              <a:spcAft>
                <a:spcPts val="0"/>
              </a:spcAft>
              <a:buSzPts val="2200"/>
              <a:buChar char="○"/>
            </a:pPr>
            <a:r>
              <a:rPr lang="en-GB"/>
              <a:t>Tham số hoạt động: Tham số đầu vào và đầu ra của hoạt động/hành động.</a:t>
            </a:r>
            <a:endParaRPr/>
          </a:p>
          <a:p>
            <a:pPr indent="-368300" lvl="1" marL="914400" rtl="0" algn="l">
              <a:spcBef>
                <a:spcPts val="0"/>
              </a:spcBef>
              <a:spcAft>
                <a:spcPts val="0"/>
              </a:spcAft>
              <a:buSzPts val="2200"/>
              <a:buChar char="○"/>
            </a:pPr>
            <a:r>
              <a:rPr lang="en-GB"/>
              <a:t>Bộ đệm trung tâm: Bộ đệm cho các luồng đối tượng</a:t>
            </a:r>
            <a:endParaRPr/>
          </a:p>
          <a:p>
            <a:pPr indent="-368300" lvl="1" marL="914400" rtl="0" algn="l">
              <a:spcBef>
                <a:spcPts val="0"/>
              </a:spcBef>
              <a:spcAft>
                <a:spcPts val="0"/>
              </a:spcAft>
              <a:buSzPts val="2200"/>
              <a:buChar char="○"/>
            </a:pPr>
            <a:r>
              <a:rPr lang="en-GB"/>
              <a:t>Lưu trữ </a:t>
            </a:r>
            <a:r>
              <a:rPr lang="en-GB"/>
              <a:t>dữ liệu</a:t>
            </a:r>
            <a:r>
              <a:rPr lang="en-GB"/>
              <a:t>: Lưu trữ cố định các đối tượng</a:t>
            </a:r>
            <a:endParaRPr/>
          </a:p>
          <a:p>
            <a:pPr indent="-368300" lvl="1" marL="914400" rtl="0" algn="l">
              <a:spcBef>
                <a:spcPts val="0"/>
              </a:spcBef>
              <a:spcAft>
                <a:spcPts val="0"/>
              </a:spcAft>
              <a:buSzPts val="2200"/>
              <a:buChar char="○"/>
            </a:pPr>
            <a:r>
              <a:rPr lang="en-GB"/>
              <a:t>Chấu tham số: Tham số đầu vào và đầu ra được biểu diễn như các chấu trên các nút hành động/hoạt động.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5"/>
          <p:cNvSpPr txBox="1"/>
          <p:nvPr>
            <p:ph idx="4294967295"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2.4. Các nút đối tượng</a:t>
            </a:r>
            <a:endParaRPr/>
          </a:p>
        </p:txBody>
      </p:sp>
      <p:sp>
        <p:nvSpPr>
          <p:cNvPr id="227" name="Google Shape;227;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28" name="Google Shape;228;p25"/>
          <p:cNvPicPr preferRelativeResize="0"/>
          <p:nvPr/>
        </p:nvPicPr>
        <p:blipFill>
          <a:blip r:embed="rId3">
            <a:alphaModFix/>
          </a:blip>
          <a:stretch>
            <a:fillRect/>
          </a:stretch>
        </p:blipFill>
        <p:spPr>
          <a:xfrm>
            <a:off x="517250" y="1275467"/>
            <a:ext cx="3571875" cy="609600"/>
          </a:xfrm>
          <a:prstGeom prst="rect">
            <a:avLst/>
          </a:prstGeom>
          <a:noFill/>
          <a:ln>
            <a:noFill/>
          </a:ln>
        </p:spPr>
      </p:pic>
      <p:sp>
        <p:nvSpPr>
          <p:cNvPr id="229" name="Google Shape;229;p25"/>
          <p:cNvSpPr txBox="1"/>
          <p:nvPr/>
        </p:nvSpPr>
        <p:spPr>
          <a:xfrm>
            <a:off x="1256700" y="2340700"/>
            <a:ext cx="1989300" cy="4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Tham số hoạt động</a:t>
            </a:r>
            <a:endParaRPr sz="1800">
              <a:latin typeface="Times New Roman"/>
              <a:ea typeface="Times New Roman"/>
              <a:cs typeface="Times New Roman"/>
              <a:sym typeface="Times New Roman"/>
            </a:endParaRPr>
          </a:p>
        </p:txBody>
      </p:sp>
      <p:pic>
        <p:nvPicPr>
          <p:cNvPr id="230" name="Google Shape;230;p25"/>
          <p:cNvPicPr preferRelativeResize="0"/>
          <p:nvPr/>
        </p:nvPicPr>
        <p:blipFill>
          <a:blip r:embed="rId4">
            <a:alphaModFix/>
          </a:blip>
          <a:stretch>
            <a:fillRect/>
          </a:stretch>
        </p:blipFill>
        <p:spPr>
          <a:xfrm>
            <a:off x="5285850" y="1275475"/>
            <a:ext cx="3448050" cy="723900"/>
          </a:xfrm>
          <a:prstGeom prst="rect">
            <a:avLst/>
          </a:prstGeom>
          <a:noFill/>
          <a:ln>
            <a:noFill/>
          </a:ln>
        </p:spPr>
      </p:pic>
      <p:sp>
        <p:nvSpPr>
          <p:cNvPr id="231" name="Google Shape;231;p25"/>
          <p:cNvSpPr txBox="1"/>
          <p:nvPr/>
        </p:nvSpPr>
        <p:spPr>
          <a:xfrm>
            <a:off x="5328825" y="2340700"/>
            <a:ext cx="3405000" cy="4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Biểu diễn tham số như các chấu</a:t>
            </a:r>
            <a:endParaRPr sz="1800">
              <a:latin typeface="Times New Roman"/>
              <a:ea typeface="Times New Roman"/>
              <a:cs typeface="Times New Roman"/>
              <a:sym typeface="Times New Roman"/>
            </a:endParaRPr>
          </a:p>
        </p:txBody>
      </p:sp>
      <p:pic>
        <p:nvPicPr>
          <p:cNvPr id="232" name="Google Shape;232;p25"/>
          <p:cNvPicPr preferRelativeResize="0"/>
          <p:nvPr/>
        </p:nvPicPr>
        <p:blipFill>
          <a:blip r:embed="rId5">
            <a:alphaModFix/>
          </a:blip>
          <a:stretch>
            <a:fillRect/>
          </a:stretch>
        </p:blipFill>
        <p:spPr>
          <a:xfrm>
            <a:off x="472600" y="3036775"/>
            <a:ext cx="4575225" cy="1884425"/>
          </a:xfrm>
          <a:prstGeom prst="rect">
            <a:avLst/>
          </a:prstGeom>
          <a:noFill/>
          <a:ln>
            <a:noFill/>
          </a:ln>
        </p:spPr>
      </p:pic>
      <p:pic>
        <p:nvPicPr>
          <p:cNvPr id="233" name="Google Shape;233;p25"/>
          <p:cNvPicPr preferRelativeResize="0"/>
          <p:nvPr/>
        </p:nvPicPr>
        <p:blipFill>
          <a:blip r:embed="rId6">
            <a:alphaModFix/>
          </a:blip>
          <a:stretch>
            <a:fillRect/>
          </a:stretch>
        </p:blipFill>
        <p:spPr>
          <a:xfrm>
            <a:off x="5156275" y="3070550"/>
            <a:ext cx="3781425" cy="1457325"/>
          </a:xfrm>
          <a:prstGeom prst="rect">
            <a:avLst/>
          </a:prstGeom>
          <a:noFill/>
          <a:ln>
            <a:noFill/>
          </a:ln>
        </p:spPr>
      </p:pic>
      <p:sp>
        <p:nvSpPr>
          <p:cNvPr id="234" name="Google Shape;234;p25"/>
          <p:cNvSpPr txBox="1"/>
          <p:nvPr/>
        </p:nvSpPr>
        <p:spPr>
          <a:xfrm>
            <a:off x="1332900" y="4931500"/>
            <a:ext cx="1989300" cy="4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Bộ đệm trung tâm</a:t>
            </a:r>
            <a:endParaRPr sz="1800">
              <a:latin typeface="Times New Roman"/>
              <a:ea typeface="Times New Roman"/>
              <a:cs typeface="Times New Roman"/>
              <a:sym typeface="Times New Roman"/>
            </a:endParaRPr>
          </a:p>
        </p:txBody>
      </p:sp>
      <p:sp>
        <p:nvSpPr>
          <p:cNvPr id="235" name="Google Shape;235;p25"/>
          <p:cNvSpPr txBox="1"/>
          <p:nvPr/>
        </p:nvSpPr>
        <p:spPr>
          <a:xfrm>
            <a:off x="6258850" y="4931500"/>
            <a:ext cx="1989300" cy="4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Lưu trữ dữ liệu</a:t>
            </a:r>
            <a:endParaRPr sz="18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241" name="Google Shape;241;p26"/>
          <p:cNvSpPr txBox="1"/>
          <p:nvPr>
            <p:ph idx="1" type="body"/>
          </p:nvPr>
        </p:nvSpPr>
        <p:spPr>
          <a:xfrm>
            <a:off x="311700" y="1034900"/>
            <a:ext cx="8520600" cy="5286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Mô hình hóa nghiệp vụ </a:t>
            </a:r>
            <a:endParaRPr/>
          </a:p>
          <a:p>
            <a:pPr indent="-381000" lvl="0" marL="457200" rtl="0" algn="l">
              <a:spcBef>
                <a:spcPts val="0"/>
              </a:spcBef>
              <a:spcAft>
                <a:spcPts val="0"/>
              </a:spcAft>
              <a:buSzPts val="2400"/>
              <a:buChar char="●"/>
            </a:pPr>
            <a:r>
              <a:rPr lang="en-GB"/>
              <a:t>Sơ đồ ca sử dụng</a:t>
            </a:r>
            <a:endParaRPr/>
          </a:p>
          <a:p>
            <a:pPr indent="-381000" lvl="0" marL="457200" rtl="0" algn="l">
              <a:spcBef>
                <a:spcPts val="0"/>
              </a:spcBef>
              <a:spcAft>
                <a:spcPts val="0"/>
              </a:spcAft>
              <a:buSzPts val="2400"/>
              <a:buChar char="●"/>
            </a:pPr>
            <a:r>
              <a:rPr lang="en-GB"/>
              <a:t>Đặc tả ca sử dụng</a:t>
            </a:r>
            <a:endParaRPr/>
          </a:p>
          <a:p>
            <a:pPr indent="-381000" lvl="0" marL="457200" rtl="0" algn="l">
              <a:spcBef>
                <a:spcPts val="0"/>
              </a:spcBef>
              <a:spcAft>
                <a:spcPts val="0"/>
              </a:spcAft>
              <a:buSzPts val="2400"/>
              <a:buChar char="●"/>
            </a:pPr>
            <a:r>
              <a:rPr lang="en-GB"/>
              <a:t>Phương pháp đơn vị ca sử dụng</a:t>
            </a:r>
            <a:endParaRPr/>
          </a:p>
        </p:txBody>
      </p:sp>
      <p:sp>
        <p:nvSpPr>
          <p:cNvPr id="242" name="Google Shape;242;p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43" name="Google Shape;243;p26"/>
          <p:cNvSpPr/>
          <p:nvPr/>
        </p:nvSpPr>
        <p:spPr>
          <a:xfrm>
            <a:off x="376175" y="1362624"/>
            <a:ext cx="4572000" cy="763500"/>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7"/>
          <p:cNvSpPr txBox="1"/>
          <p:nvPr>
            <p:ph idx="4294967295"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 sử dụng</a:t>
            </a:r>
            <a:endParaRPr/>
          </a:p>
        </p:txBody>
      </p:sp>
      <p:sp>
        <p:nvSpPr>
          <p:cNvPr id="249" name="Google Shape;249;p27"/>
          <p:cNvSpPr txBox="1"/>
          <p:nvPr>
            <p:ph idx="4294967295" type="body"/>
          </p:nvPr>
        </p:nvSpPr>
        <p:spPr>
          <a:xfrm>
            <a:off x="311700" y="823475"/>
            <a:ext cx="8520600" cy="5673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sz="2400"/>
              <a:t>Khái niệm: Ca sử dụng là hoạt động </a:t>
            </a:r>
            <a:r>
              <a:rPr lang="en-GB" sz="2400"/>
              <a:t>sử dụng</a:t>
            </a:r>
            <a:r>
              <a:rPr lang="en-GB" sz="2400"/>
              <a:t> hệ thống để đáp ứng </a:t>
            </a:r>
            <a:r>
              <a:rPr lang="en-GB" sz="2400"/>
              <a:t>nhu cầu nghiệp vụ.</a:t>
            </a:r>
            <a:endParaRPr sz="2400"/>
          </a:p>
          <a:p>
            <a:pPr indent="-355600" lvl="1" marL="914400" rtl="0" algn="l">
              <a:spcBef>
                <a:spcPts val="0"/>
              </a:spcBef>
              <a:spcAft>
                <a:spcPts val="0"/>
              </a:spcAft>
              <a:buSzPts val="2000"/>
              <a:buChar char="○"/>
            </a:pPr>
            <a:r>
              <a:rPr lang="en-GB" sz="2000"/>
              <a:t>Mô tả</a:t>
            </a:r>
            <a:r>
              <a:rPr lang="en-GB" sz="2000"/>
              <a:t> các yêu cầu chức năng </a:t>
            </a:r>
            <a:r>
              <a:rPr lang="en-GB" sz="2000"/>
              <a:t>từ góc nhìn người dùng</a:t>
            </a:r>
            <a:r>
              <a:rPr lang="en-GB" sz="2000"/>
              <a:t>.</a:t>
            </a:r>
            <a:endParaRPr sz="2000"/>
          </a:p>
          <a:p>
            <a:pPr indent="-355600" lvl="1" marL="914400" rtl="0" algn="l">
              <a:spcBef>
                <a:spcPts val="0"/>
              </a:spcBef>
              <a:spcAft>
                <a:spcPts val="0"/>
              </a:spcAft>
              <a:buSzPts val="2000"/>
              <a:buChar char="○"/>
            </a:pPr>
            <a:r>
              <a:rPr lang="en-GB" sz="2000"/>
              <a:t>Không biểu diễn lô-gic hoạt động bên trong hệ thống.</a:t>
            </a:r>
            <a:endParaRPr sz="2000"/>
          </a:p>
          <a:p>
            <a:pPr indent="-355600" lvl="1" marL="914400" rtl="0" algn="l">
              <a:spcBef>
                <a:spcPts val="0"/>
              </a:spcBef>
              <a:spcAft>
                <a:spcPts val="0"/>
              </a:spcAft>
              <a:buSzPts val="2000"/>
              <a:buChar char="○"/>
            </a:pPr>
            <a:r>
              <a:rPr lang="en-GB" sz="2000"/>
              <a:t>C</a:t>
            </a:r>
            <a:r>
              <a:rPr lang="en-GB" sz="2000"/>
              <a:t>ó thể bao gồm nhiều t</a:t>
            </a:r>
            <a:r>
              <a:rPr lang="en-GB" sz="2000"/>
              <a:t>ương tác giữa người dùng và hệ thống </a:t>
            </a:r>
            <a:r>
              <a:rPr lang="en-GB" sz="2000"/>
              <a:t>để hoàn thành công việc</a:t>
            </a:r>
            <a:r>
              <a:rPr lang="en-GB" sz="2000"/>
              <a:t>.</a:t>
            </a:r>
            <a:endParaRPr sz="2000"/>
          </a:p>
          <a:p>
            <a:pPr indent="-381000" lvl="0" marL="457200" rtl="0" algn="l">
              <a:spcBef>
                <a:spcPts val="0"/>
              </a:spcBef>
              <a:spcAft>
                <a:spcPts val="0"/>
              </a:spcAft>
              <a:buSzPts val="2400"/>
              <a:buChar char="●"/>
            </a:pPr>
            <a:r>
              <a:rPr lang="en-GB" sz="2400"/>
              <a:t>X</a:t>
            </a:r>
            <a:r>
              <a:rPr lang="en-GB" sz="2400"/>
              <a:t>ác định phạm vi ca sử dụng:</a:t>
            </a:r>
            <a:endParaRPr sz="2400"/>
          </a:p>
          <a:p>
            <a:pPr indent="-355600" lvl="1" marL="914400" rtl="0" algn="l">
              <a:spcBef>
                <a:spcPts val="0"/>
              </a:spcBef>
              <a:spcAft>
                <a:spcPts val="0"/>
              </a:spcAft>
              <a:buSzPts val="2000"/>
              <a:buChar char="○"/>
            </a:pPr>
            <a:r>
              <a:rPr lang="en-GB" sz="2000"/>
              <a:t>Tạo ra những lợi ích cho người dùng: Ở bước phân tích chúng ta chủ yếu quan tâm đến những tiến trình nghiệp vụ</a:t>
            </a:r>
            <a:endParaRPr sz="2000"/>
          </a:p>
          <a:p>
            <a:pPr indent="-355600" lvl="1" marL="914400" rtl="0" algn="l">
              <a:spcBef>
                <a:spcPts val="0"/>
              </a:spcBef>
              <a:spcAft>
                <a:spcPts val="0"/>
              </a:spcAft>
              <a:buSzPts val="2000"/>
              <a:buChar char="○"/>
            </a:pPr>
            <a:r>
              <a:rPr lang="en-GB" sz="2000"/>
              <a:t>Thường tương ứng với</a:t>
            </a:r>
            <a:r>
              <a:rPr lang="en-GB" sz="2000"/>
              <a:t> các tiến trình nghiệp vụ cơ bản (EBPs).</a:t>
            </a:r>
            <a:endParaRPr sz="1400"/>
          </a:p>
          <a:p>
            <a:pPr indent="-381000" lvl="0" marL="457200" rtl="0" algn="l">
              <a:spcBef>
                <a:spcPts val="0"/>
              </a:spcBef>
              <a:spcAft>
                <a:spcPts val="0"/>
              </a:spcAft>
              <a:buSzPts val="2400"/>
              <a:buChar char="●"/>
            </a:pPr>
            <a:r>
              <a:rPr lang="en-GB" sz="2400"/>
              <a:t>Ca sử dụng được đặt tên theo quy cách Động từ + Danh từ:</a:t>
            </a:r>
            <a:endParaRPr sz="2400"/>
          </a:p>
          <a:p>
            <a:pPr indent="-355600" lvl="1" marL="914400" rtl="0" algn="l">
              <a:spcBef>
                <a:spcPts val="0"/>
              </a:spcBef>
              <a:spcAft>
                <a:spcPts val="0"/>
              </a:spcAft>
              <a:buSzPts val="2000"/>
              <a:buChar char="○"/>
            </a:pPr>
            <a:r>
              <a:rPr lang="en-GB" sz="2000"/>
              <a:t>Ngắn gọn và có tính gợi mở về hoạt động nghiệp vụ</a:t>
            </a:r>
            <a:endParaRPr sz="2000"/>
          </a:p>
        </p:txBody>
      </p:sp>
      <p:sp>
        <p:nvSpPr>
          <p:cNvPr id="250" name="Google Shape;250;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Xác định các ca sử dụng</a:t>
            </a:r>
            <a:endParaRPr/>
          </a:p>
        </p:txBody>
      </p:sp>
      <p:sp>
        <p:nvSpPr>
          <p:cNvPr id="256" name="Google Shape;256;p28"/>
          <p:cNvSpPr txBox="1"/>
          <p:nvPr>
            <p:ph idx="1" type="body"/>
          </p:nvPr>
        </p:nvSpPr>
        <p:spPr>
          <a:xfrm>
            <a:off x="311700" y="1034900"/>
            <a:ext cx="8520600" cy="5286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Các cách tiếp cận tiêu biểu:</a:t>
            </a:r>
            <a:endParaRPr/>
          </a:p>
          <a:p>
            <a:pPr indent="-368300" lvl="1" marL="914400" rtl="0" algn="l">
              <a:spcBef>
                <a:spcPts val="0"/>
              </a:spcBef>
              <a:spcAft>
                <a:spcPts val="0"/>
              </a:spcAft>
              <a:buSzPts val="2200"/>
              <a:buChar char="○"/>
            </a:pPr>
            <a:r>
              <a:rPr lang="en-GB"/>
              <a:t>Dựa trên mục đích của người dùng</a:t>
            </a:r>
            <a:endParaRPr/>
          </a:p>
          <a:p>
            <a:pPr indent="-368300" lvl="1" marL="914400" rtl="0" algn="l">
              <a:spcBef>
                <a:spcPts val="0"/>
              </a:spcBef>
              <a:spcAft>
                <a:spcPts val="0"/>
              </a:spcAft>
              <a:buSzPts val="2200"/>
              <a:buChar char="○"/>
            </a:pPr>
            <a:r>
              <a:rPr lang="en-GB"/>
              <a:t>Dựa trên sự kiện</a:t>
            </a:r>
            <a:endParaRPr/>
          </a:p>
          <a:p>
            <a:pPr indent="-381000" lvl="0" marL="457200" rtl="0" algn="l">
              <a:spcBef>
                <a:spcPts val="0"/>
              </a:spcBef>
              <a:spcAft>
                <a:spcPts val="0"/>
              </a:spcAft>
              <a:buSzPts val="2400"/>
              <a:buChar char="●"/>
            </a:pPr>
            <a:r>
              <a:rPr lang="en-GB"/>
              <a:t>Có thể được thực hiện qua nhiều vòng lặp</a:t>
            </a:r>
            <a:endParaRPr/>
          </a:p>
          <a:p>
            <a:pPr indent="-368300" lvl="1" marL="914400" rtl="0" algn="l">
              <a:spcBef>
                <a:spcPts val="0"/>
              </a:spcBef>
              <a:spcAft>
                <a:spcPts val="0"/>
              </a:spcAft>
              <a:buSzPts val="2200"/>
              <a:buChar char="○"/>
            </a:pPr>
            <a:r>
              <a:rPr lang="en-GB"/>
              <a:t>Kiểm tra kỹ lưỡng tập ca sử dụng hiện có</a:t>
            </a:r>
            <a:endParaRPr/>
          </a:p>
          <a:p>
            <a:pPr indent="-368300" lvl="1" marL="914400" rtl="0" algn="l">
              <a:spcBef>
                <a:spcPts val="0"/>
              </a:spcBef>
              <a:spcAft>
                <a:spcPts val="0"/>
              </a:spcAft>
              <a:buSzPts val="2200"/>
              <a:buChar char="○"/>
            </a:pPr>
            <a:r>
              <a:rPr lang="en-GB"/>
              <a:t>Chia nhỏ</a:t>
            </a:r>
            <a:r>
              <a:rPr lang="en-GB"/>
              <a:t> hoặc hợp nhất ca sử dụng để có được kích thước hợp lý</a:t>
            </a:r>
            <a:endParaRPr/>
          </a:p>
          <a:p>
            <a:pPr indent="-368300" lvl="1" marL="914400" rtl="0" algn="l">
              <a:spcBef>
                <a:spcPts val="0"/>
              </a:spcBef>
              <a:spcAft>
                <a:spcPts val="0"/>
              </a:spcAft>
              <a:buSzPts val="2200"/>
              <a:buChar char="○"/>
            </a:pPr>
            <a:r>
              <a:rPr lang="en-GB"/>
              <a:t>Bổ xung các ca sử dụng mới được phát hiện.</a:t>
            </a:r>
            <a:endParaRPr/>
          </a:p>
        </p:txBody>
      </p:sp>
      <p:sp>
        <p:nvSpPr>
          <p:cNvPr id="257" name="Google Shape;257;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9"/>
          <p:cNvSpPr txBox="1"/>
          <p:nvPr>
            <p:ph idx="1" type="body"/>
          </p:nvPr>
        </p:nvSpPr>
        <p:spPr>
          <a:xfrm>
            <a:off x="311700" y="1034900"/>
            <a:ext cx="8520600" cy="5286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Biểu diễn người dùng hoặc hệ thống ngoại c</a:t>
            </a:r>
            <a:r>
              <a:rPr lang="en-GB"/>
              <a:t>ó tác động lên hệ thống và có trao đổi dữ liệu với hệ thống.</a:t>
            </a:r>
            <a:endParaRPr/>
          </a:p>
          <a:p>
            <a:pPr indent="-368300" lvl="1" marL="914400" rtl="0" algn="l">
              <a:spcBef>
                <a:spcPts val="0"/>
              </a:spcBef>
              <a:spcAft>
                <a:spcPts val="0"/>
              </a:spcAft>
              <a:buSzPts val="2200"/>
              <a:buChar char="○"/>
            </a:pPr>
            <a:r>
              <a:rPr lang="en-GB"/>
              <a:t>Tác nhân là con người được đặt tên theo vai trò/nhóm người dùng</a:t>
            </a:r>
            <a:endParaRPr/>
          </a:p>
          <a:p>
            <a:pPr indent="-368300" lvl="1" marL="914400" rtl="0" algn="l">
              <a:spcBef>
                <a:spcPts val="0"/>
              </a:spcBef>
              <a:spcAft>
                <a:spcPts val="0"/>
              </a:spcAft>
              <a:buSzPts val="2200"/>
              <a:buChar char="○"/>
            </a:pPr>
            <a:r>
              <a:rPr lang="en-GB"/>
              <a:t>Một người có thể giữ nhiều vai trò và nhiều người dùng có thể có cùng vai trò.</a:t>
            </a:r>
            <a:endParaRPr/>
          </a:p>
          <a:p>
            <a:pPr indent="-368300" lvl="1" marL="914400" rtl="0" algn="l">
              <a:spcBef>
                <a:spcPts val="0"/>
              </a:spcBef>
              <a:spcAft>
                <a:spcPts val="0"/>
              </a:spcAft>
              <a:buSzPts val="2200"/>
              <a:buChar char="○"/>
            </a:pPr>
            <a:r>
              <a:rPr lang="en-GB"/>
              <a:t>Tác nhân là hệ thống ngoại được đặt tên theo hệ thống ngoại.</a:t>
            </a:r>
            <a:endParaRPr/>
          </a:p>
          <a:p>
            <a:pPr indent="-381000" lvl="0" marL="457200" rtl="0" algn="l">
              <a:spcBef>
                <a:spcPts val="0"/>
              </a:spcBef>
              <a:spcAft>
                <a:spcPts val="0"/>
              </a:spcAft>
              <a:buSzPts val="2400"/>
              <a:buChar char="●"/>
            </a:pPr>
            <a:r>
              <a:rPr lang="en-GB"/>
              <a:t>Xác định </a:t>
            </a:r>
            <a:r>
              <a:rPr lang="en-GB"/>
              <a:t>nhóm người dùng</a:t>
            </a:r>
            <a:r>
              <a:rPr lang="en-GB"/>
              <a:t>:</a:t>
            </a:r>
            <a:endParaRPr/>
          </a:p>
          <a:p>
            <a:pPr indent="-368300" lvl="1" marL="914400" rtl="0" algn="l">
              <a:spcBef>
                <a:spcPts val="0"/>
              </a:spcBef>
              <a:spcAft>
                <a:spcPts val="0"/>
              </a:spcAft>
              <a:buSzPts val="2200"/>
              <a:buChar char="○"/>
            </a:pPr>
            <a:r>
              <a:rPr lang="en-GB"/>
              <a:t>Theo chức năng nghiệp vụ (ví dụ, giao hàng, bán hàng, tư vấn khách hàng) </a:t>
            </a:r>
            <a:endParaRPr/>
          </a:p>
          <a:p>
            <a:pPr indent="-368300" lvl="1" marL="914400" rtl="0" algn="l">
              <a:spcBef>
                <a:spcPts val="0"/>
              </a:spcBef>
              <a:spcAft>
                <a:spcPts val="0"/>
              </a:spcAft>
              <a:buSzPts val="2200"/>
              <a:buChar char="○"/>
            </a:pPr>
            <a:r>
              <a:rPr lang="en-GB"/>
              <a:t>Theo cơ cấu tổ chức (ví dụ, nhân viên, quản lý, giám đốc)</a:t>
            </a:r>
            <a:endParaRPr/>
          </a:p>
        </p:txBody>
      </p:sp>
      <p:sp>
        <p:nvSpPr>
          <p:cNvPr id="263" name="Google Shape;263;p2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Tác nhân</a:t>
            </a:r>
            <a:endParaRPr/>
          </a:p>
        </p:txBody>
      </p:sp>
      <p:sp>
        <p:nvSpPr>
          <p:cNvPr id="264" name="Google Shape;264;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0"/>
          <p:cNvSpPr txBox="1"/>
          <p:nvPr>
            <p:ph idx="1" type="body"/>
          </p:nvPr>
        </p:nvSpPr>
        <p:spPr>
          <a:xfrm>
            <a:off x="311700" y="1034900"/>
            <a:ext cx="8520600" cy="5286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Thu thập thông tin và tìm hiểu</a:t>
            </a:r>
            <a:r>
              <a:rPr lang="en-GB"/>
              <a:t> mục đích </a:t>
            </a:r>
            <a:r>
              <a:rPr lang="en-GB"/>
              <a:t>sử dụng</a:t>
            </a:r>
            <a:r>
              <a:rPr lang="en-GB"/>
              <a:t> </a:t>
            </a:r>
            <a:r>
              <a:rPr lang="en-GB"/>
              <a:t>hệ thống </a:t>
            </a:r>
            <a:r>
              <a:rPr lang="en-GB"/>
              <a:t>của </a:t>
            </a:r>
            <a:r>
              <a:rPr lang="en-GB"/>
              <a:t>những</a:t>
            </a:r>
            <a:r>
              <a:rPr lang="en-GB"/>
              <a:t> người dùng </a:t>
            </a:r>
            <a:r>
              <a:rPr lang="en-GB"/>
              <a:t>cụ thể thuộc các nhóm</a:t>
            </a:r>
            <a:endParaRPr/>
          </a:p>
          <a:p>
            <a:pPr indent="-368300" lvl="1" marL="914400" rtl="0" algn="l">
              <a:spcBef>
                <a:spcPts val="0"/>
              </a:spcBef>
              <a:spcAft>
                <a:spcPts val="0"/>
              </a:spcAft>
              <a:buSzPts val="2200"/>
              <a:buChar char="○"/>
            </a:pPr>
            <a:r>
              <a:rPr lang="en-GB"/>
              <a:t>Mong chờ gì từ hệ thống?</a:t>
            </a:r>
            <a:endParaRPr/>
          </a:p>
          <a:p>
            <a:pPr indent="-368300" lvl="1" marL="914400" rtl="0" algn="l">
              <a:spcBef>
                <a:spcPts val="0"/>
              </a:spcBef>
              <a:spcAft>
                <a:spcPts val="0"/>
              </a:spcAft>
              <a:buSzPts val="2200"/>
              <a:buChar char="○"/>
            </a:pPr>
            <a:r>
              <a:rPr lang="en-GB"/>
              <a:t>Các yêu cầu cần được đáp ứng?</a:t>
            </a:r>
            <a:endParaRPr/>
          </a:p>
          <a:p>
            <a:pPr indent="-381000" lvl="0" marL="457200" rtl="0" algn="l">
              <a:spcBef>
                <a:spcPts val="0"/>
              </a:spcBef>
              <a:spcAft>
                <a:spcPts val="0"/>
              </a:spcAft>
              <a:buSzPts val="2400"/>
              <a:buChar char="●"/>
            </a:pPr>
            <a:r>
              <a:rPr lang="en-GB"/>
              <a:t>Sắp xếp các yêu cầu theo nhóm người dùng</a:t>
            </a:r>
            <a:endParaRPr/>
          </a:p>
          <a:p>
            <a:pPr indent="-381000" lvl="0" marL="457200" rtl="0" algn="l">
              <a:spcBef>
                <a:spcPts val="0"/>
              </a:spcBef>
              <a:spcAft>
                <a:spcPts val="0"/>
              </a:spcAft>
              <a:buSzPts val="2400"/>
              <a:buChar char="●"/>
            </a:pPr>
            <a:r>
              <a:rPr lang="en-GB"/>
              <a:t>Tạo danh mục ca sử dụng theo nhóm người dùng</a:t>
            </a:r>
            <a:endParaRPr/>
          </a:p>
          <a:p>
            <a:pPr indent="-381000" lvl="0" marL="457200" rtl="0" algn="l">
              <a:spcBef>
                <a:spcPts val="0"/>
              </a:spcBef>
              <a:spcAft>
                <a:spcPts val="0"/>
              </a:spcAft>
              <a:buSzPts val="2400"/>
              <a:buChar char="●"/>
            </a:pPr>
            <a:r>
              <a:rPr lang="en-GB"/>
              <a:t>Xác định các ca sử dụng </a:t>
            </a:r>
            <a:r>
              <a:rPr lang="en-GB"/>
              <a:t>chung của nhiều nhóm người dùng</a:t>
            </a:r>
            <a:endParaRPr/>
          </a:p>
        </p:txBody>
      </p:sp>
      <p:sp>
        <p:nvSpPr>
          <p:cNvPr id="270" name="Google Shape;270;p3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Xác định ca sử dụng theo nhu cầu người dùng</a:t>
            </a:r>
            <a:endParaRPr/>
          </a:p>
        </p:txBody>
      </p:sp>
      <p:sp>
        <p:nvSpPr>
          <p:cNvPr id="271" name="Google Shape;271;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1"/>
          <p:cNvSpPr/>
          <p:nvPr/>
        </p:nvSpPr>
        <p:spPr>
          <a:xfrm>
            <a:off x="287200" y="935800"/>
            <a:ext cx="8565300" cy="528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2.5. Nhu cầu người dùng và ca sử dụng</a:t>
            </a:r>
            <a:endParaRPr/>
          </a:p>
        </p:txBody>
      </p:sp>
      <p:graphicFrame>
        <p:nvGraphicFramePr>
          <p:cNvPr id="278" name="Google Shape;278;p31"/>
          <p:cNvGraphicFramePr/>
          <p:nvPr/>
        </p:nvGraphicFramePr>
        <p:xfrm>
          <a:off x="423775" y="1064600"/>
          <a:ext cx="3000000" cy="3000000"/>
        </p:xfrm>
        <a:graphic>
          <a:graphicData uri="http://schemas.openxmlformats.org/drawingml/2006/table">
            <a:tbl>
              <a:tblPr>
                <a:noFill/>
                <a:tableStyleId>{70663242-BC61-42DA-8F7E-C39FB40C49E1}</a:tableStyleId>
              </a:tblPr>
              <a:tblGrid>
                <a:gridCol w="3492875"/>
                <a:gridCol w="4831100"/>
              </a:tblGrid>
              <a:tr h="579825">
                <a:tc>
                  <a:txBody>
                    <a:bodyPr/>
                    <a:lstStyle/>
                    <a:p>
                      <a:pPr indent="0" lvl="0" marL="0" rtl="0" algn="l">
                        <a:spcBef>
                          <a:spcPts val="0"/>
                        </a:spcBef>
                        <a:spcAft>
                          <a:spcPts val="0"/>
                        </a:spcAft>
                        <a:buNone/>
                      </a:pPr>
                      <a:r>
                        <a:rPr b="1" lang="en-GB" sz="2400">
                          <a:latin typeface="Times New Roman"/>
                          <a:ea typeface="Times New Roman"/>
                          <a:cs typeface="Times New Roman"/>
                          <a:sym typeface="Times New Roman"/>
                        </a:rPr>
                        <a:t>Nhóm n</a:t>
                      </a:r>
                      <a:r>
                        <a:rPr b="1" lang="en-GB" sz="2400">
                          <a:latin typeface="Times New Roman"/>
                          <a:ea typeface="Times New Roman"/>
                          <a:cs typeface="Times New Roman"/>
                          <a:sym typeface="Times New Roman"/>
                        </a:rPr>
                        <a:t>gười dùng</a:t>
                      </a:r>
                      <a:endParaRPr b="1" sz="2400">
                        <a:latin typeface="Times New Roman"/>
                        <a:ea typeface="Times New Roman"/>
                        <a:cs typeface="Times New Roman"/>
                        <a:sym typeface="Times New Roman"/>
                      </a:endParaRPr>
                    </a:p>
                  </a:txBody>
                  <a:tcPr marT="121900" marB="121900" marR="91425" marL="91425">
                    <a:solidFill>
                      <a:srgbClr val="9FC5E8"/>
                    </a:solidFill>
                  </a:tcPr>
                </a:tc>
                <a:tc>
                  <a:txBody>
                    <a:bodyPr/>
                    <a:lstStyle/>
                    <a:p>
                      <a:pPr indent="0" lvl="0" marL="0" rtl="0" algn="l">
                        <a:spcBef>
                          <a:spcPts val="0"/>
                        </a:spcBef>
                        <a:spcAft>
                          <a:spcPts val="0"/>
                        </a:spcAft>
                        <a:buNone/>
                      </a:pPr>
                      <a:r>
                        <a:rPr b="1" lang="en-GB" sz="2400">
                          <a:latin typeface="Times New Roman"/>
                          <a:ea typeface="Times New Roman"/>
                          <a:cs typeface="Times New Roman"/>
                          <a:sym typeface="Times New Roman"/>
                        </a:rPr>
                        <a:t>Nhu cầu và ca sử dụng</a:t>
                      </a:r>
                      <a:endParaRPr b="1" sz="2400">
                        <a:latin typeface="Times New Roman"/>
                        <a:ea typeface="Times New Roman"/>
                        <a:cs typeface="Times New Roman"/>
                        <a:sym typeface="Times New Roman"/>
                      </a:endParaRPr>
                    </a:p>
                  </a:txBody>
                  <a:tcPr marT="121900" marB="121900" marR="91425" marL="91425">
                    <a:solidFill>
                      <a:srgbClr val="9FC5E8"/>
                    </a:solidFill>
                  </a:tcPr>
                </a:tc>
              </a:tr>
              <a:tr h="896700">
                <a:tc>
                  <a:txBody>
                    <a:bodyPr/>
                    <a:lstStyle/>
                    <a:p>
                      <a:pPr indent="0" lvl="0" marL="0" rtl="0" algn="l">
                        <a:spcBef>
                          <a:spcPts val="0"/>
                        </a:spcBef>
                        <a:spcAft>
                          <a:spcPts val="0"/>
                        </a:spcAft>
                        <a:buNone/>
                      </a:pPr>
                      <a:r>
                        <a:rPr lang="en-GB" sz="2400">
                          <a:latin typeface="Times New Roman"/>
                          <a:ea typeface="Times New Roman"/>
                          <a:cs typeface="Times New Roman"/>
                          <a:sym typeface="Times New Roman"/>
                        </a:rPr>
                        <a:t>Khách hàng</a:t>
                      </a:r>
                      <a:endParaRPr sz="2400">
                        <a:latin typeface="Times New Roman"/>
                        <a:ea typeface="Times New Roman"/>
                        <a:cs typeface="Times New Roman"/>
                        <a:sym typeface="Times New Roman"/>
                      </a:endParaRPr>
                    </a:p>
                  </a:txBody>
                  <a:tcPr marT="121900" marB="121900" marR="91425" marL="91425"/>
                </a:tc>
                <a:tc>
                  <a:txBody>
                    <a:bodyPr/>
                    <a:lstStyle/>
                    <a:p>
                      <a:pPr indent="0" lvl="0" marL="0" rtl="0" algn="l">
                        <a:spcBef>
                          <a:spcPts val="0"/>
                        </a:spcBef>
                        <a:spcAft>
                          <a:spcPts val="0"/>
                        </a:spcAft>
                        <a:buNone/>
                      </a:pPr>
                      <a:r>
                        <a:rPr lang="en-GB" sz="2400">
                          <a:latin typeface="Times New Roman"/>
                          <a:ea typeface="Times New Roman"/>
                          <a:cs typeface="Times New Roman"/>
                          <a:sym typeface="Times New Roman"/>
                        </a:rPr>
                        <a:t>Tìm kiếm sản phẩm</a:t>
                      </a:r>
                      <a:endParaRPr sz="2400">
                        <a:latin typeface="Times New Roman"/>
                        <a:ea typeface="Times New Roman"/>
                        <a:cs typeface="Times New Roman"/>
                        <a:sym typeface="Times New Roman"/>
                      </a:endParaRPr>
                    </a:p>
                    <a:p>
                      <a:pPr indent="0" lvl="0" marL="0" rtl="0" algn="l">
                        <a:spcBef>
                          <a:spcPts val="0"/>
                        </a:spcBef>
                        <a:spcAft>
                          <a:spcPts val="0"/>
                        </a:spcAft>
                        <a:buNone/>
                      </a:pPr>
                      <a:r>
                        <a:rPr lang="en-GB" sz="2400">
                          <a:latin typeface="Times New Roman"/>
                          <a:ea typeface="Times New Roman"/>
                          <a:cs typeface="Times New Roman"/>
                          <a:sym typeface="Times New Roman"/>
                        </a:rPr>
                        <a:t>Thêm hàng vào giỏ</a:t>
                      </a:r>
                      <a:endParaRPr sz="2400">
                        <a:latin typeface="Times New Roman"/>
                        <a:ea typeface="Times New Roman"/>
                        <a:cs typeface="Times New Roman"/>
                        <a:sym typeface="Times New Roman"/>
                      </a:endParaRPr>
                    </a:p>
                    <a:p>
                      <a:pPr indent="0" lvl="0" marL="0" rtl="0" algn="l">
                        <a:spcBef>
                          <a:spcPts val="0"/>
                        </a:spcBef>
                        <a:spcAft>
                          <a:spcPts val="0"/>
                        </a:spcAft>
                        <a:buNone/>
                      </a:pPr>
                      <a:r>
                        <a:rPr lang="en-GB" sz="2400">
                          <a:latin typeface="Times New Roman"/>
                          <a:ea typeface="Times New Roman"/>
                          <a:cs typeface="Times New Roman"/>
                          <a:sym typeface="Times New Roman"/>
                        </a:rPr>
                        <a:t>Xem phản hồi về sản phẩm</a:t>
                      </a:r>
                      <a:endParaRPr sz="24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GB" sz="2400">
                          <a:solidFill>
                            <a:schemeClr val="dk1"/>
                          </a:solidFill>
                          <a:latin typeface="Times New Roman"/>
                          <a:ea typeface="Times New Roman"/>
                          <a:cs typeface="Times New Roman"/>
                          <a:sym typeface="Times New Roman"/>
                        </a:rPr>
                        <a:t>Theo dõi trạng thái giao hàng</a:t>
                      </a:r>
                      <a:endParaRPr sz="2400">
                        <a:latin typeface="Times New Roman"/>
                        <a:ea typeface="Times New Roman"/>
                        <a:cs typeface="Times New Roman"/>
                        <a:sym typeface="Times New Roman"/>
                      </a:endParaRPr>
                    </a:p>
                  </a:txBody>
                  <a:tcPr marT="121900" marB="121900" marR="91425" marL="91425"/>
                </a:tc>
              </a:tr>
              <a:tr h="896700">
                <a:tc>
                  <a:txBody>
                    <a:bodyPr/>
                    <a:lstStyle/>
                    <a:p>
                      <a:pPr indent="0" lvl="0" marL="0" rtl="0" algn="l">
                        <a:spcBef>
                          <a:spcPts val="0"/>
                        </a:spcBef>
                        <a:spcAft>
                          <a:spcPts val="0"/>
                        </a:spcAft>
                        <a:buNone/>
                      </a:pPr>
                      <a:r>
                        <a:rPr lang="en-GB" sz="2400">
                          <a:latin typeface="Times New Roman"/>
                          <a:ea typeface="Times New Roman"/>
                          <a:cs typeface="Times New Roman"/>
                          <a:sym typeface="Times New Roman"/>
                        </a:rPr>
                        <a:t>Người quản lý marketing</a:t>
                      </a:r>
                      <a:endParaRPr sz="2400">
                        <a:latin typeface="Times New Roman"/>
                        <a:ea typeface="Times New Roman"/>
                        <a:cs typeface="Times New Roman"/>
                        <a:sym typeface="Times New Roman"/>
                      </a:endParaRPr>
                    </a:p>
                  </a:txBody>
                  <a:tcPr marT="121900" marB="121900" marR="91425" marL="91425"/>
                </a:tc>
                <a:tc>
                  <a:txBody>
                    <a:bodyPr/>
                    <a:lstStyle/>
                    <a:p>
                      <a:pPr indent="0" lvl="0" marL="0" rtl="0" algn="l">
                        <a:spcBef>
                          <a:spcPts val="0"/>
                        </a:spcBef>
                        <a:spcAft>
                          <a:spcPts val="0"/>
                        </a:spcAft>
                        <a:buNone/>
                      </a:pPr>
                      <a:r>
                        <a:rPr lang="en-GB" sz="2400">
                          <a:latin typeface="Times New Roman"/>
                          <a:ea typeface="Times New Roman"/>
                          <a:cs typeface="Times New Roman"/>
                          <a:sym typeface="Times New Roman"/>
                        </a:rPr>
                        <a:t>Thêm và cập nhật thông tin sản phẩm</a:t>
                      </a:r>
                      <a:endParaRPr sz="2400">
                        <a:latin typeface="Times New Roman"/>
                        <a:ea typeface="Times New Roman"/>
                        <a:cs typeface="Times New Roman"/>
                        <a:sym typeface="Times New Roman"/>
                      </a:endParaRPr>
                    </a:p>
                    <a:p>
                      <a:pPr indent="0" lvl="0" marL="0" rtl="0" algn="l">
                        <a:spcBef>
                          <a:spcPts val="0"/>
                        </a:spcBef>
                        <a:spcAft>
                          <a:spcPts val="0"/>
                        </a:spcAft>
                        <a:buNone/>
                      </a:pPr>
                      <a:r>
                        <a:rPr lang="en-GB" sz="2400">
                          <a:latin typeface="Times New Roman"/>
                          <a:ea typeface="Times New Roman"/>
                          <a:cs typeface="Times New Roman"/>
                          <a:sym typeface="Times New Roman"/>
                        </a:rPr>
                        <a:t>Thêm và cập nhật chương trình khuyến mãi</a:t>
                      </a:r>
                      <a:endParaRPr sz="2400">
                        <a:latin typeface="Times New Roman"/>
                        <a:ea typeface="Times New Roman"/>
                        <a:cs typeface="Times New Roman"/>
                        <a:sym typeface="Times New Roman"/>
                      </a:endParaRPr>
                    </a:p>
                    <a:p>
                      <a:pPr indent="0" lvl="0" marL="0" rtl="0" algn="l">
                        <a:spcBef>
                          <a:spcPts val="0"/>
                        </a:spcBef>
                        <a:spcAft>
                          <a:spcPts val="0"/>
                        </a:spcAft>
                        <a:buNone/>
                      </a:pPr>
                      <a:r>
                        <a:rPr lang="en-GB" sz="2400">
                          <a:latin typeface="Times New Roman"/>
                          <a:ea typeface="Times New Roman"/>
                          <a:cs typeface="Times New Roman"/>
                          <a:sym typeface="Times New Roman"/>
                        </a:rPr>
                        <a:t>Tạo báo cáo bán hàng</a:t>
                      </a:r>
                      <a:endParaRPr sz="2400">
                        <a:latin typeface="Times New Roman"/>
                        <a:ea typeface="Times New Roman"/>
                        <a:cs typeface="Times New Roman"/>
                        <a:sym typeface="Times New Roman"/>
                      </a:endParaRPr>
                    </a:p>
                  </a:txBody>
                  <a:tcPr marT="121900" marB="121900" marR="91425" marL="91425"/>
                </a:tc>
              </a:tr>
              <a:tr h="896700">
                <a:tc>
                  <a:txBody>
                    <a:bodyPr/>
                    <a:lstStyle/>
                    <a:p>
                      <a:pPr indent="0" lvl="0" marL="0" rtl="0" algn="l">
                        <a:spcBef>
                          <a:spcPts val="0"/>
                        </a:spcBef>
                        <a:spcAft>
                          <a:spcPts val="0"/>
                        </a:spcAft>
                        <a:buNone/>
                      </a:pPr>
                      <a:r>
                        <a:rPr lang="en-GB" sz="2400">
                          <a:latin typeface="Times New Roman"/>
                          <a:ea typeface="Times New Roman"/>
                          <a:cs typeface="Times New Roman"/>
                          <a:sym typeface="Times New Roman"/>
                        </a:rPr>
                        <a:t>Nhân viên giao hàng</a:t>
                      </a:r>
                      <a:endParaRPr sz="2400">
                        <a:latin typeface="Times New Roman"/>
                        <a:ea typeface="Times New Roman"/>
                        <a:cs typeface="Times New Roman"/>
                        <a:sym typeface="Times New Roman"/>
                      </a:endParaRPr>
                    </a:p>
                  </a:txBody>
                  <a:tcPr marT="121900" marB="121900" marR="91425" marL="91425"/>
                </a:tc>
                <a:tc>
                  <a:txBody>
                    <a:bodyPr/>
                    <a:lstStyle/>
                    <a:p>
                      <a:pPr indent="0" lvl="0" marL="0" rtl="0" algn="l">
                        <a:spcBef>
                          <a:spcPts val="0"/>
                        </a:spcBef>
                        <a:spcAft>
                          <a:spcPts val="0"/>
                        </a:spcAft>
                        <a:buNone/>
                      </a:pPr>
                      <a:r>
                        <a:rPr lang="en-GB" sz="2400">
                          <a:latin typeface="Times New Roman"/>
                          <a:ea typeface="Times New Roman"/>
                          <a:cs typeface="Times New Roman"/>
                          <a:sym typeface="Times New Roman"/>
                        </a:rPr>
                        <a:t>Giao sản phẩm</a:t>
                      </a:r>
                      <a:endParaRPr sz="2400">
                        <a:latin typeface="Times New Roman"/>
                        <a:ea typeface="Times New Roman"/>
                        <a:cs typeface="Times New Roman"/>
                        <a:sym typeface="Times New Roman"/>
                      </a:endParaRPr>
                    </a:p>
                    <a:p>
                      <a:pPr indent="0" lvl="0" marL="0" rtl="0" algn="l">
                        <a:spcBef>
                          <a:spcPts val="0"/>
                        </a:spcBef>
                        <a:spcAft>
                          <a:spcPts val="0"/>
                        </a:spcAft>
                        <a:buNone/>
                      </a:pPr>
                      <a:r>
                        <a:rPr lang="en-GB" sz="2400">
                          <a:latin typeface="Times New Roman"/>
                          <a:ea typeface="Times New Roman"/>
                          <a:cs typeface="Times New Roman"/>
                          <a:sym typeface="Times New Roman"/>
                        </a:rPr>
                        <a:t>Theo dõi trạng thái giao hàng</a:t>
                      </a:r>
                      <a:endParaRPr sz="2400">
                        <a:latin typeface="Times New Roman"/>
                        <a:ea typeface="Times New Roman"/>
                        <a:cs typeface="Times New Roman"/>
                        <a:sym typeface="Times New Roman"/>
                      </a:endParaRPr>
                    </a:p>
                    <a:p>
                      <a:pPr indent="0" lvl="0" marL="0" rtl="0" algn="l">
                        <a:spcBef>
                          <a:spcPts val="0"/>
                        </a:spcBef>
                        <a:spcAft>
                          <a:spcPts val="0"/>
                        </a:spcAft>
                        <a:buNone/>
                      </a:pPr>
                      <a:r>
                        <a:rPr lang="en-GB" sz="2400">
                          <a:latin typeface="Times New Roman"/>
                          <a:ea typeface="Times New Roman"/>
                          <a:cs typeface="Times New Roman"/>
                          <a:sym typeface="Times New Roman"/>
                        </a:rPr>
                        <a:t>Tạo yêu cầu trả hàng</a:t>
                      </a:r>
                      <a:endParaRPr sz="2400">
                        <a:latin typeface="Times New Roman"/>
                        <a:ea typeface="Times New Roman"/>
                        <a:cs typeface="Times New Roman"/>
                        <a:sym typeface="Times New Roman"/>
                      </a:endParaRPr>
                    </a:p>
                  </a:txBody>
                  <a:tcPr marT="121900" marB="121900" marR="91425" marL="91425"/>
                </a:tc>
              </a:tr>
            </a:tbl>
          </a:graphicData>
        </a:graphic>
      </p:graphicFrame>
      <p:sp>
        <p:nvSpPr>
          <p:cNvPr id="279" name="Google Shape;279;p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Xác định ca sử dụng theo sự kiện</a:t>
            </a:r>
            <a:endParaRPr/>
          </a:p>
        </p:txBody>
      </p:sp>
      <p:sp>
        <p:nvSpPr>
          <p:cNvPr id="285" name="Google Shape;285;p32"/>
          <p:cNvSpPr txBox="1"/>
          <p:nvPr>
            <p:ph idx="1" type="body"/>
          </p:nvPr>
        </p:nvSpPr>
        <p:spPr>
          <a:xfrm>
            <a:off x="311700" y="1034900"/>
            <a:ext cx="8520600" cy="5286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Sự kiện - Những diễn biến phát sinh ở một thời điểm và địa điểm cụ thế, có thể mô tả được, cần được ghi nhớ bởi hệ thốn</a:t>
            </a:r>
            <a:r>
              <a:rPr lang="en-GB"/>
              <a:t>g, kích hoạt một tiến trình của hệ thống</a:t>
            </a:r>
            <a:endParaRPr/>
          </a:p>
          <a:p>
            <a:pPr indent="-381000" lvl="0" marL="457200" rtl="0" algn="l">
              <a:spcBef>
                <a:spcPts val="0"/>
              </a:spcBef>
              <a:spcAft>
                <a:spcPts val="0"/>
              </a:spcAft>
              <a:buSzPts val="2400"/>
              <a:buChar char="●"/>
            </a:pPr>
            <a:r>
              <a:rPr lang="en-GB"/>
              <a:t>Có thể được phát hiện thông qua quan sát hoạt động thực tế.</a:t>
            </a:r>
            <a:endParaRPr/>
          </a:p>
          <a:p>
            <a:pPr indent="-381000" lvl="0" marL="457200" rtl="0" algn="l">
              <a:spcBef>
                <a:spcPts val="0"/>
              </a:spcBef>
              <a:spcAft>
                <a:spcPts val="0"/>
              </a:spcAft>
              <a:buSzPts val="2400"/>
              <a:buChar char="●"/>
            </a:pPr>
            <a:r>
              <a:rPr lang="en-GB"/>
              <a:t>Ví dụ: </a:t>
            </a:r>
            <a:r>
              <a:rPr lang="en-GB"/>
              <a:t>Khách hàng thanh toán tiền mua sản phẩm</a:t>
            </a:r>
            <a:endParaRPr/>
          </a:p>
          <a:p>
            <a:pPr indent="0" lvl="0" marL="0" rtl="0" algn="ctr">
              <a:spcBef>
                <a:spcPts val="0"/>
              </a:spcBef>
              <a:spcAft>
                <a:spcPts val="0"/>
              </a:spcAft>
              <a:buNone/>
            </a:pPr>
            <a:r>
              <a:t/>
            </a:r>
            <a:endParaRPr i="1"/>
          </a:p>
          <a:p>
            <a:pPr indent="0" lvl="0" marL="0" rtl="0" algn="ctr">
              <a:spcBef>
                <a:spcPts val="0"/>
              </a:spcBef>
              <a:spcAft>
                <a:spcPts val="0"/>
              </a:spcAft>
              <a:buNone/>
            </a:pPr>
            <a:r>
              <a:rPr i="1" lang="en-GB"/>
              <a:t>Các sự kiện nào cần phản hồi của hệ thống?</a:t>
            </a:r>
            <a:endParaRPr i="1"/>
          </a:p>
        </p:txBody>
      </p:sp>
      <p:sp>
        <p:nvSpPr>
          <p:cNvPr id="286" name="Google Shape;286;p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Phân loại </a:t>
            </a:r>
            <a:r>
              <a:rPr lang="en-GB"/>
              <a:t>các </a:t>
            </a:r>
            <a:r>
              <a:rPr lang="en-GB"/>
              <a:t>sự kiện </a:t>
            </a:r>
            <a:r>
              <a:rPr lang="en-GB"/>
              <a:t>cần được quan tâm</a:t>
            </a:r>
            <a:endParaRPr/>
          </a:p>
        </p:txBody>
      </p:sp>
      <p:sp>
        <p:nvSpPr>
          <p:cNvPr id="292" name="Google Shape;292;p33"/>
          <p:cNvSpPr txBox="1"/>
          <p:nvPr>
            <p:ph idx="1" type="body"/>
          </p:nvPr>
        </p:nvSpPr>
        <p:spPr>
          <a:xfrm>
            <a:off x="311700" y="1034900"/>
            <a:ext cx="8520600" cy="5286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Sự kiện ngoại được khởi tạo bởi một tác nhân của hệ thống</a:t>
            </a:r>
            <a:endParaRPr/>
          </a:p>
          <a:p>
            <a:pPr indent="-368300" lvl="1" marL="914400" rtl="0" algn="l">
              <a:spcBef>
                <a:spcPts val="0"/>
              </a:spcBef>
              <a:spcAft>
                <a:spcPts val="0"/>
              </a:spcAft>
              <a:buSzPts val="2200"/>
              <a:buChar char="○"/>
            </a:pPr>
            <a:r>
              <a:rPr lang="en-GB"/>
              <a:t>Tác nhân muốn hoàn thành 1 giao dịch</a:t>
            </a:r>
            <a:endParaRPr/>
          </a:p>
          <a:p>
            <a:pPr indent="-368300" lvl="1" marL="914400" rtl="0" algn="l">
              <a:spcBef>
                <a:spcPts val="0"/>
              </a:spcBef>
              <a:spcAft>
                <a:spcPts val="0"/>
              </a:spcAft>
              <a:buSzPts val="2200"/>
              <a:buChar char="○"/>
            </a:pPr>
            <a:r>
              <a:rPr lang="en-GB"/>
              <a:t>Tác nhân muốn tra cứu thông tin</a:t>
            </a:r>
            <a:endParaRPr/>
          </a:p>
          <a:p>
            <a:pPr indent="-368300" lvl="1" marL="914400" rtl="0" algn="l">
              <a:spcBef>
                <a:spcPts val="0"/>
              </a:spcBef>
              <a:spcAft>
                <a:spcPts val="0"/>
              </a:spcAft>
              <a:buSzPts val="2200"/>
              <a:buChar char="○"/>
            </a:pPr>
            <a:r>
              <a:rPr lang="en-GB"/>
              <a:t>Dữ liệu đã thay đổi và cần được cập nhật</a:t>
            </a:r>
            <a:endParaRPr/>
          </a:p>
          <a:p>
            <a:pPr indent="-381000" lvl="0" marL="457200" rtl="0" algn="l">
              <a:spcBef>
                <a:spcPts val="0"/>
              </a:spcBef>
              <a:spcAft>
                <a:spcPts val="0"/>
              </a:spcAft>
              <a:buSzPts val="2400"/>
              <a:buChar char="●"/>
            </a:pPr>
            <a:r>
              <a:rPr lang="en-GB"/>
              <a:t>Sự kiện thời gian phát sinh ở 1 thời điểm </a:t>
            </a:r>
            <a:r>
              <a:rPr lang="en-GB"/>
              <a:t>hoặc sau 1 khoảng thời gian.</a:t>
            </a:r>
            <a:endParaRPr/>
          </a:p>
          <a:p>
            <a:pPr indent="-368300" lvl="1" marL="914400" rtl="0" algn="l">
              <a:spcBef>
                <a:spcPts val="0"/>
              </a:spcBef>
              <a:spcAft>
                <a:spcPts val="0"/>
              </a:spcAft>
              <a:buSzPts val="2200"/>
              <a:buChar char="○"/>
            </a:pPr>
            <a:r>
              <a:rPr lang="en-GB"/>
              <a:t>Cần xuất thông tin: </a:t>
            </a:r>
            <a:endParaRPr/>
          </a:p>
          <a:p>
            <a:pPr indent="-342900" lvl="2" marL="1371600" rtl="0" algn="l">
              <a:spcBef>
                <a:spcPts val="0"/>
              </a:spcBef>
              <a:spcAft>
                <a:spcPts val="0"/>
              </a:spcAft>
              <a:buSzPts val="1800"/>
              <a:buChar char="■"/>
            </a:pPr>
            <a:r>
              <a:rPr lang="en-GB"/>
              <a:t>Các báo cáo phục vụ quản lý, vận hành</a:t>
            </a:r>
            <a:endParaRPr/>
          </a:p>
          <a:p>
            <a:pPr indent="-342900" lvl="2" marL="1371600" rtl="0" algn="l">
              <a:spcBef>
                <a:spcPts val="0"/>
              </a:spcBef>
              <a:spcAft>
                <a:spcPts val="0"/>
              </a:spcAft>
              <a:buSzPts val="1800"/>
              <a:buChar char="■"/>
            </a:pPr>
            <a:r>
              <a:rPr lang="en-GB"/>
              <a:t>Thông báo nhắc nhở</a:t>
            </a:r>
            <a:endParaRPr/>
          </a:p>
          <a:p>
            <a:pPr indent="-381000" lvl="0" marL="457200" rtl="0" algn="l">
              <a:spcBef>
                <a:spcPts val="0"/>
              </a:spcBef>
              <a:spcAft>
                <a:spcPts val="0"/>
              </a:spcAft>
              <a:buSzPts val="2400"/>
              <a:buChar char="●"/>
            </a:pPr>
            <a:r>
              <a:rPr lang="en-GB"/>
              <a:t>Sự kiện trạng thá</a:t>
            </a:r>
            <a:r>
              <a:rPr lang="en-GB"/>
              <a:t>i p</a:t>
            </a:r>
            <a:r>
              <a:rPr lang="en-GB"/>
              <a:t>hát sinh </a:t>
            </a:r>
            <a:r>
              <a:rPr lang="en-GB"/>
              <a:t>ở một trạng thái</a:t>
            </a:r>
            <a:r>
              <a:rPr lang="en-GB"/>
              <a:t> </a:t>
            </a:r>
            <a:r>
              <a:rPr lang="en-GB"/>
              <a:t>của </a:t>
            </a:r>
            <a:r>
              <a:rPr lang="en-GB"/>
              <a:t>hệ thống</a:t>
            </a:r>
            <a:endParaRPr/>
          </a:p>
          <a:p>
            <a:pPr indent="-368300" lvl="1" marL="914400" rtl="0" algn="l">
              <a:spcBef>
                <a:spcPts val="0"/>
              </a:spcBef>
              <a:spcAft>
                <a:spcPts val="0"/>
              </a:spcAft>
              <a:buSzPts val="2200"/>
              <a:buChar char="○"/>
            </a:pPr>
            <a:r>
              <a:rPr lang="en-GB"/>
              <a:t>Ví dụ, gần hết pin -&gt; chuyển sang chế độ tiết kiệm pin, hiển thị thông báo </a:t>
            </a:r>
            <a:endParaRPr/>
          </a:p>
          <a:p>
            <a:pPr indent="-368300" lvl="1" marL="914400" rtl="0" algn="l">
              <a:spcBef>
                <a:spcPts val="0"/>
              </a:spcBef>
              <a:spcAft>
                <a:spcPts val="0"/>
              </a:spcAft>
              <a:buSzPts val="2200"/>
              <a:buChar char="○"/>
            </a:pPr>
            <a:r>
              <a:rPr lang="en-GB"/>
              <a:t>Số lượng tồn kho giảm xuống thấp hơn ngưỡng -&gt; Gửi yêu cầu nhập hàng.</a:t>
            </a:r>
            <a:endParaRPr/>
          </a:p>
        </p:txBody>
      </p:sp>
      <p:sp>
        <p:nvSpPr>
          <p:cNvPr id="293" name="Google Shape;293;p3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94" name="Google Shape;294;p33"/>
          <p:cNvSpPr txBox="1"/>
          <p:nvPr/>
        </p:nvSpPr>
        <p:spPr>
          <a:xfrm>
            <a:off x="386500" y="6184025"/>
            <a:ext cx="1236000" cy="40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4"/>
          <p:cNvSpPr/>
          <p:nvPr/>
        </p:nvSpPr>
        <p:spPr>
          <a:xfrm>
            <a:off x="2140950" y="104433"/>
            <a:ext cx="6945000" cy="6387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4"/>
          <p:cNvSpPr/>
          <p:nvPr/>
        </p:nvSpPr>
        <p:spPr>
          <a:xfrm>
            <a:off x="3172250" y="1425500"/>
            <a:ext cx="5352372" cy="4666464"/>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4"/>
          <p:cNvSpPr txBox="1"/>
          <p:nvPr/>
        </p:nvSpPr>
        <p:spPr>
          <a:xfrm>
            <a:off x="4843050" y="1862100"/>
            <a:ext cx="2488800" cy="74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a:latin typeface="Times New Roman"/>
                <a:ea typeface="Times New Roman"/>
                <a:cs typeface="Times New Roman"/>
                <a:sym typeface="Times New Roman"/>
              </a:rPr>
              <a:t>Sự kiện </a:t>
            </a:r>
            <a:r>
              <a:rPr i="1" lang="en-GB">
                <a:latin typeface="Times New Roman"/>
                <a:ea typeface="Times New Roman"/>
                <a:cs typeface="Times New Roman"/>
                <a:sym typeface="Times New Roman"/>
              </a:rPr>
              <a:t>thời gian</a:t>
            </a:r>
            <a:r>
              <a:rPr i="1" lang="en-GB">
                <a:latin typeface="Times New Roman"/>
                <a:ea typeface="Times New Roman"/>
                <a:cs typeface="Times New Roman"/>
                <a:sym typeface="Times New Roman"/>
              </a:rPr>
              <a:t> </a:t>
            </a:r>
            <a:r>
              <a:rPr i="1" lang="en-GB">
                <a:latin typeface="Times New Roman"/>
                <a:ea typeface="Times New Roman"/>
                <a:cs typeface="Times New Roman"/>
                <a:sym typeface="Times New Roman"/>
              </a:rPr>
              <a:t>và sự kiện trạng thái được kích hoạt bởi các yếu tố</a:t>
            </a:r>
            <a:r>
              <a:rPr i="1" lang="en-GB">
                <a:latin typeface="Times New Roman"/>
                <a:ea typeface="Times New Roman"/>
                <a:cs typeface="Times New Roman"/>
                <a:sym typeface="Times New Roman"/>
              </a:rPr>
              <a:t> bên trong hệ thống</a:t>
            </a:r>
            <a:endParaRPr i="1">
              <a:latin typeface="Times New Roman"/>
              <a:ea typeface="Times New Roman"/>
              <a:cs typeface="Times New Roman"/>
              <a:sym typeface="Times New Roman"/>
            </a:endParaRPr>
          </a:p>
        </p:txBody>
      </p:sp>
      <p:sp>
        <p:nvSpPr>
          <p:cNvPr id="302" name="Google Shape;302;p34"/>
          <p:cNvSpPr txBox="1"/>
          <p:nvPr/>
        </p:nvSpPr>
        <p:spPr>
          <a:xfrm>
            <a:off x="3748800" y="2628425"/>
            <a:ext cx="4131600" cy="41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u="sng">
                <a:latin typeface="Times New Roman"/>
                <a:ea typeface="Times New Roman"/>
                <a:cs typeface="Times New Roman"/>
                <a:sym typeface="Times New Roman"/>
              </a:rPr>
              <a:t>      Hệ thống thu phí dịch vụ___</a:t>
            </a:r>
            <a:endParaRPr b="1" sz="1600">
              <a:latin typeface="Times New Roman"/>
              <a:ea typeface="Times New Roman"/>
              <a:cs typeface="Times New Roman"/>
              <a:sym typeface="Times New Roman"/>
            </a:endParaRPr>
          </a:p>
        </p:txBody>
      </p:sp>
      <p:sp>
        <p:nvSpPr>
          <p:cNvPr id="303" name="Google Shape;303;p34"/>
          <p:cNvSpPr txBox="1"/>
          <p:nvPr/>
        </p:nvSpPr>
        <p:spPr>
          <a:xfrm>
            <a:off x="6146575" y="3208900"/>
            <a:ext cx="2049600" cy="1179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"Đến thời gian </a:t>
            </a:r>
            <a:r>
              <a:rPr lang="en-GB" sz="1600">
                <a:latin typeface="Times New Roman"/>
                <a:ea typeface="Times New Roman"/>
                <a:cs typeface="Times New Roman"/>
                <a:sym typeface="Times New Roman"/>
              </a:rPr>
              <a:t>gửi báo cáo tổng hợp</a:t>
            </a:r>
            <a:r>
              <a:rPr lang="en-GB" sz="1600">
                <a:latin typeface="Times New Roman"/>
                <a:ea typeface="Times New Roman"/>
                <a:cs typeface="Times New Roman"/>
                <a:sym typeface="Times New Roman"/>
              </a:rPr>
              <a:t>" - ca sử dụng </a:t>
            </a:r>
            <a:r>
              <a:rPr i="1" lang="en-GB" sz="1600">
                <a:latin typeface="Times New Roman"/>
                <a:ea typeface="Times New Roman"/>
                <a:cs typeface="Times New Roman"/>
                <a:sym typeface="Times New Roman"/>
              </a:rPr>
              <a:t>Gửi báo cáo tổng hợp</a:t>
            </a:r>
            <a:endParaRPr i="1" sz="1600">
              <a:latin typeface="Times New Roman"/>
              <a:ea typeface="Times New Roman"/>
              <a:cs typeface="Times New Roman"/>
              <a:sym typeface="Times New Roman"/>
            </a:endParaRPr>
          </a:p>
        </p:txBody>
      </p:sp>
      <p:sp>
        <p:nvSpPr>
          <p:cNvPr id="304" name="Google Shape;304;p34"/>
          <p:cNvSpPr txBox="1"/>
          <p:nvPr/>
        </p:nvSpPr>
        <p:spPr>
          <a:xfrm>
            <a:off x="3740000" y="3184125"/>
            <a:ext cx="2016900" cy="1148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a:t>
            </a:r>
            <a:r>
              <a:rPr lang="en-GB" sz="1600">
                <a:latin typeface="Times New Roman"/>
                <a:ea typeface="Times New Roman"/>
                <a:cs typeface="Times New Roman"/>
                <a:sym typeface="Times New Roman"/>
              </a:rPr>
              <a:t>Đến thời gian nhắc nộp phí dịch vụ</a:t>
            </a:r>
            <a:r>
              <a:rPr lang="en-GB" sz="1600">
                <a:latin typeface="Times New Roman"/>
                <a:ea typeface="Times New Roman"/>
                <a:cs typeface="Times New Roman"/>
                <a:sym typeface="Times New Roman"/>
              </a:rPr>
              <a:t>" - ca sử dụng </a:t>
            </a:r>
            <a:r>
              <a:rPr i="1" lang="en-GB" sz="1600">
                <a:latin typeface="Times New Roman"/>
                <a:ea typeface="Times New Roman"/>
                <a:cs typeface="Times New Roman"/>
                <a:sym typeface="Times New Roman"/>
              </a:rPr>
              <a:t>Nh</a:t>
            </a:r>
            <a:r>
              <a:rPr i="1" lang="en-GB" sz="1600">
                <a:latin typeface="Times New Roman"/>
                <a:ea typeface="Times New Roman"/>
                <a:cs typeface="Times New Roman"/>
                <a:sym typeface="Times New Roman"/>
              </a:rPr>
              <a:t>ắc nộp phí dịch vụ</a:t>
            </a:r>
            <a:endParaRPr i="1" sz="1600">
              <a:latin typeface="Times New Roman"/>
              <a:ea typeface="Times New Roman"/>
              <a:cs typeface="Times New Roman"/>
              <a:sym typeface="Times New Roman"/>
            </a:endParaRPr>
          </a:p>
        </p:txBody>
      </p:sp>
      <p:grpSp>
        <p:nvGrpSpPr>
          <p:cNvPr id="305" name="Google Shape;305;p34"/>
          <p:cNvGrpSpPr/>
          <p:nvPr/>
        </p:nvGrpSpPr>
        <p:grpSpPr>
          <a:xfrm>
            <a:off x="2701407" y="894239"/>
            <a:ext cx="457431" cy="961111"/>
            <a:chOff x="459950" y="2028475"/>
            <a:chExt cx="892200" cy="1406161"/>
          </a:xfrm>
        </p:grpSpPr>
        <p:sp>
          <p:nvSpPr>
            <p:cNvPr id="306" name="Google Shape;306;p34"/>
            <p:cNvSpPr/>
            <p:nvPr/>
          </p:nvSpPr>
          <p:spPr>
            <a:xfrm>
              <a:off x="724825" y="2028475"/>
              <a:ext cx="314700" cy="3147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7" name="Google Shape;307;p34"/>
            <p:cNvCxnSpPr>
              <a:stCxn id="306" idx="4"/>
            </p:cNvCxnSpPr>
            <p:nvPr/>
          </p:nvCxnSpPr>
          <p:spPr>
            <a:xfrm>
              <a:off x="882175" y="2343175"/>
              <a:ext cx="0" cy="652500"/>
            </a:xfrm>
            <a:prstGeom prst="straightConnector1">
              <a:avLst/>
            </a:prstGeom>
            <a:noFill/>
            <a:ln cap="flat" cmpd="sng" w="19050">
              <a:solidFill>
                <a:schemeClr val="dk2"/>
              </a:solidFill>
              <a:prstDash val="solid"/>
              <a:round/>
              <a:headEnd len="med" w="med" type="none"/>
              <a:tailEnd len="med" w="med" type="none"/>
            </a:ln>
          </p:spPr>
        </p:cxnSp>
        <p:cxnSp>
          <p:nvCxnSpPr>
            <p:cNvPr id="308" name="Google Shape;308;p34"/>
            <p:cNvCxnSpPr/>
            <p:nvPr/>
          </p:nvCxnSpPr>
          <p:spPr>
            <a:xfrm flipH="1">
              <a:off x="459950" y="2995436"/>
              <a:ext cx="418200" cy="432000"/>
            </a:xfrm>
            <a:prstGeom prst="straightConnector1">
              <a:avLst/>
            </a:prstGeom>
            <a:noFill/>
            <a:ln cap="flat" cmpd="sng" w="19050">
              <a:solidFill>
                <a:schemeClr val="dk2"/>
              </a:solidFill>
              <a:prstDash val="solid"/>
              <a:round/>
              <a:headEnd len="med" w="med" type="none"/>
              <a:tailEnd len="med" w="med" type="none"/>
            </a:ln>
          </p:spPr>
        </p:cxnSp>
        <p:cxnSp>
          <p:nvCxnSpPr>
            <p:cNvPr id="309" name="Google Shape;309;p34"/>
            <p:cNvCxnSpPr/>
            <p:nvPr/>
          </p:nvCxnSpPr>
          <p:spPr>
            <a:xfrm>
              <a:off x="892100" y="2995436"/>
              <a:ext cx="439200" cy="439200"/>
            </a:xfrm>
            <a:prstGeom prst="straightConnector1">
              <a:avLst/>
            </a:prstGeom>
            <a:noFill/>
            <a:ln cap="flat" cmpd="sng" w="19050">
              <a:solidFill>
                <a:schemeClr val="dk2"/>
              </a:solidFill>
              <a:prstDash val="solid"/>
              <a:round/>
              <a:headEnd len="med" w="med" type="none"/>
              <a:tailEnd len="med" w="med" type="none"/>
            </a:ln>
          </p:spPr>
        </p:cxnSp>
        <p:cxnSp>
          <p:nvCxnSpPr>
            <p:cNvPr id="310" name="Google Shape;310;p34"/>
            <p:cNvCxnSpPr/>
            <p:nvPr/>
          </p:nvCxnSpPr>
          <p:spPr>
            <a:xfrm rot="10800000">
              <a:off x="474050" y="2319975"/>
              <a:ext cx="404100" cy="222900"/>
            </a:xfrm>
            <a:prstGeom prst="straightConnector1">
              <a:avLst/>
            </a:prstGeom>
            <a:noFill/>
            <a:ln cap="flat" cmpd="sng" w="19050">
              <a:solidFill>
                <a:schemeClr val="dk2"/>
              </a:solidFill>
              <a:prstDash val="solid"/>
              <a:round/>
              <a:headEnd len="med" w="med" type="none"/>
              <a:tailEnd len="med" w="med" type="none"/>
            </a:ln>
          </p:spPr>
        </p:cxnSp>
        <p:cxnSp>
          <p:nvCxnSpPr>
            <p:cNvPr id="311" name="Google Shape;311;p34"/>
            <p:cNvCxnSpPr/>
            <p:nvPr/>
          </p:nvCxnSpPr>
          <p:spPr>
            <a:xfrm flipH="1" rot="10800000">
              <a:off x="878150" y="2340375"/>
              <a:ext cx="474000" cy="202500"/>
            </a:xfrm>
            <a:prstGeom prst="straightConnector1">
              <a:avLst/>
            </a:prstGeom>
            <a:noFill/>
            <a:ln cap="flat" cmpd="sng" w="19050">
              <a:solidFill>
                <a:schemeClr val="dk2"/>
              </a:solidFill>
              <a:prstDash val="solid"/>
              <a:round/>
              <a:headEnd len="med" w="med" type="none"/>
              <a:tailEnd len="med" w="med" type="none"/>
            </a:ln>
          </p:spPr>
        </p:cxnSp>
      </p:grpSp>
      <p:sp>
        <p:nvSpPr>
          <p:cNvPr id="312" name="Google Shape;312;p34"/>
          <p:cNvSpPr txBox="1"/>
          <p:nvPr/>
        </p:nvSpPr>
        <p:spPr>
          <a:xfrm>
            <a:off x="2140950" y="1838000"/>
            <a:ext cx="1751400" cy="86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a:latin typeface="Times New Roman"/>
                <a:ea typeface="Times New Roman"/>
                <a:cs typeface="Times New Roman"/>
                <a:sym typeface="Times New Roman"/>
              </a:rPr>
              <a:t>"Khách hàng thanh toán hóa đơn" - </a:t>
            </a:r>
            <a:r>
              <a:rPr lang="en-GB">
                <a:latin typeface="Times New Roman"/>
                <a:ea typeface="Times New Roman"/>
                <a:cs typeface="Times New Roman"/>
                <a:sym typeface="Times New Roman"/>
              </a:rPr>
              <a:t>ca sử dụng</a:t>
            </a:r>
            <a:r>
              <a:rPr i="1" lang="en-GB">
                <a:latin typeface="Times New Roman"/>
                <a:ea typeface="Times New Roman"/>
                <a:cs typeface="Times New Roman"/>
                <a:sym typeface="Times New Roman"/>
              </a:rPr>
              <a:t> Tiếp nhận thanh toán</a:t>
            </a:r>
            <a:endParaRPr i="1">
              <a:latin typeface="Times New Roman"/>
              <a:ea typeface="Times New Roman"/>
              <a:cs typeface="Times New Roman"/>
              <a:sym typeface="Times New Roman"/>
            </a:endParaRPr>
          </a:p>
        </p:txBody>
      </p:sp>
      <p:grpSp>
        <p:nvGrpSpPr>
          <p:cNvPr id="313" name="Google Shape;313;p34"/>
          <p:cNvGrpSpPr/>
          <p:nvPr/>
        </p:nvGrpSpPr>
        <p:grpSpPr>
          <a:xfrm>
            <a:off x="2603332" y="4031439"/>
            <a:ext cx="457431" cy="961111"/>
            <a:chOff x="459950" y="2028475"/>
            <a:chExt cx="892200" cy="1406161"/>
          </a:xfrm>
        </p:grpSpPr>
        <p:sp>
          <p:nvSpPr>
            <p:cNvPr id="314" name="Google Shape;314;p34"/>
            <p:cNvSpPr/>
            <p:nvPr/>
          </p:nvSpPr>
          <p:spPr>
            <a:xfrm>
              <a:off x="724825" y="2028475"/>
              <a:ext cx="314700" cy="3147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5" name="Google Shape;315;p34"/>
            <p:cNvCxnSpPr>
              <a:stCxn id="314" idx="4"/>
            </p:cNvCxnSpPr>
            <p:nvPr/>
          </p:nvCxnSpPr>
          <p:spPr>
            <a:xfrm>
              <a:off x="882175" y="2343175"/>
              <a:ext cx="0" cy="652500"/>
            </a:xfrm>
            <a:prstGeom prst="straightConnector1">
              <a:avLst/>
            </a:prstGeom>
            <a:noFill/>
            <a:ln cap="flat" cmpd="sng" w="19050">
              <a:solidFill>
                <a:schemeClr val="dk2"/>
              </a:solidFill>
              <a:prstDash val="solid"/>
              <a:round/>
              <a:headEnd len="med" w="med" type="none"/>
              <a:tailEnd len="med" w="med" type="none"/>
            </a:ln>
          </p:spPr>
        </p:cxnSp>
        <p:cxnSp>
          <p:nvCxnSpPr>
            <p:cNvPr id="316" name="Google Shape;316;p34"/>
            <p:cNvCxnSpPr/>
            <p:nvPr/>
          </p:nvCxnSpPr>
          <p:spPr>
            <a:xfrm flipH="1">
              <a:off x="459950" y="2995436"/>
              <a:ext cx="418200" cy="432000"/>
            </a:xfrm>
            <a:prstGeom prst="straightConnector1">
              <a:avLst/>
            </a:prstGeom>
            <a:noFill/>
            <a:ln cap="flat" cmpd="sng" w="19050">
              <a:solidFill>
                <a:schemeClr val="dk2"/>
              </a:solidFill>
              <a:prstDash val="solid"/>
              <a:round/>
              <a:headEnd len="med" w="med" type="none"/>
              <a:tailEnd len="med" w="med" type="none"/>
            </a:ln>
          </p:spPr>
        </p:cxnSp>
        <p:cxnSp>
          <p:nvCxnSpPr>
            <p:cNvPr id="317" name="Google Shape;317;p34"/>
            <p:cNvCxnSpPr/>
            <p:nvPr/>
          </p:nvCxnSpPr>
          <p:spPr>
            <a:xfrm>
              <a:off x="892100" y="2995436"/>
              <a:ext cx="439200" cy="439200"/>
            </a:xfrm>
            <a:prstGeom prst="straightConnector1">
              <a:avLst/>
            </a:prstGeom>
            <a:noFill/>
            <a:ln cap="flat" cmpd="sng" w="19050">
              <a:solidFill>
                <a:schemeClr val="dk2"/>
              </a:solidFill>
              <a:prstDash val="solid"/>
              <a:round/>
              <a:headEnd len="med" w="med" type="none"/>
              <a:tailEnd len="med" w="med" type="none"/>
            </a:ln>
          </p:spPr>
        </p:cxnSp>
        <p:cxnSp>
          <p:nvCxnSpPr>
            <p:cNvPr id="318" name="Google Shape;318;p34"/>
            <p:cNvCxnSpPr/>
            <p:nvPr/>
          </p:nvCxnSpPr>
          <p:spPr>
            <a:xfrm rot="10800000">
              <a:off x="474050" y="2319975"/>
              <a:ext cx="404100" cy="222900"/>
            </a:xfrm>
            <a:prstGeom prst="straightConnector1">
              <a:avLst/>
            </a:prstGeom>
            <a:noFill/>
            <a:ln cap="flat" cmpd="sng" w="19050">
              <a:solidFill>
                <a:schemeClr val="dk2"/>
              </a:solidFill>
              <a:prstDash val="solid"/>
              <a:round/>
              <a:headEnd len="med" w="med" type="none"/>
              <a:tailEnd len="med" w="med" type="none"/>
            </a:ln>
          </p:spPr>
        </p:cxnSp>
        <p:cxnSp>
          <p:nvCxnSpPr>
            <p:cNvPr id="319" name="Google Shape;319;p34"/>
            <p:cNvCxnSpPr/>
            <p:nvPr/>
          </p:nvCxnSpPr>
          <p:spPr>
            <a:xfrm flipH="1" rot="10800000">
              <a:off x="878150" y="2340375"/>
              <a:ext cx="474000" cy="202500"/>
            </a:xfrm>
            <a:prstGeom prst="straightConnector1">
              <a:avLst/>
            </a:prstGeom>
            <a:noFill/>
            <a:ln cap="flat" cmpd="sng" w="19050">
              <a:solidFill>
                <a:schemeClr val="dk2"/>
              </a:solidFill>
              <a:prstDash val="solid"/>
              <a:round/>
              <a:headEnd len="med" w="med" type="none"/>
              <a:tailEnd len="med" w="med" type="none"/>
            </a:ln>
          </p:spPr>
        </p:cxnSp>
      </p:grpSp>
      <p:sp>
        <p:nvSpPr>
          <p:cNvPr id="320" name="Google Shape;320;p34"/>
          <p:cNvSpPr txBox="1"/>
          <p:nvPr/>
        </p:nvSpPr>
        <p:spPr>
          <a:xfrm>
            <a:off x="2140950" y="4977675"/>
            <a:ext cx="1607700" cy="100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a:latin typeface="Times New Roman"/>
                <a:ea typeface="Times New Roman"/>
                <a:cs typeface="Times New Roman"/>
                <a:sym typeface="Times New Roman"/>
              </a:rPr>
              <a:t>"Khách hàng thực hiện một giao dịch" - </a:t>
            </a:r>
            <a:r>
              <a:rPr lang="en-GB">
                <a:latin typeface="Times New Roman"/>
                <a:ea typeface="Times New Roman"/>
                <a:cs typeface="Times New Roman"/>
                <a:sym typeface="Times New Roman"/>
              </a:rPr>
              <a:t>ca sử dụng</a:t>
            </a:r>
            <a:r>
              <a:rPr i="1" lang="en-GB">
                <a:latin typeface="Times New Roman"/>
                <a:ea typeface="Times New Roman"/>
                <a:cs typeface="Times New Roman"/>
                <a:sym typeface="Times New Roman"/>
              </a:rPr>
              <a:t> Xử lý giao dịch</a:t>
            </a:r>
            <a:endParaRPr i="1">
              <a:latin typeface="Times New Roman"/>
              <a:ea typeface="Times New Roman"/>
              <a:cs typeface="Times New Roman"/>
              <a:sym typeface="Times New Roman"/>
            </a:endParaRPr>
          </a:p>
        </p:txBody>
      </p:sp>
      <p:grpSp>
        <p:nvGrpSpPr>
          <p:cNvPr id="321" name="Google Shape;321;p34"/>
          <p:cNvGrpSpPr/>
          <p:nvPr/>
        </p:nvGrpSpPr>
        <p:grpSpPr>
          <a:xfrm>
            <a:off x="8177096" y="160262"/>
            <a:ext cx="457431" cy="961111"/>
            <a:chOff x="459950" y="2028475"/>
            <a:chExt cx="892200" cy="1406161"/>
          </a:xfrm>
        </p:grpSpPr>
        <p:sp>
          <p:nvSpPr>
            <p:cNvPr id="322" name="Google Shape;322;p34"/>
            <p:cNvSpPr/>
            <p:nvPr/>
          </p:nvSpPr>
          <p:spPr>
            <a:xfrm>
              <a:off x="724825" y="2028475"/>
              <a:ext cx="314700" cy="3147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3" name="Google Shape;323;p34"/>
            <p:cNvCxnSpPr>
              <a:stCxn id="322" idx="4"/>
            </p:cNvCxnSpPr>
            <p:nvPr/>
          </p:nvCxnSpPr>
          <p:spPr>
            <a:xfrm>
              <a:off x="882175" y="2343175"/>
              <a:ext cx="0" cy="652500"/>
            </a:xfrm>
            <a:prstGeom prst="straightConnector1">
              <a:avLst/>
            </a:prstGeom>
            <a:noFill/>
            <a:ln cap="flat" cmpd="sng" w="19050">
              <a:solidFill>
                <a:schemeClr val="dk2"/>
              </a:solidFill>
              <a:prstDash val="solid"/>
              <a:round/>
              <a:headEnd len="med" w="med" type="none"/>
              <a:tailEnd len="med" w="med" type="none"/>
            </a:ln>
          </p:spPr>
        </p:cxnSp>
        <p:cxnSp>
          <p:nvCxnSpPr>
            <p:cNvPr id="324" name="Google Shape;324;p34"/>
            <p:cNvCxnSpPr/>
            <p:nvPr/>
          </p:nvCxnSpPr>
          <p:spPr>
            <a:xfrm flipH="1">
              <a:off x="459950" y="2995436"/>
              <a:ext cx="418200" cy="432000"/>
            </a:xfrm>
            <a:prstGeom prst="straightConnector1">
              <a:avLst/>
            </a:prstGeom>
            <a:noFill/>
            <a:ln cap="flat" cmpd="sng" w="19050">
              <a:solidFill>
                <a:schemeClr val="dk2"/>
              </a:solidFill>
              <a:prstDash val="solid"/>
              <a:round/>
              <a:headEnd len="med" w="med" type="none"/>
              <a:tailEnd len="med" w="med" type="none"/>
            </a:ln>
          </p:spPr>
        </p:cxnSp>
        <p:cxnSp>
          <p:nvCxnSpPr>
            <p:cNvPr id="325" name="Google Shape;325;p34"/>
            <p:cNvCxnSpPr/>
            <p:nvPr/>
          </p:nvCxnSpPr>
          <p:spPr>
            <a:xfrm>
              <a:off x="892100" y="2995436"/>
              <a:ext cx="439200" cy="439200"/>
            </a:xfrm>
            <a:prstGeom prst="straightConnector1">
              <a:avLst/>
            </a:prstGeom>
            <a:noFill/>
            <a:ln cap="flat" cmpd="sng" w="19050">
              <a:solidFill>
                <a:schemeClr val="dk2"/>
              </a:solidFill>
              <a:prstDash val="solid"/>
              <a:round/>
              <a:headEnd len="med" w="med" type="none"/>
              <a:tailEnd len="med" w="med" type="none"/>
            </a:ln>
          </p:spPr>
        </p:cxnSp>
        <p:cxnSp>
          <p:nvCxnSpPr>
            <p:cNvPr id="326" name="Google Shape;326;p34"/>
            <p:cNvCxnSpPr/>
            <p:nvPr/>
          </p:nvCxnSpPr>
          <p:spPr>
            <a:xfrm rot="10800000">
              <a:off x="474050" y="2319975"/>
              <a:ext cx="404100" cy="222900"/>
            </a:xfrm>
            <a:prstGeom prst="straightConnector1">
              <a:avLst/>
            </a:prstGeom>
            <a:noFill/>
            <a:ln cap="flat" cmpd="sng" w="19050">
              <a:solidFill>
                <a:schemeClr val="dk2"/>
              </a:solidFill>
              <a:prstDash val="solid"/>
              <a:round/>
              <a:headEnd len="med" w="med" type="none"/>
              <a:tailEnd len="med" w="med" type="none"/>
            </a:ln>
          </p:spPr>
        </p:cxnSp>
        <p:cxnSp>
          <p:nvCxnSpPr>
            <p:cNvPr id="327" name="Google Shape;327;p34"/>
            <p:cNvCxnSpPr/>
            <p:nvPr/>
          </p:nvCxnSpPr>
          <p:spPr>
            <a:xfrm flipH="1" rot="10800000">
              <a:off x="878150" y="2340375"/>
              <a:ext cx="474000" cy="202500"/>
            </a:xfrm>
            <a:prstGeom prst="straightConnector1">
              <a:avLst/>
            </a:prstGeom>
            <a:noFill/>
            <a:ln cap="flat" cmpd="sng" w="19050">
              <a:solidFill>
                <a:schemeClr val="dk2"/>
              </a:solidFill>
              <a:prstDash val="solid"/>
              <a:round/>
              <a:headEnd len="med" w="med" type="none"/>
              <a:tailEnd len="med" w="med" type="none"/>
            </a:ln>
          </p:spPr>
        </p:cxnSp>
      </p:grpSp>
      <p:sp>
        <p:nvSpPr>
          <p:cNvPr id="328" name="Google Shape;328;p34"/>
          <p:cNvSpPr txBox="1"/>
          <p:nvPr/>
        </p:nvSpPr>
        <p:spPr>
          <a:xfrm>
            <a:off x="7562125" y="1106500"/>
            <a:ext cx="1491900" cy="100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a:latin typeface="Times New Roman"/>
                <a:ea typeface="Times New Roman"/>
                <a:cs typeface="Times New Roman"/>
                <a:sym typeface="Times New Roman"/>
              </a:rPr>
              <a:t>"Khách hàng thay đổi địa chỉ" - </a:t>
            </a:r>
            <a:r>
              <a:rPr lang="en-GB">
                <a:latin typeface="Times New Roman"/>
                <a:ea typeface="Times New Roman"/>
                <a:cs typeface="Times New Roman"/>
                <a:sym typeface="Times New Roman"/>
              </a:rPr>
              <a:t>ca sử dụng</a:t>
            </a:r>
            <a:r>
              <a:rPr i="1" lang="en-GB">
                <a:latin typeface="Times New Roman"/>
                <a:ea typeface="Times New Roman"/>
                <a:cs typeface="Times New Roman"/>
                <a:sym typeface="Times New Roman"/>
              </a:rPr>
              <a:t> Quản lý hồ sơ khách hàng</a:t>
            </a:r>
            <a:endParaRPr i="1">
              <a:latin typeface="Times New Roman"/>
              <a:ea typeface="Times New Roman"/>
              <a:cs typeface="Times New Roman"/>
              <a:sym typeface="Times New Roman"/>
            </a:endParaRPr>
          </a:p>
        </p:txBody>
      </p:sp>
      <p:sp>
        <p:nvSpPr>
          <p:cNvPr id="329" name="Google Shape;329;p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30" name="Google Shape;330;p3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a:t>
            </a:r>
            <a:r>
              <a:rPr lang="en-GB"/>
              <a:t>ự kiện và ca sử dụng</a:t>
            </a:r>
            <a:endParaRPr/>
          </a:p>
        </p:txBody>
      </p:sp>
      <p:sp>
        <p:nvSpPr>
          <p:cNvPr id="331" name="Google Shape;331;p34"/>
          <p:cNvSpPr txBox="1"/>
          <p:nvPr/>
        </p:nvSpPr>
        <p:spPr>
          <a:xfrm>
            <a:off x="4053600" y="848800"/>
            <a:ext cx="1895700" cy="80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a:latin typeface="Times New Roman"/>
                <a:ea typeface="Times New Roman"/>
                <a:cs typeface="Times New Roman"/>
                <a:sym typeface="Times New Roman"/>
              </a:rPr>
              <a:t>Sự kiện ngoại phát sinh bên ngoài hệ thống</a:t>
            </a:r>
            <a:endParaRPr i="1">
              <a:latin typeface="Times New Roman"/>
              <a:ea typeface="Times New Roman"/>
              <a:cs typeface="Times New Roman"/>
              <a:sym typeface="Times New Roman"/>
            </a:endParaRPr>
          </a:p>
        </p:txBody>
      </p:sp>
      <p:sp>
        <p:nvSpPr>
          <p:cNvPr id="332" name="Google Shape;332;p34"/>
          <p:cNvSpPr txBox="1"/>
          <p:nvPr/>
        </p:nvSpPr>
        <p:spPr>
          <a:xfrm>
            <a:off x="4393975" y="4504300"/>
            <a:ext cx="2049600" cy="1179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Times New Roman"/>
                <a:ea typeface="Times New Roman"/>
                <a:cs typeface="Times New Roman"/>
                <a:sym typeface="Times New Roman"/>
              </a:rPr>
              <a:t>"</a:t>
            </a:r>
            <a:r>
              <a:rPr lang="en-GB" sz="1600">
                <a:latin typeface="Times New Roman"/>
                <a:ea typeface="Times New Roman"/>
                <a:cs typeface="Times New Roman"/>
                <a:sym typeface="Times New Roman"/>
              </a:rPr>
              <a:t>Gửi cảnh báo nếu lưu lượng sử dụng cao bất thường</a:t>
            </a:r>
            <a:r>
              <a:rPr lang="en-GB" sz="1600">
                <a:latin typeface="Times New Roman"/>
                <a:ea typeface="Times New Roman"/>
                <a:cs typeface="Times New Roman"/>
                <a:sym typeface="Times New Roman"/>
              </a:rPr>
              <a:t>" - ca sử dụng </a:t>
            </a:r>
            <a:r>
              <a:rPr i="1" lang="en-GB" sz="1600">
                <a:latin typeface="Times New Roman"/>
                <a:ea typeface="Times New Roman"/>
                <a:cs typeface="Times New Roman"/>
                <a:sym typeface="Times New Roman"/>
              </a:rPr>
              <a:t>Gửi </a:t>
            </a:r>
            <a:r>
              <a:rPr i="1" lang="en-GB" sz="1600">
                <a:latin typeface="Times New Roman"/>
                <a:ea typeface="Times New Roman"/>
                <a:cs typeface="Times New Roman"/>
                <a:sym typeface="Times New Roman"/>
              </a:rPr>
              <a:t>cảnh báo</a:t>
            </a:r>
            <a:endParaRPr i="1" sz="16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Sơ đồ</a:t>
            </a:r>
            <a:r>
              <a:rPr lang="en-GB"/>
              <a:t> Ca sử dụng: </a:t>
            </a:r>
            <a:r>
              <a:rPr lang="en-GB"/>
              <a:t>Các thành phần thường gặp</a:t>
            </a:r>
            <a:endParaRPr/>
          </a:p>
        </p:txBody>
      </p:sp>
      <p:sp>
        <p:nvSpPr>
          <p:cNvPr id="338" name="Google Shape;338;p3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39" name="Google Shape;339;p35"/>
          <p:cNvSpPr txBox="1"/>
          <p:nvPr>
            <p:ph idx="4294967295" type="body"/>
          </p:nvPr>
        </p:nvSpPr>
        <p:spPr>
          <a:xfrm>
            <a:off x="1146000" y="832775"/>
            <a:ext cx="7779300" cy="55782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b="1" lang="en-GB" sz="2400"/>
              <a:t>Tác nhân:</a:t>
            </a:r>
            <a:r>
              <a:rPr lang="en-GB" sz="2400"/>
              <a:t> </a:t>
            </a:r>
            <a:endParaRPr sz="2400"/>
          </a:p>
          <a:p>
            <a:pPr indent="-381000" lvl="1" marL="914400" rtl="0" algn="just">
              <a:spcBef>
                <a:spcPts val="0"/>
              </a:spcBef>
              <a:spcAft>
                <a:spcPts val="0"/>
              </a:spcAft>
              <a:buSzPts val="2400"/>
              <a:buChar char="○"/>
            </a:pPr>
            <a:r>
              <a:rPr lang="en-GB" sz="2400"/>
              <a:t>Người dùng hoặc </a:t>
            </a:r>
            <a:endParaRPr sz="2400"/>
          </a:p>
          <a:p>
            <a:pPr indent="-381000" lvl="1" marL="914400" rtl="0" algn="just">
              <a:spcBef>
                <a:spcPts val="0"/>
              </a:spcBef>
              <a:spcAft>
                <a:spcPts val="0"/>
              </a:spcAft>
              <a:buSzPts val="2400"/>
              <a:buChar char="○"/>
            </a:pPr>
            <a:r>
              <a:rPr lang="en-GB" sz="2400"/>
              <a:t>Hệ thống ngoại</a:t>
            </a:r>
            <a:endParaRPr sz="2400"/>
          </a:p>
          <a:p>
            <a:pPr indent="-381000" lvl="0" marL="457200" rtl="0" algn="just">
              <a:spcBef>
                <a:spcPts val="0"/>
              </a:spcBef>
              <a:spcAft>
                <a:spcPts val="0"/>
              </a:spcAft>
              <a:buSzPts val="2400"/>
              <a:buChar char="●"/>
            </a:pPr>
            <a:r>
              <a:rPr b="1" lang="en-GB" sz="2400"/>
              <a:t>Ca sử dụng:</a:t>
            </a:r>
            <a:r>
              <a:rPr lang="en-GB" sz="2400"/>
              <a:t> </a:t>
            </a:r>
            <a:r>
              <a:rPr lang="en-GB" sz="2400"/>
              <a:t>Hoạt động sử dụng hệ thống để đáp ứng nhu cầu nghiệp vụ </a:t>
            </a:r>
            <a:endParaRPr sz="2400">
              <a:solidFill>
                <a:srgbClr val="FF9900"/>
              </a:solidFill>
            </a:endParaRPr>
          </a:p>
          <a:p>
            <a:pPr indent="-381000" lvl="0" marL="457200" rtl="0" algn="just">
              <a:spcBef>
                <a:spcPts val="0"/>
              </a:spcBef>
              <a:spcAft>
                <a:spcPts val="0"/>
              </a:spcAft>
              <a:buSzPts val="2400"/>
              <a:buChar char="●"/>
            </a:pPr>
            <a:r>
              <a:rPr b="1" lang="en-GB" sz="2400"/>
              <a:t>Chủ thể ca sử dụng:</a:t>
            </a:r>
            <a:r>
              <a:rPr lang="en-GB" sz="2400"/>
              <a:t> </a:t>
            </a:r>
            <a:r>
              <a:rPr lang="en-GB"/>
              <a:t>Môi trường thực hiện</a:t>
            </a:r>
            <a:r>
              <a:rPr lang="en-GB" sz="2400"/>
              <a:t> ca sử dụng.</a:t>
            </a:r>
            <a:endParaRPr sz="2400"/>
          </a:p>
          <a:p>
            <a:pPr indent="0" lvl="0" marL="457200" rtl="0" algn="just">
              <a:spcBef>
                <a:spcPts val="0"/>
              </a:spcBef>
              <a:spcAft>
                <a:spcPts val="0"/>
              </a:spcAft>
              <a:buNone/>
            </a:pPr>
            <a:r>
              <a:t/>
            </a:r>
            <a:endParaRPr/>
          </a:p>
          <a:p>
            <a:pPr indent="-381000" lvl="0" marL="457200" rtl="0" algn="just">
              <a:spcBef>
                <a:spcPts val="0"/>
              </a:spcBef>
              <a:spcAft>
                <a:spcPts val="0"/>
              </a:spcAft>
              <a:buSzPts val="2400"/>
              <a:buChar char="●"/>
            </a:pPr>
            <a:r>
              <a:rPr b="1" lang="en-GB" sz="2400"/>
              <a:t>Quan hệ tương tác:</a:t>
            </a:r>
            <a:r>
              <a:rPr lang="en-GB" sz="2400"/>
              <a:t> Kết nối tác nhân và ca sử dụng</a:t>
            </a:r>
            <a:endParaRPr sz="2400"/>
          </a:p>
          <a:p>
            <a:pPr indent="-381000" lvl="0" marL="457200" rtl="0" algn="just">
              <a:spcBef>
                <a:spcPts val="0"/>
              </a:spcBef>
              <a:spcAft>
                <a:spcPts val="0"/>
              </a:spcAft>
              <a:buSzPts val="2400"/>
              <a:buChar char="●"/>
            </a:pPr>
            <a:r>
              <a:rPr b="1" lang="en-GB" sz="2400"/>
              <a:t>Quan hệ bao gồm:</a:t>
            </a:r>
            <a:r>
              <a:rPr lang="en-GB" sz="2400"/>
              <a:t> </a:t>
            </a:r>
            <a:r>
              <a:rPr lang="en-GB" sz="2400"/>
              <a:t>Các tương tác trong 1 ca sử dụng bao gồm 1 ca sử dụng khác.</a:t>
            </a:r>
            <a:endParaRPr sz="2400"/>
          </a:p>
          <a:p>
            <a:pPr indent="-381000" lvl="0" marL="457200" rtl="0" algn="just">
              <a:spcBef>
                <a:spcPts val="0"/>
              </a:spcBef>
              <a:spcAft>
                <a:spcPts val="0"/>
              </a:spcAft>
              <a:buSzPts val="2400"/>
              <a:buChar char="●"/>
            </a:pPr>
            <a:r>
              <a:rPr b="1" lang="en-GB" sz="2400"/>
              <a:t>Quan hệ </a:t>
            </a:r>
            <a:r>
              <a:rPr b="1" lang="en-GB"/>
              <a:t>nới rộng</a:t>
            </a:r>
            <a:r>
              <a:rPr b="1" lang="en-GB" sz="2400"/>
              <a:t>:</a:t>
            </a:r>
            <a:r>
              <a:rPr lang="en-GB" sz="2400"/>
              <a:t> </a:t>
            </a:r>
            <a:r>
              <a:rPr lang="en-GB" sz="2400"/>
              <a:t>Các tương tác trong 1 ca sử dụng có thể được thêm vào 1 ca sử dụng khác.</a:t>
            </a:r>
            <a:endParaRPr sz="2400"/>
          </a:p>
          <a:p>
            <a:pPr indent="-381000" lvl="0" marL="457200" rtl="0" algn="just">
              <a:spcBef>
                <a:spcPts val="0"/>
              </a:spcBef>
              <a:spcAft>
                <a:spcPts val="0"/>
              </a:spcAft>
              <a:buSzPts val="2400"/>
              <a:buChar char="●"/>
            </a:pPr>
            <a:r>
              <a:rPr b="1" lang="en-GB" sz="2400"/>
              <a:t>Quan hệ khái quát hóa:</a:t>
            </a:r>
            <a:r>
              <a:rPr lang="en-GB"/>
              <a:t> A là B hoặc A kế thừa B.</a:t>
            </a:r>
            <a:endParaRPr sz="2400"/>
          </a:p>
        </p:txBody>
      </p:sp>
      <p:sp>
        <p:nvSpPr>
          <p:cNvPr id="340" name="Google Shape;340;p35"/>
          <p:cNvSpPr/>
          <p:nvPr/>
        </p:nvSpPr>
        <p:spPr>
          <a:xfrm>
            <a:off x="583550" y="1031400"/>
            <a:ext cx="163800" cy="16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1" name="Google Shape;341;p35"/>
          <p:cNvCxnSpPr/>
          <p:nvPr/>
        </p:nvCxnSpPr>
        <p:spPr>
          <a:xfrm>
            <a:off x="665450" y="1195200"/>
            <a:ext cx="0" cy="193500"/>
          </a:xfrm>
          <a:prstGeom prst="straightConnector1">
            <a:avLst/>
          </a:prstGeom>
          <a:noFill/>
          <a:ln cap="flat" cmpd="sng" w="9525">
            <a:solidFill>
              <a:schemeClr val="dk2"/>
            </a:solidFill>
            <a:prstDash val="solid"/>
            <a:round/>
            <a:headEnd len="med" w="med" type="none"/>
            <a:tailEnd len="med" w="med" type="none"/>
          </a:ln>
        </p:spPr>
      </p:cxnSp>
      <p:cxnSp>
        <p:nvCxnSpPr>
          <p:cNvPr id="342" name="Google Shape;342;p35"/>
          <p:cNvCxnSpPr/>
          <p:nvPr/>
        </p:nvCxnSpPr>
        <p:spPr>
          <a:xfrm>
            <a:off x="658025" y="1388825"/>
            <a:ext cx="156300" cy="148800"/>
          </a:xfrm>
          <a:prstGeom prst="straightConnector1">
            <a:avLst/>
          </a:prstGeom>
          <a:noFill/>
          <a:ln cap="flat" cmpd="sng" w="9525">
            <a:solidFill>
              <a:schemeClr val="dk2"/>
            </a:solidFill>
            <a:prstDash val="solid"/>
            <a:round/>
            <a:headEnd len="med" w="med" type="none"/>
            <a:tailEnd len="med" w="med" type="none"/>
          </a:ln>
        </p:spPr>
      </p:cxnSp>
      <p:cxnSp>
        <p:nvCxnSpPr>
          <p:cNvPr id="343" name="Google Shape;343;p35"/>
          <p:cNvCxnSpPr/>
          <p:nvPr/>
        </p:nvCxnSpPr>
        <p:spPr>
          <a:xfrm flipH="1">
            <a:off x="509229" y="1396279"/>
            <a:ext cx="148800" cy="134100"/>
          </a:xfrm>
          <a:prstGeom prst="straightConnector1">
            <a:avLst/>
          </a:prstGeom>
          <a:noFill/>
          <a:ln cap="flat" cmpd="sng" w="9525">
            <a:solidFill>
              <a:schemeClr val="dk2"/>
            </a:solidFill>
            <a:prstDash val="solid"/>
            <a:round/>
            <a:headEnd len="med" w="med" type="none"/>
            <a:tailEnd len="med" w="med" type="none"/>
          </a:ln>
        </p:spPr>
      </p:cxnSp>
      <p:cxnSp>
        <p:nvCxnSpPr>
          <p:cNvPr id="344" name="Google Shape;344;p35"/>
          <p:cNvCxnSpPr/>
          <p:nvPr/>
        </p:nvCxnSpPr>
        <p:spPr>
          <a:xfrm>
            <a:off x="561215" y="1275393"/>
            <a:ext cx="208500" cy="0"/>
          </a:xfrm>
          <a:prstGeom prst="straightConnector1">
            <a:avLst/>
          </a:prstGeom>
          <a:noFill/>
          <a:ln cap="flat" cmpd="sng" w="9525">
            <a:solidFill>
              <a:schemeClr val="dk2"/>
            </a:solidFill>
            <a:prstDash val="solid"/>
            <a:round/>
            <a:headEnd len="med" w="med" type="none"/>
            <a:tailEnd len="med" w="med" type="none"/>
          </a:ln>
        </p:spPr>
      </p:cxnSp>
      <p:sp>
        <p:nvSpPr>
          <p:cNvPr id="345" name="Google Shape;345;p35"/>
          <p:cNvSpPr/>
          <p:nvPr/>
        </p:nvSpPr>
        <p:spPr>
          <a:xfrm>
            <a:off x="379973" y="2243150"/>
            <a:ext cx="682500" cy="367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5"/>
          <p:cNvSpPr/>
          <p:nvPr/>
        </p:nvSpPr>
        <p:spPr>
          <a:xfrm>
            <a:off x="563925" y="2969100"/>
            <a:ext cx="461100" cy="461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7" name="Google Shape;347;p35"/>
          <p:cNvCxnSpPr/>
          <p:nvPr/>
        </p:nvCxnSpPr>
        <p:spPr>
          <a:xfrm>
            <a:off x="662000" y="3070700"/>
            <a:ext cx="282900" cy="0"/>
          </a:xfrm>
          <a:prstGeom prst="straightConnector1">
            <a:avLst/>
          </a:prstGeom>
          <a:noFill/>
          <a:ln cap="flat" cmpd="sng" w="9525">
            <a:solidFill>
              <a:schemeClr val="dk2"/>
            </a:solidFill>
            <a:prstDash val="solid"/>
            <a:round/>
            <a:headEnd len="med" w="med" type="none"/>
            <a:tailEnd len="med" w="med" type="none"/>
          </a:ln>
        </p:spPr>
      </p:cxnSp>
      <p:cxnSp>
        <p:nvCxnSpPr>
          <p:cNvPr id="348" name="Google Shape;348;p35"/>
          <p:cNvCxnSpPr/>
          <p:nvPr/>
        </p:nvCxnSpPr>
        <p:spPr>
          <a:xfrm>
            <a:off x="513075" y="4168775"/>
            <a:ext cx="320100" cy="7500"/>
          </a:xfrm>
          <a:prstGeom prst="straightConnector1">
            <a:avLst/>
          </a:prstGeom>
          <a:noFill/>
          <a:ln cap="flat" cmpd="sng" w="9525">
            <a:solidFill>
              <a:schemeClr val="dk2"/>
            </a:solidFill>
            <a:prstDash val="solid"/>
            <a:round/>
            <a:headEnd len="med" w="med" type="none"/>
            <a:tailEnd len="med" w="med" type="none"/>
          </a:ln>
        </p:spPr>
      </p:cxnSp>
      <p:cxnSp>
        <p:nvCxnSpPr>
          <p:cNvPr id="349" name="Google Shape;349;p35"/>
          <p:cNvCxnSpPr/>
          <p:nvPr/>
        </p:nvCxnSpPr>
        <p:spPr>
          <a:xfrm rot="10800000">
            <a:off x="840700" y="3938000"/>
            <a:ext cx="0" cy="238200"/>
          </a:xfrm>
          <a:prstGeom prst="straightConnector1">
            <a:avLst/>
          </a:prstGeom>
          <a:noFill/>
          <a:ln cap="flat" cmpd="sng" w="9525">
            <a:solidFill>
              <a:schemeClr val="dk2"/>
            </a:solidFill>
            <a:prstDash val="solid"/>
            <a:round/>
            <a:headEnd len="med" w="med" type="none"/>
            <a:tailEnd len="med" w="med" type="none"/>
          </a:ln>
        </p:spPr>
      </p:cxnSp>
      <p:cxnSp>
        <p:nvCxnSpPr>
          <p:cNvPr id="350" name="Google Shape;350;p35"/>
          <p:cNvCxnSpPr/>
          <p:nvPr/>
        </p:nvCxnSpPr>
        <p:spPr>
          <a:xfrm>
            <a:off x="513075" y="4596190"/>
            <a:ext cx="320100" cy="7500"/>
          </a:xfrm>
          <a:prstGeom prst="straightConnector1">
            <a:avLst/>
          </a:prstGeom>
          <a:noFill/>
          <a:ln cap="flat" cmpd="sng" w="9525">
            <a:solidFill>
              <a:schemeClr val="dk2"/>
            </a:solidFill>
            <a:prstDash val="dash"/>
            <a:round/>
            <a:headEnd len="med" w="med" type="none"/>
            <a:tailEnd len="med" w="med" type="none"/>
          </a:ln>
        </p:spPr>
      </p:cxnSp>
      <p:cxnSp>
        <p:nvCxnSpPr>
          <p:cNvPr id="351" name="Google Shape;351;p35"/>
          <p:cNvCxnSpPr/>
          <p:nvPr/>
        </p:nvCxnSpPr>
        <p:spPr>
          <a:xfrm rot="10800000">
            <a:off x="840700" y="4365415"/>
            <a:ext cx="0" cy="238200"/>
          </a:xfrm>
          <a:prstGeom prst="straightConnector1">
            <a:avLst/>
          </a:prstGeom>
          <a:noFill/>
          <a:ln cap="flat" cmpd="sng" w="9525">
            <a:solidFill>
              <a:schemeClr val="dk2"/>
            </a:solidFill>
            <a:prstDash val="dash"/>
            <a:round/>
            <a:headEnd len="med" w="med" type="none"/>
            <a:tailEnd len="med" w="med" type="triangle"/>
          </a:ln>
        </p:spPr>
      </p:cxnSp>
      <p:sp>
        <p:nvSpPr>
          <p:cNvPr id="352" name="Google Shape;352;p35"/>
          <p:cNvSpPr txBox="1"/>
          <p:nvPr/>
        </p:nvSpPr>
        <p:spPr>
          <a:xfrm>
            <a:off x="542850" y="4241050"/>
            <a:ext cx="238200" cy="3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I</a:t>
            </a:r>
            <a:endParaRPr>
              <a:latin typeface="Times New Roman"/>
              <a:ea typeface="Times New Roman"/>
              <a:cs typeface="Times New Roman"/>
              <a:sym typeface="Times New Roman"/>
            </a:endParaRPr>
          </a:p>
        </p:txBody>
      </p:sp>
      <p:cxnSp>
        <p:nvCxnSpPr>
          <p:cNvPr id="353" name="Google Shape;353;p35"/>
          <p:cNvCxnSpPr/>
          <p:nvPr/>
        </p:nvCxnSpPr>
        <p:spPr>
          <a:xfrm>
            <a:off x="513075" y="5434390"/>
            <a:ext cx="320100" cy="7500"/>
          </a:xfrm>
          <a:prstGeom prst="straightConnector1">
            <a:avLst/>
          </a:prstGeom>
          <a:noFill/>
          <a:ln cap="flat" cmpd="sng" w="9525">
            <a:solidFill>
              <a:schemeClr val="dk2"/>
            </a:solidFill>
            <a:prstDash val="dash"/>
            <a:round/>
            <a:headEnd len="med" w="med" type="none"/>
            <a:tailEnd len="med" w="med" type="none"/>
          </a:ln>
        </p:spPr>
      </p:cxnSp>
      <p:cxnSp>
        <p:nvCxnSpPr>
          <p:cNvPr id="354" name="Google Shape;354;p35"/>
          <p:cNvCxnSpPr/>
          <p:nvPr/>
        </p:nvCxnSpPr>
        <p:spPr>
          <a:xfrm rot="10800000">
            <a:off x="840700" y="5203615"/>
            <a:ext cx="0" cy="238200"/>
          </a:xfrm>
          <a:prstGeom prst="straightConnector1">
            <a:avLst/>
          </a:prstGeom>
          <a:noFill/>
          <a:ln cap="flat" cmpd="sng" w="9525">
            <a:solidFill>
              <a:schemeClr val="dk2"/>
            </a:solidFill>
            <a:prstDash val="dash"/>
            <a:round/>
            <a:headEnd len="med" w="med" type="none"/>
            <a:tailEnd len="med" w="med" type="triangle"/>
          </a:ln>
        </p:spPr>
      </p:cxnSp>
      <p:sp>
        <p:nvSpPr>
          <p:cNvPr id="355" name="Google Shape;355;p35"/>
          <p:cNvSpPr txBox="1"/>
          <p:nvPr/>
        </p:nvSpPr>
        <p:spPr>
          <a:xfrm>
            <a:off x="542850" y="5079250"/>
            <a:ext cx="238200" cy="3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E</a:t>
            </a:r>
            <a:endParaRPr>
              <a:latin typeface="Times New Roman"/>
              <a:ea typeface="Times New Roman"/>
              <a:cs typeface="Times New Roman"/>
              <a:sym typeface="Times New Roman"/>
            </a:endParaRPr>
          </a:p>
        </p:txBody>
      </p:sp>
      <p:cxnSp>
        <p:nvCxnSpPr>
          <p:cNvPr id="356" name="Google Shape;356;p35"/>
          <p:cNvCxnSpPr/>
          <p:nvPr/>
        </p:nvCxnSpPr>
        <p:spPr>
          <a:xfrm>
            <a:off x="533040" y="6292392"/>
            <a:ext cx="320100" cy="7500"/>
          </a:xfrm>
          <a:prstGeom prst="straightConnector1">
            <a:avLst/>
          </a:prstGeom>
          <a:noFill/>
          <a:ln cap="flat" cmpd="sng" w="9525">
            <a:solidFill>
              <a:schemeClr val="dk2"/>
            </a:solidFill>
            <a:prstDash val="solid"/>
            <a:round/>
            <a:headEnd len="med" w="med" type="none"/>
            <a:tailEnd len="med" w="med" type="none"/>
          </a:ln>
        </p:spPr>
      </p:cxnSp>
      <p:sp>
        <p:nvSpPr>
          <p:cNvPr id="357" name="Google Shape;357;p35"/>
          <p:cNvSpPr/>
          <p:nvPr/>
        </p:nvSpPr>
        <p:spPr>
          <a:xfrm>
            <a:off x="290175" y="1655925"/>
            <a:ext cx="935700" cy="461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100"/>
              <a:t>&lt;&lt;actor&gt;&gt;</a:t>
            </a:r>
            <a:endParaRPr sz="1100"/>
          </a:p>
          <a:p>
            <a:pPr indent="0" lvl="0" marL="0" rtl="0" algn="ctr">
              <a:spcBef>
                <a:spcPts val="0"/>
              </a:spcBef>
              <a:spcAft>
                <a:spcPts val="0"/>
              </a:spcAft>
              <a:buNone/>
            </a:pPr>
            <a:r>
              <a:rPr lang="en-GB" sz="1100"/>
              <a:t>…</a:t>
            </a:r>
            <a:endParaRPr sz="1100"/>
          </a:p>
        </p:txBody>
      </p:sp>
      <p:sp>
        <p:nvSpPr>
          <p:cNvPr id="358" name="Google Shape;358;p35"/>
          <p:cNvSpPr/>
          <p:nvPr/>
        </p:nvSpPr>
        <p:spPr>
          <a:xfrm>
            <a:off x="779575" y="5985275"/>
            <a:ext cx="156300" cy="1341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359" name="Google Shape;359;p35"/>
          <p:cNvCxnSpPr>
            <a:stCxn id="358" idx="3"/>
          </p:cNvCxnSpPr>
          <p:nvPr/>
        </p:nvCxnSpPr>
        <p:spPr>
          <a:xfrm>
            <a:off x="857725" y="6119375"/>
            <a:ext cx="0" cy="1818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65" name="Google Shape;365;p3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Quan hệ nới rộng và bao gồm</a:t>
            </a:r>
            <a:endParaRPr/>
          </a:p>
        </p:txBody>
      </p:sp>
      <p:sp>
        <p:nvSpPr>
          <p:cNvPr id="366" name="Google Shape;366;p36"/>
          <p:cNvSpPr txBox="1"/>
          <p:nvPr>
            <p:ph idx="4294967295" type="body"/>
          </p:nvPr>
        </p:nvSpPr>
        <p:spPr>
          <a:xfrm>
            <a:off x="311725" y="977350"/>
            <a:ext cx="8520600" cy="55941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Các cơ chế mở rộng ca sử dụng:  Nới rộng - mở rộng có điều kiện; bao gồm - luôn thêm vào.</a:t>
            </a:r>
            <a:endParaRPr/>
          </a:p>
          <a:p>
            <a:pPr indent="-381000" lvl="0" marL="457200" rtl="0" algn="l">
              <a:spcBef>
                <a:spcPts val="0"/>
              </a:spcBef>
              <a:spcAft>
                <a:spcPts val="0"/>
              </a:spcAft>
              <a:buSzPts val="2400"/>
              <a:buChar char="●"/>
            </a:pPr>
            <a:r>
              <a:rPr lang="en-GB"/>
              <a:t>Quan hệ nới rộng/extend: </a:t>
            </a:r>
            <a:endParaRPr/>
          </a:p>
          <a:p>
            <a:pPr indent="-368300" lvl="1" marL="914400" rtl="0" algn="l">
              <a:spcBef>
                <a:spcPts val="0"/>
              </a:spcBef>
              <a:spcAft>
                <a:spcPts val="0"/>
              </a:spcAft>
              <a:buSzPts val="2200"/>
              <a:buChar char="○"/>
            </a:pPr>
            <a:r>
              <a:rPr lang="en-GB"/>
              <a:t>Trong thời gian thực hiện ca sử dụng được mở rộng có thể kéo theo thực hiện 1 ca sử dụng khác (ca sử dụng được thêm vào).</a:t>
            </a:r>
            <a:endParaRPr/>
          </a:p>
          <a:p>
            <a:pPr indent="-368300" lvl="1" marL="914400" rtl="0" algn="l">
              <a:spcBef>
                <a:spcPts val="0"/>
              </a:spcBef>
              <a:spcAft>
                <a:spcPts val="0"/>
              </a:spcAft>
              <a:buSzPts val="2200"/>
              <a:buChar char="○"/>
            </a:pPr>
            <a:r>
              <a:rPr lang="en-GB"/>
              <a:t>Được biểu diễn bằng mũi tên nét đứt từ ca sử dụng được thêm vào tới ca sử dụng được mở rộng.</a:t>
            </a:r>
            <a:endParaRPr/>
          </a:p>
          <a:p>
            <a:pPr indent="-368300" lvl="1" marL="914400" rtl="0" algn="l">
              <a:spcBef>
                <a:spcPts val="0"/>
              </a:spcBef>
              <a:spcAft>
                <a:spcPts val="0"/>
              </a:spcAft>
              <a:buSzPts val="2200"/>
              <a:buChar char="○"/>
            </a:pPr>
            <a:r>
              <a:rPr lang="en-GB"/>
              <a:t>Vị trí mở rộng có thể được mô tả bằng các điểm mở rộng:</a:t>
            </a:r>
            <a:endParaRPr/>
          </a:p>
          <a:p>
            <a:pPr indent="0" lvl="0" marL="0" rtl="0" algn="l">
              <a:spcBef>
                <a:spcPts val="0"/>
              </a:spcBef>
              <a:spcAft>
                <a:spcPts val="0"/>
              </a:spcAft>
              <a:buNone/>
            </a:pPr>
            <a:r>
              <a:t/>
            </a:r>
            <a:endParaRPr/>
          </a:p>
          <a:p>
            <a:pPr indent="-381000" lvl="0" marL="457200" rtl="0" algn="l">
              <a:spcBef>
                <a:spcPts val="0"/>
              </a:spcBef>
              <a:spcAft>
                <a:spcPts val="0"/>
              </a:spcAft>
              <a:buSzPts val="2400"/>
              <a:buChar char="●"/>
            </a:pPr>
            <a:r>
              <a:rPr lang="en-GB"/>
              <a:t>Quan hệ bao gồm/include:</a:t>
            </a:r>
            <a:endParaRPr/>
          </a:p>
          <a:p>
            <a:pPr indent="-368300" lvl="1" marL="914400" rtl="0" algn="l">
              <a:spcBef>
                <a:spcPts val="0"/>
              </a:spcBef>
              <a:spcAft>
                <a:spcPts val="0"/>
              </a:spcAft>
              <a:buSzPts val="2200"/>
              <a:buChar char="○"/>
            </a:pPr>
            <a:r>
              <a:rPr lang="en-GB"/>
              <a:t>Phạm vi tương tác của ca sử dụng bao gồm việc thực hiện 1 ca sử dụng khác (ca sử dụng được thêm vào)</a:t>
            </a:r>
            <a:endParaRPr/>
          </a:p>
          <a:p>
            <a:pPr indent="-368300" lvl="1" marL="914400" rtl="0" algn="l">
              <a:spcBef>
                <a:spcPts val="0"/>
              </a:spcBef>
              <a:spcAft>
                <a:spcPts val="0"/>
              </a:spcAft>
              <a:buSzPts val="2200"/>
              <a:buChar char="○"/>
            </a:pPr>
            <a:r>
              <a:rPr lang="en-GB"/>
              <a:t>Được biểu diễn bằng mũi tên nét đứt từ ca sử dụng được mở rộng (ca cơ sở) tới ca sử dụng được thêm vào.</a:t>
            </a:r>
            <a:endParaRPr/>
          </a:p>
        </p:txBody>
      </p:sp>
      <p:pic>
        <p:nvPicPr>
          <p:cNvPr id="367" name="Google Shape;367;p36"/>
          <p:cNvPicPr preferRelativeResize="0"/>
          <p:nvPr/>
        </p:nvPicPr>
        <p:blipFill>
          <a:blip r:embed="rId3">
            <a:alphaModFix/>
          </a:blip>
          <a:stretch>
            <a:fillRect/>
          </a:stretch>
        </p:blipFill>
        <p:spPr>
          <a:xfrm>
            <a:off x="5336138" y="1516938"/>
            <a:ext cx="3209925" cy="790575"/>
          </a:xfrm>
          <a:prstGeom prst="rect">
            <a:avLst/>
          </a:prstGeom>
          <a:noFill/>
          <a:ln>
            <a:noFill/>
          </a:ln>
        </p:spPr>
      </p:pic>
      <p:pic>
        <p:nvPicPr>
          <p:cNvPr id="368" name="Google Shape;368;p36"/>
          <p:cNvPicPr preferRelativeResize="0"/>
          <p:nvPr/>
        </p:nvPicPr>
        <p:blipFill>
          <a:blip r:embed="rId4">
            <a:alphaModFix/>
          </a:blip>
          <a:stretch>
            <a:fillRect/>
          </a:stretch>
        </p:blipFill>
        <p:spPr>
          <a:xfrm>
            <a:off x="4566625" y="4283225"/>
            <a:ext cx="4192451" cy="7403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7"/>
          <p:cNvSpPr txBox="1"/>
          <p:nvPr>
            <p:ph idx="4294967295" type="title"/>
          </p:nvPr>
        </p:nvSpPr>
        <p:spPr>
          <a:xfrm>
            <a:off x="311700" y="283600"/>
            <a:ext cx="8484900" cy="81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2.6. Sơ đồ ca sử dụng tổng quan</a:t>
            </a:r>
            <a:endParaRPr/>
          </a:p>
        </p:txBody>
      </p:sp>
      <p:sp>
        <p:nvSpPr>
          <p:cNvPr id="374" name="Google Shape;374;p3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75" name="Google Shape;375;p37"/>
          <p:cNvSpPr/>
          <p:nvPr/>
        </p:nvSpPr>
        <p:spPr>
          <a:xfrm>
            <a:off x="1741175" y="1184650"/>
            <a:ext cx="5056800" cy="5168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376" name="Google Shape;376;p37"/>
          <p:cNvSpPr txBox="1"/>
          <p:nvPr/>
        </p:nvSpPr>
        <p:spPr>
          <a:xfrm>
            <a:off x="2030725" y="1211225"/>
            <a:ext cx="43143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dk2"/>
                </a:solidFill>
                <a:latin typeface="Times New Roman"/>
                <a:ea typeface="Times New Roman"/>
                <a:cs typeface="Times New Roman"/>
                <a:sym typeface="Times New Roman"/>
              </a:rPr>
              <a:t>Hệ thống </a:t>
            </a:r>
            <a:r>
              <a:rPr b="1" lang="en-GB" sz="1800">
                <a:solidFill>
                  <a:schemeClr val="dk2"/>
                </a:solidFill>
                <a:latin typeface="Times New Roman"/>
                <a:ea typeface="Times New Roman"/>
                <a:cs typeface="Times New Roman"/>
                <a:sym typeface="Times New Roman"/>
              </a:rPr>
              <a:t>đặt lịch hẹn khám sức khỏe</a:t>
            </a:r>
            <a:endParaRPr b="1" sz="1800">
              <a:solidFill>
                <a:schemeClr val="dk2"/>
              </a:solidFill>
              <a:latin typeface="Times New Roman"/>
              <a:ea typeface="Times New Roman"/>
              <a:cs typeface="Times New Roman"/>
              <a:sym typeface="Times New Roman"/>
            </a:endParaRPr>
          </a:p>
        </p:txBody>
      </p:sp>
      <p:sp>
        <p:nvSpPr>
          <p:cNvPr id="377" name="Google Shape;377;p37"/>
          <p:cNvSpPr/>
          <p:nvPr/>
        </p:nvSpPr>
        <p:spPr>
          <a:xfrm>
            <a:off x="1847400" y="2094625"/>
            <a:ext cx="1505400" cy="7329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Tạo hóa đơn</a:t>
            </a:r>
            <a:endParaRPr sz="1600">
              <a:latin typeface="Times New Roman"/>
              <a:ea typeface="Times New Roman"/>
              <a:cs typeface="Times New Roman"/>
              <a:sym typeface="Times New Roman"/>
            </a:endParaRPr>
          </a:p>
        </p:txBody>
      </p:sp>
      <p:sp>
        <p:nvSpPr>
          <p:cNvPr id="378" name="Google Shape;378;p37"/>
          <p:cNvSpPr/>
          <p:nvPr/>
        </p:nvSpPr>
        <p:spPr>
          <a:xfrm>
            <a:off x="3828600" y="1713625"/>
            <a:ext cx="1505400" cy="7329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Tạo cuộc hẹn</a:t>
            </a:r>
            <a:endParaRPr sz="1600">
              <a:latin typeface="Times New Roman"/>
              <a:ea typeface="Times New Roman"/>
              <a:cs typeface="Times New Roman"/>
              <a:sym typeface="Times New Roman"/>
            </a:endParaRPr>
          </a:p>
        </p:txBody>
      </p:sp>
      <p:sp>
        <p:nvSpPr>
          <p:cNvPr id="379" name="Google Shape;379;p37"/>
          <p:cNvSpPr/>
          <p:nvPr/>
        </p:nvSpPr>
        <p:spPr>
          <a:xfrm>
            <a:off x="2691775" y="3085225"/>
            <a:ext cx="1704900" cy="732900"/>
          </a:xfrm>
          <a:prstGeom prst="ellipse">
            <a:avLst/>
          </a:prstGeom>
          <a:no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Tạo cuộc hẹn </a:t>
            </a:r>
            <a:r>
              <a:rPr lang="en-GB" sz="1600">
                <a:latin typeface="Times New Roman"/>
                <a:ea typeface="Times New Roman"/>
                <a:cs typeface="Times New Roman"/>
                <a:sym typeface="Times New Roman"/>
              </a:rPr>
              <a:t>bệnh nhân cũ</a:t>
            </a:r>
            <a:endParaRPr sz="1600">
              <a:latin typeface="Times New Roman"/>
              <a:ea typeface="Times New Roman"/>
              <a:cs typeface="Times New Roman"/>
              <a:sym typeface="Times New Roman"/>
            </a:endParaRPr>
          </a:p>
        </p:txBody>
      </p:sp>
      <p:sp>
        <p:nvSpPr>
          <p:cNvPr id="380" name="Google Shape;380;p37"/>
          <p:cNvSpPr/>
          <p:nvPr/>
        </p:nvSpPr>
        <p:spPr>
          <a:xfrm>
            <a:off x="4666800" y="3085225"/>
            <a:ext cx="1835100" cy="732900"/>
          </a:xfrm>
          <a:prstGeom prst="ellipse">
            <a:avLst/>
          </a:prstGeom>
          <a:no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Tạo cuộc hẹn bệnh nhân </a:t>
            </a:r>
            <a:r>
              <a:rPr lang="en-GB" sz="1600">
                <a:latin typeface="Times New Roman"/>
                <a:ea typeface="Times New Roman"/>
                <a:cs typeface="Times New Roman"/>
                <a:sym typeface="Times New Roman"/>
              </a:rPr>
              <a:t>mới</a:t>
            </a:r>
            <a:endParaRPr sz="1600">
              <a:latin typeface="Times New Roman"/>
              <a:ea typeface="Times New Roman"/>
              <a:cs typeface="Times New Roman"/>
              <a:sym typeface="Times New Roman"/>
            </a:endParaRPr>
          </a:p>
        </p:txBody>
      </p:sp>
      <p:sp>
        <p:nvSpPr>
          <p:cNvPr id="381" name="Google Shape;381;p37"/>
          <p:cNvSpPr/>
          <p:nvPr/>
        </p:nvSpPr>
        <p:spPr>
          <a:xfrm>
            <a:off x="7737297" y="1325515"/>
            <a:ext cx="169500" cy="172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382" name="Google Shape;382;p37"/>
          <p:cNvCxnSpPr>
            <a:stCxn id="381" idx="4"/>
          </p:cNvCxnSpPr>
          <p:nvPr/>
        </p:nvCxnSpPr>
        <p:spPr>
          <a:xfrm>
            <a:off x="7822047" y="1497715"/>
            <a:ext cx="0" cy="336900"/>
          </a:xfrm>
          <a:prstGeom prst="straightConnector1">
            <a:avLst/>
          </a:prstGeom>
          <a:noFill/>
          <a:ln cap="flat" cmpd="sng" w="9525">
            <a:solidFill>
              <a:schemeClr val="dk2"/>
            </a:solidFill>
            <a:prstDash val="solid"/>
            <a:round/>
            <a:headEnd len="med" w="med" type="none"/>
            <a:tailEnd len="med" w="med" type="none"/>
          </a:ln>
        </p:spPr>
      </p:cxnSp>
      <p:cxnSp>
        <p:nvCxnSpPr>
          <p:cNvPr id="383" name="Google Shape;383;p37"/>
          <p:cNvCxnSpPr/>
          <p:nvPr/>
        </p:nvCxnSpPr>
        <p:spPr>
          <a:xfrm>
            <a:off x="7822075" y="1820417"/>
            <a:ext cx="219000" cy="172200"/>
          </a:xfrm>
          <a:prstGeom prst="straightConnector1">
            <a:avLst/>
          </a:prstGeom>
          <a:noFill/>
          <a:ln cap="flat" cmpd="sng" w="9525">
            <a:solidFill>
              <a:schemeClr val="dk2"/>
            </a:solidFill>
            <a:prstDash val="solid"/>
            <a:round/>
            <a:headEnd len="med" w="med" type="none"/>
            <a:tailEnd len="med" w="med" type="none"/>
          </a:ln>
        </p:spPr>
      </p:cxnSp>
      <p:cxnSp>
        <p:nvCxnSpPr>
          <p:cNvPr id="384" name="Google Shape;384;p37"/>
          <p:cNvCxnSpPr/>
          <p:nvPr/>
        </p:nvCxnSpPr>
        <p:spPr>
          <a:xfrm>
            <a:off x="7822075" y="1573688"/>
            <a:ext cx="219000" cy="172200"/>
          </a:xfrm>
          <a:prstGeom prst="straightConnector1">
            <a:avLst/>
          </a:prstGeom>
          <a:noFill/>
          <a:ln cap="flat" cmpd="sng" w="9525">
            <a:solidFill>
              <a:schemeClr val="dk2"/>
            </a:solidFill>
            <a:prstDash val="solid"/>
            <a:round/>
            <a:headEnd len="med" w="med" type="none"/>
            <a:tailEnd len="med" w="med" type="none"/>
          </a:ln>
        </p:spPr>
      </p:cxnSp>
      <p:cxnSp>
        <p:nvCxnSpPr>
          <p:cNvPr id="385" name="Google Shape;385;p37"/>
          <p:cNvCxnSpPr/>
          <p:nvPr/>
        </p:nvCxnSpPr>
        <p:spPr>
          <a:xfrm flipH="1">
            <a:off x="7605371" y="1820417"/>
            <a:ext cx="219000" cy="172200"/>
          </a:xfrm>
          <a:prstGeom prst="straightConnector1">
            <a:avLst/>
          </a:prstGeom>
          <a:noFill/>
          <a:ln cap="flat" cmpd="sng" w="9525">
            <a:solidFill>
              <a:schemeClr val="dk2"/>
            </a:solidFill>
            <a:prstDash val="solid"/>
            <a:round/>
            <a:headEnd len="med" w="med" type="none"/>
            <a:tailEnd len="med" w="med" type="none"/>
          </a:ln>
        </p:spPr>
      </p:cxnSp>
      <p:cxnSp>
        <p:nvCxnSpPr>
          <p:cNvPr id="386" name="Google Shape;386;p37"/>
          <p:cNvCxnSpPr/>
          <p:nvPr/>
        </p:nvCxnSpPr>
        <p:spPr>
          <a:xfrm flipH="1">
            <a:off x="7605371" y="1573688"/>
            <a:ext cx="219000" cy="172200"/>
          </a:xfrm>
          <a:prstGeom prst="straightConnector1">
            <a:avLst/>
          </a:prstGeom>
          <a:noFill/>
          <a:ln cap="flat" cmpd="sng" w="9525">
            <a:solidFill>
              <a:schemeClr val="dk2"/>
            </a:solidFill>
            <a:prstDash val="solid"/>
            <a:round/>
            <a:headEnd len="med" w="med" type="none"/>
            <a:tailEnd len="med" w="med" type="none"/>
          </a:ln>
        </p:spPr>
      </p:cxnSp>
      <p:sp>
        <p:nvSpPr>
          <p:cNvPr id="387" name="Google Shape;387;p37"/>
          <p:cNvSpPr txBox="1"/>
          <p:nvPr/>
        </p:nvSpPr>
        <p:spPr>
          <a:xfrm>
            <a:off x="7307020" y="1948411"/>
            <a:ext cx="1330800" cy="3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Bệnh nhân</a:t>
            </a:r>
            <a:endParaRPr sz="1600">
              <a:solidFill>
                <a:schemeClr val="dk2"/>
              </a:solidFill>
              <a:latin typeface="Times New Roman"/>
              <a:ea typeface="Times New Roman"/>
              <a:cs typeface="Times New Roman"/>
              <a:sym typeface="Times New Roman"/>
            </a:endParaRPr>
          </a:p>
        </p:txBody>
      </p:sp>
      <p:sp>
        <p:nvSpPr>
          <p:cNvPr id="388" name="Google Shape;388;p37"/>
          <p:cNvSpPr/>
          <p:nvPr/>
        </p:nvSpPr>
        <p:spPr>
          <a:xfrm>
            <a:off x="7316127" y="2969398"/>
            <a:ext cx="169500" cy="172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389" name="Google Shape;389;p37"/>
          <p:cNvCxnSpPr>
            <a:stCxn id="388" idx="4"/>
          </p:cNvCxnSpPr>
          <p:nvPr/>
        </p:nvCxnSpPr>
        <p:spPr>
          <a:xfrm>
            <a:off x="7400877" y="3141598"/>
            <a:ext cx="0" cy="336900"/>
          </a:xfrm>
          <a:prstGeom prst="straightConnector1">
            <a:avLst/>
          </a:prstGeom>
          <a:noFill/>
          <a:ln cap="flat" cmpd="sng" w="9525">
            <a:solidFill>
              <a:schemeClr val="dk2"/>
            </a:solidFill>
            <a:prstDash val="solid"/>
            <a:round/>
            <a:headEnd len="med" w="med" type="none"/>
            <a:tailEnd len="med" w="med" type="none"/>
          </a:ln>
        </p:spPr>
      </p:cxnSp>
      <p:cxnSp>
        <p:nvCxnSpPr>
          <p:cNvPr id="390" name="Google Shape;390;p37"/>
          <p:cNvCxnSpPr/>
          <p:nvPr/>
        </p:nvCxnSpPr>
        <p:spPr>
          <a:xfrm>
            <a:off x="7400905" y="3464300"/>
            <a:ext cx="219000" cy="172200"/>
          </a:xfrm>
          <a:prstGeom prst="straightConnector1">
            <a:avLst/>
          </a:prstGeom>
          <a:noFill/>
          <a:ln cap="flat" cmpd="sng" w="9525">
            <a:solidFill>
              <a:schemeClr val="dk2"/>
            </a:solidFill>
            <a:prstDash val="solid"/>
            <a:round/>
            <a:headEnd len="med" w="med" type="none"/>
            <a:tailEnd len="med" w="med" type="none"/>
          </a:ln>
        </p:spPr>
      </p:cxnSp>
      <p:cxnSp>
        <p:nvCxnSpPr>
          <p:cNvPr id="391" name="Google Shape;391;p37"/>
          <p:cNvCxnSpPr/>
          <p:nvPr/>
        </p:nvCxnSpPr>
        <p:spPr>
          <a:xfrm>
            <a:off x="7400905" y="3217571"/>
            <a:ext cx="219000" cy="172200"/>
          </a:xfrm>
          <a:prstGeom prst="straightConnector1">
            <a:avLst/>
          </a:prstGeom>
          <a:noFill/>
          <a:ln cap="flat" cmpd="sng" w="9525">
            <a:solidFill>
              <a:schemeClr val="dk2"/>
            </a:solidFill>
            <a:prstDash val="solid"/>
            <a:round/>
            <a:headEnd len="med" w="med" type="none"/>
            <a:tailEnd len="med" w="med" type="none"/>
          </a:ln>
        </p:spPr>
      </p:cxnSp>
      <p:cxnSp>
        <p:nvCxnSpPr>
          <p:cNvPr id="392" name="Google Shape;392;p37"/>
          <p:cNvCxnSpPr/>
          <p:nvPr/>
        </p:nvCxnSpPr>
        <p:spPr>
          <a:xfrm flipH="1">
            <a:off x="7184201" y="3464300"/>
            <a:ext cx="219000" cy="172200"/>
          </a:xfrm>
          <a:prstGeom prst="straightConnector1">
            <a:avLst/>
          </a:prstGeom>
          <a:noFill/>
          <a:ln cap="flat" cmpd="sng" w="9525">
            <a:solidFill>
              <a:schemeClr val="dk2"/>
            </a:solidFill>
            <a:prstDash val="solid"/>
            <a:round/>
            <a:headEnd len="med" w="med" type="none"/>
            <a:tailEnd len="med" w="med" type="none"/>
          </a:ln>
        </p:spPr>
      </p:cxnSp>
      <p:cxnSp>
        <p:nvCxnSpPr>
          <p:cNvPr id="393" name="Google Shape;393;p37"/>
          <p:cNvCxnSpPr/>
          <p:nvPr/>
        </p:nvCxnSpPr>
        <p:spPr>
          <a:xfrm flipH="1">
            <a:off x="7184201" y="3217571"/>
            <a:ext cx="219000" cy="172200"/>
          </a:xfrm>
          <a:prstGeom prst="straightConnector1">
            <a:avLst/>
          </a:prstGeom>
          <a:noFill/>
          <a:ln cap="flat" cmpd="sng" w="9525">
            <a:solidFill>
              <a:schemeClr val="dk2"/>
            </a:solidFill>
            <a:prstDash val="solid"/>
            <a:round/>
            <a:headEnd len="med" w="med" type="none"/>
            <a:tailEnd len="med" w="med" type="none"/>
          </a:ln>
        </p:spPr>
      </p:cxnSp>
      <p:sp>
        <p:nvSpPr>
          <p:cNvPr id="394" name="Google Shape;394;p37"/>
          <p:cNvSpPr txBox="1"/>
          <p:nvPr/>
        </p:nvSpPr>
        <p:spPr>
          <a:xfrm>
            <a:off x="6797874" y="3567227"/>
            <a:ext cx="11109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600">
                <a:solidFill>
                  <a:schemeClr val="dk2"/>
                </a:solidFill>
                <a:latin typeface="Times New Roman"/>
                <a:ea typeface="Times New Roman"/>
                <a:cs typeface="Times New Roman"/>
                <a:sym typeface="Times New Roman"/>
              </a:rPr>
              <a:t>Bệnh nhân cũ</a:t>
            </a:r>
            <a:endParaRPr sz="1600">
              <a:solidFill>
                <a:schemeClr val="dk2"/>
              </a:solidFill>
              <a:latin typeface="Times New Roman"/>
              <a:ea typeface="Times New Roman"/>
              <a:cs typeface="Times New Roman"/>
              <a:sym typeface="Times New Roman"/>
            </a:endParaRPr>
          </a:p>
        </p:txBody>
      </p:sp>
      <p:sp>
        <p:nvSpPr>
          <p:cNvPr id="395" name="Google Shape;395;p37"/>
          <p:cNvSpPr/>
          <p:nvPr/>
        </p:nvSpPr>
        <p:spPr>
          <a:xfrm>
            <a:off x="8287671" y="2969398"/>
            <a:ext cx="169500" cy="172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396" name="Google Shape;396;p37"/>
          <p:cNvCxnSpPr>
            <a:stCxn id="395" idx="4"/>
          </p:cNvCxnSpPr>
          <p:nvPr/>
        </p:nvCxnSpPr>
        <p:spPr>
          <a:xfrm>
            <a:off x="8372421" y="3141598"/>
            <a:ext cx="0" cy="336900"/>
          </a:xfrm>
          <a:prstGeom prst="straightConnector1">
            <a:avLst/>
          </a:prstGeom>
          <a:noFill/>
          <a:ln cap="flat" cmpd="sng" w="9525">
            <a:solidFill>
              <a:schemeClr val="dk2"/>
            </a:solidFill>
            <a:prstDash val="solid"/>
            <a:round/>
            <a:headEnd len="med" w="med" type="none"/>
            <a:tailEnd len="med" w="med" type="none"/>
          </a:ln>
        </p:spPr>
      </p:cxnSp>
      <p:cxnSp>
        <p:nvCxnSpPr>
          <p:cNvPr id="397" name="Google Shape;397;p37"/>
          <p:cNvCxnSpPr/>
          <p:nvPr/>
        </p:nvCxnSpPr>
        <p:spPr>
          <a:xfrm>
            <a:off x="8372449" y="3464300"/>
            <a:ext cx="219000" cy="172200"/>
          </a:xfrm>
          <a:prstGeom prst="straightConnector1">
            <a:avLst/>
          </a:prstGeom>
          <a:noFill/>
          <a:ln cap="flat" cmpd="sng" w="9525">
            <a:solidFill>
              <a:schemeClr val="dk2"/>
            </a:solidFill>
            <a:prstDash val="solid"/>
            <a:round/>
            <a:headEnd len="med" w="med" type="none"/>
            <a:tailEnd len="med" w="med" type="none"/>
          </a:ln>
        </p:spPr>
      </p:cxnSp>
      <p:cxnSp>
        <p:nvCxnSpPr>
          <p:cNvPr id="398" name="Google Shape;398;p37"/>
          <p:cNvCxnSpPr/>
          <p:nvPr/>
        </p:nvCxnSpPr>
        <p:spPr>
          <a:xfrm>
            <a:off x="8372449" y="3217571"/>
            <a:ext cx="219000" cy="172200"/>
          </a:xfrm>
          <a:prstGeom prst="straightConnector1">
            <a:avLst/>
          </a:prstGeom>
          <a:noFill/>
          <a:ln cap="flat" cmpd="sng" w="9525">
            <a:solidFill>
              <a:schemeClr val="dk2"/>
            </a:solidFill>
            <a:prstDash val="solid"/>
            <a:round/>
            <a:headEnd len="med" w="med" type="none"/>
            <a:tailEnd len="med" w="med" type="none"/>
          </a:ln>
        </p:spPr>
      </p:cxnSp>
      <p:cxnSp>
        <p:nvCxnSpPr>
          <p:cNvPr id="399" name="Google Shape;399;p37"/>
          <p:cNvCxnSpPr/>
          <p:nvPr/>
        </p:nvCxnSpPr>
        <p:spPr>
          <a:xfrm flipH="1">
            <a:off x="8155745" y="3464300"/>
            <a:ext cx="219000" cy="172200"/>
          </a:xfrm>
          <a:prstGeom prst="straightConnector1">
            <a:avLst/>
          </a:prstGeom>
          <a:noFill/>
          <a:ln cap="flat" cmpd="sng" w="9525">
            <a:solidFill>
              <a:schemeClr val="dk2"/>
            </a:solidFill>
            <a:prstDash val="solid"/>
            <a:round/>
            <a:headEnd len="med" w="med" type="none"/>
            <a:tailEnd len="med" w="med" type="none"/>
          </a:ln>
        </p:spPr>
      </p:cxnSp>
      <p:cxnSp>
        <p:nvCxnSpPr>
          <p:cNvPr id="400" name="Google Shape;400;p37"/>
          <p:cNvCxnSpPr/>
          <p:nvPr/>
        </p:nvCxnSpPr>
        <p:spPr>
          <a:xfrm flipH="1">
            <a:off x="8155745" y="3217571"/>
            <a:ext cx="219000" cy="172200"/>
          </a:xfrm>
          <a:prstGeom prst="straightConnector1">
            <a:avLst/>
          </a:prstGeom>
          <a:noFill/>
          <a:ln cap="flat" cmpd="sng" w="9525">
            <a:solidFill>
              <a:schemeClr val="dk2"/>
            </a:solidFill>
            <a:prstDash val="solid"/>
            <a:round/>
            <a:headEnd len="med" w="med" type="none"/>
            <a:tailEnd len="med" w="med" type="none"/>
          </a:ln>
        </p:spPr>
      </p:cxnSp>
      <p:sp>
        <p:nvSpPr>
          <p:cNvPr id="401" name="Google Shape;401;p37"/>
          <p:cNvSpPr txBox="1"/>
          <p:nvPr/>
        </p:nvSpPr>
        <p:spPr>
          <a:xfrm>
            <a:off x="7733923" y="3567227"/>
            <a:ext cx="12444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600">
                <a:solidFill>
                  <a:schemeClr val="dk2"/>
                </a:solidFill>
                <a:latin typeface="Times New Roman"/>
                <a:ea typeface="Times New Roman"/>
                <a:cs typeface="Times New Roman"/>
                <a:sym typeface="Times New Roman"/>
              </a:rPr>
              <a:t>Bệnh nhân mới</a:t>
            </a:r>
            <a:endParaRPr sz="1600">
              <a:solidFill>
                <a:schemeClr val="dk2"/>
              </a:solidFill>
              <a:latin typeface="Times New Roman"/>
              <a:ea typeface="Times New Roman"/>
              <a:cs typeface="Times New Roman"/>
              <a:sym typeface="Times New Roman"/>
            </a:endParaRPr>
          </a:p>
        </p:txBody>
      </p:sp>
      <p:sp>
        <p:nvSpPr>
          <p:cNvPr id="402" name="Google Shape;402;p37"/>
          <p:cNvSpPr/>
          <p:nvPr/>
        </p:nvSpPr>
        <p:spPr>
          <a:xfrm>
            <a:off x="7520950" y="2295525"/>
            <a:ext cx="219000" cy="1722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403" name="Google Shape;403;p37"/>
          <p:cNvSpPr/>
          <p:nvPr/>
        </p:nvSpPr>
        <p:spPr>
          <a:xfrm>
            <a:off x="7978150" y="2295525"/>
            <a:ext cx="219000" cy="1722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04" name="Google Shape;404;p37"/>
          <p:cNvCxnSpPr>
            <a:endCxn id="402" idx="3"/>
          </p:cNvCxnSpPr>
          <p:nvPr/>
        </p:nvCxnSpPr>
        <p:spPr>
          <a:xfrm rot="-5400000">
            <a:off x="7303000" y="2565675"/>
            <a:ext cx="425400" cy="229500"/>
          </a:xfrm>
          <a:prstGeom prst="bentConnector3">
            <a:avLst>
              <a:gd fmla="val 50000" name="adj1"/>
            </a:avLst>
          </a:prstGeom>
          <a:noFill/>
          <a:ln cap="flat" cmpd="sng" w="9525">
            <a:solidFill>
              <a:schemeClr val="dk2"/>
            </a:solidFill>
            <a:prstDash val="solid"/>
            <a:round/>
            <a:headEnd len="med" w="med" type="none"/>
            <a:tailEnd len="med" w="med" type="none"/>
          </a:ln>
        </p:spPr>
      </p:cxnSp>
      <p:cxnSp>
        <p:nvCxnSpPr>
          <p:cNvPr id="405" name="Google Shape;405;p37"/>
          <p:cNvCxnSpPr>
            <a:endCxn id="403" idx="3"/>
          </p:cNvCxnSpPr>
          <p:nvPr/>
        </p:nvCxnSpPr>
        <p:spPr>
          <a:xfrm flipH="1" rot="5400000">
            <a:off x="8017300" y="2538075"/>
            <a:ext cx="425400" cy="284700"/>
          </a:xfrm>
          <a:prstGeom prst="bentConnector3">
            <a:avLst>
              <a:gd fmla="val 50000" name="adj1"/>
            </a:avLst>
          </a:prstGeom>
          <a:noFill/>
          <a:ln cap="flat" cmpd="sng" w="9525">
            <a:solidFill>
              <a:schemeClr val="dk2"/>
            </a:solidFill>
            <a:prstDash val="solid"/>
            <a:round/>
            <a:headEnd len="med" w="med" type="none"/>
            <a:tailEnd len="med" w="med" type="none"/>
          </a:ln>
        </p:spPr>
      </p:cxnSp>
      <p:cxnSp>
        <p:nvCxnSpPr>
          <p:cNvPr id="406" name="Google Shape;406;p37"/>
          <p:cNvCxnSpPr>
            <a:endCxn id="378" idx="6"/>
          </p:cNvCxnSpPr>
          <p:nvPr/>
        </p:nvCxnSpPr>
        <p:spPr>
          <a:xfrm flipH="1">
            <a:off x="5334000" y="1733575"/>
            <a:ext cx="2103000" cy="346500"/>
          </a:xfrm>
          <a:prstGeom prst="straightConnector1">
            <a:avLst/>
          </a:prstGeom>
          <a:noFill/>
          <a:ln cap="flat" cmpd="sng" w="9525">
            <a:solidFill>
              <a:schemeClr val="dk2"/>
            </a:solidFill>
            <a:prstDash val="solid"/>
            <a:round/>
            <a:headEnd len="med" w="med" type="none"/>
            <a:tailEnd len="med" w="med" type="none"/>
          </a:ln>
        </p:spPr>
      </p:cxnSp>
      <p:sp>
        <p:nvSpPr>
          <p:cNvPr id="407" name="Google Shape;407;p37"/>
          <p:cNvSpPr/>
          <p:nvPr/>
        </p:nvSpPr>
        <p:spPr>
          <a:xfrm>
            <a:off x="4244350" y="2447925"/>
            <a:ext cx="219000" cy="1722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408" name="Google Shape;408;p37"/>
          <p:cNvSpPr/>
          <p:nvPr/>
        </p:nvSpPr>
        <p:spPr>
          <a:xfrm>
            <a:off x="4701550" y="2447925"/>
            <a:ext cx="219000" cy="1722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09" name="Google Shape;409;p37"/>
          <p:cNvCxnSpPr>
            <a:stCxn id="379" idx="0"/>
            <a:endCxn id="407" idx="3"/>
          </p:cNvCxnSpPr>
          <p:nvPr/>
        </p:nvCxnSpPr>
        <p:spPr>
          <a:xfrm rot="-5400000">
            <a:off x="3716575" y="2447875"/>
            <a:ext cx="465000" cy="809700"/>
          </a:xfrm>
          <a:prstGeom prst="bentConnector3">
            <a:avLst>
              <a:gd fmla="val 50011" name="adj1"/>
            </a:avLst>
          </a:prstGeom>
          <a:noFill/>
          <a:ln cap="flat" cmpd="sng" w="9525">
            <a:solidFill>
              <a:schemeClr val="dk2"/>
            </a:solidFill>
            <a:prstDash val="solid"/>
            <a:round/>
            <a:headEnd len="med" w="med" type="none"/>
            <a:tailEnd len="med" w="med" type="none"/>
          </a:ln>
        </p:spPr>
      </p:cxnSp>
      <p:cxnSp>
        <p:nvCxnSpPr>
          <p:cNvPr id="410" name="Google Shape;410;p37"/>
          <p:cNvCxnSpPr>
            <a:stCxn id="380" idx="0"/>
            <a:endCxn id="408" idx="3"/>
          </p:cNvCxnSpPr>
          <p:nvPr/>
        </p:nvCxnSpPr>
        <p:spPr>
          <a:xfrm flipH="1" rot="5400000">
            <a:off x="4965150" y="2466025"/>
            <a:ext cx="465000" cy="773400"/>
          </a:xfrm>
          <a:prstGeom prst="bentConnector3">
            <a:avLst>
              <a:gd fmla="val 50011" name="adj1"/>
            </a:avLst>
          </a:prstGeom>
          <a:noFill/>
          <a:ln cap="flat" cmpd="sng" w="9525">
            <a:solidFill>
              <a:schemeClr val="dk2"/>
            </a:solidFill>
            <a:prstDash val="solid"/>
            <a:round/>
            <a:headEnd len="med" w="med" type="none"/>
            <a:tailEnd len="med" w="med" type="none"/>
          </a:ln>
        </p:spPr>
      </p:cxnSp>
      <p:cxnSp>
        <p:nvCxnSpPr>
          <p:cNvPr id="411" name="Google Shape;411;p37"/>
          <p:cNvCxnSpPr>
            <a:stCxn id="377" idx="7"/>
            <a:endCxn id="378" idx="2"/>
          </p:cNvCxnSpPr>
          <p:nvPr/>
        </p:nvCxnSpPr>
        <p:spPr>
          <a:xfrm flipH="1" rot="10800000">
            <a:off x="3132339" y="2080156"/>
            <a:ext cx="696300" cy="121800"/>
          </a:xfrm>
          <a:prstGeom prst="straightConnector1">
            <a:avLst/>
          </a:prstGeom>
          <a:noFill/>
          <a:ln cap="flat" cmpd="sng" w="9525">
            <a:solidFill>
              <a:schemeClr val="dk2"/>
            </a:solidFill>
            <a:prstDash val="dash"/>
            <a:round/>
            <a:headEnd len="med" w="med" type="none"/>
            <a:tailEnd len="med" w="med" type="triangle"/>
          </a:ln>
        </p:spPr>
      </p:cxnSp>
      <p:sp>
        <p:nvSpPr>
          <p:cNvPr id="412" name="Google Shape;412;p37"/>
          <p:cNvSpPr txBox="1"/>
          <p:nvPr/>
        </p:nvSpPr>
        <p:spPr>
          <a:xfrm rot="-208070">
            <a:off x="2741472" y="1748751"/>
            <a:ext cx="1314307" cy="332708"/>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&lt;&lt;extend&gt;&gt;</a:t>
            </a:r>
            <a:endParaRPr sz="1600">
              <a:solidFill>
                <a:schemeClr val="dk2"/>
              </a:solidFill>
              <a:latin typeface="Times New Roman"/>
              <a:ea typeface="Times New Roman"/>
              <a:cs typeface="Times New Roman"/>
              <a:sym typeface="Times New Roman"/>
            </a:endParaRPr>
          </a:p>
        </p:txBody>
      </p:sp>
      <p:sp>
        <p:nvSpPr>
          <p:cNvPr id="413" name="Google Shape;413;p37"/>
          <p:cNvSpPr/>
          <p:nvPr/>
        </p:nvSpPr>
        <p:spPr>
          <a:xfrm>
            <a:off x="743871" y="3655198"/>
            <a:ext cx="169500" cy="172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14" name="Google Shape;414;p37"/>
          <p:cNvCxnSpPr>
            <a:stCxn id="413" idx="4"/>
          </p:cNvCxnSpPr>
          <p:nvPr/>
        </p:nvCxnSpPr>
        <p:spPr>
          <a:xfrm>
            <a:off x="828621" y="3827398"/>
            <a:ext cx="0" cy="336900"/>
          </a:xfrm>
          <a:prstGeom prst="straightConnector1">
            <a:avLst/>
          </a:prstGeom>
          <a:noFill/>
          <a:ln cap="flat" cmpd="sng" w="9525">
            <a:solidFill>
              <a:schemeClr val="dk2"/>
            </a:solidFill>
            <a:prstDash val="solid"/>
            <a:round/>
            <a:headEnd len="med" w="med" type="none"/>
            <a:tailEnd len="med" w="med" type="none"/>
          </a:ln>
        </p:spPr>
      </p:cxnSp>
      <p:cxnSp>
        <p:nvCxnSpPr>
          <p:cNvPr id="415" name="Google Shape;415;p37"/>
          <p:cNvCxnSpPr/>
          <p:nvPr/>
        </p:nvCxnSpPr>
        <p:spPr>
          <a:xfrm>
            <a:off x="828649" y="4150100"/>
            <a:ext cx="219000" cy="172200"/>
          </a:xfrm>
          <a:prstGeom prst="straightConnector1">
            <a:avLst/>
          </a:prstGeom>
          <a:noFill/>
          <a:ln cap="flat" cmpd="sng" w="9525">
            <a:solidFill>
              <a:schemeClr val="dk2"/>
            </a:solidFill>
            <a:prstDash val="solid"/>
            <a:round/>
            <a:headEnd len="med" w="med" type="none"/>
            <a:tailEnd len="med" w="med" type="none"/>
          </a:ln>
        </p:spPr>
      </p:cxnSp>
      <p:cxnSp>
        <p:nvCxnSpPr>
          <p:cNvPr id="416" name="Google Shape;416;p37"/>
          <p:cNvCxnSpPr/>
          <p:nvPr/>
        </p:nvCxnSpPr>
        <p:spPr>
          <a:xfrm>
            <a:off x="828649" y="3903371"/>
            <a:ext cx="219000" cy="172200"/>
          </a:xfrm>
          <a:prstGeom prst="straightConnector1">
            <a:avLst/>
          </a:prstGeom>
          <a:noFill/>
          <a:ln cap="flat" cmpd="sng" w="9525">
            <a:solidFill>
              <a:schemeClr val="dk2"/>
            </a:solidFill>
            <a:prstDash val="solid"/>
            <a:round/>
            <a:headEnd len="med" w="med" type="none"/>
            <a:tailEnd len="med" w="med" type="none"/>
          </a:ln>
        </p:spPr>
      </p:cxnSp>
      <p:cxnSp>
        <p:nvCxnSpPr>
          <p:cNvPr id="417" name="Google Shape;417;p37"/>
          <p:cNvCxnSpPr/>
          <p:nvPr/>
        </p:nvCxnSpPr>
        <p:spPr>
          <a:xfrm flipH="1">
            <a:off x="611945" y="4150100"/>
            <a:ext cx="219000" cy="172200"/>
          </a:xfrm>
          <a:prstGeom prst="straightConnector1">
            <a:avLst/>
          </a:prstGeom>
          <a:noFill/>
          <a:ln cap="flat" cmpd="sng" w="9525">
            <a:solidFill>
              <a:schemeClr val="dk2"/>
            </a:solidFill>
            <a:prstDash val="solid"/>
            <a:round/>
            <a:headEnd len="med" w="med" type="none"/>
            <a:tailEnd len="med" w="med" type="none"/>
          </a:ln>
        </p:spPr>
      </p:cxnSp>
      <p:cxnSp>
        <p:nvCxnSpPr>
          <p:cNvPr id="418" name="Google Shape;418;p37"/>
          <p:cNvCxnSpPr/>
          <p:nvPr/>
        </p:nvCxnSpPr>
        <p:spPr>
          <a:xfrm flipH="1">
            <a:off x="611945" y="3903371"/>
            <a:ext cx="219000" cy="172200"/>
          </a:xfrm>
          <a:prstGeom prst="straightConnector1">
            <a:avLst/>
          </a:prstGeom>
          <a:noFill/>
          <a:ln cap="flat" cmpd="sng" w="9525">
            <a:solidFill>
              <a:schemeClr val="dk2"/>
            </a:solidFill>
            <a:prstDash val="solid"/>
            <a:round/>
            <a:headEnd len="med" w="med" type="none"/>
            <a:tailEnd len="med" w="med" type="none"/>
          </a:ln>
        </p:spPr>
      </p:cxnSp>
      <p:sp>
        <p:nvSpPr>
          <p:cNvPr id="419" name="Google Shape;419;p37"/>
          <p:cNvSpPr txBox="1"/>
          <p:nvPr/>
        </p:nvSpPr>
        <p:spPr>
          <a:xfrm>
            <a:off x="190123" y="4253027"/>
            <a:ext cx="12444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600">
                <a:solidFill>
                  <a:schemeClr val="dk2"/>
                </a:solidFill>
                <a:latin typeface="Times New Roman"/>
                <a:ea typeface="Times New Roman"/>
                <a:cs typeface="Times New Roman"/>
                <a:sym typeface="Times New Roman"/>
              </a:rPr>
              <a:t>Người quản lý</a:t>
            </a:r>
            <a:endParaRPr sz="1600">
              <a:solidFill>
                <a:schemeClr val="dk2"/>
              </a:solidFill>
              <a:latin typeface="Times New Roman"/>
              <a:ea typeface="Times New Roman"/>
              <a:cs typeface="Times New Roman"/>
              <a:sym typeface="Times New Roman"/>
            </a:endParaRPr>
          </a:p>
        </p:txBody>
      </p:sp>
      <p:sp>
        <p:nvSpPr>
          <p:cNvPr id="420" name="Google Shape;420;p37"/>
          <p:cNvSpPr/>
          <p:nvPr/>
        </p:nvSpPr>
        <p:spPr>
          <a:xfrm>
            <a:off x="743871" y="5026798"/>
            <a:ext cx="169500" cy="172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21" name="Google Shape;421;p37"/>
          <p:cNvCxnSpPr>
            <a:stCxn id="420" idx="4"/>
          </p:cNvCxnSpPr>
          <p:nvPr/>
        </p:nvCxnSpPr>
        <p:spPr>
          <a:xfrm>
            <a:off x="828621" y="5198998"/>
            <a:ext cx="0" cy="336900"/>
          </a:xfrm>
          <a:prstGeom prst="straightConnector1">
            <a:avLst/>
          </a:prstGeom>
          <a:noFill/>
          <a:ln cap="flat" cmpd="sng" w="9525">
            <a:solidFill>
              <a:schemeClr val="dk2"/>
            </a:solidFill>
            <a:prstDash val="solid"/>
            <a:round/>
            <a:headEnd len="med" w="med" type="none"/>
            <a:tailEnd len="med" w="med" type="none"/>
          </a:ln>
        </p:spPr>
      </p:cxnSp>
      <p:cxnSp>
        <p:nvCxnSpPr>
          <p:cNvPr id="422" name="Google Shape;422;p37"/>
          <p:cNvCxnSpPr/>
          <p:nvPr/>
        </p:nvCxnSpPr>
        <p:spPr>
          <a:xfrm>
            <a:off x="828649" y="5521700"/>
            <a:ext cx="219000" cy="172200"/>
          </a:xfrm>
          <a:prstGeom prst="straightConnector1">
            <a:avLst/>
          </a:prstGeom>
          <a:noFill/>
          <a:ln cap="flat" cmpd="sng" w="9525">
            <a:solidFill>
              <a:schemeClr val="dk2"/>
            </a:solidFill>
            <a:prstDash val="solid"/>
            <a:round/>
            <a:headEnd len="med" w="med" type="none"/>
            <a:tailEnd len="med" w="med" type="none"/>
          </a:ln>
        </p:spPr>
      </p:cxnSp>
      <p:cxnSp>
        <p:nvCxnSpPr>
          <p:cNvPr id="423" name="Google Shape;423;p37"/>
          <p:cNvCxnSpPr/>
          <p:nvPr/>
        </p:nvCxnSpPr>
        <p:spPr>
          <a:xfrm>
            <a:off x="828649" y="5274971"/>
            <a:ext cx="219000" cy="172200"/>
          </a:xfrm>
          <a:prstGeom prst="straightConnector1">
            <a:avLst/>
          </a:prstGeom>
          <a:noFill/>
          <a:ln cap="flat" cmpd="sng" w="9525">
            <a:solidFill>
              <a:schemeClr val="dk2"/>
            </a:solidFill>
            <a:prstDash val="solid"/>
            <a:round/>
            <a:headEnd len="med" w="med" type="none"/>
            <a:tailEnd len="med" w="med" type="none"/>
          </a:ln>
        </p:spPr>
      </p:cxnSp>
      <p:cxnSp>
        <p:nvCxnSpPr>
          <p:cNvPr id="424" name="Google Shape;424;p37"/>
          <p:cNvCxnSpPr/>
          <p:nvPr/>
        </p:nvCxnSpPr>
        <p:spPr>
          <a:xfrm flipH="1">
            <a:off x="611945" y="5521700"/>
            <a:ext cx="219000" cy="172200"/>
          </a:xfrm>
          <a:prstGeom prst="straightConnector1">
            <a:avLst/>
          </a:prstGeom>
          <a:noFill/>
          <a:ln cap="flat" cmpd="sng" w="9525">
            <a:solidFill>
              <a:schemeClr val="dk2"/>
            </a:solidFill>
            <a:prstDash val="solid"/>
            <a:round/>
            <a:headEnd len="med" w="med" type="none"/>
            <a:tailEnd len="med" w="med" type="none"/>
          </a:ln>
        </p:spPr>
      </p:cxnSp>
      <p:cxnSp>
        <p:nvCxnSpPr>
          <p:cNvPr id="425" name="Google Shape;425;p37"/>
          <p:cNvCxnSpPr/>
          <p:nvPr/>
        </p:nvCxnSpPr>
        <p:spPr>
          <a:xfrm flipH="1">
            <a:off x="611945" y="5274971"/>
            <a:ext cx="219000" cy="172200"/>
          </a:xfrm>
          <a:prstGeom prst="straightConnector1">
            <a:avLst/>
          </a:prstGeom>
          <a:noFill/>
          <a:ln cap="flat" cmpd="sng" w="9525">
            <a:solidFill>
              <a:schemeClr val="dk2"/>
            </a:solidFill>
            <a:prstDash val="solid"/>
            <a:round/>
            <a:headEnd len="med" w="med" type="none"/>
            <a:tailEnd len="med" w="med" type="none"/>
          </a:ln>
        </p:spPr>
      </p:cxnSp>
      <p:sp>
        <p:nvSpPr>
          <p:cNvPr id="426" name="Google Shape;426;p37"/>
          <p:cNvSpPr txBox="1"/>
          <p:nvPr/>
        </p:nvSpPr>
        <p:spPr>
          <a:xfrm>
            <a:off x="256950" y="5624625"/>
            <a:ext cx="1046100" cy="42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600">
                <a:solidFill>
                  <a:schemeClr val="dk2"/>
                </a:solidFill>
                <a:latin typeface="Times New Roman"/>
                <a:ea typeface="Times New Roman"/>
                <a:cs typeface="Times New Roman"/>
                <a:sym typeface="Times New Roman"/>
              </a:rPr>
              <a:t>Bác </a:t>
            </a:r>
            <a:r>
              <a:rPr lang="en-GB" sz="1600">
                <a:solidFill>
                  <a:schemeClr val="dk2"/>
                </a:solidFill>
                <a:latin typeface="Times New Roman"/>
                <a:ea typeface="Times New Roman"/>
                <a:cs typeface="Times New Roman"/>
                <a:sym typeface="Times New Roman"/>
              </a:rPr>
              <a:t>sĩ</a:t>
            </a:r>
            <a:endParaRPr sz="1600">
              <a:solidFill>
                <a:schemeClr val="dk2"/>
              </a:solidFill>
              <a:latin typeface="Times New Roman"/>
              <a:ea typeface="Times New Roman"/>
              <a:cs typeface="Times New Roman"/>
              <a:sym typeface="Times New Roman"/>
            </a:endParaRPr>
          </a:p>
        </p:txBody>
      </p:sp>
      <p:sp>
        <p:nvSpPr>
          <p:cNvPr id="427" name="Google Shape;427;p37"/>
          <p:cNvSpPr/>
          <p:nvPr/>
        </p:nvSpPr>
        <p:spPr>
          <a:xfrm>
            <a:off x="2691775" y="4075825"/>
            <a:ext cx="1704900" cy="732900"/>
          </a:xfrm>
          <a:prstGeom prst="ellipse">
            <a:avLst/>
          </a:prstGeom>
          <a:no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Quản lý dịch vụ</a:t>
            </a:r>
            <a:endParaRPr sz="1600">
              <a:latin typeface="Times New Roman"/>
              <a:ea typeface="Times New Roman"/>
              <a:cs typeface="Times New Roman"/>
              <a:sym typeface="Times New Roman"/>
            </a:endParaRPr>
          </a:p>
        </p:txBody>
      </p:sp>
      <p:sp>
        <p:nvSpPr>
          <p:cNvPr id="428" name="Google Shape;428;p37"/>
          <p:cNvSpPr/>
          <p:nvPr/>
        </p:nvSpPr>
        <p:spPr>
          <a:xfrm>
            <a:off x="2691775" y="5295025"/>
            <a:ext cx="1704900" cy="732900"/>
          </a:xfrm>
          <a:prstGeom prst="ellipse">
            <a:avLst/>
          </a:prstGeom>
          <a:no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Đăng ký tiếp nhận</a:t>
            </a:r>
            <a:endParaRPr sz="1600">
              <a:latin typeface="Times New Roman"/>
              <a:ea typeface="Times New Roman"/>
              <a:cs typeface="Times New Roman"/>
              <a:sym typeface="Times New Roman"/>
            </a:endParaRPr>
          </a:p>
        </p:txBody>
      </p:sp>
      <p:sp>
        <p:nvSpPr>
          <p:cNvPr id="429" name="Google Shape;429;p37"/>
          <p:cNvSpPr/>
          <p:nvPr/>
        </p:nvSpPr>
        <p:spPr>
          <a:xfrm>
            <a:off x="4825375" y="4761625"/>
            <a:ext cx="1704900" cy="732900"/>
          </a:xfrm>
          <a:prstGeom prst="ellipse">
            <a:avLst/>
          </a:prstGeom>
          <a:no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Quản lý </a:t>
            </a:r>
            <a:r>
              <a:rPr lang="en-GB" sz="1600">
                <a:latin typeface="Times New Roman"/>
                <a:ea typeface="Times New Roman"/>
                <a:cs typeface="Times New Roman"/>
                <a:sym typeface="Times New Roman"/>
              </a:rPr>
              <a:t>lịch làm việc</a:t>
            </a:r>
            <a:endParaRPr sz="1600">
              <a:latin typeface="Times New Roman"/>
              <a:ea typeface="Times New Roman"/>
              <a:cs typeface="Times New Roman"/>
              <a:sym typeface="Times New Roman"/>
            </a:endParaRPr>
          </a:p>
        </p:txBody>
      </p:sp>
      <p:cxnSp>
        <p:nvCxnSpPr>
          <p:cNvPr id="430" name="Google Shape;430;p37"/>
          <p:cNvCxnSpPr>
            <a:endCxn id="427" idx="2"/>
          </p:cNvCxnSpPr>
          <p:nvPr/>
        </p:nvCxnSpPr>
        <p:spPr>
          <a:xfrm>
            <a:off x="1274575" y="4105375"/>
            <a:ext cx="1417200" cy="336900"/>
          </a:xfrm>
          <a:prstGeom prst="straightConnector1">
            <a:avLst/>
          </a:prstGeom>
          <a:noFill/>
          <a:ln cap="flat" cmpd="sng" w="9525">
            <a:solidFill>
              <a:schemeClr val="dk2"/>
            </a:solidFill>
            <a:prstDash val="solid"/>
            <a:round/>
            <a:headEnd len="med" w="med" type="none"/>
            <a:tailEnd len="med" w="med" type="none"/>
          </a:ln>
        </p:spPr>
      </p:cxnSp>
      <p:cxnSp>
        <p:nvCxnSpPr>
          <p:cNvPr id="431" name="Google Shape;431;p37"/>
          <p:cNvCxnSpPr>
            <a:endCxn id="428" idx="1"/>
          </p:cNvCxnSpPr>
          <p:nvPr/>
        </p:nvCxnSpPr>
        <p:spPr>
          <a:xfrm flipH="1" rot="10800000">
            <a:off x="1236252" y="5402356"/>
            <a:ext cx="1705200" cy="150600"/>
          </a:xfrm>
          <a:prstGeom prst="straightConnector1">
            <a:avLst/>
          </a:prstGeom>
          <a:noFill/>
          <a:ln cap="flat" cmpd="sng" w="9525">
            <a:solidFill>
              <a:schemeClr val="dk2"/>
            </a:solidFill>
            <a:prstDash val="solid"/>
            <a:round/>
            <a:headEnd len="med" w="med" type="none"/>
            <a:tailEnd len="med" w="med" type="none"/>
          </a:ln>
        </p:spPr>
      </p:cxnSp>
      <p:cxnSp>
        <p:nvCxnSpPr>
          <p:cNvPr id="432" name="Google Shape;432;p37"/>
          <p:cNvCxnSpPr>
            <a:stCxn id="427" idx="5"/>
            <a:endCxn id="429" idx="1"/>
          </p:cNvCxnSpPr>
          <p:nvPr/>
        </p:nvCxnSpPr>
        <p:spPr>
          <a:xfrm>
            <a:off x="4146998" y="4701394"/>
            <a:ext cx="928200" cy="167700"/>
          </a:xfrm>
          <a:prstGeom prst="straightConnector1">
            <a:avLst/>
          </a:prstGeom>
          <a:noFill/>
          <a:ln cap="flat" cmpd="sng" w="9525">
            <a:solidFill>
              <a:schemeClr val="dk2"/>
            </a:solidFill>
            <a:prstDash val="dash"/>
            <a:round/>
            <a:headEnd len="med" w="med" type="none"/>
            <a:tailEnd len="med" w="med" type="triangle"/>
          </a:ln>
        </p:spPr>
      </p:cxnSp>
      <p:cxnSp>
        <p:nvCxnSpPr>
          <p:cNvPr id="433" name="Google Shape;433;p37"/>
          <p:cNvCxnSpPr>
            <a:stCxn id="428" idx="5"/>
            <a:endCxn id="429" idx="3"/>
          </p:cNvCxnSpPr>
          <p:nvPr/>
        </p:nvCxnSpPr>
        <p:spPr>
          <a:xfrm flipH="1" rot="10800000">
            <a:off x="4146998" y="5387194"/>
            <a:ext cx="928200" cy="533400"/>
          </a:xfrm>
          <a:prstGeom prst="straightConnector1">
            <a:avLst/>
          </a:prstGeom>
          <a:noFill/>
          <a:ln cap="flat" cmpd="sng" w="9525">
            <a:solidFill>
              <a:schemeClr val="dk2"/>
            </a:solidFill>
            <a:prstDash val="dash"/>
            <a:round/>
            <a:headEnd len="med" w="med" type="none"/>
            <a:tailEnd len="med" w="med" type="triangle"/>
          </a:ln>
        </p:spPr>
      </p:cxnSp>
      <p:sp>
        <p:nvSpPr>
          <p:cNvPr id="434" name="Google Shape;434;p37"/>
          <p:cNvSpPr txBox="1"/>
          <p:nvPr/>
        </p:nvSpPr>
        <p:spPr>
          <a:xfrm rot="536522">
            <a:off x="4294101" y="4444379"/>
            <a:ext cx="1314375" cy="33282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a:t>
            </a:r>
            <a:r>
              <a:rPr lang="en-GB" sz="1600">
                <a:solidFill>
                  <a:schemeClr val="dk2"/>
                </a:solidFill>
                <a:latin typeface="Times New Roman"/>
                <a:ea typeface="Times New Roman"/>
                <a:cs typeface="Times New Roman"/>
                <a:sym typeface="Times New Roman"/>
              </a:rPr>
              <a:t>include</a:t>
            </a:r>
            <a:r>
              <a:rPr lang="en-GB" sz="1600">
                <a:solidFill>
                  <a:schemeClr val="dk2"/>
                </a:solidFill>
                <a:latin typeface="Times New Roman"/>
                <a:ea typeface="Times New Roman"/>
                <a:cs typeface="Times New Roman"/>
                <a:sym typeface="Times New Roman"/>
              </a:rPr>
              <a:t>&gt;&gt;</a:t>
            </a:r>
            <a:endParaRPr sz="1600">
              <a:solidFill>
                <a:schemeClr val="dk2"/>
              </a:solidFill>
              <a:latin typeface="Times New Roman"/>
              <a:ea typeface="Times New Roman"/>
              <a:cs typeface="Times New Roman"/>
              <a:sym typeface="Times New Roman"/>
            </a:endParaRPr>
          </a:p>
        </p:txBody>
      </p:sp>
      <p:sp>
        <p:nvSpPr>
          <p:cNvPr id="435" name="Google Shape;435;p37"/>
          <p:cNvSpPr txBox="1"/>
          <p:nvPr/>
        </p:nvSpPr>
        <p:spPr>
          <a:xfrm rot="-1725520">
            <a:off x="4141695" y="5511250"/>
            <a:ext cx="1314430" cy="332708"/>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&lt;&lt;include&gt;&gt;</a:t>
            </a:r>
            <a:endParaRPr sz="1600">
              <a:solidFill>
                <a:schemeClr val="dk2"/>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41" name="Google Shape;441;p3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Chủ thể và nhóm ca sử dụng</a:t>
            </a:r>
            <a:endParaRPr/>
          </a:p>
        </p:txBody>
      </p:sp>
      <p:sp>
        <p:nvSpPr>
          <p:cNvPr id="442" name="Google Shape;442;p38"/>
          <p:cNvSpPr txBox="1"/>
          <p:nvPr>
            <p:ph idx="1" type="body"/>
          </p:nvPr>
        </p:nvSpPr>
        <p:spPr>
          <a:xfrm>
            <a:off x="311700" y="1034900"/>
            <a:ext cx="8520600" cy="5286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Môi trường mà trong đó ca sử dụng được thực hiện được gọi là chủ thể của ca sử dụng.</a:t>
            </a:r>
            <a:endParaRPr/>
          </a:p>
          <a:p>
            <a:pPr indent="-381000" lvl="0" marL="457200" rtl="0" algn="l">
              <a:spcBef>
                <a:spcPts val="0"/>
              </a:spcBef>
              <a:spcAft>
                <a:spcPts val="0"/>
              </a:spcAft>
              <a:buSzPts val="2400"/>
              <a:buChar char="●"/>
            </a:pPr>
            <a:r>
              <a:rPr lang="en-GB"/>
              <a:t>Chủ thể của ca sử dụng có thể là hệ thống hoặc thành phần khác có hành vi: Thành phần (Component), Lớp (Class)</a:t>
            </a:r>
            <a:endParaRPr/>
          </a:p>
          <a:p>
            <a:pPr indent="-368300" lvl="1" marL="914400" rtl="0" algn="l">
              <a:spcBef>
                <a:spcPts val="0"/>
              </a:spcBef>
              <a:spcAft>
                <a:spcPts val="0"/>
              </a:spcAft>
              <a:buSzPts val="2200"/>
              <a:buChar char="○"/>
            </a:pPr>
            <a:r>
              <a:rPr lang="en-GB"/>
              <a:t>Trong sơ đồ ca sử dụng tổng quan thường sử dụng Hệ thống làm chủ thể.</a:t>
            </a:r>
            <a:endParaRPr/>
          </a:p>
          <a:p>
            <a:pPr indent="-381000" lvl="0" marL="457200" rtl="0" algn="l">
              <a:spcBef>
                <a:spcPts val="0"/>
              </a:spcBef>
              <a:spcAft>
                <a:spcPts val="0"/>
              </a:spcAft>
              <a:buSzPts val="2400"/>
              <a:buChar char="●"/>
            </a:pPr>
            <a:r>
              <a:rPr lang="en-GB"/>
              <a:t>Ca sử dụng có thể là phần tử của gói (package). </a:t>
            </a:r>
            <a:endParaRPr/>
          </a:p>
          <a:p>
            <a:pPr indent="-368300" lvl="1" marL="914400" rtl="0" algn="l">
              <a:spcBef>
                <a:spcPts val="0"/>
              </a:spcBef>
              <a:spcAft>
                <a:spcPts val="0"/>
              </a:spcAft>
              <a:buSzPts val="2200"/>
              <a:buChar char="○"/>
            </a:pPr>
            <a:r>
              <a:rPr lang="en-GB"/>
              <a:t>Gói với thành phần là ca sử dụng được gọi là nhóm ca sử dụng.</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39"/>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2.7. Nhóm ca sử dụng</a:t>
            </a:r>
            <a:endParaRPr/>
          </a:p>
        </p:txBody>
      </p:sp>
      <p:sp>
        <p:nvSpPr>
          <p:cNvPr id="448" name="Google Shape;448;p3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449" name="Google Shape;449;p39"/>
          <p:cNvPicPr preferRelativeResize="0"/>
          <p:nvPr/>
        </p:nvPicPr>
        <p:blipFill>
          <a:blip r:embed="rId3">
            <a:alphaModFix/>
          </a:blip>
          <a:stretch>
            <a:fillRect/>
          </a:stretch>
        </p:blipFill>
        <p:spPr>
          <a:xfrm>
            <a:off x="311700" y="1237717"/>
            <a:ext cx="8371699" cy="486075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điểm mở rộng</a:t>
            </a:r>
            <a:endParaRPr/>
          </a:p>
        </p:txBody>
      </p:sp>
      <p:sp>
        <p:nvSpPr>
          <p:cNvPr id="455" name="Google Shape;455;p4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56" name="Google Shape;456;p40"/>
          <p:cNvSpPr/>
          <p:nvPr/>
        </p:nvSpPr>
        <p:spPr>
          <a:xfrm>
            <a:off x="2849525" y="956050"/>
            <a:ext cx="4611900" cy="4811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457" name="Google Shape;457;p40"/>
          <p:cNvSpPr txBox="1"/>
          <p:nvPr/>
        </p:nvSpPr>
        <p:spPr>
          <a:xfrm>
            <a:off x="3537100" y="982625"/>
            <a:ext cx="3216300" cy="41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dk2"/>
                </a:solidFill>
                <a:latin typeface="Times New Roman"/>
                <a:ea typeface="Times New Roman"/>
                <a:cs typeface="Times New Roman"/>
                <a:sym typeface="Times New Roman"/>
              </a:rPr>
              <a:t>Hệ thống bán hàng trực tuyến</a:t>
            </a:r>
            <a:endParaRPr b="1" sz="1800">
              <a:solidFill>
                <a:schemeClr val="dk2"/>
              </a:solidFill>
              <a:latin typeface="Times New Roman"/>
              <a:ea typeface="Times New Roman"/>
              <a:cs typeface="Times New Roman"/>
              <a:sym typeface="Times New Roman"/>
            </a:endParaRPr>
          </a:p>
        </p:txBody>
      </p:sp>
      <p:sp>
        <p:nvSpPr>
          <p:cNvPr id="458" name="Google Shape;458;p40"/>
          <p:cNvSpPr/>
          <p:nvPr/>
        </p:nvSpPr>
        <p:spPr>
          <a:xfrm>
            <a:off x="3066600" y="2780425"/>
            <a:ext cx="15684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Tạo đơn hàng</a:t>
            </a:r>
            <a:endParaRPr sz="1800">
              <a:latin typeface="Times New Roman"/>
              <a:ea typeface="Times New Roman"/>
              <a:cs typeface="Times New Roman"/>
              <a:sym typeface="Times New Roman"/>
            </a:endParaRPr>
          </a:p>
        </p:txBody>
      </p:sp>
      <p:sp>
        <p:nvSpPr>
          <p:cNvPr id="459" name="Google Shape;459;p40"/>
          <p:cNvSpPr/>
          <p:nvPr/>
        </p:nvSpPr>
        <p:spPr>
          <a:xfrm>
            <a:off x="5012375" y="1713625"/>
            <a:ext cx="19308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Tìm kiếm sản phẩm</a:t>
            </a:r>
            <a:endParaRPr sz="1800">
              <a:latin typeface="Times New Roman"/>
              <a:ea typeface="Times New Roman"/>
              <a:cs typeface="Times New Roman"/>
              <a:sym typeface="Times New Roman"/>
            </a:endParaRPr>
          </a:p>
        </p:txBody>
      </p:sp>
      <p:sp>
        <p:nvSpPr>
          <p:cNvPr id="460" name="Google Shape;460;p40"/>
          <p:cNvSpPr/>
          <p:nvPr/>
        </p:nvSpPr>
        <p:spPr>
          <a:xfrm>
            <a:off x="5304750" y="3232835"/>
            <a:ext cx="2033400" cy="839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Xem chi tiết</a:t>
            </a:r>
            <a:endParaRPr sz="1800">
              <a:latin typeface="Times New Roman"/>
              <a:ea typeface="Times New Roman"/>
              <a:cs typeface="Times New Roman"/>
              <a:sym typeface="Times New Roman"/>
            </a:endParaRPr>
          </a:p>
          <a:p>
            <a:pPr indent="0" lvl="0" marL="0" rtl="0" algn="ctr">
              <a:spcBef>
                <a:spcPts val="0"/>
              </a:spcBef>
              <a:spcAft>
                <a:spcPts val="0"/>
              </a:spcAft>
              <a:buNone/>
            </a:pPr>
            <a:r>
              <a:rPr lang="en-GB" sz="1800">
                <a:latin typeface="Times New Roman"/>
                <a:ea typeface="Times New Roman"/>
                <a:cs typeface="Times New Roman"/>
                <a:sym typeface="Times New Roman"/>
              </a:rPr>
              <a:t>Sản phẩm</a:t>
            </a:r>
            <a:endParaRPr sz="1800">
              <a:latin typeface="Times New Roman"/>
              <a:ea typeface="Times New Roman"/>
              <a:cs typeface="Times New Roman"/>
              <a:sym typeface="Times New Roman"/>
            </a:endParaRPr>
          </a:p>
        </p:txBody>
      </p:sp>
      <p:cxnSp>
        <p:nvCxnSpPr>
          <p:cNvPr id="461" name="Google Shape;461;p40"/>
          <p:cNvCxnSpPr>
            <a:stCxn id="458" idx="7"/>
            <a:endCxn id="459" idx="3"/>
          </p:cNvCxnSpPr>
          <p:nvPr/>
        </p:nvCxnSpPr>
        <p:spPr>
          <a:xfrm flipH="1" rot="10800000">
            <a:off x="4405313" y="2365437"/>
            <a:ext cx="889800" cy="526800"/>
          </a:xfrm>
          <a:prstGeom prst="straightConnector1">
            <a:avLst/>
          </a:prstGeom>
          <a:noFill/>
          <a:ln cap="flat" cmpd="sng" w="9525">
            <a:solidFill>
              <a:schemeClr val="dk2"/>
            </a:solidFill>
            <a:prstDash val="dash"/>
            <a:round/>
            <a:headEnd len="med" w="med" type="none"/>
            <a:tailEnd len="med" w="med" type="triangle"/>
          </a:ln>
        </p:spPr>
      </p:cxnSp>
      <p:cxnSp>
        <p:nvCxnSpPr>
          <p:cNvPr id="462" name="Google Shape;462;p40"/>
          <p:cNvCxnSpPr>
            <a:stCxn id="460" idx="2"/>
            <a:endCxn id="458" idx="5"/>
          </p:cNvCxnSpPr>
          <p:nvPr/>
        </p:nvCxnSpPr>
        <p:spPr>
          <a:xfrm rot="10800000">
            <a:off x="4405350" y="3432185"/>
            <a:ext cx="899400" cy="220500"/>
          </a:xfrm>
          <a:prstGeom prst="straightConnector1">
            <a:avLst/>
          </a:prstGeom>
          <a:noFill/>
          <a:ln cap="flat" cmpd="sng" w="9525">
            <a:solidFill>
              <a:schemeClr val="dk2"/>
            </a:solidFill>
            <a:prstDash val="dash"/>
            <a:round/>
            <a:headEnd len="med" w="med" type="none"/>
            <a:tailEnd len="med" w="med" type="triangle"/>
          </a:ln>
        </p:spPr>
      </p:cxnSp>
      <p:sp>
        <p:nvSpPr>
          <p:cNvPr id="463" name="Google Shape;463;p40"/>
          <p:cNvSpPr txBox="1"/>
          <p:nvPr/>
        </p:nvSpPr>
        <p:spPr>
          <a:xfrm rot="-1885966">
            <a:off x="4089114" y="2355130"/>
            <a:ext cx="1275941" cy="411765"/>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&lt;&lt;include&gt;&gt;</a:t>
            </a:r>
            <a:endParaRPr>
              <a:solidFill>
                <a:schemeClr val="dk2"/>
              </a:solidFill>
              <a:latin typeface="Times New Roman"/>
              <a:ea typeface="Times New Roman"/>
              <a:cs typeface="Times New Roman"/>
              <a:sym typeface="Times New Roman"/>
            </a:endParaRPr>
          </a:p>
        </p:txBody>
      </p:sp>
      <p:sp>
        <p:nvSpPr>
          <p:cNvPr id="464" name="Google Shape;464;p40"/>
          <p:cNvSpPr txBox="1"/>
          <p:nvPr/>
        </p:nvSpPr>
        <p:spPr>
          <a:xfrm rot="600432">
            <a:off x="4352553" y="3505251"/>
            <a:ext cx="1275810" cy="41183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&lt;&lt;extend&gt;&gt;</a:t>
            </a:r>
            <a:endParaRPr>
              <a:solidFill>
                <a:schemeClr val="dk2"/>
              </a:solidFill>
              <a:latin typeface="Times New Roman"/>
              <a:ea typeface="Times New Roman"/>
              <a:cs typeface="Times New Roman"/>
              <a:sym typeface="Times New Roman"/>
            </a:endParaRPr>
          </a:p>
        </p:txBody>
      </p:sp>
      <p:sp>
        <p:nvSpPr>
          <p:cNvPr id="465" name="Google Shape;465;p40"/>
          <p:cNvSpPr/>
          <p:nvPr/>
        </p:nvSpPr>
        <p:spPr>
          <a:xfrm>
            <a:off x="1561596" y="2785725"/>
            <a:ext cx="213300" cy="216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66" name="Google Shape;466;p40"/>
          <p:cNvCxnSpPr>
            <a:stCxn id="465" idx="4"/>
          </p:cNvCxnSpPr>
          <p:nvPr/>
        </p:nvCxnSpPr>
        <p:spPr>
          <a:xfrm>
            <a:off x="1668246" y="3002325"/>
            <a:ext cx="0" cy="424500"/>
          </a:xfrm>
          <a:prstGeom prst="straightConnector1">
            <a:avLst/>
          </a:prstGeom>
          <a:noFill/>
          <a:ln cap="flat" cmpd="sng" w="9525">
            <a:solidFill>
              <a:schemeClr val="dk2"/>
            </a:solidFill>
            <a:prstDash val="solid"/>
            <a:round/>
            <a:headEnd len="med" w="med" type="none"/>
            <a:tailEnd len="med" w="med" type="none"/>
          </a:ln>
        </p:spPr>
      </p:cxnSp>
      <p:cxnSp>
        <p:nvCxnSpPr>
          <p:cNvPr id="467" name="Google Shape;467;p40"/>
          <p:cNvCxnSpPr/>
          <p:nvPr/>
        </p:nvCxnSpPr>
        <p:spPr>
          <a:xfrm>
            <a:off x="1668330" y="3408794"/>
            <a:ext cx="275700" cy="216600"/>
          </a:xfrm>
          <a:prstGeom prst="straightConnector1">
            <a:avLst/>
          </a:prstGeom>
          <a:noFill/>
          <a:ln cap="flat" cmpd="sng" w="9525">
            <a:solidFill>
              <a:schemeClr val="dk2"/>
            </a:solidFill>
            <a:prstDash val="solid"/>
            <a:round/>
            <a:headEnd len="med" w="med" type="none"/>
            <a:tailEnd len="med" w="med" type="none"/>
          </a:ln>
        </p:spPr>
      </p:cxnSp>
      <p:cxnSp>
        <p:nvCxnSpPr>
          <p:cNvPr id="468" name="Google Shape;468;p40"/>
          <p:cNvCxnSpPr/>
          <p:nvPr/>
        </p:nvCxnSpPr>
        <p:spPr>
          <a:xfrm>
            <a:off x="1668330" y="3098168"/>
            <a:ext cx="275700" cy="216600"/>
          </a:xfrm>
          <a:prstGeom prst="straightConnector1">
            <a:avLst/>
          </a:prstGeom>
          <a:noFill/>
          <a:ln cap="flat" cmpd="sng" w="9525">
            <a:solidFill>
              <a:schemeClr val="dk2"/>
            </a:solidFill>
            <a:prstDash val="solid"/>
            <a:round/>
            <a:headEnd len="med" w="med" type="none"/>
            <a:tailEnd len="med" w="med" type="none"/>
          </a:ln>
        </p:spPr>
      </p:cxnSp>
      <p:cxnSp>
        <p:nvCxnSpPr>
          <p:cNvPr id="469" name="Google Shape;469;p40"/>
          <p:cNvCxnSpPr/>
          <p:nvPr/>
        </p:nvCxnSpPr>
        <p:spPr>
          <a:xfrm flipH="1">
            <a:off x="1395520" y="3408794"/>
            <a:ext cx="275700" cy="216600"/>
          </a:xfrm>
          <a:prstGeom prst="straightConnector1">
            <a:avLst/>
          </a:prstGeom>
          <a:noFill/>
          <a:ln cap="flat" cmpd="sng" w="9525">
            <a:solidFill>
              <a:schemeClr val="dk2"/>
            </a:solidFill>
            <a:prstDash val="solid"/>
            <a:round/>
            <a:headEnd len="med" w="med" type="none"/>
            <a:tailEnd len="med" w="med" type="none"/>
          </a:ln>
        </p:spPr>
      </p:cxnSp>
      <p:cxnSp>
        <p:nvCxnSpPr>
          <p:cNvPr id="470" name="Google Shape;470;p40"/>
          <p:cNvCxnSpPr/>
          <p:nvPr/>
        </p:nvCxnSpPr>
        <p:spPr>
          <a:xfrm flipH="1">
            <a:off x="1395520" y="3098168"/>
            <a:ext cx="275700" cy="216600"/>
          </a:xfrm>
          <a:prstGeom prst="straightConnector1">
            <a:avLst/>
          </a:prstGeom>
          <a:noFill/>
          <a:ln cap="flat" cmpd="sng" w="9525">
            <a:solidFill>
              <a:schemeClr val="dk2"/>
            </a:solidFill>
            <a:prstDash val="solid"/>
            <a:round/>
            <a:headEnd len="med" w="med" type="none"/>
            <a:tailEnd len="med" w="med" type="none"/>
          </a:ln>
        </p:spPr>
      </p:cxnSp>
      <p:cxnSp>
        <p:nvCxnSpPr>
          <p:cNvPr id="471" name="Google Shape;471;p40"/>
          <p:cNvCxnSpPr>
            <a:endCxn id="458" idx="2"/>
          </p:cNvCxnSpPr>
          <p:nvPr/>
        </p:nvCxnSpPr>
        <p:spPr>
          <a:xfrm flipH="1" rot="10800000">
            <a:off x="2052000" y="3162175"/>
            <a:ext cx="1014600" cy="106500"/>
          </a:xfrm>
          <a:prstGeom prst="straightConnector1">
            <a:avLst/>
          </a:prstGeom>
          <a:noFill/>
          <a:ln cap="flat" cmpd="sng" w="9525">
            <a:solidFill>
              <a:schemeClr val="dk2"/>
            </a:solidFill>
            <a:prstDash val="solid"/>
            <a:round/>
            <a:headEnd len="med" w="med" type="none"/>
            <a:tailEnd len="med" w="med" type="none"/>
          </a:ln>
        </p:spPr>
      </p:cxnSp>
      <p:sp>
        <p:nvSpPr>
          <p:cNvPr id="472" name="Google Shape;472;p40"/>
          <p:cNvSpPr txBox="1"/>
          <p:nvPr/>
        </p:nvSpPr>
        <p:spPr>
          <a:xfrm>
            <a:off x="968450" y="3531775"/>
            <a:ext cx="15684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2"/>
                </a:solidFill>
                <a:latin typeface="Times New Roman"/>
                <a:ea typeface="Times New Roman"/>
                <a:cs typeface="Times New Roman"/>
                <a:sym typeface="Times New Roman"/>
              </a:rPr>
              <a:t>Khách hàng</a:t>
            </a:r>
            <a:endParaRPr sz="2000">
              <a:solidFill>
                <a:schemeClr val="dk2"/>
              </a:solidFill>
              <a:latin typeface="Times New Roman"/>
              <a:ea typeface="Times New Roman"/>
              <a:cs typeface="Times New Roman"/>
              <a:sym typeface="Times New Roman"/>
            </a:endParaRPr>
          </a:p>
        </p:txBody>
      </p:sp>
      <p:sp>
        <p:nvSpPr>
          <p:cNvPr id="473" name="Google Shape;473;p40"/>
          <p:cNvSpPr txBox="1"/>
          <p:nvPr/>
        </p:nvSpPr>
        <p:spPr>
          <a:xfrm>
            <a:off x="311700" y="5839400"/>
            <a:ext cx="8385900" cy="5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rgbClr val="E69138"/>
                </a:solidFill>
                <a:latin typeface="Times New Roman"/>
                <a:ea typeface="Times New Roman"/>
                <a:cs typeface="Times New Roman"/>
                <a:sym typeface="Times New Roman"/>
              </a:rPr>
              <a:t>!Các ca mở rộng cần được nhắc đến trong mô tả kịch bản sử dụng ca cơ sở.</a:t>
            </a:r>
            <a:endParaRPr i="1" sz="2400">
              <a:solidFill>
                <a:srgbClr val="E69138"/>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79" name="Google Shape;479;p4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điểm mở rộng</a:t>
            </a:r>
            <a:r>
              <a:rPr baseline="-25000" lang="en-GB"/>
              <a:t>(2)</a:t>
            </a:r>
            <a:endParaRPr baseline="-25000"/>
          </a:p>
        </p:txBody>
      </p:sp>
      <p:sp>
        <p:nvSpPr>
          <p:cNvPr id="480" name="Google Shape;480;p41"/>
          <p:cNvSpPr/>
          <p:nvPr/>
        </p:nvSpPr>
        <p:spPr>
          <a:xfrm>
            <a:off x="1420325" y="1010100"/>
            <a:ext cx="3389400" cy="35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Times New Roman"/>
                <a:ea typeface="Times New Roman"/>
                <a:cs typeface="Times New Roman"/>
                <a:sym typeface="Times New Roman"/>
              </a:rPr>
              <a:t>Khách hàng</a:t>
            </a:r>
            <a:endParaRPr sz="2000">
              <a:latin typeface="Times New Roman"/>
              <a:ea typeface="Times New Roman"/>
              <a:cs typeface="Times New Roman"/>
              <a:sym typeface="Times New Roman"/>
            </a:endParaRPr>
          </a:p>
        </p:txBody>
      </p:sp>
      <p:sp>
        <p:nvSpPr>
          <p:cNvPr id="481" name="Google Shape;481;p41"/>
          <p:cNvSpPr/>
          <p:nvPr/>
        </p:nvSpPr>
        <p:spPr>
          <a:xfrm>
            <a:off x="4935275" y="1010100"/>
            <a:ext cx="2849400" cy="35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Times New Roman"/>
                <a:ea typeface="Times New Roman"/>
                <a:cs typeface="Times New Roman"/>
                <a:sym typeface="Times New Roman"/>
              </a:rPr>
              <a:t>Hệ thống</a:t>
            </a:r>
            <a:endParaRPr sz="2000">
              <a:latin typeface="Times New Roman"/>
              <a:ea typeface="Times New Roman"/>
              <a:cs typeface="Times New Roman"/>
              <a:sym typeface="Times New Roman"/>
            </a:endParaRPr>
          </a:p>
        </p:txBody>
      </p:sp>
      <p:cxnSp>
        <p:nvCxnSpPr>
          <p:cNvPr id="482" name="Google Shape;482;p41"/>
          <p:cNvCxnSpPr/>
          <p:nvPr/>
        </p:nvCxnSpPr>
        <p:spPr>
          <a:xfrm>
            <a:off x="1416775" y="1187700"/>
            <a:ext cx="0" cy="4944600"/>
          </a:xfrm>
          <a:prstGeom prst="straightConnector1">
            <a:avLst/>
          </a:prstGeom>
          <a:noFill/>
          <a:ln cap="flat" cmpd="sng" w="9525">
            <a:solidFill>
              <a:schemeClr val="dk2"/>
            </a:solidFill>
            <a:prstDash val="solid"/>
            <a:round/>
            <a:headEnd len="med" w="med" type="none"/>
            <a:tailEnd len="med" w="med" type="none"/>
          </a:ln>
        </p:spPr>
      </p:cxnSp>
      <p:cxnSp>
        <p:nvCxnSpPr>
          <p:cNvPr id="483" name="Google Shape;483;p41"/>
          <p:cNvCxnSpPr/>
          <p:nvPr/>
        </p:nvCxnSpPr>
        <p:spPr>
          <a:xfrm>
            <a:off x="4809571" y="1187700"/>
            <a:ext cx="0" cy="4957800"/>
          </a:xfrm>
          <a:prstGeom prst="straightConnector1">
            <a:avLst/>
          </a:prstGeom>
          <a:noFill/>
          <a:ln cap="flat" cmpd="sng" w="9525">
            <a:solidFill>
              <a:schemeClr val="dk2"/>
            </a:solidFill>
            <a:prstDash val="solid"/>
            <a:round/>
            <a:headEnd len="med" w="med" type="none"/>
            <a:tailEnd len="med" w="med" type="none"/>
          </a:ln>
        </p:spPr>
      </p:cxnSp>
      <p:cxnSp>
        <p:nvCxnSpPr>
          <p:cNvPr id="484" name="Google Shape;484;p41"/>
          <p:cNvCxnSpPr/>
          <p:nvPr/>
        </p:nvCxnSpPr>
        <p:spPr>
          <a:xfrm>
            <a:off x="4935271" y="1187700"/>
            <a:ext cx="0" cy="4944600"/>
          </a:xfrm>
          <a:prstGeom prst="straightConnector1">
            <a:avLst/>
          </a:prstGeom>
          <a:noFill/>
          <a:ln cap="flat" cmpd="sng" w="9525">
            <a:solidFill>
              <a:schemeClr val="dk2"/>
            </a:solidFill>
            <a:prstDash val="solid"/>
            <a:round/>
            <a:headEnd len="med" w="med" type="none"/>
            <a:tailEnd len="med" w="med" type="none"/>
          </a:ln>
        </p:spPr>
      </p:cxnSp>
      <p:cxnSp>
        <p:nvCxnSpPr>
          <p:cNvPr id="485" name="Google Shape;485;p41"/>
          <p:cNvCxnSpPr/>
          <p:nvPr/>
        </p:nvCxnSpPr>
        <p:spPr>
          <a:xfrm>
            <a:off x="7784875" y="1187700"/>
            <a:ext cx="0" cy="4944600"/>
          </a:xfrm>
          <a:prstGeom prst="straightConnector1">
            <a:avLst/>
          </a:prstGeom>
          <a:noFill/>
          <a:ln cap="flat" cmpd="sng" w="9525">
            <a:solidFill>
              <a:schemeClr val="dk2"/>
            </a:solidFill>
            <a:prstDash val="solid"/>
            <a:round/>
            <a:headEnd len="med" w="med" type="none"/>
            <a:tailEnd len="med" w="med" type="none"/>
          </a:ln>
        </p:spPr>
      </p:cxnSp>
      <p:sp>
        <p:nvSpPr>
          <p:cNvPr id="486" name="Google Shape;486;p41"/>
          <p:cNvSpPr/>
          <p:nvPr/>
        </p:nvSpPr>
        <p:spPr>
          <a:xfrm>
            <a:off x="2434850" y="1511600"/>
            <a:ext cx="1488600" cy="5982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Tìm kiếm sản phẩm</a:t>
            </a:r>
            <a:endParaRPr sz="1800">
              <a:latin typeface="Times New Roman"/>
              <a:ea typeface="Times New Roman"/>
              <a:cs typeface="Times New Roman"/>
              <a:sym typeface="Times New Roman"/>
            </a:endParaRPr>
          </a:p>
        </p:txBody>
      </p:sp>
      <p:sp>
        <p:nvSpPr>
          <p:cNvPr id="487" name="Google Shape;487;p41"/>
          <p:cNvSpPr/>
          <p:nvPr/>
        </p:nvSpPr>
        <p:spPr>
          <a:xfrm>
            <a:off x="1545269" y="1642725"/>
            <a:ext cx="355200" cy="355200"/>
          </a:xfrm>
          <a:prstGeom prst="ellipse">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88" name="Google Shape;488;p41"/>
          <p:cNvCxnSpPr>
            <a:stCxn id="487" idx="6"/>
            <a:endCxn id="486" idx="1"/>
          </p:cNvCxnSpPr>
          <p:nvPr/>
        </p:nvCxnSpPr>
        <p:spPr>
          <a:xfrm flipH="1" rot="10800000">
            <a:off x="1900469" y="1810725"/>
            <a:ext cx="534300" cy="9600"/>
          </a:xfrm>
          <a:prstGeom prst="straightConnector1">
            <a:avLst/>
          </a:prstGeom>
          <a:noFill/>
          <a:ln cap="flat" cmpd="sng" w="9525">
            <a:solidFill>
              <a:schemeClr val="dk2"/>
            </a:solidFill>
            <a:prstDash val="solid"/>
            <a:round/>
            <a:headEnd len="med" w="med" type="none"/>
            <a:tailEnd len="med" w="med" type="triangle"/>
          </a:ln>
        </p:spPr>
      </p:cxnSp>
      <p:sp>
        <p:nvSpPr>
          <p:cNvPr id="489" name="Google Shape;489;p41"/>
          <p:cNvSpPr/>
          <p:nvPr/>
        </p:nvSpPr>
        <p:spPr>
          <a:xfrm>
            <a:off x="2975350" y="2376381"/>
            <a:ext cx="1710000" cy="5982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Xem chi tiết và bình luận</a:t>
            </a:r>
            <a:endParaRPr sz="1800">
              <a:latin typeface="Times New Roman"/>
              <a:ea typeface="Times New Roman"/>
              <a:cs typeface="Times New Roman"/>
              <a:sym typeface="Times New Roman"/>
            </a:endParaRPr>
          </a:p>
        </p:txBody>
      </p:sp>
      <p:sp>
        <p:nvSpPr>
          <p:cNvPr id="490" name="Google Shape;490;p41"/>
          <p:cNvSpPr/>
          <p:nvPr/>
        </p:nvSpPr>
        <p:spPr>
          <a:xfrm>
            <a:off x="2005134" y="2449025"/>
            <a:ext cx="548700" cy="4467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491" name="Google Shape;491;p41"/>
          <p:cNvCxnSpPr>
            <a:stCxn id="490" idx="3"/>
            <a:endCxn id="489" idx="1"/>
          </p:cNvCxnSpPr>
          <p:nvPr/>
        </p:nvCxnSpPr>
        <p:spPr>
          <a:xfrm>
            <a:off x="2553834" y="2672375"/>
            <a:ext cx="421500" cy="3000"/>
          </a:xfrm>
          <a:prstGeom prst="straightConnector1">
            <a:avLst/>
          </a:prstGeom>
          <a:noFill/>
          <a:ln cap="flat" cmpd="sng" w="9525">
            <a:solidFill>
              <a:schemeClr val="dk2"/>
            </a:solidFill>
            <a:prstDash val="solid"/>
            <a:round/>
            <a:headEnd len="med" w="med" type="none"/>
            <a:tailEnd len="med" w="med" type="triangle"/>
          </a:ln>
        </p:spPr>
      </p:cxnSp>
      <p:sp>
        <p:nvSpPr>
          <p:cNvPr id="492" name="Google Shape;492;p41"/>
          <p:cNvSpPr/>
          <p:nvPr/>
        </p:nvSpPr>
        <p:spPr>
          <a:xfrm>
            <a:off x="1911200" y="3290775"/>
            <a:ext cx="1967100" cy="59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Lựa chọn tùy chỉnh và số lượng</a:t>
            </a:r>
            <a:endParaRPr sz="1800">
              <a:latin typeface="Times New Roman"/>
              <a:ea typeface="Times New Roman"/>
              <a:cs typeface="Times New Roman"/>
              <a:sym typeface="Times New Roman"/>
            </a:endParaRPr>
          </a:p>
        </p:txBody>
      </p:sp>
      <p:cxnSp>
        <p:nvCxnSpPr>
          <p:cNvPr id="493" name="Google Shape;493;p41"/>
          <p:cNvCxnSpPr>
            <a:stCxn id="490" idx="2"/>
          </p:cNvCxnSpPr>
          <p:nvPr/>
        </p:nvCxnSpPr>
        <p:spPr>
          <a:xfrm>
            <a:off x="2279484" y="2895725"/>
            <a:ext cx="0" cy="383400"/>
          </a:xfrm>
          <a:prstGeom prst="straightConnector1">
            <a:avLst/>
          </a:prstGeom>
          <a:noFill/>
          <a:ln cap="flat" cmpd="sng" w="9525">
            <a:solidFill>
              <a:schemeClr val="dk2"/>
            </a:solidFill>
            <a:prstDash val="solid"/>
            <a:round/>
            <a:headEnd len="med" w="med" type="none"/>
            <a:tailEnd len="med" w="med" type="triangle"/>
          </a:ln>
        </p:spPr>
      </p:cxnSp>
      <p:cxnSp>
        <p:nvCxnSpPr>
          <p:cNvPr id="494" name="Google Shape;494;p41"/>
          <p:cNvCxnSpPr>
            <a:stCxn id="489" idx="2"/>
            <a:endCxn id="492" idx="0"/>
          </p:cNvCxnSpPr>
          <p:nvPr/>
        </p:nvCxnSpPr>
        <p:spPr>
          <a:xfrm rot="5400000">
            <a:off x="3204400" y="2664831"/>
            <a:ext cx="316200" cy="935700"/>
          </a:xfrm>
          <a:prstGeom prst="bentConnector3">
            <a:avLst>
              <a:gd fmla="val 49999" name="adj1"/>
            </a:avLst>
          </a:prstGeom>
          <a:noFill/>
          <a:ln cap="flat" cmpd="sng" w="9525">
            <a:solidFill>
              <a:schemeClr val="dk2"/>
            </a:solidFill>
            <a:prstDash val="solid"/>
            <a:round/>
            <a:headEnd len="med" w="med" type="none"/>
            <a:tailEnd len="med" w="med" type="triangle"/>
          </a:ln>
        </p:spPr>
      </p:cxnSp>
      <p:sp>
        <p:nvSpPr>
          <p:cNvPr id="495" name="Google Shape;495;p41"/>
          <p:cNvSpPr/>
          <p:nvPr/>
        </p:nvSpPr>
        <p:spPr>
          <a:xfrm>
            <a:off x="5264000" y="3290775"/>
            <a:ext cx="1433100" cy="59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Thêm vào giỏ hàng</a:t>
            </a:r>
            <a:endParaRPr sz="1800">
              <a:latin typeface="Times New Roman"/>
              <a:ea typeface="Times New Roman"/>
              <a:cs typeface="Times New Roman"/>
              <a:sym typeface="Times New Roman"/>
            </a:endParaRPr>
          </a:p>
        </p:txBody>
      </p:sp>
      <p:sp>
        <p:nvSpPr>
          <p:cNvPr id="496" name="Google Shape;496;p41"/>
          <p:cNvSpPr/>
          <p:nvPr/>
        </p:nvSpPr>
        <p:spPr>
          <a:xfrm>
            <a:off x="1729569" y="4128981"/>
            <a:ext cx="1710000" cy="5982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Tìm và xem phụ kiện</a:t>
            </a:r>
            <a:endParaRPr sz="1800">
              <a:latin typeface="Times New Roman"/>
              <a:ea typeface="Times New Roman"/>
              <a:cs typeface="Times New Roman"/>
              <a:sym typeface="Times New Roman"/>
            </a:endParaRPr>
          </a:p>
        </p:txBody>
      </p:sp>
      <p:sp>
        <p:nvSpPr>
          <p:cNvPr id="497" name="Google Shape;497;p41"/>
          <p:cNvSpPr/>
          <p:nvPr/>
        </p:nvSpPr>
        <p:spPr>
          <a:xfrm>
            <a:off x="5319514" y="4967175"/>
            <a:ext cx="1433100" cy="59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Thêm vào giỏ hàng</a:t>
            </a:r>
            <a:endParaRPr sz="1800">
              <a:latin typeface="Times New Roman"/>
              <a:ea typeface="Times New Roman"/>
              <a:cs typeface="Times New Roman"/>
              <a:sym typeface="Times New Roman"/>
            </a:endParaRPr>
          </a:p>
        </p:txBody>
      </p:sp>
      <p:sp>
        <p:nvSpPr>
          <p:cNvPr id="498" name="Google Shape;498;p41"/>
          <p:cNvSpPr/>
          <p:nvPr/>
        </p:nvSpPr>
        <p:spPr>
          <a:xfrm>
            <a:off x="1606400" y="4967175"/>
            <a:ext cx="1967100" cy="59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Chọn tùy chỉnh và số lượng phụ kiện</a:t>
            </a:r>
            <a:endParaRPr sz="1800">
              <a:latin typeface="Times New Roman"/>
              <a:ea typeface="Times New Roman"/>
              <a:cs typeface="Times New Roman"/>
              <a:sym typeface="Times New Roman"/>
            </a:endParaRPr>
          </a:p>
        </p:txBody>
      </p:sp>
      <p:cxnSp>
        <p:nvCxnSpPr>
          <p:cNvPr id="499" name="Google Shape;499;p41"/>
          <p:cNvCxnSpPr>
            <a:stCxn id="496" idx="2"/>
            <a:endCxn id="498" idx="0"/>
          </p:cNvCxnSpPr>
          <p:nvPr/>
        </p:nvCxnSpPr>
        <p:spPr>
          <a:xfrm>
            <a:off x="2584569" y="4727181"/>
            <a:ext cx="5400" cy="240000"/>
          </a:xfrm>
          <a:prstGeom prst="straightConnector1">
            <a:avLst/>
          </a:prstGeom>
          <a:noFill/>
          <a:ln cap="flat" cmpd="sng" w="9525">
            <a:solidFill>
              <a:schemeClr val="dk2"/>
            </a:solidFill>
            <a:prstDash val="solid"/>
            <a:round/>
            <a:headEnd len="med" w="med" type="none"/>
            <a:tailEnd len="med" w="med" type="triangle"/>
          </a:ln>
        </p:spPr>
      </p:cxnSp>
      <p:cxnSp>
        <p:nvCxnSpPr>
          <p:cNvPr id="500" name="Google Shape;500;p41"/>
          <p:cNvCxnSpPr>
            <a:stCxn id="486" idx="2"/>
            <a:endCxn id="490" idx="0"/>
          </p:cNvCxnSpPr>
          <p:nvPr/>
        </p:nvCxnSpPr>
        <p:spPr>
          <a:xfrm rot="5400000">
            <a:off x="2559650" y="1829600"/>
            <a:ext cx="339300" cy="899700"/>
          </a:xfrm>
          <a:prstGeom prst="bentConnector3">
            <a:avLst>
              <a:gd fmla="val 49989" name="adj1"/>
            </a:avLst>
          </a:prstGeom>
          <a:noFill/>
          <a:ln cap="flat" cmpd="sng" w="9525">
            <a:solidFill>
              <a:schemeClr val="dk2"/>
            </a:solidFill>
            <a:prstDash val="solid"/>
            <a:round/>
            <a:headEnd len="med" w="med" type="none"/>
            <a:tailEnd len="med" w="med" type="triangle"/>
          </a:ln>
        </p:spPr>
      </p:cxnSp>
      <p:cxnSp>
        <p:nvCxnSpPr>
          <p:cNvPr id="501" name="Google Shape;501;p41"/>
          <p:cNvCxnSpPr>
            <a:stCxn id="498" idx="3"/>
            <a:endCxn id="497" idx="1"/>
          </p:cNvCxnSpPr>
          <p:nvPr/>
        </p:nvCxnSpPr>
        <p:spPr>
          <a:xfrm>
            <a:off x="3573500" y="5266275"/>
            <a:ext cx="1746000" cy="0"/>
          </a:xfrm>
          <a:prstGeom prst="straightConnector1">
            <a:avLst/>
          </a:prstGeom>
          <a:noFill/>
          <a:ln cap="flat" cmpd="sng" w="9525">
            <a:solidFill>
              <a:schemeClr val="dk2"/>
            </a:solidFill>
            <a:prstDash val="solid"/>
            <a:round/>
            <a:headEnd len="med" w="med" type="none"/>
            <a:tailEnd len="med" w="med" type="triangle"/>
          </a:ln>
        </p:spPr>
      </p:cxnSp>
      <p:sp>
        <p:nvSpPr>
          <p:cNvPr id="502" name="Google Shape;502;p41"/>
          <p:cNvSpPr/>
          <p:nvPr/>
        </p:nvSpPr>
        <p:spPr>
          <a:xfrm>
            <a:off x="7061809" y="5042925"/>
            <a:ext cx="548700" cy="4467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503" name="Google Shape;503;p41"/>
          <p:cNvCxnSpPr>
            <a:stCxn id="502" idx="0"/>
            <a:endCxn id="486" idx="3"/>
          </p:cNvCxnSpPr>
          <p:nvPr/>
        </p:nvCxnSpPr>
        <p:spPr>
          <a:xfrm flipH="1" rot="5400000">
            <a:off x="4013659" y="1720425"/>
            <a:ext cx="3232200" cy="3412800"/>
          </a:xfrm>
          <a:prstGeom prst="bentConnector2">
            <a:avLst/>
          </a:prstGeom>
          <a:noFill/>
          <a:ln cap="flat" cmpd="sng" w="9525">
            <a:solidFill>
              <a:schemeClr val="dk2"/>
            </a:solidFill>
            <a:prstDash val="solid"/>
            <a:round/>
            <a:headEnd len="med" w="med" type="none"/>
            <a:tailEnd len="med" w="med" type="triangle"/>
          </a:ln>
        </p:spPr>
      </p:cxnSp>
      <p:cxnSp>
        <p:nvCxnSpPr>
          <p:cNvPr id="504" name="Google Shape;504;p41"/>
          <p:cNvCxnSpPr>
            <a:stCxn id="497" idx="3"/>
            <a:endCxn id="502" idx="1"/>
          </p:cNvCxnSpPr>
          <p:nvPr/>
        </p:nvCxnSpPr>
        <p:spPr>
          <a:xfrm>
            <a:off x="6752614" y="5266275"/>
            <a:ext cx="309300" cy="0"/>
          </a:xfrm>
          <a:prstGeom prst="straightConnector1">
            <a:avLst/>
          </a:prstGeom>
          <a:noFill/>
          <a:ln cap="flat" cmpd="sng" w="9525">
            <a:solidFill>
              <a:schemeClr val="dk2"/>
            </a:solidFill>
            <a:prstDash val="solid"/>
            <a:round/>
            <a:headEnd len="med" w="med" type="none"/>
            <a:tailEnd len="med" w="med" type="triangle"/>
          </a:ln>
        </p:spPr>
      </p:cxnSp>
      <p:sp>
        <p:nvSpPr>
          <p:cNvPr id="505" name="Google Shape;505;p41"/>
          <p:cNvSpPr/>
          <p:nvPr/>
        </p:nvSpPr>
        <p:spPr>
          <a:xfrm>
            <a:off x="7171834" y="5663625"/>
            <a:ext cx="355200" cy="355200"/>
          </a:xfrm>
          <a:prstGeom prst="ellipse">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506" name="Google Shape;506;p41"/>
          <p:cNvSpPr/>
          <p:nvPr/>
        </p:nvSpPr>
        <p:spPr>
          <a:xfrm>
            <a:off x="7135325" y="5628163"/>
            <a:ext cx="421500" cy="421500"/>
          </a:xfrm>
          <a:prstGeom prst="ellipse">
            <a:avLst/>
          </a:prstGeom>
          <a:no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507" name="Google Shape;507;p41"/>
          <p:cNvCxnSpPr>
            <a:stCxn id="502" idx="2"/>
            <a:endCxn id="506" idx="0"/>
          </p:cNvCxnSpPr>
          <p:nvPr/>
        </p:nvCxnSpPr>
        <p:spPr>
          <a:xfrm>
            <a:off x="7336159" y="5489625"/>
            <a:ext cx="9900" cy="138600"/>
          </a:xfrm>
          <a:prstGeom prst="straightConnector1">
            <a:avLst/>
          </a:prstGeom>
          <a:noFill/>
          <a:ln cap="flat" cmpd="sng" w="9525">
            <a:solidFill>
              <a:schemeClr val="dk2"/>
            </a:solidFill>
            <a:prstDash val="solid"/>
            <a:round/>
            <a:headEnd len="med" w="med" type="none"/>
            <a:tailEnd len="med" w="med" type="triangle"/>
          </a:ln>
        </p:spPr>
      </p:cxnSp>
      <p:sp>
        <p:nvSpPr>
          <p:cNvPr id="508" name="Google Shape;508;p41"/>
          <p:cNvSpPr/>
          <p:nvPr/>
        </p:nvSpPr>
        <p:spPr>
          <a:xfrm>
            <a:off x="5719500" y="4204275"/>
            <a:ext cx="548700" cy="4467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509" name="Google Shape;509;p41"/>
          <p:cNvCxnSpPr>
            <a:stCxn id="492" idx="3"/>
            <a:endCxn id="495" idx="1"/>
          </p:cNvCxnSpPr>
          <p:nvPr/>
        </p:nvCxnSpPr>
        <p:spPr>
          <a:xfrm>
            <a:off x="3878300" y="3589875"/>
            <a:ext cx="1385700" cy="0"/>
          </a:xfrm>
          <a:prstGeom prst="straightConnector1">
            <a:avLst/>
          </a:prstGeom>
          <a:noFill/>
          <a:ln cap="flat" cmpd="sng" w="9525">
            <a:solidFill>
              <a:schemeClr val="dk2"/>
            </a:solidFill>
            <a:prstDash val="solid"/>
            <a:round/>
            <a:headEnd len="med" w="med" type="none"/>
            <a:tailEnd len="med" w="med" type="triangle"/>
          </a:ln>
        </p:spPr>
      </p:cxnSp>
      <p:cxnSp>
        <p:nvCxnSpPr>
          <p:cNvPr id="510" name="Google Shape;510;p41"/>
          <p:cNvCxnSpPr>
            <a:stCxn id="495" idx="2"/>
            <a:endCxn id="508" idx="0"/>
          </p:cNvCxnSpPr>
          <p:nvPr/>
        </p:nvCxnSpPr>
        <p:spPr>
          <a:xfrm>
            <a:off x="5980550" y="3888975"/>
            <a:ext cx="13200" cy="315300"/>
          </a:xfrm>
          <a:prstGeom prst="straightConnector1">
            <a:avLst/>
          </a:prstGeom>
          <a:noFill/>
          <a:ln cap="flat" cmpd="sng" w="9525">
            <a:solidFill>
              <a:schemeClr val="dk2"/>
            </a:solidFill>
            <a:prstDash val="solid"/>
            <a:round/>
            <a:headEnd len="med" w="med" type="none"/>
            <a:tailEnd len="med" w="med" type="triangle"/>
          </a:ln>
        </p:spPr>
      </p:cxnSp>
      <p:cxnSp>
        <p:nvCxnSpPr>
          <p:cNvPr id="511" name="Google Shape;511;p41"/>
          <p:cNvCxnSpPr>
            <a:stCxn id="508" idx="1"/>
            <a:endCxn id="496" idx="3"/>
          </p:cNvCxnSpPr>
          <p:nvPr/>
        </p:nvCxnSpPr>
        <p:spPr>
          <a:xfrm flipH="1">
            <a:off x="3439500" y="4427625"/>
            <a:ext cx="2280000" cy="600"/>
          </a:xfrm>
          <a:prstGeom prst="straightConnector1">
            <a:avLst/>
          </a:prstGeom>
          <a:noFill/>
          <a:ln cap="flat" cmpd="sng" w="9525">
            <a:solidFill>
              <a:schemeClr val="dk2"/>
            </a:solidFill>
            <a:prstDash val="solid"/>
            <a:round/>
            <a:headEnd len="med" w="med" type="none"/>
            <a:tailEnd len="med" w="med" type="triangle"/>
          </a:ln>
        </p:spPr>
      </p:cxnSp>
      <p:cxnSp>
        <p:nvCxnSpPr>
          <p:cNvPr id="512" name="Google Shape;512;p41"/>
          <p:cNvCxnSpPr>
            <a:stCxn id="508" idx="3"/>
            <a:endCxn id="506" idx="2"/>
          </p:cNvCxnSpPr>
          <p:nvPr/>
        </p:nvCxnSpPr>
        <p:spPr>
          <a:xfrm>
            <a:off x="6268200" y="4427625"/>
            <a:ext cx="867000" cy="1411200"/>
          </a:xfrm>
          <a:prstGeom prst="bentConnector3">
            <a:avLst>
              <a:gd fmla="val 65268" name="adj1"/>
            </a:avLst>
          </a:prstGeom>
          <a:noFill/>
          <a:ln cap="flat" cmpd="sng" w="9525">
            <a:solidFill>
              <a:schemeClr val="dk2"/>
            </a:solidFill>
            <a:prstDash val="solid"/>
            <a:round/>
            <a:headEnd len="med" w="med" type="none"/>
            <a:tailEnd len="med" w="med" type="triangle"/>
          </a:ln>
        </p:spPr>
      </p:cxnSp>
      <p:sp>
        <p:nvSpPr>
          <p:cNvPr id="513" name="Google Shape;513;p41"/>
          <p:cNvSpPr txBox="1"/>
          <p:nvPr/>
        </p:nvSpPr>
        <p:spPr>
          <a:xfrm>
            <a:off x="547575" y="6145625"/>
            <a:ext cx="79248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2400">
                <a:solidFill>
                  <a:schemeClr val="dk2"/>
                </a:solidFill>
                <a:latin typeface="Times New Roman"/>
                <a:ea typeface="Times New Roman"/>
                <a:cs typeface="Times New Roman"/>
                <a:sym typeface="Times New Roman"/>
              </a:rPr>
              <a:t>Kịch bản </a:t>
            </a:r>
            <a:r>
              <a:rPr i="1" lang="en-GB" sz="2400">
                <a:solidFill>
                  <a:schemeClr val="dk2"/>
                </a:solidFill>
                <a:latin typeface="Times New Roman"/>
                <a:ea typeface="Times New Roman"/>
                <a:cs typeface="Times New Roman"/>
                <a:sym typeface="Times New Roman"/>
              </a:rPr>
              <a:t>thường của ca sử dụng </a:t>
            </a:r>
            <a:r>
              <a:rPr i="1" lang="en-GB" sz="2400">
                <a:solidFill>
                  <a:schemeClr val="dk2"/>
                </a:solidFill>
                <a:latin typeface="Times New Roman"/>
                <a:ea typeface="Times New Roman"/>
                <a:cs typeface="Times New Roman"/>
                <a:sym typeface="Times New Roman"/>
              </a:rPr>
              <a:t>tạo đơn hàng</a:t>
            </a:r>
            <a:endParaRPr i="1" sz="2400">
              <a:solidFill>
                <a:schemeClr val="dk2"/>
              </a:solidFill>
              <a:latin typeface="Times New Roman"/>
              <a:ea typeface="Times New Roman"/>
              <a:cs typeface="Times New Roman"/>
              <a:sym typeface="Times New Roman"/>
            </a:endParaRPr>
          </a:p>
        </p:txBody>
      </p:sp>
      <p:sp>
        <p:nvSpPr>
          <p:cNvPr id="514" name="Google Shape;514;p41"/>
          <p:cNvSpPr txBox="1"/>
          <p:nvPr/>
        </p:nvSpPr>
        <p:spPr>
          <a:xfrm>
            <a:off x="3443200" y="4060400"/>
            <a:ext cx="1761900" cy="4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[Cần phụ kiện]</a:t>
            </a:r>
            <a:endParaRPr sz="1600">
              <a:solidFill>
                <a:schemeClr val="dk2"/>
              </a:solidFill>
              <a:latin typeface="Times New Roman"/>
              <a:ea typeface="Times New Roman"/>
              <a:cs typeface="Times New Roman"/>
              <a:sym typeface="Times New Roman"/>
            </a:endParaRPr>
          </a:p>
        </p:txBody>
      </p:sp>
      <p:sp>
        <p:nvSpPr>
          <p:cNvPr id="515" name="Google Shape;515;p41"/>
          <p:cNvSpPr txBox="1"/>
          <p:nvPr/>
        </p:nvSpPr>
        <p:spPr>
          <a:xfrm>
            <a:off x="5492600" y="1808875"/>
            <a:ext cx="1761900" cy="4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a:t>
            </a:r>
            <a:r>
              <a:rPr lang="en-GB" sz="1600">
                <a:solidFill>
                  <a:schemeClr val="dk2"/>
                </a:solidFill>
                <a:latin typeface="Times New Roman"/>
                <a:ea typeface="Times New Roman"/>
                <a:cs typeface="Times New Roman"/>
                <a:sym typeface="Times New Roman"/>
              </a:rPr>
              <a:t>Cần mua thêm</a:t>
            </a:r>
            <a:r>
              <a:rPr lang="en-GB" sz="1600">
                <a:solidFill>
                  <a:schemeClr val="dk2"/>
                </a:solidFill>
                <a:latin typeface="Times New Roman"/>
                <a:ea typeface="Times New Roman"/>
                <a:cs typeface="Times New Roman"/>
                <a:sym typeface="Times New Roman"/>
              </a:rPr>
              <a:t>]</a:t>
            </a:r>
            <a:endParaRPr sz="1600">
              <a:solidFill>
                <a:schemeClr val="dk2"/>
              </a:solidFill>
              <a:latin typeface="Times New Roman"/>
              <a:ea typeface="Times New Roman"/>
              <a:cs typeface="Times New Roman"/>
              <a:sym typeface="Times New Roman"/>
            </a:endParaRPr>
          </a:p>
        </p:txBody>
      </p:sp>
      <p:sp>
        <p:nvSpPr>
          <p:cNvPr id="516" name="Google Shape;516;p41"/>
          <p:cNvSpPr txBox="1"/>
          <p:nvPr/>
        </p:nvSpPr>
        <p:spPr>
          <a:xfrm>
            <a:off x="73298" y="2209275"/>
            <a:ext cx="1385700" cy="4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&lt;&lt;include&gt;&gt;</a:t>
            </a:r>
            <a:endParaRPr sz="1800">
              <a:solidFill>
                <a:schemeClr val="dk2"/>
              </a:solidFill>
              <a:latin typeface="Times New Roman"/>
              <a:ea typeface="Times New Roman"/>
              <a:cs typeface="Times New Roman"/>
              <a:sym typeface="Times New Roman"/>
            </a:endParaRPr>
          </a:p>
        </p:txBody>
      </p:sp>
      <p:sp>
        <p:nvSpPr>
          <p:cNvPr id="517" name="Google Shape;517;p41"/>
          <p:cNvSpPr txBox="1"/>
          <p:nvPr/>
        </p:nvSpPr>
        <p:spPr>
          <a:xfrm>
            <a:off x="73298" y="3123675"/>
            <a:ext cx="1385700" cy="4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&lt;&lt;</a:t>
            </a:r>
            <a:r>
              <a:rPr lang="en-GB" sz="1800">
                <a:solidFill>
                  <a:schemeClr val="dk2"/>
                </a:solidFill>
                <a:latin typeface="Times New Roman"/>
                <a:ea typeface="Times New Roman"/>
                <a:cs typeface="Times New Roman"/>
                <a:sym typeface="Times New Roman"/>
              </a:rPr>
              <a:t>extend</a:t>
            </a:r>
            <a:r>
              <a:rPr lang="en-GB" sz="1800">
                <a:solidFill>
                  <a:schemeClr val="dk2"/>
                </a:solidFill>
                <a:latin typeface="Times New Roman"/>
                <a:ea typeface="Times New Roman"/>
                <a:cs typeface="Times New Roman"/>
                <a:sym typeface="Times New Roman"/>
              </a:rPr>
              <a:t>&gt;&gt;</a:t>
            </a:r>
            <a:endParaRPr sz="1800">
              <a:solidFill>
                <a:schemeClr val="dk2"/>
              </a:solidFill>
              <a:latin typeface="Times New Roman"/>
              <a:ea typeface="Times New Roman"/>
              <a:cs typeface="Times New Roman"/>
              <a:sym typeface="Times New Roman"/>
            </a:endParaRPr>
          </a:p>
        </p:txBody>
      </p:sp>
      <p:cxnSp>
        <p:nvCxnSpPr>
          <p:cNvPr id="518" name="Google Shape;518;p41"/>
          <p:cNvCxnSpPr/>
          <p:nvPr/>
        </p:nvCxnSpPr>
        <p:spPr>
          <a:xfrm flipH="1" rot="10800000">
            <a:off x="1113950" y="2014700"/>
            <a:ext cx="1300500" cy="331200"/>
          </a:xfrm>
          <a:prstGeom prst="straightConnector1">
            <a:avLst/>
          </a:prstGeom>
          <a:noFill/>
          <a:ln cap="flat" cmpd="sng" w="9525">
            <a:solidFill>
              <a:schemeClr val="dk2"/>
            </a:solidFill>
            <a:prstDash val="dash"/>
            <a:round/>
            <a:headEnd len="med" w="med" type="none"/>
            <a:tailEnd len="med" w="med" type="none"/>
          </a:ln>
        </p:spPr>
      </p:cxnSp>
      <p:cxnSp>
        <p:nvCxnSpPr>
          <p:cNvPr id="519" name="Google Shape;519;p41"/>
          <p:cNvCxnSpPr/>
          <p:nvPr/>
        </p:nvCxnSpPr>
        <p:spPr>
          <a:xfrm flipH="1" rot="10800000">
            <a:off x="1266350" y="2866100"/>
            <a:ext cx="1656600" cy="394200"/>
          </a:xfrm>
          <a:prstGeom prst="straightConnector1">
            <a:avLst/>
          </a:prstGeom>
          <a:noFill/>
          <a:ln cap="flat" cmpd="sng" w="9525">
            <a:solidFill>
              <a:schemeClr val="dk2"/>
            </a:solidFill>
            <a:prstDash val="dash"/>
            <a:round/>
            <a:headEnd len="med" w="med" type="none"/>
            <a:tailEnd len="med" w="med" type="none"/>
          </a:ln>
        </p:spPr>
      </p:cxnSp>
      <p:cxnSp>
        <p:nvCxnSpPr>
          <p:cNvPr id="520" name="Google Shape;520;p41"/>
          <p:cNvCxnSpPr/>
          <p:nvPr/>
        </p:nvCxnSpPr>
        <p:spPr>
          <a:xfrm>
            <a:off x="1102000" y="3504675"/>
            <a:ext cx="626700" cy="6504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4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Mô hình nào tốt hơn?</a:t>
            </a:r>
            <a:endParaRPr/>
          </a:p>
        </p:txBody>
      </p:sp>
      <p:sp>
        <p:nvSpPr>
          <p:cNvPr id="526" name="Google Shape;526;p4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27" name="Google Shape;527;p42"/>
          <p:cNvSpPr/>
          <p:nvPr/>
        </p:nvSpPr>
        <p:spPr>
          <a:xfrm>
            <a:off x="4386841" y="2779018"/>
            <a:ext cx="153600" cy="1560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528" name="Google Shape;528;p42"/>
          <p:cNvCxnSpPr>
            <a:stCxn id="527" idx="4"/>
          </p:cNvCxnSpPr>
          <p:nvPr/>
        </p:nvCxnSpPr>
        <p:spPr>
          <a:xfrm>
            <a:off x="4463641" y="2935018"/>
            <a:ext cx="0" cy="305700"/>
          </a:xfrm>
          <a:prstGeom prst="straightConnector1">
            <a:avLst/>
          </a:prstGeom>
          <a:noFill/>
          <a:ln cap="flat" cmpd="sng" w="9525">
            <a:solidFill>
              <a:schemeClr val="dk2"/>
            </a:solidFill>
            <a:prstDash val="solid"/>
            <a:round/>
            <a:headEnd len="med" w="med" type="none"/>
            <a:tailEnd len="med" w="med" type="none"/>
          </a:ln>
        </p:spPr>
      </p:cxnSp>
      <p:cxnSp>
        <p:nvCxnSpPr>
          <p:cNvPr id="529" name="Google Shape;529;p42"/>
          <p:cNvCxnSpPr/>
          <p:nvPr/>
        </p:nvCxnSpPr>
        <p:spPr>
          <a:xfrm>
            <a:off x="4463732" y="3227921"/>
            <a:ext cx="198600" cy="156000"/>
          </a:xfrm>
          <a:prstGeom prst="straightConnector1">
            <a:avLst/>
          </a:prstGeom>
          <a:noFill/>
          <a:ln cap="flat" cmpd="sng" w="9525">
            <a:solidFill>
              <a:schemeClr val="dk2"/>
            </a:solidFill>
            <a:prstDash val="solid"/>
            <a:round/>
            <a:headEnd len="med" w="med" type="none"/>
            <a:tailEnd len="med" w="med" type="none"/>
          </a:ln>
        </p:spPr>
      </p:cxnSp>
      <p:cxnSp>
        <p:nvCxnSpPr>
          <p:cNvPr id="530" name="Google Shape;530;p42"/>
          <p:cNvCxnSpPr/>
          <p:nvPr/>
        </p:nvCxnSpPr>
        <p:spPr>
          <a:xfrm>
            <a:off x="4463732" y="3004124"/>
            <a:ext cx="198600" cy="156000"/>
          </a:xfrm>
          <a:prstGeom prst="straightConnector1">
            <a:avLst/>
          </a:prstGeom>
          <a:noFill/>
          <a:ln cap="flat" cmpd="sng" w="9525">
            <a:solidFill>
              <a:schemeClr val="dk2"/>
            </a:solidFill>
            <a:prstDash val="solid"/>
            <a:round/>
            <a:headEnd len="med" w="med" type="none"/>
            <a:tailEnd len="med" w="med" type="none"/>
          </a:ln>
        </p:spPr>
      </p:cxnSp>
      <p:cxnSp>
        <p:nvCxnSpPr>
          <p:cNvPr id="531" name="Google Shape;531;p42"/>
          <p:cNvCxnSpPr/>
          <p:nvPr/>
        </p:nvCxnSpPr>
        <p:spPr>
          <a:xfrm flipH="1">
            <a:off x="4267215" y="3227921"/>
            <a:ext cx="198600" cy="156000"/>
          </a:xfrm>
          <a:prstGeom prst="straightConnector1">
            <a:avLst/>
          </a:prstGeom>
          <a:noFill/>
          <a:ln cap="flat" cmpd="sng" w="9525">
            <a:solidFill>
              <a:schemeClr val="dk2"/>
            </a:solidFill>
            <a:prstDash val="solid"/>
            <a:round/>
            <a:headEnd len="med" w="med" type="none"/>
            <a:tailEnd len="med" w="med" type="none"/>
          </a:ln>
        </p:spPr>
      </p:cxnSp>
      <p:cxnSp>
        <p:nvCxnSpPr>
          <p:cNvPr id="532" name="Google Shape;532;p42"/>
          <p:cNvCxnSpPr/>
          <p:nvPr/>
        </p:nvCxnSpPr>
        <p:spPr>
          <a:xfrm flipH="1">
            <a:off x="4267215" y="3004124"/>
            <a:ext cx="198600" cy="156000"/>
          </a:xfrm>
          <a:prstGeom prst="straightConnector1">
            <a:avLst/>
          </a:prstGeom>
          <a:noFill/>
          <a:ln cap="flat" cmpd="sng" w="9525">
            <a:solidFill>
              <a:schemeClr val="dk2"/>
            </a:solidFill>
            <a:prstDash val="solid"/>
            <a:round/>
            <a:headEnd len="med" w="med" type="none"/>
            <a:tailEnd len="med" w="med" type="none"/>
          </a:ln>
        </p:spPr>
      </p:cxnSp>
      <p:sp>
        <p:nvSpPr>
          <p:cNvPr id="533" name="Google Shape;533;p42"/>
          <p:cNvSpPr txBox="1"/>
          <p:nvPr/>
        </p:nvSpPr>
        <p:spPr>
          <a:xfrm>
            <a:off x="3906315" y="3290343"/>
            <a:ext cx="12516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Khách hàng</a:t>
            </a:r>
            <a:endParaRPr sz="1600">
              <a:solidFill>
                <a:schemeClr val="dk2"/>
              </a:solidFill>
              <a:latin typeface="Times New Roman"/>
              <a:ea typeface="Times New Roman"/>
              <a:cs typeface="Times New Roman"/>
              <a:sym typeface="Times New Roman"/>
            </a:endParaRPr>
          </a:p>
        </p:txBody>
      </p:sp>
      <p:sp>
        <p:nvSpPr>
          <p:cNvPr id="534" name="Google Shape;534;p42"/>
          <p:cNvSpPr/>
          <p:nvPr/>
        </p:nvSpPr>
        <p:spPr>
          <a:xfrm>
            <a:off x="3565375" y="857043"/>
            <a:ext cx="16572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Xóa đơn hàng</a:t>
            </a:r>
            <a:endParaRPr sz="1600">
              <a:latin typeface="Times New Roman"/>
              <a:ea typeface="Times New Roman"/>
              <a:cs typeface="Times New Roman"/>
              <a:sym typeface="Times New Roman"/>
            </a:endParaRPr>
          </a:p>
        </p:txBody>
      </p:sp>
      <p:sp>
        <p:nvSpPr>
          <p:cNvPr id="535" name="Google Shape;535;p42"/>
          <p:cNvSpPr/>
          <p:nvPr/>
        </p:nvSpPr>
        <p:spPr>
          <a:xfrm>
            <a:off x="1431775" y="1847643"/>
            <a:ext cx="16572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Thêm</a:t>
            </a:r>
            <a:r>
              <a:rPr lang="en-GB" sz="1600">
                <a:latin typeface="Times New Roman"/>
                <a:ea typeface="Times New Roman"/>
                <a:cs typeface="Times New Roman"/>
                <a:sym typeface="Times New Roman"/>
              </a:rPr>
              <a:t> đơn hàng</a:t>
            </a:r>
            <a:endParaRPr sz="1600">
              <a:latin typeface="Times New Roman"/>
              <a:ea typeface="Times New Roman"/>
              <a:cs typeface="Times New Roman"/>
              <a:sym typeface="Times New Roman"/>
            </a:endParaRPr>
          </a:p>
        </p:txBody>
      </p:sp>
      <p:sp>
        <p:nvSpPr>
          <p:cNvPr id="536" name="Google Shape;536;p42"/>
          <p:cNvSpPr/>
          <p:nvPr/>
        </p:nvSpPr>
        <p:spPr>
          <a:xfrm>
            <a:off x="5775175" y="1847643"/>
            <a:ext cx="16572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Thay đổi</a:t>
            </a:r>
            <a:r>
              <a:rPr lang="en-GB" sz="1600">
                <a:latin typeface="Times New Roman"/>
                <a:ea typeface="Times New Roman"/>
                <a:cs typeface="Times New Roman"/>
                <a:sym typeface="Times New Roman"/>
              </a:rPr>
              <a:t> đơn hàng</a:t>
            </a:r>
            <a:endParaRPr sz="1600">
              <a:latin typeface="Times New Roman"/>
              <a:ea typeface="Times New Roman"/>
              <a:cs typeface="Times New Roman"/>
              <a:sym typeface="Times New Roman"/>
            </a:endParaRPr>
          </a:p>
        </p:txBody>
      </p:sp>
      <p:sp>
        <p:nvSpPr>
          <p:cNvPr id="537" name="Google Shape;537;p42"/>
          <p:cNvSpPr/>
          <p:nvPr/>
        </p:nvSpPr>
        <p:spPr>
          <a:xfrm>
            <a:off x="1812775" y="4057443"/>
            <a:ext cx="16572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Xác nhận</a:t>
            </a:r>
            <a:r>
              <a:rPr lang="en-GB" sz="1600">
                <a:latin typeface="Times New Roman"/>
                <a:ea typeface="Times New Roman"/>
                <a:cs typeface="Times New Roman"/>
                <a:sym typeface="Times New Roman"/>
              </a:rPr>
              <a:t> đơn hàng</a:t>
            </a:r>
            <a:endParaRPr sz="1600">
              <a:latin typeface="Times New Roman"/>
              <a:ea typeface="Times New Roman"/>
              <a:cs typeface="Times New Roman"/>
              <a:sym typeface="Times New Roman"/>
            </a:endParaRPr>
          </a:p>
        </p:txBody>
      </p:sp>
      <p:sp>
        <p:nvSpPr>
          <p:cNvPr id="538" name="Google Shape;538;p42"/>
          <p:cNvSpPr/>
          <p:nvPr/>
        </p:nvSpPr>
        <p:spPr>
          <a:xfrm>
            <a:off x="5698975" y="4057443"/>
            <a:ext cx="16572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Tra cứu đơn hàng</a:t>
            </a:r>
            <a:endParaRPr sz="1600">
              <a:latin typeface="Times New Roman"/>
              <a:ea typeface="Times New Roman"/>
              <a:cs typeface="Times New Roman"/>
              <a:sym typeface="Times New Roman"/>
            </a:endParaRPr>
          </a:p>
        </p:txBody>
      </p:sp>
      <p:cxnSp>
        <p:nvCxnSpPr>
          <p:cNvPr id="539" name="Google Shape;539;p42"/>
          <p:cNvCxnSpPr>
            <a:endCxn id="534" idx="4"/>
          </p:cNvCxnSpPr>
          <p:nvPr/>
        </p:nvCxnSpPr>
        <p:spPr>
          <a:xfrm rot="10800000">
            <a:off x="4393975" y="1620543"/>
            <a:ext cx="65100" cy="991500"/>
          </a:xfrm>
          <a:prstGeom prst="straightConnector1">
            <a:avLst/>
          </a:prstGeom>
          <a:noFill/>
          <a:ln cap="flat" cmpd="sng" w="9525">
            <a:solidFill>
              <a:schemeClr val="dk2"/>
            </a:solidFill>
            <a:prstDash val="solid"/>
            <a:round/>
            <a:headEnd len="med" w="med" type="none"/>
            <a:tailEnd len="med" w="med" type="none"/>
          </a:ln>
        </p:spPr>
      </p:cxnSp>
      <p:cxnSp>
        <p:nvCxnSpPr>
          <p:cNvPr id="540" name="Google Shape;540;p42"/>
          <p:cNvCxnSpPr>
            <a:endCxn id="536" idx="3"/>
          </p:cNvCxnSpPr>
          <p:nvPr/>
        </p:nvCxnSpPr>
        <p:spPr>
          <a:xfrm flipH="1" rot="10800000">
            <a:off x="4878466" y="2499332"/>
            <a:ext cx="1139400" cy="531900"/>
          </a:xfrm>
          <a:prstGeom prst="straightConnector1">
            <a:avLst/>
          </a:prstGeom>
          <a:noFill/>
          <a:ln cap="flat" cmpd="sng" w="9525">
            <a:solidFill>
              <a:schemeClr val="dk2"/>
            </a:solidFill>
            <a:prstDash val="solid"/>
            <a:round/>
            <a:headEnd len="med" w="med" type="none"/>
            <a:tailEnd len="med" w="med" type="none"/>
          </a:ln>
        </p:spPr>
      </p:cxnSp>
      <p:cxnSp>
        <p:nvCxnSpPr>
          <p:cNvPr id="541" name="Google Shape;541;p42"/>
          <p:cNvCxnSpPr>
            <a:endCxn id="535" idx="5"/>
          </p:cNvCxnSpPr>
          <p:nvPr/>
        </p:nvCxnSpPr>
        <p:spPr>
          <a:xfrm rot="10800000">
            <a:off x="2846284" y="2499332"/>
            <a:ext cx="1243500" cy="581700"/>
          </a:xfrm>
          <a:prstGeom prst="straightConnector1">
            <a:avLst/>
          </a:prstGeom>
          <a:noFill/>
          <a:ln cap="flat" cmpd="sng" w="9525">
            <a:solidFill>
              <a:schemeClr val="dk2"/>
            </a:solidFill>
            <a:prstDash val="solid"/>
            <a:round/>
            <a:headEnd len="med" w="med" type="none"/>
            <a:tailEnd len="med" w="med" type="none"/>
          </a:ln>
        </p:spPr>
      </p:cxnSp>
      <p:cxnSp>
        <p:nvCxnSpPr>
          <p:cNvPr id="542" name="Google Shape;542;p42"/>
          <p:cNvCxnSpPr>
            <a:endCxn id="537" idx="7"/>
          </p:cNvCxnSpPr>
          <p:nvPr/>
        </p:nvCxnSpPr>
        <p:spPr>
          <a:xfrm flipH="1">
            <a:off x="3227284" y="3469655"/>
            <a:ext cx="678900" cy="699600"/>
          </a:xfrm>
          <a:prstGeom prst="straightConnector1">
            <a:avLst/>
          </a:prstGeom>
          <a:noFill/>
          <a:ln cap="flat" cmpd="sng" w="9525">
            <a:solidFill>
              <a:schemeClr val="dk2"/>
            </a:solidFill>
            <a:prstDash val="solid"/>
            <a:round/>
            <a:headEnd len="med" w="med" type="none"/>
            <a:tailEnd len="med" w="med" type="none"/>
          </a:ln>
        </p:spPr>
      </p:cxnSp>
      <p:cxnSp>
        <p:nvCxnSpPr>
          <p:cNvPr id="543" name="Google Shape;543;p42"/>
          <p:cNvCxnSpPr>
            <a:stCxn id="533" idx="3"/>
            <a:endCxn id="538" idx="1"/>
          </p:cNvCxnSpPr>
          <p:nvPr/>
        </p:nvCxnSpPr>
        <p:spPr>
          <a:xfrm>
            <a:off x="5157915" y="3469743"/>
            <a:ext cx="783900" cy="699600"/>
          </a:xfrm>
          <a:prstGeom prst="straightConnector1">
            <a:avLst/>
          </a:prstGeom>
          <a:noFill/>
          <a:ln cap="flat" cmpd="sng" w="9525">
            <a:solidFill>
              <a:schemeClr val="dk2"/>
            </a:solidFill>
            <a:prstDash val="solid"/>
            <a:round/>
            <a:headEnd len="med" w="med" type="none"/>
            <a:tailEnd len="med" w="med" type="none"/>
          </a:ln>
        </p:spPr>
      </p:cxnSp>
      <p:sp>
        <p:nvSpPr>
          <p:cNvPr id="544" name="Google Shape;544;p42"/>
          <p:cNvSpPr txBox="1"/>
          <p:nvPr/>
        </p:nvSpPr>
        <p:spPr>
          <a:xfrm>
            <a:off x="3282775" y="4876150"/>
            <a:ext cx="5277900" cy="638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GB" sz="1800">
                <a:solidFill>
                  <a:schemeClr val="dk2"/>
                </a:solidFill>
                <a:latin typeface="Times New Roman"/>
                <a:ea typeface="Times New Roman"/>
                <a:cs typeface="Times New Roman"/>
                <a:sym typeface="Times New Roman"/>
              </a:rPr>
              <a:t>[Why Use Cases Are Not "Functions", Kurt Bittner], </a:t>
            </a:r>
            <a:r>
              <a:rPr i="1" lang="en-GB" sz="1800" u="sng">
                <a:solidFill>
                  <a:schemeClr val="hlink"/>
                </a:solidFill>
                <a:latin typeface="Times New Roman"/>
                <a:ea typeface="Times New Roman"/>
                <a:cs typeface="Times New Roman"/>
                <a:sym typeface="Times New Roman"/>
                <a:hlinkClick r:id="rId3"/>
              </a:rPr>
              <a:t>bản chuyển ngữ tiếng Việt</a:t>
            </a:r>
            <a:endParaRPr i="1" sz="1800">
              <a:solidFill>
                <a:schemeClr val="dk2"/>
              </a:solidFill>
              <a:latin typeface="Times New Roman"/>
              <a:ea typeface="Times New Roman"/>
              <a:cs typeface="Times New Roman"/>
              <a:sym typeface="Times New Roman"/>
            </a:endParaRPr>
          </a:p>
        </p:txBody>
      </p:sp>
      <p:sp>
        <p:nvSpPr>
          <p:cNvPr id="545" name="Google Shape;545;p42"/>
          <p:cNvSpPr/>
          <p:nvPr/>
        </p:nvSpPr>
        <p:spPr>
          <a:xfrm>
            <a:off x="1759266" y="5810853"/>
            <a:ext cx="153600" cy="1560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546" name="Google Shape;546;p42"/>
          <p:cNvCxnSpPr/>
          <p:nvPr/>
        </p:nvCxnSpPr>
        <p:spPr>
          <a:xfrm>
            <a:off x="1836066" y="5966853"/>
            <a:ext cx="0" cy="305700"/>
          </a:xfrm>
          <a:prstGeom prst="straightConnector1">
            <a:avLst/>
          </a:prstGeom>
          <a:noFill/>
          <a:ln cap="flat" cmpd="sng" w="9525">
            <a:solidFill>
              <a:schemeClr val="dk2"/>
            </a:solidFill>
            <a:prstDash val="solid"/>
            <a:round/>
            <a:headEnd len="med" w="med" type="none"/>
            <a:tailEnd len="med" w="med" type="none"/>
          </a:ln>
        </p:spPr>
      </p:cxnSp>
      <p:cxnSp>
        <p:nvCxnSpPr>
          <p:cNvPr id="547" name="Google Shape;547;p42"/>
          <p:cNvCxnSpPr/>
          <p:nvPr/>
        </p:nvCxnSpPr>
        <p:spPr>
          <a:xfrm>
            <a:off x="1836157" y="6259755"/>
            <a:ext cx="198600" cy="156000"/>
          </a:xfrm>
          <a:prstGeom prst="straightConnector1">
            <a:avLst/>
          </a:prstGeom>
          <a:noFill/>
          <a:ln cap="flat" cmpd="sng" w="9525">
            <a:solidFill>
              <a:schemeClr val="dk2"/>
            </a:solidFill>
            <a:prstDash val="solid"/>
            <a:round/>
            <a:headEnd len="med" w="med" type="none"/>
            <a:tailEnd len="med" w="med" type="none"/>
          </a:ln>
        </p:spPr>
      </p:cxnSp>
      <p:cxnSp>
        <p:nvCxnSpPr>
          <p:cNvPr id="548" name="Google Shape;548;p42"/>
          <p:cNvCxnSpPr/>
          <p:nvPr/>
        </p:nvCxnSpPr>
        <p:spPr>
          <a:xfrm>
            <a:off x="1836157" y="6035959"/>
            <a:ext cx="198600" cy="156000"/>
          </a:xfrm>
          <a:prstGeom prst="straightConnector1">
            <a:avLst/>
          </a:prstGeom>
          <a:noFill/>
          <a:ln cap="flat" cmpd="sng" w="9525">
            <a:solidFill>
              <a:schemeClr val="dk2"/>
            </a:solidFill>
            <a:prstDash val="solid"/>
            <a:round/>
            <a:headEnd len="med" w="med" type="none"/>
            <a:tailEnd len="med" w="med" type="none"/>
          </a:ln>
        </p:spPr>
      </p:cxnSp>
      <p:cxnSp>
        <p:nvCxnSpPr>
          <p:cNvPr id="549" name="Google Shape;549;p42"/>
          <p:cNvCxnSpPr/>
          <p:nvPr/>
        </p:nvCxnSpPr>
        <p:spPr>
          <a:xfrm flipH="1">
            <a:off x="1639640" y="6259755"/>
            <a:ext cx="198600" cy="156000"/>
          </a:xfrm>
          <a:prstGeom prst="straightConnector1">
            <a:avLst/>
          </a:prstGeom>
          <a:noFill/>
          <a:ln cap="flat" cmpd="sng" w="9525">
            <a:solidFill>
              <a:schemeClr val="dk2"/>
            </a:solidFill>
            <a:prstDash val="solid"/>
            <a:round/>
            <a:headEnd len="med" w="med" type="none"/>
            <a:tailEnd len="med" w="med" type="none"/>
          </a:ln>
        </p:spPr>
      </p:cxnSp>
      <p:cxnSp>
        <p:nvCxnSpPr>
          <p:cNvPr id="550" name="Google Shape;550;p42"/>
          <p:cNvCxnSpPr/>
          <p:nvPr/>
        </p:nvCxnSpPr>
        <p:spPr>
          <a:xfrm flipH="1">
            <a:off x="1639640" y="6035959"/>
            <a:ext cx="198600" cy="156000"/>
          </a:xfrm>
          <a:prstGeom prst="straightConnector1">
            <a:avLst/>
          </a:prstGeom>
          <a:noFill/>
          <a:ln cap="flat" cmpd="sng" w="9525">
            <a:solidFill>
              <a:schemeClr val="dk2"/>
            </a:solidFill>
            <a:prstDash val="solid"/>
            <a:round/>
            <a:headEnd len="med" w="med" type="none"/>
            <a:tailEnd len="med" w="med" type="none"/>
          </a:ln>
        </p:spPr>
      </p:cxnSp>
      <p:sp>
        <p:nvSpPr>
          <p:cNvPr id="551" name="Google Shape;551;p42"/>
          <p:cNvSpPr txBox="1"/>
          <p:nvPr/>
        </p:nvSpPr>
        <p:spPr>
          <a:xfrm>
            <a:off x="1278740" y="6322178"/>
            <a:ext cx="12516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Khách hàng</a:t>
            </a:r>
            <a:endParaRPr sz="1600">
              <a:solidFill>
                <a:schemeClr val="dk2"/>
              </a:solidFill>
              <a:latin typeface="Times New Roman"/>
              <a:ea typeface="Times New Roman"/>
              <a:cs typeface="Times New Roman"/>
              <a:sym typeface="Times New Roman"/>
            </a:endParaRPr>
          </a:p>
        </p:txBody>
      </p:sp>
      <p:cxnSp>
        <p:nvCxnSpPr>
          <p:cNvPr id="552" name="Google Shape;552;p42"/>
          <p:cNvCxnSpPr>
            <a:endCxn id="553" idx="2"/>
          </p:cNvCxnSpPr>
          <p:nvPr/>
        </p:nvCxnSpPr>
        <p:spPr>
          <a:xfrm>
            <a:off x="2256000" y="6199328"/>
            <a:ext cx="1806000" cy="0"/>
          </a:xfrm>
          <a:prstGeom prst="straightConnector1">
            <a:avLst/>
          </a:prstGeom>
          <a:noFill/>
          <a:ln cap="flat" cmpd="sng" w="9525">
            <a:solidFill>
              <a:schemeClr val="dk2"/>
            </a:solidFill>
            <a:prstDash val="solid"/>
            <a:round/>
            <a:headEnd len="med" w="med" type="none"/>
            <a:tailEnd len="med" w="med" type="none"/>
          </a:ln>
        </p:spPr>
      </p:cxnSp>
      <p:sp>
        <p:nvSpPr>
          <p:cNvPr id="553" name="Google Shape;553;p42"/>
          <p:cNvSpPr/>
          <p:nvPr/>
        </p:nvSpPr>
        <p:spPr>
          <a:xfrm>
            <a:off x="4062000" y="5793878"/>
            <a:ext cx="1788000" cy="8109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Đặt hàng trên Web</a:t>
            </a:r>
            <a:endParaRPr sz="1600">
              <a:latin typeface="Times New Roman"/>
              <a:ea typeface="Times New Roman"/>
              <a:cs typeface="Times New Roman"/>
              <a:sym typeface="Times New Roman"/>
            </a:endParaRPr>
          </a:p>
        </p:txBody>
      </p:sp>
      <p:sp>
        <p:nvSpPr>
          <p:cNvPr id="554" name="Google Shape;554;p42"/>
          <p:cNvSpPr txBox="1"/>
          <p:nvPr/>
        </p:nvSpPr>
        <p:spPr>
          <a:xfrm>
            <a:off x="282375" y="4867825"/>
            <a:ext cx="3046500" cy="6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rgbClr val="1155CC"/>
                </a:solidFill>
                <a:latin typeface="Times New Roman"/>
                <a:ea typeface="Times New Roman"/>
                <a:cs typeface="Times New Roman"/>
                <a:sym typeface="Times New Roman"/>
              </a:rPr>
              <a:t>Mô hình nào đơn giản và rõ giá trị?</a:t>
            </a:r>
            <a:endParaRPr i="1" sz="1800">
              <a:solidFill>
                <a:srgbClr val="1155CC"/>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4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a:t>
            </a:r>
            <a:r>
              <a:rPr lang="en-GB"/>
              <a:t>í dụ về điều không nên làm</a:t>
            </a:r>
            <a:endParaRPr/>
          </a:p>
        </p:txBody>
      </p:sp>
      <p:sp>
        <p:nvSpPr>
          <p:cNvPr id="560" name="Google Shape;560;p4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61" name="Google Shape;561;p43"/>
          <p:cNvSpPr/>
          <p:nvPr/>
        </p:nvSpPr>
        <p:spPr>
          <a:xfrm>
            <a:off x="630741" y="2487050"/>
            <a:ext cx="153600" cy="1560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562" name="Google Shape;562;p43"/>
          <p:cNvCxnSpPr/>
          <p:nvPr/>
        </p:nvCxnSpPr>
        <p:spPr>
          <a:xfrm>
            <a:off x="707541" y="2643050"/>
            <a:ext cx="0" cy="305700"/>
          </a:xfrm>
          <a:prstGeom prst="straightConnector1">
            <a:avLst/>
          </a:prstGeom>
          <a:noFill/>
          <a:ln cap="flat" cmpd="sng" w="9525">
            <a:solidFill>
              <a:schemeClr val="dk2"/>
            </a:solidFill>
            <a:prstDash val="solid"/>
            <a:round/>
            <a:headEnd len="med" w="med" type="none"/>
            <a:tailEnd len="med" w="med" type="none"/>
          </a:ln>
        </p:spPr>
      </p:cxnSp>
      <p:cxnSp>
        <p:nvCxnSpPr>
          <p:cNvPr id="563" name="Google Shape;563;p43"/>
          <p:cNvCxnSpPr/>
          <p:nvPr/>
        </p:nvCxnSpPr>
        <p:spPr>
          <a:xfrm>
            <a:off x="707632" y="2935952"/>
            <a:ext cx="198600" cy="156000"/>
          </a:xfrm>
          <a:prstGeom prst="straightConnector1">
            <a:avLst/>
          </a:prstGeom>
          <a:noFill/>
          <a:ln cap="flat" cmpd="sng" w="9525">
            <a:solidFill>
              <a:schemeClr val="dk2"/>
            </a:solidFill>
            <a:prstDash val="solid"/>
            <a:round/>
            <a:headEnd len="med" w="med" type="none"/>
            <a:tailEnd len="med" w="med" type="none"/>
          </a:ln>
        </p:spPr>
      </p:cxnSp>
      <p:cxnSp>
        <p:nvCxnSpPr>
          <p:cNvPr id="564" name="Google Shape;564;p43"/>
          <p:cNvCxnSpPr/>
          <p:nvPr/>
        </p:nvCxnSpPr>
        <p:spPr>
          <a:xfrm>
            <a:off x="707632" y="2712156"/>
            <a:ext cx="198600" cy="156000"/>
          </a:xfrm>
          <a:prstGeom prst="straightConnector1">
            <a:avLst/>
          </a:prstGeom>
          <a:noFill/>
          <a:ln cap="flat" cmpd="sng" w="9525">
            <a:solidFill>
              <a:schemeClr val="dk2"/>
            </a:solidFill>
            <a:prstDash val="solid"/>
            <a:round/>
            <a:headEnd len="med" w="med" type="none"/>
            <a:tailEnd len="med" w="med" type="none"/>
          </a:ln>
        </p:spPr>
      </p:cxnSp>
      <p:cxnSp>
        <p:nvCxnSpPr>
          <p:cNvPr id="565" name="Google Shape;565;p43"/>
          <p:cNvCxnSpPr/>
          <p:nvPr/>
        </p:nvCxnSpPr>
        <p:spPr>
          <a:xfrm flipH="1">
            <a:off x="511115" y="2935952"/>
            <a:ext cx="198600" cy="156000"/>
          </a:xfrm>
          <a:prstGeom prst="straightConnector1">
            <a:avLst/>
          </a:prstGeom>
          <a:noFill/>
          <a:ln cap="flat" cmpd="sng" w="9525">
            <a:solidFill>
              <a:schemeClr val="dk2"/>
            </a:solidFill>
            <a:prstDash val="solid"/>
            <a:round/>
            <a:headEnd len="med" w="med" type="none"/>
            <a:tailEnd len="med" w="med" type="none"/>
          </a:ln>
        </p:spPr>
      </p:cxnSp>
      <p:cxnSp>
        <p:nvCxnSpPr>
          <p:cNvPr id="566" name="Google Shape;566;p43"/>
          <p:cNvCxnSpPr/>
          <p:nvPr/>
        </p:nvCxnSpPr>
        <p:spPr>
          <a:xfrm flipH="1">
            <a:off x="511115" y="2712156"/>
            <a:ext cx="198600" cy="156000"/>
          </a:xfrm>
          <a:prstGeom prst="straightConnector1">
            <a:avLst/>
          </a:prstGeom>
          <a:noFill/>
          <a:ln cap="flat" cmpd="sng" w="9525">
            <a:solidFill>
              <a:schemeClr val="dk2"/>
            </a:solidFill>
            <a:prstDash val="solid"/>
            <a:round/>
            <a:headEnd len="med" w="med" type="none"/>
            <a:tailEnd len="med" w="med" type="none"/>
          </a:ln>
        </p:spPr>
      </p:cxnSp>
      <p:sp>
        <p:nvSpPr>
          <p:cNvPr id="567" name="Google Shape;567;p43"/>
          <p:cNvSpPr txBox="1"/>
          <p:nvPr/>
        </p:nvSpPr>
        <p:spPr>
          <a:xfrm>
            <a:off x="150215" y="2998375"/>
            <a:ext cx="12516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Người bán</a:t>
            </a:r>
            <a:endParaRPr sz="1600">
              <a:solidFill>
                <a:schemeClr val="dk2"/>
              </a:solidFill>
              <a:latin typeface="Times New Roman"/>
              <a:ea typeface="Times New Roman"/>
              <a:cs typeface="Times New Roman"/>
              <a:sym typeface="Times New Roman"/>
            </a:endParaRPr>
          </a:p>
        </p:txBody>
      </p:sp>
      <p:sp>
        <p:nvSpPr>
          <p:cNvPr id="568" name="Google Shape;568;p43"/>
          <p:cNvSpPr/>
          <p:nvPr/>
        </p:nvSpPr>
        <p:spPr>
          <a:xfrm>
            <a:off x="1714275" y="2241475"/>
            <a:ext cx="16572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Quản lý sản phẩm</a:t>
            </a:r>
            <a:endParaRPr sz="1600">
              <a:latin typeface="Times New Roman"/>
              <a:ea typeface="Times New Roman"/>
              <a:cs typeface="Times New Roman"/>
              <a:sym typeface="Times New Roman"/>
            </a:endParaRPr>
          </a:p>
        </p:txBody>
      </p:sp>
      <p:cxnSp>
        <p:nvCxnSpPr>
          <p:cNvPr id="569" name="Google Shape;569;p43"/>
          <p:cNvCxnSpPr>
            <a:endCxn id="568" idx="2"/>
          </p:cNvCxnSpPr>
          <p:nvPr/>
        </p:nvCxnSpPr>
        <p:spPr>
          <a:xfrm flipH="1" rot="10800000">
            <a:off x="948075" y="2623225"/>
            <a:ext cx="766200" cy="114000"/>
          </a:xfrm>
          <a:prstGeom prst="straightConnector1">
            <a:avLst/>
          </a:prstGeom>
          <a:noFill/>
          <a:ln cap="flat" cmpd="sng" w="9525">
            <a:solidFill>
              <a:schemeClr val="dk2"/>
            </a:solidFill>
            <a:prstDash val="solid"/>
            <a:round/>
            <a:headEnd len="med" w="med" type="none"/>
            <a:tailEnd len="med" w="med" type="none"/>
          </a:ln>
        </p:spPr>
      </p:cxnSp>
      <p:sp>
        <p:nvSpPr>
          <p:cNvPr id="570" name="Google Shape;570;p43"/>
          <p:cNvSpPr/>
          <p:nvPr/>
        </p:nvSpPr>
        <p:spPr>
          <a:xfrm>
            <a:off x="3619275" y="1327075"/>
            <a:ext cx="16572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Tìm kiếm</a:t>
            </a:r>
            <a:r>
              <a:rPr lang="en-GB" sz="1600">
                <a:latin typeface="Times New Roman"/>
                <a:ea typeface="Times New Roman"/>
                <a:cs typeface="Times New Roman"/>
                <a:sym typeface="Times New Roman"/>
              </a:rPr>
              <a:t> sản phẩm</a:t>
            </a:r>
            <a:endParaRPr sz="1600">
              <a:latin typeface="Times New Roman"/>
              <a:ea typeface="Times New Roman"/>
              <a:cs typeface="Times New Roman"/>
              <a:sym typeface="Times New Roman"/>
            </a:endParaRPr>
          </a:p>
        </p:txBody>
      </p:sp>
      <p:sp>
        <p:nvSpPr>
          <p:cNvPr id="571" name="Google Shape;571;p43"/>
          <p:cNvSpPr/>
          <p:nvPr/>
        </p:nvSpPr>
        <p:spPr>
          <a:xfrm>
            <a:off x="3543075" y="3003475"/>
            <a:ext cx="17514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Xem thông tin</a:t>
            </a:r>
            <a:r>
              <a:rPr lang="en-GB" sz="1600">
                <a:latin typeface="Times New Roman"/>
                <a:ea typeface="Times New Roman"/>
                <a:cs typeface="Times New Roman"/>
                <a:sym typeface="Times New Roman"/>
              </a:rPr>
              <a:t> sản phẩm</a:t>
            </a:r>
            <a:endParaRPr sz="1600">
              <a:latin typeface="Times New Roman"/>
              <a:ea typeface="Times New Roman"/>
              <a:cs typeface="Times New Roman"/>
              <a:sym typeface="Times New Roman"/>
            </a:endParaRPr>
          </a:p>
        </p:txBody>
      </p:sp>
      <p:sp>
        <p:nvSpPr>
          <p:cNvPr id="572" name="Google Shape;572;p43"/>
          <p:cNvSpPr/>
          <p:nvPr/>
        </p:nvSpPr>
        <p:spPr>
          <a:xfrm>
            <a:off x="3619275" y="4222675"/>
            <a:ext cx="17514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Thêm sản phẩm</a:t>
            </a:r>
            <a:endParaRPr sz="1600">
              <a:latin typeface="Times New Roman"/>
              <a:ea typeface="Times New Roman"/>
              <a:cs typeface="Times New Roman"/>
              <a:sym typeface="Times New Roman"/>
            </a:endParaRPr>
          </a:p>
        </p:txBody>
      </p:sp>
      <p:sp>
        <p:nvSpPr>
          <p:cNvPr id="573" name="Google Shape;573;p43"/>
          <p:cNvSpPr/>
          <p:nvPr/>
        </p:nvSpPr>
        <p:spPr>
          <a:xfrm>
            <a:off x="5864547" y="1972147"/>
            <a:ext cx="17514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Xóa </a:t>
            </a:r>
            <a:r>
              <a:rPr lang="en-GB" sz="1600">
                <a:latin typeface="Times New Roman"/>
                <a:ea typeface="Times New Roman"/>
                <a:cs typeface="Times New Roman"/>
                <a:sym typeface="Times New Roman"/>
              </a:rPr>
              <a:t>sản phẩm</a:t>
            </a:r>
            <a:endParaRPr sz="1600">
              <a:latin typeface="Times New Roman"/>
              <a:ea typeface="Times New Roman"/>
              <a:cs typeface="Times New Roman"/>
              <a:sym typeface="Times New Roman"/>
            </a:endParaRPr>
          </a:p>
        </p:txBody>
      </p:sp>
      <p:sp>
        <p:nvSpPr>
          <p:cNvPr id="574" name="Google Shape;574;p43"/>
          <p:cNvSpPr/>
          <p:nvPr/>
        </p:nvSpPr>
        <p:spPr>
          <a:xfrm>
            <a:off x="6438675" y="3653803"/>
            <a:ext cx="17514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Chỉnh sửa thông tin </a:t>
            </a:r>
            <a:r>
              <a:rPr lang="en-GB" sz="1600">
                <a:latin typeface="Times New Roman"/>
                <a:ea typeface="Times New Roman"/>
                <a:cs typeface="Times New Roman"/>
                <a:sym typeface="Times New Roman"/>
              </a:rPr>
              <a:t> sản phẩm</a:t>
            </a:r>
            <a:endParaRPr sz="1600">
              <a:latin typeface="Times New Roman"/>
              <a:ea typeface="Times New Roman"/>
              <a:cs typeface="Times New Roman"/>
              <a:sym typeface="Times New Roman"/>
            </a:endParaRPr>
          </a:p>
        </p:txBody>
      </p:sp>
      <p:cxnSp>
        <p:nvCxnSpPr>
          <p:cNvPr id="575" name="Google Shape;575;p43"/>
          <p:cNvCxnSpPr>
            <a:stCxn id="570" idx="2"/>
            <a:endCxn id="568" idx="0"/>
          </p:cNvCxnSpPr>
          <p:nvPr/>
        </p:nvCxnSpPr>
        <p:spPr>
          <a:xfrm flipH="1">
            <a:off x="2542875" y="1708825"/>
            <a:ext cx="1076400" cy="532800"/>
          </a:xfrm>
          <a:prstGeom prst="straightConnector1">
            <a:avLst/>
          </a:prstGeom>
          <a:noFill/>
          <a:ln cap="flat" cmpd="sng" w="9525">
            <a:solidFill>
              <a:schemeClr val="dk2"/>
            </a:solidFill>
            <a:prstDash val="dash"/>
            <a:round/>
            <a:headEnd len="med" w="med" type="none"/>
            <a:tailEnd len="med" w="med" type="triangle"/>
          </a:ln>
        </p:spPr>
      </p:cxnSp>
      <p:cxnSp>
        <p:nvCxnSpPr>
          <p:cNvPr id="576" name="Google Shape;576;p43"/>
          <p:cNvCxnSpPr>
            <a:stCxn id="571" idx="1"/>
            <a:endCxn id="568" idx="5"/>
          </p:cNvCxnSpPr>
          <p:nvPr/>
        </p:nvCxnSpPr>
        <p:spPr>
          <a:xfrm rot="10800000">
            <a:off x="3128762" y="2893287"/>
            <a:ext cx="670800" cy="222000"/>
          </a:xfrm>
          <a:prstGeom prst="straightConnector1">
            <a:avLst/>
          </a:prstGeom>
          <a:noFill/>
          <a:ln cap="flat" cmpd="sng" w="9525">
            <a:solidFill>
              <a:schemeClr val="dk2"/>
            </a:solidFill>
            <a:prstDash val="dash"/>
            <a:round/>
            <a:headEnd len="med" w="med" type="none"/>
            <a:tailEnd len="med" w="med" type="triangle"/>
          </a:ln>
        </p:spPr>
      </p:cxnSp>
      <p:cxnSp>
        <p:nvCxnSpPr>
          <p:cNvPr id="577" name="Google Shape;577;p43"/>
          <p:cNvCxnSpPr>
            <a:stCxn id="572" idx="1"/>
            <a:endCxn id="568" idx="4"/>
          </p:cNvCxnSpPr>
          <p:nvPr/>
        </p:nvCxnSpPr>
        <p:spPr>
          <a:xfrm rot="10800000">
            <a:off x="2542862" y="3004887"/>
            <a:ext cx="1332900" cy="1329600"/>
          </a:xfrm>
          <a:prstGeom prst="straightConnector1">
            <a:avLst/>
          </a:prstGeom>
          <a:noFill/>
          <a:ln cap="flat" cmpd="sng" w="9525">
            <a:solidFill>
              <a:schemeClr val="dk2"/>
            </a:solidFill>
            <a:prstDash val="dash"/>
            <a:round/>
            <a:headEnd len="med" w="med" type="none"/>
            <a:tailEnd len="med" w="med" type="triangle"/>
          </a:ln>
        </p:spPr>
      </p:cxnSp>
      <p:cxnSp>
        <p:nvCxnSpPr>
          <p:cNvPr id="578" name="Google Shape;578;p43"/>
          <p:cNvCxnSpPr>
            <a:stCxn id="573" idx="2"/>
            <a:endCxn id="571" idx="7"/>
          </p:cNvCxnSpPr>
          <p:nvPr/>
        </p:nvCxnSpPr>
        <p:spPr>
          <a:xfrm flipH="1">
            <a:off x="5038047" y="2353897"/>
            <a:ext cx="826500" cy="761400"/>
          </a:xfrm>
          <a:prstGeom prst="straightConnector1">
            <a:avLst/>
          </a:prstGeom>
          <a:noFill/>
          <a:ln cap="flat" cmpd="sng" w="9525">
            <a:solidFill>
              <a:schemeClr val="dk2"/>
            </a:solidFill>
            <a:prstDash val="dash"/>
            <a:round/>
            <a:headEnd len="med" w="med" type="none"/>
            <a:tailEnd len="med" w="med" type="triangle"/>
          </a:ln>
        </p:spPr>
      </p:cxnSp>
      <p:cxnSp>
        <p:nvCxnSpPr>
          <p:cNvPr id="579" name="Google Shape;579;p43"/>
          <p:cNvCxnSpPr>
            <a:stCxn id="574" idx="2"/>
            <a:endCxn id="571" idx="5"/>
          </p:cNvCxnSpPr>
          <p:nvPr/>
        </p:nvCxnSpPr>
        <p:spPr>
          <a:xfrm rot="10800000">
            <a:off x="5037975" y="3655153"/>
            <a:ext cx="1400700" cy="380400"/>
          </a:xfrm>
          <a:prstGeom prst="straightConnector1">
            <a:avLst/>
          </a:prstGeom>
          <a:noFill/>
          <a:ln cap="flat" cmpd="sng" w="9525">
            <a:solidFill>
              <a:schemeClr val="dk2"/>
            </a:solidFill>
            <a:prstDash val="dash"/>
            <a:round/>
            <a:headEnd len="med" w="med" type="none"/>
            <a:tailEnd len="med" w="med" type="triangle"/>
          </a:ln>
        </p:spPr>
      </p:cxnSp>
      <p:sp>
        <p:nvSpPr>
          <p:cNvPr id="580" name="Google Shape;580;p43"/>
          <p:cNvSpPr txBox="1"/>
          <p:nvPr/>
        </p:nvSpPr>
        <p:spPr>
          <a:xfrm rot="-1448710">
            <a:off x="2217395" y="1643049"/>
            <a:ext cx="1442611" cy="358673"/>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&lt;&lt;extend&gt;&gt;</a:t>
            </a:r>
            <a:endParaRPr sz="1600">
              <a:solidFill>
                <a:schemeClr val="dk2"/>
              </a:solidFill>
              <a:latin typeface="Times New Roman"/>
              <a:ea typeface="Times New Roman"/>
              <a:cs typeface="Times New Roman"/>
              <a:sym typeface="Times New Roman"/>
            </a:endParaRPr>
          </a:p>
        </p:txBody>
      </p:sp>
      <p:sp>
        <p:nvSpPr>
          <p:cNvPr id="581" name="Google Shape;581;p43"/>
          <p:cNvSpPr txBox="1"/>
          <p:nvPr/>
        </p:nvSpPr>
        <p:spPr>
          <a:xfrm rot="-503680">
            <a:off x="3208066" y="2557506"/>
            <a:ext cx="1442556" cy="35876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&lt;&lt;extend&gt;&gt;</a:t>
            </a:r>
            <a:endParaRPr sz="1600">
              <a:solidFill>
                <a:schemeClr val="dk2"/>
              </a:solidFill>
              <a:latin typeface="Times New Roman"/>
              <a:ea typeface="Times New Roman"/>
              <a:cs typeface="Times New Roman"/>
              <a:sym typeface="Times New Roman"/>
            </a:endParaRPr>
          </a:p>
        </p:txBody>
      </p:sp>
      <p:sp>
        <p:nvSpPr>
          <p:cNvPr id="582" name="Google Shape;582;p43"/>
          <p:cNvSpPr txBox="1"/>
          <p:nvPr/>
        </p:nvSpPr>
        <p:spPr>
          <a:xfrm rot="2448020">
            <a:off x="2750942" y="3395651"/>
            <a:ext cx="1442553" cy="35862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&lt;&lt;extend&gt;&gt;</a:t>
            </a:r>
            <a:endParaRPr sz="1600">
              <a:solidFill>
                <a:schemeClr val="dk2"/>
              </a:solidFill>
              <a:latin typeface="Times New Roman"/>
              <a:ea typeface="Times New Roman"/>
              <a:cs typeface="Times New Roman"/>
              <a:sym typeface="Times New Roman"/>
            </a:endParaRPr>
          </a:p>
        </p:txBody>
      </p:sp>
      <p:sp>
        <p:nvSpPr>
          <p:cNvPr id="583" name="Google Shape;583;p43"/>
          <p:cNvSpPr txBox="1"/>
          <p:nvPr/>
        </p:nvSpPr>
        <p:spPr>
          <a:xfrm rot="-2525329">
            <a:off x="4764114" y="2412080"/>
            <a:ext cx="1194572" cy="358543"/>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&lt;&lt;extend&gt;&gt;</a:t>
            </a:r>
            <a:endParaRPr sz="1600">
              <a:solidFill>
                <a:schemeClr val="dk2"/>
              </a:solidFill>
              <a:latin typeface="Times New Roman"/>
              <a:ea typeface="Times New Roman"/>
              <a:cs typeface="Times New Roman"/>
              <a:sym typeface="Times New Roman"/>
            </a:endParaRPr>
          </a:p>
        </p:txBody>
      </p:sp>
      <p:sp>
        <p:nvSpPr>
          <p:cNvPr id="584" name="Google Shape;584;p43"/>
          <p:cNvSpPr txBox="1"/>
          <p:nvPr/>
        </p:nvSpPr>
        <p:spPr>
          <a:xfrm rot="814082">
            <a:off x="5113086" y="3776696"/>
            <a:ext cx="1442456" cy="358648"/>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&lt;&lt;extend&gt;&gt;</a:t>
            </a:r>
            <a:endParaRPr sz="1600">
              <a:solidFill>
                <a:schemeClr val="dk2"/>
              </a:solidFill>
              <a:latin typeface="Times New Roman"/>
              <a:ea typeface="Times New Roman"/>
              <a:cs typeface="Times New Roman"/>
              <a:sym typeface="Times New Roman"/>
            </a:endParaRPr>
          </a:p>
        </p:txBody>
      </p:sp>
      <p:sp>
        <p:nvSpPr>
          <p:cNvPr id="585" name="Google Shape;585;p43"/>
          <p:cNvSpPr/>
          <p:nvPr/>
        </p:nvSpPr>
        <p:spPr>
          <a:xfrm>
            <a:off x="6144375" y="746375"/>
            <a:ext cx="16572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Nhập từ khóa</a:t>
            </a:r>
            <a:endParaRPr sz="1600">
              <a:latin typeface="Times New Roman"/>
              <a:ea typeface="Times New Roman"/>
              <a:cs typeface="Times New Roman"/>
              <a:sym typeface="Times New Roman"/>
            </a:endParaRPr>
          </a:p>
        </p:txBody>
      </p:sp>
      <p:sp>
        <p:nvSpPr>
          <p:cNvPr id="586" name="Google Shape;586;p43"/>
          <p:cNvSpPr/>
          <p:nvPr/>
        </p:nvSpPr>
        <p:spPr>
          <a:xfrm>
            <a:off x="7200675" y="2774875"/>
            <a:ext cx="17514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Xác nhận xóa</a:t>
            </a:r>
            <a:endParaRPr sz="1600">
              <a:latin typeface="Times New Roman"/>
              <a:ea typeface="Times New Roman"/>
              <a:cs typeface="Times New Roman"/>
              <a:sym typeface="Times New Roman"/>
            </a:endParaRPr>
          </a:p>
        </p:txBody>
      </p:sp>
      <p:cxnSp>
        <p:nvCxnSpPr>
          <p:cNvPr id="587" name="Google Shape;587;p43"/>
          <p:cNvCxnSpPr>
            <a:stCxn id="586" idx="0"/>
            <a:endCxn id="573" idx="5"/>
          </p:cNvCxnSpPr>
          <p:nvPr/>
        </p:nvCxnSpPr>
        <p:spPr>
          <a:xfrm rot="10800000">
            <a:off x="7359375" y="2623975"/>
            <a:ext cx="717000" cy="150900"/>
          </a:xfrm>
          <a:prstGeom prst="straightConnector1">
            <a:avLst/>
          </a:prstGeom>
          <a:noFill/>
          <a:ln cap="flat" cmpd="sng" w="9525">
            <a:solidFill>
              <a:schemeClr val="dk2"/>
            </a:solidFill>
            <a:prstDash val="dash"/>
            <a:round/>
            <a:headEnd len="med" w="med" type="none"/>
            <a:tailEnd len="med" w="med" type="triangle"/>
          </a:ln>
        </p:spPr>
      </p:cxnSp>
      <p:sp>
        <p:nvSpPr>
          <p:cNvPr id="588" name="Google Shape;588;p43"/>
          <p:cNvSpPr txBox="1"/>
          <p:nvPr/>
        </p:nvSpPr>
        <p:spPr>
          <a:xfrm rot="652349">
            <a:off x="7507237" y="2335873"/>
            <a:ext cx="1194441" cy="35866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&lt;&lt;extend&gt;&gt;</a:t>
            </a:r>
            <a:endParaRPr sz="1600">
              <a:solidFill>
                <a:schemeClr val="dk2"/>
              </a:solidFill>
              <a:latin typeface="Times New Roman"/>
              <a:ea typeface="Times New Roman"/>
              <a:cs typeface="Times New Roman"/>
              <a:sym typeface="Times New Roman"/>
            </a:endParaRPr>
          </a:p>
        </p:txBody>
      </p:sp>
      <p:cxnSp>
        <p:nvCxnSpPr>
          <p:cNvPr id="589" name="Google Shape;589;p43"/>
          <p:cNvCxnSpPr>
            <a:stCxn id="585" idx="3"/>
            <a:endCxn id="570" idx="7"/>
          </p:cNvCxnSpPr>
          <p:nvPr/>
        </p:nvCxnSpPr>
        <p:spPr>
          <a:xfrm flipH="1">
            <a:off x="5033766" y="1398063"/>
            <a:ext cx="1353300" cy="40800"/>
          </a:xfrm>
          <a:prstGeom prst="straightConnector1">
            <a:avLst/>
          </a:prstGeom>
          <a:noFill/>
          <a:ln cap="flat" cmpd="sng" w="9525">
            <a:solidFill>
              <a:schemeClr val="dk2"/>
            </a:solidFill>
            <a:prstDash val="dash"/>
            <a:round/>
            <a:headEnd len="med" w="med" type="none"/>
            <a:tailEnd len="med" w="med" type="triangle"/>
          </a:ln>
        </p:spPr>
      </p:cxnSp>
      <p:sp>
        <p:nvSpPr>
          <p:cNvPr id="590" name="Google Shape;590;p43"/>
          <p:cNvSpPr txBox="1"/>
          <p:nvPr/>
        </p:nvSpPr>
        <p:spPr>
          <a:xfrm rot="-266174">
            <a:off x="4992633" y="1040498"/>
            <a:ext cx="1194579" cy="35866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&lt;&lt;extend&gt;&gt;</a:t>
            </a:r>
            <a:endParaRPr sz="1600">
              <a:solidFill>
                <a:schemeClr val="dk2"/>
              </a:solidFill>
              <a:latin typeface="Times New Roman"/>
              <a:ea typeface="Times New Roman"/>
              <a:cs typeface="Times New Roman"/>
              <a:sym typeface="Times New Roman"/>
            </a:endParaRPr>
          </a:p>
        </p:txBody>
      </p:sp>
      <p:sp>
        <p:nvSpPr>
          <p:cNvPr id="591" name="Google Shape;591;p43"/>
          <p:cNvSpPr txBox="1"/>
          <p:nvPr/>
        </p:nvSpPr>
        <p:spPr>
          <a:xfrm>
            <a:off x="3667850" y="5219175"/>
            <a:ext cx="4859700" cy="72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latin typeface="Times New Roman"/>
                <a:ea typeface="Times New Roman"/>
                <a:cs typeface="Times New Roman"/>
                <a:sym typeface="Times New Roman"/>
              </a:rPr>
              <a:t>Nhiều mức, vụn vỡ, không rõ giá trị!</a:t>
            </a:r>
            <a:endParaRPr i="1" sz="2400">
              <a:solidFill>
                <a:schemeClr val="dk2"/>
              </a:solidFill>
              <a:latin typeface="Times New Roman"/>
              <a:ea typeface="Times New Roman"/>
              <a:cs typeface="Times New Roman"/>
              <a:sym typeface="Times New Roman"/>
            </a:endParaRPr>
          </a:p>
        </p:txBody>
      </p:sp>
      <p:sp>
        <p:nvSpPr>
          <p:cNvPr id="592" name="Google Shape;592;p43"/>
          <p:cNvSpPr txBox="1"/>
          <p:nvPr/>
        </p:nvSpPr>
        <p:spPr>
          <a:xfrm>
            <a:off x="260475" y="5764975"/>
            <a:ext cx="8435400" cy="83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rgbClr val="B45F06"/>
                </a:solidFill>
                <a:latin typeface="Times New Roman"/>
                <a:ea typeface="Times New Roman"/>
                <a:cs typeface="Times New Roman"/>
                <a:sym typeface="Times New Roman"/>
              </a:rPr>
              <a:t>!Không nên lạm dụng việc phân rã ca sử dụng thành quá nhiều hoạt động nhỏ.</a:t>
            </a:r>
            <a:endParaRPr i="1" sz="2400">
              <a:solidFill>
                <a:srgbClr val="B45F06"/>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Điều chỉnh</a:t>
            </a:r>
            <a:endParaRPr baseline="-25000"/>
          </a:p>
        </p:txBody>
      </p:sp>
      <p:sp>
        <p:nvSpPr>
          <p:cNvPr id="598" name="Google Shape;598;p4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99" name="Google Shape;599;p44"/>
          <p:cNvSpPr/>
          <p:nvPr/>
        </p:nvSpPr>
        <p:spPr>
          <a:xfrm>
            <a:off x="630741" y="2487050"/>
            <a:ext cx="153600" cy="1560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600" name="Google Shape;600;p44"/>
          <p:cNvCxnSpPr/>
          <p:nvPr/>
        </p:nvCxnSpPr>
        <p:spPr>
          <a:xfrm>
            <a:off x="707541" y="2643050"/>
            <a:ext cx="0" cy="305700"/>
          </a:xfrm>
          <a:prstGeom prst="straightConnector1">
            <a:avLst/>
          </a:prstGeom>
          <a:noFill/>
          <a:ln cap="flat" cmpd="sng" w="9525">
            <a:solidFill>
              <a:schemeClr val="dk2"/>
            </a:solidFill>
            <a:prstDash val="solid"/>
            <a:round/>
            <a:headEnd len="med" w="med" type="none"/>
            <a:tailEnd len="med" w="med" type="none"/>
          </a:ln>
        </p:spPr>
      </p:cxnSp>
      <p:cxnSp>
        <p:nvCxnSpPr>
          <p:cNvPr id="601" name="Google Shape;601;p44"/>
          <p:cNvCxnSpPr/>
          <p:nvPr/>
        </p:nvCxnSpPr>
        <p:spPr>
          <a:xfrm>
            <a:off x="707632" y="2935952"/>
            <a:ext cx="198600" cy="156000"/>
          </a:xfrm>
          <a:prstGeom prst="straightConnector1">
            <a:avLst/>
          </a:prstGeom>
          <a:noFill/>
          <a:ln cap="flat" cmpd="sng" w="9525">
            <a:solidFill>
              <a:schemeClr val="dk2"/>
            </a:solidFill>
            <a:prstDash val="solid"/>
            <a:round/>
            <a:headEnd len="med" w="med" type="none"/>
            <a:tailEnd len="med" w="med" type="none"/>
          </a:ln>
        </p:spPr>
      </p:cxnSp>
      <p:cxnSp>
        <p:nvCxnSpPr>
          <p:cNvPr id="602" name="Google Shape;602;p44"/>
          <p:cNvCxnSpPr/>
          <p:nvPr/>
        </p:nvCxnSpPr>
        <p:spPr>
          <a:xfrm>
            <a:off x="707632" y="2712156"/>
            <a:ext cx="198600" cy="156000"/>
          </a:xfrm>
          <a:prstGeom prst="straightConnector1">
            <a:avLst/>
          </a:prstGeom>
          <a:noFill/>
          <a:ln cap="flat" cmpd="sng" w="9525">
            <a:solidFill>
              <a:schemeClr val="dk2"/>
            </a:solidFill>
            <a:prstDash val="solid"/>
            <a:round/>
            <a:headEnd len="med" w="med" type="none"/>
            <a:tailEnd len="med" w="med" type="none"/>
          </a:ln>
        </p:spPr>
      </p:cxnSp>
      <p:cxnSp>
        <p:nvCxnSpPr>
          <p:cNvPr id="603" name="Google Shape;603;p44"/>
          <p:cNvCxnSpPr/>
          <p:nvPr/>
        </p:nvCxnSpPr>
        <p:spPr>
          <a:xfrm flipH="1">
            <a:off x="511115" y="2935952"/>
            <a:ext cx="198600" cy="156000"/>
          </a:xfrm>
          <a:prstGeom prst="straightConnector1">
            <a:avLst/>
          </a:prstGeom>
          <a:noFill/>
          <a:ln cap="flat" cmpd="sng" w="9525">
            <a:solidFill>
              <a:schemeClr val="dk2"/>
            </a:solidFill>
            <a:prstDash val="solid"/>
            <a:round/>
            <a:headEnd len="med" w="med" type="none"/>
            <a:tailEnd len="med" w="med" type="none"/>
          </a:ln>
        </p:spPr>
      </p:cxnSp>
      <p:cxnSp>
        <p:nvCxnSpPr>
          <p:cNvPr id="604" name="Google Shape;604;p44"/>
          <p:cNvCxnSpPr/>
          <p:nvPr/>
        </p:nvCxnSpPr>
        <p:spPr>
          <a:xfrm flipH="1">
            <a:off x="511115" y="2712156"/>
            <a:ext cx="198600" cy="156000"/>
          </a:xfrm>
          <a:prstGeom prst="straightConnector1">
            <a:avLst/>
          </a:prstGeom>
          <a:noFill/>
          <a:ln cap="flat" cmpd="sng" w="9525">
            <a:solidFill>
              <a:schemeClr val="dk2"/>
            </a:solidFill>
            <a:prstDash val="solid"/>
            <a:round/>
            <a:headEnd len="med" w="med" type="none"/>
            <a:tailEnd len="med" w="med" type="none"/>
          </a:ln>
        </p:spPr>
      </p:cxnSp>
      <p:sp>
        <p:nvSpPr>
          <p:cNvPr id="605" name="Google Shape;605;p44"/>
          <p:cNvSpPr txBox="1"/>
          <p:nvPr/>
        </p:nvSpPr>
        <p:spPr>
          <a:xfrm>
            <a:off x="150215" y="2998375"/>
            <a:ext cx="12516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Người bán</a:t>
            </a:r>
            <a:endParaRPr sz="1600">
              <a:solidFill>
                <a:schemeClr val="dk2"/>
              </a:solidFill>
              <a:latin typeface="Times New Roman"/>
              <a:ea typeface="Times New Roman"/>
              <a:cs typeface="Times New Roman"/>
              <a:sym typeface="Times New Roman"/>
            </a:endParaRPr>
          </a:p>
        </p:txBody>
      </p:sp>
      <p:sp>
        <p:nvSpPr>
          <p:cNvPr id="606" name="Google Shape;606;p44"/>
          <p:cNvSpPr/>
          <p:nvPr/>
        </p:nvSpPr>
        <p:spPr>
          <a:xfrm>
            <a:off x="1714275" y="2241475"/>
            <a:ext cx="16572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Quản lý sản phẩm</a:t>
            </a:r>
            <a:endParaRPr sz="1600">
              <a:latin typeface="Times New Roman"/>
              <a:ea typeface="Times New Roman"/>
              <a:cs typeface="Times New Roman"/>
              <a:sym typeface="Times New Roman"/>
            </a:endParaRPr>
          </a:p>
        </p:txBody>
      </p:sp>
      <p:cxnSp>
        <p:nvCxnSpPr>
          <p:cNvPr id="607" name="Google Shape;607;p44"/>
          <p:cNvCxnSpPr>
            <a:endCxn id="606" idx="2"/>
          </p:cNvCxnSpPr>
          <p:nvPr/>
        </p:nvCxnSpPr>
        <p:spPr>
          <a:xfrm flipH="1" rot="10800000">
            <a:off x="948075" y="2623225"/>
            <a:ext cx="766200" cy="114000"/>
          </a:xfrm>
          <a:prstGeom prst="straightConnector1">
            <a:avLst/>
          </a:prstGeom>
          <a:noFill/>
          <a:ln cap="flat" cmpd="sng" w="9525">
            <a:solidFill>
              <a:schemeClr val="dk2"/>
            </a:solidFill>
            <a:prstDash val="solid"/>
            <a:round/>
            <a:headEnd len="med" w="med" type="none"/>
            <a:tailEnd len="med" w="med" type="none"/>
          </a:ln>
        </p:spPr>
      </p:cxnSp>
      <p:sp>
        <p:nvSpPr>
          <p:cNvPr id="608" name="Google Shape;608;p44"/>
          <p:cNvSpPr/>
          <p:nvPr/>
        </p:nvSpPr>
        <p:spPr>
          <a:xfrm>
            <a:off x="3619275" y="1327075"/>
            <a:ext cx="16572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Tìm kiếm sản phẩm</a:t>
            </a:r>
            <a:endParaRPr sz="1600">
              <a:latin typeface="Times New Roman"/>
              <a:ea typeface="Times New Roman"/>
              <a:cs typeface="Times New Roman"/>
              <a:sym typeface="Times New Roman"/>
            </a:endParaRPr>
          </a:p>
        </p:txBody>
      </p:sp>
      <p:sp>
        <p:nvSpPr>
          <p:cNvPr id="609" name="Google Shape;609;p44"/>
          <p:cNvSpPr/>
          <p:nvPr/>
        </p:nvSpPr>
        <p:spPr>
          <a:xfrm>
            <a:off x="3543075" y="3003475"/>
            <a:ext cx="17514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Xem thông tin sản phẩm</a:t>
            </a:r>
            <a:endParaRPr sz="1600">
              <a:latin typeface="Times New Roman"/>
              <a:ea typeface="Times New Roman"/>
              <a:cs typeface="Times New Roman"/>
              <a:sym typeface="Times New Roman"/>
            </a:endParaRPr>
          </a:p>
        </p:txBody>
      </p:sp>
      <p:sp>
        <p:nvSpPr>
          <p:cNvPr id="610" name="Google Shape;610;p44"/>
          <p:cNvSpPr/>
          <p:nvPr/>
        </p:nvSpPr>
        <p:spPr>
          <a:xfrm>
            <a:off x="3771675" y="4222675"/>
            <a:ext cx="17514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Thêm sản phẩm</a:t>
            </a:r>
            <a:endParaRPr sz="1600">
              <a:latin typeface="Times New Roman"/>
              <a:ea typeface="Times New Roman"/>
              <a:cs typeface="Times New Roman"/>
              <a:sym typeface="Times New Roman"/>
            </a:endParaRPr>
          </a:p>
        </p:txBody>
      </p:sp>
      <p:sp>
        <p:nvSpPr>
          <p:cNvPr id="611" name="Google Shape;611;p44"/>
          <p:cNvSpPr/>
          <p:nvPr/>
        </p:nvSpPr>
        <p:spPr>
          <a:xfrm>
            <a:off x="5864547" y="1972147"/>
            <a:ext cx="17514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Xóa sản phẩm</a:t>
            </a:r>
            <a:endParaRPr sz="1600">
              <a:latin typeface="Times New Roman"/>
              <a:ea typeface="Times New Roman"/>
              <a:cs typeface="Times New Roman"/>
              <a:sym typeface="Times New Roman"/>
            </a:endParaRPr>
          </a:p>
        </p:txBody>
      </p:sp>
      <p:sp>
        <p:nvSpPr>
          <p:cNvPr id="612" name="Google Shape;612;p44"/>
          <p:cNvSpPr/>
          <p:nvPr/>
        </p:nvSpPr>
        <p:spPr>
          <a:xfrm>
            <a:off x="6438675" y="3653803"/>
            <a:ext cx="17514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Chỉnh sửa thông tin  sản phẩm</a:t>
            </a:r>
            <a:endParaRPr sz="1600">
              <a:latin typeface="Times New Roman"/>
              <a:ea typeface="Times New Roman"/>
              <a:cs typeface="Times New Roman"/>
              <a:sym typeface="Times New Roman"/>
            </a:endParaRPr>
          </a:p>
        </p:txBody>
      </p:sp>
      <p:cxnSp>
        <p:nvCxnSpPr>
          <p:cNvPr id="613" name="Google Shape;613;p44"/>
          <p:cNvCxnSpPr>
            <a:stCxn id="608" idx="2"/>
            <a:endCxn id="606" idx="0"/>
          </p:cNvCxnSpPr>
          <p:nvPr/>
        </p:nvCxnSpPr>
        <p:spPr>
          <a:xfrm flipH="1">
            <a:off x="2542875" y="1708825"/>
            <a:ext cx="1076400" cy="532800"/>
          </a:xfrm>
          <a:prstGeom prst="straightConnector1">
            <a:avLst/>
          </a:prstGeom>
          <a:noFill/>
          <a:ln cap="flat" cmpd="sng" w="9525">
            <a:solidFill>
              <a:schemeClr val="dk2"/>
            </a:solidFill>
            <a:prstDash val="dash"/>
            <a:round/>
            <a:headEnd len="med" w="med" type="none"/>
            <a:tailEnd len="med" w="med" type="triangle"/>
          </a:ln>
        </p:spPr>
      </p:cxnSp>
      <p:cxnSp>
        <p:nvCxnSpPr>
          <p:cNvPr id="614" name="Google Shape;614;p44"/>
          <p:cNvCxnSpPr>
            <a:stCxn id="609" idx="1"/>
            <a:endCxn id="606" idx="5"/>
          </p:cNvCxnSpPr>
          <p:nvPr/>
        </p:nvCxnSpPr>
        <p:spPr>
          <a:xfrm rot="10800000">
            <a:off x="3128762" y="2893287"/>
            <a:ext cx="670800" cy="222000"/>
          </a:xfrm>
          <a:prstGeom prst="straightConnector1">
            <a:avLst/>
          </a:prstGeom>
          <a:noFill/>
          <a:ln cap="flat" cmpd="sng" w="9525">
            <a:solidFill>
              <a:schemeClr val="dk2"/>
            </a:solidFill>
            <a:prstDash val="dash"/>
            <a:round/>
            <a:headEnd len="med" w="med" type="none"/>
            <a:tailEnd len="med" w="med" type="triangle"/>
          </a:ln>
        </p:spPr>
      </p:cxnSp>
      <p:cxnSp>
        <p:nvCxnSpPr>
          <p:cNvPr id="615" name="Google Shape;615;p44"/>
          <p:cNvCxnSpPr>
            <a:stCxn id="610" idx="1"/>
            <a:endCxn id="606" idx="4"/>
          </p:cNvCxnSpPr>
          <p:nvPr/>
        </p:nvCxnSpPr>
        <p:spPr>
          <a:xfrm rot="10800000">
            <a:off x="2542862" y="3004887"/>
            <a:ext cx="1485300" cy="1329600"/>
          </a:xfrm>
          <a:prstGeom prst="straightConnector1">
            <a:avLst/>
          </a:prstGeom>
          <a:noFill/>
          <a:ln cap="flat" cmpd="sng" w="9525">
            <a:solidFill>
              <a:schemeClr val="dk2"/>
            </a:solidFill>
            <a:prstDash val="dash"/>
            <a:round/>
            <a:headEnd len="med" w="med" type="none"/>
            <a:tailEnd len="med" w="med" type="triangle"/>
          </a:ln>
        </p:spPr>
      </p:cxnSp>
      <p:cxnSp>
        <p:nvCxnSpPr>
          <p:cNvPr id="616" name="Google Shape;616;p44"/>
          <p:cNvCxnSpPr>
            <a:stCxn id="611" idx="2"/>
            <a:endCxn id="609" idx="7"/>
          </p:cNvCxnSpPr>
          <p:nvPr/>
        </p:nvCxnSpPr>
        <p:spPr>
          <a:xfrm flipH="1">
            <a:off x="5038047" y="2353897"/>
            <a:ext cx="826500" cy="761400"/>
          </a:xfrm>
          <a:prstGeom prst="straightConnector1">
            <a:avLst/>
          </a:prstGeom>
          <a:noFill/>
          <a:ln cap="flat" cmpd="sng" w="9525">
            <a:solidFill>
              <a:schemeClr val="dk2"/>
            </a:solidFill>
            <a:prstDash val="dash"/>
            <a:round/>
            <a:headEnd len="med" w="med" type="none"/>
            <a:tailEnd len="med" w="med" type="triangle"/>
          </a:ln>
        </p:spPr>
      </p:cxnSp>
      <p:cxnSp>
        <p:nvCxnSpPr>
          <p:cNvPr id="617" name="Google Shape;617;p44"/>
          <p:cNvCxnSpPr>
            <a:stCxn id="612" idx="2"/>
            <a:endCxn id="609" idx="5"/>
          </p:cNvCxnSpPr>
          <p:nvPr/>
        </p:nvCxnSpPr>
        <p:spPr>
          <a:xfrm rot="10800000">
            <a:off x="5037975" y="3655153"/>
            <a:ext cx="1400700" cy="380400"/>
          </a:xfrm>
          <a:prstGeom prst="straightConnector1">
            <a:avLst/>
          </a:prstGeom>
          <a:noFill/>
          <a:ln cap="flat" cmpd="sng" w="9525">
            <a:solidFill>
              <a:schemeClr val="dk2"/>
            </a:solidFill>
            <a:prstDash val="dash"/>
            <a:round/>
            <a:headEnd len="med" w="med" type="none"/>
            <a:tailEnd len="med" w="med" type="triangle"/>
          </a:ln>
        </p:spPr>
      </p:cxnSp>
      <p:sp>
        <p:nvSpPr>
          <p:cNvPr id="618" name="Google Shape;618;p44"/>
          <p:cNvSpPr txBox="1"/>
          <p:nvPr/>
        </p:nvSpPr>
        <p:spPr>
          <a:xfrm rot="-1448710">
            <a:off x="2217395" y="1643049"/>
            <a:ext cx="1442611" cy="358673"/>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&lt;&lt;extend&gt;&gt;</a:t>
            </a:r>
            <a:endParaRPr sz="1600">
              <a:solidFill>
                <a:schemeClr val="dk2"/>
              </a:solidFill>
              <a:latin typeface="Times New Roman"/>
              <a:ea typeface="Times New Roman"/>
              <a:cs typeface="Times New Roman"/>
              <a:sym typeface="Times New Roman"/>
            </a:endParaRPr>
          </a:p>
        </p:txBody>
      </p:sp>
      <p:sp>
        <p:nvSpPr>
          <p:cNvPr id="619" name="Google Shape;619;p44"/>
          <p:cNvSpPr txBox="1"/>
          <p:nvPr/>
        </p:nvSpPr>
        <p:spPr>
          <a:xfrm rot="-503680">
            <a:off x="3208066" y="2557506"/>
            <a:ext cx="1442556" cy="35876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&lt;&lt;extend&gt;&gt;</a:t>
            </a:r>
            <a:endParaRPr sz="1600">
              <a:solidFill>
                <a:schemeClr val="dk2"/>
              </a:solidFill>
              <a:latin typeface="Times New Roman"/>
              <a:ea typeface="Times New Roman"/>
              <a:cs typeface="Times New Roman"/>
              <a:sym typeface="Times New Roman"/>
            </a:endParaRPr>
          </a:p>
        </p:txBody>
      </p:sp>
      <p:sp>
        <p:nvSpPr>
          <p:cNvPr id="620" name="Google Shape;620;p44"/>
          <p:cNvSpPr txBox="1"/>
          <p:nvPr/>
        </p:nvSpPr>
        <p:spPr>
          <a:xfrm rot="2448020">
            <a:off x="2750942" y="3395651"/>
            <a:ext cx="1442553" cy="35862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&lt;&lt;extend&gt;&gt;</a:t>
            </a:r>
            <a:endParaRPr sz="1600">
              <a:solidFill>
                <a:schemeClr val="dk2"/>
              </a:solidFill>
              <a:latin typeface="Times New Roman"/>
              <a:ea typeface="Times New Roman"/>
              <a:cs typeface="Times New Roman"/>
              <a:sym typeface="Times New Roman"/>
            </a:endParaRPr>
          </a:p>
        </p:txBody>
      </p:sp>
      <p:sp>
        <p:nvSpPr>
          <p:cNvPr id="621" name="Google Shape;621;p44"/>
          <p:cNvSpPr txBox="1"/>
          <p:nvPr/>
        </p:nvSpPr>
        <p:spPr>
          <a:xfrm rot="-2525329">
            <a:off x="4764114" y="2412080"/>
            <a:ext cx="1194572" cy="358543"/>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&lt;&lt;extend&gt;&gt;</a:t>
            </a:r>
            <a:endParaRPr sz="1600">
              <a:solidFill>
                <a:schemeClr val="dk2"/>
              </a:solidFill>
              <a:latin typeface="Times New Roman"/>
              <a:ea typeface="Times New Roman"/>
              <a:cs typeface="Times New Roman"/>
              <a:sym typeface="Times New Roman"/>
            </a:endParaRPr>
          </a:p>
        </p:txBody>
      </p:sp>
      <p:sp>
        <p:nvSpPr>
          <p:cNvPr id="622" name="Google Shape;622;p44"/>
          <p:cNvSpPr txBox="1"/>
          <p:nvPr/>
        </p:nvSpPr>
        <p:spPr>
          <a:xfrm rot="814082">
            <a:off x="5113086" y="3776696"/>
            <a:ext cx="1442456" cy="358648"/>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&lt;&lt;extend&gt;&gt;</a:t>
            </a:r>
            <a:endParaRPr sz="1600">
              <a:solidFill>
                <a:schemeClr val="dk2"/>
              </a:solidFill>
              <a:latin typeface="Times New Roman"/>
              <a:ea typeface="Times New Roman"/>
              <a:cs typeface="Times New Roman"/>
              <a:sym typeface="Times New Roman"/>
            </a:endParaRPr>
          </a:p>
        </p:txBody>
      </p:sp>
      <p:sp>
        <p:nvSpPr>
          <p:cNvPr id="623" name="Google Shape;623;p44"/>
          <p:cNvSpPr/>
          <p:nvPr/>
        </p:nvSpPr>
        <p:spPr>
          <a:xfrm>
            <a:off x="6144375" y="746375"/>
            <a:ext cx="16572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Nhập từ khóa</a:t>
            </a:r>
            <a:endParaRPr sz="1600">
              <a:latin typeface="Times New Roman"/>
              <a:ea typeface="Times New Roman"/>
              <a:cs typeface="Times New Roman"/>
              <a:sym typeface="Times New Roman"/>
            </a:endParaRPr>
          </a:p>
        </p:txBody>
      </p:sp>
      <p:sp>
        <p:nvSpPr>
          <p:cNvPr id="624" name="Google Shape;624;p44"/>
          <p:cNvSpPr/>
          <p:nvPr/>
        </p:nvSpPr>
        <p:spPr>
          <a:xfrm>
            <a:off x="7200675" y="2774875"/>
            <a:ext cx="17514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Xác nhận xóa</a:t>
            </a:r>
            <a:endParaRPr sz="1600">
              <a:latin typeface="Times New Roman"/>
              <a:ea typeface="Times New Roman"/>
              <a:cs typeface="Times New Roman"/>
              <a:sym typeface="Times New Roman"/>
            </a:endParaRPr>
          </a:p>
        </p:txBody>
      </p:sp>
      <p:cxnSp>
        <p:nvCxnSpPr>
          <p:cNvPr id="625" name="Google Shape;625;p44"/>
          <p:cNvCxnSpPr>
            <a:stCxn id="624" idx="0"/>
            <a:endCxn id="611" idx="5"/>
          </p:cNvCxnSpPr>
          <p:nvPr/>
        </p:nvCxnSpPr>
        <p:spPr>
          <a:xfrm rot="10800000">
            <a:off x="7359375" y="2623975"/>
            <a:ext cx="717000" cy="150900"/>
          </a:xfrm>
          <a:prstGeom prst="straightConnector1">
            <a:avLst/>
          </a:prstGeom>
          <a:noFill/>
          <a:ln cap="flat" cmpd="sng" w="9525">
            <a:solidFill>
              <a:schemeClr val="dk2"/>
            </a:solidFill>
            <a:prstDash val="dash"/>
            <a:round/>
            <a:headEnd len="med" w="med" type="none"/>
            <a:tailEnd len="med" w="med" type="triangle"/>
          </a:ln>
        </p:spPr>
      </p:cxnSp>
      <p:sp>
        <p:nvSpPr>
          <p:cNvPr id="626" name="Google Shape;626;p44"/>
          <p:cNvSpPr txBox="1"/>
          <p:nvPr/>
        </p:nvSpPr>
        <p:spPr>
          <a:xfrm rot="652349">
            <a:off x="7507237" y="2335873"/>
            <a:ext cx="1194441" cy="35866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&lt;&lt;extend&gt;&gt;</a:t>
            </a:r>
            <a:endParaRPr sz="1600">
              <a:solidFill>
                <a:schemeClr val="dk2"/>
              </a:solidFill>
              <a:latin typeface="Times New Roman"/>
              <a:ea typeface="Times New Roman"/>
              <a:cs typeface="Times New Roman"/>
              <a:sym typeface="Times New Roman"/>
            </a:endParaRPr>
          </a:p>
        </p:txBody>
      </p:sp>
      <p:cxnSp>
        <p:nvCxnSpPr>
          <p:cNvPr id="627" name="Google Shape;627;p44"/>
          <p:cNvCxnSpPr>
            <a:stCxn id="623" idx="3"/>
            <a:endCxn id="608" idx="7"/>
          </p:cNvCxnSpPr>
          <p:nvPr/>
        </p:nvCxnSpPr>
        <p:spPr>
          <a:xfrm flipH="1">
            <a:off x="5033766" y="1398063"/>
            <a:ext cx="1353300" cy="40800"/>
          </a:xfrm>
          <a:prstGeom prst="straightConnector1">
            <a:avLst/>
          </a:prstGeom>
          <a:noFill/>
          <a:ln cap="flat" cmpd="sng" w="9525">
            <a:solidFill>
              <a:schemeClr val="dk2"/>
            </a:solidFill>
            <a:prstDash val="dash"/>
            <a:round/>
            <a:headEnd len="med" w="med" type="none"/>
            <a:tailEnd len="med" w="med" type="triangle"/>
          </a:ln>
        </p:spPr>
      </p:cxnSp>
      <p:sp>
        <p:nvSpPr>
          <p:cNvPr id="628" name="Google Shape;628;p44"/>
          <p:cNvSpPr txBox="1"/>
          <p:nvPr/>
        </p:nvSpPr>
        <p:spPr>
          <a:xfrm rot="-266174">
            <a:off x="4992633" y="1040498"/>
            <a:ext cx="1194579" cy="35866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&lt;&lt;extend&gt;&gt;</a:t>
            </a:r>
            <a:endParaRPr sz="1600">
              <a:solidFill>
                <a:schemeClr val="dk2"/>
              </a:solidFill>
              <a:latin typeface="Times New Roman"/>
              <a:ea typeface="Times New Roman"/>
              <a:cs typeface="Times New Roman"/>
              <a:sym typeface="Times New Roman"/>
            </a:endParaRPr>
          </a:p>
        </p:txBody>
      </p:sp>
      <p:sp>
        <p:nvSpPr>
          <p:cNvPr id="629" name="Google Shape;629;p44"/>
          <p:cNvSpPr/>
          <p:nvPr/>
        </p:nvSpPr>
        <p:spPr>
          <a:xfrm>
            <a:off x="783141" y="5306450"/>
            <a:ext cx="153600" cy="1560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630" name="Google Shape;630;p44"/>
          <p:cNvCxnSpPr/>
          <p:nvPr/>
        </p:nvCxnSpPr>
        <p:spPr>
          <a:xfrm>
            <a:off x="859941" y="5462450"/>
            <a:ext cx="0" cy="305700"/>
          </a:xfrm>
          <a:prstGeom prst="straightConnector1">
            <a:avLst/>
          </a:prstGeom>
          <a:noFill/>
          <a:ln cap="flat" cmpd="sng" w="9525">
            <a:solidFill>
              <a:schemeClr val="dk2"/>
            </a:solidFill>
            <a:prstDash val="solid"/>
            <a:round/>
            <a:headEnd len="med" w="med" type="none"/>
            <a:tailEnd len="med" w="med" type="none"/>
          </a:ln>
        </p:spPr>
      </p:cxnSp>
      <p:cxnSp>
        <p:nvCxnSpPr>
          <p:cNvPr id="631" name="Google Shape;631;p44"/>
          <p:cNvCxnSpPr/>
          <p:nvPr/>
        </p:nvCxnSpPr>
        <p:spPr>
          <a:xfrm>
            <a:off x="860032" y="5755352"/>
            <a:ext cx="198600" cy="156000"/>
          </a:xfrm>
          <a:prstGeom prst="straightConnector1">
            <a:avLst/>
          </a:prstGeom>
          <a:noFill/>
          <a:ln cap="flat" cmpd="sng" w="9525">
            <a:solidFill>
              <a:schemeClr val="dk2"/>
            </a:solidFill>
            <a:prstDash val="solid"/>
            <a:round/>
            <a:headEnd len="med" w="med" type="none"/>
            <a:tailEnd len="med" w="med" type="none"/>
          </a:ln>
        </p:spPr>
      </p:cxnSp>
      <p:cxnSp>
        <p:nvCxnSpPr>
          <p:cNvPr id="632" name="Google Shape;632;p44"/>
          <p:cNvCxnSpPr/>
          <p:nvPr/>
        </p:nvCxnSpPr>
        <p:spPr>
          <a:xfrm>
            <a:off x="860032" y="5531556"/>
            <a:ext cx="198600" cy="156000"/>
          </a:xfrm>
          <a:prstGeom prst="straightConnector1">
            <a:avLst/>
          </a:prstGeom>
          <a:noFill/>
          <a:ln cap="flat" cmpd="sng" w="9525">
            <a:solidFill>
              <a:schemeClr val="dk2"/>
            </a:solidFill>
            <a:prstDash val="solid"/>
            <a:round/>
            <a:headEnd len="med" w="med" type="none"/>
            <a:tailEnd len="med" w="med" type="none"/>
          </a:ln>
        </p:spPr>
      </p:cxnSp>
      <p:cxnSp>
        <p:nvCxnSpPr>
          <p:cNvPr id="633" name="Google Shape;633;p44"/>
          <p:cNvCxnSpPr/>
          <p:nvPr/>
        </p:nvCxnSpPr>
        <p:spPr>
          <a:xfrm flipH="1">
            <a:off x="663515" y="5755352"/>
            <a:ext cx="198600" cy="156000"/>
          </a:xfrm>
          <a:prstGeom prst="straightConnector1">
            <a:avLst/>
          </a:prstGeom>
          <a:noFill/>
          <a:ln cap="flat" cmpd="sng" w="9525">
            <a:solidFill>
              <a:schemeClr val="dk2"/>
            </a:solidFill>
            <a:prstDash val="solid"/>
            <a:round/>
            <a:headEnd len="med" w="med" type="none"/>
            <a:tailEnd len="med" w="med" type="none"/>
          </a:ln>
        </p:spPr>
      </p:cxnSp>
      <p:cxnSp>
        <p:nvCxnSpPr>
          <p:cNvPr id="634" name="Google Shape;634;p44"/>
          <p:cNvCxnSpPr/>
          <p:nvPr/>
        </p:nvCxnSpPr>
        <p:spPr>
          <a:xfrm flipH="1">
            <a:off x="663515" y="5531556"/>
            <a:ext cx="198600" cy="156000"/>
          </a:xfrm>
          <a:prstGeom prst="straightConnector1">
            <a:avLst/>
          </a:prstGeom>
          <a:noFill/>
          <a:ln cap="flat" cmpd="sng" w="9525">
            <a:solidFill>
              <a:schemeClr val="dk2"/>
            </a:solidFill>
            <a:prstDash val="solid"/>
            <a:round/>
            <a:headEnd len="med" w="med" type="none"/>
            <a:tailEnd len="med" w="med" type="none"/>
          </a:ln>
        </p:spPr>
      </p:cxnSp>
      <p:sp>
        <p:nvSpPr>
          <p:cNvPr id="635" name="Google Shape;635;p44"/>
          <p:cNvSpPr txBox="1"/>
          <p:nvPr/>
        </p:nvSpPr>
        <p:spPr>
          <a:xfrm>
            <a:off x="302615" y="5817775"/>
            <a:ext cx="12516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Times New Roman"/>
                <a:ea typeface="Times New Roman"/>
                <a:cs typeface="Times New Roman"/>
                <a:sym typeface="Times New Roman"/>
              </a:rPr>
              <a:t>Người bán</a:t>
            </a:r>
            <a:endParaRPr sz="1600">
              <a:solidFill>
                <a:schemeClr val="dk2"/>
              </a:solidFill>
              <a:latin typeface="Times New Roman"/>
              <a:ea typeface="Times New Roman"/>
              <a:cs typeface="Times New Roman"/>
              <a:sym typeface="Times New Roman"/>
            </a:endParaRPr>
          </a:p>
        </p:txBody>
      </p:sp>
      <p:sp>
        <p:nvSpPr>
          <p:cNvPr id="636" name="Google Shape;636;p44"/>
          <p:cNvSpPr/>
          <p:nvPr/>
        </p:nvSpPr>
        <p:spPr>
          <a:xfrm>
            <a:off x="2933475" y="5365675"/>
            <a:ext cx="1657200" cy="763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Times New Roman"/>
                <a:ea typeface="Times New Roman"/>
                <a:cs typeface="Times New Roman"/>
                <a:sym typeface="Times New Roman"/>
              </a:rPr>
              <a:t>Quản lý sản phẩm</a:t>
            </a:r>
            <a:endParaRPr sz="1600">
              <a:latin typeface="Times New Roman"/>
              <a:ea typeface="Times New Roman"/>
              <a:cs typeface="Times New Roman"/>
              <a:sym typeface="Times New Roman"/>
            </a:endParaRPr>
          </a:p>
        </p:txBody>
      </p:sp>
      <p:cxnSp>
        <p:nvCxnSpPr>
          <p:cNvPr id="637" name="Google Shape;637;p44"/>
          <p:cNvCxnSpPr>
            <a:endCxn id="636" idx="2"/>
          </p:cNvCxnSpPr>
          <p:nvPr/>
        </p:nvCxnSpPr>
        <p:spPr>
          <a:xfrm flipH="1" rot="10800000">
            <a:off x="1154775" y="5747425"/>
            <a:ext cx="1778700" cy="8100"/>
          </a:xfrm>
          <a:prstGeom prst="straightConnector1">
            <a:avLst/>
          </a:prstGeom>
          <a:noFill/>
          <a:ln cap="flat" cmpd="sng" w="9525">
            <a:solidFill>
              <a:schemeClr val="dk2"/>
            </a:solidFill>
            <a:prstDash val="solid"/>
            <a:round/>
            <a:headEnd len="med" w="med" type="none"/>
            <a:tailEnd len="med" w="med" type="none"/>
          </a:ln>
        </p:spPr>
      </p:cxnSp>
      <p:sp>
        <p:nvSpPr>
          <p:cNvPr id="638" name="Google Shape;638;p44"/>
          <p:cNvSpPr/>
          <p:nvPr/>
        </p:nvSpPr>
        <p:spPr>
          <a:xfrm>
            <a:off x="2205025" y="3659975"/>
            <a:ext cx="337800" cy="7614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639" name="Google Shape;639;p44"/>
          <p:cNvSpPr txBox="1"/>
          <p:nvPr/>
        </p:nvSpPr>
        <p:spPr>
          <a:xfrm>
            <a:off x="5638800" y="5426875"/>
            <a:ext cx="2619300" cy="68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latin typeface="Times New Roman"/>
                <a:ea typeface="Times New Roman"/>
                <a:cs typeface="Times New Roman"/>
                <a:sym typeface="Times New Roman"/>
              </a:rPr>
              <a:t>Có lựa chọn khác?</a:t>
            </a:r>
            <a:endParaRPr i="1" sz="2400">
              <a:solidFill>
                <a:schemeClr val="dk2"/>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4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645" name="Google Shape;645;p45"/>
          <p:cNvSpPr txBox="1"/>
          <p:nvPr>
            <p:ph idx="1" type="body"/>
          </p:nvPr>
        </p:nvSpPr>
        <p:spPr>
          <a:xfrm>
            <a:off x="311700" y="1034900"/>
            <a:ext cx="8520600" cy="5286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Mô hình hóa nghiệp vụ </a:t>
            </a:r>
            <a:endParaRPr/>
          </a:p>
          <a:p>
            <a:pPr indent="-381000" lvl="0" marL="457200" rtl="0" algn="l">
              <a:spcBef>
                <a:spcPts val="0"/>
              </a:spcBef>
              <a:spcAft>
                <a:spcPts val="0"/>
              </a:spcAft>
              <a:buSzPts val="2400"/>
              <a:buChar char="●"/>
            </a:pPr>
            <a:r>
              <a:rPr lang="en-GB"/>
              <a:t>Sơ đồ ca sử dụng</a:t>
            </a:r>
            <a:endParaRPr/>
          </a:p>
          <a:p>
            <a:pPr indent="-381000" lvl="0" marL="457200" rtl="0" algn="l">
              <a:spcBef>
                <a:spcPts val="0"/>
              </a:spcBef>
              <a:spcAft>
                <a:spcPts val="0"/>
              </a:spcAft>
              <a:buSzPts val="2400"/>
              <a:buChar char="●"/>
            </a:pPr>
            <a:r>
              <a:rPr lang="en-GB"/>
              <a:t>Đặc tả ca sử dụng</a:t>
            </a:r>
            <a:endParaRPr/>
          </a:p>
          <a:p>
            <a:pPr indent="-381000" lvl="0" marL="457200" rtl="0" algn="l">
              <a:spcBef>
                <a:spcPts val="0"/>
              </a:spcBef>
              <a:spcAft>
                <a:spcPts val="0"/>
              </a:spcAft>
              <a:buSzPts val="2400"/>
              <a:buChar char="●"/>
            </a:pPr>
            <a:r>
              <a:rPr lang="en-GB"/>
              <a:t>Phương pháp đơn vị ca sử dụng</a:t>
            </a:r>
            <a:endParaRPr/>
          </a:p>
        </p:txBody>
      </p:sp>
      <p:sp>
        <p:nvSpPr>
          <p:cNvPr id="646" name="Google Shape;646;p4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47" name="Google Shape;647;p45"/>
          <p:cNvSpPr/>
          <p:nvPr/>
        </p:nvSpPr>
        <p:spPr>
          <a:xfrm>
            <a:off x="376175" y="1786835"/>
            <a:ext cx="4572000" cy="763500"/>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46"/>
          <p:cNvSpPr txBox="1"/>
          <p:nvPr>
            <p:ph idx="4294967295"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thành phần trong đặc tả ca sử dụng</a:t>
            </a:r>
            <a:endParaRPr/>
          </a:p>
        </p:txBody>
      </p:sp>
      <p:sp>
        <p:nvSpPr>
          <p:cNvPr id="653" name="Google Shape;653;p4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54" name="Google Shape;654;p46"/>
          <p:cNvSpPr txBox="1"/>
          <p:nvPr>
            <p:ph idx="4294967295" type="body"/>
          </p:nvPr>
        </p:nvSpPr>
        <p:spPr>
          <a:xfrm>
            <a:off x="311700" y="874076"/>
            <a:ext cx="8709300" cy="5732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Tổng quan:</a:t>
            </a:r>
            <a:endParaRPr/>
          </a:p>
          <a:p>
            <a:pPr indent="-368300" lvl="1" marL="914400" rtl="0" algn="l">
              <a:spcBef>
                <a:spcPts val="0"/>
              </a:spcBef>
              <a:spcAft>
                <a:spcPts val="0"/>
              </a:spcAft>
              <a:buSzPts val="2200"/>
              <a:buChar char="○"/>
            </a:pPr>
            <a:r>
              <a:rPr lang="en-GB"/>
              <a:t>Tên - </a:t>
            </a:r>
            <a:r>
              <a:rPr lang="en-GB"/>
              <a:t>Quy tắc Động từ + Danh từ</a:t>
            </a:r>
            <a:r>
              <a:rPr lang="en-GB"/>
              <a:t>; ID; </a:t>
            </a:r>
            <a:endParaRPr/>
          </a:p>
          <a:p>
            <a:pPr indent="-368300" lvl="1" marL="914400" rtl="0" algn="l">
              <a:spcBef>
                <a:spcPts val="0"/>
              </a:spcBef>
              <a:spcAft>
                <a:spcPts val="0"/>
              </a:spcAft>
              <a:buSzPts val="2200"/>
              <a:buChar char="○"/>
            </a:pPr>
            <a:r>
              <a:rPr b="1" lang="en-GB"/>
              <a:t>Phân </a:t>
            </a:r>
            <a:r>
              <a:rPr b="1" lang="en-GB"/>
              <a:t>Loại: </a:t>
            </a:r>
            <a:r>
              <a:rPr lang="en-GB"/>
              <a:t>Chi tiết/Khái quát | Thực tế/Thiết yếu</a:t>
            </a:r>
            <a:r>
              <a:rPr lang="en-GB"/>
              <a:t>; </a:t>
            </a:r>
            <a:endParaRPr/>
          </a:p>
          <a:p>
            <a:pPr indent="-368300" lvl="1" marL="914400" rtl="0" algn="l">
              <a:spcBef>
                <a:spcPts val="0"/>
              </a:spcBef>
              <a:spcAft>
                <a:spcPts val="0"/>
              </a:spcAft>
              <a:buSzPts val="2200"/>
              <a:buChar char="○"/>
            </a:pPr>
            <a:r>
              <a:rPr lang="en-GB"/>
              <a:t>Tác nhân chính; </a:t>
            </a:r>
            <a:endParaRPr/>
          </a:p>
          <a:p>
            <a:pPr indent="-368300" lvl="1" marL="914400" rtl="0" algn="l">
              <a:spcBef>
                <a:spcPts val="0"/>
              </a:spcBef>
              <a:spcAft>
                <a:spcPts val="0"/>
              </a:spcAft>
              <a:buSzPts val="2200"/>
              <a:buChar char="○"/>
            </a:pPr>
            <a:r>
              <a:rPr lang="en-GB"/>
              <a:t>Mô tả ngắn gọn; </a:t>
            </a:r>
            <a:endParaRPr/>
          </a:p>
          <a:p>
            <a:pPr indent="-368300" lvl="1" marL="914400" rtl="0" algn="l">
              <a:spcBef>
                <a:spcPts val="0"/>
              </a:spcBef>
              <a:spcAft>
                <a:spcPts val="0"/>
              </a:spcAft>
              <a:buSzPts val="2200"/>
              <a:buChar char="○"/>
            </a:pPr>
            <a:r>
              <a:rPr b="1" lang="en-GB"/>
              <a:t>Mức quan trọng</a:t>
            </a:r>
            <a:r>
              <a:rPr lang="en-GB"/>
              <a:t>; </a:t>
            </a:r>
            <a:endParaRPr/>
          </a:p>
          <a:p>
            <a:pPr indent="-368300" lvl="1" marL="914400" rtl="0" algn="l">
              <a:spcBef>
                <a:spcPts val="0"/>
              </a:spcBef>
              <a:spcAft>
                <a:spcPts val="0"/>
              </a:spcAft>
              <a:buSzPts val="2200"/>
              <a:buChar char="○"/>
            </a:pPr>
            <a:r>
              <a:rPr i="1" lang="en-GB"/>
              <a:t>Cổ đông</a:t>
            </a:r>
            <a:r>
              <a:rPr lang="en-GB"/>
              <a:t> </a:t>
            </a:r>
            <a:r>
              <a:rPr lang="en-GB"/>
              <a:t>và mối quan tâm; </a:t>
            </a:r>
            <a:endParaRPr/>
          </a:p>
          <a:p>
            <a:pPr indent="-368300" lvl="1" marL="914400" rtl="0" algn="l">
              <a:spcBef>
                <a:spcPts val="0"/>
              </a:spcBef>
              <a:spcAft>
                <a:spcPts val="0"/>
              </a:spcAft>
              <a:buSzPts val="2200"/>
              <a:buChar char="○"/>
            </a:pPr>
            <a:r>
              <a:rPr lang="en-GB"/>
              <a:t>Kích hoạt: </a:t>
            </a:r>
            <a:r>
              <a:rPr lang="en-GB"/>
              <a:t>Thủ công, Tự động - sự kiện.</a:t>
            </a:r>
            <a:endParaRPr/>
          </a:p>
          <a:p>
            <a:pPr indent="-381000" lvl="0" marL="457200" rtl="0" algn="l">
              <a:spcBef>
                <a:spcPts val="0"/>
              </a:spcBef>
              <a:spcAft>
                <a:spcPts val="0"/>
              </a:spcAft>
              <a:buSzPts val="2400"/>
              <a:buChar char="●"/>
            </a:pPr>
            <a:r>
              <a:rPr lang="en-GB"/>
              <a:t>Các luồng sự kiện/</a:t>
            </a:r>
            <a:r>
              <a:rPr lang="en-GB"/>
              <a:t>kịch bản thực hiện ca sử dụng</a:t>
            </a:r>
            <a:r>
              <a:rPr lang="en-GB"/>
              <a:t>:</a:t>
            </a:r>
            <a:endParaRPr/>
          </a:p>
          <a:p>
            <a:pPr indent="-368300" lvl="1" marL="914400" rtl="0" algn="l">
              <a:spcBef>
                <a:spcPts val="0"/>
              </a:spcBef>
              <a:spcAft>
                <a:spcPts val="0"/>
              </a:spcAft>
              <a:buSzPts val="2200"/>
              <a:buChar char="○"/>
            </a:pPr>
            <a:r>
              <a:rPr lang="en-GB"/>
              <a:t>Luồng sự kiện chính: Các hoạt động đặc trưng, thường diễn ra</a:t>
            </a:r>
            <a:endParaRPr/>
          </a:p>
          <a:p>
            <a:pPr indent="-368300" lvl="1" marL="914400" rtl="0" algn="l">
              <a:spcBef>
                <a:spcPts val="0"/>
              </a:spcBef>
              <a:spcAft>
                <a:spcPts val="0"/>
              </a:spcAft>
              <a:buSzPts val="2200"/>
              <a:buChar char="○"/>
            </a:pPr>
            <a:r>
              <a:rPr lang="en-GB"/>
              <a:t>Luồng sự kiện con: Chia nhỏ luồng sự kiện chính để đơn giản hóa mô tả ca sử dụng</a:t>
            </a:r>
            <a:endParaRPr/>
          </a:p>
          <a:p>
            <a:pPr indent="-368300" lvl="1" marL="914400" rtl="0" algn="l">
              <a:spcBef>
                <a:spcPts val="0"/>
              </a:spcBef>
              <a:spcAft>
                <a:spcPts val="0"/>
              </a:spcAft>
              <a:buSzPts val="2200"/>
              <a:buChar char="○"/>
            </a:pPr>
            <a:r>
              <a:rPr lang="en-GB"/>
              <a:t>Các luồng ngoại lệ hoặc tương đương: Các trường hợp chưa được tính đến trong luồng sự kiện chính</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47"/>
          <p:cNvSpPr/>
          <p:nvPr/>
        </p:nvSpPr>
        <p:spPr>
          <a:xfrm>
            <a:off x="578725" y="899675"/>
            <a:ext cx="7998300" cy="5556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7"/>
          <p:cNvSpPr txBox="1"/>
          <p:nvPr>
            <p:ph idx="4294967295"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Phân loại ca sử dụng</a:t>
            </a:r>
            <a:endParaRPr/>
          </a:p>
        </p:txBody>
      </p:sp>
      <p:sp>
        <p:nvSpPr>
          <p:cNvPr id="661" name="Google Shape;661;p4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662" name="Google Shape;662;p47"/>
          <p:cNvGraphicFramePr/>
          <p:nvPr/>
        </p:nvGraphicFramePr>
        <p:xfrm>
          <a:off x="1559400" y="1718533"/>
          <a:ext cx="3000000" cy="3000000"/>
        </p:xfrm>
        <a:graphic>
          <a:graphicData uri="http://schemas.openxmlformats.org/drawingml/2006/table">
            <a:tbl>
              <a:tblPr>
                <a:noFill/>
                <a:tableStyleId>{70663242-BC61-42DA-8F7E-C39FB40C49E1}</a:tableStyleId>
              </a:tblPr>
              <a:tblGrid>
                <a:gridCol w="3315750"/>
                <a:gridCol w="3283825"/>
              </a:tblGrid>
              <a:tr h="650225">
                <a:tc>
                  <a:txBody>
                    <a:bodyPr/>
                    <a:lstStyle/>
                    <a:p>
                      <a:pPr indent="0" lvl="0" marL="0" rtl="0" algn="ctr">
                        <a:spcBef>
                          <a:spcPts val="0"/>
                        </a:spcBef>
                        <a:spcAft>
                          <a:spcPts val="0"/>
                        </a:spcAft>
                        <a:buNone/>
                      </a:pPr>
                      <a:r>
                        <a:rPr lang="en-GB" sz="2200">
                          <a:solidFill>
                            <a:srgbClr val="FFFFFF"/>
                          </a:solidFill>
                          <a:latin typeface="Times New Roman"/>
                          <a:ea typeface="Times New Roman"/>
                          <a:cs typeface="Times New Roman"/>
                          <a:sym typeface="Times New Roman"/>
                        </a:rPr>
                        <a:t>Khái quát</a:t>
                      </a:r>
                      <a:endParaRPr sz="2200">
                        <a:solidFill>
                          <a:srgbClr val="FFFFFF"/>
                        </a:solidFill>
                        <a:latin typeface="Times New Roman"/>
                        <a:ea typeface="Times New Roman"/>
                        <a:cs typeface="Times New Roman"/>
                        <a:sym typeface="Times New Roman"/>
                      </a:endParaRPr>
                    </a:p>
                  </a:txBody>
                  <a:tcPr marT="121900" marB="121900" marR="91425" marL="91425">
                    <a:solidFill>
                      <a:srgbClr val="6D9EEB"/>
                    </a:solidFill>
                  </a:tcPr>
                </a:tc>
                <a:tc>
                  <a:txBody>
                    <a:bodyPr/>
                    <a:lstStyle/>
                    <a:p>
                      <a:pPr indent="0" lvl="0" marL="0" rtl="0" algn="ctr">
                        <a:spcBef>
                          <a:spcPts val="0"/>
                        </a:spcBef>
                        <a:spcAft>
                          <a:spcPts val="0"/>
                        </a:spcAft>
                        <a:buNone/>
                      </a:pPr>
                      <a:r>
                        <a:rPr lang="en-GB" sz="2200">
                          <a:solidFill>
                            <a:srgbClr val="FFFFFF"/>
                          </a:solidFill>
                          <a:latin typeface="Times New Roman"/>
                          <a:ea typeface="Times New Roman"/>
                          <a:cs typeface="Times New Roman"/>
                          <a:sym typeface="Times New Roman"/>
                        </a:rPr>
                        <a:t>Chi tiết</a:t>
                      </a:r>
                      <a:endParaRPr sz="2200">
                        <a:solidFill>
                          <a:srgbClr val="FFFFFF"/>
                        </a:solidFill>
                        <a:latin typeface="Times New Roman"/>
                        <a:ea typeface="Times New Roman"/>
                        <a:cs typeface="Times New Roman"/>
                        <a:sym typeface="Times New Roman"/>
                      </a:endParaRPr>
                    </a:p>
                  </a:txBody>
                  <a:tcPr marT="121900" marB="121900" marR="91425" marL="91425">
                    <a:solidFill>
                      <a:srgbClr val="6D9EEB"/>
                    </a:solidFill>
                  </a:tcPr>
                </a:tc>
              </a:tr>
              <a:tr h="1564950">
                <a:tc>
                  <a:txBody>
                    <a:bodyPr/>
                    <a:lstStyle/>
                    <a:p>
                      <a:pPr indent="0" lvl="0" marL="0" rtl="0" algn="l">
                        <a:spcBef>
                          <a:spcPts val="0"/>
                        </a:spcBef>
                        <a:spcAft>
                          <a:spcPts val="0"/>
                        </a:spcAft>
                        <a:buNone/>
                      </a:pPr>
                      <a:r>
                        <a:rPr lang="en-GB" sz="2200">
                          <a:latin typeface="Times New Roman"/>
                          <a:ea typeface="Times New Roman"/>
                          <a:cs typeface="Times New Roman"/>
                          <a:sym typeface="Times New Roman"/>
                        </a:rPr>
                        <a:t>Mô tả </a:t>
                      </a:r>
                      <a:r>
                        <a:rPr b="1" lang="en-GB" sz="2200">
                          <a:latin typeface="Times New Roman"/>
                          <a:ea typeface="Times New Roman"/>
                          <a:cs typeface="Times New Roman"/>
                          <a:sym typeface="Times New Roman"/>
                        </a:rPr>
                        <a:t>khái quát</a:t>
                      </a:r>
                      <a:r>
                        <a:rPr lang="en-GB" sz="2200">
                          <a:latin typeface="Times New Roman"/>
                          <a:ea typeface="Times New Roman"/>
                          <a:cs typeface="Times New Roman"/>
                          <a:sym typeface="Times New Roman"/>
                        </a:rPr>
                        <a:t> bậc cao của các vấn đề </a:t>
                      </a:r>
                      <a:r>
                        <a:rPr b="1" lang="en-GB" sz="2200">
                          <a:latin typeface="Times New Roman"/>
                          <a:ea typeface="Times New Roman"/>
                          <a:cs typeface="Times New Roman"/>
                          <a:sym typeface="Times New Roman"/>
                        </a:rPr>
                        <a:t>thiết yếu</a:t>
                      </a:r>
                      <a:r>
                        <a:rPr lang="en-GB" sz="2200">
                          <a:latin typeface="Times New Roman"/>
                          <a:ea typeface="Times New Roman"/>
                          <a:cs typeface="Times New Roman"/>
                          <a:sym typeface="Times New Roman"/>
                        </a:rPr>
                        <a:t> cần để hiểu chức năng đang được yêu cầu</a:t>
                      </a:r>
                      <a:endParaRPr sz="2200">
                        <a:latin typeface="Times New Roman"/>
                        <a:ea typeface="Times New Roman"/>
                        <a:cs typeface="Times New Roman"/>
                        <a:sym typeface="Times New Roman"/>
                      </a:endParaRPr>
                    </a:p>
                  </a:txBody>
                  <a:tcPr marT="121900" marB="121900" marR="91425" marL="91425"/>
                </a:tc>
                <a:tc>
                  <a:txBody>
                    <a:bodyPr/>
                    <a:lstStyle/>
                    <a:p>
                      <a:pPr indent="0" lvl="0" marL="0" rtl="0" algn="l">
                        <a:spcBef>
                          <a:spcPts val="0"/>
                        </a:spcBef>
                        <a:spcAft>
                          <a:spcPts val="0"/>
                        </a:spcAft>
                        <a:buNone/>
                      </a:pPr>
                      <a:r>
                        <a:rPr lang="en-GB" sz="2200">
                          <a:latin typeface="Times New Roman"/>
                          <a:ea typeface="Times New Roman"/>
                          <a:cs typeface="Times New Roman"/>
                          <a:sym typeface="Times New Roman"/>
                        </a:rPr>
                        <a:t>Mô tả </a:t>
                      </a:r>
                      <a:r>
                        <a:rPr b="1" lang="en-GB" sz="2200">
                          <a:latin typeface="Times New Roman"/>
                          <a:ea typeface="Times New Roman"/>
                          <a:cs typeface="Times New Roman"/>
                          <a:sym typeface="Times New Roman"/>
                        </a:rPr>
                        <a:t>chi tiết</a:t>
                      </a:r>
                      <a:r>
                        <a:rPr lang="en-GB" sz="2200">
                          <a:latin typeface="Times New Roman"/>
                          <a:ea typeface="Times New Roman"/>
                          <a:cs typeface="Times New Roman"/>
                          <a:sym typeface="Times New Roman"/>
                        </a:rPr>
                        <a:t> các vấn đề </a:t>
                      </a:r>
                      <a:r>
                        <a:rPr b="1" lang="en-GB" sz="2200">
                          <a:latin typeface="Times New Roman"/>
                          <a:ea typeface="Times New Roman"/>
                          <a:cs typeface="Times New Roman"/>
                          <a:sym typeface="Times New Roman"/>
                        </a:rPr>
                        <a:t>thiết yếu</a:t>
                      </a:r>
                      <a:r>
                        <a:rPr lang="en-GB" sz="2200">
                          <a:latin typeface="Times New Roman"/>
                          <a:ea typeface="Times New Roman"/>
                          <a:cs typeface="Times New Roman"/>
                          <a:sym typeface="Times New Roman"/>
                        </a:rPr>
                        <a:t> cần để hiểu chức năng được yêu cầu</a:t>
                      </a:r>
                      <a:endParaRPr sz="2200">
                        <a:latin typeface="Times New Roman"/>
                        <a:ea typeface="Times New Roman"/>
                        <a:cs typeface="Times New Roman"/>
                        <a:sym typeface="Times New Roman"/>
                      </a:endParaRPr>
                    </a:p>
                  </a:txBody>
                  <a:tcPr marT="121900" marB="121900" marR="91425" marL="91425"/>
                </a:tc>
              </a:tr>
              <a:tr h="1892225">
                <a:tc>
                  <a:txBody>
                    <a:bodyPr/>
                    <a:lstStyle/>
                    <a:p>
                      <a:pPr indent="0" lvl="0" marL="0" rtl="0" algn="l">
                        <a:spcBef>
                          <a:spcPts val="0"/>
                        </a:spcBef>
                        <a:spcAft>
                          <a:spcPts val="0"/>
                        </a:spcAft>
                        <a:buNone/>
                      </a:pPr>
                      <a:r>
                        <a:rPr lang="en-GB" sz="2200">
                          <a:latin typeface="Times New Roman"/>
                          <a:ea typeface="Times New Roman"/>
                          <a:cs typeface="Times New Roman"/>
                          <a:sym typeface="Times New Roman"/>
                        </a:rPr>
                        <a:t>Mô tả </a:t>
                      </a:r>
                      <a:r>
                        <a:rPr b="1" lang="en-GB" sz="2200">
                          <a:latin typeface="Times New Roman"/>
                          <a:ea typeface="Times New Roman"/>
                          <a:cs typeface="Times New Roman"/>
                          <a:sym typeface="Times New Roman"/>
                        </a:rPr>
                        <a:t>khái quát</a:t>
                      </a:r>
                      <a:r>
                        <a:rPr lang="en-GB" sz="2200">
                          <a:latin typeface="Times New Roman"/>
                          <a:ea typeface="Times New Roman"/>
                          <a:cs typeface="Times New Roman"/>
                          <a:sym typeface="Times New Roman"/>
                        </a:rPr>
                        <a:t> bậc cao của một tập các bước cụ thể cần được thực hiện trên hệ thống </a:t>
                      </a:r>
                      <a:r>
                        <a:rPr b="1" lang="en-GB" sz="2200">
                          <a:latin typeface="Times New Roman"/>
                          <a:ea typeface="Times New Roman"/>
                          <a:cs typeface="Times New Roman"/>
                          <a:sym typeface="Times New Roman"/>
                        </a:rPr>
                        <a:t>thực tế </a:t>
                      </a:r>
                      <a:r>
                        <a:rPr lang="en-GB" sz="2200">
                          <a:latin typeface="Times New Roman"/>
                          <a:ea typeface="Times New Roman"/>
                          <a:cs typeface="Times New Roman"/>
                          <a:sym typeface="Times New Roman"/>
                        </a:rPr>
                        <a:t>sau khi triển khai</a:t>
                      </a:r>
                      <a:endParaRPr sz="2200">
                        <a:latin typeface="Times New Roman"/>
                        <a:ea typeface="Times New Roman"/>
                        <a:cs typeface="Times New Roman"/>
                        <a:sym typeface="Times New Roman"/>
                      </a:endParaRPr>
                    </a:p>
                  </a:txBody>
                  <a:tcPr marT="121900" marB="121900" marR="91425" marL="91425"/>
                </a:tc>
                <a:tc>
                  <a:txBody>
                    <a:bodyPr/>
                    <a:lstStyle/>
                    <a:p>
                      <a:pPr indent="0" lvl="0" marL="0" rtl="0" algn="l">
                        <a:spcBef>
                          <a:spcPts val="0"/>
                        </a:spcBef>
                        <a:spcAft>
                          <a:spcPts val="0"/>
                        </a:spcAft>
                        <a:buNone/>
                      </a:pPr>
                      <a:r>
                        <a:rPr lang="en-GB" sz="2200">
                          <a:latin typeface="Times New Roman"/>
                          <a:ea typeface="Times New Roman"/>
                          <a:cs typeface="Times New Roman"/>
                          <a:sym typeface="Times New Roman"/>
                        </a:rPr>
                        <a:t>Mô tả </a:t>
                      </a:r>
                      <a:r>
                        <a:rPr b="1" lang="en-GB" sz="2200">
                          <a:latin typeface="Times New Roman"/>
                          <a:ea typeface="Times New Roman"/>
                          <a:cs typeface="Times New Roman"/>
                          <a:sym typeface="Times New Roman"/>
                        </a:rPr>
                        <a:t>chi tiết</a:t>
                      </a:r>
                      <a:r>
                        <a:rPr lang="en-GB" sz="2200">
                          <a:latin typeface="Times New Roman"/>
                          <a:ea typeface="Times New Roman"/>
                          <a:cs typeface="Times New Roman"/>
                          <a:sym typeface="Times New Roman"/>
                        </a:rPr>
                        <a:t> của một tập các bước được thực hiện trên hệ thống </a:t>
                      </a:r>
                      <a:r>
                        <a:rPr b="1" lang="en-GB" sz="2200">
                          <a:latin typeface="Times New Roman"/>
                          <a:ea typeface="Times New Roman"/>
                          <a:cs typeface="Times New Roman"/>
                          <a:sym typeface="Times New Roman"/>
                        </a:rPr>
                        <a:t>thực tế</a:t>
                      </a:r>
                      <a:r>
                        <a:rPr lang="en-GB" sz="2200">
                          <a:latin typeface="Times New Roman"/>
                          <a:ea typeface="Times New Roman"/>
                          <a:cs typeface="Times New Roman"/>
                          <a:sym typeface="Times New Roman"/>
                        </a:rPr>
                        <a:t> sau khi triển khai</a:t>
                      </a:r>
                      <a:endParaRPr sz="2200">
                        <a:latin typeface="Times New Roman"/>
                        <a:ea typeface="Times New Roman"/>
                        <a:cs typeface="Times New Roman"/>
                        <a:sym typeface="Times New Roman"/>
                      </a:endParaRPr>
                    </a:p>
                  </a:txBody>
                  <a:tcPr marT="121900" marB="121900" marR="91425" marL="91425"/>
                </a:tc>
              </a:tr>
            </a:tbl>
          </a:graphicData>
        </a:graphic>
      </p:graphicFrame>
      <p:sp>
        <p:nvSpPr>
          <p:cNvPr id="663" name="Google Shape;663;p47"/>
          <p:cNvSpPr/>
          <p:nvPr/>
        </p:nvSpPr>
        <p:spPr>
          <a:xfrm>
            <a:off x="1163875" y="1163254"/>
            <a:ext cx="6995100" cy="524700"/>
          </a:xfrm>
          <a:prstGeom prst="rect">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600">
                <a:solidFill>
                  <a:srgbClr val="FFFFFF"/>
                </a:solidFill>
                <a:latin typeface="Times New Roman"/>
                <a:ea typeface="Times New Roman"/>
                <a:cs typeface="Times New Roman"/>
                <a:sym typeface="Times New Roman"/>
              </a:rPr>
              <a:t>Lượng thông tin</a:t>
            </a:r>
            <a:endParaRPr sz="2600">
              <a:solidFill>
                <a:srgbClr val="FFFFFF"/>
              </a:solidFill>
              <a:latin typeface="Times New Roman"/>
              <a:ea typeface="Times New Roman"/>
              <a:cs typeface="Times New Roman"/>
              <a:sym typeface="Times New Roman"/>
            </a:endParaRPr>
          </a:p>
        </p:txBody>
      </p:sp>
      <p:sp>
        <p:nvSpPr>
          <p:cNvPr id="664" name="Google Shape;664;p47"/>
          <p:cNvSpPr/>
          <p:nvPr/>
        </p:nvSpPr>
        <p:spPr>
          <a:xfrm rot="-5400000">
            <a:off x="405775" y="4674225"/>
            <a:ext cx="1909800" cy="3936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rgbClr val="FFFFFF"/>
                </a:solidFill>
                <a:latin typeface="Times New Roman"/>
                <a:ea typeface="Times New Roman"/>
                <a:cs typeface="Times New Roman"/>
                <a:sym typeface="Times New Roman"/>
              </a:rPr>
              <a:t>Thực tế</a:t>
            </a:r>
            <a:endParaRPr sz="2200">
              <a:solidFill>
                <a:srgbClr val="FFFFFF"/>
              </a:solidFill>
              <a:latin typeface="Times New Roman"/>
              <a:ea typeface="Times New Roman"/>
              <a:cs typeface="Times New Roman"/>
              <a:sym typeface="Times New Roman"/>
            </a:endParaRPr>
          </a:p>
        </p:txBody>
      </p:sp>
      <p:sp>
        <p:nvSpPr>
          <p:cNvPr id="665" name="Google Shape;665;p47"/>
          <p:cNvSpPr/>
          <p:nvPr/>
        </p:nvSpPr>
        <p:spPr>
          <a:xfrm rot="-5400000">
            <a:off x="-1363350" y="3295450"/>
            <a:ext cx="4664700" cy="393600"/>
          </a:xfrm>
          <a:prstGeom prst="rect">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600">
                <a:solidFill>
                  <a:srgbClr val="FFFFFF"/>
                </a:solidFill>
                <a:latin typeface="Times New Roman"/>
                <a:ea typeface="Times New Roman"/>
                <a:cs typeface="Times New Roman"/>
                <a:sym typeface="Times New Roman"/>
              </a:rPr>
              <a:t>Mục đích</a:t>
            </a:r>
            <a:endParaRPr sz="2600">
              <a:solidFill>
                <a:srgbClr val="FFFFFF"/>
              </a:solidFill>
              <a:latin typeface="Times New Roman"/>
              <a:ea typeface="Times New Roman"/>
              <a:cs typeface="Times New Roman"/>
              <a:sym typeface="Times New Roman"/>
            </a:endParaRPr>
          </a:p>
        </p:txBody>
      </p:sp>
      <p:sp>
        <p:nvSpPr>
          <p:cNvPr id="666" name="Google Shape;666;p47"/>
          <p:cNvSpPr/>
          <p:nvPr/>
        </p:nvSpPr>
        <p:spPr>
          <a:xfrm rot="-5400000">
            <a:off x="960000" y="1928917"/>
            <a:ext cx="796800" cy="3591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solidFill>
                <a:srgbClr val="FFFFFF"/>
              </a:solidFill>
            </a:endParaRPr>
          </a:p>
        </p:txBody>
      </p:sp>
      <p:sp>
        <p:nvSpPr>
          <p:cNvPr id="667" name="Google Shape;667;p47"/>
          <p:cNvSpPr/>
          <p:nvPr/>
        </p:nvSpPr>
        <p:spPr>
          <a:xfrm rot="-5400000">
            <a:off x="595800" y="2952500"/>
            <a:ext cx="1533600" cy="3936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rgbClr val="FFFFFF"/>
                </a:solidFill>
                <a:latin typeface="Times New Roman"/>
                <a:ea typeface="Times New Roman"/>
                <a:cs typeface="Times New Roman"/>
                <a:sym typeface="Times New Roman"/>
              </a:rPr>
              <a:t>Thiết yếu</a:t>
            </a:r>
            <a:endParaRPr sz="2200">
              <a:solidFill>
                <a:srgbClr val="FFFFFF"/>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4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73" name="Google Shape;673;p4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Mức quan trọng</a:t>
            </a:r>
            <a:endParaRPr/>
          </a:p>
        </p:txBody>
      </p:sp>
      <p:sp>
        <p:nvSpPr>
          <p:cNvPr id="674" name="Google Shape;674;p48"/>
          <p:cNvSpPr txBox="1"/>
          <p:nvPr>
            <p:ph idx="1" type="body"/>
          </p:nvPr>
        </p:nvSpPr>
        <p:spPr>
          <a:xfrm>
            <a:off x="311700" y="1034900"/>
            <a:ext cx="8520600" cy="5286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Thông thường được chia thành</a:t>
            </a:r>
            <a:endParaRPr/>
          </a:p>
          <a:p>
            <a:pPr indent="-368300" lvl="1" marL="914400" rtl="0" algn="l">
              <a:spcBef>
                <a:spcPts val="0"/>
              </a:spcBef>
              <a:spcAft>
                <a:spcPts val="0"/>
              </a:spcAft>
              <a:buSzPts val="2200"/>
              <a:buChar char="○"/>
            </a:pPr>
            <a:r>
              <a:rPr lang="en-GB"/>
              <a:t>Thấp</a:t>
            </a:r>
            <a:endParaRPr/>
          </a:p>
          <a:p>
            <a:pPr indent="-368300" lvl="1" marL="914400" rtl="0" algn="l">
              <a:spcBef>
                <a:spcPts val="0"/>
              </a:spcBef>
              <a:spcAft>
                <a:spcPts val="0"/>
              </a:spcAft>
              <a:buSzPts val="2200"/>
              <a:buChar char="○"/>
            </a:pPr>
            <a:r>
              <a:rPr lang="en-GB"/>
              <a:t>Trung bình</a:t>
            </a:r>
            <a:endParaRPr/>
          </a:p>
          <a:p>
            <a:pPr indent="-368300" lvl="1" marL="914400" rtl="0" algn="l">
              <a:spcBef>
                <a:spcPts val="0"/>
              </a:spcBef>
              <a:spcAft>
                <a:spcPts val="0"/>
              </a:spcAft>
              <a:buSzPts val="2200"/>
              <a:buChar char="○"/>
            </a:pPr>
            <a:r>
              <a:rPr lang="en-GB"/>
              <a:t>Cao</a:t>
            </a:r>
            <a:endParaRPr/>
          </a:p>
          <a:p>
            <a:pPr indent="-368300" lvl="1" marL="914400" rtl="0" algn="l">
              <a:spcBef>
                <a:spcPts val="0"/>
              </a:spcBef>
              <a:spcAft>
                <a:spcPts val="0"/>
              </a:spcAft>
              <a:buSzPts val="2200"/>
              <a:buChar char="○"/>
            </a:pPr>
            <a:r>
              <a:rPr lang="en-GB"/>
              <a:t>(So sánh tương đối giữa các ca sử dụng dựa trên lợi ích đem lại hoặc thiệt hại trong trường hợp sự cố)</a:t>
            </a:r>
            <a:endParaRPr/>
          </a:p>
          <a:p>
            <a:pPr indent="-381000" lvl="0" marL="457200" rtl="0" algn="l">
              <a:spcBef>
                <a:spcPts val="0"/>
              </a:spcBef>
              <a:spcAft>
                <a:spcPts val="0"/>
              </a:spcAft>
              <a:buSzPts val="2400"/>
              <a:buChar char="●"/>
            </a:pPr>
            <a:r>
              <a:rPr lang="en-GB"/>
              <a:t>Được sử dụng cho mục đích lập kế hoạch &amp; quản lý</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49"/>
          <p:cNvSpPr/>
          <p:nvPr/>
        </p:nvSpPr>
        <p:spPr>
          <a:xfrm>
            <a:off x="458975" y="901150"/>
            <a:ext cx="8562300" cy="5677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0" name="Google Shape;680;p49"/>
          <p:cNvPicPr preferRelativeResize="0"/>
          <p:nvPr/>
        </p:nvPicPr>
        <p:blipFill>
          <a:blip r:embed="rId3">
            <a:alphaModFix/>
          </a:blip>
          <a:stretch>
            <a:fillRect/>
          </a:stretch>
        </p:blipFill>
        <p:spPr>
          <a:xfrm>
            <a:off x="706550" y="962125"/>
            <a:ext cx="8052101" cy="5451275"/>
          </a:xfrm>
          <a:prstGeom prst="rect">
            <a:avLst/>
          </a:prstGeom>
          <a:noFill/>
          <a:ln>
            <a:noFill/>
          </a:ln>
        </p:spPr>
      </p:pic>
      <p:sp>
        <p:nvSpPr>
          <p:cNvPr id="681" name="Google Shape;681;p49"/>
          <p:cNvSpPr txBox="1"/>
          <p:nvPr>
            <p:ph idx="4294967295" type="title"/>
          </p:nvPr>
        </p:nvSpPr>
        <p:spPr>
          <a:xfrm>
            <a:off x="311700" y="249825"/>
            <a:ext cx="5719500" cy="77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a:t>
            </a:r>
            <a:r>
              <a:rPr lang="en-GB"/>
              <a:t>iểu mẫu đặc tả ca sử dụng</a:t>
            </a:r>
            <a:endParaRPr/>
          </a:p>
        </p:txBody>
      </p:sp>
      <p:sp>
        <p:nvSpPr>
          <p:cNvPr id="682" name="Google Shape;682;p4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83" name="Google Shape;683;p49"/>
          <p:cNvSpPr/>
          <p:nvPr/>
        </p:nvSpPr>
        <p:spPr>
          <a:xfrm>
            <a:off x="3504800" y="4404375"/>
            <a:ext cx="409200" cy="19167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684" name="Google Shape;684;p49"/>
          <p:cNvSpPr txBox="1"/>
          <p:nvPr/>
        </p:nvSpPr>
        <p:spPr>
          <a:xfrm>
            <a:off x="4113750" y="5103150"/>
            <a:ext cx="3364200" cy="41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sz="2400">
                <a:solidFill>
                  <a:schemeClr val="dk2"/>
                </a:solidFill>
                <a:latin typeface="Times New Roman"/>
                <a:ea typeface="Times New Roman"/>
                <a:cs typeface="Times New Roman"/>
                <a:sym typeface="Times New Roman"/>
              </a:rPr>
              <a:t>Có thể để ngoài bảng</a:t>
            </a:r>
            <a:endParaRPr b="1" i="1" sz="2400">
              <a:solidFill>
                <a:schemeClr val="dk2"/>
              </a:solidFill>
              <a:latin typeface="Times New Roman"/>
              <a:ea typeface="Times New Roman"/>
              <a:cs typeface="Times New Roman"/>
              <a:sym typeface="Times New Roman"/>
            </a:endParaRPr>
          </a:p>
        </p:txBody>
      </p:sp>
      <p:sp>
        <p:nvSpPr>
          <p:cNvPr id="685" name="Google Shape;685;p49"/>
          <p:cNvSpPr/>
          <p:nvPr/>
        </p:nvSpPr>
        <p:spPr>
          <a:xfrm>
            <a:off x="2670675" y="3337575"/>
            <a:ext cx="328800" cy="8292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686" name="Google Shape;686;p49"/>
          <p:cNvSpPr txBox="1"/>
          <p:nvPr/>
        </p:nvSpPr>
        <p:spPr>
          <a:xfrm>
            <a:off x="3123150" y="3426750"/>
            <a:ext cx="4915800" cy="6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sz="2400">
                <a:solidFill>
                  <a:schemeClr val="dk2"/>
                </a:solidFill>
                <a:latin typeface="Times New Roman"/>
                <a:ea typeface="Times New Roman"/>
                <a:cs typeface="Times New Roman"/>
                <a:sym typeface="Times New Roman"/>
              </a:rPr>
              <a:t>Có thể </a:t>
            </a:r>
            <a:r>
              <a:rPr b="1" i="1" lang="en-GB" sz="2400">
                <a:solidFill>
                  <a:schemeClr val="dk2"/>
                </a:solidFill>
                <a:latin typeface="Times New Roman"/>
                <a:ea typeface="Times New Roman"/>
                <a:cs typeface="Times New Roman"/>
                <a:sym typeface="Times New Roman"/>
              </a:rPr>
              <a:t>lược bỏ nếu có sơ đồ CSD</a:t>
            </a:r>
            <a:endParaRPr b="1" i="1" sz="2400">
              <a:solidFill>
                <a:schemeClr val="dk2"/>
              </a:solidFill>
              <a:latin typeface="Times New Roman"/>
              <a:ea typeface="Times New Roman"/>
              <a:cs typeface="Times New Roman"/>
              <a:sym typeface="Times New Roman"/>
            </a:endParaRPr>
          </a:p>
        </p:txBody>
      </p:sp>
      <p:sp>
        <p:nvSpPr>
          <p:cNvPr id="687" name="Google Shape;687;p49"/>
          <p:cNvSpPr/>
          <p:nvPr/>
        </p:nvSpPr>
        <p:spPr>
          <a:xfrm>
            <a:off x="814337" y="3233800"/>
            <a:ext cx="7830000" cy="1050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50"/>
          <p:cNvSpPr/>
          <p:nvPr/>
        </p:nvSpPr>
        <p:spPr>
          <a:xfrm>
            <a:off x="451800" y="830625"/>
            <a:ext cx="8234100" cy="585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50"/>
          <p:cNvSpPr txBox="1"/>
          <p:nvPr>
            <p:ph idx="4294967295" type="title"/>
          </p:nvPr>
        </p:nvSpPr>
        <p:spPr>
          <a:xfrm>
            <a:off x="311700" y="207400"/>
            <a:ext cx="7250400" cy="7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2.8. Đặc tả ca sử dụng</a:t>
            </a:r>
            <a:endParaRPr/>
          </a:p>
        </p:txBody>
      </p:sp>
      <p:sp>
        <p:nvSpPr>
          <p:cNvPr id="694" name="Google Shape;694;p5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95" name="Google Shape;695;p50"/>
          <p:cNvSpPr txBox="1"/>
          <p:nvPr/>
        </p:nvSpPr>
        <p:spPr>
          <a:xfrm>
            <a:off x="5395172" y="428648"/>
            <a:ext cx="3434100" cy="3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sz="2400">
                <a:solidFill>
                  <a:schemeClr val="dk2"/>
                </a:solidFill>
                <a:latin typeface="Times New Roman"/>
                <a:ea typeface="Times New Roman"/>
                <a:cs typeface="Times New Roman"/>
                <a:sym typeface="Times New Roman"/>
              </a:rPr>
              <a:t>Không phải tài liệu mẫu.</a:t>
            </a:r>
            <a:endParaRPr b="1" i="1" sz="2400">
              <a:solidFill>
                <a:schemeClr val="dk2"/>
              </a:solidFill>
              <a:latin typeface="Times New Roman"/>
              <a:ea typeface="Times New Roman"/>
              <a:cs typeface="Times New Roman"/>
              <a:sym typeface="Times New Roman"/>
            </a:endParaRPr>
          </a:p>
        </p:txBody>
      </p:sp>
      <p:pic>
        <p:nvPicPr>
          <p:cNvPr id="696" name="Google Shape;696;p50"/>
          <p:cNvPicPr preferRelativeResize="0"/>
          <p:nvPr/>
        </p:nvPicPr>
        <p:blipFill>
          <a:blip r:embed="rId3">
            <a:alphaModFix/>
          </a:blip>
          <a:stretch>
            <a:fillRect/>
          </a:stretch>
        </p:blipFill>
        <p:spPr>
          <a:xfrm>
            <a:off x="621514" y="925900"/>
            <a:ext cx="7846435" cy="56294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5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02" name="Google Shape;702;p5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Quản lý mức độ chi tiết</a:t>
            </a:r>
            <a:endParaRPr/>
          </a:p>
        </p:txBody>
      </p:sp>
      <p:sp>
        <p:nvSpPr>
          <p:cNvPr id="703" name="Google Shape;703;p51"/>
          <p:cNvSpPr/>
          <p:nvPr/>
        </p:nvSpPr>
        <p:spPr>
          <a:xfrm>
            <a:off x="1334375" y="1377800"/>
            <a:ext cx="2286000" cy="1196100"/>
          </a:xfrm>
          <a:prstGeom prst="cube">
            <a:avLst>
              <a:gd fmla="val 25000" name="adj"/>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704" name="Google Shape;704;p51"/>
          <p:cNvSpPr/>
          <p:nvPr/>
        </p:nvSpPr>
        <p:spPr>
          <a:xfrm>
            <a:off x="5068175" y="1377800"/>
            <a:ext cx="2286000" cy="1196100"/>
          </a:xfrm>
          <a:prstGeom prst="cube">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705" name="Google Shape;705;p51"/>
          <p:cNvSpPr/>
          <p:nvPr/>
        </p:nvSpPr>
        <p:spPr>
          <a:xfrm>
            <a:off x="5677775" y="1766775"/>
            <a:ext cx="332400" cy="1635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706" name="Google Shape;706;p51"/>
          <p:cNvSpPr/>
          <p:nvPr/>
        </p:nvSpPr>
        <p:spPr>
          <a:xfrm>
            <a:off x="5735525" y="2047649"/>
            <a:ext cx="222000" cy="163500"/>
          </a:xfrm>
          <a:prstGeom prst="diamon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707" name="Google Shape;707;p51"/>
          <p:cNvSpPr/>
          <p:nvPr/>
        </p:nvSpPr>
        <p:spPr>
          <a:xfrm>
            <a:off x="5677775" y="2331925"/>
            <a:ext cx="332400" cy="1635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708" name="Google Shape;708;p51"/>
          <p:cNvSpPr/>
          <p:nvPr/>
        </p:nvSpPr>
        <p:spPr>
          <a:xfrm>
            <a:off x="6211175" y="2331925"/>
            <a:ext cx="332400" cy="1635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709" name="Google Shape;709;p51"/>
          <p:cNvCxnSpPr>
            <a:stCxn id="705" idx="2"/>
            <a:endCxn id="706" idx="0"/>
          </p:cNvCxnSpPr>
          <p:nvPr/>
        </p:nvCxnSpPr>
        <p:spPr>
          <a:xfrm>
            <a:off x="5843975" y="1930275"/>
            <a:ext cx="2700" cy="117300"/>
          </a:xfrm>
          <a:prstGeom prst="straightConnector1">
            <a:avLst/>
          </a:prstGeom>
          <a:noFill/>
          <a:ln cap="flat" cmpd="sng" w="9525">
            <a:solidFill>
              <a:schemeClr val="dk2"/>
            </a:solidFill>
            <a:prstDash val="solid"/>
            <a:round/>
            <a:headEnd len="med" w="med" type="none"/>
            <a:tailEnd len="med" w="med" type="none"/>
          </a:ln>
        </p:spPr>
      </p:cxnSp>
      <p:cxnSp>
        <p:nvCxnSpPr>
          <p:cNvPr id="710" name="Google Shape;710;p51"/>
          <p:cNvCxnSpPr>
            <a:stCxn id="706" idx="2"/>
            <a:endCxn id="707" idx="0"/>
          </p:cNvCxnSpPr>
          <p:nvPr/>
        </p:nvCxnSpPr>
        <p:spPr>
          <a:xfrm flipH="1">
            <a:off x="5844125" y="2211149"/>
            <a:ext cx="2400" cy="120900"/>
          </a:xfrm>
          <a:prstGeom prst="straightConnector1">
            <a:avLst/>
          </a:prstGeom>
          <a:noFill/>
          <a:ln cap="flat" cmpd="sng" w="9525">
            <a:solidFill>
              <a:schemeClr val="dk2"/>
            </a:solidFill>
            <a:prstDash val="solid"/>
            <a:round/>
            <a:headEnd len="med" w="med" type="none"/>
            <a:tailEnd len="med" w="med" type="none"/>
          </a:ln>
        </p:spPr>
      </p:cxnSp>
      <p:cxnSp>
        <p:nvCxnSpPr>
          <p:cNvPr id="711" name="Google Shape;711;p51"/>
          <p:cNvCxnSpPr>
            <a:stCxn id="706" idx="3"/>
            <a:endCxn id="708" idx="0"/>
          </p:cNvCxnSpPr>
          <p:nvPr/>
        </p:nvCxnSpPr>
        <p:spPr>
          <a:xfrm>
            <a:off x="5957525" y="2129399"/>
            <a:ext cx="420000" cy="202500"/>
          </a:xfrm>
          <a:prstGeom prst="bentConnector2">
            <a:avLst/>
          </a:prstGeom>
          <a:noFill/>
          <a:ln cap="flat" cmpd="sng" w="9525">
            <a:solidFill>
              <a:schemeClr val="dk2"/>
            </a:solidFill>
            <a:prstDash val="solid"/>
            <a:round/>
            <a:headEnd len="med" w="med" type="none"/>
            <a:tailEnd len="med" w="med" type="none"/>
          </a:ln>
        </p:spPr>
      </p:cxnSp>
      <p:cxnSp>
        <p:nvCxnSpPr>
          <p:cNvPr id="712" name="Google Shape;712;p51"/>
          <p:cNvCxnSpPr/>
          <p:nvPr/>
        </p:nvCxnSpPr>
        <p:spPr>
          <a:xfrm>
            <a:off x="744850" y="1842125"/>
            <a:ext cx="561900" cy="0"/>
          </a:xfrm>
          <a:prstGeom prst="straightConnector1">
            <a:avLst/>
          </a:prstGeom>
          <a:noFill/>
          <a:ln cap="flat" cmpd="sng" w="28575">
            <a:solidFill>
              <a:schemeClr val="dk2"/>
            </a:solidFill>
            <a:prstDash val="solid"/>
            <a:round/>
            <a:headEnd len="med" w="med" type="none"/>
            <a:tailEnd len="med" w="med" type="triangle"/>
          </a:ln>
        </p:spPr>
      </p:cxnSp>
      <p:cxnSp>
        <p:nvCxnSpPr>
          <p:cNvPr id="713" name="Google Shape;713;p51"/>
          <p:cNvCxnSpPr/>
          <p:nvPr/>
        </p:nvCxnSpPr>
        <p:spPr>
          <a:xfrm rot="10800000">
            <a:off x="773500" y="2280275"/>
            <a:ext cx="523800" cy="0"/>
          </a:xfrm>
          <a:prstGeom prst="straightConnector1">
            <a:avLst/>
          </a:prstGeom>
          <a:noFill/>
          <a:ln cap="flat" cmpd="sng" w="28575">
            <a:solidFill>
              <a:schemeClr val="dk2"/>
            </a:solidFill>
            <a:prstDash val="solid"/>
            <a:round/>
            <a:headEnd len="med" w="med" type="none"/>
            <a:tailEnd len="med" w="med" type="triangle"/>
          </a:ln>
        </p:spPr>
      </p:cxnSp>
      <p:cxnSp>
        <p:nvCxnSpPr>
          <p:cNvPr id="714" name="Google Shape;714;p51"/>
          <p:cNvCxnSpPr/>
          <p:nvPr/>
        </p:nvCxnSpPr>
        <p:spPr>
          <a:xfrm>
            <a:off x="3488050" y="2070725"/>
            <a:ext cx="561900" cy="0"/>
          </a:xfrm>
          <a:prstGeom prst="straightConnector1">
            <a:avLst/>
          </a:prstGeom>
          <a:noFill/>
          <a:ln cap="flat" cmpd="sng" w="28575">
            <a:solidFill>
              <a:schemeClr val="dk2"/>
            </a:solidFill>
            <a:prstDash val="solid"/>
            <a:round/>
            <a:headEnd len="med" w="med" type="none"/>
            <a:tailEnd len="med" w="med" type="triangle"/>
          </a:ln>
        </p:spPr>
      </p:cxnSp>
      <p:cxnSp>
        <p:nvCxnSpPr>
          <p:cNvPr id="715" name="Google Shape;715;p51"/>
          <p:cNvCxnSpPr/>
          <p:nvPr/>
        </p:nvCxnSpPr>
        <p:spPr>
          <a:xfrm flipH="1" rot="10800000">
            <a:off x="6536050" y="2394650"/>
            <a:ext cx="1009800" cy="28500"/>
          </a:xfrm>
          <a:prstGeom prst="straightConnector1">
            <a:avLst/>
          </a:prstGeom>
          <a:noFill/>
          <a:ln cap="flat" cmpd="sng" w="28575">
            <a:solidFill>
              <a:schemeClr val="dk2"/>
            </a:solidFill>
            <a:prstDash val="solid"/>
            <a:round/>
            <a:headEnd len="med" w="med" type="none"/>
            <a:tailEnd len="med" w="med" type="triangle"/>
          </a:ln>
        </p:spPr>
      </p:cxnSp>
      <p:cxnSp>
        <p:nvCxnSpPr>
          <p:cNvPr id="716" name="Google Shape;716;p51"/>
          <p:cNvCxnSpPr>
            <a:endCxn id="705" idx="1"/>
          </p:cNvCxnSpPr>
          <p:nvPr/>
        </p:nvCxnSpPr>
        <p:spPr>
          <a:xfrm>
            <a:off x="4859675" y="1842225"/>
            <a:ext cx="818100" cy="6300"/>
          </a:xfrm>
          <a:prstGeom prst="straightConnector1">
            <a:avLst/>
          </a:prstGeom>
          <a:noFill/>
          <a:ln cap="flat" cmpd="sng" w="28575">
            <a:solidFill>
              <a:schemeClr val="dk2"/>
            </a:solidFill>
            <a:prstDash val="solid"/>
            <a:round/>
            <a:headEnd len="med" w="med" type="none"/>
            <a:tailEnd len="med" w="med" type="triangle"/>
          </a:ln>
        </p:spPr>
      </p:cxnSp>
      <p:cxnSp>
        <p:nvCxnSpPr>
          <p:cNvPr id="717" name="Google Shape;717;p51"/>
          <p:cNvCxnSpPr>
            <a:stCxn id="707" idx="1"/>
          </p:cNvCxnSpPr>
          <p:nvPr/>
        </p:nvCxnSpPr>
        <p:spPr>
          <a:xfrm rot="10800000">
            <a:off x="4811975" y="2413675"/>
            <a:ext cx="865800" cy="0"/>
          </a:xfrm>
          <a:prstGeom prst="straightConnector1">
            <a:avLst/>
          </a:prstGeom>
          <a:noFill/>
          <a:ln cap="flat" cmpd="sng" w="28575">
            <a:solidFill>
              <a:schemeClr val="dk2"/>
            </a:solidFill>
            <a:prstDash val="solid"/>
            <a:round/>
            <a:headEnd len="med" w="med" type="none"/>
            <a:tailEnd len="med" w="med" type="triangle"/>
          </a:ln>
        </p:spPr>
      </p:cxnSp>
      <p:sp>
        <p:nvSpPr>
          <p:cNvPr id="718" name="Google Shape;718;p51"/>
          <p:cNvSpPr txBox="1"/>
          <p:nvPr/>
        </p:nvSpPr>
        <p:spPr>
          <a:xfrm>
            <a:off x="1278575" y="2544725"/>
            <a:ext cx="23418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400">
                <a:solidFill>
                  <a:schemeClr val="dk2"/>
                </a:solidFill>
                <a:latin typeface="Times New Roman"/>
                <a:ea typeface="Times New Roman"/>
                <a:cs typeface="Times New Roman"/>
                <a:sym typeface="Times New Roman"/>
              </a:rPr>
              <a:t>Hộp đen</a:t>
            </a:r>
            <a:endParaRPr sz="2400">
              <a:solidFill>
                <a:schemeClr val="dk2"/>
              </a:solidFill>
              <a:latin typeface="Times New Roman"/>
              <a:ea typeface="Times New Roman"/>
              <a:cs typeface="Times New Roman"/>
              <a:sym typeface="Times New Roman"/>
            </a:endParaRPr>
          </a:p>
        </p:txBody>
      </p:sp>
      <p:sp>
        <p:nvSpPr>
          <p:cNvPr id="719" name="Google Shape;719;p51"/>
          <p:cNvSpPr txBox="1"/>
          <p:nvPr/>
        </p:nvSpPr>
        <p:spPr>
          <a:xfrm>
            <a:off x="5061994" y="2544725"/>
            <a:ext cx="23418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400">
                <a:solidFill>
                  <a:schemeClr val="dk2"/>
                </a:solidFill>
                <a:latin typeface="Times New Roman"/>
                <a:ea typeface="Times New Roman"/>
                <a:cs typeface="Times New Roman"/>
                <a:sym typeface="Times New Roman"/>
              </a:rPr>
              <a:t>Hộp </a:t>
            </a:r>
            <a:r>
              <a:rPr lang="en-GB" sz="2400">
                <a:solidFill>
                  <a:schemeClr val="dk2"/>
                </a:solidFill>
                <a:latin typeface="Times New Roman"/>
                <a:ea typeface="Times New Roman"/>
                <a:cs typeface="Times New Roman"/>
                <a:sym typeface="Times New Roman"/>
              </a:rPr>
              <a:t>trắng</a:t>
            </a:r>
            <a:endParaRPr sz="2400">
              <a:solidFill>
                <a:schemeClr val="dk2"/>
              </a:solidFill>
              <a:latin typeface="Times New Roman"/>
              <a:ea typeface="Times New Roman"/>
              <a:cs typeface="Times New Roman"/>
              <a:sym typeface="Times New Roman"/>
            </a:endParaRPr>
          </a:p>
        </p:txBody>
      </p:sp>
      <p:sp>
        <p:nvSpPr>
          <p:cNvPr id="720" name="Google Shape;720;p51"/>
          <p:cNvSpPr txBox="1"/>
          <p:nvPr/>
        </p:nvSpPr>
        <p:spPr>
          <a:xfrm>
            <a:off x="587450" y="3394450"/>
            <a:ext cx="8244900" cy="26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666666"/>
                </a:solidFill>
                <a:latin typeface="Times New Roman"/>
                <a:ea typeface="Times New Roman"/>
                <a:cs typeface="Times New Roman"/>
                <a:sym typeface="Times New Roman"/>
              </a:rPr>
              <a:t>Cố gắng:</a:t>
            </a:r>
            <a:endParaRPr sz="2400">
              <a:solidFill>
                <a:srgbClr val="666666"/>
              </a:solidFill>
              <a:latin typeface="Times New Roman"/>
              <a:ea typeface="Times New Roman"/>
              <a:cs typeface="Times New Roman"/>
              <a:sym typeface="Times New Roman"/>
            </a:endParaRPr>
          </a:p>
          <a:p>
            <a:pPr indent="-381000" lvl="0" marL="457200" rtl="0" algn="l">
              <a:spcBef>
                <a:spcPts val="0"/>
              </a:spcBef>
              <a:spcAft>
                <a:spcPts val="0"/>
              </a:spcAft>
              <a:buClr>
                <a:srgbClr val="666666"/>
              </a:buClr>
              <a:buSzPts val="2400"/>
              <a:buFont typeface="Times New Roman"/>
              <a:buChar char="●"/>
            </a:pPr>
            <a:r>
              <a:rPr b="1" lang="en-GB" sz="2400">
                <a:solidFill>
                  <a:srgbClr val="666666"/>
                </a:solidFill>
                <a:latin typeface="Times New Roman"/>
                <a:ea typeface="Times New Roman"/>
                <a:cs typeface="Times New Roman"/>
                <a:sym typeface="Times New Roman"/>
              </a:rPr>
              <a:t>Hiểu người nghe</a:t>
            </a:r>
            <a:endParaRPr b="1" sz="2400">
              <a:solidFill>
                <a:srgbClr val="666666"/>
              </a:solidFill>
              <a:latin typeface="Times New Roman"/>
              <a:ea typeface="Times New Roman"/>
              <a:cs typeface="Times New Roman"/>
              <a:sym typeface="Times New Roman"/>
            </a:endParaRPr>
          </a:p>
          <a:p>
            <a:pPr indent="-381000" lvl="0" marL="457200" rtl="0" algn="l">
              <a:spcBef>
                <a:spcPts val="0"/>
              </a:spcBef>
              <a:spcAft>
                <a:spcPts val="0"/>
              </a:spcAft>
              <a:buClr>
                <a:srgbClr val="666666"/>
              </a:buClr>
              <a:buSzPts val="2400"/>
              <a:buFont typeface="Times New Roman"/>
              <a:buChar char="●"/>
            </a:pPr>
            <a:r>
              <a:rPr lang="en-GB" sz="2400">
                <a:solidFill>
                  <a:srgbClr val="666666"/>
                </a:solidFill>
                <a:latin typeface="Times New Roman"/>
                <a:ea typeface="Times New Roman"/>
                <a:cs typeface="Times New Roman"/>
                <a:sym typeface="Times New Roman"/>
              </a:rPr>
              <a:t>Coi hệ thống như 1 hộp đen - ca sử dụng thiết yếu</a:t>
            </a:r>
            <a:endParaRPr sz="2400">
              <a:solidFill>
                <a:srgbClr val="666666"/>
              </a:solidFill>
              <a:latin typeface="Times New Roman"/>
              <a:ea typeface="Times New Roman"/>
              <a:cs typeface="Times New Roman"/>
              <a:sym typeface="Times New Roman"/>
            </a:endParaRPr>
          </a:p>
          <a:p>
            <a:pPr indent="-381000" lvl="0" marL="457200" rtl="0" algn="l">
              <a:spcBef>
                <a:spcPts val="0"/>
              </a:spcBef>
              <a:spcAft>
                <a:spcPts val="0"/>
              </a:spcAft>
              <a:buClr>
                <a:srgbClr val="666666"/>
              </a:buClr>
              <a:buSzPts val="2400"/>
              <a:buFont typeface="Times New Roman"/>
              <a:buChar char="●"/>
            </a:pPr>
            <a:r>
              <a:rPr lang="en-GB" sz="2400">
                <a:solidFill>
                  <a:srgbClr val="666666"/>
                </a:solidFill>
                <a:latin typeface="Times New Roman"/>
                <a:ea typeface="Times New Roman"/>
                <a:cs typeface="Times New Roman"/>
                <a:sym typeface="Times New Roman"/>
              </a:rPr>
              <a:t>Sử dụng các thành phần hộp trắng, các chi tiết ở mức độ hợp lý nếu làm ca sử dụng cụ thể hơn và dễ hiểu hơn - Ca sử dụng thực tế.</a:t>
            </a:r>
            <a:endParaRPr sz="2400">
              <a:solidFill>
                <a:srgbClr val="666666"/>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5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Mức độ chi tiết hợp lý</a:t>
            </a:r>
            <a:endParaRPr/>
          </a:p>
        </p:txBody>
      </p:sp>
      <p:sp>
        <p:nvSpPr>
          <p:cNvPr id="726" name="Google Shape;726;p5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27" name="Google Shape;727;p52"/>
          <p:cNvSpPr txBox="1"/>
          <p:nvPr>
            <p:ph idx="1" type="body"/>
          </p:nvPr>
        </p:nvSpPr>
        <p:spPr>
          <a:xfrm>
            <a:off x="311700" y="1034900"/>
            <a:ext cx="8520600" cy="5286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Không chứa các chi tiết thiết kế giao diện người dùng - Tập trung vào thông tin và sự kiện, không phải định dạng và điều khiển.</a:t>
            </a:r>
            <a:endParaRPr/>
          </a:p>
          <a:p>
            <a:pPr indent="-381000" lvl="0" marL="457200" rtl="0" algn="l">
              <a:spcBef>
                <a:spcPts val="0"/>
              </a:spcBef>
              <a:spcAft>
                <a:spcPts val="0"/>
              </a:spcAft>
              <a:buSzPts val="2400"/>
              <a:buChar char="●"/>
            </a:pPr>
            <a:r>
              <a:rPr lang="en-GB"/>
              <a:t>Tập trung vào yêu cầu thay vì giải pháp.</a:t>
            </a:r>
            <a:endParaRPr/>
          </a:p>
          <a:p>
            <a:pPr indent="-381000" lvl="0" marL="457200" rtl="0" algn="l">
              <a:spcBef>
                <a:spcPts val="0"/>
              </a:spcBef>
              <a:spcAft>
                <a:spcPts val="0"/>
              </a:spcAft>
              <a:buSzPts val="2400"/>
              <a:buChar char="●"/>
            </a:pPr>
            <a:r>
              <a:rPr lang="en-GB"/>
              <a:t>Tập trung vào các hành vi mong đợi, không phải cách triển khai các hành vi.</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5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Kiểm tra và xác nhận ca sử dụng</a:t>
            </a:r>
            <a:endParaRPr/>
          </a:p>
        </p:txBody>
      </p:sp>
      <p:sp>
        <p:nvSpPr>
          <p:cNvPr id="733" name="Google Shape;733;p53"/>
          <p:cNvSpPr txBox="1"/>
          <p:nvPr>
            <p:ph idx="1" type="body"/>
          </p:nvPr>
        </p:nvSpPr>
        <p:spPr>
          <a:xfrm>
            <a:off x="311700" y="1034900"/>
            <a:ext cx="8520600" cy="5286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Ca sử dụng phải được kiểm tra và xác nhận trước khi bắt đầu mô hình hóa cấu trúc và mô hình hóa hành vi</a:t>
            </a:r>
            <a:endParaRPr/>
          </a:p>
          <a:p>
            <a:pPr indent="-368300" lvl="1" marL="914400" rtl="0" algn="l">
              <a:spcBef>
                <a:spcPts val="0"/>
              </a:spcBef>
              <a:spcAft>
                <a:spcPts val="0"/>
              </a:spcAft>
              <a:buSzPts val="2200"/>
              <a:buChar char="○"/>
            </a:pPr>
            <a:r>
              <a:rPr lang="en-GB"/>
              <a:t>1-3) Đảm bảo tính nhất quán giữa luồng sự kiện trong đặc tả ca sử dụng và </a:t>
            </a:r>
            <a:r>
              <a:rPr lang="en-GB"/>
              <a:t>sơ đồ</a:t>
            </a:r>
            <a:r>
              <a:rPr lang="en-GB"/>
              <a:t> hoạt động: Sự kiện - Hành động/Hoạt động, các nút đối tượng; cách thực hiện</a:t>
            </a:r>
            <a:endParaRPr/>
          </a:p>
          <a:p>
            <a:pPr indent="-368300" lvl="1" marL="914400" rtl="0" algn="l">
              <a:spcBef>
                <a:spcPts val="0"/>
              </a:spcBef>
              <a:spcAft>
                <a:spcPts val="0"/>
              </a:spcAft>
              <a:buSzPts val="2200"/>
              <a:buChar char="○"/>
            </a:pPr>
            <a:r>
              <a:rPr lang="en-GB"/>
              <a:t>4) Đảm bảo mỗi ca sử dụng đều có một và chỉ một đặc tả.</a:t>
            </a:r>
            <a:endParaRPr/>
          </a:p>
          <a:p>
            <a:pPr indent="-368300" lvl="1" marL="914400" rtl="0" algn="l">
              <a:spcBef>
                <a:spcPts val="0"/>
              </a:spcBef>
              <a:spcAft>
                <a:spcPts val="0"/>
              </a:spcAft>
              <a:buSzPts val="2200"/>
              <a:buChar char="○"/>
            </a:pPr>
            <a:r>
              <a:rPr lang="en-GB"/>
              <a:t>5-7) Đảm bảo tính nhất quán giữa các đặc tả ca sử dụng và </a:t>
            </a:r>
            <a:r>
              <a:rPr lang="en-GB"/>
              <a:t>sơ đồ</a:t>
            </a:r>
            <a:r>
              <a:rPr lang="en-GB"/>
              <a:t> ca sử dụng: Danh sách tác nhân; Các </a:t>
            </a:r>
            <a:r>
              <a:rPr lang="en-GB"/>
              <a:t>cổ đông</a:t>
            </a:r>
            <a:r>
              <a:rPr lang="en-GB"/>
              <a:t> được liệt kê trong đặc tả ca sử dụng có thể được biểu diễn trên </a:t>
            </a:r>
            <a:r>
              <a:rPr lang="en-GB"/>
              <a:t>sơ đồ</a:t>
            </a:r>
            <a:r>
              <a:rPr lang="en-GB"/>
              <a:t> ca sử dụng; Tất cả các mối quan hệ.</a:t>
            </a:r>
            <a:endParaRPr/>
          </a:p>
          <a:p>
            <a:pPr indent="-368300" lvl="1" marL="914400" rtl="0" algn="l">
              <a:spcBef>
                <a:spcPts val="0"/>
              </a:spcBef>
              <a:spcAft>
                <a:spcPts val="0"/>
              </a:spcAft>
              <a:buSzPts val="2200"/>
              <a:buChar char="○"/>
            </a:pPr>
            <a:r>
              <a:rPr lang="en-GB"/>
              <a:t>8) Đảm bảo đúng cú pháp </a:t>
            </a:r>
            <a:r>
              <a:rPr lang="en-GB"/>
              <a:t>sơ đồ</a:t>
            </a:r>
            <a:endParaRPr/>
          </a:p>
        </p:txBody>
      </p:sp>
      <p:sp>
        <p:nvSpPr>
          <p:cNvPr id="734" name="Google Shape;734;p5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5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740" name="Google Shape;740;p54"/>
          <p:cNvSpPr txBox="1"/>
          <p:nvPr>
            <p:ph idx="1" type="body"/>
          </p:nvPr>
        </p:nvSpPr>
        <p:spPr>
          <a:xfrm>
            <a:off x="311700" y="1034900"/>
            <a:ext cx="8520600" cy="5286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a:t>
            </a:r>
            <a:r>
              <a:rPr lang="en-GB"/>
              <a:t>ô hình hóa nghiệp vụ </a:t>
            </a:r>
            <a:endParaRPr/>
          </a:p>
          <a:p>
            <a:pPr indent="-381000" lvl="0" marL="457200" rtl="0" algn="l">
              <a:spcBef>
                <a:spcPts val="0"/>
              </a:spcBef>
              <a:spcAft>
                <a:spcPts val="0"/>
              </a:spcAft>
              <a:buSzPts val="2400"/>
              <a:buChar char="●"/>
            </a:pPr>
            <a:r>
              <a:rPr lang="en-GB"/>
              <a:t>Biểu đồ ca sử dụng</a:t>
            </a:r>
            <a:endParaRPr/>
          </a:p>
          <a:p>
            <a:pPr indent="-381000" lvl="0" marL="457200" rtl="0" algn="l">
              <a:spcBef>
                <a:spcPts val="0"/>
              </a:spcBef>
              <a:spcAft>
                <a:spcPts val="0"/>
              </a:spcAft>
              <a:buSzPts val="2400"/>
              <a:buChar char="●"/>
            </a:pPr>
            <a:r>
              <a:rPr lang="en-GB"/>
              <a:t>Đặc tả ca sử dụng</a:t>
            </a:r>
            <a:endParaRPr/>
          </a:p>
          <a:p>
            <a:pPr indent="-381000" lvl="0" marL="457200" rtl="0" algn="l">
              <a:spcBef>
                <a:spcPts val="0"/>
              </a:spcBef>
              <a:spcAft>
                <a:spcPts val="0"/>
              </a:spcAft>
              <a:buSzPts val="2400"/>
              <a:buChar char="●"/>
            </a:pPr>
            <a:r>
              <a:rPr lang="en-GB"/>
              <a:t>Phương pháp đơn vị ca sử dụng</a:t>
            </a:r>
            <a:endParaRPr/>
          </a:p>
        </p:txBody>
      </p:sp>
      <p:sp>
        <p:nvSpPr>
          <p:cNvPr id="741" name="Google Shape;741;p5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42" name="Google Shape;742;p54"/>
          <p:cNvSpPr/>
          <p:nvPr/>
        </p:nvSpPr>
        <p:spPr>
          <a:xfrm>
            <a:off x="376175" y="2215147"/>
            <a:ext cx="4980900" cy="763500"/>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5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Ước lượng chi phí dự án</a:t>
            </a:r>
            <a:endParaRPr/>
          </a:p>
        </p:txBody>
      </p:sp>
      <p:sp>
        <p:nvSpPr>
          <p:cNvPr id="748" name="Google Shape;748;p55"/>
          <p:cNvSpPr txBox="1"/>
          <p:nvPr>
            <p:ph idx="1" type="body"/>
          </p:nvPr>
        </p:nvSpPr>
        <p:spPr>
          <a:xfrm>
            <a:off x="311700" y="1034900"/>
            <a:ext cx="8520600" cy="5286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Những </a:t>
            </a:r>
            <a:r>
              <a:rPr lang="en-GB"/>
              <a:t>yếu tố</a:t>
            </a:r>
            <a:r>
              <a:rPr lang="en-GB"/>
              <a:t> </a:t>
            </a:r>
            <a:r>
              <a:rPr lang="en-GB"/>
              <a:t>tiêu biểu của dự án</a:t>
            </a:r>
            <a:r>
              <a:rPr lang="en-GB"/>
              <a:t>: Chức năng, Thời hạn và Kinh phí</a:t>
            </a:r>
            <a:endParaRPr/>
          </a:p>
          <a:p>
            <a:pPr indent="-381000" lvl="0" marL="457200" rtl="0" algn="l">
              <a:spcBef>
                <a:spcPts val="0"/>
              </a:spcBef>
              <a:spcAft>
                <a:spcPts val="0"/>
              </a:spcAft>
              <a:buSzPts val="2400"/>
              <a:buChar char="●"/>
            </a:pPr>
            <a:r>
              <a:rPr lang="en-GB"/>
              <a:t>Thời gian và </a:t>
            </a:r>
            <a:r>
              <a:rPr lang="en-GB"/>
              <a:t>kinh</a:t>
            </a:r>
            <a:r>
              <a:rPr lang="en-GB"/>
              <a:t> phí </a:t>
            </a:r>
            <a:r>
              <a:rPr lang="en-GB"/>
              <a:t>có thể được ước lượng dựa trên các mô tả chức năng</a:t>
            </a:r>
            <a:endParaRPr/>
          </a:p>
          <a:p>
            <a:pPr indent="-381000" lvl="0" marL="457200" rtl="0" algn="l">
              <a:spcBef>
                <a:spcPts val="0"/>
              </a:spcBef>
              <a:spcAft>
                <a:spcPts val="0"/>
              </a:spcAft>
              <a:buSzPts val="2400"/>
              <a:buChar char="●"/>
            </a:pPr>
            <a:r>
              <a:rPr lang="en-GB"/>
              <a:t>Những ước lượng hợp lý nhất được </a:t>
            </a:r>
            <a:r>
              <a:rPr lang="en-GB"/>
              <a:t>thực hiện dựa trên</a:t>
            </a:r>
            <a:r>
              <a:rPr lang="en-GB"/>
              <a:t> kinh nghiệm</a:t>
            </a:r>
            <a:endParaRPr/>
          </a:p>
          <a:p>
            <a:pPr indent="-381000" lvl="0" marL="457200" rtl="0" algn="l">
              <a:spcBef>
                <a:spcPts val="0"/>
              </a:spcBef>
              <a:spcAft>
                <a:spcPts val="0"/>
              </a:spcAft>
              <a:buSzPts val="2400"/>
              <a:buChar char="●"/>
            </a:pPr>
            <a:r>
              <a:rPr lang="en-GB"/>
              <a:t>Phương pháp đơn vị ca sử dụng được dựa trên:</a:t>
            </a:r>
            <a:endParaRPr/>
          </a:p>
          <a:p>
            <a:pPr indent="-368300" lvl="1" marL="914400" rtl="0" algn="l">
              <a:spcBef>
                <a:spcPts val="0"/>
              </a:spcBef>
              <a:spcAft>
                <a:spcPts val="0"/>
              </a:spcAft>
              <a:buSzPts val="2200"/>
              <a:buChar char="○"/>
            </a:pPr>
            <a:r>
              <a:rPr lang="en-GB"/>
              <a:t>Tác nhân và </a:t>
            </a:r>
            <a:r>
              <a:rPr lang="en-GB"/>
              <a:t>các</a:t>
            </a:r>
            <a:r>
              <a:rPr lang="en-GB"/>
              <a:t> </a:t>
            </a:r>
            <a:r>
              <a:rPr lang="en-GB"/>
              <a:t>đặc tả </a:t>
            </a:r>
            <a:r>
              <a:rPr lang="en-GB"/>
              <a:t>ca sử dụng</a:t>
            </a:r>
            <a:endParaRPr/>
          </a:p>
          <a:p>
            <a:pPr indent="-368300" lvl="1" marL="914400" rtl="0" algn="l">
              <a:spcBef>
                <a:spcPts val="0"/>
              </a:spcBef>
              <a:spcAft>
                <a:spcPts val="0"/>
              </a:spcAft>
              <a:buSzPts val="2200"/>
              <a:buChar char="○"/>
            </a:pPr>
            <a:r>
              <a:rPr lang="en-GB"/>
              <a:t>Các hệ số phức tạp kỹ thuật (13)</a:t>
            </a:r>
            <a:endParaRPr/>
          </a:p>
          <a:p>
            <a:pPr indent="-368300" lvl="1" marL="914400" rtl="0" algn="l">
              <a:spcBef>
                <a:spcPts val="0"/>
              </a:spcBef>
              <a:spcAft>
                <a:spcPts val="0"/>
              </a:spcAft>
              <a:buSzPts val="2200"/>
              <a:buChar char="○"/>
            </a:pPr>
            <a:r>
              <a:rPr lang="en-GB"/>
              <a:t>Các hệ số môi trường (8)</a:t>
            </a:r>
            <a:endParaRPr/>
          </a:p>
        </p:txBody>
      </p:sp>
      <p:sp>
        <p:nvSpPr>
          <p:cNvPr id="749" name="Google Shape;749;p5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56"/>
          <p:cNvSpPr/>
          <p:nvPr/>
        </p:nvSpPr>
        <p:spPr>
          <a:xfrm>
            <a:off x="295450" y="1482825"/>
            <a:ext cx="8520600" cy="501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56"/>
          <p:cNvSpPr txBox="1"/>
          <p:nvPr>
            <p:ph idx="4294967295"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UCP: Phân loại tác nhân</a:t>
            </a:r>
            <a:endParaRPr/>
          </a:p>
        </p:txBody>
      </p:sp>
      <p:sp>
        <p:nvSpPr>
          <p:cNvPr id="756" name="Google Shape;756;p5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757" name="Google Shape;757;p56"/>
          <p:cNvPicPr preferRelativeResize="0"/>
          <p:nvPr/>
        </p:nvPicPr>
        <p:blipFill>
          <a:blip r:embed="rId3">
            <a:alphaModFix/>
          </a:blip>
          <a:stretch>
            <a:fillRect/>
          </a:stretch>
        </p:blipFill>
        <p:spPr>
          <a:xfrm>
            <a:off x="466150" y="1787624"/>
            <a:ext cx="8238299" cy="3609437"/>
          </a:xfrm>
          <a:prstGeom prst="rect">
            <a:avLst/>
          </a:prstGeom>
          <a:noFill/>
          <a:ln>
            <a:noFill/>
          </a:ln>
        </p:spPr>
      </p:pic>
      <p:sp>
        <p:nvSpPr>
          <p:cNvPr id="758" name="Google Shape;758;p56"/>
          <p:cNvSpPr txBox="1"/>
          <p:nvPr/>
        </p:nvSpPr>
        <p:spPr>
          <a:xfrm>
            <a:off x="508650" y="5530250"/>
            <a:ext cx="8096400" cy="72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rgbClr val="FF9900"/>
                </a:solidFill>
                <a:latin typeface="Times New Roman"/>
                <a:ea typeface="Times New Roman"/>
                <a:cs typeface="Times New Roman"/>
                <a:sym typeface="Times New Roman"/>
              </a:rPr>
              <a:t>*Hệ quản trị CSDL không giống 1 tác nhân, tuy nhiên vẫn tốn chi phí để triển khai.</a:t>
            </a:r>
            <a:endParaRPr i="1" sz="2400">
              <a:solidFill>
                <a:srgbClr val="FF9900"/>
              </a:solidFill>
              <a:latin typeface="Times New Roman"/>
              <a:ea typeface="Times New Roman"/>
              <a:cs typeface="Times New Roman"/>
              <a:sym typeface="Times New Roman"/>
            </a:endParaRPr>
          </a:p>
        </p:txBody>
      </p:sp>
      <p:sp>
        <p:nvSpPr>
          <p:cNvPr id="759" name="Google Shape;759;p56"/>
          <p:cNvSpPr txBox="1"/>
          <p:nvPr/>
        </p:nvSpPr>
        <p:spPr>
          <a:xfrm>
            <a:off x="4921286" y="3970536"/>
            <a:ext cx="227400" cy="19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FF9900"/>
                </a:solidFill>
                <a:latin typeface="Times New Roman"/>
                <a:ea typeface="Times New Roman"/>
                <a:cs typeface="Times New Roman"/>
                <a:sym typeface="Times New Roman"/>
              </a:rPr>
              <a:t>*</a:t>
            </a:r>
            <a:endParaRPr sz="2400">
              <a:solidFill>
                <a:srgbClr val="FF9900"/>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57"/>
          <p:cNvSpPr/>
          <p:nvPr/>
        </p:nvSpPr>
        <p:spPr>
          <a:xfrm>
            <a:off x="295450" y="1482825"/>
            <a:ext cx="8520600" cy="501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57"/>
          <p:cNvSpPr txBox="1"/>
          <p:nvPr>
            <p:ph idx="4294967295"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UCP: Phân loại ca sử dụng</a:t>
            </a:r>
            <a:endParaRPr baseline="-25000"/>
          </a:p>
        </p:txBody>
      </p:sp>
      <p:sp>
        <p:nvSpPr>
          <p:cNvPr id="766" name="Google Shape;766;p5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767" name="Google Shape;767;p57"/>
          <p:cNvPicPr preferRelativeResize="0"/>
          <p:nvPr/>
        </p:nvPicPr>
        <p:blipFill>
          <a:blip r:embed="rId3">
            <a:alphaModFix/>
          </a:blip>
          <a:stretch>
            <a:fillRect/>
          </a:stretch>
        </p:blipFill>
        <p:spPr>
          <a:xfrm>
            <a:off x="399975" y="1798375"/>
            <a:ext cx="8295350" cy="2881700"/>
          </a:xfrm>
          <a:prstGeom prst="rect">
            <a:avLst/>
          </a:prstGeom>
          <a:noFill/>
          <a:ln>
            <a:noFill/>
          </a:ln>
        </p:spPr>
      </p:pic>
      <p:sp>
        <p:nvSpPr>
          <p:cNvPr id="768" name="Google Shape;768;p57"/>
          <p:cNvSpPr txBox="1"/>
          <p:nvPr/>
        </p:nvSpPr>
        <p:spPr>
          <a:xfrm>
            <a:off x="401375" y="4948150"/>
            <a:ext cx="8260200" cy="796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GB" sz="1800">
                <a:solidFill>
                  <a:schemeClr val="dk1"/>
                </a:solidFill>
                <a:latin typeface="Times New Roman"/>
                <a:ea typeface="Times New Roman"/>
                <a:cs typeface="Times New Roman"/>
                <a:sym typeface="Times New Roman"/>
              </a:rPr>
              <a:t>Số lượng đơn vị ca sử dụng chưa hiệu chỉnh: </a:t>
            </a:r>
            <a:endParaRPr b="1" sz="18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b="1" lang="en-GB" sz="1800">
                <a:solidFill>
                  <a:schemeClr val="dk1"/>
                </a:solidFill>
                <a:latin typeface="Times New Roman"/>
                <a:ea typeface="Times New Roman"/>
                <a:cs typeface="Times New Roman"/>
                <a:sym typeface="Times New Roman"/>
              </a:rPr>
              <a:t>    UUCP = UAW + UUCW = 12 + 70 = 82</a:t>
            </a:r>
            <a:endParaRPr sz="1800">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58"/>
          <p:cNvSpPr/>
          <p:nvPr/>
        </p:nvSpPr>
        <p:spPr>
          <a:xfrm>
            <a:off x="510050" y="1209150"/>
            <a:ext cx="8178900" cy="5489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58"/>
          <p:cNvSpPr txBox="1"/>
          <p:nvPr>
            <p:ph idx="4294967295" type="title"/>
          </p:nvPr>
        </p:nvSpPr>
        <p:spPr>
          <a:xfrm>
            <a:off x="311700" y="59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UCP: Đánh giá các chỉ số kỹ thuật</a:t>
            </a:r>
            <a:endParaRPr baseline="-25000"/>
          </a:p>
        </p:txBody>
      </p:sp>
      <p:sp>
        <p:nvSpPr>
          <p:cNvPr id="775" name="Google Shape;775;p5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776" name="Google Shape;776;p58"/>
          <p:cNvPicPr preferRelativeResize="0"/>
          <p:nvPr/>
        </p:nvPicPr>
        <p:blipFill>
          <a:blip r:embed="rId3">
            <a:alphaModFix/>
          </a:blip>
          <a:stretch>
            <a:fillRect/>
          </a:stretch>
        </p:blipFill>
        <p:spPr>
          <a:xfrm>
            <a:off x="2732800" y="1289100"/>
            <a:ext cx="5616051" cy="5040201"/>
          </a:xfrm>
          <a:prstGeom prst="rect">
            <a:avLst/>
          </a:prstGeom>
          <a:noFill/>
          <a:ln>
            <a:noFill/>
          </a:ln>
        </p:spPr>
      </p:pic>
      <p:sp>
        <p:nvSpPr>
          <p:cNvPr id="777" name="Google Shape;777;p58"/>
          <p:cNvSpPr txBox="1"/>
          <p:nvPr/>
        </p:nvSpPr>
        <p:spPr>
          <a:xfrm>
            <a:off x="694025" y="6295900"/>
            <a:ext cx="7995000" cy="402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GB" sz="1800">
                <a:solidFill>
                  <a:schemeClr val="dk1"/>
                </a:solidFill>
                <a:latin typeface="Times New Roman"/>
                <a:ea typeface="Times New Roman"/>
                <a:cs typeface="Times New Roman"/>
                <a:sym typeface="Times New Roman"/>
              </a:rPr>
              <a:t>Hệ số phức tạp kỹ thuật: TCF = 0.6 + (0.01 * TFactor) = 0.6 + (0.01 * 15) = 0.75</a:t>
            </a:r>
            <a:endParaRPr sz="1800">
              <a:latin typeface="Times New Roman"/>
              <a:ea typeface="Times New Roman"/>
              <a:cs typeface="Times New Roman"/>
              <a:sym typeface="Times New Roman"/>
            </a:endParaRPr>
          </a:p>
        </p:txBody>
      </p:sp>
      <p:sp>
        <p:nvSpPr>
          <p:cNvPr id="778" name="Google Shape;778;p58"/>
          <p:cNvSpPr txBox="1"/>
          <p:nvPr/>
        </p:nvSpPr>
        <p:spPr>
          <a:xfrm>
            <a:off x="510050" y="1204625"/>
            <a:ext cx="2136300" cy="229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2"/>
                </a:solidFill>
                <a:latin typeface="Times New Roman"/>
                <a:ea typeface="Times New Roman"/>
                <a:cs typeface="Times New Roman"/>
                <a:sym typeface="Times New Roman"/>
              </a:rPr>
              <a:t>TFactor ∊ [0..5]</a:t>
            </a:r>
            <a:endParaRPr sz="2000">
              <a:solidFill>
                <a:schemeClr val="dk2"/>
              </a:solidFill>
              <a:latin typeface="Times New Roman"/>
              <a:ea typeface="Times New Roman"/>
              <a:cs typeface="Times New Roman"/>
              <a:sym typeface="Times New Roman"/>
            </a:endParaRPr>
          </a:p>
          <a:p>
            <a:pPr indent="-355600" lvl="0" marL="457200" rtl="0" algn="l">
              <a:spcBef>
                <a:spcPts val="0"/>
              </a:spcBef>
              <a:spcAft>
                <a:spcPts val="0"/>
              </a:spcAft>
              <a:buClr>
                <a:schemeClr val="dk2"/>
              </a:buClr>
              <a:buSzPts val="2000"/>
              <a:buFont typeface="Times New Roman"/>
              <a:buChar char="-"/>
            </a:pPr>
            <a:r>
              <a:rPr lang="en-GB" sz="2000">
                <a:solidFill>
                  <a:schemeClr val="dk2"/>
                </a:solidFill>
                <a:latin typeface="Times New Roman"/>
                <a:ea typeface="Times New Roman"/>
                <a:cs typeface="Times New Roman"/>
                <a:sym typeface="Times New Roman"/>
              </a:rPr>
              <a:t>0: Không ảnh hưởng gì.</a:t>
            </a:r>
            <a:endParaRPr sz="2000">
              <a:solidFill>
                <a:schemeClr val="dk2"/>
              </a:solidFill>
              <a:latin typeface="Times New Roman"/>
              <a:ea typeface="Times New Roman"/>
              <a:cs typeface="Times New Roman"/>
              <a:sym typeface="Times New Roman"/>
            </a:endParaRPr>
          </a:p>
          <a:p>
            <a:pPr indent="-355600" lvl="0" marL="457200" rtl="0" algn="l">
              <a:spcBef>
                <a:spcPts val="0"/>
              </a:spcBef>
              <a:spcAft>
                <a:spcPts val="0"/>
              </a:spcAft>
              <a:buClr>
                <a:schemeClr val="dk2"/>
              </a:buClr>
              <a:buSzPts val="2000"/>
              <a:buFont typeface="Times New Roman"/>
              <a:buChar char="-"/>
            </a:pPr>
            <a:r>
              <a:rPr lang="en-GB" sz="2000">
                <a:solidFill>
                  <a:schemeClr val="dk2"/>
                </a:solidFill>
                <a:latin typeface="Times New Roman"/>
                <a:ea typeface="Times New Roman"/>
                <a:cs typeface="Times New Roman"/>
                <a:sym typeface="Times New Roman"/>
              </a:rPr>
              <a:t>3: Ảnh hưởng trung bình.</a:t>
            </a:r>
            <a:endParaRPr sz="2000">
              <a:solidFill>
                <a:schemeClr val="dk2"/>
              </a:solidFill>
              <a:latin typeface="Times New Roman"/>
              <a:ea typeface="Times New Roman"/>
              <a:cs typeface="Times New Roman"/>
              <a:sym typeface="Times New Roman"/>
            </a:endParaRPr>
          </a:p>
          <a:p>
            <a:pPr indent="-355600" lvl="0" marL="457200" rtl="0" algn="l">
              <a:spcBef>
                <a:spcPts val="0"/>
              </a:spcBef>
              <a:spcAft>
                <a:spcPts val="0"/>
              </a:spcAft>
              <a:buClr>
                <a:schemeClr val="dk2"/>
              </a:buClr>
              <a:buSzPts val="2000"/>
              <a:buFont typeface="Times New Roman"/>
              <a:buChar char="-"/>
            </a:pPr>
            <a:r>
              <a:rPr lang="en-GB" sz="2000">
                <a:solidFill>
                  <a:schemeClr val="dk2"/>
                </a:solidFill>
                <a:latin typeface="Times New Roman"/>
                <a:ea typeface="Times New Roman"/>
                <a:cs typeface="Times New Roman"/>
                <a:sym typeface="Times New Roman"/>
              </a:rPr>
              <a:t>5: Ảnh hưởng cao.</a:t>
            </a:r>
            <a:endParaRPr sz="2000">
              <a:solidFill>
                <a:schemeClr val="dk2"/>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59"/>
          <p:cNvSpPr/>
          <p:nvPr/>
        </p:nvSpPr>
        <p:spPr>
          <a:xfrm>
            <a:off x="235100" y="1427425"/>
            <a:ext cx="8520600" cy="523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59"/>
          <p:cNvSpPr txBox="1"/>
          <p:nvPr>
            <p:ph idx="4294967295"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UCP: Đánh giá các chỉ số môi trường</a:t>
            </a:r>
            <a:endParaRPr baseline="-25000"/>
          </a:p>
        </p:txBody>
      </p:sp>
      <p:sp>
        <p:nvSpPr>
          <p:cNvPr id="785" name="Google Shape;785;p5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786" name="Google Shape;786;p59"/>
          <p:cNvPicPr preferRelativeResize="0"/>
          <p:nvPr/>
        </p:nvPicPr>
        <p:blipFill>
          <a:blip r:embed="rId3">
            <a:alphaModFix/>
          </a:blip>
          <a:stretch>
            <a:fillRect/>
          </a:stretch>
        </p:blipFill>
        <p:spPr>
          <a:xfrm>
            <a:off x="2350150" y="1537825"/>
            <a:ext cx="6325251" cy="4679799"/>
          </a:xfrm>
          <a:prstGeom prst="rect">
            <a:avLst/>
          </a:prstGeom>
          <a:noFill/>
          <a:ln>
            <a:noFill/>
          </a:ln>
        </p:spPr>
      </p:pic>
      <p:sp>
        <p:nvSpPr>
          <p:cNvPr id="787" name="Google Shape;787;p59"/>
          <p:cNvSpPr txBox="1"/>
          <p:nvPr/>
        </p:nvSpPr>
        <p:spPr>
          <a:xfrm>
            <a:off x="617825" y="6219700"/>
            <a:ext cx="7995000" cy="402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GB" sz="1800">
                <a:solidFill>
                  <a:schemeClr val="dk1"/>
                </a:solidFill>
                <a:latin typeface="Times New Roman"/>
                <a:ea typeface="Times New Roman"/>
                <a:cs typeface="Times New Roman"/>
                <a:sym typeface="Times New Roman"/>
              </a:rPr>
              <a:t>Hệ số môi trường: EF = 1.4 + (-0.03 * EFactor) = 1.4 + (-0.03 * 25.5) = 0.635</a:t>
            </a:r>
            <a:endParaRPr sz="1800">
              <a:latin typeface="Times New Roman"/>
              <a:ea typeface="Times New Roman"/>
              <a:cs typeface="Times New Roman"/>
              <a:sym typeface="Times New Roman"/>
            </a:endParaRPr>
          </a:p>
        </p:txBody>
      </p:sp>
      <p:sp>
        <p:nvSpPr>
          <p:cNvPr id="788" name="Google Shape;788;p59"/>
          <p:cNvSpPr txBox="1"/>
          <p:nvPr/>
        </p:nvSpPr>
        <p:spPr>
          <a:xfrm>
            <a:off x="205250" y="1738025"/>
            <a:ext cx="2136300" cy="229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2"/>
                </a:solidFill>
                <a:latin typeface="Times New Roman"/>
                <a:ea typeface="Times New Roman"/>
                <a:cs typeface="Times New Roman"/>
                <a:sym typeface="Times New Roman"/>
              </a:rPr>
              <a:t>E</a:t>
            </a:r>
            <a:r>
              <a:rPr lang="en-GB" sz="2000">
                <a:solidFill>
                  <a:schemeClr val="dk2"/>
                </a:solidFill>
                <a:latin typeface="Times New Roman"/>
                <a:ea typeface="Times New Roman"/>
                <a:cs typeface="Times New Roman"/>
                <a:sym typeface="Times New Roman"/>
              </a:rPr>
              <a:t>Factor ∊ [0..5]</a:t>
            </a:r>
            <a:endParaRPr sz="2000">
              <a:solidFill>
                <a:schemeClr val="dk2"/>
              </a:solidFill>
              <a:latin typeface="Times New Roman"/>
              <a:ea typeface="Times New Roman"/>
              <a:cs typeface="Times New Roman"/>
              <a:sym typeface="Times New Roman"/>
            </a:endParaRPr>
          </a:p>
          <a:p>
            <a:pPr indent="-355600" lvl="0" marL="457200" rtl="0" algn="l">
              <a:spcBef>
                <a:spcPts val="0"/>
              </a:spcBef>
              <a:spcAft>
                <a:spcPts val="0"/>
              </a:spcAft>
              <a:buClr>
                <a:schemeClr val="dk2"/>
              </a:buClr>
              <a:buSzPts val="2000"/>
              <a:buFont typeface="Times New Roman"/>
              <a:buChar char="-"/>
            </a:pPr>
            <a:r>
              <a:rPr lang="en-GB" sz="2000">
                <a:solidFill>
                  <a:schemeClr val="dk2"/>
                </a:solidFill>
                <a:latin typeface="Times New Roman"/>
                <a:ea typeface="Times New Roman"/>
                <a:cs typeface="Times New Roman"/>
                <a:sym typeface="Times New Roman"/>
              </a:rPr>
              <a:t>0: Không </a:t>
            </a:r>
            <a:r>
              <a:rPr lang="en-GB" sz="2000">
                <a:solidFill>
                  <a:schemeClr val="dk2"/>
                </a:solidFill>
                <a:latin typeface="Times New Roman"/>
                <a:ea typeface="Times New Roman"/>
                <a:cs typeface="Times New Roman"/>
                <a:sym typeface="Times New Roman"/>
              </a:rPr>
              <a:t>có động lực</a:t>
            </a:r>
            <a:r>
              <a:rPr lang="en-GB" sz="2000">
                <a:solidFill>
                  <a:schemeClr val="dk2"/>
                </a:solidFill>
                <a:latin typeface="Times New Roman"/>
                <a:ea typeface="Times New Roman"/>
                <a:cs typeface="Times New Roman"/>
                <a:sym typeface="Times New Roman"/>
              </a:rPr>
              <a:t>.</a:t>
            </a:r>
            <a:endParaRPr sz="2000">
              <a:solidFill>
                <a:schemeClr val="dk2"/>
              </a:solidFill>
              <a:latin typeface="Times New Roman"/>
              <a:ea typeface="Times New Roman"/>
              <a:cs typeface="Times New Roman"/>
              <a:sym typeface="Times New Roman"/>
            </a:endParaRPr>
          </a:p>
          <a:p>
            <a:pPr indent="-355600" lvl="0" marL="457200" rtl="0" algn="l">
              <a:spcBef>
                <a:spcPts val="0"/>
              </a:spcBef>
              <a:spcAft>
                <a:spcPts val="0"/>
              </a:spcAft>
              <a:buClr>
                <a:schemeClr val="dk2"/>
              </a:buClr>
              <a:buSzPts val="2000"/>
              <a:buFont typeface="Times New Roman"/>
              <a:buChar char="-"/>
            </a:pPr>
            <a:r>
              <a:rPr lang="en-GB" sz="2000">
                <a:solidFill>
                  <a:schemeClr val="dk2"/>
                </a:solidFill>
                <a:latin typeface="Times New Roman"/>
                <a:ea typeface="Times New Roman"/>
                <a:cs typeface="Times New Roman"/>
                <a:sym typeface="Times New Roman"/>
              </a:rPr>
              <a:t>3: </a:t>
            </a:r>
            <a:r>
              <a:rPr lang="en-GB" sz="2000">
                <a:solidFill>
                  <a:schemeClr val="dk2"/>
                </a:solidFill>
                <a:latin typeface="Times New Roman"/>
                <a:ea typeface="Times New Roman"/>
                <a:cs typeface="Times New Roman"/>
                <a:sym typeface="Times New Roman"/>
              </a:rPr>
              <a:t>Động lực</a:t>
            </a:r>
            <a:r>
              <a:rPr lang="en-GB" sz="2000">
                <a:solidFill>
                  <a:schemeClr val="dk2"/>
                </a:solidFill>
                <a:latin typeface="Times New Roman"/>
                <a:ea typeface="Times New Roman"/>
                <a:cs typeface="Times New Roman"/>
                <a:sym typeface="Times New Roman"/>
              </a:rPr>
              <a:t> trung bình.</a:t>
            </a:r>
            <a:endParaRPr sz="2000">
              <a:solidFill>
                <a:schemeClr val="dk2"/>
              </a:solidFill>
              <a:latin typeface="Times New Roman"/>
              <a:ea typeface="Times New Roman"/>
              <a:cs typeface="Times New Roman"/>
              <a:sym typeface="Times New Roman"/>
            </a:endParaRPr>
          </a:p>
          <a:p>
            <a:pPr indent="-355600" lvl="0" marL="457200" rtl="0" algn="l">
              <a:spcBef>
                <a:spcPts val="0"/>
              </a:spcBef>
              <a:spcAft>
                <a:spcPts val="0"/>
              </a:spcAft>
              <a:buClr>
                <a:schemeClr val="dk2"/>
              </a:buClr>
              <a:buSzPts val="2000"/>
              <a:buFont typeface="Times New Roman"/>
              <a:buChar char="-"/>
            </a:pPr>
            <a:r>
              <a:rPr lang="en-GB" sz="2000">
                <a:solidFill>
                  <a:schemeClr val="dk2"/>
                </a:solidFill>
                <a:latin typeface="Times New Roman"/>
                <a:ea typeface="Times New Roman"/>
                <a:cs typeface="Times New Roman"/>
                <a:sym typeface="Times New Roman"/>
              </a:rPr>
              <a:t>5: </a:t>
            </a:r>
            <a:r>
              <a:rPr lang="en-GB" sz="2000">
                <a:solidFill>
                  <a:schemeClr val="dk2"/>
                </a:solidFill>
                <a:latin typeface="Times New Roman"/>
                <a:ea typeface="Times New Roman"/>
                <a:cs typeface="Times New Roman"/>
                <a:sym typeface="Times New Roman"/>
              </a:rPr>
              <a:t>Động lực cao</a:t>
            </a:r>
            <a:r>
              <a:rPr lang="en-GB" sz="2000">
                <a:solidFill>
                  <a:schemeClr val="dk2"/>
                </a:solidFill>
                <a:latin typeface="Times New Roman"/>
                <a:ea typeface="Times New Roman"/>
                <a:cs typeface="Times New Roman"/>
                <a:sym typeface="Times New Roman"/>
              </a:rPr>
              <a:t>.</a:t>
            </a:r>
            <a:endParaRPr sz="2000">
              <a:solidFill>
                <a:schemeClr val="dk2"/>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6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94" name="Google Shape;794;p6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Đánh giá các chỉ số phức tạp</a:t>
            </a:r>
            <a:endParaRPr/>
          </a:p>
        </p:txBody>
      </p:sp>
      <p:sp>
        <p:nvSpPr>
          <p:cNvPr id="795" name="Google Shape;795;p60"/>
          <p:cNvSpPr txBox="1"/>
          <p:nvPr>
            <p:ph idx="1" type="body"/>
          </p:nvPr>
        </p:nvSpPr>
        <p:spPr>
          <a:xfrm>
            <a:off x="311700" y="1034900"/>
            <a:ext cx="8520600" cy="528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u="sng"/>
              <a:t>Tham khảo:</a:t>
            </a:r>
            <a:endParaRPr u="sng"/>
          </a:p>
          <a:p>
            <a:pPr indent="0" lvl="0" marL="0" rtl="0" algn="l">
              <a:spcBef>
                <a:spcPts val="0"/>
              </a:spcBef>
              <a:spcAft>
                <a:spcPts val="0"/>
              </a:spcAft>
              <a:buNone/>
            </a:pPr>
            <a:r>
              <a:rPr lang="en-GB"/>
              <a:t>Object-Oriented Analysis and Design for Information Systems, Modeling with UML, OCL, and IFML. [Raul Sidnei Wazlawick].</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Xem </a:t>
            </a:r>
            <a:r>
              <a:rPr lang="en-GB" u="sng">
                <a:solidFill>
                  <a:schemeClr val="hlink"/>
                </a:solidFill>
                <a:hlinkClick r:id="rId3"/>
              </a:rPr>
              <a:t>Bản dịch tiếng Việt</a:t>
            </a:r>
            <a:endParaRPr/>
          </a:p>
          <a:p>
            <a:pPr indent="0" lvl="0" marL="0" rtl="0" algn="l">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61"/>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UCP: Kết hợp các thành phần</a:t>
            </a:r>
            <a:endParaRPr baseline="-25000"/>
          </a:p>
        </p:txBody>
      </p:sp>
      <p:sp>
        <p:nvSpPr>
          <p:cNvPr id="801" name="Google Shape;801;p61"/>
          <p:cNvSpPr txBox="1"/>
          <p:nvPr>
            <p:ph idx="4294967295" type="body"/>
          </p:nvPr>
        </p:nvSpPr>
        <p:spPr>
          <a:xfrm>
            <a:off x="311700" y="1009075"/>
            <a:ext cx="8520600" cy="5391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n-GB" sz="1800">
                <a:solidFill>
                  <a:schemeClr val="dk1"/>
                </a:solidFill>
              </a:rPr>
              <a:t>Số lượng đơn vị ca sử dụng sau hiệu chỉnh:</a:t>
            </a:r>
            <a:endParaRPr b="1" sz="1800">
              <a:solidFill>
                <a:schemeClr val="dk1"/>
              </a:solidFill>
            </a:endParaRPr>
          </a:p>
          <a:p>
            <a:pPr indent="0" lvl="0" marL="0" rtl="0" algn="just">
              <a:spcBef>
                <a:spcPts val="0"/>
              </a:spcBef>
              <a:spcAft>
                <a:spcPts val="0"/>
              </a:spcAft>
              <a:buClr>
                <a:schemeClr val="dk1"/>
              </a:buClr>
              <a:buSzPts val="1100"/>
              <a:buFont typeface="Arial"/>
              <a:buNone/>
            </a:pPr>
            <a:r>
              <a:rPr b="1" lang="en-GB" sz="1800">
                <a:solidFill>
                  <a:schemeClr val="dk1"/>
                </a:solidFill>
              </a:rPr>
              <a:t>                                  UCP = UUCP * TCF * EF = 82 * 0.75 * 0.635 = 39.0525</a:t>
            </a:r>
            <a:endParaRPr b="1"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n-GB" sz="1800">
                <a:solidFill>
                  <a:schemeClr val="dk1"/>
                </a:solidFill>
              </a:rPr>
              <a:t>Đặt số lượng đặc điểm môi trường không thuận lợi = (#đặc điểm trong khoảng E1...E6 được gán giá trị &lt; 3) + (# đặc điểm trong khoảng E7...E8 được gán giá trị &gt; 3)</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n-GB" sz="1800">
                <a:solidFill>
                  <a:schemeClr val="dk1"/>
                </a:solidFill>
              </a:rPr>
              <a:t>Nếu số lượng đặc điểm môi trường không thuận lợi &lt;= 2 </a:t>
            </a:r>
            <a:endParaRPr sz="1800">
              <a:solidFill>
                <a:schemeClr val="dk1"/>
              </a:solidFill>
            </a:endParaRPr>
          </a:p>
          <a:p>
            <a:pPr indent="0" lvl="0" marL="0" rtl="0" algn="just">
              <a:spcBef>
                <a:spcPts val="0"/>
              </a:spcBef>
              <a:spcAft>
                <a:spcPts val="0"/>
              </a:spcAft>
              <a:buClr>
                <a:schemeClr val="dk1"/>
              </a:buClr>
              <a:buSzPts val="1100"/>
              <a:buFont typeface="Arial"/>
              <a:buNone/>
            </a:pPr>
            <a:r>
              <a:rPr lang="en-GB" sz="1800">
                <a:solidFill>
                  <a:schemeClr val="dk1"/>
                </a:solidFill>
              </a:rPr>
              <a:t>       thì PHM = 20</a:t>
            </a:r>
            <a:endParaRPr sz="1800">
              <a:solidFill>
                <a:schemeClr val="dk1"/>
              </a:solidFill>
            </a:endParaRPr>
          </a:p>
          <a:p>
            <a:pPr indent="0" lvl="0" marL="0" rtl="0" algn="just">
              <a:spcBef>
                <a:spcPts val="0"/>
              </a:spcBef>
              <a:spcAft>
                <a:spcPts val="0"/>
              </a:spcAft>
              <a:buClr>
                <a:schemeClr val="dk1"/>
              </a:buClr>
              <a:buSzPts val="1100"/>
              <a:buFont typeface="Arial"/>
              <a:buNone/>
            </a:pPr>
            <a:r>
              <a:rPr lang="en-GB" sz="1800">
                <a:solidFill>
                  <a:schemeClr val="dk1"/>
                </a:solidFill>
              </a:rPr>
              <a:t>Ngược lại, nếu số lượng đặc điểm môi trường không thuận lợi = 3 hoặc 4 </a:t>
            </a:r>
            <a:endParaRPr sz="1800">
              <a:solidFill>
                <a:schemeClr val="dk1"/>
              </a:solidFill>
            </a:endParaRPr>
          </a:p>
          <a:p>
            <a:pPr indent="0" lvl="0" marL="0" rtl="0" algn="just">
              <a:spcBef>
                <a:spcPts val="0"/>
              </a:spcBef>
              <a:spcAft>
                <a:spcPts val="0"/>
              </a:spcAft>
              <a:buClr>
                <a:schemeClr val="dk1"/>
              </a:buClr>
              <a:buSzPts val="1100"/>
              <a:buFont typeface="Arial"/>
              <a:buNone/>
            </a:pPr>
            <a:r>
              <a:rPr lang="en-GB" sz="1800">
                <a:solidFill>
                  <a:schemeClr val="dk1"/>
                </a:solidFill>
              </a:rPr>
              <a:t>       thì PHM = 28</a:t>
            </a:r>
            <a:endParaRPr sz="1800">
              <a:solidFill>
                <a:schemeClr val="dk1"/>
              </a:solidFill>
            </a:endParaRPr>
          </a:p>
          <a:p>
            <a:pPr indent="0" lvl="0" marL="0" rtl="0" algn="just">
              <a:spcBef>
                <a:spcPts val="0"/>
              </a:spcBef>
              <a:spcAft>
                <a:spcPts val="0"/>
              </a:spcAft>
              <a:buClr>
                <a:schemeClr val="dk1"/>
              </a:buClr>
              <a:buSzPts val="1100"/>
              <a:buFont typeface="Arial"/>
              <a:buNone/>
            </a:pPr>
            <a:r>
              <a:rPr lang="en-GB" sz="1800">
                <a:solidFill>
                  <a:schemeClr val="dk1"/>
                </a:solidFill>
              </a:rPr>
              <a:t>Ngược lại</a:t>
            </a:r>
            <a:endParaRPr sz="1800">
              <a:solidFill>
                <a:schemeClr val="dk1"/>
              </a:solidFill>
            </a:endParaRPr>
          </a:p>
          <a:p>
            <a:pPr indent="0" lvl="0" marL="0" rtl="0" algn="just">
              <a:spcBef>
                <a:spcPts val="0"/>
              </a:spcBef>
              <a:spcAft>
                <a:spcPts val="0"/>
              </a:spcAft>
              <a:buClr>
                <a:schemeClr val="dk1"/>
              </a:buClr>
              <a:buSzPts val="1100"/>
              <a:buFont typeface="Arial"/>
              <a:buNone/>
            </a:pPr>
            <a:r>
              <a:rPr lang="en-GB" sz="1800">
                <a:solidFill>
                  <a:schemeClr val="dk1"/>
                </a:solidFill>
              </a:rPr>
              <a:t>       thì suy nghĩ lại về dự án; rủi ro thất bại quá cao.</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b="1" lang="en-GB" sz="1800">
                <a:solidFill>
                  <a:schemeClr val="dk1"/>
                </a:solidFill>
              </a:rPr>
              <a:t>Chi phí tính bằng giờ nhân lực E = UCP * PHM = 39.1 * 20 = 782</a:t>
            </a:r>
            <a:endParaRPr b="1" sz="1800">
              <a:solidFill>
                <a:schemeClr val="dk1"/>
              </a:solidFill>
            </a:endParaRPr>
          </a:p>
          <a:p>
            <a:pPr indent="0" lvl="0" marL="0" rtl="0" algn="l">
              <a:spcBef>
                <a:spcPts val="0"/>
              </a:spcBef>
              <a:spcAft>
                <a:spcPts val="0"/>
              </a:spcAft>
              <a:buNone/>
            </a:pPr>
            <a:r>
              <a:t/>
            </a:r>
            <a:endParaRPr/>
          </a:p>
        </p:txBody>
      </p:sp>
      <p:sp>
        <p:nvSpPr>
          <p:cNvPr id="802" name="Google Shape;802;p6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62"/>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UCP: Kích thước nhóm tối ưu</a:t>
            </a:r>
            <a:endParaRPr baseline="-25000"/>
          </a:p>
        </p:txBody>
      </p:sp>
      <p:sp>
        <p:nvSpPr>
          <p:cNvPr id="808" name="Google Shape;808;p62"/>
          <p:cNvSpPr txBox="1"/>
          <p:nvPr>
            <p:ph idx="4294967295" type="body"/>
          </p:nvPr>
        </p:nvSpPr>
        <p:spPr>
          <a:xfrm>
            <a:off x="311700" y="1009075"/>
            <a:ext cx="8520600" cy="539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Giả sử số giờ làm việc trong 1 tháng = 158</a:t>
            </a:r>
            <a:endParaRPr/>
          </a:p>
          <a:p>
            <a:pPr indent="0" lvl="0" marL="0" rtl="0" algn="just">
              <a:spcBef>
                <a:spcPts val="0"/>
              </a:spcBef>
              <a:spcAft>
                <a:spcPts val="0"/>
              </a:spcAft>
              <a:buNone/>
            </a:pPr>
            <a:r>
              <a:rPr b="1" lang="en-GB"/>
              <a:t>Chi phí theo tháng nhân lực E = UCP * PHM / 158 = 4.9</a:t>
            </a:r>
            <a:endParaRPr b="1"/>
          </a:p>
          <a:p>
            <a:pPr indent="0" lvl="0" marL="0" rtl="0" algn="just">
              <a:spcBef>
                <a:spcPts val="1000"/>
              </a:spcBef>
              <a:spcAft>
                <a:spcPts val="0"/>
              </a:spcAft>
              <a:buNone/>
            </a:pPr>
            <a:r>
              <a:rPr lang="en-GB"/>
              <a:t>Thời gian tối ưu theo McConnel (1996)</a:t>
            </a:r>
            <a:endParaRPr/>
          </a:p>
          <a:p>
            <a:pPr indent="0" lvl="0" marL="0" rtl="0" algn="just">
              <a:spcBef>
                <a:spcPts val="1000"/>
              </a:spcBef>
              <a:spcAft>
                <a:spcPts val="0"/>
              </a:spcAft>
              <a:buNone/>
            </a:pPr>
            <a:r>
              <a:t/>
            </a:r>
            <a:endParaRPr/>
          </a:p>
          <a:p>
            <a:pPr indent="0" lvl="0" marL="0" rtl="0" algn="just">
              <a:spcBef>
                <a:spcPts val="1000"/>
              </a:spcBef>
              <a:spcAft>
                <a:spcPts val="0"/>
              </a:spcAft>
              <a:buNone/>
            </a:pPr>
            <a:r>
              <a:rPr lang="en-GB"/>
              <a:t>Kích thước nhóm trung bình</a:t>
            </a:r>
            <a:endParaRPr/>
          </a:p>
          <a:p>
            <a:pPr indent="0" lvl="0" marL="0" rtl="0" algn="ctr">
              <a:spcBef>
                <a:spcPts val="0"/>
              </a:spcBef>
              <a:spcAft>
                <a:spcPts val="0"/>
              </a:spcAft>
              <a:buNone/>
            </a:pPr>
            <a:r>
              <a:rPr lang="en-GB"/>
              <a:t>P = E/T  = 4.9 / 4.2 = 1.2</a:t>
            </a:r>
            <a:endParaRPr/>
          </a:p>
          <a:p>
            <a:pPr indent="0" lvl="0" marL="0" rtl="0" algn="just">
              <a:spcBef>
                <a:spcPts val="0"/>
              </a:spcBef>
              <a:spcAft>
                <a:spcPts val="0"/>
              </a:spcAft>
              <a:buNone/>
            </a:pPr>
            <a:r>
              <a:rPr lang="en-GB"/>
              <a:t>Với nhóm N thành viên. Nếu N &gt; P thì thời gian thực hiện dự án được đánh giá &gt; E / N, nếu ngược lại N &lt; P thì thời gian thực hiện dự án được đánh giá khả thi trong giới hạn E / N.</a:t>
            </a:r>
            <a:endParaRPr/>
          </a:p>
          <a:p>
            <a:pPr indent="0" lvl="0" marL="0" rtl="0" algn="just">
              <a:spcBef>
                <a:spcPts val="0"/>
              </a:spcBef>
              <a:spcAft>
                <a:spcPts val="0"/>
              </a:spcAft>
              <a:buClr>
                <a:schemeClr val="dk1"/>
              </a:buClr>
              <a:buSzPts val="1100"/>
              <a:buFont typeface="Arial"/>
              <a:buNone/>
            </a:pPr>
            <a:r>
              <a:t/>
            </a:r>
            <a:endParaRPr/>
          </a:p>
        </p:txBody>
      </p:sp>
      <p:sp>
        <p:nvSpPr>
          <p:cNvPr id="809" name="Google Shape;809;p6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810" name="Google Shape;810;p62"/>
          <p:cNvPicPr preferRelativeResize="0"/>
          <p:nvPr/>
        </p:nvPicPr>
        <p:blipFill>
          <a:blip r:embed="rId3">
            <a:alphaModFix/>
          </a:blip>
          <a:stretch>
            <a:fillRect/>
          </a:stretch>
        </p:blipFill>
        <p:spPr>
          <a:xfrm>
            <a:off x="1877138" y="3529300"/>
            <a:ext cx="5668225" cy="4657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6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816" name="Google Shape;816;p63"/>
          <p:cNvPicPr preferRelativeResize="0"/>
          <p:nvPr/>
        </p:nvPicPr>
        <p:blipFill rotWithShape="1">
          <a:blip r:embed="rId3">
            <a:alphaModFix/>
          </a:blip>
          <a:srcRect b="0" l="0" r="0" t="0"/>
          <a:stretch/>
        </p:blipFill>
        <p:spPr>
          <a:xfrm>
            <a:off x="2779680" y="1531800"/>
            <a:ext cx="3565079" cy="41032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