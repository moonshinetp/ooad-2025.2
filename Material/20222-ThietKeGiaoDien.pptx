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5BC04D-34C5-45BF-B592-F13FD6BDF3E6}">
  <a:tblStyle styleId="{8F5BC04D-34C5-45BF-B592-F13FD6BDF3E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d0d106fea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d0d106f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1ecd355b80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1ecd355b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1ecd355b80_0_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1ecd355b8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3617ab6e21_1_15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3617ab6e21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309f8c31e8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309f8c31e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3617ab6e21_1_1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3617ab6e21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3617ab6e21_1_1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3617ab6e21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3617ab6e21_1_1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3617ab6e21_1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3617ab6e21_1_1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3617ab6e21_1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3617ab6e21_1_3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3617ab6e21_1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3617ab6e21_1_4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3617ab6e21_1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3617ab6e21_1_4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3617ab6e21_1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3617ab6e21_1_20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3617ab6e21_1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3617ab6e21_1_2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3617ab6e21_1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3617ab6e21_1_2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3617ab6e21_1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3772a4ec86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3772a4ec8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3617ab6e21_1_2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3617ab6e21_1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3617ab6e21_1_2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3617ab6e21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3617ab6e21_1_4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3617ab6e21_1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3617ab6e21_1_2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3617ab6e21_1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541ac6a646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541ac6a64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3617ab6e21_1_2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3617ab6e21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3617ab6e21_1_38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3617ab6e21_1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3617ab6e21_1_39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3617ab6e21_1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3617ab6e21_1_2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3617ab6e21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3617ab6e21_1_4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3617ab6e21_1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3617ab6e21_1_4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3617ab6e21_1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3617ab6e21_1_4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3617ab6e21_1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3617ab6e21_1_4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3617ab6e21_1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3617ab6e21_1_28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3617ab6e21_1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3617ab6e21_1_3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3617ab6e21_1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3617ab6e21_1_4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3617ab6e21_1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3617ab6e21_1_47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3617ab6e21_1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3617ab6e21_1_4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3617ab6e21_1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3617ab6e21_1_4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3617ab6e21_1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3617ab6e21_1_2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3617ab6e21_1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3617ab6e21_1_29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3617ab6e21_1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3617ab6e21_1_3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3617ab6e21_1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1ecd355b80_0_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1ecd355b8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398bf9c3a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398bf9c3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398bf9c3ab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398bf9c3a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398bf9c3ab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398bf9c3a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398bf9c3ab_0_10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398bf9c3a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3ad7153771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3ad715377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3ad7153771_0_8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3ad715377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23ad7153771_0_1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23ad715377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23ad7153771_0_1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23ad7153771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23ad7153771_0_1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23ad7153771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3ad7153771_0_15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3ad7153771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3ad7153771_0_1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3ad7153771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23ad7153771_0_1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23ad7153771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1eaf0488dd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21eaf0488d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21eaf0488dd_0_9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21eaf0488dd_0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1eaf0488dd_0_9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21eaf0488dd_0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21eaf0488dd_0_10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21eaf0488dd_0_1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1eaf0488dd_0_10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1eaf0488dd_0_1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1eaf0488dd_0_10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1eaf0488dd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1eaf0488dd_0_10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1eaf0488dd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541ac6a646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541ac6a64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21eaf0488dd_0_10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21eaf0488dd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1eaf0488dd_0_108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21eaf0488dd_0_1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21eaf0488d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21eaf0488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21eaf0488dd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21eaf0488d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21eaf0488dd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21eaf0488d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21eaf0488dd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21eaf0488d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21eaf0488dd_0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21eaf0488d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21eaf0488dd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21eaf0488d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21ecd355b80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21ecd355b8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21ecd355b80_0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21ecd355b8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32e30c784c_0_1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232e30c784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21ed50ceb34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21ed50ceb3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1ecd355b80_0_1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21ecd355b80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1ecd355b80_0_1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21ecd355b8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21ecd355b80_0_1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21ecd355b8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232e30c784c_0_10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232e30c784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232e30c784c_0_1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232e30c784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1ed50ceb34_0_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21ed50ceb3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32e30c784c_0_1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232e30c784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232e30c784c_0_1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232e30c784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54402ee5f0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354402ee5f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54402ee5f0_1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354402ee5f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54402ee5f0_1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54402ee5f0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12f7f353c56_0_2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12f7f353c5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8" name="Google Shape;18;p4"/>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869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None/>
              <a:defRPr b="1" sz="3200">
                <a:solidFill>
                  <a:schemeClr val="dk1"/>
                </a:solidFill>
              </a:defRPr>
            </a:lvl1pPr>
            <a:lvl2pPr lvl="1">
              <a:spcBef>
                <a:spcPts val="0"/>
              </a:spcBef>
              <a:spcAft>
                <a:spcPts val="0"/>
              </a:spcAft>
              <a:buClr>
                <a:schemeClr val="dk1"/>
              </a:buClr>
              <a:buSzPts val="3200"/>
              <a:buNone/>
              <a:defRPr b="1" sz="3200">
                <a:solidFill>
                  <a:schemeClr val="dk1"/>
                </a:solidFill>
              </a:defRPr>
            </a:lvl2pPr>
            <a:lvl3pPr lvl="2">
              <a:spcBef>
                <a:spcPts val="0"/>
              </a:spcBef>
              <a:spcAft>
                <a:spcPts val="0"/>
              </a:spcAft>
              <a:buClr>
                <a:schemeClr val="dk1"/>
              </a:buClr>
              <a:buSzPts val="3200"/>
              <a:buNone/>
              <a:defRPr b="1" sz="3200">
                <a:solidFill>
                  <a:schemeClr val="dk1"/>
                </a:solidFill>
              </a:defRPr>
            </a:lvl3pPr>
            <a:lvl4pPr lvl="3">
              <a:spcBef>
                <a:spcPts val="0"/>
              </a:spcBef>
              <a:spcAft>
                <a:spcPts val="0"/>
              </a:spcAft>
              <a:buClr>
                <a:schemeClr val="dk1"/>
              </a:buClr>
              <a:buSzPts val="3200"/>
              <a:buNone/>
              <a:defRPr b="1" sz="3200">
                <a:solidFill>
                  <a:schemeClr val="dk1"/>
                </a:solidFill>
              </a:defRPr>
            </a:lvl4pPr>
            <a:lvl5pPr lvl="4">
              <a:spcBef>
                <a:spcPts val="0"/>
              </a:spcBef>
              <a:spcAft>
                <a:spcPts val="0"/>
              </a:spcAft>
              <a:buClr>
                <a:schemeClr val="dk1"/>
              </a:buClr>
              <a:buSzPts val="3200"/>
              <a:buNone/>
              <a:defRPr b="1" sz="3200">
                <a:solidFill>
                  <a:schemeClr val="dk1"/>
                </a:solidFill>
              </a:defRPr>
            </a:lvl5pPr>
            <a:lvl6pPr lvl="5">
              <a:spcBef>
                <a:spcPts val="0"/>
              </a:spcBef>
              <a:spcAft>
                <a:spcPts val="0"/>
              </a:spcAft>
              <a:buClr>
                <a:schemeClr val="dk1"/>
              </a:buClr>
              <a:buSzPts val="3200"/>
              <a:buNone/>
              <a:defRPr b="1" sz="3200">
                <a:solidFill>
                  <a:schemeClr val="dk1"/>
                </a:solidFill>
              </a:defRPr>
            </a:lvl6pPr>
            <a:lvl7pPr lvl="6">
              <a:spcBef>
                <a:spcPts val="0"/>
              </a:spcBef>
              <a:spcAft>
                <a:spcPts val="0"/>
              </a:spcAft>
              <a:buClr>
                <a:schemeClr val="dk1"/>
              </a:buClr>
              <a:buSzPts val="3200"/>
              <a:buNone/>
              <a:defRPr b="1" sz="3200">
                <a:solidFill>
                  <a:schemeClr val="dk1"/>
                </a:solidFill>
              </a:defRPr>
            </a:lvl7pPr>
            <a:lvl8pPr lvl="7">
              <a:spcBef>
                <a:spcPts val="0"/>
              </a:spcBef>
              <a:spcAft>
                <a:spcPts val="0"/>
              </a:spcAft>
              <a:buClr>
                <a:schemeClr val="dk1"/>
              </a:buClr>
              <a:buSzPts val="3200"/>
              <a:buNone/>
              <a:defRPr b="1" sz="3200">
                <a:solidFill>
                  <a:schemeClr val="dk1"/>
                </a:solidFill>
              </a:defRPr>
            </a:lvl8pPr>
            <a:lvl9pPr lvl="8">
              <a:spcBef>
                <a:spcPts val="0"/>
              </a:spcBef>
              <a:spcAft>
                <a:spcPts val="0"/>
              </a:spcAft>
              <a:buClr>
                <a:schemeClr val="dk1"/>
              </a:buClr>
              <a:buSzPts val="3200"/>
              <a:buNone/>
              <a:defRPr b="1" sz="3200">
                <a:solidFill>
                  <a:schemeClr val="dk1"/>
                </a:solidFill>
              </a:defRPr>
            </a:lvl9pPr>
          </a:lstStyle>
          <a:p/>
        </p:txBody>
      </p:sp>
      <p:sp>
        <p:nvSpPr>
          <p:cNvPr id="7" name="Google Shape;7;p1"/>
          <p:cNvSpPr txBox="1"/>
          <p:nvPr>
            <p:ph idx="1" type="body"/>
          </p:nvPr>
        </p:nvSpPr>
        <p:spPr>
          <a:xfrm>
            <a:off x="311700" y="950475"/>
            <a:ext cx="8520600" cy="5462100"/>
          </a:xfrm>
          <a:prstGeom prst="rect">
            <a:avLst/>
          </a:prstGeom>
          <a:noFill/>
          <a:ln>
            <a:noFill/>
          </a:ln>
        </p:spPr>
        <p:txBody>
          <a:bodyPr anchorCtr="0" anchor="t" bIns="91425" lIns="91425" spcFirstLastPara="1" rIns="91425" wrap="square" tIns="91425">
            <a:noAutofit/>
          </a:bodyPr>
          <a:lstStyle>
            <a:lvl1pPr indent="-381000" lvl="0" marL="457200" algn="just">
              <a:lnSpc>
                <a:spcPct val="115000"/>
              </a:lnSpc>
              <a:spcBef>
                <a:spcPts val="0"/>
              </a:spcBef>
              <a:spcAft>
                <a:spcPts val="0"/>
              </a:spcAft>
              <a:buClr>
                <a:schemeClr val="dk2"/>
              </a:buClr>
              <a:buSzPts val="2400"/>
              <a:buChar char="●"/>
              <a:defRPr sz="2400">
                <a:solidFill>
                  <a:schemeClr val="dk2"/>
                </a:solidFill>
              </a:defRPr>
            </a:lvl1pPr>
            <a:lvl2pPr indent="-368300" lvl="1" marL="914400" algn="just">
              <a:lnSpc>
                <a:spcPct val="115000"/>
              </a:lnSpc>
              <a:spcBef>
                <a:spcPts val="0"/>
              </a:spcBef>
              <a:spcAft>
                <a:spcPts val="0"/>
              </a:spcAft>
              <a:buClr>
                <a:schemeClr val="dk2"/>
              </a:buClr>
              <a:buSzPts val="2200"/>
              <a:buChar char="○"/>
              <a:defRPr sz="2200">
                <a:solidFill>
                  <a:schemeClr val="dk2"/>
                </a:solidFill>
              </a:defRPr>
            </a:lvl2pPr>
            <a:lvl3pPr indent="-342900" lvl="2" marL="1371600" algn="just">
              <a:lnSpc>
                <a:spcPct val="115000"/>
              </a:lnSpc>
              <a:spcBef>
                <a:spcPts val="0"/>
              </a:spcBef>
              <a:spcAft>
                <a:spcPts val="0"/>
              </a:spcAft>
              <a:buClr>
                <a:schemeClr val="dk2"/>
              </a:buClr>
              <a:buSzPts val="1800"/>
              <a:buChar char="■"/>
              <a:defRPr sz="1800">
                <a:solidFill>
                  <a:schemeClr val="dk2"/>
                </a:solidFill>
              </a:defRPr>
            </a:lvl3pPr>
            <a:lvl4pPr indent="-317500" lvl="3" marL="1828800" algn="just">
              <a:lnSpc>
                <a:spcPct val="115000"/>
              </a:lnSpc>
              <a:spcBef>
                <a:spcPts val="0"/>
              </a:spcBef>
              <a:spcAft>
                <a:spcPts val="0"/>
              </a:spcAft>
              <a:buClr>
                <a:schemeClr val="dk2"/>
              </a:buClr>
              <a:buSzPts val="1400"/>
              <a:buChar char="●"/>
              <a:defRPr>
                <a:solidFill>
                  <a:schemeClr val="dk2"/>
                </a:solidFill>
              </a:defRPr>
            </a:lvl4pPr>
            <a:lvl5pPr indent="-317500" lvl="4" marL="2286000" algn="just">
              <a:lnSpc>
                <a:spcPct val="115000"/>
              </a:lnSpc>
              <a:spcBef>
                <a:spcPts val="1600"/>
              </a:spcBef>
              <a:spcAft>
                <a:spcPts val="0"/>
              </a:spcAft>
              <a:buClr>
                <a:schemeClr val="dk2"/>
              </a:buClr>
              <a:buSzPts val="1400"/>
              <a:buChar char="○"/>
              <a:defRPr>
                <a:solidFill>
                  <a:schemeClr val="dk2"/>
                </a:solidFill>
              </a:defRPr>
            </a:lvl5pPr>
            <a:lvl6pPr indent="-317500" lvl="5" marL="2743200" algn="just">
              <a:lnSpc>
                <a:spcPct val="115000"/>
              </a:lnSpc>
              <a:spcBef>
                <a:spcPts val="1600"/>
              </a:spcBef>
              <a:spcAft>
                <a:spcPts val="0"/>
              </a:spcAft>
              <a:buClr>
                <a:schemeClr val="dk2"/>
              </a:buClr>
              <a:buSzPts val="1400"/>
              <a:buChar char="■"/>
              <a:defRPr>
                <a:solidFill>
                  <a:schemeClr val="dk2"/>
                </a:solidFill>
              </a:defRPr>
            </a:lvl6pPr>
            <a:lvl7pPr indent="-317500" lvl="6" marL="3200400" algn="just">
              <a:lnSpc>
                <a:spcPct val="115000"/>
              </a:lnSpc>
              <a:spcBef>
                <a:spcPts val="1600"/>
              </a:spcBef>
              <a:spcAft>
                <a:spcPts val="0"/>
              </a:spcAft>
              <a:buClr>
                <a:schemeClr val="dk2"/>
              </a:buClr>
              <a:buSzPts val="1400"/>
              <a:buChar char="●"/>
              <a:defRPr>
                <a:solidFill>
                  <a:schemeClr val="dk2"/>
                </a:solidFill>
              </a:defRPr>
            </a:lvl7pPr>
            <a:lvl8pPr indent="-317500" lvl="7" marL="3657600" algn="just">
              <a:lnSpc>
                <a:spcPct val="115000"/>
              </a:lnSpc>
              <a:spcBef>
                <a:spcPts val="1600"/>
              </a:spcBef>
              <a:spcAft>
                <a:spcPts val="0"/>
              </a:spcAft>
              <a:buClr>
                <a:schemeClr val="dk2"/>
              </a:buClr>
              <a:buSzPts val="1400"/>
              <a:buChar char="○"/>
              <a:defRPr>
                <a:solidFill>
                  <a:schemeClr val="dk2"/>
                </a:solidFill>
              </a:defRPr>
            </a:lvl8pPr>
            <a:lvl9pPr indent="-317500" lvl="8" marL="4114800" algn="just">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16.pn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21.png"/><Relationship Id="rId6" Type="http://schemas.openxmlformats.org/officeDocument/2006/relationships/image" Target="../media/image2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 Id="rId3" Type="http://schemas.openxmlformats.org/officeDocument/2006/relationships/image" Target="../media/image28.png"/><Relationship Id="rId4" Type="http://schemas.openxmlformats.org/officeDocument/2006/relationships/image" Target="../media/image2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3.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77075"/>
            <a:ext cx="8520600" cy="206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Phân tích </a:t>
            </a:r>
            <a:r>
              <a:rPr lang="en-GB" sz="4200"/>
              <a:t>và </a:t>
            </a:r>
            <a:r>
              <a:rPr lang="en-GB" sz="4200"/>
              <a:t>thiết kế </a:t>
            </a:r>
            <a:r>
              <a:rPr lang="en-GB" sz="4200"/>
              <a:t>h</a:t>
            </a:r>
            <a:r>
              <a:rPr lang="en-GB" sz="4200"/>
              <a:t>ệ thống</a:t>
            </a:r>
            <a:endParaRPr sz="4200"/>
          </a:p>
        </p:txBody>
      </p:sp>
      <p:sp>
        <p:nvSpPr>
          <p:cNvPr id="55" name="Google Shape;55;p13"/>
          <p:cNvSpPr txBox="1"/>
          <p:nvPr>
            <p:ph idx="1" type="subTitle"/>
          </p:nvPr>
        </p:nvSpPr>
        <p:spPr>
          <a:xfrm>
            <a:off x="311700" y="3778827"/>
            <a:ext cx="8520600" cy="812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Giảng viên: Nguyễn Bá Ngọc</a:t>
            </a:r>
            <a:endParaRPr sz="2600"/>
          </a:p>
        </p:txBody>
      </p:sp>
      <p:sp>
        <p:nvSpPr>
          <p:cNvPr id="56" name="Google Shape;56;p13"/>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Nội-2022</a:t>
            </a:r>
            <a:endParaRPr sz="2600"/>
          </a:p>
        </p:txBody>
      </p:sp>
      <p:sp>
        <p:nvSpPr>
          <p:cNvPr id="57" name="Google Shape;57;p13"/>
          <p:cNvSpPr txBox="1"/>
          <p:nvPr/>
        </p:nvSpPr>
        <p:spPr>
          <a:xfrm>
            <a:off x="491750" y="4667625"/>
            <a:ext cx="38571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63" name="Google Shape;63;p14"/>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rPr>
              <a:t>1. </a:t>
            </a:r>
            <a:r>
              <a:rPr lang="en-GB">
                <a:solidFill>
                  <a:schemeClr val="dk1"/>
                </a:solidFill>
              </a:rPr>
              <a:t>Tổng quan về thiết kế giao diện</a:t>
            </a:r>
            <a:endParaRPr>
              <a:solidFill>
                <a:schemeClr val="dk1"/>
              </a:solidFill>
            </a:endParaRPr>
          </a:p>
          <a:p>
            <a:pPr indent="0" lvl="0" marL="0" marR="24765" rtl="0" algn="just">
              <a:lnSpc>
                <a:spcPct val="100000"/>
              </a:lnSpc>
              <a:spcBef>
                <a:spcPts val="300"/>
              </a:spcBef>
              <a:spcAft>
                <a:spcPts val="0"/>
              </a:spcAft>
              <a:buNone/>
            </a:pPr>
            <a:r>
              <a:rPr lang="en-GB">
                <a:solidFill>
                  <a:schemeClr val="dk1"/>
                </a:solidFill>
              </a:rPr>
              <a:t>2. </a:t>
            </a:r>
            <a:r>
              <a:rPr lang="en-GB">
                <a:solidFill>
                  <a:schemeClr val="dk1"/>
                </a:solidFill>
              </a:rPr>
              <a:t>Ngôn ngữ mô hình hóa luồng tương tác</a:t>
            </a:r>
            <a:endParaRPr>
              <a:solidFill>
                <a:schemeClr val="dk1"/>
              </a:solidFill>
            </a:endParaRPr>
          </a:p>
          <a:p>
            <a:pPr indent="0" lvl="0" marL="0" marR="24765" rtl="0" algn="just">
              <a:lnSpc>
                <a:spcPct val="100000"/>
              </a:lnSpc>
              <a:spcBef>
                <a:spcPts val="300"/>
              </a:spcBef>
              <a:spcAft>
                <a:spcPts val="300"/>
              </a:spcAft>
              <a:buNone/>
            </a:pPr>
            <a:r>
              <a:rPr lang="en-GB">
                <a:solidFill>
                  <a:schemeClr val="dk1"/>
                </a:solidFill>
              </a:rPr>
              <a:t>3. </a:t>
            </a:r>
            <a:r>
              <a:rPr lang="en-GB">
                <a:solidFill>
                  <a:schemeClr val="dk1"/>
                </a:solidFill>
              </a:rPr>
              <a:t>Ví dụ tổng hợp</a:t>
            </a:r>
            <a:endParaRPr>
              <a:solidFill>
                <a:schemeClr val="dk1"/>
              </a:solidFill>
            </a:endParaRPr>
          </a:p>
        </p:txBody>
      </p:sp>
      <p:sp>
        <p:nvSpPr>
          <p:cNvPr id="64" name="Google Shape;64;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0" name="Google Shape;70;p15"/>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rPr>
              <a:t>1. Tổng quan về thiết kế giao diện</a:t>
            </a:r>
            <a:endParaRPr>
              <a:solidFill>
                <a:schemeClr val="dk1"/>
              </a:solidFill>
            </a:endParaRPr>
          </a:p>
          <a:p>
            <a:pPr indent="0" lvl="0" marL="0" marR="24765" rtl="0" algn="just">
              <a:lnSpc>
                <a:spcPct val="100000"/>
              </a:lnSpc>
              <a:spcBef>
                <a:spcPts val="300"/>
              </a:spcBef>
              <a:spcAft>
                <a:spcPts val="0"/>
              </a:spcAft>
              <a:buNone/>
            </a:pPr>
            <a:r>
              <a:rPr lang="en-GB">
                <a:solidFill>
                  <a:schemeClr val="dk1"/>
                </a:solidFill>
              </a:rPr>
              <a:t>2. Ngôn ngữ mô hình hóa luồng tương tác</a:t>
            </a:r>
            <a:endParaRPr>
              <a:solidFill>
                <a:schemeClr val="dk1"/>
              </a:solidFill>
            </a:endParaRPr>
          </a:p>
          <a:p>
            <a:pPr indent="0" lvl="0" marL="0" marR="24765" rtl="0" algn="just">
              <a:lnSpc>
                <a:spcPct val="100000"/>
              </a:lnSpc>
              <a:spcBef>
                <a:spcPts val="300"/>
              </a:spcBef>
              <a:spcAft>
                <a:spcPts val="300"/>
              </a:spcAft>
              <a:buNone/>
            </a:pPr>
            <a:r>
              <a:rPr lang="en-GB">
                <a:solidFill>
                  <a:schemeClr val="dk1"/>
                </a:solidFill>
              </a:rPr>
              <a:t>3. Ví dụ tổng hợp</a:t>
            </a:r>
            <a:endParaRPr>
              <a:solidFill>
                <a:schemeClr val="dk1"/>
              </a:solidFill>
            </a:endParaRPr>
          </a:p>
        </p:txBody>
      </p:sp>
      <p:sp>
        <p:nvSpPr>
          <p:cNvPr id="71" name="Google Shape;71;p15"/>
          <p:cNvSpPr/>
          <p:nvPr/>
        </p:nvSpPr>
        <p:spPr>
          <a:xfrm>
            <a:off x="318450" y="866725"/>
            <a:ext cx="57804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giao diện</a:t>
            </a:r>
            <a:endParaRPr/>
          </a:p>
        </p:txBody>
      </p:sp>
      <p:sp>
        <p:nvSpPr>
          <p:cNvPr id="78" name="Google Shape;78;p16"/>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G</a:t>
            </a:r>
            <a:r>
              <a:rPr i="1" lang="en-GB"/>
              <a:t>iao diện là phương tiện để tương tác với hệ thống, </a:t>
            </a:r>
            <a:r>
              <a:rPr i="1" lang="en-GB"/>
              <a:t>theo đối tượng sử dụng các giao diện được phân loại thành:</a:t>
            </a:r>
            <a:endParaRPr i="1"/>
          </a:p>
          <a:p>
            <a:pPr indent="-381000" lvl="0" marL="457200" rtl="0" algn="just">
              <a:spcBef>
                <a:spcPts val="0"/>
              </a:spcBef>
              <a:spcAft>
                <a:spcPts val="0"/>
              </a:spcAft>
              <a:buSzPts val="2400"/>
              <a:buChar char="●"/>
            </a:pPr>
            <a:r>
              <a:rPr lang="en-GB"/>
              <a:t>Giao diện hệ thống: Hỗ trợ tương tác máy-máy, phục vụ tác nhân là hệ thống khác.</a:t>
            </a:r>
            <a:endParaRPr/>
          </a:p>
          <a:p>
            <a:pPr indent="-381000" lvl="0" marL="457200" rtl="0" algn="just">
              <a:spcBef>
                <a:spcPts val="0"/>
              </a:spcBef>
              <a:spcAft>
                <a:spcPts val="0"/>
              </a:spcAft>
              <a:buSzPts val="2400"/>
              <a:buChar char="●"/>
            </a:pPr>
            <a:r>
              <a:rPr lang="en-GB"/>
              <a:t>Giao diện người dùng: Hỗ trợ tương tác người-máy, phục vụ tác nhân là người.</a:t>
            </a:r>
            <a:endParaRPr/>
          </a:p>
          <a:p>
            <a:pPr indent="-368300" lvl="1" marL="914400" rtl="0" algn="just">
              <a:spcBef>
                <a:spcPts val="0"/>
              </a:spcBef>
              <a:spcAft>
                <a:spcPts val="0"/>
              </a:spcAft>
              <a:buSzPts val="2200"/>
              <a:buChar char="○"/>
            </a:pPr>
            <a:r>
              <a:rPr lang="en-GB"/>
              <a:t>Đồng thời cũng như diện mạo hệ thống đối với người dùng - người dùng chỉ nhìn thấy các giao diện chứ không nhìn thấy các xử lý bên trong - cách tiếp cận lấy người dùng làm trọng tâm (user-centered)..</a:t>
            </a:r>
            <a:endParaRPr i="1">
              <a:solidFill>
                <a:srgbClr val="666666"/>
              </a:solidFill>
            </a:endParaRPr>
          </a:p>
          <a:p>
            <a:pPr indent="0" lvl="0" marL="0" rtl="0" algn="ctr">
              <a:spcBef>
                <a:spcPts val="0"/>
              </a:spcBef>
              <a:spcAft>
                <a:spcPts val="0"/>
              </a:spcAft>
              <a:buNone/>
            </a:pPr>
            <a:r>
              <a:t/>
            </a:r>
            <a:endParaRPr i="1">
              <a:solidFill>
                <a:srgbClr val="1155CC"/>
              </a:solidFill>
            </a:endParaRPr>
          </a:p>
          <a:p>
            <a:pPr indent="0" lvl="0" marL="0" rtl="0" algn="ctr">
              <a:spcBef>
                <a:spcPts val="0"/>
              </a:spcBef>
              <a:spcAft>
                <a:spcPts val="0"/>
              </a:spcAft>
              <a:buNone/>
            </a:pPr>
            <a:r>
              <a:rPr i="1" lang="en-GB">
                <a:solidFill>
                  <a:srgbClr val="1155CC"/>
                </a:solidFill>
              </a:rPr>
              <a:t>Chúng ta sẽ tập trung vào giao diện người dùng</a:t>
            </a:r>
            <a:endParaRPr i="1">
              <a:solidFill>
                <a:srgbClr val="1155CC"/>
              </a:solidFill>
            </a:endParaRPr>
          </a:p>
        </p:txBody>
      </p:sp>
      <p:sp>
        <p:nvSpPr>
          <p:cNvPr id="79" name="Google Shape;79;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t>
            </a:r>
            <a:r>
              <a:rPr lang="en-GB"/>
              <a:t>hành phần hỗ trợ tương tác </a:t>
            </a:r>
            <a:r>
              <a:rPr lang="en-GB"/>
              <a:t>người-máy</a:t>
            </a:r>
            <a:endParaRPr/>
          </a:p>
        </p:txBody>
      </p:sp>
      <p:sp>
        <p:nvSpPr>
          <p:cNvPr id="85" name="Google Shape;85;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86" name="Google Shape;86;p17"/>
          <p:cNvPicPr preferRelativeResize="0"/>
          <p:nvPr/>
        </p:nvPicPr>
        <p:blipFill>
          <a:blip r:embed="rId3">
            <a:alphaModFix/>
          </a:blip>
          <a:stretch>
            <a:fillRect/>
          </a:stretch>
        </p:blipFill>
        <p:spPr>
          <a:xfrm>
            <a:off x="570075" y="4289317"/>
            <a:ext cx="2495550" cy="1828800"/>
          </a:xfrm>
          <a:prstGeom prst="rect">
            <a:avLst/>
          </a:prstGeom>
          <a:noFill/>
          <a:ln>
            <a:noFill/>
          </a:ln>
        </p:spPr>
      </p:pic>
      <p:pic>
        <p:nvPicPr>
          <p:cNvPr id="87" name="Google Shape;87;p17"/>
          <p:cNvPicPr preferRelativeResize="0"/>
          <p:nvPr/>
        </p:nvPicPr>
        <p:blipFill>
          <a:blip r:embed="rId4">
            <a:alphaModFix/>
          </a:blip>
          <a:stretch>
            <a:fillRect/>
          </a:stretch>
        </p:blipFill>
        <p:spPr>
          <a:xfrm>
            <a:off x="2995800" y="4289317"/>
            <a:ext cx="2143125" cy="2143125"/>
          </a:xfrm>
          <a:prstGeom prst="rect">
            <a:avLst/>
          </a:prstGeom>
          <a:noFill/>
          <a:ln>
            <a:noFill/>
          </a:ln>
        </p:spPr>
      </p:pic>
      <p:pic>
        <p:nvPicPr>
          <p:cNvPr id="88" name="Google Shape;88;p17"/>
          <p:cNvPicPr preferRelativeResize="0"/>
          <p:nvPr/>
        </p:nvPicPr>
        <p:blipFill>
          <a:blip r:embed="rId5">
            <a:alphaModFix/>
          </a:blip>
          <a:stretch>
            <a:fillRect/>
          </a:stretch>
        </p:blipFill>
        <p:spPr>
          <a:xfrm>
            <a:off x="5006063" y="4289317"/>
            <a:ext cx="2143125" cy="2143125"/>
          </a:xfrm>
          <a:prstGeom prst="rect">
            <a:avLst/>
          </a:prstGeom>
          <a:noFill/>
          <a:ln>
            <a:noFill/>
          </a:ln>
        </p:spPr>
      </p:pic>
      <p:pic>
        <p:nvPicPr>
          <p:cNvPr id="89" name="Google Shape;89;p17"/>
          <p:cNvPicPr preferRelativeResize="0"/>
          <p:nvPr/>
        </p:nvPicPr>
        <p:blipFill>
          <a:blip r:embed="rId6">
            <a:alphaModFix/>
          </a:blip>
          <a:stretch>
            <a:fillRect/>
          </a:stretch>
        </p:blipFill>
        <p:spPr>
          <a:xfrm>
            <a:off x="6981675" y="4232892"/>
            <a:ext cx="1941650" cy="1941650"/>
          </a:xfrm>
          <a:prstGeom prst="rect">
            <a:avLst/>
          </a:prstGeom>
          <a:noFill/>
          <a:ln>
            <a:noFill/>
          </a:ln>
        </p:spPr>
      </p:pic>
      <p:sp>
        <p:nvSpPr>
          <p:cNvPr id="90" name="Google Shape;90;p17"/>
          <p:cNvSpPr/>
          <p:nvPr/>
        </p:nvSpPr>
        <p:spPr>
          <a:xfrm>
            <a:off x="446325" y="1706075"/>
            <a:ext cx="3779136" cy="2332476"/>
          </a:xfrm>
          <a:prstGeom prst="cloud">
            <a:avLst/>
          </a:prstGeom>
          <a:solidFill>
            <a:schemeClr val="lt2"/>
          </a:solidFill>
          <a:ln cap="flat" cmpd="sng" w="9525">
            <a:solidFill>
              <a:schemeClr val="dk2"/>
            </a:solidFill>
            <a:prstDash val="solid"/>
            <a:round/>
            <a:headEnd len="sm" w="sm" type="none"/>
            <a:tailEnd len="sm" w="sm" type="none"/>
          </a:ln>
        </p:spPr>
        <p:txBody>
          <a:bodyPr anchorCtr="0" anchor="t" bIns="18000" lIns="18000" spcFirstLastPara="1" rIns="18000" wrap="square" tIns="54000">
            <a:noAutofit/>
          </a:bodyPr>
          <a:lstStyle/>
          <a:p>
            <a:pPr indent="0" lvl="0" marL="0" rtl="0" algn="ctr">
              <a:spcBef>
                <a:spcPts val="0"/>
              </a:spcBef>
              <a:spcAft>
                <a:spcPts val="0"/>
              </a:spcAft>
              <a:buNone/>
            </a:pPr>
            <a:r>
              <a:rPr lang="en-GB" sz="1800"/>
              <a:t>Thiết bị: Màn hình thường, màn hình cảm ứng, bàn phím thực, bàn phím ảo, chuột, webcam, mic, v.v..</a:t>
            </a:r>
            <a:endParaRPr sz="1800"/>
          </a:p>
        </p:txBody>
      </p:sp>
      <p:sp>
        <p:nvSpPr>
          <p:cNvPr id="91" name="Google Shape;91;p17"/>
          <p:cNvSpPr/>
          <p:nvPr/>
        </p:nvSpPr>
        <p:spPr>
          <a:xfrm>
            <a:off x="4476975" y="1706125"/>
            <a:ext cx="4049460" cy="2332476"/>
          </a:xfrm>
          <a:prstGeom prst="cloud">
            <a:avLst/>
          </a:prstGeom>
          <a:noFill/>
          <a:ln cap="flat" cmpd="sng" w="9525">
            <a:solidFill>
              <a:schemeClr val="dk2"/>
            </a:solidFill>
            <a:prstDash val="solid"/>
            <a:round/>
            <a:headEnd len="sm" w="sm" type="none"/>
            <a:tailEnd len="sm" w="sm" type="none"/>
          </a:ln>
        </p:spPr>
        <p:txBody>
          <a:bodyPr anchorCtr="0" anchor="t" bIns="54000" lIns="54000" spcFirstLastPara="1" rIns="54000" wrap="square" tIns="54000">
            <a:noAutofit/>
          </a:bodyPr>
          <a:lstStyle/>
          <a:p>
            <a:pPr indent="0" lvl="0" marL="0" rtl="0" algn="ctr">
              <a:spcBef>
                <a:spcPts val="0"/>
              </a:spcBef>
              <a:spcAft>
                <a:spcPts val="0"/>
              </a:spcAft>
              <a:buNone/>
            </a:pPr>
            <a:r>
              <a:rPr lang="en-GB" sz="1800"/>
              <a:t>Các giao diện người dùng: Cửa sổ, biểu mẫu, hộp thoại, hình ảnh, nút bấm, danh sách, bảng, </a:t>
            </a:r>
            <a:r>
              <a:rPr lang="en-GB" sz="1800"/>
              <a:t>biểu đồ</a:t>
            </a:r>
            <a:r>
              <a:rPr lang="en-GB" sz="1800"/>
              <a:t>, v.v..</a:t>
            </a:r>
            <a:endParaRPr sz="1800"/>
          </a:p>
        </p:txBody>
      </p:sp>
      <p:sp>
        <p:nvSpPr>
          <p:cNvPr id="92" name="Google Shape;92;p17"/>
          <p:cNvSpPr txBox="1"/>
          <p:nvPr/>
        </p:nvSpPr>
        <p:spPr>
          <a:xfrm>
            <a:off x="311600" y="1039600"/>
            <a:ext cx="8520600" cy="6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t>Tương tác người-máy / Human-Computer Interaction (HCI)</a:t>
            </a:r>
            <a:endParaRPr i="1"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nguyên tắc thiết kế giao diện</a:t>
            </a:r>
            <a:endParaRPr/>
          </a:p>
        </p:txBody>
      </p:sp>
      <p:sp>
        <p:nvSpPr>
          <p:cNvPr id="98" name="Google Shape;98;p18"/>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Bố cục - Giao diện nên là 1 chuỗi các phân vùng màn hình ổn định cho các mục đích.</a:t>
            </a:r>
            <a:endParaRPr/>
          </a:p>
          <a:p>
            <a:pPr indent="-381000" lvl="0" marL="457200" rtl="0" algn="just">
              <a:spcBef>
                <a:spcPts val="0"/>
              </a:spcBef>
              <a:spcAft>
                <a:spcPts val="0"/>
              </a:spcAft>
              <a:buSzPts val="2400"/>
              <a:buChar char="●"/>
            </a:pPr>
            <a:r>
              <a:rPr lang="en-GB"/>
              <a:t>Nhận biết nội dung - Người dùng nên được báo cáo về tính năng đang sử dụng và thông tin đang được hiển thị.</a:t>
            </a:r>
            <a:endParaRPr/>
          </a:p>
          <a:p>
            <a:pPr indent="-381000" lvl="0" marL="457200" rtl="0" algn="just">
              <a:spcBef>
                <a:spcPts val="0"/>
              </a:spcBef>
              <a:spcAft>
                <a:spcPts val="0"/>
              </a:spcAft>
              <a:buSzPts val="2400"/>
              <a:buChar char="●"/>
            </a:pPr>
            <a:r>
              <a:rPr lang="en-GB"/>
              <a:t>Thẩm mỹ - Giao diện phải đẹp đối với người dùng, hữu ích và lôi cuốn sử dụng.</a:t>
            </a:r>
            <a:endParaRPr/>
          </a:p>
          <a:p>
            <a:pPr indent="-381000" lvl="0" marL="457200" rtl="0" algn="just">
              <a:spcBef>
                <a:spcPts val="0"/>
              </a:spcBef>
              <a:spcAft>
                <a:spcPts val="0"/>
              </a:spcAft>
              <a:buSzPts val="2400"/>
              <a:buChar char="●"/>
            </a:pPr>
            <a:r>
              <a:rPr lang="en-GB"/>
              <a:t>Trải nghiệm người dùng - Giao diện phải dễ sử dụng, tự nhiên, dễ học, tạo cảm giác tích cực cho người dùng.</a:t>
            </a:r>
            <a:endParaRPr/>
          </a:p>
          <a:p>
            <a:pPr indent="-381000" lvl="0" marL="457200" rtl="0" algn="just">
              <a:spcBef>
                <a:spcPts val="0"/>
              </a:spcBef>
              <a:spcAft>
                <a:spcPts val="0"/>
              </a:spcAft>
              <a:buSzPts val="2400"/>
              <a:buChar char="●"/>
            </a:pPr>
            <a:r>
              <a:rPr lang="en-GB"/>
              <a:t>Nhất quán - Các thành phần giao diện trong các ngữ cảnh khác nhau phải thống nhất - quan trọng để dễ sử dụng.</a:t>
            </a:r>
            <a:endParaRPr/>
          </a:p>
          <a:p>
            <a:pPr indent="-381000" lvl="0" marL="457200" rtl="0" algn="just">
              <a:spcBef>
                <a:spcPts val="0"/>
              </a:spcBef>
              <a:spcAft>
                <a:spcPts val="0"/>
              </a:spcAft>
              <a:buSzPts val="2400"/>
              <a:buChar char="●"/>
            </a:pPr>
            <a:r>
              <a:rPr lang="en-GB"/>
              <a:t>Tiết kiệm công sức - Giao diện phải đơn giản, giúp người dùng hoàn thành công việc nhanh chóng, hạn chế lỗi.</a:t>
            </a:r>
            <a:endParaRPr/>
          </a:p>
        </p:txBody>
      </p:sp>
      <p:sp>
        <p:nvSpPr>
          <p:cNvPr id="99" name="Google Shape;99;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Bố cục</a:t>
            </a:r>
            <a:endParaRPr/>
          </a:p>
        </p:txBody>
      </p:sp>
      <p:sp>
        <p:nvSpPr>
          <p:cNvPr id="105" name="Google Shape;105;p19"/>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Bố cục/Layout: Cách bố trí các thành phần trên màn hình</a:t>
            </a:r>
            <a:endParaRPr/>
          </a:p>
          <a:p>
            <a:pPr indent="-381000" lvl="0" marL="457200" rtl="0" algn="just">
              <a:spcBef>
                <a:spcPts val="0"/>
              </a:spcBef>
              <a:spcAft>
                <a:spcPts val="0"/>
              </a:spcAft>
              <a:buSzPts val="2400"/>
              <a:buChar char="●"/>
            </a:pPr>
            <a:r>
              <a:rPr lang="en-GB"/>
              <a:t>Các thành phần được gom nhóm trong các vùng.</a:t>
            </a:r>
            <a:endParaRPr/>
          </a:p>
          <a:p>
            <a:pPr indent="-381000" lvl="0" marL="457200" rtl="0" algn="just">
              <a:spcBef>
                <a:spcPts val="0"/>
              </a:spcBef>
              <a:spcAft>
                <a:spcPts val="0"/>
              </a:spcAft>
              <a:buSzPts val="2400"/>
              <a:buChar char="●"/>
            </a:pPr>
            <a:r>
              <a:rPr lang="en-GB"/>
              <a:t>Các vùng có thể tiếp tục được gom thành vùng lớn hơn</a:t>
            </a:r>
            <a:endParaRPr/>
          </a:p>
          <a:p>
            <a:pPr indent="-381000" lvl="0" marL="457200" rtl="0" algn="just">
              <a:spcBef>
                <a:spcPts val="0"/>
              </a:spcBef>
              <a:spcAft>
                <a:spcPts val="0"/>
              </a:spcAft>
              <a:buSzPts val="2400"/>
              <a:buChar char="●"/>
            </a:pPr>
            <a:r>
              <a:rPr lang="en-GB"/>
              <a:t>Các vùng được bố trí theo trật tự tạo thành luồng liền mạch, </a:t>
            </a:r>
            <a:r>
              <a:rPr lang="en-GB"/>
              <a:t>tự nhiên.</a:t>
            </a:r>
            <a:endParaRPr/>
          </a:p>
          <a:p>
            <a:pPr indent="-368300" lvl="1" marL="914400" rtl="0" algn="just">
              <a:spcBef>
                <a:spcPts val="0"/>
              </a:spcBef>
              <a:spcAft>
                <a:spcPts val="0"/>
              </a:spcAft>
              <a:buSzPts val="2200"/>
              <a:buChar char="○"/>
            </a:pPr>
            <a:r>
              <a:rPr lang="en-GB"/>
              <a:t>Trật tự tự nhiên có thể thay đổi theo đối tượng người dùng, phụ thuộc vào các yếu tố văn hóa;</a:t>
            </a:r>
            <a:endParaRPr/>
          </a:p>
          <a:p>
            <a:pPr indent="-368300" lvl="1" marL="914400" rtl="0" algn="just">
              <a:spcBef>
                <a:spcPts val="0"/>
              </a:spcBef>
              <a:spcAft>
                <a:spcPts val="0"/>
              </a:spcAft>
              <a:buSzPts val="2200"/>
              <a:buChar char="○"/>
            </a:pPr>
            <a:r>
              <a:rPr lang="en-GB"/>
              <a:t>Chúng ta đọc từ trái sang phải, từ trên xuống dưới,</a:t>
            </a:r>
            <a:endParaRPr/>
          </a:p>
          <a:p>
            <a:pPr indent="-368300" lvl="1" marL="914400" rtl="0" algn="just">
              <a:spcBef>
                <a:spcPts val="0"/>
              </a:spcBef>
              <a:spcAft>
                <a:spcPts val="0"/>
              </a:spcAft>
              <a:buSzPts val="2200"/>
              <a:buChar char="○"/>
            </a:pPr>
            <a:r>
              <a:rPr lang="en-GB"/>
              <a:t>… tuy nhiên cũng có những nơi đọc từ phải sang trái.</a:t>
            </a:r>
            <a:endParaRPr/>
          </a:p>
        </p:txBody>
      </p:sp>
      <p:sp>
        <p:nvSpPr>
          <p:cNvPr id="106" name="Google Shape;106;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 Bố cục giao diện</a:t>
            </a:r>
            <a:endParaRPr/>
          </a:p>
        </p:txBody>
      </p:sp>
      <p:sp>
        <p:nvSpPr>
          <p:cNvPr id="112" name="Google Shape;112;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13" name="Google Shape;113;p20"/>
          <p:cNvPicPr preferRelativeResize="0"/>
          <p:nvPr/>
        </p:nvPicPr>
        <p:blipFill>
          <a:blip r:embed="rId3">
            <a:alphaModFix/>
          </a:blip>
          <a:stretch>
            <a:fillRect/>
          </a:stretch>
        </p:blipFill>
        <p:spPr>
          <a:xfrm>
            <a:off x="922600" y="1064484"/>
            <a:ext cx="6787124" cy="4874317"/>
          </a:xfrm>
          <a:prstGeom prst="rect">
            <a:avLst/>
          </a:prstGeom>
          <a:noFill/>
          <a:ln>
            <a:noFill/>
          </a:ln>
        </p:spPr>
      </p:pic>
      <p:sp>
        <p:nvSpPr>
          <p:cNvPr id="114" name="Google Shape;114;p20"/>
          <p:cNvSpPr/>
          <p:nvPr/>
        </p:nvSpPr>
        <p:spPr>
          <a:xfrm>
            <a:off x="1049263" y="1800875"/>
            <a:ext cx="1477500" cy="3769200"/>
          </a:xfrm>
          <a:prstGeom prst="roundRect">
            <a:avLst>
              <a:gd fmla="val 16667" name="adj"/>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p:nvPr/>
        </p:nvSpPr>
        <p:spPr>
          <a:xfrm>
            <a:off x="2609400" y="1800875"/>
            <a:ext cx="4747800" cy="3769200"/>
          </a:xfrm>
          <a:prstGeom prst="roundRect">
            <a:avLst>
              <a:gd fmla="val 16667" name="adj"/>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nvSpPr>
        <p:spPr>
          <a:xfrm>
            <a:off x="237325" y="6086700"/>
            <a:ext cx="15495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Cây thư mục</a:t>
            </a:r>
            <a:endParaRPr sz="1800"/>
          </a:p>
        </p:txBody>
      </p:sp>
      <p:sp>
        <p:nvSpPr>
          <p:cNvPr id="117" name="Google Shape;117;p20"/>
          <p:cNvSpPr txBox="1"/>
          <p:nvPr/>
        </p:nvSpPr>
        <p:spPr>
          <a:xfrm>
            <a:off x="2523325" y="6010500"/>
            <a:ext cx="21384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Thanh trạng thái</a:t>
            </a:r>
            <a:endParaRPr sz="1800"/>
          </a:p>
        </p:txBody>
      </p:sp>
      <p:sp>
        <p:nvSpPr>
          <p:cNvPr id="118" name="Google Shape;118;p20"/>
          <p:cNvSpPr txBox="1"/>
          <p:nvPr/>
        </p:nvSpPr>
        <p:spPr>
          <a:xfrm>
            <a:off x="5571325" y="5933100"/>
            <a:ext cx="21384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Vùng soạn thảo</a:t>
            </a:r>
            <a:endParaRPr sz="1800"/>
          </a:p>
        </p:txBody>
      </p:sp>
      <p:sp>
        <p:nvSpPr>
          <p:cNvPr id="119" name="Google Shape;119;p20"/>
          <p:cNvSpPr txBox="1"/>
          <p:nvPr/>
        </p:nvSpPr>
        <p:spPr>
          <a:xfrm>
            <a:off x="5342725" y="676500"/>
            <a:ext cx="32433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Các danh mục chức năng</a:t>
            </a:r>
            <a:endParaRPr sz="1800"/>
          </a:p>
        </p:txBody>
      </p:sp>
      <p:cxnSp>
        <p:nvCxnSpPr>
          <p:cNvPr id="120" name="Google Shape;120;p20"/>
          <p:cNvCxnSpPr/>
          <p:nvPr/>
        </p:nvCxnSpPr>
        <p:spPr>
          <a:xfrm flipH="1" rot="10800000">
            <a:off x="690125" y="5495125"/>
            <a:ext cx="388200" cy="655500"/>
          </a:xfrm>
          <a:prstGeom prst="straightConnector1">
            <a:avLst/>
          </a:prstGeom>
          <a:noFill/>
          <a:ln cap="flat" cmpd="sng" w="9525">
            <a:solidFill>
              <a:schemeClr val="dk2"/>
            </a:solidFill>
            <a:prstDash val="solid"/>
            <a:round/>
            <a:headEnd len="med" w="med" type="none"/>
            <a:tailEnd len="med" w="med" type="triangle"/>
          </a:ln>
        </p:spPr>
      </p:cxnSp>
      <p:cxnSp>
        <p:nvCxnSpPr>
          <p:cNvPr id="121" name="Google Shape;121;p20"/>
          <p:cNvCxnSpPr/>
          <p:nvPr/>
        </p:nvCxnSpPr>
        <p:spPr>
          <a:xfrm rot="10800000">
            <a:off x="3224650" y="5709925"/>
            <a:ext cx="191400" cy="371700"/>
          </a:xfrm>
          <a:prstGeom prst="straightConnector1">
            <a:avLst/>
          </a:prstGeom>
          <a:noFill/>
          <a:ln cap="flat" cmpd="sng" w="9525">
            <a:solidFill>
              <a:schemeClr val="dk2"/>
            </a:solidFill>
            <a:prstDash val="solid"/>
            <a:round/>
            <a:headEnd len="med" w="med" type="none"/>
            <a:tailEnd len="med" w="med" type="triangle"/>
          </a:ln>
        </p:spPr>
      </p:cxnSp>
      <p:cxnSp>
        <p:nvCxnSpPr>
          <p:cNvPr id="122" name="Google Shape;122;p20"/>
          <p:cNvCxnSpPr/>
          <p:nvPr/>
        </p:nvCxnSpPr>
        <p:spPr>
          <a:xfrm rot="10800000">
            <a:off x="5994325" y="5405700"/>
            <a:ext cx="646200" cy="603600"/>
          </a:xfrm>
          <a:prstGeom prst="straightConnector1">
            <a:avLst/>
          </a:prstGeom>
          <a:noFill/>
          <a:ln cap="flat" cmpd="sng" w="9525">
            <a:solidFill>
              <a:schemeClr val="dk2"/>
            </a:solidFill>
            <a:prstDash val="solid"/>
            <a:round/>
            <a:headEnd len="med" w="med" type="none"/>
            <a:tailEnd len="med" w="med" type="triangle"/>
          </a:ln>
        </p:spPr>
      </p:cxnSp>
      <p:cxnSp>
        <p:nvCxnSpPr>
          <p:cNvPr id="123" name="Google Shape;123;p20"/>
          <p:cNvCxnSpPr/>
          <p:nvPr/>
        </p:nvCxnSpPr>
        <p:spPr>
          <a:xfrm flipH="1">
            <a:off x="4493000" y="1102875"/>
            <a:ext cx="1482000" cy="426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9" name="Google Shape;129;p2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Nhận biết nội dung</a:t>
            </a:r>
            <a:endParaRPr/>
          </a:p>
        </p:txBody>
      </p:sp>
      <p:sp>
        <p:nvSpPr>
          <p:cNvPr id="130" name="Google Shape;130;p21"/>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Giúp người dùng xác định các thông tin đang xử lý</a:t>
            </a:r>
            <a:endParaRPr/>
          </a:p>
          <a:p>
            <a:pPr indent="-381000" lvl="0" marL="457200" rtl="0" algn="just">
              <a:spcBef>
                <a:spcPts val="0"/>
              </a:spcBef>
              <a:spcAft>
                <a:spcPts val="0"/>
              </a:spcAft>
              <a:buSzPts val="2400"/>
              <a:buChar char="●"/>
            </a:pPr>
            <a:r>
              <a:rPr lang="en-GB"/>
              <a:t>Sử dụng tiêu đề cửa sổ, các nhãn vùng, nhãn tên trường dữ liệu v.v..</a:t>
            </a:r>
            <a:endParaRPr/>
          </a:p>
          <a:p>
            <a:pPr indent="-381000" lvl="0" marL="457200" rtl="0" algn="just">
              <a:spcBef>
                <a:spcPts val="0"/>
              </a:spcBef>
              <a:spcAft>
                <a:spcPts val="0"/>
              </a:spcAft>
              <a:buSzPts val="2400"/>
              <a:buChar char="●"/>
            </a:pPr>
            <a:r>
              <a:rPr lang="en-GB"/>
              <a:t>T</a:t>
            </a:r>
            <a:r>
              <a:rPr lang="en-GB"/>
              <a:t>rực quan t</a:t>
            </a:r>
            <a:r>
              <a:rPr lang="en-GB"/>
              <a:t>ách biệt các vùng</a:t>
            </a:r>
            <a:endParaRPr/>
          </a:p>
          <a:p>
            <a:pPr indent="-381000" lvl="0" marL="457200" rtl="0" algn="just">
              <a:spcBef>
                <a:spcPts val="0"/>
              </a:spcBef>
              <a:spcAft>
                <a:spcPts val="0"/>
              </a:spcAft>
              <a:buSzPts val="2400"/>
              <a:buChar char="●"/>
            </a:pPr>
            <a:r>
              <a:rPr lang="en-GB"/>
              <a:t>Sử dụng các danh mục (menu) ngữ cảnh</a:t>
            </a:r>
            <a:endParaRPr/>
          </a:p>
          <a:p>
            <a:pPr indent="-381000" lvl="0" marL="457200" rtl="0" algn="just">
              <a:spcBef>
                <a:spcPts val="0"/>
              </a:spcBef>
              <a:spcAft>
                <a:spcPts val="0"/>
              </a:spcAft>
              <a:buSzPts val="2400"/>
              <a:buChar char="●"/>
            </a:pPr>
            <a:r>
              <a:rPr lang="en-GB"/>
              <a:t>v.v</a:t>
            </a:r>
            <a:r>
              <a:rPr lang="en-GB"/>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2. Nhận biết nội dung</a:t>
            </a:r>
            <a:endParaRPr/>
          </a:p>
        </p:txBody>
      </p:sp>
      <p:sp>
        <p:nvSpPr>
          <p:cNvPr id="136" name="Google Shape;136;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37" name="Google Shape;137;p22"/>
          <p:cNvPicPr preferRelativeResize="0"/>
          <p:nvPr/>
        </p:nvPicPr>
        <p:blipFill>
          <a:blip r:embed="rId3">
            <a:alphaModFix/>
          </a:blip>
          <a:stretch>
            <a:fillRect/>
          </a:stretch>
        </p:blipFill>
        <p:spPr>
          <a:xfrm>
            <a:off x="412025" y="1120725"/>
            <a:ext cx="7712676" cy="5539050"/>
          </a:xfrm>
          <a:prstGeom prst="rect">
            <a:avLst/>
          </a:prstGeom>
          <a:noFill/>
          <a:ln>
            <a:noFill/>
          </a:ln>
        </p:spPr>
      </p:pic>
      <p:sp>
        <p:nvSpPr>
          <p:cNvPr id="138" name="Google Shape;138;p22"/>
          <p:cNvSpPr txBox="1"/>
          <p:nvPr/>
        </p:nvSpPr>
        <p:spPr>
          <a:xfrm>
            <a:off x="6435299" y="551375"/>
            <a:ext cx="2454600" cy="6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Sơ đồ, chỉ số dòng </a:t>
            </a:r>
            <a:r>
              <a:rPr lang="en-GB" sz="1800"/>
              <a:t>hỗ trợ định vị </a:t>
            </a:r>
            <a:r>
              <a:rPr lang="en-GB" sz="1800">
                <a:solidFill>
                  <a:schemeClr val="dk1"/>
                </a:solidFill>
              </a:rPr>
              <a:t>nội dung</a:t>
            </a:r>
            <a:endParaRPr sz="1800"/>
          </a:p>
        </p:txBody>
      </p:sp>
      <p:cxnSp>
        <p:nvCxnSpPr>
          <p:cNvPr id="139" name="Google Shape;139;p22"/>
          <p:cNvCxnSpPr/>
          <p:nvPr/>
        </p:nvCxnSpPr>
        <p:spPr>
          <a:xfrm>
            <a:off x="7565375" y="1216325"/>
            <a:ext cx="240000" cy="795900"/>
          </a:xfrm>
          <a:prstGeom prst="straightConnector1">
            <a:avLst/>
          </a:prstGeom>
          <a:noFill/>
          <a:ln cap="flat" cmpd="sng" w="9525">
            <a:solidFill>
              <a:schemeClr val="dk2"/>
            </a:solidFill>
            <a:prstDash val="solid"/>
            <a:round/>
            <a:headEnd len="med" w="med" type="none"/>
            <a:tailEnd len="med" w="med" type="triangle"/>
          </a:ln>
        </p:spPr>
      </p:cxnSp>
      <p:sp>
        <p:nvSpPr>
          <p:cNvPr id="140" name="Google Shape;140;p22"/>
          <p:cNvSpPr txBox="1"/>
          <p:nvPr/>
        </p:nvSpPr>
        <p:spPr>
          <a:xfrm>
            <a:off x="1114875" y="753050"/>
            <a:ext cx="47598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Các đường dẫn giúp xác định tệp hiện hành</a:t>
            </a:r>
            <a:endParaRPr i="1" sz="1800"/>
          </a:p>
        </p:txBody>
      </p:sp>
      <p:cxnSp>
        <p:nvCxnSpPr>
          <p:cNvPr id="141" name="Google Shape;141;p22"/>
          <p:cNvCxnSpPr/>
          <p:nvPr/>
        </p:nvCxnSpPr>
        <p:spPr>
          <a:xfrm>
            <a:off x="3743875" y="1147325"/>
            <a:ext cx="448500" cy="647100"/>
          </a:xfrm>
          <a:prstGeom prst="straightConnector1">
            <a:avLst/>
          </a:prstGeom>
          <a:noFill/>
          <a:ln cap="flat" cmpd="sng" w="9525">
            <a:solidFill>
              <a:schemeClr val="dk2"/>
            </a:solidFill>
            <a:prstDash val="solid"/>
            <a:round/>
            <a:headEnd len="med" w="med" type="none"/>
            <a:tailEnd len="med" w="med" type="triangle"/>
          </a:ln>
        </p:spPr>
      </p:cxnSp>
      <p:cxnSp>
        <p:nvCxnSpPr>
          <p:cNvPr id="142" name="Google Shape;142;p22"/>
          <p:cNvCxnSpPr/>
          <p:nvPr/>
        </p:nvCxnSpPr>
        <p:spPr>
          <a:xfrm flipH="1">
            <a:off x="1886375" y="1123450"/>
            <a:ext cx="620400" cy="3856500"/>
          </a:xfrm>
          <a:prstGeom prst="straightConnector1">
            <a:avLst/>
          </a:prstGeom>
          <a:noFill/>
          <a:ln cap="flat" cmpd="sng" w="9525">
            <a:solidFill>
              <a:schemeClr val="dk2"/>
            </a:solidFill>
            <a:prstDash val="solid"/>
            <a:round/>
            <a:headEnd len="med" w="med" type="none"/>
            <a:tailEnd len="med" w="med" type="triangle"/>
          </a:ln>
        </p:spPr>
      </p:cxnSp>
      <p:cxnSp>
        <p:nvCxnSpPr>
          <p:cNvPr id="143" name="Google Shape;143;p22"/>
          <p:cNvCxnSpPr/>
          <p:nvPr/>
        </p:nvCxnSpPr>
        <p:spPr>
          <a:xfrm flipH="1">
            <a:off x="2674175" y="1216325"/>
            <a:ext cx="4510200" cy="1380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Mô tả chức năng</a:t>
            </a:r>
            <a:endParaRPr/>
          </a:p>
        </p:txBody>
      </p:sp>
      <p:sp>
        <p:nvSpPr>
          <p:cNvPr id="149" name="Google Shape;149;p23"/>
          <p:cNvSpPr txBox="1"/>
          <p:nvPr>
            <p:ph idx="4294967295" type="body"/>
          </p:nvPr>
        </p:nvSpPr>
        <p:spPr>
          <a:xfrm>
            <a:off x="311700" y="1083076"/>
            <a:ext cx="8520600" cy="17637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Sử dụng hình ảnh, biểu tượng, sơ đồ v.v.. giúp người dùng phán đoán chức năng và hành vi hệ thống</a:t>
            </a:r>
            <a:endParaRPr/>
          </a:p>
          <a:p>
            <a:pPr indent="-381000" lvl="0" marL="457200" rtl="0" algn="just">
              <a:spcBef>
                <a:spcPts val="0"/>
              </a:spcBef>
              <a:spcAft>
                <a:spcPts val="0"/>
              </a:spcAft>
              <a:buSzPts val="2400"/>
              <a:buChar char="●"/>
            </a:pPr>
            <a:r>
              <a:rPr lang="en-GB"/>
              <a:t>Hiển thị và phản hồi trực quan thao tác người dùng</a:t>
            </a:r>
            <a:endParaRPr/>
          </a:p>
          <a:p>
            <a:pPr indent="-368300" lvl="1" marL="914400" rtl="0" algn="just">
              <a:spcBef>
                <a:spcPts val="0"/>
              </a:spcBef>
              <a:spcAft>
                <a:spcPts val="0"/>
              </a:spcAft>
              <a:buSzPts val="2200"/>
              <a:buChar char="○"/>
            </a:pPr>
            <a:r>
              <a:rPr lang="en-GB"/>
              <a:t>Cho biết đối tượng giống thứ gì và làm gì?</a:t>
            </a:r>
            <a:endParaRPr/>
          </a:p>
        </p:txBody>
      </p:sp>
      <p:sp>
        <p:nvSpPr>
          <p:cNvPr id="150" name="Google Shape;150;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51" name="Google Shape;151;p23"/>
          <p:cNvPicPr preferRelativeResize="0"/>
          <p:nvPr/>
        </p:nvPicPr>
        <p:blipFill>
          <a:blip r:embed="rId3">
            <a:alphaModFix/>
          </a:blip>
          <a:stretch>
            <a:fillRect/>
          </a:stretch>
        </p:blipFill>
        <p:spPr>
          <a:xfrm>
            <a:off x="2084725" y="2779100"/>
            <a:ext cx="4976000" cy="3796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Mô tả chức năng</a:t>
            </a:r>
            <a:r>
              <a:rPr baseline="-25000" lang="en-GB"/>
              <a:t>(2)</a:t>
            </a:r>
            <a:endParaRPr baseline="-25000"/>
          </a:p>
        </p:txBody>
      </p:sp>
      <p:sp>
        <p:nvSpPr>
          <p:cNvPr id="157" name="Google Shape;157;p24"/>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Gợi ý chức năng</a:t>
            </a:r>
            <a:endParaRPr/>
          </a:p>
          <a:p>
            <a:pPr indent="-368300" lvl="1" marL="914400" rtl="0" algn="just">
              <a:spcBef>
                <a:spcPts val="0"/>
              </a:spcBef>
              <a:spcAft>
                <a:spcPts val="0"/>
              </a:spcAft>
              <a:buSzPts val="2200"/>
              <a:buChar char="○"/>
            </a:pPr>
            <a:r>
              <a:rPr lang="en-GB"/>
              <a:t>Cung cấp thêm thông tin về chức năng </a:t>
            </a:r>
            <a:r>
              <a:rPr lang="en-GB"/>
              <a:t>cho người dùng</a:t>
            </a:r>
            <a:endParaRPr/>
          </a:p>
          <a:p>
            <a:pPr indent="-368300" lvl="1" marL="914400" rtl="0" algn="just">
              <a:spcBef>
                <a:spcPts val="0"/>
              </a:spcBef>
              <a:spcAft>
                <a:spcPts val="0"/>
              </a:spcAft>
              <a:buSzPts val="2200"/>
              <a:buChar char="○"/>
            </a:pPr>
            <a:r>
              <a:rPr lang="en-GB"/>
              <a:t>Kích hoạt: Khi giữ chuột trên nút bấm, lần đầu mở cửa sổ mới, v.v…</a:t>
            </a:r>
            <a:endParaRPr/>
          </a:p>
          <a:p>
            <a:pPr indent="0" lvl="0" marL="0" rtl="0" algn="just">
              <a:spcBef>
                <a:spcPts val="0"/>
              </a:spcBef>
              <a:spcAft>
                <a:spcPts val="0"/>
              </a:spcAft>
              <a:buNone/>
            </a:pPr>
            <a:r>
              <a:t/>
            </a:r>
            <a:endParaRPr/>
          </a:p>
        </p:txBody>
      </p:sp>
      <p:sp>
        <p:nvSpPr>
          <p:cNvPr id="158" name="Google Shape;158;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59" name="Google Shape;159;p24"/>
          <p:cNvPicPr preferRelativeResize="0"/>
          <p:nvPr/>
        </p:nvPicPr>
        <p:blipFill>
          <a:blip r:embed="rId3">
            <a:alphaModFix/>
          </a:blip>
          <a:stretch>
            <a:fillRect/>
          </a:stretch>
        </p:blipFill>
        <p:spPr>
          <a:xfrm>
            <a:off x="3459850" y="2565125"/>
            <a:ext cx="1706972" cy="940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thẩm mỹ</a:t>
            </a:r>
            <a:endParaRPr/>
          </a:p>
        </p:txBody>
      </p:sp>
      <p:sp>
        <p:nvSpPr>
          <p:cNvPr id="165" name="Google Shape;165;p25"/>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giao diện phải hữu dụng, tạo động lực, đồng thời phải có tính thẩm mỹ</a:t>
            </a:r>
            <a:endParaRPr/>
          </a:p>
          <a:p>
            <a:pPr indent="-381000" lvl="0" marL="457200" rtl="0" algn="just">
              <a:spcBef>
                <a:spcPts val="0"/>
              </a:spcBef>
              <a:spcAft>
                <a:spcPts val="0"/>
              </a:spcAft>
              <a:buSzPts val="2400"/>
              <a:buChar char="●"/>
            </a:pPr>
            <a:r>
              <a:rPr lang="en-GB"/>
              <a:t>Thiết kế thường càng đơn giản càng tốt</a:t>
            </a:r>
            <a:endParaRPr/>
          </a:p>
          <a:p>
            <a:pPr indent="-381000" lvl="0" marL="457200" rtl="0" algn="just">
              <a:spcBef>
                <a:spcPts val="0"/>
              </a:spcBef>
              <a:spcAft>
                <a:spcPts val="0"/>
              </a:spcAft>
              <a:buSzPts val="2400"/>
              <a:buChar char="●"/>
            </a:pPr>
            <a:r>
              <a:rPr lang="en-GB"/>
              <a:t>Các khoảng trắng có vai trò quan trọng để </a:t>
            </a:r>
            <a:r>
              <a:rPr lang="en-GB"/>
              <a:t>phân tách các phần nội dung</a:t>
            </a:r>
            <a:endParaRPr/>
          </a:p>
          <a:p>
            <a:pPr indent="-381000" lvl="0" marL="457200" rtl="0" algn="just">
              <a:spcBef>
                <a:spcPts val="0"/>
              </a:spcBef>
              <a:spcAft>
                <a:spcPts val="0"/>
              </a:spcAft>
              <a:buSzPts val="2400"/>
              <a:buChar char="●"/>
            </a:pPr>
            <a:r>
              <a:rPr lang="en-GB"/>
              <a:t>Mật độ thông tin phù hợp với kỹ năng người dùng</a:t>
            </a:r>
            <a:endParaRPr/>
          </a:p>
          <a:p>
            <a:pPr indent="-368300" lvl="1" marL="914400" rtl="0" algn="just">
              <a:spcBef>
                <a:spcPts val="0"/>
              </a:spcBef>
              <a:spcAft>
                <a:spcPts val="0"/>
              </a:spcAft>
              <a:buSzPts val="2200"/>
              <a:buChar char="○"/>
            </a:pPr>
            <a:r>
              <a:rPr lang="en-GB"/>
              <a:t>Mật độ thấp (&lt; 50%) đối với người dùng mới.</a:t>
            </a:r>
            <a:endParaRPr/>
          </a:p>
          <a:p>
            <a:pPr indent="-368300" lvl="1" marL="914400" rtl="0" algn="just">
              <a:spcBef>
                <a:spcPts val="0"/>
              </a:spcBef>
              <a:spcAft>
                <a:spcPts val="0"/>
              </a:spcAft>
              <a:buSzPts val="2200"/>
              <a:buChar char="○"/>
            </a:pPr>
            <a:r>
              <a:rPr lang="en-GB"/>
              <a:t>Mật độ cao (&gt; 50%) đối với n</a:t>
            </a:r>
            <a:r>
              <a:rPr lang="en-GB"/>
              <a:t>gười dùng chuyên nghiệp.</a:t>
            </a:r>
            <a:endParaRPr/>
          </a:p>
          <a:p>
            <a:pPr indent="-381000" lvl="0" marL="457200" rtl="0" algn="just">
              <a:spcBef>
                <a:spcPts val="0"/>
              </a:spcBef>
              <a:spcAft>
                <a:spcPts val="0"/>
              </a:spcAft>
              <a:buSzPts val="2400"/>
              <a:buChar char="●"/>
            </a:pPr>
            <a:r>
              <a:rPr lang="en-GB"/>
              <a:t>Phong cách và khả năng đọc văn bản: Kích thước, kiểu chữ với nét hoa mỹ (</a:t>
            </a:r>
            <a:r>
              <a:rPr lang="en-GB"/>
              <a:t>serif</a:t>
            </a:r>
            <a:r>
              <a:rPr lang="en-GB"/>
              <a:t>) hoặc đơn giản (</a:t>
            </a:r>
            <a:r>
              <a:rPr lang="en-GB"/>
              <a:t>sans serif)</a:t>
            </a:r>
            <a:r>
              <a:rPr lang="en-GB"/>
              <a:t>, cách sử dụng chữ hoa, v.v..</a:t>
            </a:r>
            <a:endParaRPr/>
          </a:p>
          <a:p>
            <a:pPr indent="-381000" lvl="0" marL="457200" rtl="0" algn="just">
              <a:spcBef>
                <a:spcPts val="0"/>
              </a:spcBef>
              <a:spcAft>
                <a:spcPts val="0"/>
              </a:spcAft>
              <a:buSzPts val="2400"/>
              <a:buChar char="●"/>
            </a:pPr>
            <a:r>
              <a:rPr lang="en-GB"/>
              <a:t>Màu sắc và hoa văn.</a:t>
            </a:r>
            <a:endParaRPr/>
          </a:p>
          <a:p>
            <a:pPr indent="-381000" lvl="0" marL="457200" rtl="0" algn="just">
              <a:spcBef>
                <a:spcPts val="0"/>
              </a:spcBef>
              <a:spcAft>
                <a:spcPts val="0"/>
              </a:spcAft>
              <a:buSzPts val="2400"/>
              <a:buChar char="●"/>
            </a:pPr>
            <a:r>
              <a:rPr lang="en-GB"/>
              <a:t>v.v..</a:t>
            </a:r>
            <a:endParaRPr/>
          </a:p>
        </p:txBody>
      </p:sp>
      <p:sp>
        <p:nvSpPr>
          <p:cNvPr id="166" name="Google Shape;166;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Độ phức tạp và hiệu quả sử dụng</a:t>
            </a:r>
            <a:endParaRPr/>
          </a:p>
        </p:txBody>
      </p:sp>
      <p:sp>
        <p:nvSpPr>
          <p:cNvPr id="172" name="Google Shape;172;p26"/>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Độ phức tạp: </a:t>
            </a:r>
            <a:endParaRPr/>
          </a:p>
          <a:p>
            <a:pPr indent="-368300" lvl="1" marL="914400" rtl="0" algn="just">
              <a:spcBef>
                <a:spcPts val="0"/>
              </a:spcBef>
              <a:spcAft>
                <a:spcPts val="0"/>
              </a:spcAft>
              <a:buSzPts val="2200"/>
              <a:buChar char="○"/>
            </a:pPr>
            <a:r>
              <a:rPr lang="en-GB"/>
              <a:t>Giao diện với ít thông tin thường đơn giản, dễ sử dụng đối với người dùng ít kinh nghiệm</a:t>
            </a:r>
            <a:endParaRPr/>
          </a:p>
          <a:p>
            <a:pPr indent="-342900" lvl="2" marL="1371600" rtl="0" algn="just">
              <a:spcBef>
                <a:spcPts val="0"/>
              </a:spcBef>
              <a:spcAft>
                <a:spcPts val="0"/>
              </a:spcAft>
              <a:buSzPts val="1800"/>
              <a:buChar char="■"/>
            </a:pPr>
            <a:r>
              <a:rPr lang="en-GB"/>
              <a:t>Rất quan trọng đối với hệ thống có nhiều người dùng;</a:t>
            </a:r>
            <a:endParaRPr/>
          </a:p>
          <a:p>
            <a:pPr indent="-342900" lvl="2" marL="1371600" rtl="0" algn="just">
              <a:spcBef>
                <a:spcPts val="0"/>
              </a:spcBef>
              <a:spcAft>
                <a:spcPts val="0"/>
              </a:spcAft>
              <a:buSzPts val="1800"/>
              <a:buChar char="■"/>
            </a:pPr>
            <a:r>
              <a:rPr lang="en-GB"/>
              <a:t>… </a:t>
            </a:r>
            <a:r>
              <a:rPr lang="en-GB"/>
              <a:t>nhưng có thể không hiệu quả đối với người dùng chuyên nghiệp.</a:t>
            </a:r>
            <a:endParaRPr/>
          </a:p>
          <a:p>
            <a:pPr indent="-381000" lvl="0" marL="457200" rtl="0" algn="just">
              <a:spcBef>
                <a:spcPts val="0"/>
              </a:spcBef>
              <a:spcAft>
                <a:spcPts val="0"/>
              </a:spcAft>
              <a:buSzPts val="2400"/>
              <a:buChar char="●"/>
            </a:pPr>
            <a:r>
              <a:rPr lang="en-GB"/>
              <a:t>Hiệu quả sử dụng: </a:t>
            </a:r>
            <a:endParaRPr/>
          </a:p>
          <a:p>
            <a:pPr indent="-368300" lvl="1" marL="914400" rtl="0" algn="just">
              <a:spcBef>
                <a:spcPts val="0"/>
              </a:spcBef>
              <a:spcAft>
                <a:spcPts val="0"/>
              </a:spcAft>
              <a:buSzPts val="2200"/>
              <a:buChar char="○"/>
            </a:pPr>
            <a:r>
              <a:rPr lang="en-GB"/>
              <a:t>Giao diện với nhiều thông tin có thể hiệu quả hơn đối với người dùng chuyên nghiệp (có thể yêu cầu đào tạo)</a:t>
            </a:r>
            <a:endParaRPr/>
          </a:p>
          <a:p>
            <a:pPr indent="-342900" lvl="2" marL="1371600" rtl="0" algn="just">
              <a:spcBef>
                <a:spcPts val="0"/>
              </a:spcBef>
              <a:spcAft>
                <a:spcPts val="0"/>
              </a:spcAft>
              <a:buSzPts val="1800"/>
              <a:buChar char="■"/>
            </a:pPr>
            <a:r>
              <a:rPr lang="en-GB"/>
              <a:t>Rất quan trọng trong các hệ thống chuyên dụng;</a:t>
            </a:r>
            <a:endParaRPr/>
          </a:p>
          <a:p>
            <a:pPr indent="-342900" lvl="2" marL="1371600" rtl="0" algn="just">
              <a:spcBef>
                <a:spcPts val="0"/>
              </a:spcBef>
              <a:spcAft>
                <a:spcPts val="0"/>
              </a:spcAft>
              <a:buSzPts val="1800"/>
              <a:buChar char="■"/>
            </a:pPr>
            <a:r>
              <a:rPr lang="en-GB"/>
              <a:t>… nhưng có thể phức tạp đối với người dùng ít kinh nghiệm;</a:t>
            </a:r>
            <a:endParaRPr/>
          </a:p>
          <a:p>
            <a:pPr indent="-381000" lvl="0" marL="457200" rtl="0" algn="just">
              <a:spcBef>
                <a:spcPts val="0"/>
              </a:spcBef>
              <a:spcAft>
                <a:spcPts val="0"/>
              </a:spcAft>
              <a:buSzPts val="2400"/>
              <a:buChar char="●"/>
            </a:pPr>
            <a:r>
              <a:rPr lang="en-GB"/>
              <a:t>Quan hệ bù trừ: Người thiết kế có thể phải lựa chọn ưu tiên người dùng mới hoặc người dùng chuyên nghiệp</a:t>
            </a:r>
            <a:endParaRPr/>
          </a:p>
          <a:p>
            <a:pPr indent="-368300" lvl="1" marL="914400" rtl="0" algn="just">
              <a:spcBef>
                <a:spcPts val="0"/>
              </a:spcBef>
              <a:spcAft>
                <a:spcPts val="0"/>
              </a:spcAft>
              <a:buSzPts val="2200"/>
              <a:buChar char="○"/>
            </a:pPr>
            <a:r>
              <a:rPr lang="en-GB"/>
              <a:t>… hoặc hỗ trợ đồng thời các giao diện cơ bản &amp; nâng cao.</a:t>
            </a:r>
            <a:endParaRPr/>
          </a:p>
          <a:p>
            <a:pPr indent="-368300" lvl="1" marL="914400" rtl="0" algn="just">
              <a:spcBef>
                <a:spcPts val="0"/>
              </a:spcBef>
              <a:spcAft>
                <a:spcPts val="0"/>
              </a:spcAft>
              <a:buSzPts val="2200"/>
              <a:buChar char="○"/>
            </a:pPr>
            <a:r>
              <a:rPr lang="en-GB"/>
              <a:t>Sử dụng những thiết kế tương tự làm giảm độ phức tạp.</a:t>
            </a:r>
            <a:endParaRPr/>
          </a:p>
        </p:txBody>
      </p:sp>
      <p:sp>
        <p:nvSpPr>
          <p:cNvPr id="173" name="Google Shape;173;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nhất quán</a:t>
            </a:r>
            <a:endParaRPr/>
          </a:p>
        </p:txBody>
      </p:sp>
      <p:sp>
        <p:nvSpPr>
          <p:cNvPr id="179" name="Google Shape;179;p27"/>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Phạm vi</a:t>
            </a:r>
            <a:endParaRPr/>
          </a:p>
          <a:p>
            <a:pPr indent="-368300" lvl="1" marL="914400" rtl="0" algn="just">
              <a:spcBef>
                <a:spcPts val="0"/>
              </a:spcBef>
              <a:spcAft>
                <a:spcPts val="0"/>
              </a:spcAft>
              <a:buSzPts val="2200"/>
              <a:buChar char="○"/>
            </a:pPr>
            <a:r>
              <a:rPr lang="en-GB"/>
              <a:t>Trong 1 chương trình</a:t>
            </a:r>
            <a:endParaRPr/>
          </a:p>
          <a:p>
            <a:pPr indent="-368300" lvl="1" marL="914400" rtl="0" algn="just">
              <a:spcBef>
                <a:spcPts val="0"/>
              </a:spcBef>
              <a:spcAft>
                <a:spcPts val="0"/>
              </a:spcAft>
              <a:buSzPts val="2200"/>
              <a:buChar char="○"/>
            </a:pPr>
            <a:r>
              <a:rPr lang="en-GB"/>
              <a:t>Trong 1 nhóm chương trình</a:t>
            </a:r>
            <a:endParaRPr/>
          </a:p>
          <a:p>
            <a:pPr indent="-368300" lvl="1" marL="914400" rtl="0" algn="just">
              <a:spcBef>
                <a:spcPts val="0"/>
              </a:spcBef>
              <a:spcAft>
                <a:spcPts val="0"/>
              </a:spcAft>
              <a:buSzPts val="2200"/>
              <a:buChar char="○"/>
            </a:pPr>
            <a:r>
              <a:rPr lang="en-GB"/>
              <a:t>Giữa các phiên bản của 1 chương trình theo thời gian</a:t>
            </a:r>
            <a:endParaRPr/>
          </a:p>
          <a:p>
            <a:pPr indent="-368300" lvl="1" marL="914400" rtl="0" algn="just">
              <a:spcBef>
                <a:spcPts val="0"/>
              </a:spcBef>
              <a:spcAft>
                <a:spcPts val="0"/>
              </a:spcAft>
              <a:buSzPts val="2200"/>
              <a:buChar char="○"/>
            </a:pPr>
            <a:r>
              <a:rPr lang="en-GB"/>
              <a:t>Giữa các phiên bản của 1 chương trình trên nhiều nền tảng</a:t>
            </a:r>
            <a:endParaRPr/>
          </a:p>
          <a:p>
            <a:pPr indent="-381000" lvl="0" marL="457200" rtl="0" algn="just">
              <a:spcBef>
                <a:spcPts val="0"/>
              </a:spcBef>
              <a:spcAft>
                <a:spcPts val="0"/>
              </a:spcAft>
              <a:buSzPts val="2400"/>
              <a:buChar char="●"/>
            </a:pPr>
            <a:r>
              <a:rPr lang="en-GB"/>
              <a:t>Đặc biệt quan trọng để giảm thời gian tìm hiểu</a:t>
            </a:r>
            <a:endParaRPr/>
          </a:p>
          <a:p>
            <a:pPr indent="-368300" lvl="1" marL="914400" rtl="0" algn="just">
              <a:spcBef>
                <a:spcPts val="0"/>
              </a:spcBef>
              <a:spcAft>
                <a:spcPts val="0"/>
              </a:spcAft>
              <a:buSzPts val="2200"/>
              <a:buChar char="○"/>
            </a:pPr>
            <a:r>
              <a:rPr lang="en-GB"/>
              <a:t>Giúp người dùng phán đoán hành vi</a:t>
            </a:r>
            <a:endParaRPr/>
          </a:p>
          <a:p>
            <a:pPr indent="-368300" lvl="1" marL="914400" rtl="0" algn="just">
              <a:spcBef>
                <a:spcPts val="0"/>
              </a:spcBef>
              <a:spcAft>
                <a:spcPts val="0"/>
              </a:spcAft>
              <a:buSzPts val="2200"/>
              <a:buChar char="○"/>
            </a:pPr>
            <a:r>
              <a:rPr lang="en-GB"/>
              <a:t>Áp dụng kỹ năng học được ở 1 nơi cho những nơi khác</a:t>
            </a:r>
            <a:endParaRPr/>
          </a:p>
          <a:p>
            <a:pPr indent="-381000" lvl="0" marL="457200" rtl="0" algn="just">
              <a:spcBef>
                <a:spcPts val="0"/>
              </a:spcBef>
              <a:spcAft>
                <a:spcPts val="0"/>
              </a:spcAft>
              <a:buSzPts val="2400"/>
              <a:buChar char="●"/>
            </a:pPr>
            <a:r>
              <a:rPr lang="en-GB"/>
              <a:t>Các yếu tố cơ bản</a:t>
            </a:r>
            <a:endParaRPr/>
          </a:p>
          <a:p>
            <a:pPr indent="-368300" lvl="1" marL="914400" rtl="0" algn="just">
              <a:spcBef>
                <a:spcPts val="0"/>
              </a:spcBef>
              <a:spcAft>
                <a:spcPts val="0"/>
              </a:spcAft>
              <a:buSzPts val="2200"/>
              <a:buChar char="○"/>
            </a:pPr>
            <a:r>
              <a:rPr lang="en-GB"/>
              <a:t>Những Lô-gic hoạt động chung</a:t>
            </a:r>
            <a:endParaRPr/>
          </a:p>
          <a:p>
            <a:pPr indent="-368300" lvl="1" marL="914400" rtl="0" algn="just">
              <a:spcBef>
                <a:spcPts val="0"/>
              </a:spcBef>
              <a:spcAft>
                <a:spcPts val="0"/>
              </a:spcAft>
              <a:buSzPts val="2200"/>
              <a:buChar char="○"/>
            </a:pPr>
            <a:r>
              <a:rPr lang="en-GB"/>
              <a:t>Điều khiển điều hướng</a:t>
            </a:r>
            <a:endParaRPr/>
          </a:p>
          <a:p>
            <a:pPr indent="-368300" lvl="1" marL="914400" rtl="0" algn="just">
              <a:spcBef>
                <a:spcPts val="0"/>
              </a:spcBef>
              <a:spcAft>
                <a:spcPts val="0"/>
              </a:spcAft>
              <a:buSzPts val="2200"/>
              <a:buChar char="○"/>
            </a:pPr>
            <a:r>
              <a:rPr lang="en-GB"/>
              <a:t>Thuật ngữ </a:t>
            </a:r>
            <a:endParaRPr/>
          </a:p>
          <a:p>
            <a:pPr indent="-368300" lvl="1" marL="914400" rtl="0" algn="just">
              <a:spcBef>
                <a:spcPts val="0"/>
              </a:spcBef>
              <a:spcAft>
                <a:spcPts val="0"/>
              </a:spcAft>
              <a:buSzPts val="2200"/>
              <a:buChar char="○"/>
            </a:pPr>
            <a:r>
              <a:rPr lang="en-GB"/>
              <a:t>Biểu tượng</a:t>
            </a:r>
            <a:endParaRPr/>
          </a:p>
        </p:txBody>
      </p:sp>
      <p:sp>
        <p:nvSpPr>
          <p:cNvPr id="180" name="Google Shape;180;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Hạn chế lỗi thao tác</a:t>
            </a:r>
            <a:endParaRPr/>
          </a:p>
        </p:txBody>
      </p:sp>
      <p:sp>
        <p:nvSpPr>
          <p:cNvPr id="186" name="Google Shape;186;p28"/>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Có thể </a:t>
            </a:r>
            <a:r>
              <a:rPr lang="en-GB"/>
              <a:t>vô hiệu các chức năng khi các điều kiện chưa được đáp ứng</a:t>
            </a:r>
            <a:endParaRPr/>
          </a:p>
          <a:p>
            <a:pPr indent="0" lvl="0" marL="457200" rtl="0" algn="just">
              <a:spcBef>
                <a:spcPts val="0"/>
              </a:spcBef>
              <a:spcAft>
                <a:spcPts val="0"/>
              </a:spcAft>
              <a:buNone/>
            </a:pPr>
            <a:r>
              <a:t/>
            </a:r>
            <a:endParaRPr/>
          </a:p>
          <a:p>
            <a:pPr indent="-381000" lvl="0" marL="457200" rtl="0" algn="just">
              <a:spcBef>
                <a:spcPts val="0"/>
              </a:spcBef>
              <a:spcAft>
                <a:spcPts val="0"/>
              </a:spcAft>
              <a:buSzPts val="2400"/>
              <a:buChar char="●"/>
            </a:pPr>
            <a:r>
              <a:rPr lang="en-GB"/>
              <a:t>Bảo vệ kết quả</a:t>
            </a:r>
            <a:endParaRPr/>
          </a:p>
          <a:p>
            <a:pPr indent="-368300" lvl="1" marL="914400" rtl="0" algn="just">
              <a:spcBef>
                <a:spcPts val="0"/>
              </a:spcBef>
              <a:spcAft>
                <a:spcPts val="0"/>
              </a:spcAft>
              <a:buSzPts val="2200"/>
              <a:buChar char="○"/>
            </a:pPr>
            <a:r>
              <a:rPr lang="en-GB"/>
              <a:t>Ghi nhớ các thay đổi</a:t>
            </a:r>
            <a:endParaRPr/>
          </a:p>
          <a:p>
            <a:pPr indent="-368300" lvl="1" marL="914400" rtl="0" algn="just">
              <a:spcBef>
                <a:spcPts val="0"/>
              </a:spcBef>
              <a:spcAft>
                <a:spcPts val="0"/>
              </a:spcAft>
              <a:buSzPts val="2200"/>
              <a:buChar char="○"/>
            </a:pPr>
            <a:r>
              <a:rPr lang="en-GB"/>
              <a:t>Hoàn tác / Khôi phục trạng thái trước thao tác lỗi</a:t>
            </a:r>
            <a:endParaRPr/>
          </a:p>
        </p:txBody>
      </p:sp>
      <p:sp>
        <p:nvSpPr>
          <p:cNvPr id="187" name="Google Shape;187;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88" name="Google Shape;188;p28"/>
          <p:cNvPicPr preferRelativeResize="0"/>
          <p:nvPr/>
        </p:nvPicPr>
        <p:blipFill>
          <a:blip r:embed="rId3">
            <a:alphaModFix/>
          </a:blip>
          <a:stretch>
            <a:fillRect/>
          </a:stretch>
        </p:blipFill>
        <p:spPr>
          <a:xfrm>
            <a:off x="3048900" y="3761750"/>
            <a:ext cx="3143250" cy="2724150"/>
          </a:xfrm>
          <a:prstGeom prst="rect">
            <a:avLst/>
          </a:prstGeom>
          <a:noFill/>
          <a:ln>
            <a:noFill/>
          </a:ln>
        </p:spPr>
      </p:pic>
      <p:pic>
        <p:nvPicPr>
          <p:cNvPr id="189" name="Google Shape;189;p28"/>
          <p:cNvPicPr preferRelativeResize="0"/>
          <p:nvPr/>
        </p:nvPicPr>
        <p:blipFill>
          <a:blip r:embed="rId4">
            <a:alphaModFix/>
          </a:blip>
          <a:stretch>
            <a:fillRect/>
          </a:stretch>
        </p:blipFill>
        <p:spPr>
          <a:xfrm>
            <a:off x="3048900" y="1811062"/>
            <a:ext cx="1523105" cy="461325"/>
          </a:xfrm>
          <a:prstGeom prst="rect">
            <a:avLst/>
          </a:prstGeom>
          <a:noFill/>
          <a:ln>
            <a:noFill/>
          </a:ln>
        </p:spPr>
      </p:pic>
      <p:sp>
        <p:nvSpPr>
          <p:cNvPr id="190" name="Google Shape;190;p28"/>
          <p:cNvSpPr txBox="1"/>
          <p:nvPr/>
        </p:nvSpPr>
        <p:spPr>
          <a:xfrm>
            <a:off x="4753650" y="1734850"/>
            <a:ext cx="32529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Cần đánh dấu trước khi có thể sao chép định dạng</a:t>
            </a:r>
            <a:endParaRPr i="1"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Tối ưu thao tác người dùng</a:t>
            </a:r>
            <a:endParaRPr/>
          </a:p>
        </p:txBody>
      </p:sp>
      <p:sp>
        <p:nvSpPr>
          <p:cNvPr id="196" name="Google Shape;196;p29"/>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giao diện cần được thiết kế để tối ưu thao tác của người dùng</a:t>
            </a:r>
            <a:endParaRPr/>
          </a:p>
          <a:p>
            <a:pPr indent="-368300" lvl="1" marL="914400" rtl="0" algn="just">
              <a:spcBef>
                <a:spcPts val="0"/>
              </a:spcBef>
              <a:spcAft>
                <a:spcPts val="0"/>
              </a:spcAft>
              <a:buSzPts val="2200"/>
              <a:buChar char="○"/>
            </a:pPr>
            <a:r>
              <a:rPr lang="en-GB"/>
              <a:t>Giúp người dùng hoàn thành công việc nhanh nhất, với số lượng thao tác tối thiểu.</a:t>
            </a:r>
            <a:endParaRPr/>
          </a:p>
          <a:p>
            <a:pPr indent="-368300" lvl="1" marL="914400" rtl="0" algn="just">
              <a:spcBef>
                <a:spcPts val="0"/>
              </a:spcBef>
              <a:spcAft>
                <a:spcPts val="0"/>
              </a:spcAft>
              <a:buSzPts val="2200"/>
              <a:buChar char="○"/>
            </a:pPr>
            <a:r>
              <a:rPr lang="en-GB"/>
              <a:t>Ở 1 góc độ nhất định có thể đánh giá độ phức tạp của thao tác người dùng thông qua số lần kích chuột</a:t>
            </a:r>
            <a:endParaRPr/>
          </a:p>
          <a:p>
            <a:pPr indent="-381000" lvl="0" marL="457200" rtl="0" algn="just">
              <a:spcBef>
                <a:spcPts val="0"/>
              </a:spcBef>
              <a:spcAft>
                <a:spcPts val="0"/>
              </a:spcAft>
              <a:buSzPts val="2400"/>
              <a:buChar char="●"/>
            </a:pPr>
            <a:r>
              <a:rPr lang="en-GB"/>
              <a:t>Ví dụ quy tắc 3 lần kích chuột</a:t>
            </a:r>
            <a:endParaRPr/>
          </a:p>
          <a:p>
            <a:pPr indent="-368300" lvl="1" marL="914400" rtl="0" algn="just">
              <a:spcBef>
                <a:spcPts val="0"/>
              </a:spcBef>
              <a:spcAft>
                <a:spcPts val="0"/>
              </a:spcAft>
              <a:buSzPts val="2200"/>
              <a:buChar char="○"/>
            </a:pPr>
            <a:r>
              <a:rPr lang="en-GB"/>
              <a:t>Từ màn hình chính của hệ thống người dùng có thể tiếp cận bất kỳ mục nào với không quá 3 lần kích chuột</a:t>
            </a:r>
            <a:endParaRPr/>
          </a:p>
        </p:txBody>
      </p:sp>
      <p:sp>
        <p:nvSpPr>
          <p:cNvPr id="197" name="Google Shape;197;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98" name="Google Shape;198;p29"/>
          <p:cNvPicPr preferRelativeResize="0"/>
          <p:nvPr/>
        </p:nvPicPr>
        <p:blipFill>
          <a:blip r:embed="rId3">
            <a:alphaModFix/>
          </a:blip>
          <a:stretch>
            <a:fillRect/>
          </a:stretch>
        </p:blipFill>
        <p:spPr>
          <a:xfrm>
            <a:off x="2209800" y="4872038"/>
            <a:ext cx="4724400" cy="1076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Tiến trình</a:t>
            </a:r>
            <a:r>
              <a:rPr lang="en-GB"/>
              <a:t> phát triển giao diện người dùng</a:t>
            </a:r>
            <a:endParaRPr/>
          </a:p>
        </p:txBody>
      </p:sp>
      <p:sp>
        <p:nvSpPr>
          <p:cNvPr id="204" name="Google Shape;204;p30"/>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nguyên tắc quan trọng: </a:t>
            </a:r>
            <a:r>
              <a:rPr i="1" lang="en-GB"/>
              <a:t>Dẫn dắt bởi ca sử dụng, l</a:t>
            </a:r>
            <a:r>
              <a:rPr i="1" lang="en-GB"/>
              <a:t>ặp và tăng dần, tập trung vào người dùng sớm và xuyên suốt dự án, kiểm thử thiết kế để đảm bảo nhu cầu sử dụng.</a:t>
            </a:r>
            <a:endParaRPr/>
          </a:p>
          <a:p>
            <a:pPr indent="-381000" lvl="0" marL="457200" rtl="0" algn="just">
              <a:spcBef>
                <a:spcPts val="0"/>
              </a:spcBef>
              <a:spcAft>
                <a:spcPts val="0"/>
              </a:spcAft>
              <a:buSzPts val="2400"/>
              <a:buChar char="●"/>
            </a:pPr>
            <a:r>
              <a:rPr lang="en-GB"/>
              <a:t>Cơ sở: Ca sử dụng, </a:t>
            </a:r>
            <a:r>
              <a:rPr lang="en-GB"/>
              <a:t>sơ đồ</a:t>
            </a:r>
            <a:r>
              <a:rPr lang="en-GB"/>
              <a:t> tuần tự và sơ đồ giao tiếp.</a:t>
            </a:r>
            <a:endParaRPr/>
          </a:p>
          <a:p>
            <a:pPr indent="-368300" lvl="1" marL="914400" rtl="0" algn="just">
              <a:spcBef>
                <a:spcPts val="0"/>
              </a:spcBef>
              <a:spcAft>
                <a:spcPts val="0"/>
              </a:spcAft>
              <a:buSzPts val="2200"/>
              <a:buChar char="○"/>
            </a:pPr>
            <a:r>
              <a:rPr i="1" lang="en-GB"/>
              <a:t>Tập trung vào người dùng và công việc của họ, cái họ cần cho công việc.</a:t>
            </a:r>
            <a:endParaRPr i="1"/>
          </a:p>
          <a:p>
            <a:pPr indent="-381000" lvl="0" marL="457200" rtl="0" algn="just">
              <a:spcBef>
                <a:spcPts val="0"/>
              </a:spcBef>
              <a:spcAft>
                <a:spcPts val="0"/>
              </a:spcAft>
              <a:buSzPts val="2400"/>
              <a:buChar char="●"/>
            </a:pPr>
            <a:r>
              <a:rPr lang="en-GB"/>
              <a:t>Các bước thực hiện:</a:t>
            </a:r>
            <a:endParaRPr/>
          </a:p>
          <a:p>
            <a:pPr indent="-368300" lvl="1" marL="914400" rtl="0" algn="just">
              <a:spcBef>
                <a:spcPts val="0"/>
              </a:spcBef>
              <a:spcAft>
                <a:spcPts val="0"/>
              </a:spcAft>
              <a:buSzPts val="2200"/>
              <a:buChar char="○"/>
            </a:pPr>
            <a:r>
              <a:rPr lang="en-GB"/>
              <a:t>Biên soạn các kịch bản sử dụng với các bước tương tác chi tiết, có thể sử dụng các thành phần giao diện thực tế.</a:t>
            </a:r>
            <a:endParaRPr/>
          </a:p>
          <a:p>
            <a:pPr indent="-342900" lvl="2" marL="1371600" rtl="0" algn="just">
              <a:spcBef>
                <a:spcPts val="0"/>
              </a:spcBef>
              <a:spcAft>
                <a:spcPts val="0"/>
              </a:spcAft>
              <a:buSzPts val="1800"/>
              <a:buChar char="■"/>
            </a:pPr>
            <a:r>
              <a:rPr i="1" lang="en-GB"/>
              <a:t>(Có thể phát hiện thêm các yêu cầu mới)</a:t>
            </a:r>
            <a:r>
              <a:rPr lang="en-GB"/>
              <a:t>.</a:t>
            </a:r>
            <a:endParaRPr/>
          </a:p>
          <a:p>
            <a:pPr indent="-368300" lvl="1" marL="914400" rtl="0" algn="just">
              <a:spcBef>
                <a:spcPts val="0"/>
              </a:spcBef>
              <a:spcAft>
                <a:spcPts val="0"/>
              </a:spcAft>
              <a:buSzPts val="2200"/>
              <a:buChar char="○"/>
            </a:pPr>
            <a:r>
              <a:rPr lang="en-GB"/>
              <a:t>Thiết kế cấu trúc và điều hướng;</a:t>
            </a:r>
            <a:endParaRPr/>
          </a:p>
          <a:p>
            <a:pPr indent="-368300" lvl="1" marL="914400" rtl="0" algn="just">
              <a:spcBef>
                <a:spcPts val="0"/>
              </a:spcBef>
              <a:spcAft>
                <a:spcPts val="0"/>
              </a:spcAft>
              <a:buSzPts val="2200"/>
              <a:buChar char="○"/>
            </a:pPr>
            <a:r>
              <a:rPr lang="en-GB"/>
              <a:t>B</a:t>
            </a:r>
            <a:r>
              <a:rPr lang="en-GB"/>
              <a:t>iên soạn quy chuẩn;</a:t>
            </a:r>
            <a:endParaRPr/>
          </a:p>
          <a:p>
            <a:pPr indent="-368300" lvl="1" marL="914400" rtl="0" algn="just">
              <a:spcBef>
                <a:spcPts val="0"/>
              </a:spcBef>
              <a:spcAft>
                <a:spcPts val="0"/>
              </a:spcAft>
              <a:buSzPts val="2200"/>
              <a:buChar char="○"/>
            </a:pPr>
            <a:r>
              <a:rPr lang="en-GB"/>
              <a:t>Tạo nguyên mẫu.</a:t>
            </a:r>
            <a:endParaRPr/>
          </a:p>
          <a:p>
            <a:pPr indent="-368300" lvl="1" marL="914400" rtl="0" algn="just">
              <a:spcBef>
                <a:spcPts val="0"/>
              </a:spcBef>
              <a:spcAft>
                <a:spcPts val="0"/>
              </a:spcAft>
              <a:buSzPts val="2200"/>
              <a:buChar char="○"/>
            </a:pPr>
            <a:r>
              <a:rPr lang="en-GB" sz="2400"/>
              <a:t>Kiểm tra, đánh giá.</a:t>
            </a:r>
            <a:endParaRPr/>
          </a:p>
        </p:txBody>
      </p:sp>
      <p:sp>
        <p:nvSpPr>
          <p:cNvPr id="205" name="Google Shape;205;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tắc lặp và tăng dần</a:t>
            </a:r>
            <a:endParaRPr baseline="-25000"/>
          </a:p>
        </p:txBody>
      </p:sp>
      <p:sp>
        <p:nvSpPr>
          <p:cNvPr id="211" name="Google Shape;211;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2" name="Google Shape;212;p31"/>
          <p:cNvSpPr txBox="1"/>
          <p:nvPr/>
        </p:nvSpPr>
        <p:spPr>
          <a:xfrm>
            <a:off x="3257150" y="1338725"/>
            <a:ext cx="1981200" cy="8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400">
                <a:solidFill>
                  <a:schemeClr val="dk2"/>
                </a:solidFill>
              </a:rPr>
              <a:t>Kịch bản sử dụng</a:t>
            </a:r>
            <a:endParaRPr b="1" sz="2400">
              <a:solidFill>
                <a:schemeClr val="dk2"/>
              </a:solidFill>
            </a:endParaRPr>
          </a:p>
        </p:txBody>
      </p:sp>
      <p:sp>
        <p:nvSpPr>
          <p:cNvPr id="213" name="Google Shape;213;p31"/>
          <p:cNvSpPr txBox="1"/>
          <p:nvPr/>
        </p:nvSpPr>
        <p:spPr>
          <a:xfrm>
            <a:off x="5685650" y="2938925"/>
            <a:ext cx="2295900" cy="8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400">
                <a:solidFill>
                  <a:schemeClr val="dk2"/>
                </a:solidFill>
              </a:rPr>
              <a:t>Cấu trúc và điều hướng</a:t>
            </a:r>
            <a:endParaRPr b="1" sz="2400">
              <a:solidFill>
                <a:schemeClr val="dk2"/>
              </a:solidFill>
            </a:endParaRPr>
          </a:p>
        </p:txBody>
      </p:sp>
      <p:sp>
        <p:nvSpPr>
          <p:cNvPr id="214" name="Google Shape;214;p31"/>
          <p:cNvSpPr txBox="1"/>
          <p:nvPr/>
        </p:nvSpPr>
        <p:spPr>
          <a:xfrm>
            <a:off x="4923650" y="5138326"/>
            <a:ext cx="2295900" cy="6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400">
                <a:solidFill>
                  <a:schemeClr val="dk2"/>
                </a:solidFill>
              </a:rPr>
              <a:t>Quy chuẩn</a:t>
            </a:r>
            <a:endParaRPr b="1" sz="2400">
              <a:solidFill>
                <a:schemeClr val="dk2"/>
              </a:solidFill>
            </a:endParaRPr>
          </a:p>
        </p:txBody>
      </p:sp>
      <p:sp>
        <p:nvSpPr>
          <p:cNvPr id="215" name="Google Shape;215;p31"/>
          <p:cNvSpPr txBox="1"/>
          <p:nvPr/>
        </p:nvSpPr>
        <p:spPr>
          <a:xfrm>
            <a:off x="1494650" y="5148725"/>
            <a:ext cx="2295900" cy="6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400">
                <a:solidFill>
                  <a:schemeClr val="dk2"/>
                </a:solidFill>
              </a:rPr>
              <a:t>Nguyên mẫu</a:t>
            </a:r>
            <a:endParaRPr b="1" sz="2400">
              <a:solidFill>
                <a:schemeClr val="dk2"/>
              </a:solidFill>
            </a:endParaRPr>
          </a:p>
        </p:txBody>
      </p:sp>
      <p:sp>
        <p:nvSpPr>
          <p:cNvPr id="216" name="Google Shape;216;p31"/>
          <p:cNvSpPr txBox="1"/>
          <p:nvPr/>
        </p:nvSpPr>
        <p:spPr>
          <a:xfrm>
            <a:off x="1037450" y="2938925"/>
            <a:ext cx="2295900" cy="8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400">
                <a:solidFill>
                  <a:schemeClr val="dk2"/>
                </a:solidFill>
              </a:rPr>
              <a:t>Kiểm tra và đánh giá</a:t>
            </a:r>
            <a:endParaRPr b="1" sz="2400">
              <a:solidFill>
                <a:schemeClr val="dk2"/>
              </a:solidFill>
            </a:endParaRPr>
          </a:p>
        </p:txBody>
      </p:sp>
      <p:sp>
        <p:nvSpPr>
          <p:cNvPr id="217" name="Google Shape;217;p31"/>
          <p:cNvSpPr/>
          <p:nvPr/>
        </p:nvSpPr>
        <p:spPr>
          <a:xfrm rot="2160325">
            <a:off x="5266433" y="2182605"/>
            <a:ext cx="978291" cy="524701"/>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31"/>
          <p:cNvSpPr/>
          <p:nvPr/>
        </p:nvSpPr>
        <p:spPr>
          <a:xfrm rot="6885919">
            <a:off x="5734843" y="4276093"/>
            <a:ext cx="978270" cy="52457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31"/>
          <p:cNvSpPr/>
          <p:nvPr/>
        </p:nvSpPr>
        <p:spPr>
          <a:xfrm rot="-10798946">
            <a:off x="3880544" y="5168430"/>
            <a:ext cx="978300" cy="524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31"/>
          <p:cNvSpPr/>
          <p:nvPr/>
        </p:nvSpPr>
        <p:spPr>
          <a:xfrm rot="-8286489">
            <a:off x="2025628" y="4275966"/>
            <a:ext cx="978095" cy="52476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31"/>
          <p:cNvSpPr/>
          <p:nvPr/>
        </p:nvSpPr>
        <p:spPr>
          <a:xfrm rot="-3453750">
            <a:off x="2506426" y="2230552"/>
            <a:ext cx="978226" cy="52490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Biên soạn kịch bản sử dụng</a:t>
            </a:r>
            <a:endParaRPr/>
          </a:p>
        </p:txBody>
      </p:sp>
      <p:sp>
        <p:nvSpPr>
          <p:cNvPr id="227" name="Google Shape;227;p32"/>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Kịch bản sử dụng mô tả các bước được thực hiện bởi người dùng để hoàn thành 1 nhiệm vụ / 1 phần công việc của họ</a:t>
            </a:r>
            <a:endParaRPr/>
          </a:p>
          <a:p>
            <a:pPr indent="-381000" lvl="0" marL="457200" rtl="0" algn="just">
              <a:spcBef>
                <a:spcPts val="0"/>
              </a:spcBef>
              <a:spcAft>
                <a:spcPts val="0"/>
              </a:spcAft>
              <a:buSzPts val="2400"/>
              <a:buChar char="●"/>
            </a:pPr>
            <a:r>
              <a:rPr lang="en-GB"/>
              <a:t>Mỗi kịch bản sử dụng tương ứng với 1 luồng sự kiện trong 1 ca sử dụng thiết yếu.</a:t>
            </a:r>
            <a:endParaRPr/>
          </a:p>
          <a:p>
            <a:pPr indent="-368300" lvl="1" marL="914400" rtl="0" algn="just">
              <a:spcBef>
                <a:spcPts val="0"/>
              </a:spcBef>
              <a:spcAft>
                <a:spcPts val="0"/>
              </a:spcAft>
              <a:buSzPts val="2200"/>
              <a:buChar char="○"/>
            </a:pPr>
            <a:r>
              <a:rPr lang="en-GB"/>
              <a:t>Tuy nhiên không phải là bản sao 1-1</a:t>
            </a:r>
            <a:endParaRPr/>
          </a:p>
          <a:p>
            <a:pPr indent="-368300" lvl="1" marL="914400" rtl="0" algn="just">
              <a:spcBef>
                <a:spcPts val="0"/>
              </a:spcBef>
              <a:spcAft>
                <a:spcPts val="0"/>
              </a:spcAft>
              <a:buSzPts val="2200"/>
              <a:buChar char="○"/>
            </a:pPr>
            <a:r>
              <a:rPr lang="en-GB"/>
              <a:t>Được mô tả với các chi tiết về các công cụ tác nghiệp.</a:t>
            </a:r>
            <a:endParaRPr/>
          </a:p>
          <a:p>
            <a:pPr indent="-381000" lvl="0" marL="457200" rtl="0" algn="just">
              <a:spcBef>
                <a:spcPts val="0"/>
              </a:spcBef>
              <a:spcAft>
                <a:spcPts val="0"/>
              </a:spcAft>
              <a:buSzPts val="2400"/>
              <a:buChar char="●"/>
            </a:pPr>
            <a:r>
              <a:rPr lang="en-GB"/>
              <a:t>Cần lưu ý các kịch bản được sử dụng nhiều nhất / phổ biến nhất để ưu tiên tạo những giao diện phù hợp, dễ dùng cho những tình huống đó.</a:t>
            </a:r>
            <a:endParaRPr/>
          </a:p>
        </p:txBody>
      </p:sp>
      <p:sp>
        <p:nvSpPr>
          <p:cNvPr id="228" name="Google Shape;228;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ca sử dụng thực tế</a:t>
            </a:r>
            <a:endParaRPr/>
          </a:p>
        </p:txBody>
      </p:sp>
      <p:sp>
        <p:nvSpPr>
          <p:cNvPr id="234" name="Google Shape;234;p33"/>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Phụ thuộc vào triển khai: Mô tả chi tiết cách sử dụng hệ thống sau khi được triển khai</a:t>
            </a:r>
            <a:endParaRPr/>
          </a:p>
          <a:p>
            <a:pPr indent="-381000" lvl="0" marL="457200" rtl="0" algn="just">
              <a:spcBef>
                <a:spcPts val="0"/>
              </a:spcBef>
              <a:spcAft>
                <a:spcPts val="0"/>
              </a:spcAft>
              <a:buSzPts val="2400"/>
              <a:buChar char="●"/>
            </a:pPr>
            <a:r>
              <a:rPr lang="en-GB"/>
              <a:t>Các ca sử dụng thiết yếu được phát triển thành thực tế bằng cách mô tả chi tiết giao diện người dùng thực tế</a:t>
            </a:r>
            <a:endParaRPr/>
          </a:p>
          <a:p>
            <a:pPr indent="-381000" lvl="0" marL="457200" rtl="0" algn="just">
              <a:spcBef>
                <a:spcPts val="0"/>
              </a:spcBef>
              <a:spcAft>
                <a:spcPts val="0"/>
              </a:spcAft>
              <a:buSzPts val="2400"/>
              <a:buChar char="●"/>
            </a:pPr>
            <a:r>
              <a:rPr lang="en-GB"/>
              <a:t>Đối với ứng dụng đa nền tảng, ví dụ, máy bàn, máy tính bảng, và điện thoại thông minh, ca sử dụng thực tế cần được phát triển cho từng nền tảng mà ca sử dụng được triển khai.</a:t>
            </a:r>
            <a:endParaRPr/>
          </a:p>
        </p:txBody>
      </p:sp>
      <p:sp>
        <p:nvSpPr>
          <p:cNvPr id="235" name="Google Shape;235;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Thiết kế cấu trúc và điều hướng</a:t>
            </a:r>
            <a:endParaRPr/>
          </a:p>
        </p:txBody>
      </p:sp>
      <p:sp>
        <p:nvSpPr>
          <p:cNvPr id="241" name="Google Shape;241;p34"/>
          <p:cNvSpPr txBox="1"/>
          <p:nvPr>
            <p:ph idx="4294967295" type="body"/>
          </p:nvPr>
        </p:nvSpPr>
        <p:spPr>
          <a:xfrm>
            <a:off x="311700" y="880300"/>
            <a:ext cx="8520600" cy="5566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Xác định các thành phần giao diện và lô-gic điều hướng</a:t>
            </a:r>
            <a:endParaRPr/>
          </a:p>
          <a:p>
            <a:pPr indent="-368300" lvl="1" marL="914400" rtl="0" algn="just">
              <a:spcBef>
                <a:spcPts val="0"/>
              </a:spcBef>
              <a:spcAft>
                <a:spcPts val="0"/>
              </a:spcAft>
              <a:buSzPts val="2200"/>
              <a:buChar char="○"/>
            </a:pPr>
            <a:r>
              <a:rPr lang="en-GB"/>
              <a:t>Các thành phần điều khiển điều hướng giúp người dùng di chuyển giữa các giao diện trong hệ thống</a:t>
            </a:r>
            <a:endParaRPr/>
          </a:p>
          <a:p>
            <a:pPr indent="-368300" lvl="1" marL="914400" rtl="0" algn="just">
              <a:spcBef>
                <a:spcPts val="0"/>
              </a:spcBef>
              <a:spcAft>
                <a:spcPts val="0"/>
              </a:spcAft>
              <a:buSzPts val="2200"/>
              <a:buChar char="○"/>
            </a:pPr>
            <a:r>
              <a:rPr lang="en-GB"/>
              <a:t>Các tương tác để đáp ứng nhu cầu sử dụng</a:t>
            </a:r>
            <a:endParaRPr/>
          </a:p>
          <a:p>
            <a:pPr indent="-381000" lvl="0" marL="457200" rtl="0" algn="just">
              <a:spcBef>
                <a:spcPts val="0"/>
              </a:spcBef>
              <a:spcAft>
                <a:spcPts val="0"/>
              </a:spcAft>
              <a:buSzPts val="2400"/>
              <a:buChar char="●"/>
            </a:pPr>
            <a:r>
              <a:rPr lang="en-GB"/>
              <a:t>Đồng thời thông báo về kết quả thực hiện các hành động: Thành công, thất bại, đang được thực hiện, v.v..</a:t>
            </a:r>
            <a:r>
              <a:rPr lang="en-GB"/>
              <a:t> </a:t>
            </a:r>
            <a:endParaRPr/>
          </a:p>
          <a:p>
            <a:pPr indent="-381000" lvl="0" marL="457200" rtl="0" algn="just">
              <a:spcBef>
                <a:spcPts val="0"/>
              </a:spcBef>
              <a:spcAft>
                <a:spcPts val="0"/>
              </a:spcAft>
              <a:buSzPts val="2400"/>
              <a:buChar char="●"/>
            </a:pPr>
            <a:r>
              <a:rPr lang="en-GB"/>
              <a:t>Có thể biểu diễn bằng IFML và các ca sử dụng thực tế.</a:t>
            </a:r>
            <a:endParaRPr/>
          </a:p>
          <a:p>
            <a:pPr indent="-368300" lvl="1" marL="914400" rtl="0" algn="just">
              <a:spcBef>
                <a:spcPts val="0"/>
              </a:spcBef>
              <a:spcAft>
                <a:spcPts val="0"/>
              </a:spcAft>
              <a:buSzPts val="2200"/>
              <a:buChar char="○"/>
            </a:pPr>
            <a:r>
              <a:rPr lang="en-GB"/>
              <a:t>IFML - </a:t>
            </a:r>
            <a:r>
              <a:rPr b="1" lang="en-GB"/>
              <a:t>I</a:t>
            </a:r>
            <a:r>
              <a:rPr lang="en-GB"/>
              <a:t>nteraction </a:t>
            </a:r>
            <a:r>
              <a:rPr b="1" lang="en-GB"/>
              <a:t>F</a:t>
            </a:r>
            <a:r>
              <a:rPr lang="en-GB"/>
              <a:t>low </a:t>
            </a:r>
            <a:r>
              <a:rPr b="1" lang="en-GB"/>
              <a:t>M</a:t>
            </a:r>
            <a:r>
              <a:rPr lang="en-GB"/>
              <a:t>odeling </a:t>
            </a:r>
            <a:r>
              <a:rPr b="1" lang="en-GB"/>
              <a:t>L</a:t>
            </a:r>
            <a:r>
              <a:rPr lang="en-GB"/>
              <a:t>anguage (Ngôn ngữ mô hình hóa luồng tương tác - thêm 1 quy chuẩn từ OMG).</a:t>
            </a:r>
            <a:endParaRPr/>
          </a:p>
          <a:p>
            <a:pPr indent="-381000" lvl="0" marL="457200" rtl="0" algn="just">
              <a:spcBef>
                <a:spcPts val="0"/>
              </a:spcBef>
              <a:spcAft>
                <a:spcPts val="0"/>
              </a:spcAft>
              <a:buSzPts val="2400"/>
              <a:buChar char="●"/>
            </a:pPr>
            <a:r>
              <a:rPr lang="en-GB"/>
              <a:t>N</a:t>
            </a:r>
            <a:r>
              <a:rPr lang="en-GB"/>
              <a:t>guyên lý cơ bản:</a:t>
            </a:r>
            <a:endParaRPr/>
          </a:p>
          <a:p>
            <a:pPr indent="-368300" lvl="1" marL="914400" rtl="0" algn="just">
              <a:spcBef>
                <a:spcPts val="0"/>
              </a:spcBef>
              <a:spcAft>
                <a:spcPts val="0"/>
              </a:spcAft>
              <a:buSzPts val="2200"/>
              <a:buChar char="○"/>
            </a:pPr>
            <a:r>
              <a:rPr lang="en-GB"/>
              <a:t>Sử dụng 1 trật tự ổn định cho các thành phần (ví dụ, Tệp &gt; Tạo mới; Mở vs. Tệp &gt; Mở; Tạo mới)</a:t>
            </a:r>
            <a:endParaRPr/>
          </a:p>
        </p:txBody>
      </p:sp>
      <p:sp>
        <p:nvSpPr>
          <p:cNvPr id="242" name="Google Shape;242;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a:t>
            </a:r>
            <a:r>
              <a:rPr lang="en-GB"/>
              <a:t>hình thức</a:t>
            </a:r>
            <a:r>
              <a:rPr lang="en-GB"/>
              <a:t> điều khiển điều hướng</a:t>
            </a:r>
            <a:endParaRPr/>
          </a:p>
        </p:txBody>
      </p:sp>
      <p:sp>
        <p:nvSpPr>
          <p:cNvPr id="248" name="Google Shape;248;p35"/>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nút bấm</a:t>
            </a:r>
            <a:endParaRPr/>
          </a:p>
          <a:p>
            <a:pPr indent="-381000" lvl="0" marL="457200" rtl="0" algn="just">
              <a:spcBef>
                <a:spcPts val="0"/>
              </a:spcBef>
              <a:spcAft>
                <a:spcPts val="0"/>
              </a:spcAft>
              <a:buSzPts val="2400"/>
              <a:buChar char="●"/>
            </a:pPr>
            <a:r>
              <a:rPr lang="en-GB"/>
              <a:t>Các liên kết</a:t>
            </a:r>
            <a:endParaRPr/>
          </a:p>
          <a:p>
            <a:pPr indent="-381000" lvl="0" marL="457200" rtl="0" algn="just">
              <a:spcBef>
                <a:spcPts val="0"/>
              </a:spcBef>
              <a:spcAft>
                <a:spcPts val="0"/>
              </a:spcAft>
              <a:buSzPts val="2400"/>
              <a:buChar char="●"/>
            </a:pPr>
            <a:r>
              <a:rPr lang="en-GB"/>
              <a:t>Danh mục / Menus</a:t>
            </a:r>
            <a:endParaRPr/>
          </a:p>
          <a:p>
            <a:pPr indent="-368300" lvl="1" marL="914400" rtl="0" algn="just">
              <a:spcBef>
                <a:spcPts val="0"/>
              </a:spcBef>
              <a:spcAft>
                <a:spcPts val="0"/>
              </a:spcAft>
              <a:buSzPts val="2200"/>
              <a:buChar char="○"/>
            </a:pPr>
            <a:r>
              <a:rPr lang="en-GB"/>
              <a:t>Người dùng được cung cấp 1 danh sách lựa chọn</a:t>
            </a:r>
            <a:endParaRPr/>
          </a:p>
          <a:p>
            <a:pPr indent="-368300" lvl="1" marL="914400" rtl="0" algn="just">
              <a:spcBef>
                <a:spcPts val="0"/>
              </a:spcBef>
              <a:spcAft>
                <a:spcPts val="0"/>
              </a:spcAft>
              <a:buSzPts val="2200"/>
              <a:buChar char="○"/>
            </a:pPr>
            <a:r>
              <a:rPr lang="en-GB"/>
              <a:t>Có nhiều hình thức (thanh menu, menu ngữ cảnh, v.v..)</a:t>
            </a:r>
            <a:endParaRPr/>
          </a:p>
          <a:p>
            <a:pPr indent="-381000" lvl="0" marL="457200" rtl="0" algn="just">
              <a:spcBef>
                <a:spcPts val="0"/>
              </a:spcBef>
              <a:spcAft>
                <a:spcPts val="0"/>
              </a:spcAft>
              <a:buSzPts val="2400"/>
              <a:buChar char="●"/>
            </a:pPr>
            <a:r>
              <a:rPr lang="en-GB"/>
              <a:t>Vuốt và chạm (</a:t>
            </a:r>
            <a:r>
              <a:rPr lang="en-GB"/>
              <a:t>đối với màn hình cảm ứng)</a:t>
            </a:r>
            <a:endParaRPr/>
          </a:p>
          <a:p>
            <a:pPr indent="-381000" lvl="0" marL="457200" rtl="0" algn="just">
              <a:spcBef>
                <a:spcPts val="0"/>
              </a:spcBef>
              <a:spcAft>
                <a:spcPts val="0"/>
              </a:spcAft>
              <a:buSzPts val="2400"/>
              <a:buChar char="●"/>
            </a:pPr>
            <a:r>
              <a:rPr lang="en-GB"/>
              <a:t>Kéo và thả</a:t>
            </a:r>
            <a:endParaRPr/>
          </a:p>
          <a:p>
            <a:pPr indent="-381000" lvl="0" marL="457200" rtl="0" algn="just">
              <a:spcBef>
                <a:spcPts val="0"/>
              </a:spcBef>
              <a:spcAft>
                <a:spcPts val="0"/>
              </a:spcAft>
              <a:buSzPts val="2400"/>
              <a:buChar char="●"/>
            </a:pPr>
            <a:r>
              <a:rPr lang="en-GB"/>
              <a:t>Ngôn ngữ</a:t>
            </a:r>
            <a:endParaRPr/>
          </a:p>
          <a:p>
            <a:pPr indent="-368300" lvl="1" marL="914400" rtl="0" algn="just">
              <a:spcBef>
                <a:spcPts val="0"/>
              </a:spcBef>
              <a:spcAft>
                <a:spcPts val="0"/>
              </a:spcAft>
              <a:buSzPts val="2200"/>
              <a:buChar char="○"/>
            </a:pPr>
            <a:r>
              <a:rPr lang="en-GB"/>
              <a:t>Hình thức - Người dùng sử dụng hệ lệnh của hệ thống</a:t>
            </a:r>
            <a:endParaRPr/>
          </a:p>
          <a:p>
            <a:pPr indent="-368300" lvl="1" marL="914400" rtl="0" algn="just">
              <a:spcBef>
                <a:spcPts val="0"/>
              </a:spcBef>
              <a:spcAft>
                <a:spcPts val="0"/>
              </a:spcAft>
              <a:buSzPts val="2200"/>
              <a:buChar char="○"/>
            </a:pPr>
            <a:r>
              <a:rPr lang="en-GB"/>
              <a:t>Tự nhiên - Hệ thống trình diễn ngôn ngữ tự nhiên</a:t>
            </a:r>
            <a:endParaRPr/>
          </a:p>
          <a:p>
            <a:pPr indent="-381000" lvl="0" marL="457200" rtl="0" algn="just">
              <a:spcBef>
                <a:spcPts val="0"/>
              </a:spcBef>
              <a:spcAft>
                <a:spcPts val="0"/>
              </a:spcAft>
              <a:buSzPts val="2400"/>
              <a:buChar char="●"/>
            </a:pPr>
            <a:r>
              <a:rPr lang="en-GB"/>
              <a:t>Điều khiển bằng giọng nói</a:t>
            </a:r>
            <a:endParaRPr/>
          </a:p>
          <a:p>
            <a:pPr indent="-381000" lvl="0" marL="457200" rtl="0" algn="just">
              <a:spcBef>
                <a:spcPts val="0"/>
              </a:spcBef>
              <a:spcAft>
                <a:spcPts val="0"/>
              </a:spcAft>
              <a:buSzPts val="2400"/>
              <a:buChar char="●"/>
            </a:pPr>
            <a:r>
              <a:rPr lang="en-GB"/>
              <a:t>v.v..</a:t>
            </a:r>
            <a:endParaRPr/>
          </a:p>
        </p:txBody>
      </p:sp>
      <p:sp>
        <p:nvSpPr>
          <p:cNvPr id="249" name="Google Shape;249;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thông báo</a:t>
            </a:r>
            <a:endParaRPr/>
          </a:p>
        </p:txBody>
      </p:sp>
      <p:sp>
        <p:nvSpPr>
          <p:cNvPr id="255" name="Google Shape;255;p36"/>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Thông báo lỗi - </a:t>
            </a:r>
            <a:r>
              <a:rPr lang="en-GB"/>
              <a:t>Cung cấp thông tin về lỗi phát sinh</a:t>
            </a:r>
            <a:endParaRPr/>
          </a:p>
          <a:p>
            <a:pPr indent="-368300" lvl="1" marL="914400" rtl="0" algn="just">
              <a:spcBef>
                <a:spcPts val="0"/>
              </a:spcBef>
              <a:spcAft>
                <a:spcPts val="0"/>
              </a:spcAft>
              <a:buSzPts val="2200"/>
              <a:buChar char="○"/>
            </a:pPr>
            <a:r>
              <a:rPr lang="en-GB"/>
              <a:t>Ví dụ, Có trường dữ liệu bắt buộc bị để trống</a:t>
            </a:r>
            <a:endParaRPr/>
          </a:p>
          <a:p>
            <a:pPr indent="-381000" lvl="0" marL="457200" rtl="0" algn="just">
              <a:spcBef>
                <a:spcPts val="0"/>
              </a:spcBef>
              <a:spcAft>
                <a:spcPts val="0"/>
              </a:spcAft>
              <a:buSzPts val="2400"/>
              <a:buChar char="●"/>
            </a:pPr>
            <a:r>
              <a:rPr lang="en-GB"/>
              <a:t>Thông báo xác nhận - </a:t>
            </a:r>
            <a:r>
              <a:rPr lang="en-GB"/>
              <a:t>Hạn chế lỗi / Yêu cầu xác nhận đối với các thao tác quan trọng (và không thể hoàn tác)</a:t>
            </a:r>
            <a:endParaRPr/>
          </a:p>
          <a:p>
            <a:pPr indent="-368300" lvl="1" marL="914400" rtl="0" algn="just">
              <a:spcBef>
                <a:spcPts val="0"/>
              </a:spcBef>
              <a:spcAft>
                <a:spcPts val="0"/>
              </a:spcAft>
              <a:buSzPts val="2200"/>
              <a:buChar char="○"/>
            </a:pPr>
            <a:r>
              <a:rPr lang="en-GB"/>
              <a:t>V</a:t>
            </a:r>
            <a:r>
              <a:rPr lang="en-GB"/>
              <a:t>í dụ, Bạn có chắc </a:t>
            </a:r>
            <a:r>
              <a:rPr lang="en-GB"/>
              <a:t>chắn </a:t>
            </a:r>
            <a:r>
              <a:rPr lang="en-GB"/>
              <a:t>muốn xóa </a:t>
            </a:r>
            <a:r>
              <a:rPr lang="en-GB"/>
              <a:t>hay không</a:t>
            </a:r>
            <a:r>
              <a:rPr lang="en-GB"/>
              <a:t>?</a:t>
            </a:r>
            <a:endParaRPr/>
          </a:p>
          <a:p>
            <a:pPr indent="-381000" lvl="0" marL="457200" rtl="0" algn="just">
              <a:spcBef>
                <a:spcPts val="0"/>
              </a:spcBef>
              <a:spcAft>
                <a:spcPts val="0"/>
              </a:spcAft>
              <a:buSzPts val="2400"/>
              <a:buChar char="●"/>
            </a:pPr>
            <a:r>
              <a:rPr lang="en-GB"/>
              <a:t>Thông báo kết quả </a:t>
            </a:r>
            <a:r>
              <a:rPr lang="en-GB"/>
              <a:t>thành công </a:t>
            </a:r>
            <a:endParaRPr/>
          </a:p>
          <a:p>
            <a:pPr indent="-368300" lvl="1" marL="914400" rtl="0" algn="just">
              <a:spcBef>
                <a:spcPts val="0"/>
              </a:spcBef>
              <a:spcAft>
                <a:spcPts val="0"/>
              </a:spcAft>
              <a:buSzPts val="2200"/>
              <a:buChar char="○"/>
            </a:pPr>
            <a:r>
              <a:rPr lang="en-GB"/>
              <a:t>V</a:t>
            </a:r>
            <a:r>
              <a:rPr lang="en-GB"/>
              <a:t>í dụ, đơn hàng đã được tạo</a:t>
            </a:r>
            <a:endParaRPr/>
          </a:p>
          <a:p>
            <a:pPr indent="-381000" lvl="0" marL="457200" rtl="0" algn="just">
              <a:spcBef>
                <a:spcPts val="0"/>
              </a:spcBef>
              <a:spcAft>
                <a:spcPts val="0"/>
              </a:spcAft>
              <a:buSzPts val="2400"/>
              <a:buChar char="●"/>
            </a:pPr>
            <a:r>
              <a:rPr lang="en-GB"/>
              <a:t>Thông báo trạng thái</a:t>
            </a:r>
            <a:endParaRPr/>
          </a:p>
          <a:p>
            <a:pPr indent="-368300" lvl="1" marL="914400" rtl="0" algn="just">
              <a:spcBef>
                <a:spcPts val="0"/>
              </a:spcBef>
              <a:spcAft>
                <a:spcPts val="0"/>
              </a:spcAft>
              <a:buSzPts val="2200"/>
              <a:buChar char="○"/>
            </a:pPr>
            <a:r>
              <a:rPr lang="en-GB"/>
              <a:t>Ví dụ, đã hoàn thành 90% công việc</a:t>
            </a:r>
            <a:endParaRPr/>
          </a:p>
          <a:p>
            <a:pPr indent="-381000" lvl="0" marL="457200" rtl="0" algn="just">
              <a:spcBef>
                <a:spcPts val="0"/>
              </a:spcBef>
              <a:spcAft>
                <a:spcPts val="0"/>
              </a:spcAft>
              <a:buSzPts val="2400"/>
              <a:buChar char="●"/>
            </a:pPr>
            <a:r>
              <a:rPr lang="en-GB"/>
              <a:t>Các thông điệp trợ giúp - Cung cấp thông tin bổ xung để hỗ trợ người dùng thực hiện công việc.</a:t>
            </a:r>
            <a:endParaRPr/>
          </a:p>
          <a:p>
            <a:pPr indent="-381000" lvl="0" marL="457200" rtl="0" algn="just">
              <a:spcBef>
                <a:spcPts val="0"/>
              </a:spcBef>
              <a:spcAft>
                <a:spcPts val="0"/>
              </a:spcAft>
              <a:buSzPts val="2400"/>
              <a:buChar char="●"/>
            </a:pPr>
            <a:r>
              <a:rPr lang="en-GB"/>
              <a:t>v.v…</a:t>
            </a:r>
            <a:endParaRPr/>
          </a:p>
        </p:txBody>
      </p:sp>
      <p:sp>
        <p:nvSpPr>
          <p:cNvPr id="256" name="Google Shape;256;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2" name="Google Shape;262;p3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Biên soạn quy chuẩn giao diện</a:t>
            </a:r>
            <a:endParaRPr/>
          </a:p>
        </p:txBody>
      </p:sp>
      <p:sp>
        <p:nvSpPr>
          <p:cNvPr id="263" name="Google Shape;263;p37"/>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Quy chuẩn giao diện bao gồm các thành phần giao diện cơ bản được </a:t>
            </a:r>
            <a:r>
              <a:rPr lang="en-GB"/>
              <a:t>sử dụng </a:t>
            </a:r>
            <a:r>
              <a:rPr lang="en-GB"/>
              <a:t>thống nhất trong toàn hệ thống</a:t>
            </a:r>
            <a:endParaRPr/>
          </a:p>
          <a:p>
            <a:pPr indent="-381000" lvl="0" marL="457200" rtl="0" algn="just">
              <a:spcBef>
                <a:spcPts val="0"/>
              </a:spcBef>
              <a:spcAft>
                <a:spcPts val="0"/>
              </a:spcAft>
              <a:buSzPts val="2400"/>
              <a:buChar char="●"/>
            </a:pPr>
            <a:r>
              <a:rPr lang="en-GB"/>
              <a:t>Các thành phần tiêu biểu thường được chuẩn hóa:</a:t>
            </a:r>
            <a:endParaRPr/>
          </a:p>
          <a:p>
            <a:pPr indent="-368300" lvl="1" marL="914400" rtl="0" algn="just">
              <a:spcBef>
                <a:spcPts val="0"/>
              </a:spcBef>
              <a:spcAft>
                <a:spcPts val="0"/>
              </a:spcAft>
              <a:buSzPts val="2200"/>
              <a:buChar char="○"/>
            </a:pPr>
            <a:r>
              <a:rPr lang="en-GB"/>
              <a:t>K</a:t>
            </a:r>
            <a:r>
              <a:rPr lang="en-GB"/>
              <a:t>huôn mẫu giao diện: Bố cục tổng quan, Gam mầu, lô-gic sắp xếp các cửa sổ, v.v..</a:t>
            </a:r>
            <a:endParaRPr/>
          </a:p>
          <a:p>
            <a:pPr indent="-368300" lvl="1" marL="914400" rtl="0" algn="just">
              <a:spcBef>
                <a:spcPts val="0"/>
              </a:spcBef>
              <a:spcAft>
                <a:spcPts val="0"/>
              </a:spcAft>
              <a:buSzPts val="2200"/>
              <a:buChar char="○"/>
            </a:pPr>
            <a:r>
              <a:rPr lang="en-GB"/>
              <a:t>Biểu diễn đối tượng:</a:t>
            </a:r>
            <a:endParaRPr/>
          </a:p>
          <a:p>
            <a:pPr indent="-342900" lvl="2" marL="1371600" rtl="0" algn="just">
              <a:spcBef>
                <a:spcPts val="0"/>
              </a:spcBef>
              <a:spcAft>
                <a:spcPts val="0"/>
              </a:spcAft>
              <a:buSzPts val="1800"/>
              <a:buChar char="■"/>
            </a:pPr>
            <a:r>
              <a:rPr lang="en-GB"/>
              <a:t>Tên của các thứ trong giao diện</a:t>
            </a:r>
            <a:endParaRPr/>
          </a:p>
          <a:p>
            <a:pPr indent="-342900" lvl="2" marL="1371600" rtl="0" algn="just">
              <a:spcBef>
                <a:spcPts val="0"/>
              </a:spcBef>
              <a:spcAft>
                <a:spcPts val="0"/>
              </a:spcAft>
              <a:buSzPts val="1800"/>
              <a:buChar char="■"/>
            </a:pPr>
            <a:r>
              <a:rPr lang="en-GB"/>
              <a:t>Thuật ngữ cho các hành động </a:t>
            </a:r>
            <a:endParaRPr/>
          </a:p>
          <a:p>
            <a:pPr indent="-342900" lvl="2" marL="1371600" rtl="0" algn="just">
              <a:spcBef>
                <a:spcPts val="0"/>
              </a:spcBef>
              <a:spcAft>
                <a:spcPts val="0"/>
              </a:spcAft>
              <a:buSzPts val="1800"/>
              <a:buChar char="■"/>
            </a:pPr>
            <a:r>
              <a:rPr lang="en-GB"/>
              <a:t>Các biểu tượng giao diện, ví dụ biểu tượng trên các nút bấm, v.v.</a:t>
            </a:r>
            <a:endParaRPr sz="900"/>
          </a:p>
          <a:p>
            <a:pPr indent="-381000" lvl="0" marL="457200" rtl="0" algn="just">
              <a:spcBef>
                <a:spcPts val="0"/>
              </a:spcBef>
              <a:spcAft>
                <a:spcPts val="0"/>
              </a:spcAft>
              <a:buSzPts val="2400"/>
              <a:buChar char="●"/>
            </a:pPr>
            <a:r>
              <a:rPr lang="en-GB"/>
              <a:t>Các hình tượng tương tác có thể gợi ý hành vi</a:t>
            </a:r>
            <a:endParaRPr/>
          </a:p>
          <a:p>
            <a:pPr indent="-368300" lvl="1" marL="914400" rtl="0" algn="just">
              <a:spcBef>
                <a:spcPts val="0"/>
              </a:spcBef>
              <a:spcAft>
                <a:spcPts val="0"/>
              </a:spcAft>
              <a:buSzPts val="2200"/>
              <a:buChar char="○"/>
            </a:pPr>
            <a:r>
              <a:rPr lang="en-GB"/>
              <a:t>Cho biết đối tượng giống với thứ gì trong thế giới thực từ đó có thể phán đoán chức năng của đối tượng.</a:t>
            </a:r>
            <a:endParaRPr/>
          </a:p>
          <a:p>
            <a:pPr indent="-368300" lvl="1" marL="914400" rtl="0" algn="just">
              <a:spcBef>
                <a:spcPts val="0"/>
              </a:spcBef>
              <a:spcAft>
                <a:spcPts val="0"/>
              </a:spcAft>
              <a:buSzPts val="2200"/>
              <a:buChar char="○"/>
            </a:pPr>
            <a:r>
              <a:rPr lang="en-GB"/>
              <a:t>Ví dụ, giỏ hàng trong hệ thống bán hàng (giống giỏ hàng trong siêu thị) được sử dụng để lưu sản phẩm được chọn.</a:t>
            </a:r>
            <a:endParaRPr/>
          </a:p>
        </p:txBody>
      </p:sp>
      <p:pic>
        <p:nvPicPr>
          <p:cNvPr id="264" name="Google Shape;264;p37"/>
          <p:cNvPicPr preferRelativeResize="0"/>
          <p:nvPr/>
        </p:nvPicPr>
        <p:blipFill rotWithShape="1">
          <a:blip r:embed="rId3">
            <a:alphaModFix/>
          </a:blip>
          <a:srcRect b="0" l="0" r="0" t="12869"/>
          <a:stretch/>
        </p:blipFill>
        <p:spPr>
          <a:xfrm>
            <a:off x="4362300" y="3023918"/>
            <a:ext cx="4234749" cy="3153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hình tượng tương tác người-máy</a:t>
            </a:r>
            <a:endParaRPr/>
          </a:p>
        </p:txBody>
      </p:sp>
      <p:sp>
        <p:nvSpPr>
          <p:cNvPr id="270" name="Google Shape;270;p38"/>
          <p:cNvSpPr txBox="1"/>
          <p:nvPr>
            <p:ph idx="4294967295" type="body"/>
          </p:nvPr>
        </p:nvSpPr>
        <p:spPr>
          <a:xfrm>
            <a:off x="311700" y="950475"/>
            <a:ext cx="8520600" cy="55992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Hình tượng thao tác trực tiếp</a:t>
            </a:r>
            <a:endParaRPr/>
          </a:p>
          <a:p>
            <a:pPr indent="-368300" lvl="1" marL="914400" rtl="0" algn="just">
              <a:spcBef>
                <a:spcPts val="0"/>
              </a:spcBef>
              <a:spcAft>
                <a:spcPts val="0"/>
              </a:spcAft>
              <a:buSzPts val="2200"/>
              <a:buChar char="○"/>
            </a:pPr>
            <a:r>
              <a:rPr lang="en-GB"/>
              <a:t>Hình tượng trong đó các đối tượng được hiển thị </a:t>
            </a:r>
            <a:r>
              <a:rPr lang="en-GB"/>
              <a:t>(hình ảnh / biểu tượng) </a:t>
            </a:r>
            <a:r>
              <a:rPr lang="en-GB"/>
              <a:t>giống đối tượng vật lý.</a:t>
            </a:r>
            <a:endParaRPr/>
          </a:p>
          <a:p>
            <a:pPr indent="-368300" lvl="1" marL="914400" rtl="0" algn="just">
              <a:spcBef>
                <a:spcPts val="0"/>
              </a:spcBef>
              <a:spcAft>
                <a:spcPts val="0"/>
              </a:spcAft>
              <a:buSzPts val="2200"/>
              <a:buChar char="○"/>
            </a:pPr>
            <a:r>
              <a:rPr lang="en-GB"/>
              <a:t>Sử dụng giống như sử dụng các đối tượng vật lý.</a:t>
            </a:r>
            <a:endParaRPr/>
          </a:p>
          <a:p>
            <a:pPr indent="-381000" lvl="0" marL="457200" rtl="0" algn="just">
              <a:spcBef>
                <a:spcPts val="0"/>
              </a:spcBef>
              <a:spcAft>
                <a:spcPts val="0"/>
              </a:spcAft>
              <a:buSzPts val="2400"/>
              <a:buChar char="●"/>
            </a:pPr>
            <a:r>
              <a:rPr lang="en-GB"/>
              <a:t>Hình tượng bàn làm việc</a:t>
            </a:r>
            <a:endParaRPr/>
          </a:p>
          <a:p>
            <a:pPr indent="-368300" lvl="1" marL="914400" rtl="0" algn="just">
              <a:spcBef>
                <a:spcPts val="0"/>
              </a:spcBef>
              <a:spcAft>
                <a:spcPts val="0"/>
              </a:spcAft>
              <a:buSzPts val="2200"/>
              <a:buChar char="○"/>
            </a:pPr>
            <a:r>
              <a:rPr lang="en-GB"/>
              <a:t>Màn hình được bố cục thành các vùng, với 1 không gian làm việc rộng ở chính giữa và tập hợp các công cụ được bố trí trên biên.</a:t>
            </a:r>
            <a:endParaRPr/>
          </a:p>
          <a:p>
            <a:pPr indent="-381000" lvl="0" marL="457200" rtl="0" algn="just">
              <a:spcBef>
                <a:spcPts val="0"/>
              </a:spcBef>
              <a:spcAft>
                <a:spcPts val="0"/>
              </a:spcAft>
              <a:buSzPts val="2400"/>
              <a:buChar char="●"/>
            </a:pPr>
            <a:r>
              <a:rPr lang="en-GB"/>
              <a:t>Hình tượng tài liệu</a:t>
            </a:r>
            <a:endParaRPr/>
          </a:p>
          <a:p>
            <a:pPr indent="-368300" lvl="1" marL="914400" rtl="0" algn="just">
              <a:spcBef>
                <a:spcPts val="0"/>
              </a:spcBef>
              <a:spcAft>
                <a:spcPts val="0"/>
              </a:spcAft>
              <a:buSzPts val="2200"/>
              <a:buChar char="○"/>
            </a:pPr>
            <a:r>
              <a:rPr lang="en-GB"/>
              <a:t>Hình tượng trong đó dữ liệu được biểu diễn trực quan như các trang giấy hoặc biểu mẫu</a:t>
            </a:r>
            <a:endParaRPr/>
          </a:p>
          <a:p>
            <a:pPr indent="-381000" lvl="0" marL="457200" rtl="0" algn="just">
              <a:spcBef>
                <a:spcPts val="0"/>
              </a:spcBef>
              <a:spcAft>
                <a:spcPts val="0"/>
              </a:spcAft>
              <a:buSzPts val="2400"/>
              <a:buChar char="●"/>
            </a:pPr>
            <a:r>
              <a:rPr lang="en-GB"/>
              <a:t>Hình tượng hội thoại</a:t>
            </a:r>
            <a:endParaRPr/>
          </a:p>
          <a:p>
            <a:pPr indent="-368300" lvl="1" marL="914400" rtl="0" algn="just">
              <a:spcBef>
                <a:spcPts val="0"/>
              </a:spcBef>
              <a:spcAft>
                <a:spcPts val="0"/>
              </a:spcAft>
              <a:buSzPts val="2200"/>
              <a:buChar char="○"/>
            </a:pPr>
            <a:r>
              <a:rPr lang="en-GB"/>
              <a:t>Hình tượng trong đó người dùng và máy tính tương tác giống như đang thảo luận thông qua các giao diện.</a:t>
            </a:r>
            <a:endParaRPr/>
          </a:p>
        </p:txBody>
      </p:sp>
      <p:sp>
        <p:nvSpPr>
          <p:cNvPr id="271" name="Google Shape;271;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7" name="Google Shape;277;p3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3. Hình tượng thao tác trực tiếp</a:t>
            </a:r>
            <a:endParaRPr/>
          </a:p>
        </p:txBody>
      </p:sp>
      <p:sp>
        <p:nvSpPr>
          <p:cNvPr id="278" name="Google Shape;278;p39"/>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Giỏ hàng lưu các sản phẩm được chọn </a:t>
            </a:r>
            <a:endParaRPr/>
          </a:p>
          <a:p>
            <a:pPr indent="0" lvl="0" marL="457200" rtl="0" algn="just">
              <a:spcBef>
                <a:spcPts val="0"/>
              </a:spcBef>
              <a:spcAft>
                <a:spcPts val="0"/>
              </a:spcAft>
              <a:buNone/>
            </a:pPr>
            <a:r>
              <a:t/>
            </a:r>
            <a:endParaRPr/>
          </a:p>
          <a:p>
            <a:pPr indent="0" lvl="0" marL="0" rtl="0" algn="just">
              <a:spcBef>
                <a:spcPts val="0"/>
              </a:spcBef>
              <a:spcAft>
                <a:spcPts val="0"/>
              </a:spcAft>
              <a:buNone/>
            </a:pPr>
            <a:r>
              <a:t/>
            </a:r>
            <a:endParaRPr/>
          </a:p>
          <a:p>
            <a:pPr indent="-381000" lvl="0" marL="457200" rtl="0" algn="just">
              <a:spcBef>
                <a:spcPts val="0"/>
              </a:spcBef>
              <a:spcAft>
                <a:spcPts val="0"/>
              </a:spcAft>
              <a:buSzPts val="2400"/>
              <a:buChar char="●"/>
            </a:pPr>
            <a:r>
              <a:rPr lang="en-GB"/>
              <a:t>Kéo tệp vào (biểu tượng) thùng tái chế để xóa</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381000" lvl="0" marL="457200" rtl="0" algn="just">
              <a:spcBef>
                <a:spcPts val="0"/>
              </a:spcBef>
              <a:spcAft>
                <a:spcPts val="0"/>
              </a:spcAft>
              <a:buSzPts val="2400"/>
              <a:buChar char="●"/>
            </a:pPr>
            <a:r>
              <a:rPr lang="en-GB"/>
              <a:t>Các công cụ vẽ</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381000" lvl="0" marL="457200" rtl="0" algn="just">
              <a:spcBef>
                <a:spcPts val="0"/>
              </a:spcBef>
              <a:spcAft>
                <a:spcPts val="0"/>
              </a:spcAft>
              <a:buSzPts val="2400"/>
              <a:buChar char="●"/>
            </a:pPr>
            <a:r>
              <a:rPr lang="en-GB"/>
              <a:t>v.v</a:t>
            </a:r>
            <a:r>
              <a:rPr lang="en-GB"/>
              <a:t>...</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p:txBody>
      </p:sp>
      <p:pic>
        <p:nvPicPr>
          <p:cNvPr id="279" name="Google Shape;279;p39"/>
          <p:cNvPicPr preferRelativeResize="0"/>
          <p:nvPr/>
        </p:nvPicPr>
        <p:blipFill>
          <a:blip r:embed="rId3">
            <a:alphaModFix/>
          </a:blip>
          <a:stretch>
            <a:fillRect/>
          </a:stretch>
        </p:blipFill>
        <p:spPr>
          <a:xfrm>
            <a:off x="4509413" y="2695038"/>
            <a:ext cx="3495675" cy="1304925"/>
          </a:xfrm>
          <a:prstGeom prst="rect">
            <a:avLst/>
          </a:prstGeom>
          <a:noFill/>
          <a:ln>
            <a:noFill/>
          </a:ln>
        </p:spPr>
      </p:pic>
      <p:pic>
        <p:nvPicPr>
          <p:cNvPr id="280" name="Google Shape;280;p39"/>
          <p:cNvPicPr preferRelativeResize="0"/>
          <p:nvPr/>
        </p:nvPicPr>
        <p:blipFill>
          <a:blip r:embed="rId4">
            <a:alphaModFix/>
          </a:blip>
          <a:stretch>
            <a:fillRect/>
          </a:stretch>
        </p:blipFill>
        <p:spPr>
          <a:xfrm>
            <a:off x="6378019" y="1062019"/>
            <a:ext cx="1193825" cy="1193800"/>
          </a:xfrm>
          <a:prstGeom prst="rect">
            <a:avLst/>
          </a:prstGeom>
          <a:noFill/>
          <a:ln>
            <a:noFill/>
          </a:ln>
        </p:spPr>
      </p:pic>
      <p:pic>
        <p:nvPicPr>
          <p:cNvPr id="281" name="Google Shape;281;p39"/>
          <p:cNvPicPr preferRelativeResize="0"/>
          <p:nvPr/>
        </p:nvPicPr>
        <p:blipFill>
          <a:blip r:embed="rId5">
            <a:alphaModFix/>
          </a:blip>
          <a:stretch>
            <a:fillRect/>
          </a:stretch>
        </p:blipFill>
        <p:spPr>
          <a:xfrm>
            <a:off x="2887354" y="4169679"/>
            <a:ext cx="4414975" cy="852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0"/>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4. Hình tượng bàn làm việc &amp; tài liệu</a:t>
            </a:r>
            <a:endParaRPr/>
          </a:p>
        </p:txBody>
      </p:sp>
      <p:sp>
        <p:nvSpPr>
          <p:cNvPr id="287" name="Google Shape;287;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88" name="Google Shape;288;p40"/>
          <p:cNvPicPr preferRelativeResize="0"/>
          <p:nvPr/>
        </p:nvPicPr>
        <p:blipFill>
          <a:blip r:embed="rId3">
            <a:alphaModFix/>
          </a:blip>
          <a:stretch>
            <a:fillRect/>
          </a:stretch>
        </p:blipFill>
        <p:spPr>
          <a:xfrm>
            <a:off x="152400" y="1102867"/>
            <a:ext cx="8821968" cy="496235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4" name="Google Shape;294;p41"/>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 Hội thoại</a:t>
            </a:r>
            <a:endParaRPr/>
          </a:p>
        </p:txBody>
      </p:sp>
      <p:pic>
        <p:nvPicPr>
          <p:cNvPr id="295" name="Google Shape;295;p41"/>
          <p:cNvPicPr preferRelativeResize="0"/>
          <p:nvPr/>
        </p:nvPicPr>
        <p:blipFill>
          <a:blip r:embed="rId3">
            <a:alphaModFix/>
          </a:blip>
          <a:stretch>
            <a:fillRect/>
          </a:stretch>
        </p:blipFill>
        <p:spPr>
          <a:xfrm>
            <a:off x="228600" y="1026675"/>
            <a:ext cx="6221225" cy="4730225"/>
          </a:xfrm>
          <a:prstGeom prst="rect">
            <a:avLst/>
          </a:prstGeom>
          <a:noFill/>
          <a:ln>
            <a:noFill/>
          </a:ln>
        </p:spPr>
      </p:pic>
      <p:pic>
        <p:nvPicPr>
          <p:cNvPr id="296" name="Google Shape;296;p41"/>
          <p:cNvPicPr preferRelativeResize="0"/>
          <p:nvPr/>
        </p:nvPicPr>
        <p:blipFill>
          <a:blip r:embed="rId4">
            <a:alphaModFix/>
          </a:blip>
          <a:stretch>
            <a:fillRect/>
          </a:stretch>
        </p:blipFill>
        <p:spPr>
          <a:xfrm>
            <a:off x="3074725" y="2404500"/>
            <a:ext cx="5632776" cy="4282850"/>
          </a:xfrm>
          <a:prstGeom prst="rect">
            <a:avLst/>
          </a:prstGeom>
          <a:noFill/>
          <a:ln>
            <a:noFill/>
          </a:ln>
        </p:spPr>
      </p:pic>
      <p:sp>
        <p:nvSpPr>
          <p:cNvPr id="297" name="Google Shape;297;p41"/>
          <p:cNvSpPr txBox="1"/>
          <p:nvPr/>
        </p:nvSpPr>
        <p:spPr>
          <a:xfrm>
            <a:off x="3479575" y="658925"/>
            <a:ext cx="3098100" cy="3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Bạn muốn tạo loại dự án nào?</a:t>
            </a:r>
            <a:endParaRPr sz="1600"/>
          </a:p>
        </p:txBody>
      </p:sp>
      <p:sp>
        <p:nvSpPr>
          <p:cNvPr id="298" name="Google Shape;298;p41"/>
          <p:cNvSpPr txBox="1"/>
          <p:nvPr/>
        </p:nvSpPr>
        <p:spPr>
          <a:xfrm>
            <a:off x="6577675" y="1801925"/>
            <a:ext cx="1998300" cy="6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Bạn muốn </a:t>
            </a:r>
            <a:r>
              <a:rPr lang="en-GB" sz="1600"/>
              <a:t>lưu các tệp ở đâu</a:t>
            </a:r>
            <a:r>
              <a:rPr lang="en-GB" sz="1600"/>
              <a:t>?</a:t>
            </a:r>
            <a:endParaRPr sz="1600"/>
          </a:p>
        </p:txBody>
      </p:sp>
      <p:sp>
        <p:nvSpPr>
          <p:cNvPr id="299" name="Google Shape;299;p41"/>
          <p:cNvSpPr txBox="1"/>
          <p:nvPr/>
        </p:nvSpPr>
        <p:spPr>
          <a:xfrm>
            <a:off x="279925" y="5854950"/>
            <a:ext cx="27186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Các hộp thoại tạo dự án trong IntelliJ IDEA</a:t>
            </a:r>
            <a:endParaRPr i="1"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Tạo nguyên mẫu giao diện</a:t>
            </a:r>
            <a:endParaRPr/>
          </a:p>
        </p:txBody>
      </p:sp>
      <p:sp>
        <p:nvSpPr>
          <p:cNvPr id="305" name="Google Shape;305;p42"/>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giao diện có thể được:</a:t>
            </a:r>
            <a:endParaRPr/>
          </a:p>
          <a:p>
            <a:pPr indent="-368300" lvl="1" marL="914400" rtl="0" algn="just">
              <a:spcBef>
                <a:spcPts val="0"/>
              </a:spcBef>
              <a:spcAft>
                <a:spcPts val="0"/>
              </a:spcAft>
              <a:buSzPts val="2200"/>
              <a:buChar char="○"/>
            </a:pPr>
            <a:r>
              <a:rPr lang="en-GB"/>
              <a:t>Vẽ / phác thảo bằng các công cụ vẽ thông thường.</a:t>
            </a:r>
            <a:endParaRPr/>
          </a:p>
          <a:p>
            <a:pPr indent="-368300" lvl="1" marL="914400" rtl="0" algn="just">
              <a:spcBef>
                <a:spcPts val="0"/>
              </a:spcBef>
              <a:spcAft>
                <a:spcPts val="0"/>
              </a:spcAft>
              <a:buSzPts val="2200"/>
              <a:buChar char="○"/>
            </a:pPr>
            <a:r>
              <a:rPr lang="en-GB"/>
              <a:t>Tạo bằng các phần mềm chuyên dụng cho phép giả lập các thao tác chuyển giao diện.</a:t>
            </a:r>
            <a:endParaRPr/>
          </a:p>
          <a:p>
            <a:pPr indent="-368300" lvl="1" marL="914400" rtl="0" algn="just">
              <a:spcBef>
                <a:spcPts val="0"/>
              </a:spcBef>
              <a:spcAft>
                <a:spcPts val="0"/>
              </a:spcAft>
              <a:buSzPts val="2200"/>
              <a:buChar char="○"/>
            </a:pPr>
            <a:r>
              <a:rPr lang="en-GB"/>
              <a:t>Tạo bằng ngôn ngữ lập trình như trong pha thực thi:</a:t>
            </a:r>
            <a:endParaRPr/>
          </a:p>
          <a:p>
            <a:pPr indent="-342900" lvl="2" marL="1371600" rtl="0" algn="just">
              <a:spcBef>
                <a:spcPts val="0"/>
              </a:spcBef>
              <a:spcAft>
                <a:spcPts val="0"/>
              </a:spcAft>
              <a:buSzPts val="1800"/>
              <a:buChar char="■"/>
            </a:pPr>
            <a:r>
              <a:rPr lang="en-GB"/>
              <a:t>Tuy nhiên chỉ giả lập các xử lý thực tế:</a:t>
            </a:r>
            <a:endParaRPr/>
          </a:p>
          <a:p>
            <a:pPr indent="-342900" lvl="2" marL="1371600" rtl="0" algn="just">
              <a:spcBef>
                <a:spcPts val="0"/>
              </a:spcBef>
              <a:spcAft>
                <a:spcPts val="0"/>
              </a:spcAft>
              <a:buSzPts val="1800"/>
              <a:buChar char="■"/>
            </a:pPr>
            <a:r>
              <a:rPr lang="en-GB"/>
              <a:t>Ví dụ tạo n</a:t>
            </a:r>
            <a:r>
              <a:rPr lang="en-GB"/>
              <a:t>guyên mẫu trang Web với HTML, CSS, Javascript, và dữ liệu mô phỏng</a:t>
            </a:r>
            <a:endParaRPr/>
          </a:p>
          <a:p>
            <a:pPr indent="-342900" lvl="2" marL="1371600" rtl="0" algn="just">
              <a:spcBef>
                <a:spcPts val="0"/>
              </a:spcBef>
              <a:spcAft>
                <a:spcPts val="0"/>
              </a:spcAft>
              <a:buSzPts val="1800"/>
              <a:buChar char="■"/>
            </a:pPr>
            <a:r>
              <a:rPr lang="en-GB"/>
              <a:t>=&gt; Gần nhất với giao diện khi triển khai thực tế</a:t>
            </a:r>
            <a:endParaRPr/>
          </a:p>
          <a:p>
            <a:pPr indent="-381000" lvl="0" marL="457200" rtl="0" algn="just">
              <a:spcBef>
                <a:spcPts val="0"/>
              </a:spcBef>
              <a:spcAft>
                <a:spcPts val="0"/>
              </a:spcAft>
              <a:buSzPts val="2400"/>
              <a:buChar char="●"/>
            </a:pPr>
            <a:r>
              <a:rPr lang="en-GB"/>
              <a:t>Tương thích và nhất quán với các mô hình cấu trúc và điều hướng.</a:t>
            </a:r>
            <a:endParaRPr/>
          </a:p>
          <a:p>
            <a:pPr indent="-381000" lvl="0" marL="457200" rtl="0" algn="just">
              <a:spcBef>
                <a:spcPts val="0"/>
              </a:spcBef>
              <a:spcAft>
                <a:spcPts val="0"/>
              </a:spcAft>
              <a:buSzPts val="2400"/>
              <a:buChar char="●"/>
            </a:pPr>
            <a:r>
              <a:rPr lang="en-GB"/>
              <a:t>Các giao diện có thể được tập hợp và bố trí theo cấu trúc điều hướng tạo thành các bảng phân cảnh / Storyboard</a:t>
            </a:r>
            <a:endParaRPr/>
          </a:p>
          <a:p>
            <a:pPr indent="-368300" lvl="1" marL="914400" rtl="0" algn="just">
              <a:spcBef>
                <a:spcPts val="0"/>
              </a:spcBef>
              <a:spcAft>
                <a:spcPts val="0"/>
              </a:spcAft>
              <a:buSzPts val="2200"/>
              <a:buChar char="○"/>
            </a:pPr>
            <a:r>
              <a:rPr lang="en-GB"/>
              <a:t>Hữu ích - Giúp người dùng hình dung về hoạt động của hệ thống thực tế (trong tương lai).</a:t>
            </a:r>
            <a:endParaRPr/>
          </a:p>
        </p:txBody>
      </p:sp>
      <p:sp>
        <p:nvSpPr>
          <p:cNvPr id="306" name="Google Shape;306;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Thiết kế nhập</a:t>
            </a:r>
            <a:endParaRPr/>
          </a:p>
        </p:txBody>
      </p:sp>
      <p:sp>
        <p:nvSpPr>
          <p:cNvPr id="312" name="Google Shape;312;p43"/>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biểu mẫu được sử dụng để nhập dữ liệu </a:t>
            </a:r>
            <a:endParaRPr/>
          </a:p>
          <a:p>
            <a:pPr indent="-381000" lvl="0" marL="457200" rtl="0" algn="just">
              <a:spcBef>
                <a:spcPts val="0"/>
              </a:spcBef>
              <a:spcAft>
                <a:spcPts val="0"/>
              </a:spcAft>
              <a:buSzPts val="2400"/>
              <a:buChar char="●"/>
            </a:pPr>
            <a:r>
              <a:rPr lang="en-GB"/>
              <a:t>Dữ liệu có thể:</a:t>
            </a:r>
            <a:endParaRPr/>
          </a:p>
          <a:p>
            <a:pPr indent="-368300" lvl="1" marL="914400" rtl="0" algn="just">
              <a:spcBef>
                <a:spcPts val="0"/>
              </a:spcBef>
              <a:spcAft>
                <a:spcPts val="0"/>
              </a:spcAft>
              <a:buSzPts val="2200"/>
              <a:buChar char="○"/>
            </a:pPr>
            <a:r>
              <a:rPr lang="en-GB"/>
              <a:t>Có cấu trúc: Ngày, sản phẩm, v.v…</a:t>
            </a:r>
            <a:endParaRPr/>
          </a:p>
          <a:p>
            <a:pPr indent="-368300" lvl="1" marL="914400" rtl="0" algn="just">
              <a:spcBef>
                <a:spcPts val="0"/>
              </a:spcBef>
              <a:spcAft>
                <a:spcPts val="0"/>
              </a:spcAft>
              <a:buSzPts val="2200"/>
              <a:buChar char="○"/>
            </a:pPr>
            <a:r>
              <a:rPr lang="en-GB"/>
              <a:t>Phi cấu trúc: Bình luận, mô tả.</a:t>
            </a:r>
            <a:endParaRPr/>
          </a:p>
          <a:p>
            <a:pPr indent="-381000" lvl="0" marL="457200" rtl="0" algn="just">
              <a:spcBef>
                <a:spcPts val="0"/>
              </a:spcBef>
              <a:spcAft>
                <a:spcPts val="0"/>
              </a:spcAft>
              <a:buSzPts val="2400"/>
              <a:buChar char="●"/>
            </a:pPr>
            <a:r>
              <a:rPr lang="en-GB"/>
              <a:t>Các nguyên lý cơ bản</a:t>
            </a:r>
            <a:endParaRPr/>
          </a:p>
          <a:p>
            <a:pPr indent="-368300" lvl="1" marL="914400" rtl="0" algn="just">
              <a:spcBef>
                <a:spcPts val="0"/>
              </a:spcBef>
              <a:spcAft>
                <a:spcPts val="0"/>
              </a:spcAft>
              <a:buSzPts val="2200"/>
              <a:buChar char="○"/>
            </a:pPr>
            <a:r>
              <a:rPr lang="en-GB" sz="2200"/>
              <a:t>Nhận dữ liệu từ nguồn (ví dụ Mã vạch vs. RFID);</a:t>
            </a:r>
            <a:endParaRPr/>
          </a:p>
          <a:p>
            <a:pPr indent="-368300" lvl="1" marL="914400" rtl="0" algn="just">
              <a:spcBef>
                <a:spcPts val="0"/>
              </a:spcBef>
              <a:spcAft>
                <a:spcPts val="0"/>
              </a:spcAft>
              <a:buSzPts val="2200"/>
              <a:buChar char="○"/>
            </a:pPr>
            <a:r>
              <a:rPr lang="en-GB"/>
              <a:t>Xử lý trực tuyến vs. xử lý theo gói;</a:t>
            </a:r>
            <a:endParaRPr/>
          </a:p>
          <a:p>
            <a:pPr indent="-368300" lvl="1" marL="914400" rtl="0" algn="just">
              <a:spcBef>
                <a:spcPts val="0"/>
              </a:spcBef>
              <a:spcAft>
                <a:spcPts val="0"/>
              </a:spcAft>
              <a:buSzPts val="2200"/>
              <a:buChar char="○"/>
            </a:pPr>
            <a:r>
              <a:rPr lang="en-GB"/>
              <a:t>Tối ưu số thao tác nhập (sử dụng giá trị mặc định cho những giá trị được dùng thường xuyên).</a:t>
            </a:r>
            <a:endParaRPr/>
          </a:p>
        </p:txBody>
      </p:sp>
      <p:sp>
        <p:nvSpPr>
          <p:cNvPr id="313" name="Google Shape;313;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loại đầu vào</a:t>
            </a:r>
            <a:endParaRPr/>
          </a:p>
        </p:txBody>
      </p:sp>
      <p:sp>
        <p:nvSpPr>
          <p:cNvPr id="319" name="Google Shape;319;p44"/>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hộp nhập dữ liệu:</a:t>
            </a:r>
            <a:endParaRPr/>
          </a:p>
          <a:p>
            <a:pPr indent="-368300" lvl="1" marL="914400" rtl="0" algn="just">
              <a:spcBef>
                <a:spcPts val="0"/>
              </a:spcBef>
              <a:spcAft>
                <a:spcPts val="0"/>
              </a:spcAft>
              <a:buSzPts val="2200"/>
              <a:buChar char="○"/>
            </a:pPr>
            <a:r>
              <a:rPr lang="en-GB"/>
              <a:t>Hộp nhập văn bản</a:t>
            </a:r>
            <a:endParaRPr/>
          </a:p>
          <a:p>
            <a:pPr indent="-368300" lvl="1" marL="914400" rtl="0" algn="just">
              <a:spcBef>
                <a:spcPts val="0"/>
              </a:spcBef>
              <a:spcAft>
                <a:spcPts val="0"/>
              </a:spcAft>
              <a:buSzPts val="2200"/>
              <a:buChar char="○"/>
            </a:pPr>
            <a:r>
              <a:rPr lang="en-GB"/>
              <a:t>Hộp nhập số, có thể hỗ trợ dạng tự động</a:t>
            </a:r>
            <a:endParaRPr/>
          </a:p>
          <a:p>
            <a:pPr indent="-342900" lvl="2" marL="1371600" rtl="0" algn="just">
              <a:spcBef>
                <a:spcPts val="0"/>
              </a:spcBef>
              <a:spcAft>
                <a:spcPts val="0"/>
              </a:spcAft>
              <a:buSzPts val="1800"/>
              <a:buChar char="■"/>
            </a:pPr>
            <a:r>
              <a:rPr lang="en-GB"/>
              <a:t>Ví dụ: Nhập số điện thoại</a:t>
            </a:r>
            <a:endParaRPr/>
          </a:p>
          <a:p>
            <a:pPr indent="-368300" lvl="1" marL="914400" rtl="0" algn="just">
              <a:spcBef>
                <a:spcPts val="0"/>
              </a:spcBef>
              <a:spcAft>
                <a:spcPts val="0"/>
              </a:spcAft>
              <a:buSzPts val="2200"/>
              <a:buChar char="○"/>
            </a:pPr>
            <a:r>
              <a:rPr lang="en-GB"/>
              <a:t>Hộp mật khẩu ẩn các ký tự với các dấu * và không cho cắt dán hoặc sao chép</a:t>
            </a:r>
            <a:endParaRPr/>
          </a:p>
          <a:p>
            <a:pPr indent="-368300" lvl="1" marL="914400" rtl="0" algn="just">
              <a:spcBef>
                <a:spcPts val="0"/>
              </a:spcBef>
              <a:spcAft>
                <a:spcPts val="0"/>
              </a:spcAft>
              <a:buSzPts val="2200"/>
              <a:buChar char="○"/>
            </a:pPr>
            <a:r>
              <a:rPr lang="en-GB"/>
              <a:t>v.v..</a:t>
            </a:r>
            <a:endParaRPr/>
          </a:p>
          <a:p>
            <a:pPr indent="-381000" lvl="0" marL="457200" rtl="0" algn="just">
              <a:spcBef>
                <a:spcPts val="0"/>
              </a:spcBef>
              <a:spcAft>
                <a:spcPts val="0"/>
              </a:spcAft>
              <a:buSzPts val="2400"/>
              <a:buChar char="●"/>
            </a:pPr>
            <a:r>
              <a:rPr lang="en-GB"/>
              <a:t>Các hộp lựa chọn</a:t>
            </a:r>
            <a:endParaRPr/>
          </a:p>
          <a:p>
            <a:pPr indent="-368300" lvl="1" marL="914400" rtl="0" algn="just">
              <a:spcBef>
                <a:spcPts val="0"/>
              </a:spcBef>
              <a:spcAft>
                <a:spcPts val="0"/>
              </a:spcAft>
              <a:buSzPts val="2200"/>
              <a:buChar char="○"/>
            </a:pPr>
            <a:r>
              <a:rPr lang="en-GB"/>
              <a:t>Hộp đánh dấu / Check box, có thể lựa chọn nhiều mục</a:t>
            </a:r>
            <a:endParaRPr/>
          </a:p>
          <a:p>
            <a:pPr indent="-368300" lvl="1" marL="914400" rtl="0" algn="just">
              <a:spcBef>
                <a:spcPts val="0"/>
              </a:spcBef>
              <a:spcAft>
                <a:spcPts val="0"/>
              </a:spcAft>
              <a:buSzPts val="2200"/>
              <a:buChar char="○"/>
            </a:pPr>
            <a:r>
              <a:rPr lang="en-GB"/>
              <a:t>Hộp chọn loại trừ / Radio box - chọn 1 mục trong  nhóm.</a:t>
            </a:r>
            <a:endParaRPr/>
          </a:p>
          <a:p>
            <a:pPr indent="-368300" lvl="1" marL="914400" rtl="0" algn="just">
              <a:spcBef>
                <a:spcPts val="0"/>
              </a:spcBef>
              <a:spcAft>
                <a:spcPts val="0"/>
              </a:spcAft>
              <a:buSzPts val="2200"/>
              <a:buChar char="○"/>
            </a:pPr>
            <a:r>
              <a:rPr lang="en-GB"/>
              <a:t>Hộp danh sách - Biểu diễn 1 danh sách lựa chọn</a:t>
            </a:r>
            <a:endParaRPr/>
          </a:p>
          <a:p>
            <a:pPr indent="-381000" lvl="0" marL="457200" rtl="0" algn="just">
              <a:spcBef>
                <a:spcPts val="0"/>
              </a:spcBef>
              <a:spcAft>
                <a:spcPts val="0"/>
              </a:spcAft>
              <a:buSzPts val="2400"/>
              <a:buChar char="●"/>
            </a:pPr>
            <a:r>
              <a:rPr lang="en-GB"/>
              <a:t>Thanh kéo / Slider - Có thể di chuyển con trỏ trên 1 thang tương ứng với 1 khoảng giá trị.</a:t>
            </a:r>
            <a:endParaRPr/>
          </a:p>
          <a:p>
            <a:pPr indent="-381000" lvl="0" marL="457200" rtl="0" algn="just">
              <a:spcBef>
                <a:spcPts val="0"/>
              </a:spcBef>
              <a:spcAft>
                <a:spcPts val="0"/>
              </a:spcAft>
              <a:buSzPts val="2400"/>
              <a:buChar char="●"/>
            </a:pPr>
            <a:r>
              <a:rPr lang="en-GB"/>
              <a:t>v.v..</a:t>
            </a:r>
            <a:endParaRPr/>
          </a:p>
        </p:txBody>
      </p:sp>
      <p:sp>
        <p:nvSpPr>
          <p:cNvPr id="320" name="Google Shape;320;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Kiểm tra đầu vào</a:t>
            </a:r>
            <a:endParaRPr/>
          </a:p>
        </p:txBody>
      </p:sp>
      <p:sp>
        <p:nvSpPr>
          <p:cNvPr id="326" name="Google Shape;326;p45"/>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Dữ liệu cần được kiểm tra trước khi được đưa vào hệ thống để đảm bảo tính đúng đắn.</a:t>
            </a:r>
            <a:endParaRPr/>
          </a:p>
          <a:p>
            <a:pPr indent="-381000" lvl="0" marL="457200" rtl="0" algn="just">
              <a:spcBef>
                <a:spcPts val="0"/>
              </a:spcBef>
              <a:spcAft>
                <a:spcPts val="0"/>
              </a:spcAft>
              <a:buSzPts val="2400"/>
              <a:buChar char="●"/>
            </a:pPr>
            <a:r>
              <a:rPr lang="en-GB"/>
              <a:t>Chỉ tiếp nhận dữ liệu hợp lệ.</a:t>
            </a:r>
            <a:endParaRPr/>
          </a:p>
          <a:p>
            <a:pPr indent="-381000" lvl="0" marL="457200" rtl="0" algn="just">
              <a:spcBef>
                <a:spcPts val="0"/>
              </a:spcBef>
              <a:spcAft>
                <a:spcPts val="0"/>
              </a:spcAft>
              <a:buSzPts val="2400"/>
              <a:buChar char="●"/>
            </a:pPr>
            <a:r>
              <a:rPr lang="en-GB"/>
              <a:t>Các kiểm tra </a:t>
            </a:r>
            <a:r>
              <a:rPr lang="en-GB"/>
              <a:t>tiêu biểu:</a:t>
            </a:r>
            <a:endParaRPr/>
          </a:p>
          <a:p>
            <a:pPr indent="-368300" lvl="1" marL="914400" rtl="0" algn="just">
              <a:spcBef>
                <a:spcPts val="0"/>
              </a:spcBef>
              <a:spcAft>
                <a:spcPts val="0"/>
              </a:spcAft>
              <a:buSzPts val="2200"/>
              <a:buChar char="○"/>
            </a:pPr>
            <a:r>
              <a:rPr lang="en-GB"/>
              <a:t>Định dạng</a:t>
            </a:r>
            <a:endParaRPr/>
          </a:p>
          <a:p>
            <a:pPr indent="-368300" lvl="1" marL="914400" rtl="0" algn="just">
              <a:spcBef>
                <a:spcPts val="0"/>
              </a:spcBef>
              <a:spcAft>
                <a:spcPts val="0"/>
              </a:spcAft>
              <a:buSzPts val="2200"/>
              <a:buChar char="○"/>
            </a:pPr>
            <a:r>
              <a:rPr lang="en-GB"/>
              <a:t>Khoảng giá trị</a:t>
            </a:r>
            <a:endParaRPr/>
          </a:p>
          <a:p>
            <a:pPr indent="-368300" lvl="1" marL="914400" rtl="0" algn="just">
              <a:spcBef>
                <a:spcPts val="0"/>
              </a:spcBef>
              <a:spcAft>
                <a:spcPts val="0"/>
              </a:spcAft>
              <a:buSzPts val="2200"/>
              <a:buChar char="○"/>
            </a:pPr>
            <a:r>
              <a:rPr lang="en-GB"/>
              <a:t>Chữ số kiểm tra - Giúp giảm lỗi nhập số</a:t>
            </a:r>
            <a:endParaRPr/>
          </a:p>
          <a:p>
            <a:pPr indent="-342900" lvl="2" marL="1371600" rtl="0" algn="just">
              <a:spcBef>
                <a:spcPts val="0"/>
              </a:spcBef>
              <a:spcAft>
                <a:spcPts val="0"/>
              </a:spcAft>
              <a:buSzPts val="1800"/>
              <a:buChar char="■"/>
            </a:pPr>
            <a:r>
              <a:rPr lang="en-GB"/>
              <a:t>Ví dụ chữ số cuối trong mã vạch</a:t>
            </a:r>
            <a:endParaRPr/>
          </a:p>
          <a:p>
            <a:pPr indent="-368300" lvl="1" marL="914400" rtl="0" algn="just">
              <a:spcBef>
                <a:spcPts val="0"/>
              </a:spcBef>
              <a:spcAft>
                <a:spcPts val="0"/>
              </a:spcAft>
              <a:buSzPts val="2200"/>
              <a:buChar char="○"/>
            </a:pPr>
            <a:r>
              <a:rPr lang="en-GB"/>
              <a:t>Tính n</a:t>
            </a:r>
            <a:r>
              <a:rPr lang="en-GB"/>
              <a:t>hất quán </a:t>
            </a:r>
            <a:r>
              <a:rPr lang="en-GB"/>
              <a:t>với c</a:t>
            </a:r>
            <a:r>
              <a:rPr lang="en-GB"/>
              <a:t>ác </a:t>
            </a:r>
            <a:r>
              <a:rPr lang="en-GB"/>
              <a:t>trường </a:t>
            </a:r>
            <a:r>
              <a:rPr lang="en-GB"/>
              <a:t>dữ liệu liên quan</a:t>
            </a:r>
            <a:endParaRPr/>
          </a:p>
          <a:p>
            <a:pPr indent="-368300" lvl="1" marL="914400" rtl="0" algn="just">
              <a:spcBef>
                <a:spcPts val="0"/>
              </a:spcBef>
              <a:spcAft>
                <a:spcPts val="0"/>
              </a:spcAft>
              <a:buSzPts val="2200"/>
              <a:buChar char="○"/>
            </a:pPr>
            <a:r>
              <a:rPr lang="en-GB"/>
              <a:t>Các ràng buộc </a:t>
            </a:r>
            <a:r>
              <a:rPr lang="en-GB"/>
              <a:t>trong CSDL</a:t>
            </a:r>
            <a:endParaRPr/>
          </a:p>
        </p:txBody>
      </p:sp>
      <p:sp>
        <p:nvSpPr>
          <p:cNvPr id="327" name="Google Shape;327;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Thiết kế </a:t>
            </a:r>
            <a:r>
              <a:rPr lang="en-GB"/>
              <a:t>xuất</a:t>
            </a:r>
            <a:endParaRPr/>
          </a:p>
        </p:txBody>
      </p:sp>
      <p:sp>
        <p:nvSpPr>
          <p:cNvPr id="333" name="Google Shape;333;p46"/>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báo cáo được tạo từ dữ liệu được xuất bởi hệ thống</a:t>
            </a:r>
            <a:endParaRPr/>
          </a:p>
          <a:p>
            <a:pPr indent="-381000" lvl="0" marL="457200" rtl="0" algn="just">
              <a:spcBef>
                <a:spcPts val="0"/>
              </a:spcBef>
              <a:spcAft>
                <a:spcPts val="0"/>
              </a:spcAft>
              <a:buSzPts val="2400"/>
              <a:buChar char="●"/>
            </a:pPr>
            <a:r>
              <a:rPr lang="en-GB"/>
              <a:t>Các nguyên lý cơ bản:</a:t>
            </a:r>
            <a:endParaRPr/>
          </a:p>
          <a:p>
            <a:pPr indent="-368300" lvl="1" marL="914400" rtl="0" algn="just">
              <a:spcBef>
                <a:spcPts val="0"/>
              </a:spcBef>
              <a:spcAft>
                <a:spcPts val="0"/>
              </a:spcAft>
              <a:buSzPts val="2200"/>
              <a:buChar char="○"/>
            </a:pPr>
            <a:r>
              <a:rPr lang="en-GB"/>
              <a:t>Mục đích và tần suất sử dụng ảnh hưởng đến bố cục của báo cáo</a:t>
            </a:r>
            <a:endParaRPr/>
          </a:p>
          <a:p>
            <a:pPr indent="-368300" lvl="1" marL="914400" rtl="0" algn="just">
              <a:spcBef>
                <a:spcPts val="0"/>
              </a:spcBef>
              <a:spcAft>
                <a:spcPts val="0"/>
              </a:spcAft>
              <a:buSzPts val="2200"/>
              <a:buChar char="○"/>
            </a:pPr>
            <a:r>
              <a:rPr lang="en-GB"/>
              <a:t>Quản lý lượng thông tin trong 1 báo cáo - Chỉ cung cấp những gì cần thiết và đặt những thông tin quan trọng nhất ở </a:t>
            </a:r>
            <a:r>
              <a:rPr lang="en-GB"/>
              <a:t>vị trí</a:t>
            </a:r>
            <a:r>
              <a:rPr lang="en-GB"/>
              <a:t> đầu </a:t>
            </a:r>
            <a:r>
              <a:rPr lang="en-GB"/>
              <a:t>tiên.</a:t>
            </a:r>
            <a:endParaRPr/>
          </a:p>
          <a:p>
            <a:pPr indent="-368300" lvl="1" marL="914400" rtl="0" algn="just">
              <a:spcBef>
                <a:spcPts val="0"/>
              </a:spcBef>
              <a:spcAft>
                <a:spcPts val="0"/>
              </a:spcAft>
              <a:buSzPts val="2200"/>
              <a:buChar char="○"/>
            </a:pPr>
            <a:r>
              <a:rPr lang="en-GB"/>
              <a:t>Giảm thiểu độ lệch, đặc biệt trong thiết kế đồ họa (</a:t>
            </a:r>
            <a:r>
              <a:rPr lang="en-GB"/>
              <a:t>biểu đồ</a:t>
            </a:r>
            <a:r>
              <a:rPr lang="en-GB"/>
              <a:t>).</a:t>
            </a:r>
            <a:endParaRPr/>
          </a:p>
        </p:txBody>
      </p:sp>
      <p:sp>
        <p:nvSpPr>
          <p:cNvPr id="334" name="Google Shape;334;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loại đầu ra</a:t>
            </a:r>
            <a:endParaRPr/>
          </a:p>
        </p:txBody>
      </p:sp>
      <p:sp>
        <p:nvSpPr>
          <p:cNvPr id="340" name="Google Shape;340;p47"/>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Báo cáo chi tiết - Người dùng cần thông tin đầy đủ</a:t>
            </a:r>
            <a:endParaRPr/>
          </a:p>
          <a:p>
            <a:pPr indent="-381000" lvl="0" marL="457200" rtl="0" algn="just">
              <a:spcBef>
                <a:spcPts val="0"/>
              </a:spcBef>
              <a:spcAft>
                <a:spcPts val="0"/>
              </a:spcAft>
              <a:buSzPts val="2400"/>
              <a:buChar char="●"/>
            </a:pPr>
            <a:r>
              <a:rPr lang="en-GB"/>
              <a:t>Báo cáo ngắn gọn - Các chi tiết được tổng hợp (ví dụ, tổng, trung bình)</a:t>
            </a:r>
            <a:endParaRPr/>
          </a:p>
          <a:p>
            <a:pPr indent="-381000" lvl="0" marL="457200" rtl="0" algn="just">
              <a:spcBef>
                <a:spcPts val="0"/>
              </a:spcBef>
              <a:spcAft>
                <a:spcPts val="0"/>
              </a:spcAft>
              <a:buSzPts val="2400"/>
              <a:buChar char="●"/>
            </a:pPr>
            <a:r>
              <a:rPr lang="en-GB"/>
              <a:t>Báo cáo ngoại lệ</a:t>
            </a:r>
            <a:endParaRPr/>
          </a:p>
          <a:p>
            <a:pPr indent="-381000" lvl="0" marL="457200" rtl="0" algn="just">
              <a:spcBef>
                <a:spcPts val="0"/>
              </a:spcBef>
              <a:spcAft>
                <a:spcPts val="0"/>
              </a:spcAft>
              <a:buSzPts val="2400"/>
              <a:buChar char="●"/>
            </a:pPr>
            <a:r>
              <a:rPr lang="en-GB"/>
              <a:t>Tài liệu xoay vòng - Đầu ra quay lại thành đầu vào</a:t>
            </a:r>
            <a:endParaRPr/>
          </a:p>
          <a:p>
            <a:pPr indent="-381000" lvl="0" marL="457200" rtl="0" algn="just">
              <a:spcBef>
                <a:spcPts val="0"/>
              </a:spcBef>
              <a:spcAft>
                <a:spcPts val="0"/>
              </a:spcAft>
              <a:buSzPts val="2400"/>
              <a:buChar char="●"/>
            </a:pPr>
            <a:r>
              <a:rPr lang="en-GB"/>
              <a:t>Biểu đồ</a:t>
            </a:r>
            <a:r>
              <a:rPr lang="en-GB"/>
              <a:t> - Để thuận tiện so sánh trực quan</a:t>
            </a:r>
            <a:endParaRPr/>
          </a:p>
          <a:p>
            <a:pPr indent="-381000" lvl="0" marL="457200" rtl="0" algn="just">
              <a:spcBef>
                <a:spcPts val="0"/>
              </a:spcBef>
              <a:spcAft>
                <a:spcPts val="0"/>
              </a:spcAft>
              <a:buSzPts val="2400"/>
              <a:buChar char="●"/>
            </a:pPr>
            <a:r>
              <a:rPr lang="en-GB"/>
              <a:t>Có thể</a:t>
            </a:r>
            <a:r>
              <a:rPr lang="en-GB"/>
              <a:t> xuất báo cáo </a:t>
            </a:r>
            <a:r>
              <a:rPr lang="en-GB"/>
              <a:t>trên thiết bị</a:t>
            </a:r>
            <a:r>
              <a:rPr lang="en-GB"/>
              <a:t> điện tử (xem trên màn hình) hoặc bản cứng (in trên giấy)</a:t>
            </a:r>
            <a:endParaRPr/>
          </a:p>
        </p:txBody>
      </p:sp>
      <p:sp>
        <p:nvSpPr>
          <p:cNvPr id="341" name="Google Shape;341;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Kiểm tra giao diện</a:t>
            </a:r>
            <a:endParaRPr/>
          </a:p>
        </p:txBody>
      </p:sp>
      <p:sp>
        <p:nvSpPr>
          <p:cNvPr id="347" name="Google Shape;347;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48" name="Google Shape;348;p48"/>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Lý tưởng, đánh giá các giao diện khi hệ thống đang được thiết kế - Trước khi bắt đầu xây dựng nó</a:t>
            </a:r>
            <a:endParaRPr/>
          </a:p>
          <a:p>
            <a:pPr indent="-368300" lvl="1" marL="914400" rtl="0" algn="just">
              <a:spcBef>
                <a:spcPts val="0"/>
              </a:spcBef>
              <a:spcAft>
                <a:spcPts val="0"/>
              </a:spcAft>
              <a:buSzPts val="2200"/>
              <a:buChar char="○"/>
            </a:pPr>
            <a:r>
              <a:rPr lang="en-GB"/>
              <a:t>Giúp phát hiện và giải quyết sớm các vấn đề</a:t>
            </a:r>
            <a:endParaRPr/>
          </a:p>
          <a:p>
            <a:pPr indent="-368300" lvl="1" marL="914400" rtl="0" algn="just">
              <a:spcBef>
                <a:spcPts val="0"/>
              </a:spcBef>
              <a:spcAft>
                <a:spcPts val="0"/>
              </a:spcAft>
              <a:buSzPts val="2200"/>
              <a:buChar char="○"/>
            </a:pPr>
            <a:r>
              <a:rPr lang="en-GB"/>
              <a:t>Người dùng có thể muốn thay đổi giao diện sau khi nhìn thấy nó.</a:t>
            </a:r>
            <a:endParaRPr/>
          </a:p>
          <a:p>
            <a:pPr indent="-381000" lvl="0" marL="457200" rtl="0" algn="just">
              <a:spcBef>
                <a:spcPts val="0"/>
              </a:spcBef>
              <a:spcAft>
                <a:spcPts val="0"/>
              </a:spcAft>
              <a:buSzPts val="2400"/>
              <a:buChar char="●"/>
            </a:pPr>
            <a:r>
              <a:rPr lang="en-GB"/>
              <a:t>Huy động tối đa các thành viên tham gia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phương pháp đánh giá giao diện</a:t>
            </a:r>
            <a:endParaRPr/>
          </a:p>
        </p:txBody>
      </p:sp>
      <p:sp>
        <p:nvSpPr>
          <p:cNvPr id="354" name="Google Shape;354;p49"/>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Theo kinh nghiệm - Đối chiếu thiết kế với các nguyên lý và quy tắc đã biết</a:t>
            </a:r>
            <a:endParaRPr/>
          </a:p>
          <a:p>
            <a:pPr indent="-381000" lvl="0" marL="457200" rtl="0" algn="just">
              <a:spcBef>
                <a:spcPts val="0"/>
              </a:spcBef>
              <a:spcAft>
                <a:spcPts val="0"/>
              </a:spcAft>
              <a:buSzPts val="2400"/>
              <a:buChar char="●"/>
            </a:pPr>
            <a:r>
              <a:rPr lang="en-GB"/>
              <a:t>Thuyết trình &amp; đánh giá - Nhóm thiết kế trình diễn nguyên mẫu với người dùng và giải thích lô-gic hoạt động</a:t>
            </a:r>
            <a:endParaRPr/>
          </a:p>
          <a:p>
            <a:pPr indent="-381000" lvl="0" marL="457200" rtl="0" algn="just">
              <a:spcBef>
                <a:spcPts val="0"/>
              </a:spcBef>
              <a:spcAft>
                <a:spcPts val="0"/>
              </a:spcAft>
              <a:buSzPts val="2400"/>
              <a:buChar char="●"/>
            </a:pPr>
            <a:r>
              <a:rPr lang="en-GB"/>
              <a:t>Tương tác - Người dùng thử sử dụng nguyên mẫu và thảo luận trực tiếp với các thành viên đội dự án.</a:t>
            </a:r>
            <a:endParaRPr/>
          </a:p>
          <a:p>
            <a:pPr indent="-381000" lvl="0" marL="457200" rtl="0" algn="just">
              <a:spcBef>
                <a:spcPts val="0"/>
              </a:spcBef>
              <a:spcAft>
                <a:spcPts val="0"/>
              </a:spcAft>
              <a:buSzPts val="2400"/>
              <a:buChar char="●"/>
            </a:pPr>
            <a:r>
              <a:rPr lang="en-GB"/>
              <a:t>Kiểm thử kín - Người dùng thử sử dụng nguyên mẫu ngôn ngữ trong phạm vi phòng thí nghiệm.</a:t>
            </a:r>
            <a:endParaRPr/>
          </a:p>
        </p:txBody>
      </p:sp>
      <p:sp>
        <p:nvSpPr>
          <p:cNvPr id="355" name="Google Shape;355;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yêu cầu phi chức năng</a:t>
            </a:r>
            <a:endParaRPr/>
          </a:p>
        </p:txBody>
      </p:sp>
      <p:sp>
        <p:nvSpPr>
          <p:cNvPr id="361" name="Google Shape;361;p50"/>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Thiết kế giao diện có thể bị ảnh hưởng bởi các yêu cầu phi chức năng (được xác định từ giai đoạn đầu tiên), ví dụ:</a:t>
            </a:r>
            <a:endParaRPr i="1"/>
          </a:p>
          <a:p>
            <a:pPr indent="-381000" lvl="0" marL="457200" rtl="0" algn="just">
              <a:spcBef>
                <a:spcPts val="0"/>
              </a:spcBef>
              <a:spcAft>
                <a:spcPts val="0"/>
              </a:spcAft>
              <a:buSzPts val="2400"/>
              <a:buChar char="●"/>
            </a:pPr>
            <a:r>
              <a:rPr lang="en-GB"/>
              <a:t>Các yêu cầu vận hành</a:t>
            </a:r>
            <a:endParaRPr/>
          </a:p>
          <a:p>
            <a:pPr indent="-368300" lvl="1" marL="914400" rtl="0" algn="just">
              <a:spcBef>
                <a:spcPts val="0"/>
              </a:spcBef>
              <a:spcAft>
                <a:spcPts val="0"/>
              </a:spcAft>
              <a:buSzPts val="2200"/>
              <a:buChar char="○"/>
            </a:pPr>
            <a:r>
              <a:rPr lang="en-GB"/>
              <a:t>Triển khai hệ thống theo hình thức ứng dụng Web</a:t>
            </a:r>
            <a:endParaRPr/>
          </a:p>
          <a:p>
            <a:pPr indent="-381000" lvl="0" marL="457200" rtl="0" algn="just">
              <a:spcBef>
                <a:spcPts val="0"/>
              </a:spcBef>
              <a:spcAft>
                <a:spcPts val="0"/>
              </a:spcAft>
              <a:buSzPts val="2400"/>
              <a:buChar char="●"/>
            </a:pPr>
            <a:r>
              <a:rPr lang="en-GB"/>
              <a:t>Độ tin cậy</a:t>
            </a:r>
            <a:endParaRPr/>
          </a:p>
          <a:p>
            <a:pPr indent="-368300" lvl="1" marL="914400" rtl="0" algn="just">
              <a:spcBef>
                <a:spcPts val="0"/>
              </a:spcBef>
              <a:spcAft>
                <a:spcPts val="0"/>
              </a:spcAft>
              <a:buSzPts val="2200"/>
              <a:buChar char="○"/>
            </a:pPr>
            <a:r>
              <a:rPr lang="en-GB"/>
              <a:t>Có thể khôi phục hoạt động của hệ thống trong tình huống sự cố trong giới hạn 5 p</a:t>
            </a:r>
            <a:endParaRPr/>
          </a:p>
          <a:p>
            <a:pPr indent="-381000" lvl="0" marL="457200" rtl="0" algn="just">
              <a:spcBef>
                <a:spcPts val="0"/>
              </a:spcBef>
              <a:spcAft>
                <a:spcPts val="0"/>
              </a:spcAft>
              <a:buSzPts val="2400"/>
              <a:buChar char="●"/>
            </a:pPr>
            <a:r>
              <a:rPr lang="en-GB"/>
              <a:t>Hiệu năng</a:t>
            </a:r>
            <a:endParaRPr/>
          </a:p>
          <a:p>
            <a:pPr indent="-368300" lvl="1" marL="914400" rtl="0" algn="just">
              <a:spcBef>
                <a:spcPts val="0"/>
              </a:spcBef>
              <a:spcAft>
                <a:spcPts val="0"/>
              </a:spcAft>
              <a:buSzPts val="2200"/>
              <a:buChar char="○"/>
            </a:pPr>
            <a:r>
              <a:rPr lang="en-GB"/>
              <a:t>Cập nhật trạng thái theo thời gian thực với độ trễ không quá 1s</a:t>
            </a:r>
            <a:endParaRPr/>
          </a:p>
          <a:p>
            <a:pPr indent="-381000" lvl="0" marL="457200" rtl="0" algn="just">
              <a:spcBef>
                <a:spcPts val="0"/>
              </a:spcBef>
              <a:spcAft>
                <a:spcPts val="0"/>
              </a:spcAft>
              <a:buSzPts val="2400"/>
              <a:buChar char="●"/>
            </a:pPr>
            <a:r>
              <a:rPr lang="en-GB"/>
              <a:t>Các yêu cầu bảo mật</a:t>
            </a:r>
            <a:endParaRPr/>
          </a:p>
          <a:p>
            <a:pPr indent="-368300" lvl="1" marL="914400" rtl="0" algn="just">
              <a:spcBef>
                <a:spcPts val="0"/>
              </a:spcBef>
              <a:spcAft>
                <a:spcPts val="0"/>
              </a:spcAft>
              <a:buSzPts val="2200"/>
              <a:buChar char="○"/>
            </a:pPr>
            <a:r>
              <a:rPr lang="en-GB"/>
              <a:t>Sử dụng kết nối HTTPS</a:t>
            </a:r>
            <a:endParaRPr/>
          </a:p>
        </p:txBody>
      </p:sp>
      <p:sp>
        <p:nvSpPr>
          <p:cNvPr id="362" name="Google Shape;362;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368" name="Google Shape;368;p51"/>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rPr>
              <a:t>1. Tổng quan về thiết kế giao diện</a:t>
            </a:r>
            <a:endParaRPr>
              <a:solidFill>
                <a:schemeClr val="dk1"/>
              </a:solidFill>
            </a:endParaRPr>
          </a:p>
          <a:p>
            <a:pPr indent="0" lvl="0" marL="0" marR="24765" rtl="0" algn="just">
              <a:lnSpc>
                <a:spcPct val="100000"/>
              </a:lnSpc>
              <a:spcBef>
                <a:spcPts val="300"/>
              </a:spcBef>
              <a:spcAft>
                <a:spcPts val="0"/>
              </a:spcAft>
              <a:buNone/>
            </a:pPr>
            <a:r>
              <a:rPr lang="en-GB">
                <a:solidFill>
                  <a:schemeClr val="dk1"/>
                </a:solidFill>
              </a:rPr>
              <a:t>2. Ngôn ngữ mô hình hóa luồng tương tác</a:t>
            </a:r>
            <a:endParaRPr>
              <a:solidFill>
                <a:schemeClr val="dk1"/>
              </a:solidFill>
            </a:endParaRPr>
          </a:p>
          <a:p>
            <a:pPr indent="0" lvl="0" marL="0" marR="24765" rtl="0" algn="just">
              <a:lnSpc>
                <a:spcPct val="100000"/>
              </a:lnSpc>
              <a:spcBef>
                <a:spcPts val="300"/>
              </a:spcBef>
              <a:spcAft>
                <a:spcPts val="300"/>
              </a:spcAft>
              <a:buNone/>
            </a:pPr>
            <a:r>
              <a:rPr lang="en-GB">
                <a:solidFill>
                  <a:schemeClr val="dk1"/>
                </a:solidFill>
              </a:rPr>
              <a:t>3. Ví dụ tổng hợp</a:t>
            </a:r>
            <a:endParaRPr>
              <a:solidFill>
                <a:schemeClr val="dk1"/>
              </a:solidFill>
            </a:endParaRPr>
          </a:p>
        </p:txBody>
      </p:sp>
      <p:sp>
        <p:nvSpPr>
          <p:cNvPr id="369" name="Google Shape;369;p51"/>
          <p:cNvSpPr/>
          <p:nvPr/>
        </p:nvSpPr>
        <p:spPr>
          <a:xfrm>
            <a:off x="318450" y="1256350"/>
            <a:ext cx="59307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mô hình</a:t>
            </a:r>
            <a:endParaRPr/>
          </a:p>
        </p:txBody>
      </p:sp>
      <p:sp>
        <p:nvSpPr>
          <p:cNvPr id="376" name="Google Shape;376;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77" name="Google Shape;377;p52"/>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Sơ đồ</a:t>
            </a:r>
            <a:r>
              <a:rPr i="1" lang="en-GB"/>
              <a:t> luồng tương tác (trong </a:t>
            </a:r>
            <a:r>
              <a:rPr i="1" lang="en-GB"/>
              <a:t>Ngôn ngữ mô hình hóa luồng tương tác - </a:t>
            </a:r>
            <a:r>
              <a:rPr b="1" i="1" lang="en-GB"/>
              <a:t>I</a:t>
            </a:r>
            <a:r>
              <a:rPr i="1" lang="en-GB"/>
              <a:t>nteraction </a:t>
            </a:r>
            <a:r>
              <a:rPr b="1" i="1" lang="en-GB"/>
              <a:t>F</a:t>
            </a:r>
            <a:r>
              <a:rPr i="1" lang="en-GB"/>
              <a:t>low </a:t>
            </a:r>
            <a:r>
              <a:rPr b="1" i="1" lang="en-GB"/>
              <a:t>M</a:t>
            </a:r>
            <a:r>
              <a:rPr i="1" lang="en-GB"/>
              <a:t>odeling </a:t>
            </a:r>
            <a:r>
              <a:rPr b="1" i="1" lang="en-GB"/>
              <a:t>L</a:t>
            </a:r>
            <a:r>
              <a:rPr i="1" lang="en-GB"/>
              <a:t>anguage - IFML) </a:t>
            </a:r>
            <a:r>
              <a:rPr i="1" lang="en-GB"/>
              <a:t>biểu diễn các khía cạnh cơ bản của giao diện người dùng</a:t>
            </a:r>
            <a:endParaRPr i="1"/>
          </a:p>
          <a:p>
            <a:pPr indent="-381000" lvl="0" marL="457200" rtl="0" algn="just">
              <a:spcBef>
                <a:spcPts val="0"/>
              </a:spcBef>
              <a:spcAft>
                <a:spcPts val="0"/>
              </a:spcAft>
              <a:buSzPts val="2400"/>
              <a:buChar char="●"/>
            </a:pPr>
            <a:r>
              <a:rPr lang="en-GB"/>
              <a:t>Bố cục: Chia màn hình giao diện thành các phân vùng, các phân vùng có thể lồng nhau, có thể được thiết lập trạng thái hiển thị, trạng thái khả dụng.</a:t>
            </a:r>
            <a:endParaRPr/>
          </a:p>
          <a:p>
            <a:pPr indent="-368300" lvl="1" marL="914400" rtl="0" algn="just">
              <a:spcBef>
                <a:spcPts val="0"/>
              </a:spcBef>
              <a:spcAft>
                <a:spcPts val="0"/>
              </a:spcAft>
              <a:buSzPts val="2200"/>
              <a:buChar char="○"/>
            </a:pPr>
            <a:r>
              <a:rPr lang="en-GB"/>
              <a:t>Trong IFML phân vùng được biểu diễn bằng </a:t>
            </a:r>
            <a:r>
              <a:rPr lang="en-GB"/>
              <a:t>thành phần khung/chứa đựng</a:t>
            </a:r>
            <a:r>
              <a:rPr lang="en-GB"/>
              <a:t> - ViewContainer.</a:t>
            </a:r>
            <a:endParaRPr i="1"/>
          </a:p>
          <a:p>
            <a:pPr indent="-381000" lvl="0" marL="457200" rtl="0" algn="just">
              <a:spcBef>
                <a:spcPts val="0"/>
              </a:spcBef>
              <a:spcAft>
                <a:spcPts val="0"/>
              </a:spcAft>
              <a:buSzPts val="2400"/>
              <a:buChar char="●"/>
            </a:pPr>
            <a:r>
              <a:rPr lang="en-GB"/>
              <a:t>Nội dung: Các thành phần nội dung trong phân vùng</a:t>
            </a:r>
            <a:endParaRPr/>
          </a:p>
          <a:p>
            <a:pPr indent="-368300" lvl="1" marL="914400" rtl="0" algn="just">
              <a:spcBef>
                <a:spcPts val="0"/>
              </a:spcBef>
              <a:spcAft>
                <a:spcPts val="0"/>
              </a:spcAft>
              <a:buSzPts val="2200"/>
              <a:buChar char="○"/>
            </a:pPr>
            <a:r>
              <a:rPr lang="en-GB"/>
              <a:t>Thành phần nội dung được biểu diễn bằng thành phần hiển thị - ViewComponent.</a:t>
            </a:r>
            <a:endParaRPr/>
          </a:p>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mô hình</a:t>
            </a:r>
            <a:r>
              <a:rPr baseline="-25000" lang="en-GB"/>
              <a:t>(</a:t>
            </a:r>
            <a:r>
              <a:rPr baseline="-25000" lang="en-GB"/>
              <a:t>2)</a:t>
            </a:r>
            <a:endParaRPr baseline="-25000"/>
          </a:p>
        </p:txBody>
      </p:sp>
      <p:sp>
        <p:nvSpPr>
          <p:cNvPr id="383" name="Google Shape;383;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84" name="Google Shape;384;p53"/>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Sự kiện: Các diễn biến ảnh hưởng tới trạng thái giao diện người dùng - Events - Có thể được kích hoạt bởi tương tác người dùng, tự động theo trạng thái hệ thống hoặc bởi hệ thống ngoại.</a:t>
            </a:r>
            <a:endParaRPr/>
          </a:p>
          <a:p>
            <a:pPr indent="-381000" lvl="0" marL="457200" rtl="0" algn="just">
              <a:spcBef>
                <a:spcPts val="0"/>
              </a:spcBef>
              <a:spcAft>
                <a:spcPts val="0"/>
              </a:spcAft>
              <a:buSzPts val="2400"/>
              <a:buChar char="●"/>
            </a:pPr>
            <a:r>
              <a:rPr lang="en-GB"/>
              <a:t>Điều hướng: Biểu diễn hệ quả của 1 sự kiện trên giao diện người dùng như cập nhật và hiển thị nội dung, kích hoạt hành động, hoặc sự kết hợp của nhiều hiệu ứng.</a:t>
            </a:r>
            <a:endParaRPr/>
          </a:p>
          <a:p>
            <a:pPr indent="-381000" lvl="0" marL="457200" rtl="0" algn="just">
              <a:spcBef>
                <a:spcPts val="0"/>
              </a:spcBef>
              <a:spcAft>
                <a:spcPts val="0"/>
              </a:spcAft>
              <a:buSzPts val="2400"/>
              <a:buChar char="●"/>
            </a:pPr>
            <a:r>
              <a:rPr lang="en-GB"/>
              <a:t>Truyền tham số: Xác định mối quan hệ đầu ra-đầu vào giữa các thành phần giao diện, phân vùng giao diện, và các hành động.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4"/>
          <p:cNvSpPr txBox="1"/>
          <p:nvPr>
            <p:ph idx="4294967295" type="title"/>
          </p:nvPr>
        </p:nvSpPr>
        <p:spPr>
          <a:xfrm>
            <a:off x="311700" y="186975"/>
            <a:ext cx="8709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6. </a:t>
            </a:r>
            <a:r>
              <a:rPr lang="en-GB"/>
              <a:t>Sơ đồ</a:t>
            </a:r>
            <a:r>
              <a:rPr lang="en-GB"/>
              <a:t> luồng tương tác </a:t>
            </a:r>
            <a:endParaRPr/>
          </a:p>
        </p:txBody>
      </p:sp>
      <p:sp>
        <p:nvSpPr>
          <p:cNvPr id="390" name="Google Shape;390;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91" name="Google Shape;391;p54"/>
          <p:cNvSpPr/>
          <p:nvPr/>
        </p:nvSpPr>
        <p:spPr>
          <a:xfrm>
            <a:off x="782124" y="1157825"/>
            <a:ext cx="2253300" cy="1719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4"/>
          <p:cNvSpPr/>
          <p:nvPr/>
        </p:nvSpPr>
        <p:spPr>
          <a:xfrm>
            <a:off x="779650" y="1157825"/>
            <a:ext cx="2253300" cy="255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BooksByCategory</a:t>
            </a:r>
            <a:endParaRPr/>
          </a:p>
        </p:txBody>
      </p:sp>
      <p:sp>
        <p:nvSpPr>
          <p:cNvPr id="393" name="Google Shape;393;p54"/>
          <p:cNvSpPr/>
          <p:nvPr/>
        </p:nvSpPr>
        <p:spPr>
          <a:xfrm>
            <a:off x="1106250" y="1699050"/>
            <a:ext cx="1680300" cy="994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&lt;&lt;List</a:t>
            </a:r>
            <a:r>
              <a:rPr lang="en-GB"/>
              <a:t>&gt;&gt;</a:t>
            </a:r>
            <a:endParaRPr/>
          </a:p>
          <a:p>
            <a:pPr indent="0" lvl="0" marL="0" rtl="0" algn="ctr">
              <a:spcBef>
                <a:spcPts val="0"/>
              </a:spcBef>
              <a:spcAft>
                <a:spcPts val="0"/>
              </a:spcAft>
              <a:buNone/>
            </a:pPr>
            <a:r>
              <a:rPr lang="en-GB"/>
              <a:t>BookList</a:t>
            </a:r>
            <a:endParaRPr/>
          </a:p>
        </p:txBody>
      </p:sp>
      <p:sp>
        <p:nvSpPr>
          <p:cNvPr id="394" name="Google Shape;394;p54"/>
          <p:cNvSpPr/>
          <p:nvPr/>
        </p:nvSpPr>
        <p:spPr>
          <a:xfrm>
            <a:off x="2671337" y="2059875"/>
            <a:ext cx="255300" cy="255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4"/>
          <p:cNvSpPr/>
          <p:nvPr/>
        </p:nvSpPr>
        <p:spPr>
          <a:xfrm>
            <a:off x="5735125" y="929225"/>
            <a:ext cx="2648700" cy="21462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4"/>
          <p:cNvSpPr/>
          <p:nvPr/>
        </p:nvSpPr>
        <p:spPr>
          <a:xfrm>
            <a:off x="5732650" y="929225"/>
            <a:ext cx="2648700" cy="255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Detail</a:t>
            </a:r>
            <a:endParaRPr/>
          </a:p>
        </p:txBody>
      </p:sp>
      <p:sp>
        <p:nvSpPr>
          <p:cNvPr id="397" name="Google Shape;397;p54"/>
          <p:cNvSpPr/>
          <p:nvPr/>
        </p:nvSpPr>
        <p:spPr>
          <a:xfrm>
            <a:off x="6098250" y="1439800"/>
            <a:ext cx="2117100" cy="149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&lt;&lt;Detail&gt;&gt;</a:t>
            </a:r>
            <a:endParaRPr/>
          </a:p>
          <a:p>
            <a:pPr indent="0" lvl="0" marL="0" rtl="0" algn="ctr">
              <a:spcBef>
                <a:spcPts val="0"/>
              </a:spcBef>
              <a:spcAft>
                <a:spcPts val="0"/>
              </a:spcAft>
              <a:buNone/>
            </a:pPr>
            <a:r>
              <a:rPr lang="en-GB"/>
              <a:t>BookDetail</a:t>
            </a:r>
            <a:endParaRPr/>
          </a:p>
        </p:txBody>
      </p:sp>
      <p:cxnSp>
        <p:nvCxnSpPr>
          <p:cNvPr id="398" name="Google Shape;398;p54"/>
          <p:cNvCxnSpPr>
            <a:stCxn id="394" idx="6"/>
            <a:endCxn id="397" idx="1"/>
          </p:cNvCxnSpPr>
          <p:nvPr/>
        </p:nvCxnSpPr>
        <p:spPr>
          <a:xfrm flipH="1" rot="10800000">
            <a:off x="2926637" y="2186325"/>
            <a:ext cx="3171600" cy="1200"/>
          </a:xfrm>
          <a:prstGeom prst="straightConnector1">
            <a:avLst/>
          </a:prstGeom>
          <a:noFill/>
          <a:ln cap="flat" cmpd="sng" w="19050">
            <a:solidFill>
              <a:schemeClr val="dk2"/>
            </a:solidFill>
            <a:prstDash val="solid"/>
            <a:round/>
            <a:headEnd len="med" w="med" type="none"/>
            <a:tailEnd len="med" w="med" type="triangle"/>
          </a:ln>
        </p:spPr>
      </p:cxnSp>
      <p:sp>
        <p:nvSpPr>
          <p:cNvPr id="399" name="Google Shape;399;p54"/>
          <p:cNvSpPr/>
          <p:nvPr/>
        </p:nvSpPr>
        <p:spPr>
          <a:xfrm>
            <a:off x="2993750" y="3029525"/>
            <a:ext cx="2648700" cy="661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&lt;&lt;ParamBindingGroup</a:t>
            </a:r>
            <a:r>
              <a:rPr lang="en-GB"/>
              <a:t>&gt;&gt;</a:t>
            </a:r>
            <a:endParaRPr/>
          </a:p>
          <a:p>
            <a:pPr indent="0" lvl="0" marL="0" rtl="0" algn="ctr">
              <a:spcBef>
                <a:spcPts val="0"/>
              </a:spcBef>
              <a:spcAft>
                <a:spcPts val="0"/>
              </a:spcAft>
              <a:buNone/>
            </a:pPr>
            <a:r>
              <a:rPr lang="en-GB"/>
              <a:t>SelectedBook ➡ bookId</a:t>
            </a:r>
            <a:endParaRPr/>
          </a:p>
        </p:txBody>
      </p:sp>
      <p:cxnSp>
        <p:nvCxnSpPr>
          <p:cNvPr id="400" name="Google Shape;400;p54"/>
          <p:cNvCxnSpPr>
            <a:stCxn id="399" idx="0"/>
          </p:cNvCxnSpPr>
          <p:nvPr/>
        </p:nvCxnSpPr>
        <p:spPr>
          <a:xfrm rot="10800000">
            <a:off x="3674900" y="2182625"/>
            <a:ext cx="643200" cy="846900"/>
          </a:xfrm>
          <a:prstGeom prst="straightConnector1">
            <a:avLst/>
          </a:prstGeom>
          <a:noFill/>
          <a:ln cap="flat" cmpd="sng" w="9525">
            <a:solidFill>
              <a:schemeClr val="dk2"/>
            </a:solidFill>
            <a:prstDash val="dot"/>
            <a:round/>
            <a:headEnd len="med" w="med" type="none"/>
            <a:tailEnd len="med" w="med" type="none"/>
          </a:ln>
        </p:spPr>
      </p:cxnSp>
      <p:sp>
        <p:nvSpPr>
          <p:cNvPr id="401" name="Google Shape;401;p54"/>
          <p:cNvSpPr/>
          <p:nvPr/>
        </p:nvSpPr>
        <p:spPr>
          <a:xfrm>
            <a:off x="478354" y="3842175"/>
            <a:ext cx="3190500" cy="2463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4"/>
          <p:cNvSpPr/>
          <p:nvPr/>
        </p:nvSpPr>
        <p:spPr>
          <a:xfrm>
            <a:off x="474850" y="3842175"/>
            <a:ext cx="3190500" cy="255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4"/>
          <p:cNvSpPr/>
          <p:nvPr/>
        </p:nvSpPr>
        <p:spPr>
          <a:xfrm>
            <a:off x="818465" y="3899754"/>
            <a:ext cx="2780700" cy="1482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4"/>
          <p:cNvSpPr txBox="1"/>
          <p:nvPr/>
        </p:nvSpPr>
        <p:spPr>
          <a:xfrm>
            <a:off x="686850" y="4093926"/>
            <a:ext cx="2780700" cy="36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t>Sách trực tuyến</a:t>
            </a:r>
            <a:endParaRPr b="1"/>
          </a:p>
        </p:txBody>
      </p:sp>
      <p:cxnSp>
        <p:nvCxnSpPr>
          <p:cNvPr id="405" name="Google Shape;405;p54"/>
          <p:cNvCxnSpPr/>
          <p:nvPr/>
        </p:nvCxnSpPr>
        <p:spPr>
          <a:xfrm>
            <a:off x="686846" y="4442954"/>
            <a:ext cx="2780700" cy="0"/>
          </a:xfrm>
          <a:prstGeom prst="straightConnector1">
            <a:avLst/>
          </a:prstGeom>
          <a:noFill/>
          <a:ln cap="flat" cmpd="sng" w="9525">
            <a:solidFill>
              <a:schemeClr val="dk2"/>
            </a:solidFill>
            <a:prstDash val="solid"/>
            <a:round/>
            <a:headEnd len="med" w="med" type="none"/>
            <a:tailEnd len="med" w="med" type="none"/>
          </a:ln>
        </p:spPr>
      </p:cxnSp>
      <p:pic>
        <p:nvPicPr>
          <p:cNvPr id="406" name="Google Shape;406;p54"/>
          <p:cNvPicPr preferRelativeResize="0"/>
          <p:nvPr/>
        </p:nvPicPr>
        <p:blipFill>
          <a:blip r:embed="rId3">
            <a:alphaModFix/>
          </a:blip>
          <a:stretch>
            <a:fillRect/>
          </a:stretch>
        </p:blipFill>
        <p:spPr>
          <a:xfrm>
            <a:off x="732322" y="4488730"/>
            <a:ext cx="377508" cy="364278"/>
          </a:xfrm>
          <a:prstGeom prst="rect">
            <a:avLst/>
          </a:prstGeom>
          <a:noFill/>
          <a:ln>
            <a:noFill/>
          </a:ln>
        </p:spPr>
      </p:pic>
      <p:sp>
        <p:nvSpPr>
          <p:cNvPr id="407" name="Google Shape;407;p54"/>
          <p:cNvSpPr txBox="1"/>
          <p:nvPr/>
        </p:nvSpPr>
        <p:spPr>
          <a:xfrm>
            <a:off x="1150186" y="4473872"/>
            <a:ext cx="2117100" cy="3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Màn hình chính</a:t>
            </a:r>
            <a:endParaRPr sz="1200"/>
          </a:p>
        </p:txBody>
      </p:sp>
      <p:sp>
        <p:nvSpPr>
          <p:cNvPr id="408" name="Google Shape;408;p54"/>
          <p:cNvSpPr/>
          <p:nvPr/>
        </p:nvSpPr>
        <p:spPr>
          <a:xfrm>
            <a:off x="818875" y="4872274"/>
            <a:ext cx="2648700" cy="129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4"/>
          <p:cNvSpPr/>
          <p:nvPr/>
        </p:nvSpPr>
        <p:spPr>
          <a:xfrm>
            <a:off x="970890" y="5167116"/>
            <a:ext cx="377400" cy="364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54"/>
          <p:cNvCxnSpPr/>
          <p:nvPr/>
        </p:nvCxnSpPr>
        <p:spPr>
          <a:xfrm>
            <a:off x="959045" y="5164084"/>
            <a:ext cx="373800" cy="3606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54"/>
          <p:cNvCxnSpPr/>
          <p:nvPr/>
        </p:nvCxnSpPr>
        <p:spPr>
          <a:xfrm flipH="1" rot="10800000">
            <a:off x="959045" y="5164165"/>
            <a:ext cx="358200" cy="360600"/>
          </a:xfrm>
          <a:prstGeom prst="straightConnector1">
            <a:avLst/>
          </a:prstGeom>
          <a:noFill/>
          <a:ln cap="flat" cmpd="sng" w="9525">
            <a:solidFill>
              <a:schemeClr val="dk2"/>
            </a:solidFill>
            <a:prstDash val="solid"/>
            <a:round/>
            <a:headEnd len="med" w="med" type="none"/>
            <a:tailEnd len="med" w="med" type="none"/>
          </a:ln>
        </p:spPr>
      </p:cxnSp>
      <p:sp>
        <p:nvSpPr>
          <p:cNvPr id="412" name="Google Shape;412;p54"/>
          <p:cNvSpPr/>
          <p:nvPr/>
        </p:nvSpPr>
        <p:spPr>
          <a:xfrm>
            <a:off x="970890" y="5657791"/>
            <a:ext cx="377400" cy="364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3" name="Google Shape;413;p54"/>
          <p:cNvCxnSpPr/>
          <p:nvPr/>
        </p:nvCxnSpPr>
        <p:spPr>
          <a:xfrm>
            <a:off x="959045" y="5654759"/>
            <a:ext cx="373800" cy="36060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54"/>
          <p:cNvCxnSpPr/>
          <p:nvPr/>
        </p:nvCxnSpPr>
        <p:spPr>
          <a:xfrm flipH="1" rot="10800000">
            <a:off x="959045" y="5654840"/>
            <a:ext cx="358200" cy="360600"/>
          </a:xfrm>
          <a:prstGeom prst="straightConnector1">
            <a:avLst/>
          </a:prstGeom>
          <a:noFill/>
          <a:ln cap="flat" cmpd="sng" w="9525">
            <a:solidFill>
              <a:schemeClr val="dk2"/>
            </a:solidFill>
            <a:prstDash val="solid"/>
            <a:round/>
            <a:headEnd len="med" w="med" type="none"/>
            <a:tailEnd len="med" w="med" type="none"/>
          </a:ln>
        </p:spPr>
      </p:cxnSp>
      <p:sp>
        <p:nvSpPr>
          <p:cNvPr id="415" name="Google Shape;415;p54"/>
          <p:cNvSpPr txBox="1"/>
          <p:nvPr/>
        </p:nvSpPr>
        <p:spPr>
          <a:xfrm>
            <a:off x="1335259" y="5659345"/>
            <a:ext cx="2117100" cy="3984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200"/>
              <a:t>Công nghệ Web </a:t>
            </a:r>
            <a:endParaRPr sz="1200"/>
          </a:p>
          <a:p>
            <a:pPr indent="0" lvl="0" marL="0" rtl="0" algn="l">
              <a:spcBef>
                <a:spcPts val="0"/>
              </a:spcBef>
              <a:spcAft>
                <a:spcPts val="0"/>
              </a:spcAft>
              <a:buNone/>
            </a:pPr>
            <a:r>
              <a:rPr b="1" lang="en-GB" sz="1200" u="sng"/>
              <a:t>Chi tiết</a:t>
            </a:r>
            <a:endParaRPr b="1" sz="1200" u="sng"/>
          </a:p>
        </p:txBody>
      </p:sp>
      <p:sp>
        <p:nvSpPr>
          <p:cNvPr id="416" name="Google Shape;416;p54"/>
          <p:cNvSpPr txBox="1"/>
          <p:nvPr/>
        </p:nvSpPr>
        <p:spPr>
          <a:xfrm>
            <a:off x="845372" y="4806675"/>
            <a:ext cx="2648700" cy="3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Màn hình chính/Danh sách</a:t>
            </a:r>
            <a:endParaRPr sz="1200"/>
          </a:p>
        </p:txBody>
      </p:sp>
      <p:sp>
        <p:nvSpPr>
          <p:cNvPr id="417" name="Google Shape;417;p54"/>
          <p:cNvSpPr/>
          <p:nvPr/>
        </p:nvSpPr>
        <p:spPr>
          <a:xfrm>
            <a:off x="3290712" y="4877850"/>
            <a:ext cx="154200" cy="129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4"/>
          <p:cNvSpPr/>
          <p:nvPr/>
        </p:nvSpPr>
        <p:spPr>
          <a:xfrm>
            <a:off x="3281278" y="4883675"/>
            <a:ext cx="177600" cy="14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4"/>
          <p:cNvSpPr/>
          <p:nvPr/>
        </p:nvSpPr>
        <p:spPr>
          <a:xfrm>
            <a:off x="3281278" y="6026675"/>
            <a:ext cx="177600" cy="14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4"/>
          <p:cNvSpPr/>
          <p:nvPr/>
        </p:nvSpPr>
        <p:spPr>
          <a:xfrm>
            <a:off x="3290700" y="4883675"/>
            <a:ext cx="140100" cy="106200"/>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4"/>
          <p:cNvSpPr/>
          <p:nvPr/>
        </p:nvSpPr>
        <p:spPr>
          <a:xfrm rot="-10792654">
            <a:off x="3290568" y="6041406"/>
            <a:ext cx="140400" cy="105902"/>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4"/>
          <p:cNvSpPr/>
          <p:nvPr/>
        </p:nvSpPr>
        <p:spPr>
          <a:xfrm>
            <a:off x="3318722" y="5297950"/>
            <a:ext cx="98100" cy="148200"/>
          </a:xfrm>
          <a:prstGeom prst="rect">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4"/>
          <p:cNvSpPr/>
          <p:nvPr/>
        </p:nvSpPr>
        <p:spPr>
          <a:xfrm>
            <a:off x="5278954" y="3842175"/>
            <a:ext cx="3190500" cy="2463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4"/>
          <p:cNvSpPr/>
          <p:nvPr/>
        </p:nvSpPr>
        <p:spPr>
          <a:xfrm>
            <a:off x="5275450" y="3842175"/>
            <a:ext cx="3190500" cy="255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4"/>
          <p:cNvSpPr/>
          <p:nvPr/>
        </p:nvSpPr>
        <p:spPr>
          <a:xfrm>
            <a:off x="5619065" y="3899754"/>
            <a:ext cx="2780700" cy="1482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4"/>
          <p:cNvSpPr txBox="1"/>
          <p:nvPr/>
        </p:nvSpPr>
        <p:spPr>
          <a:xfrm>
            <a:off x="5487450" y="4093926"/>
            <a:ext cx="2780700" cy="36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t>Sách trực tuyến</a:t>
            </a:r>
            <a:endParaRPr b="1"/>
          </a:p>
        </p:txBody>
      </p:sp>
      <p:cxnSp>
        <p:nvCxnSpPr>
          <p:cNvPr id="427" name="Google Shape;427;p54"/>
          <p:cNvCxnSpPr/>
          <p:nvPr/>
        </p:nvCxnSpPr>
        <p:spPr>
          <a:xfrm>
            <a:off x="5487446" y="4442954"/>
            <a:ext cx="2780700" cy="0"/>
          </a:xfrm>
          <a:prstGeom prst="straightConnector1">
            <a:avLst/>
          </a:prstGeom>
          <a:noFill/>
          <a:ln cap="flat" cmpd="sng" w="9525">
            <a:solidFill>
              <a:schemeClr val="dk2"/>
            </a:solidFill>
            <a:prstDash val="solid"/>
            <a:round/>
            <a:headEnd len="med" w="med" type="none"/>
            <a:tailEnd len="med" w="med" type="none"/>
          </a:ln>
        </p:spPr>
      </p:cxnSp>
      <p:pic>
        <p:nvPicPr>
          <p:cNvPr id="428" name="Google Shape;428;p54"/>
          <p:cNvPicPr preferRelativeResize="0"/>
          <p:nvPr/>
        </p:nvPicPr>
        <p:blipFill>
          <a:blip r:embed="rId3">
            <a:alphaModFix/>
          </a:blip>
          <a:stretch>
            <a:fillRect/>
          </a:stretch>
        </p:blipFill>
        <p:spPr>
          <a:xfrm>
            <a:off x="5532922" y="4488730"/>
            <a:ext cx="377508" cy="364278"/>
          </a:xfrm>
          <a:prstGeom prst="rect">
            <a:avLst/>
          </a:prstGeom>
          <a:noFill/>
          <a:ln>
            <a:noFill/>
          </a:ln>
        </p:spPr>
      </p:pic>
      <p:sp>
        <p:nvSpPr>
          <p:cNvPr id="429" name="Google Shape;429;p54"/>
          <p:cNvSpPr txBox="1"/>
          <p:nvPr/>
        </p:nvSpPr>
        <p:spPr>
          <a:xfrm>
            <a:off x="5950786" y="4473872"/>
            <a:ext cx="2117100" cy="3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Màn hình chính</a:t>
            </a:r>
            <a:endParaRPr sz="1200"/>
          </a:p>
        </p:txBody>
      </p:sp>
      <p:sp>
        <p:nvSpPr>
          <p:cNvPr id="430" name="Google Shape;430;p54"/>
          <p:cNvSpPr/>
          <p:nvPr/>
        </p:nvSpPr>
        <p:spPr>
          <a:xfrm>
            <a:off x="5619475" y="4872274"/>
            <a:ext cx="2648700" cy="129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4"/>
          <p:cNvSpPr/>
          <p:nvPr/>
        </p:nvSpPr>
        <p:spPr>
          <a:xfrm>
            <a:off x="5776349" y="5320802"/>
            <a:ext cx="531900" cy="52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2" name="Google Shape;432;p54"/>
          <p:cNvCxnSpPr/>
          <p:nvPr/>
        </p:nvCxnSpPr>
        <p:spPr>
          <a:xfrm>
            <a:off x="5759652" y="5316470"/>
            <a:ext cx="526800" cy="515100"/>
          </a:xfrm>
          <a:prstGeom prst="straightConnector1">
            <a:avLst/>
          </a:prstGeom>
          <a:noFill/>
          <a:ln cap="flat" cmpd="sng" w="9525">
            <a:solidFill>
              <a:schemeClr val="dk2"/>
            </a:solidFill>
            <a:prstDash val="solid"/>
            <a:round/>
            <a:headEnd len="med" w="med" type="none"/>
            <a:tailEnd len="med" w="med" type="none"/>
          </a:ln>
        </p:spPr>
      </p:cxnSp>
      <p:cxnSp>
        <p:nvCxnSpPr>
          <p:cNvPr id="433" name="Google Shape;433;p54"/>
          <p:cNvCxnSpPr/>
          <p:nvPr/>
        </p:nvCxnSpPr>
        <p:spPr>
          <a:xfrm flipH="1" rot="10800000">
            <a:off x="5759652" y="5316711"/>
            <a:ext cx="504900" cy="515100"/>
          </a:xfrm>
          <a:prstGeom prst="straightConnector1">
            <a:avLst/>
          </a:prstGeom>
          <a:noFill/>
          <a:ln cap="flat" cmpd="sng" w="9525">
            <a:solidFill>
              <a:schemeClr val="dk2"/>
            </a:solidFill>
            <a:prstDash val="solid"/>
            <a:round/>
            <a:headEnd len="med" w="med" type="none"/>
            <a:tailEnd len="med" w="med" type="none"/>
          </a:ln>
        </p:spPr>
      </p:cxnSp>
      <p:sp>
        <p:nvSpPr>
          <p:cNvPr id="434" name="Google Shape;434;p54"/>
          <p:cNvSpPr txBox="1"/>
          <p:nvPr/>
        </p:nvSpPr>
        <p:spPr>
          <a:xfrm>
            <a:off x="5692653" y="5092473"/>
            <a:ext cx="2117100" cy="2553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200"/>
              <a:t>Ngôn ngữ lập trình C</a:t>
            </a:r>
            <a:endParaRPr b="1" sz="1200" u="sng"/>
          </a:p>
        </p:txBody>
      </p:sp>
      <p:sp>
        <p:nvSpPr>
          <p:cNvPr id="435" name="Google Shape;435;p54"/>
          <p:cNvSpPr txBox="1"/>
          <p:nvPr/>
        </p:nvSpPr>
        <p:spPr>
          <a:xfrm>
            <a:off x="5645972" y="4806675"/>
            <a:ext cx="2648700" cy="3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Màn hình chính/Danh sách/Sách</a:t>
            </a:r>
            <a:endParaRPr sz="1200"/>
          </a:p>
        </p:txBody>
      </p:sp>
      <p:sp>
        <p:nvSpPr>
          <p:cNvPr id="436" name="Google Shape;436;p54"/>
          <p:cNvSpPr/>
          <p:nvPr/>
        </p:nvSpPr>
        <p:spPr>
          <a:xfrm>
            <a:off x="8091312" y="4877850"/>
            <a:ext cx="154200" cy="129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4"/>
          <p:cNvSpPr/>
          <p:nvPr/>
        </p:nvSpPr>
        <p:spPr>
          <a:xfrm>
            <a:off x="8081878" y="4883675"/>
            <a:ext cx="177600" cy="14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4"/>
          <p:cNvSpPr/>
          <p:nvPr/>
        </p:nvSpPr>
        <p:spPr>
          <a:xfrm>
            <a:off x="8081878" y="6026675"/>
            <a:ext cx="177600" cy="14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4"/>
          <p:cNvSpPr/>
          <p:nvPr/>
        </p:nvSpPr>
        <p:spPr>
          <a:xfrm>
            <a:off x="8091300" y="4883675"/>
            <a:ext cx="140100" cy="106200"/>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4"/>
          <p:cNvSpPr/>
          <p:nvPr/>
        </p:nvSpPr>
        <p:spPr>
          <a:xfrm rot="-10792654">
            <a:off x="8091168" y="6041406"/>
            <a:ext cx="140400" cy="105902"/>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4"/>
          <p:cNvSpPr/>
          <p:nvPr/>
        </p:nvSpPr>
        <p:spPr>
          <a:xfrm>
            <a:off x="8119322" y="5297950"/>
            <a:ext cx="98100" cy="148200"/>
          </a:xfrm>
          <a:prstGeom prst="rect">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4"/>
          <p:cNvSpPr txBox="1"/>
          <p:nvPr/>
        </p:nvSpPr>
        <p:spPr>
          <a:xfrm>
            <a:off x="5616451" y="5854475"/>
            <a:ext cx="1140900" cy="2553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000"/>
              <a:t>Giá: 80 000</a:t>
            </a:r>
            <a:r>
              <a:rPr baseline="30000" lang="en-GB" sz="1000"/>
              <a:t>đ</a:t>
            </a:r>
            <a:endParaRPr b="1" baseline="30000" sz="1000" u="sng"/>
          </a:p>
        </p:txBody>
      </p:sp>
      <p:sp>
        <p:nvSpPr>
          <p:cNvPr id="443" name="Google Shape;443;p54"/>
          <p:cNvSpPr txBox="1"/>
          <p:nvPr/>
        </p:nvSpPr>
        <p:spPr>
          <a:xfrm>
            <a:off x="6454651" y="5321077"/>
            <a:ext cx="1522800" cy="5247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i="1" lang="en-GB" sz="1200"/>
              <a:t>Mô tả:</a:t>
            </a:r>
            <a:endParaRPr i="1" sz="1200"/>
          </a:p>
          <a:p>
            <a:pPr indent="0" lvl="0" marL="0" rtl="0" algn="l">
              <a:spcBef>
                <a:spcPts val="0"/>
              </a:spcBef>
              <a:spcAft>
                <a:spcPts val="0"/>
              </a:spcAft>
              <a:buNone/>
            </a:pPr>
            <a:r>
              <a:rPr lang="en-GB" sz="1200"/>
              <a:t>Được biên soạn theo C17 và C2x</a:t>
            </a:r>
            <a:endParaRPr sz="1200"/>
          </a:p>
        </p:txBody>
      </p:sp>
      <p:sp>
        <p:nvSpPr>
          <p:cNvPr id="444" name="Google Shape;444;p54"/>
          <p:cNvSpPr/>
          <p:nvPr/>
        </p:nvSpPr>
        <p:spPr>
          <a:xfrm>
            <a:off x="4046875" y="4961875"/>
            <a:ext cx="840000" cy="5151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5" name="Google Shape;445;p54"/>
          <p:cNvPicPr preferRelativeResize="0"/>
          <p:nvPr/>
        </p:nvPicPr>
        <p:blipFill>
          <a:blip r:embed="rId4">
            <a:alphaModFix/>
          </a:blip>
          <a:stretch>
            <a:fillRect/>
          </a:stretch>
        </p:blipFill>
        <p:spPr>
          <a:xfrm>
            <a:off x="1824042" y="5329242"/>
            <a:ext cx="377500" cy="377500"/>
          </a:xfrm>
          <a:prstGeom prst="rect">
            <a:avLst/>
          </a:prstGeom>
          <a:noFill/>
          <a:ln>
            <a:noFill/>
          </a:ln>
        </p:spPr>
      </p:pic>
      <p:sp>
        <p:nvSpPr>
          <p:cNvPr id="446" name="Google Shape;446;p54"/>
          <p:cNvSpPr txBox="1"/>
          <p:nvPr/>
        </p:nvSpPr>
        <p:spPr>
          <a:xfrm>
            <a:off x="1335251" y="5168675"/>
            <a:ext cx="1838700" cy="3984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200"/>
              <a:t>Ngôn ngữ lập trình C</a:t>
            </a:r>
            <a:endParaRPr sz="1200"/>
          </a:p>
          <a:p>
            <a:pPr indent="0" lvl="0" marL="0" rtl="0" algn="l">
              <a:spcBef>
                <a:spcPts val="0"/>
              </a:spcBef>
              <a:spcAft>
                <a:spcPts val="0"/>
              </a:spcAft>
              <a:buNone/>
            </a:pPr>
            <a:r>
              <a:rPr b="1" lang="en-GB" sz="1200" u="sng"/>
              <a:t>Chi tiết</a:t>
            </a:r>
            <a:endParaRPr b="1" sz="1200" u="sng"/>
          </a:p>
        </p:txBody>
      </p:sp>
      <p:sp>
        <p:nvSpPr>
          <p:cNvPr id="447" name="Google Shape;447;p54"/>
          <p:cNvSpPr/>
          <p:nvPr/>
        </p:nvSpPr>
        <p:spPr>
          <a:xfrm>
            <a:off x="6228275" y="2104850"/>
            <a:ext cx="1838700" cy="661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&lt;&lt;DataBinding&gt;&gt; BookInfo</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53" name="Google Shape;453;p5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phân vùng lồng nhau</a:t>
            </a:r>
            <a:endParaRPr/>
          </a:p>
        </p:txBody>
      </p:sp>
      <p:sp>
        <p:nvSpPr>
          <p:cNvPr id="454" name="Google Shape;454;p55"/>
          <p:cNvSpPr txBox="1"/>
          <p:nvPr>
            <p:ph idx="1" type="body"/>
          </p:nvPr>
        </p:nvSpPr>
        <p:spPr>
          <a:xfrm>
            <a:off x="311700" y="950475"/>
            <a:ext cx="8520600" cy="93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Các phân vùng con cùng nằm trong 1 phân vùng có thể được hiển thị đồng thời hoặc loại trừ lẫn nhau.</a:t>
            </a:r>
            <a:endParaRPr/>
          </a:p>
        </p:txBody>
      </p:sp>
      <p:sp>
        <p:nvSpPr>
          <p:cNvPr id="455" name="Google Shape;455;p55"/>
          <p:cNvSpPr/>
          <p:nvPr/>
        </p:nvSpPr>
        <p:spPr>
          <a:xfrm>
            <a:off x="4668850" y="2013375"/>
            <a:ext cx="3928800" cy="17268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5"/>
          <p:cNvSpPr/>
          <p:nvPr/>
        </p:nvSpPr>
        <p:spPr>
          <a:xfrm>
            <a:off x="721100" y="2095000"/>
            <a:ext cx="2534400" cy="1560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5"/>
          <p:cNvSpPr/>
          <p:nvPr/>
        </p:nvSpPr>
        <p:spPr>
          <a:xfrm>
            <a:off x="718625" y="2095000"/>
            <a:ext cx="2534400" cy="255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TopView</a:t>
            </a:r>
            <a:endParaRPr/>
          </a:p>
        </p:txBody>
      </p:sp>
      <p:sp>
        <p:nvSpPr>
          <p:cNvPr id="458" name="Google Shape;458;p55"/>
          <p:cNvSpPr/>
          <p:nvPr/>
        </p:nvSpPr>
        <p:spPr>
          <a:xfrm>
            <a:off x="872177" y="25522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5"/>
          <p:cNvSpPr/>
          <p:nvPr/>
        </p:nvSpPr>
        <p:spPr>
          <a:xfrm>
            <a:off x="871025" y="25522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View1</a:t>
            </a:r>
            <a:endParaRPr sz="1200"/>
          </a:p>
        </p:txBody>
      </p:sp>
      <p:sp>
        <p:nvSpPr>
          <p:cNvPr id="460" name="Google Shape;460;p55"/>
          <p:cNvSpPr/>
          <p:nvPr/>
        </p:nvSpPr>
        <p:spPr>
          <a:xfrm>
            <a:off x="2072545" y="25522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5"/>
          <p:cNvSpPr/>
          <p:nvPr/>
        </p:nvSpPr>
        <p:spPr>
          <a:xfrm>
            <a:off x="2071393" y="25522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View2</a:t>
            </a:r>
            <a:endParaRPr sz="1200"/>
          </a:p>
        </p:txBody>
      </p:sp>
      <p:sp>
        <p:nvSpPr>
          <p:cNvPr id="462" name="Google Shape;462;p55"/>
          <p:cNvSpPr txBox="1"/>
          <p:nvPr/>
        </p:nvSpPr>
        <p:spPr>
          <a:xfrm>
            <a:off x="4885900" y="1821526"/>
            <a:ext cx="1432800" cy="376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Vùng mức đỉnh</a:t>
            </a:r>
            <a:endParaRPr/>
          </a:p>
        </p:txBody>
      </p:sp>
      <p:sp>
        <p:nvSpPr>
          <p:cNvPr id="463" name="Google Shape;463;p55"/>
          <p:cNvSpPr/>
          <p:nvPr/>
        </p:nvSpPr>
        <p:spPr>
          <a:xfrm>
            <a:off x="4821250" y="2318175"/>
            <a:ext cx="1679700" cy="10578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5"/>
          <p:cNvSpPr txBox="1"/>
          <p:nvPr/>
        </p:nvSpPr>
        <p:spPr>
          <a:xfrm>
            <a:off x="5038300" y="2126325"/>
            <a:ext cx="1280400" cy="376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Phân vùng 1</a:t>
            </a:r>
            <a:endParaRPr/>
          </a:p>
        </p:txBody>
      </p:sp>
      <p:sp>
        <p:nvSpPr>
          <p:cNvPr id="465" name="Google Shape;465;p55"/>
          <p:cNvSpPr/>
          <p:nvPr/>
        </p:nvSpPr>
        <p:spPr>
          <a:xfrm>
            <a:off x="6726250" y="2318175"/>
            <a:ext cx="1679700" cy="10578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5"/>
          <p:cNvSpPr txBox="1"/>
          <p:nvPr/>
        </p:nvSpPr>
        <p:spPr>
          <a:xfrm>
            <a:off x="6943300" y="2126325"/>
            <a:ext cx="1280400" cy="376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Phân vùng 2</a:t>
            </a:r>
            <a:endParaRPr/>
          </a:p>
        </p:txBody>
      </p:sp>
      <p:sp>
        <p:nvSpPr>
          <p:cNvPr id="467" name="Google Shape;467;p55"/>
          <p:cNvSpPr/>
          <p:nvPr/>
        </p:nvSpPr>
        <p:spPr>
          <a:xfrm>
            <a:off x="4668850" y="4299375"/>
            <a:ext cx="2534400" cy="17268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5"/>
          <p:cNvSpPr/>
          <p:nvPr/>
        </p:nvSpPr>
        <p:spPr>
          <a:xfrm>
            <a:off x="721100" y="4381000"/>
            <a:ext cx="2534400" cy="1560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5"/>
          <p:cNvSpPr/>
          <p:nvPr/>
        </p:nvSpPr>
        <p:spPr>
          <a:xfrm>
            <a:off x="718625" y="4381000"/>
            <a:ext cx="2534400" cy="2553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a:t>
            </a:r>
            <a:r>
              <a:rPr lang="en-GB"/>
              <a:t>XOR] TopView</a:t>
            </a:r>
            <a:endParaRPr/>
          </a:p>
        </p:txBody>
      </p:sp>
      <p:sp>
        <p:nvSpPr>
          <p:cNvPr id="470" name="Google Shape;470;p55"/>
          <p:cNvSpPr/>
          <p:nvPr/>
        </p:nvSpPr>
        <p:spPr>
          <a:xfrm>
            <a:off x="872177" y="48382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5"/>
          <p:cNvSpPr/>
          <p:nvPr/>
        </p:nvSpPr>
        <p:spPr>
          <a:xfrm>
            <a:off x="871025" y="48382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View1</a:t>
            </a:r>
            <a:endParaRPr sz="1200"/>
          </a:p>
        </p:txBody>
      </p:sp>
      <p:sp>
        <p:nvSpPr>
          <p:cNvPr id="472" name="Google Shape;472;p55"/>
          <p:cNvSpPr/>
          <p:nvPr/>
        </p:nvSpPr>
        <p:spPr>
          <a:xfrm>
            <a:off x="2072545" y="48382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5"/>
          <p:cNvSpPr/>
          <p:nvPr/>
        </p:nvSpPr>
        <p:spPr>
          <a:xfrm>
            <a:off x="2071393" y="48382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View2</a:t>
            </a:r>
            <a:endParaRPr sz="1200"/>
          </a:p>
        </p:txBody>
      </p:sp>
      <p:sp>
        <p:nvSpPr>
          <p:cNvPr id="474" name="Google Shape;474;p55"/>
          <p:cNvSpPr txBox="1"/>
          <p:nvPr/>
        </p:nvSpPr>
        <p:spPr>
          <a:xfrm>
            <a:off x="4885900" y="4107526"/>
            <a:ext cx="1432800" cy="376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Vùng mức đỉnh</a:t>
            </a:r>
            <a:endParaRPr/>
          </a:p>
        </p:txBody>
      </p:sp>
      <p:sp>
        <p:nvSpPr>
          <p:cNvPr id="475" name="Google Shape;475;p55"/>
          <p:cNvSpPr/>
          <p:nvPr/>
        </p:nvSpPr>
        <p:spPr>
          <a:xfrm>
            <a:off x="4821250" y="4832775"/>
            <a:ext cx="2043000" cy="10578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5"/>
          <p:cNvSpPr/>
          <p:nvPr/>
        </p:nvSpPr>
        <p:spPr>
          <a:xfrm>
            <a:off x="5338870" y="4609025"/>
            <a:ext cx="388575" cy="230750"/>
          </a:xfrm>
          <a:custGeom>
            <a:rect b="b" l="l" r="r" t="t"/>
            <a:pathLst>
              <a:path extrusionOk="0" h="9230" w="15543">
                <a:moveTo>
                  <a:pt x="485" y="9230"/>
                </a:moveTo>
                <a:lnTo>
                  <a:pt x="0" y="0"/>
                </a:lnTo>
                <a:lnTo>
                  <a:pt x="12143" y="0"/>
                </a:lnTo>
                <a:lnTo>
                  <a:pt x="15543" y="8744"/>
                </a:lnTo>
                <a:close/>
              </a:path>
            </a:pathLst>
          </a:custGeom>
          <a:solidFill>
            <a:schemeClr val="lt2"/>
          </a:solidFill>
          <a:ln cap="flat" cmpd="sng" w="9525">
            <a:solidFill>
              <a:schemeClr val="dk2"/>
            </a:solidFill>
            <a:prstDash val="solid"/>
            <a:round/>
            <a:headEnd len="med" w="med" type="none"/>
            <a:tailEnd len="med" w="med" type="none"/>
          </a:ln>
        </p:spPr>
      </p:sp>
      <p:sp>
        <p:nvSpPr>
          <p:cNvPr id="477" name="Google Shape;477;p55"/>
          <p:cNvSpPr/>
          <p:nvPr/>
        </p:nvSpPr>
        <p:spPr>
          <a:xfrm>
            <a:off x="4994300" y="4609025"/>
            <a:ext cx="388575" cy="230750"/>
          </a:xfrm>
          <a:custGeom>
            <a:rect b="b" l="l" r="r" t="t"/>
            <a:pathLst>
              <a:path extrusionOk="0" h="9230" w="15543">
                <a:moveTo>
                  <a:pt x="485" y="9230"/>
                </a:moveTo>
                <a:lnTo>
                  <a:pt x="0" y="0"/>
                </a:lnTo>
                <a:lnTo>
                  <a:pt x="12143" y="0"/>
                </a:lnTo>
                <a:lnTo>
                  <a:pt x="15543" y="8744"/>
                </a:lnTo>
                <a:close/>
              </a:path>
            </a:pathLst>
          </a:custGeom>
          <a:solidFill>
            <a:schemeClr val="lt1"/>
          </a:solidFill>
          <a:ln cap="flat" cmpd="sng" w="9525">
            <a:solidFill>
              <a:schemeClr val="dk2"/>
            </a:solidFill>
            <a:prstDash val="solid"/>
            <a:round/>
            <a:headEnd len="med" w="med" type="none"/>
            <a:tailEnd len="med" w="med" type="none"/>
          </a:ln>
        </p:spPr>
      </p:sp>
      <p:sp>
        <p:nvSpPr>
          <p:cNvPr id="478" name="Google Shape;478;p55"/>
          <p:cNvSpPr txBox="1"/>
          <p:nvPr/>
        </p:nvSpPr>
        <p:spPr>
          <a:xfrm>
            <a:off x="4945718" y="4536175"/>
            <a:ext cx="449400" cy="3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Một</a:t>
            </a:r>
            <a:endParaRPr sz="1200"/>
          </a:p>
        </p:txBody>
      </p:sp>
      <p:sp>
        <p:nvSpPr>
          <p:cNvPr id="479" name="Google Shape;479;p55"/>
          <p:cNvSpPr txBox="1"/>
          <p:nvPr/>
        </p:nvSpPr>
        <p:spPr>
          <a:xfrm>
            <a:off x="5290288" y="4536175"/>
            <a:ext cx="449400" cy="3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Hai</a:t>
            </a:r>
            <a:endParaRPr sz="1200"/>
          </a:p>
        </p:txBody>
      </p:sp>
      <p:sp>
        <p:nvSpPr>
          <p:cNvPr id="480" name="Google Shape;480;p55"/>
          <p:cNvSpPr txBox="1"/>
          <p:nvPr/>
        </p:nvSpPr>
        <p:spPr>
          <a:xfrm>
            <a:off x="4945725" y="4917175"/>
            <a:ext cx="10494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Một</a:t>
            </a:r>
            <a:endParaRPr sz="1600"/>
          </a:p>
        </p:txBody>
      </p:sp>
      <p:sp>
        <p:nvSpPr>
          <p:cNvPr id="481" name="Google Shape;481;p55"/>
          <p:cNvSpPr txBox="1"/>
          <p:nvPr/>
        </p:nvSpPr>
        <p:spPr>
          <a:xfrm>
            <a:off x="741975" y="3691600"/>
            <a:ext cx="25110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Đồng thời</a:t>
            </a:r>
            <a:endParaRPr/>
          </a:p>
        </p:txBody>
      </p:sp>
      <p:sp>
        <p:nvSpPr>
          <p:cNvPr id="482" name="Google Shape;482;p55"/>
          <p:cNvSpPr txBox="1"/>
          <p:nvPr/>
        </p:nvSpPr>
        <p:spPr>
          <a:xfrm>
            <a:off x="741975" y="5977600"/>
            <a:ext cx="25110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Loại trừ</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6"/>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thuộc tính của phân vùng</a:t>
            </a:r>
            <a:endParaRPr/>
          </a:p>
        </p:txBody>
      </p:sp>
      <p:sp>
        <p:nvSpPr>
          <p:cNvPr id="488" name="Google Shape;488;p56"/>
          <p:cNvSpPr txBox="1"/>
          <p:nvPr>
            <p:ph idx="4294967295" type="body"/>
          </p:nvPr>
        </p:nvSpPr>
        <p:spPr>
          <a:xfrm>
            <a:off x="311700" y="950475"/>
            <a:ext cx="8520600" cy="26805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Phân vùng mặc định - Được chọn để hiển thị nếu không có quy ước cụ thể khác khi phân vùng chứa nó được kích hoạt. Được ký hiệu bằng ký tự D.</a:t>
            </a:r>
            <a:endParaRPr/>
          </a:p>
          <a:p>
            <a:pPr indent="-381000" lvl="0" marL="457200" rtl="0" algn="just">
              <a:spcBef>
                <a:spcPts val="0"/>
              </a:spcBef>
              <a:spcAft>
                <a:spcPts val="0"/>
              </a:spcAft>
              <a:buSzPts val="2400"/>
              <a:buChar char="●"/>
            </a:pPr>
            <a:r>
              <a:rPr lang="en-GB"/>
              <a:t>Phân vùng </a:t>
            </a:r>
            <a:r>
              <a:rPr lang="en-GB"/>
              <a:t>đánh dấu</a:t>
            </a:r>
            <a:r>
              <a:rPr lang="en-GB"/>
              <a:t> - Có thể hướng tới từ bất kỳ phân vùng nào nằm trong phân vùng chứa nó. Được ký hiệu bằng ký tự L.</a:t>
            </a:r>
            <a:endParaRPr/>
          </a:p>
        </p:txBody>
      </p:sp>
      <p:sp>
        <p:nvSpPr>
          <p:cNvPr id="489" name="Google Shape;489;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90" name="Google Shape;490;p56"/>
          <p:cNvSpPr/>
          <p:nvPr/>
        </p:nvSpPr>
        <p:spPr>
          <a:xfrm>
            <a:off x="569197" y="3771400"/>
            <a:ext cx="3042900" cy="26805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6"/>
          <p:cNvSpPr/>
          <p:nvPr/>
        </p:nvSpPr>
        <p:spPr>
          <a:xfrm>
            <a:off x="566225" y="3771400"/>
            <a:ext cx="3042900" cy="30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[XOR] Top</a:t>
            </a:r>
            <a:endParaRPr/>
          </a:p>
        </p:txBody>
      </p:sp>
      <p:sp>
        <p:nvSpPr>
          <p:cNvPr id="492" name="Google Shape;492;p56"/>
          <p:cNvSpPr/>
          <p:nvPr/>
        </p:nvSpPr>
        <p:spPr>
          <a:xfrm>
            <a:off x="719777" y="42286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6"/>
          <p:cNvSpPr/>
          <p:nvPr/>
        </p:nvSpPr>
        <p:spPr>
          <a:xfrm>
            <a:off x="718625" y="42286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[D] [L] One</a:t>
            </a:r>
            <a:endParaRPr sz="1200"/>
          </a:p>
        </p:txBody>
      </p:sp>
      <p:sp>
        <p:nvSpPr>
          <p:cNvPr id="494" name="Google Shape;494;p56"/>
          <p:cNvSpPr/>
          <p:nvPr/>
        </p:nvSpPr>
        <p:spPr>
          <a:xfrm>
            <a:off x="2301145" y="42286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6"/>
          <p:cNvSpPr/>
          <p:nvPr/>
        </p:nvSpPr>
        <p:spPr>
          <a:xfrm>
            <a:off x="2299993" y="42286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[L] Two</a:t>
            </a:r>
            <a:endParaRPr sz="1200"/>
          </a:p>
        </p:txBody>
      </p:sp>
      <p:sp>
        <p:nvSpPr>
          <p:cNvPr id="496" name="Google Shape;496;p56"/>
          <p:cNvSpPr/>
          <p:nvPr/>
        </p:nvSpPr>
        <p:spPr>
          <a:xfrm>
            <a:off x="719777" y="53716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6"/>
          <p:cNvSpPr/>
          <p:nvPr/>
        </p:nvSpPr>
        <p:spPr>
          <a:xfrm>
            <a:off x="718625" y="53716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[L] Three</a:t>
            </a:r>
            <a:endParaRPr sz="1200"/>
          </a:p>
        </p:txBody>
      </p:sp>
      <p:sp>
        <p:nvSpPr>
          <p:cNvPr id="498" name="Google Shape;498;p56"/>
          <p:cNvSpPr/>
          <p:nvPr/>
        </p:nvSpPr>
        <p:spPr>
          <a:xfrm>
            <a:off x="2301145" y="53716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6"/>
          <p:cNvSpPr/>
          <p:nvPr/>
        </p:nvSpPr>
        <p:spPr>
          <a:xfrm>
            <a:off x="2299993" y="53716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[L] Four</a:t>
            </a:r>
            <a:endParaRPr sz="1200"/>
          </a:p>
        </p:txBody>
      </p:sp>
      <p:sp>
        <p:nvSpPr>
          <p:cNvPr id="500" name="Google Shape;500;p56"/>
          <p:cNvSpPr/>
          <p:nvPr/>
        </p:nvSpPr>
        <p:spPr>
          <a:xfrm>
            <a:off x="5674597" y="3771400"/>
            <a:ext cx="3042900" cy="26805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6"/>
          <p:cNvSpPr/>
          <p:nvPr/>
        </p:nvSpPr>
        <p:spPr>
          <a:xfrm>
            <a:off x="5671625" y="3771400"/>
            <a:ext cx="3042900" cy="30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[XOR] Top</a:t>
            </a:r>
            <a:endParaRPr/>
          </a:p>
        </p:txBody>
      </p:sp>
      <p:sp>
        <p:nvSpPr>
          <p:cNvPr id="502" name="Google Shape;502;p56"/>
          <p:cNvSpPr/>
          <p:nvPr/>
        </p:nvSpPr>
        <p:spPr>
          <a:xfrm>
            <a:off x="5825011" y="4228600"/>
            <a:ext cx="897900" cy="779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6"/>
          <p:cNvSpPr/>
          <p:nvPr/>
        </p:nvSpPr>
        <p:spPr>
          <a:xfrm>
            <a:off x="5824025" y="4228600"/>
            <a:ext cx="897900" cy="179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[D] One</a:t>
            </a:r>
            <a:endParaRPr sz="1200"/>
          </a:p>
        </p:txBody>
      </p:sp>
      <p:sp>
        <p:nvSpPr>
          <p:cNvPr id="504" name="Google Shape;504;p56"/>
          <p:cNvSpPr/>
          <p:nvPr/>
        </p:nvSpPr>
        <p:spPr>
          <a:xfrm>
            <a:off x="7558896" y="4228600"/>
            <a:ext cx="897900" cy="779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56"/>
          <p:cNvSpPr/>
          <p:nvPr/>
        </p:nvSpPr>
        <p:spPr>
          <a:xfrm>
            <a:off x="7557911" y="4228600"/>
            <a:ext cx="897900" cy="179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Two</a:t>
            </a:r>
            <a:endParaRPr sz="1200"/>
          </a:p>
        </p:txBody>
      </p:sp>
      <p:sp>
        <p:nvSpPr>
          <p:cNvPr id="506" name="Google Shape;506;p56"/>
          <p:cNvSpPr/>
          <p:nvPr/>
        </p:nvSpPr>
        <p:spPr>
          <a:xfrm>
            <a:off x="5825011" y="5472681"/>
            <a:ext cx="897900" cy="779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56"/>
          <p:cNvSpPr/>
          <p:nvPr/>
        </p:nvSpPr>
        <p:spPr>
          <a:xfrm>
            <a:off x="5824025" y="5472681"/>
            <a:ext cx="897900" cy="179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Threre</a:t>
            </a:r>
            <a:endParaRPr sz="1200"/>
          </a:p>
        </p:txBody>
      </p:sp>
      <p:sp>
        <p:nvSpPr>
          <p:cNvPr id="508" name="Google Shape;508;p56"/>
          <p:cNvSpPr/>
          <p:nvPr/>
        </p:nvSpPr>
        <p:spPr>
          <a:xfrm>
            <a:off x="7558896" y="5472681"/>
            <a:ext cx="897900" cy="779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6"/>
          <p:cNvSpPr/>
          <p:nvPr/>
        </p:nvSpPr>
        <p:spPr>
          <a:xfrm>
            <a:off x="7557911" y="5472681"/>
            <a:ext cx="897900" cy="179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Four</a:t>
            </a:r>
            <a:endParaRPr sz="1200"/>
          </a:p>
        </p:txBody>
      </p:sp>
      <p:sp>
        <p:nvSpPr>
          <p:cNvPr id="510" name="Google Shape;510;p56"/>
          <p:cNvSpPr/>
          <p:nvPr/>
        </p:nvSpPr>
        <p:spPr>
          <a:xfrm>
            <a:off x="6646700" y="430480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56"/>
          <p:cNvSpPr/>
          <p:nvPr/>
        </p:nvSpPr>
        <p:spPr>
          <a:xfrm>
            <a:off x="6650039" y="468580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6"/>
          <p:cNvSpPr/>
          <p:nvPr/>
        </p:nvSpPr>
        <p:spPr>
          <a:xfrm>
            <a:off x="7488239" y="449363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56"/>
          <p:cNvSpPr/>
          <p:nvPr/>
        </p:nvSpPr>
        <p:spPr>
          <a:xfrm>
            <a:off x="7540153" y="4938687"/>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6"/>
          <p:cNvSpPr/>
          <p:nvPr/>
        </p:nvSpPr>
        <p:spPr>
          <a:xfrm>
            <a:off x="8225953" y="4938687"/>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6"/>
          <p:cNvSpPr/>
          <p:nvPr/>
        </p:nvSpPr>
        <p:spPr>
          <a:xfrm>
            <a:off x="7997353" y="5395887"/>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56"/>
          <p:cNvSpPr/>
          <p:nvPr/>
        </p:nvSpPr>
        <p:spPr>
          <a:xfrm>
            <a:off x="7491579" y="5395887"/>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6"/>
          <p:cNvSpPr/>
          <p:nvPr/>
        </p:nvSpPr>
        <p:spPr>
          <a:xfrm>
            <a:off x="7491579" y="6005487"/>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56"/>
          <p:cNvSpPr/>
          <p:nvPr/>
        </p:nvSpPr>
        <p:spPr>
          <a:xfrm>
            <a:off x="6653379" y="5776887"/>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56"/>
          <p:cNvSpPr/>
          <p:nvPr/>
        </p:nvSpPr>
        <p:spPr>
          <a:xfrm>
            <a:off x="6653379" y="5532804"/>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56"/>
          <p:cNvSpPr/>
          <p:nvPr/>
        </p:nvSpPr>
        <p:spPr>
          <a:xfrm>
            <a:off x="6424779" y="4935347"/>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6"/>
          <p:cNvSpPr/>
          <p:nvPr/>
        </p:nvSpPr>
        <p:spPr>
          <a:xfrm>
            <a:off x="5967579" y="5392547"/>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2" name="Google Shape;522;p56"/>
          <p:cNvCxnSpPr>
            <a:stCxn id="510" idx="6"/>
          </p:cNvCxnSpPr>
          <p:nvPr/>
        </p:nvCxnSpPr>
        <p:spPr>
          <a:xfrm>
            <a:off x="6785000" y="4370200"/>
            <a:ext cx="756300" cy="0"/>
          </a:xfrm>
          <a:prstGeom prst="straightConnector1">
            <a:avLst/>
          </a:prstGeom>
          <a:noFill/>
          <a:ln cap="flat" cmpd="sng" w="9525">
            <a:solidFill>
              <a:schemeClr val="dk2"/>
            </a:solidFill>
            <a:prstDash val="solid"/>
            <a:round/>
            <a:headEnd len="med" w="med" type="none"/>
            <a:tailEnd len="med" w="med" type="triangle"/>
          </a:ln>
        </p:spPr>
      </p:cxnSp>
      <p:cxnSp>
        <p:nvCxnSpPr>
          <p:cNvPr id="523" name="Google Shape;523;p56"/>
          <p:cNvCxnSpPr>
            <a:stCxn id="512" idx="2"/>
          </p:cNvCxnSpPr>
          <p:nvPr/>
        </p:nvCxnSpPr>
        <p:spPr>
          <a:xfrm rot="10800000">
            <a:off x="6715739" y="4559030"/>
            <a:ext cx="772500" cy="0"/>
          </a:xfrm>
          <a:prstGeom prst="straightConnector1">
            <a:avLst/>
          </a:prstGeom>
          <a:noFill/>
          <a:ln cap="flat" cmpd="sng" w="9525">
            <a:solidFill>
              <a:schemeClr val="dk2"/>
            </a:solidFill>
            <a:prstDash val="solid"/>
            <a:round/>
            <a:headEnd len="med" w="med" type="none"/>
            <a:tailEnd len="med" w="med" type="triangle"/>
          </a:ln>
        </p:spPr>
      </p:cxnSp>
      <p:cxnSp>
        <p:nvCxnSpPr>
          <p:cNvPr id="524" name="Google Shape;524;p56"/>
          <p:cNvCxnSpPr>
            <a:stCxn id="515" idx="0"/>
          </p:cNvCxnSpPr>
          <p:nvPr/>
        </p:nvCxnSpPr>
        <p:spPr>
          <a:xfrm rot="10800000">
            <a:off x="8066503" y="5003187"/>
            <a:ext cx="0" cy="392700"/>
          </a:xfrm>
          <a:prstGeom prst="straightConnector1">
            <a:avLst/>
          </a:prstGeom>
          <a:noFill/>
          <a:ln cap="flat" cmpd="sng" w="9525">
            <a:solidFill>
              <a:schemeClr val="dk2"/>
            </a:solidFill>
            <a:prstDash val="solid"/>
            <a:round/>
            <a:headEnd len="med" w="med" type="none"/>
            <a:tailEnd len="med" w="med" type="triangle"/>
          </a:ln>
        </p:spPr>
      </p:cxnSp>
      <p:cxnSp>
        <p:nvCxnSpPr>
          <p:cNvPr id="525" name="Google Shape;525;p56"/>
          <p:cNvCxnSpPr>
            <a:stCxn id="514" idx="4"/>
          </p:cNvCxnSpPr>
          <p:nvPr/>
        </p:nvCxnSpPr>
        <p:spPr>
          <a:xfrm>
            <a:off x="8295103" y="5069487"/>
            <a:ext cx="0" cy="395100"/>
          </a:xfrm>
          <a:prstGeom prst="straightConnector1">
            <a:avLst/>
          </a:prstGeom>
          <a:noFill/>
          <a:ln cap="flat" cmpd="sng" w="9525">
            <a:solidFill>
              <a:schemeClr val="dk2"/>
            </a:solidFill>
            <a:prstDash val="solid"/>
            <a:round/>
            <a:headEnd len="med" w="med" type="none"/>
            <a:tailEnd len="med" w="med" type="triangle"/>
          </a:ln>
        </p:spPr>
      </p:cxnSp>
      <p:cxnSp>
        <p:nvCxnSpPr>
          <p:cNvPr id="526" name="Google Shape;526;p56"/>
          <p:cNvCxnSpPr>
            <a:stCxn id="511" idx="6"/>
          </p:cNvCxnSpPr>
          <p:nvPr/>
        </p:nvCxnSpPr>
        <p:spPr>
          <a:xfrm>
            <a:off x="6788339" y="4751200"/>
            <a:ext cx="1068900" cy="701100"/>
          </a:xfrm>
          <a:prstGeom prst="straightConnector1">
            <a:avLst/>
          </a:prstGeom>
          <a:noFill/>
          <a:ln cap="flat" cmpd="sng" w="9525">
            <a:solidFill>
              <a:schemeClr val="dk2"/>
            </a:solidFill>
            <a:prstDash val="solid"/>
            <a:round/>
            <a:headEnd len="med" w="med" type="none"/>
            <a:tailEnd len="med" w="med" type="triangle"/>
          </a:ln>
        </p:spPr>
      </p:cxnSp>
      <p:cxnSp>
        <p:nvCxnSpPr>
          <p:cNvPr id="527" name="Google Shape;527;p56"/>
          <p:cNvCxnSpPr>
            <a:stCxn id="516" idx="1"/>
          </p:cNvCxnSpPr>
          <p:nvPr/>
        </p:nvCxnSpPr>
        <p:spPr>
          <a:xfrm rot="10800000">
            <a:off x="6739932" y="4893942"/>
            <a:ext cx="771900" cy="521100"/>
          </a:xfrm>
          <a:prstGeom prst="straightConnector1">
            <a:avLst/>
          </a:prstGeom>
          <a:noFill/>
          <a:ln cap="flat" cmpd="sng" w="9525">
            <a:solidFill>
              <a:schemeClr val="dk2"/>
            </a:solidFill>
            <a:prstDash val="solid"/>
            <a:round/>
            <a:headEnd len="med" w="med" type="none"/>
            <a:tailEnd len="med" w="med" type="triangle"/>
          </a:ln>
        </p:spPr>
      </p:cxnSp>
      <p:cxnSp>
        <p:nvCxnSpPr>
          <p:cNvPr id="528" name="Google Shape;528;p56"/>
          <p:cNvCxnSpPr>
            <a:stCxn id="513" idx="3"/>
          </p:cNvCxnSpPr>
          <p:nvPr/>
        </p:nvCxnSpPr>
        <p:spPr>
          <a:xfrm flipH="1">
            <a:off x="6667006" y="5050332"/>
            <a:ext cx="893400" cy="414300"/>
          </a:xfrm>
          <a:prstGeom prst="straightConnector1">
            <a:avLst/>
          </a:prstGeom>
          <a:noFill/>
          <a:ln cap="flat" cmpd="sng" w="9525">
            <a:solidFill>
              <a:schemeClr val="dk2"/>
            </a:solidFill>
            <a:prstDash val="solid"/>
            <a:round/>
            <a:headEnd len="med" w="med" type="none"/>
            <a:tailEnd len="med" w="med" type="triangle"/>
          </a:ln>
        </p:spPr>
      </p:cxnSp>
      <p:cxnSp>
        <p:nvCxnSpPr>
          <p:cNvPr id="529" name="Google Shape;529;p56"/>
          <p:cNvCxnSpPr>
            <a:stCxn id="519" idx="6"/>
          </p:cNvCxnSpPr>
          <p:nvPr/>
        </p:nvCxnSpPr>
        <p:spPr>
          <a:xfrm flipH="1" rot="10800000">
            <a:off x="6791679" y="5039604"/>
            <a:ext cx="1126200" cy="558600"/>
          </a:xfrm>
          <a:prstGeom prst="straightConnector1">
            <a:avLst/>
          </a:prstGeom>
          <a:noFill/>
          <a:ln cap="flat" cmpd="sng" w="9525">
            <a:solidFill>
              <a:schemeClr val="dk2"/>
            </a:solidFill>
            <a:prstDash val="solid"/>
            <a:round/>
            <a:headEnd len="med" w="med" type="none"/>
            <a:tailEnd len="med" w="med" type="triangle"/>
          </a:ln>
        </p:spPr>
      </p:cxnSp>
      <p:cxnSp>
        <p:nvCxnSpPr>
          <p:cNvPr id="530" name="Google Shape;530;p56"/>
          <p:cNvCxnSpPr>
            <a:stCxn id="518" idx="6"/>
          </p:cNvCxnSpPr>
          <p:nvPr/>
        </p:nvCxnSpPr>
        <p:spPr>
          <a:xfrm>
            <a:off x="6791679" y="5842287"/>
            <a:ext cx="774000" cy="0"/>
          </a:xfrm>
          <a:prstGeom prst="straightConnector1">
            <a:avLst/>
          </a:prstGeom>
          <a:noFill/>
          <a:ln cap="flat" cmpd="sng" w="9525">
            <a:solidFill>
              <a:schemeClr val="dk2"/>
            </a:solidFill>
            <a:prstDash val="solid"/>
            <a:round/>
            <a:headEnd len="med" w="med" type="none"/>
            <a:tailEnd len="med" w="med" type="triangle"/>
          </a:ln>
        </p:spPr>
      </p:cxnSp>
      <p:cxnSp>
        <p:nvCxnSpPr>
          <p:cNvPr id="531" name="Google Shape;531;p56"/>
          <p:cNvCxnSpPr>
            <a:stCxn id="517" idx="2"/>
          </p:cNvCxnSpPr>
          <p:nvPr/>
        </p:nvCxnSpPr>
        <p:spPr>
          <a:xfrm rot="10800000">
            <a:off x="6703479" y="6070887"/>
            <a:ext cx="788100" cy="0"/>
          </a:xfrm>
          <a:prstGeom prst="straightConnector1">
            <a:avLst/>
          </a:prstGeom>
          <a:noFill/>
          <a:ln cap="flat" cmpd="sng" w="9525">
            <a:solidFill>
              <a:schemeClr val="dk2"/>
            </a:solidFill>
            <a:prstDash val="solid"/>
            <a:round/>
            <a:headEnd len="med" w="med" type="none"/>
            <a:tailEnd len="med" w="med" type="triangle"/>
          </a:ln>
        </p:spPr>
      </p:cxnSp>
      <p:cxnSp>
        <p:nvCxnSpPr>
          <p:cNvPr id="532" name="Google Shape;532;p56"/>
          <p:cNvCxnSpPr>
            <a:stCxn id="521" idx="0"/>
          </p:cNvCxnSpPr>
          <p:nvPr/>
        </p:nvCxnSpPr>
        <p:spPr>
          <a:xfrm flipH="1" rot="10800000">
            <a:off x="6036729" y="5003147"/>
            <a:ext cx="900" cy="389400"/>
          </a:xfrm>
          <a:prstGeom prst="straightConnector1">
            <a:avLst/>
          </a:prstGeom>
          <a:noFill/>
          <a:ln cap="flat" cmpd="sng" w="9525">
            <a:solidFill>
              <a:schemeClr val="dk2"/>
            </a:solidFill>
            <a:prstDash val="solid"/>
            <a:round/>
            <a:headEnd len="med" w="med" type="none"/>
            <a:tailEnd len="med" w="med" type="triangle"/>
          </a:ln>
        </p:spPr>
      </p:cxnSp>
      <p:cxnSp>
        <p:nvCxnSpPr>
          <p:cNvPr id="533" name="Google Shape;533;p56"/>
          <p:cNvCxnSpPr>
            <a:stCxn id="520" idx="4"/>
          </p:cNvCxnSpPr>
          <p:nvPr/>
        </p:nvCxnSpPr>
        <p:spPr>
          <a:xfrm>
            <a:off x="6493929" y="5066147"/>
            <a:ext cx="0" cy="398400"/>
          </a:xfrm>
          <a:prstGeom prst="straightConnector1">
            <a:avLst/>
          </a:prstGeom>
          <a:noFill/>
          <a:ln cap="flat" cmpd="sng" w="9525">
            <a:solidFill>
              <a:schemeClr val="dk2"/>
            </a:solidFill>
            <a:prstDash val="solid"/>
            <a:round/>
            <a:headEnd len="med" w="med" type="none"/>
            <a:tailEnd len="med" w="med" type="triangle"/>
          </a:ln>
        </p:spPr>
      </p:cxnSp>
      <p:sp>
        <p:nvSpPr>
          <p:cNvPr id="534" name="Google Shape;534;p56"/>
          <p:cNvSpPr txBox="1"/>
          <p:nvPr/>
        </p:nvSpPr>
        <p:spPr>
          <a:xfrm>
            <a:off x="3694475" y="4933450"/>
            <a:ext cx="2097000" cy="5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&lt; tương đương &gt;</a:t>
            </a:r>
            <a:endParaRPr sz="1800">
              <a:solidFill>
                <a:schemeClr val="dk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40" name="Google Shape;540;p57"/>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thuộc tính của phân vùng</a:t>
            </a:r>
            <a:r>
              <a:rPr baseline="-25000" lang="en-GB"/>
              <a:t>(2)</a:t>
            </a:r>
            <a:endParaRPr baseline="-25000"/>
          </a:p>
        </p:txBody>
      </p:sp>
      <p:sp>
        <p:nvSpPr>
          <p:cNvPr id="541" name="Google Shape;541;p57"/>
          <p:cNvSpPr/>
          <p:nvPr/>
        </p:nvSpPr>
        <p:spPr>
          <a:xfrm>
            <a:off x="490025" y="1409200"/>
            <a:ext cx="3167400" cy="3435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7"/>
          <p:cNvSpPr/>
          <p:nvPr/>
        </p:nvSpPr>
        <p:spPr>
          <a:xfrm>
            <a:off x="490025" y="1409200"/>
            <a:ext cx="3167400" cy="30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[XOR] Top</a:t>
            </a:r>
            <a:endParaRPr/>
          </a:p>
        </p:txBody>
      </p:sp>
      <p:sp>
        <p:nvSpPr>
          <p:cNvPr id="543" name="Google Shape;543;p57"/>
          <p:cNvSpPr/>
          <p:nvPr/>
        </p:nvSpPr>
        <p:spPr>
          <a:xfrm>
            <a:off x="643577" y="20188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7"/>
          <p:cNvSpPr/>
          <p:nvPr/>
        </p:nvSpPr>
        <p:spPr>
          <a:xfrm>
            <a:off x="642425" y="20188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[D] [L] One</a:t>
            </a:r>
            <a:endParaRPr sz="1200"/>
          </a:p>
        </p:txBody>
      </p:sp>
      <p:sp>
        <p:nvSpPr>
          <p:cNvPr id="545" name="Google Shape;545;p57"/>
          <p:cNvSpPr/>
          <p:nvPr/>
        </p:nvSpPr>
        <p:spPr>
          <a:xfrm>
            <a:off x="2149038" y="2018800"/>
            <a:ext cx="1307700" cy="24810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57"/>
          <p:cNvSpPr/>
          <p:nvPr/>
        </p:nvSpPr>
        <p:spPr>
          <a:xfrm>
            <a:off x="2147600" y="2018800"/>
            <a:ext cx="1307700" cy="30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[L] Two</a:t>
            </a:r>
            <a:endParaRPr sz="1200"/>
          </a:p>
        </p:txBody>
      </p:sp>
      <p:sp>
        <p:nvSpPr>
          <p:cNvPr id="547" name="Google Shape;547;p57"/>
          <p:cNvSpPr/>
          <p:nvPr/>
        </p:nvSpPr>
        <p:spPr>
          <a:xfrm>
            <a:off x="2319977" y="24760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57"/>
          <p:cNvSpPr/>
          <p:nvPr/>
        </p:nvSpPr>
        <p:spPr>
          <a:xfrm>
            <a:off x="2318825" y="24760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[L] Three</a:t>
            </a:r>
            <a:endParaRPr sz="1200"/>
          </a:p>
        </p:txBody>
      </p:sp>
      <p:sp>
        <p:nvSpPr>
          <p:cNvPr id="549" name="Google Shape;549;p57"/>
          <p:cNvSpPr/>
          <p:nvPr/>
        </p:nvSpPr>
        <p:spPr>
          <a:xfrm>
            <a:off x="2301145" y="34666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57"/>
          <p:cNvSpPr/>
          <p:nvPr/>
        </p:nvSpPr>
        <p:spPr>
          <a:xfrm>
            <a:off x="2299993" y="34666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[L] Four</a:t>
            </a:r>
            <a:endParaRPr sz="1200"/>
          </a:p>
        </p:txBody>
      </p:sp>
      <p:sp>
        <p:nvSpPr>
          <p:cNvPr id="551" name="Google Shape;551;p57"/>
          <p:cNvSpPr/>
          <p:nvPr/>
        </p:nvSpPr>
        <p:spPr>
          <a:xfrm>
            <a:off x="4909625" y="1409200"/>
            <a:ext cx="3167400" cy="3435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7"/>
          <p:cNvSpPr/>
          <p:nvPr/>
        </p:nvSpPr>
        <p:spPr>
          <a:xfrm>
            <a:off x="4909625" y="1409200"/>
            <a:ext cx="3167400" cy="30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[XOR] Top</a:t>
            </a:r>
            <a:endParaRPr/>
          </a:p>
        </p:txBody>
      </p:sp>
      <p:sp>
        <p:nvSpPr>
          <p:cNvPr id="553" name="Google Shape;553;p57"/>
          <p:cNvSpPr/>
          <p:nvPr/>
        </p:nvSpPr>
        <p:spPr>
          <a:xfrm>
            <a:off x="5063177" y="20188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7"/>
          <p:cNvSpPr/>
          <p:nvPr/>
        </p:nvSpPr>
        <p:spPr>
          <a:xfrm>
            <a:off x="5062025" y="20188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[D] One</a:t>
            </a:r>
            <a:endParaRPr sz="1200"/>
          </a:p>
        </p:txBody>
      </p:sp>
      <p:sp>
        <p:nvSpPr>
          <p:cNvPr id="555" name="Google Shape;555;p57"/>
          <p:cNvSpPr/>
          <p:nvPr/>
        </p:nvSpPr>
        <p:spPr>
          <a:xfrm>
            <a:off x="6568698" y="2018800"/>
            <a:ext cx="1363200" cy="24810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57"/>
          <p:cNvSpPr/>
          <p:nvPr/>
        </p:nvSpPr>
        <p:spPr>
          <a:xfrm>
            <a:off x="6567200" y="2018800"/>
            <a:ext cx="1363200" cy="30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Two</a:t>
            </a:r>
            <a:endParaRPr sz="1200"/>
          </a:p>
        </p:txBody>
      </p:sp>
      <p:sp>
        <p:nvSpPr>
          <p:cNvPr id="557" name="Google Shape;557;p57"/>
          <p:cNvSpPr/>
          <p:nvPr/>
        </p:nvSpPr>
        <p:spPr>
          <a:xfrm>
            <a:off x="6739577" y="24760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57"/>
          <p:cNvSpPr/>
          <p:nvPr/>
        </p:nvSpPr>
        <p:spPr>
          <a:xfrm>
            <a:off x="6738425" y="24760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Three</a:t>
            </a:r>
            <a:endParaRPr sz="1200"/>
          </a:p>
        </p:txBody>
      </p:sp>
      <p:sp>
        <p:nvSpPr>
          <p:cNvPr id="559" name="Google Shape;559;p57"/>
          <p:cNvSpPr/>
          <p:nvPr/>
        </p:nvSpPr>
        <p:spPr>
          <a:xfrm>
            <a:off x="6720745" y="3466600"/>
            <a:ext cx="1049400" cy="876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57"/>
          <p:cNvSpPr/>
          <p:nvPr/>
        </p:nvSpPr>
        <p:spPr>
          <a:xfrm>
            <a:off x="6719593" y="3466600"/>
            <a:ext cx="1049400" cy="201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t>Four</a:t>
            </a:r>
            <a:endParaRPr sz="1200"/>
          </a:p>
        </p:txBody>
      </p:sp>
      <p:sp>
        <p:nvSpPr>
          <p:cNvPr id="561" name="Google Shape;561;p57"/>
          <p:cNvSpPr/>
          <p:nvPr/>
        </p:nvSpPr>
        <p:spPr>
          <a:xfrm>
            <a:off x="6037100" y="209500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57"/>
          <p:cNvSpPr/>
          <p:nvPr/>
        </p:nvSpPr>
        <p:spPr>
          <a:xfrm>
            <a:off x="6494300" y="239980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7"/>
          <p:cNvSpPr/>
          <p:nvPr/>
        </p:nvSpPr>
        <p:spPr>
          <a:xfrm>
            <a:off x="6646700" y="270460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57"/>
          <p:cNvSpPr/>
          <p:nvPr/>
        </p:nvSpPr>
        <p:spPr>
          <a:xfrm>
            <a:off x="7713500" y="270460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7"/>
          <p:cNvSpPr/>
          <p:nvPr/>
        </p:nvSpPr>
        <p:spPr>
          <a:xfrm>
            <a:off x="6646700" y="384760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7"/>
          <p:cNvSpPr/>
          <p:nvPr/>
        </p:nvSpPr>
        <p:spPr>
          <a:xfrm>
            <a:off x="7713500" y="3847600"/>
            <a:ext cx="138300" cy="1308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7" name="Google Shape;567;p57"/>
          <p:cNvCxnSpPr>
            <a:stCxn id="561" idx="6"/>
          </p:cNvCxnSpPr>
          <p:nvPr/>
        </p:nvCxnSpPr>
        <p:spPr>
          <a:xfrm>
            <a:off x="6175400" y="2160400"/>
            <a:ext cx="406200" cy="0"/>
          </a:xfrm>
          <a:prstGeom prst="straightConnector1">
            <a:avLst/>
          </a:prstGeom>
          <a:noFill/>
          <a:ln cap="flat" cmpd="sng" w="9525">
            <a:solidFill>
              <a:schemeClr val="dk2"/>
            </a:solidFill>
            <a:prstDash val="solid"/>
            <a:round/>
            <a:headEnd len="med" w="med" type="none"/>
            <a:tailEnd len="med" w="med" type="triangle"/>
          </a:ln>
        </p:spPr>
      </p:cxnSp>
      <p:cxnSp>
        <p:nvCxnSpPr>
          <p:cNvPr id="568" name="Google Shape;568;p57"/>
          <p:cNvCxnSpPr>
            <a:stCxn id="562" idx="2"/>
          </p:cNvCxnSpPr>
          <p:nvPr/>
        </p:nvCxnSpPr>
        <p:spPr>
          <a:xfrm rot="10800000">
            <a:off x="6120200" y="2465200"/>
            <a:ext cx="374100" cy="0"/>
          </a:xfrm>
          <a:prstGeom prst="straightConnector1">
            <a:avLst/>
          </a:prstGeom>
          <a:noFill/>
          <a:ln cap="flat" cmpd="sng" w="9525">
            <a:solidFill>
              <a:schemeClr val="dk2"/>
            </a:solidFill>
            <a:prstDash val="solid"/>
            <a:round/>
            <a:headEnd len="med" w="med" type="none"/>
            <a:tailEnd len="med" w="med" type="triangle"/>
          </a:ln>
        </p:spPr>
      </p:cxnSp>
      <p:cxnSp>
        <p:nvCxnSpPr>
          <p:cNvPr id="569" name="Google Shape;569;p57"/>
          <p:cNvCxnSpPr>
            <a:stCxn id="563" idx="2"/>
          </p:cNvCxnSpPr>
          <p:nvPr/>
        </p:nvCxnSpPr>
        <p:spPr>
          <a:xfrm rot="10800000">
            <a:off x="6120200" y="2770000"/>
            <a:ext cx="526500" cy="0"/>
          </a:xfrm>
          <a:prstGeom prst="straightConnector1">
            <a:avLst/>
          </a:prstGeom>
          <a:noFill/>
          <a:ln cap="flat" cmpd="sng" w="9525">
            <a:solidFill>
              <a:schemeClr val="dk2"/>
            </a:solidFill>
            <a:prstDash val="solid"/>
            <a:round/>
            <a:headEnd len="med" w="med" type="none"/>
            <a:tailEnd len="med" w="med" type="triangle"/>
          </a:ln>
        </p:spPr>
      </p:cxnSp>
      <p:cxnSp>
        <p:nvCxnSpPr>
          <p:cNvPr id="570" name="Google Shape;570;p57"/>
          <p:cNvCxnSpPr>
            <a:stCxn id="565" idx="1"/>
          </p:cNvCxnSpPr>
          <p:nvPr/>
        </p:nvCxnSpPr>
        <p:spPr>
          <a:xfrm rot="10800000">
            <a:off x="5889654" y="2914555"/>
            <a:ext cx="777300" cy="952200"/>
          </a:xfrm>
          <a:prstGeom prst="straightConnector1">
            <a:avLst/>
          </a:prstGeom>
          <a:noFill/>
          <a:ln cap="flat" cmpd="sng" w="9525">
            <a:solidFill>
              <a:schemeClr val="dk2"/>
            </a:solidFill>
            <a:prstDash val="solid"/>
            <a:round/>
            <a:headEnd len="med" w="med" type="none"/>
            <a:tailEnd len="med" w="med" type="triangle"/>
          </a:ln>
        </p:spPr>
      </p:cxnSp>
      <p:cxnSp>
        <p:nvCxnSpPr>
          <p:cNvPr id="571" name="Google Shape;571;p57"/>
          <p:cNvCxnSpPr>
            <a:stCxn id="564" idx="6"/>
            <a:endCxn id="556" idx="3"/>
          </p:cNvCxnSpPr>
          <p:nvPr/>
        </p:nvCxnSpPr>
        <p:spPr>
          <a:xfrm flipH="1" rot="10800000">
            <a:off x="7851800" y="2172100"/>
            <a:ext cx="78600" cy="597900"/>
          </a:xfrm>
          <a:prstGeom prst="bentConnector3">
            <a:avLst>
              <a:gd fmla="val 402958" name="adj1"/>
            </a:avLst>
          </a:prstGeom>
          <a:noFill/>
          <a:ln cap="flat" cmpd="sng" w="9525">
            <a:solidFill>
              <a:schemeClr val="dk2"/>
            </a:solidFill>
            <a:prstDash val="solid"/>
            <a:round/>
            <a:headEnd len="med" w="med" type="none"/>
            <a:tailEnd len="med" w="med" type="triangle"/>
          </a:ln>
        </p:spPr>
      </p:cxnSp>
      <p:sp>
        <p:nvSpPr>
          <p:cNvPr id="572" name="Google Shape;572;p57"/>
          <p:cNvSpPr/>
          <p:nvPr/>
        </p:nvSpPr>
        <p:spPr>
          <a:xfrm>
            <a:off x="7832500" y="2052250"/>
            <a:ext cx="582900" cy="1857925"/>
          </a:xfrm>
          <a:custGeom>
            <a:rect b="b" l="l" r="r" t="t"/>
            <a:pathLst>
              <a:path extrusionOk="0" h="74317" w="23316">
                <a:moveTo>
                  <a:pt x="0" y="74317"/>
                </a:moveTo>
                <a:lnTo>
                  <a:pt x="23316" y="73832"/>
                </a:lnTo>
                <a:lnTo>
                  <a:pt x="23316" y="0"/>
                </a:lnTo>
                <a:lnTo>
                  <a:pt x="3886" y="0"/>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78" name="Google Shape;578;p58"/>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Cửa sổ</a:t>
            </a:r>
            <a:endParaRPr/>
          </a:p>
        </p:txBody>
      </p:sp>
      <p:sp>
        <p:nvSpPr>
          <p:cNvPr id="579" name="Google Shape;579;p58"/>
          <p:cNvSpPr txBox="1"/>
          <p:nvPr>
            <p:ph idx="4294967295" type="body"/>
          </p:nvPr>
        </p:nvSpPr>
        <p:spPr>
          <a:xfrm>
            <a:off x="311700" y="950475"/>
            <a:ext cx="8520600" cy="3147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Cửa sổ là 1 loại thành phần khung đặc biệt, có thể được thiết lập chế độ khóa (Modal) hoặc nới lỏng (Modeless). </a:t>
            </a:r>
            <a:endParaRPr/>
          </a:p>
          <a:p>
            <a:pPr indent="-381000" lvl="0" marL="457200" rtl="0" algn="just">
              <a:spcBef>
                <a:spcPts val="0"/>
              </a:spcBef>
              <a:spcAft>
                <a:spcPts val="0"/>
              </a:spcAft>
              <a:buSzPts val="2400"/>
              <a:buChar char="●"/>
            </a:pPr>
            <a:r>
              <a:rPr lang="en-GB"/>
              <a:t>Một cửa sổ khóa được mở sẽ vô hiệu khả năng tương tác với các cửa sổ ở chế độ nền cho tới khi được đóng lại.</a:t>
            </a:r>
            <a:endParaRPr/>
          </a:p>
          <a:p>
            <a:pPr indent="-381000" lvl="0" marL="457200" rtl="0" algn="just">
              <a:spcBef>
                <a:spcPts val="0"/>
              </a:spcBef>
              <a:spcAft>
                <a:spcPts val="0"/>
              </a:spcAft>
              <a:buSzPts val="2400"/>
              <a:buChar char="●"/>
            </a:pPr>
            <a:r>
              <a:rPr lang="en-GB"/>
              <a:t>Một cửa sổ nới lỏng được mở vẫn cho phép tương tác với các thành phần giao diện khác.</a:t>
            </a:r>
            <a:endParaRPr/>
          </a:p>
        </p:txBody>
      </p:sp>
      <p:sp>
        <p:nvSpPr>
          <p:cNvPr id="580" name="Google Shape;580;p58"/>
          <p:cNvSpPr/>
          <p:nvPr/>
        </p:nvSpPr>
        <p:spPr>
          <a:xfrm>
            <a:off x="720516" y="4076200"/>
            <a:ext cx="1936500" cy="944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58"/>
          <p:cNvSpPr/>
          <p:nvPr/>
        </p:nvSpPr>
        <p:spPr>
          <a:xfrm>
            <a:off x="718625" y="4076200"/>
            <a:ext cx="1936500" cy="254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a:t>
            </a:r>
            <a:r>
              <a:rPr lang="en-GB"/>
              <a:t>Window&gt;&gt; Step1</a:t>
            </a:r>
            <a:endParaRPr/>
          </a:p>
        </p:txBody>
      </p:sp>
      <p:sp>
        <p:nvSpPr>
          <p:cNvPr id="582" name="Google Shape;582;p58"/>
          <p:cNvSpPr/>
          <p:nvPr/>
        </p:nvSpPr>
        <p:spPr>
          <a:xfrm>
            <a:off x="3311316" y="4076200"/>
            <a:ext cx="1936500" cy="944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8"/>
          <p:cNvSpPr/>
          <p:nvPr/>
        </p:nvSpPr>
        <p:spPr>
          <a:xfrm>
            <a:off x="3309425" y="4076200"/>
            <a:ext cx="1936500" cy="254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a:t>
            </a:r>
            <a:r>
              <a:rPr lang="en-GB"/>
              <a:t>Modal</a:t>
            </a:r>
            <a:r>
              <a:rPr lang="en-GB"/>
              <a:t>&gt;&gt; Confirm</a:t>
            </a:r>
            <a:endParaRPr/>
          </a:p>
        </p:txBody>
      </p:sp>
      <p:sp>
        <p:nvSpPr>
          <p:cNvPr id="584" name="Google Shape;584;p58"/>
          <p:cNvSpPr/>
          <p:nvPr/>
        </p:nvSpPr>
        <p:spPr>
          <a:xfrm>
            <a:off x="5826683" y="4076200"/>
            <a:ext cx="2722200" cy="944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8"/>
          <p:cNvSpPr/>
          <p:nvPr/>
        </p:nvSpPr>
        <p:spPr>
          <a:xfrm>
            <a:off x="5824025" y="4076200"/>
            <a:ext cx="2722200" cy="254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a:t>
            </a:r>
            <a:r>
              <a:rPr lang="en-GB"/>
              <a:t>Modeless</a:t>
            </a:r>
            <a:r>
              <a:rPr lang="en-GB"/>
              <a:t>&gt;&gt; AnotherWindow</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91" name="Google Shape;591;p5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Ngữ cảnh và chiều ngữ cảnh</a:t>
            </a:r>
            <a:endParaRPr/>
          </a:p>
        </p:txBody>
      </p:sp>
      <p:sp>
        <p:nvSpPr>
          <p:cNvPr id="592" name="Google Shape;592;p59"/>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Ngữ cảnh (Context) mô tả các đặc điểm trạng thái hệ thống ở thời gian thực thi và xác định cách giao diện người dùng thích nghi với các đặc điểm đó. Chiều ngữ cảnh (ContextDimension) là 1 thành phần của ngữ cảnh.</a:t>
            </a:r>
            <a:endParaRPr/>
          </a:p>
          <a:p>
            <a:pPr indent="-381000" lvl="0" marL="457200" rtl="0" algn="just">
              <a:spcBef>
                <a:spcPts val="0"/>
              </a:spcBef>
              <a:spcAft>
                <a:spcPts val="0"/>
              </a:spcAft>
              <a:buSzPts val="2400"/>
              <a:buChar char="●"/>
            </a:pPr>
            <a:r>
              <a:rPr lang="en-GB"/>
              <a:t>Các mở rộng của chiều ngữ cảnh trong IFML</a:t>
            </a:r>
            <a:endParaRPr/>
          </a:p>
          <a:p>
            <a:pPr indent="-368300" lvl="1" marL="914400" rtl="0" algn="just">
              <a:spcBef>
                <a:spcPts val="0"/>
              </a:spcBef>
              <a:spcAft>
                <a:spcPts val="0"/>
              </a:spcAft>
              <a:buSzPts val="2200"/>
              <a:buChar char="○"/>
            </a:pPr>
            <a:r>
              <a:rPr lang="en-GB"/>
              <a:t>Vai trò người dùng (UserRole) - Bao gồm các thuộc tính mà hồ sơ người dùng phải đáp ứng để kích hoạt ngữ cảnh.</a:t>
            </a:r>
            <a:endParaRPr/>
          </a:p>
          <a:p>
            <a:pPr indent="-368300" lvl="1" marL="914400" rtl="0" algn="just">
              <a:spcBef>
                <a:spcPts val="0"/>
              </a:spcBef>
              <a:spcAft>
                <a:spcPts val="0"/>
              </a:spcAft>
              <a:buSzPts val="2200"/>
              <a:buChar char="○"/>
            </a:pPr>
            <a:r>
              <a:rPr lang="en-GB"/>
              <a:t>Thiết bị (Device) - Biểu diễn các đặc điểm của thiết bị.</a:t>
            </a:r>
            <a:endParaRPr/>
          </a:p>
          <a:p>
            <a:pPr indent="-368300" lvl="1" marL="914400" rtl="0" algn="just">
              <a:spcBef>
                <a:spcPts val="0"/>
              </a:spcBef>
              <a:spcAft>
                <a:spcPts val="0"/>
              </a:spcAft>
              <a:buSzPts val="2200"/>
              <a:buChar char="○"/>
            </a:pPr>
            <a:r>
              <a:rPr lang="en-GB"/>
              <a:t>Vị trí (Position) - Biểu diễn thông tin vị trí và định hướng của thiết bị được sử dụng bởi chương trình ứng dụng.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60"/>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thức kích hoạt</a:t>
            </a:r>
            <a:endParaRPr/>
          </a:p>
        </p:txBody>
      </p:sp>
      <p:sp>
        <p:nvSpPr>
          <p:cNvPr id="598" name="Google Shape;598;p60"/>
          <p:cNvSpPr txBox="1"/>
          <p:nvPr>
            <p:ph idx="4294967295" type="body"/>
          </p:nvPr>
        </p:nvSpPr>
        <p:spPr>
          <a:xfrm>
            <a:off x="311700" y="950475"/>
            <a:ext cx="8520600" cy="1533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Biểu thức kích hoạt (ActivationExpression) xác định điều kiện Boolean để kích hoạt ngữ cảnh (hoặc thành phần IFML khác) - Kích hoạt nếu đúng và vô hiệu nếu sai.</a:t>
            </a:r>
            <a:endParaRPr/>
          </a:p>
        </p:txBody>
      </p:sp>
      <p:sp>
        <p:nvSpPr>
          <p:cNvPr id="599" name="Google Shape;599;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00" name="Google Shape;600;p60"/>
          <p:cNvSpPr/>
          <p:nvPr/>
        </p:nvSpPr>
        <p:spPr>
          <a:xfrm>
            <a:off x="540000" y="2708700"/>
            <a:ext cx="36510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t>&lt;&lt;</a:t>
            </a:r>
            <a:r>
              <a:rPr lang="en-GB" sz="1600"/>
              <a:t>context&gt;&gt; CustomerMobileContext</a:t>
            </a:r>
            <a:endParaRPr sz="1600"/>
          </a:p>
        </p:txBody>
      </p:sp>
      <p:sp>
        <p:nvSpPr>
          <p:cNvPr id="601" name="Google Shape;601;p60"/>
          <p:cNvSpPr/>
          <p:nvPr/>
        </p:nvSpPr>
        <p:spPr>
          <a:xfrm>
            <a:off x="540000" y="3242100"/>
            <a:ext cx="36510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0"/>
          <p:cNvSpPr/>
          <p:nvPr/>
        </p:nvSpPr>
        <p:spPr>
          <a:xfrm>
            <a:off x="540000" y="3775500"/>
            <a:ext cx="3651000" cy="52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0"/>
          <p:cNvSpPr/>
          <p:nvPr/>
        </p:nvSpPr>
        <p:spPr>
          <a:xfrm>
            <a:off x="5052100" y="2639675"/>
            <a:ext cx="3850500" cy="14319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&lt;&lt;</a:t>
            </a:r>
            <a:r>
              <a:rPr lang="en-GB" sz="1600"/>
              <a:t>ActivationExpression&gt;&gt;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GB" sz="1600"/>
              <a:t>Self.Device.Type = </a:t>
            </a:r>
            <a:r>
              <a:rPr lang="en-GB" sz="1600">
                <a:solidFill>
                  <a:schemeClr val="dk1"/>
                </a:solidFill>
              </a:rPr>
              <a:t>"</a:t>
            </a:r>
            <a:r>
              <a:rPr lang="en-GB" sz="1600"/>
              <a:t>Tablet" and </a:t>
            </a:r>
            <a:endParaRPr sz="1600"/>
          </a:p>
          <a:p>
            <a:pPr indent="0" lvl="0" marL="0" rtl="0" algn="l">
              <a:spcBef>
                <a:spcPts val="0"/>
              </a:spcBef>
              <a:spcAft>
                <a:spcPts val="0"/>
              </a:spcAft>
              <a:buNone/>
            </a:pPr>
            <a:r>
              <a:rPr lang="en-GB" sz="1600"/>
              <a:t>Self.Device.Size = </a:t>
            </a:r>
            <a:r>
              <a:rPr lang="en-GB" sz="1600">
                <a:solidFill>
                  <a:schemeClr val="dk1"/>
                </a:solidFill>
              </a:rPr>
              <a:t>"Small" and</a:t>
            </a:r>
            <a:endParaRPr sz="1600">
              <a:solidFill>
                <a:schemeClr val="dk1"/>
              </a:solidFill>
            </a:endParaRPr>
          </a:p>
          <a:p>
            <a:pPr indent="0" lvl="0" marL="0" rtl="0" algn="l">
              <a:spcBef>
                <a:spcPts val="0"/>
              </a:spcBef>
              <a:spcAft>
                <a:spcPts val="0"/>
              </a:spcAft>
              <a:buNone/>
            </a:pPr>
            <a:r>
              <a:rPr lang="en-GB" sz="1600">
                <a:solidFill>
                  <a:schemeClr val="dk1"/>
                </a:solidFill>
              </a:rPr>
              <a:t>Self.UserRole.RoleName = "Customer"</a:t>
            </a:r>
            <a:endParaRPr sz="1600">
              <a:solidFill>
                <a:schemeClr val="dk1"/>
              </a:solidFill>
            </a:endParaRPr>
          </a:p>
        </p:txBody>
      </p:sp>
      <p:cxnSp>
        <p:nvCxnSpPr>
          <p:cNvPr id="604" name="Google Shape;604;p60"/>
          <p:cNvCxnSpPr>
            <a:stCxn id="601" idx="3"/>
            <a:endCxn id="603" idx="1"/>
          </p:cNvCxnSpPr>
          <p:nvPr/>
        </p:nvCxnSpPr>
        <p:spPr>
          <a:xfrm flipH="1" rot="10800000">
            <a:off x="4191000" y="3355650"/>
            <a:ext cx="861000" cy="148800"/>
          </a:xfrm>
          <a:prstGeom prst="straightConnector1">
            <a:avLst/>
          </a:prstGeom>
          <a:noFill/>
          <a:ln cap="flat" cmpd="sng" w="9525">
            <a:solidFill>
              <a:schemeClr val="dk2"/>
            </a:solidFill>
            <a:prstDash val="dot"/>
            <a:round/>
            <a:headEnd len="med" w="med" type="none"/>
            <a:tailEnd len="med" w="med" type="none"/>
          </a:ln>
        </p:spPr>
      </p:cxnSp>
      <p:sp>
        <p:nvSpPr>
          <p:cNvPr id="605" name="Google Shape;605;p60"/>
          <p:cNvSpPr txBox="1"/>
          <p:nvPr/>
        </p:nvSpPr>
        <p:spPr>
          <a:xfrm>
            <a:off x="381825" y="4511625"/>
            <a:ext cx="8520600" cy="9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434343"/>
                </a:solidFill>
              </a:rPr>
              <a:t>Biểu thức kích hoạt xác định các điều kiện để kích hoạt ngữ cảnh Người dùng thiết bị di động</a:t>
            </a:r>
            <a:endParaRPr i="1" sz="2400">
              <a:solidFill>
                <a:srgbClr val="434343"/>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11" name="Google Shape;611;p61"/>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Điểm</a:t>
            </a:r>
            <a:r>
              <a:rPr lang="en-GB"/>
              <a:t> nhìn</a:t>
            </a:r>
            <a:endParaRPr/>
          </a:p>
        </p:txBody>
      </p:sp>
      <p:sp>
        <p:nvSpPr>
          <p:cNvPr id="612" name="Google Shape;612;p61"/>
          <p:cNvSpPr txBox="1"/>
          <p:nvPr>
            <p:ph idx="4294967295" type="body"/>
          </p:nvPr>
        </p:nvSpPr>
        <p:spPr>
          <a:xfrm>
            <a:off x="311700" y="950475"/>
            <a:ext cx="8520600" cy="1058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Mỗi điểm nhìn (ViewPoint) là 1 đặc tả toàn bộ mô hình giao diện người dùng có hiệu lực khi 1 ngữ cảnh cụ thể được bật.</a:t>
            </a:r>
            <a:endParaRPr/>
          </a:p>
        </p:txBody>
      </p:sp>
      <p:sp>
        <p:nvSpPr>
          <p:cNvPr id="613" name="Google Shape;613;p61"/>
          <p:cNvSpPr/>
          <p:nvPr/>
        </p:nvSpPr>
        <p:spPr>
          <a:xfrm>
            <a:off x="415845" y="2552200"/>
            <a:ext cx="2068500" cy="944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1"/>
          <p:cNvSpPr/>
          <p:nvPr/>
        </p:nvSpPr>
        <p:spPr>
          <a:xfrm>
            <a:off x="413825" y="2552200"/>
            <a:ext cx="2068500" cy="254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a:t>
            </a:r>
            <a:r>
              <a:rPr lang="en-GB"/>
              <a:t>ViewPoint</a:t>
            </a:r>
            <a:r>
              <a:rPr lang="en-GB"/>
              <a:t>&gt;&gt; </a:t>
            </a:r>
            <a:r>
              <a:rPr lang="en-GB"/>
              <a:t>Admin</a:t>
            </a:r>
            <a:endParaRPr/>
          </a:p>
        </p:txBody>
      </p:sp>
      <p:sp>
        <p:nvSpPr>
          <p:cNvPr id="615" name="Google Shape;615;p61"/>
          <p:cNvSpPr/>
          <p:nvPr/>
        </p:nvSpPr>
        <p:spPr>
          <a:xfrm>
            <a:off x="2854704" y="2552200"/>
            <a:ext cx="2538300" cy="944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61"/>
          <p:cNvSpPr/>
          <p:nvPr/>
        </p:nvSpPr>
        <p:spPr>
          <a:xfrm>
            <a:off x="2852225" y="2552200"/>
            <a:ext cx="2538300" cy="254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a:t>
            </a:r>
            <a:r>
              <a:rPr lang="en-GB"/>
              <a:t>context</a:t>
            </a:r>
            <a:r>
              <a:rPr lang="en-GB"/>
              <a:t>&gt;&gt; Admin</a:t>
            </a:r>
            <a:r>
              <a:rPr lang="en-GB"/>
              <a:t>Context</a:t>
            </a:r>
            <a:endParaRPr/>
          </a:p>
        </p:txBody>
      </p:sp>
      <p:cxnSp>
        <p:nvCxnSpPr>
          <p:cNvPr id="617" name="Google Shape;617;p61"/>
          <p:cNvCxnSpPr>
            <a:stCxn id="613" idx="3"/>
            <a:endCxn id="615" idx="1"/>
          </p:cNvCxnSpPr>
          <p:nvPr/>
        </p:nvCxnSpPr>
        <p:spPr>
          <a:xfrm>
            <a:off x="2484345" y="3024400"/>
            <a:ext cx="370500" cy="0"/>
          </a:xfrm>
          <a:prstGeom prst="straightConnector1">
            <a:avLst/>
          </a:prstGeom>
          <a:noFill/>
          <a:ln cap="flat" cmpd="sng" w="9525">
            <a:solidFill>
              <a:schemeClr val="dk2"/>
            </a:solidFill>
            <a:prstDash val="solid"/>
            <a:round/>
            <a:headEnd len="med" w="med" type="none"/>
            <a:tailEnd len="med" w="med" type="none"/>
          </a:ln>
        </p:spPr>
      </p:cxnSp>
      <p:sp>
        <p:nvSpPr>
          <p:cNvPr id="618" name="Google Shape;618;p61"/>
          <p:cNvSpPr/>
          <p:nvPr/>
        </p:nvSpPr>
        <p:spPr>
          <a:xfrm>
            <a:off x="5865950" y="2337750"/>
            <a:ext cx="2922600" cy="8022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ActivationExpression&gt;&gt;</a:t>
            </a:r>
            <a:endParaRPr/>
          </a:p>
          <a:p>
            <a:pPr indent="0" lvl="0" marL="0" rtl="0" algn="l">
              <a:spcBef>
                <a:spcPts val="0"/>
              </a:spcBef>
              <a:spcAft>
                <a:spcPts val="0"/>
              </a:spcAft>
              <a:buNone/>
            </a:pPr>
            <a:r>
              <a:rPr lang="en-GB"/>
              <a:t>Self.UserRole.RoleName=</a:t>
            </a:r>
            <a:r>
              <a:rPr lang="en-GB">
                <a:solidFill>
                  <a:schemeClr val="dk1"/>
                </a:solidFill>
              </a:rPr>
              <a:t>"</a:t>
            </a:r>
            <a:r>
              <a:rPr lang="en-GB"/>
              <a:t>Admin"</a:t>
            </a:r>
            <a:endParaRPr/>
          </a:p>
        </p:txBody>
      </p:sp>
      <p:cxnSp>
        <p:nvCxnSpPr>
          <p:cNvPr id="619" name="Google Shape;619;p61"/>
          <p:cNvCxnSpPr>
            <a:stCxn id="615" idx="3"/>
            <a:endCxn id="618" idx="1"/>
          </p:cNvCxnSpPr>
          <p:nvPr/>
        </p:nvCxnSpPr>
        <p:spPr>
          <a:xfrm flipH="1" rot="10800000">
            <a:off x="5393004" y="2738800"/>
            <a:ext cx="472800" cy="285600"/>
          </a:xfrm>
          <a:prstGeom prst="straightConnector1">
            <a:avLst/>
          </a:prstGeom>
          <a:noFill/>
          <a:ln cap="flat" cmpd="sng" w="9525">
            <a:solidFill>
              <a:schemeClr val="dk2"/>
            </a:solidFill>
            <a:prstDash val="dot"/>
            <a:round/>
            <a:headEnd len="med" w="med" type="none"/>
            <a:tailEnd len="med" w="med" type="none"/>
          </a:ln>
        </p:spPr>
      </p:cxnSp>
      <p:sp>
        <p:nvSpPr>
          <p:cNvPr id="620" name="Google Shape;620;p61"/>
          <p:cNvSpPr/>
          <p:nvPr/>
        </p:nvSpPr>
        <p:spPr>
          <a:xfrm>
            <a:off x="415845" y="4000000"/>
            <a:ext cx="2068500" cy="944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1"/>
          <p:cNvSpPr/>
          <p:nvPr/>
        </p:nvSpPr>
        <p:spPr>
          <a:xfrm>
            <a:off x="413825" y="4000000"/>
            <a:ext cx="2068500" cy="254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&lt;&lt;ViewPoint&gt;&gt; </a:t>
            </a:r>
            <a:r>
              <a:rPr lang="en-GB"/>
              <a:t>Editor</a:t>
            </a:r>
            <a:endParaRPr/>
          </a:p>
        </p:txBody>
      </p:sp>
      <p:sp>
        <p:nvSpPr>
          <p:cNvPr id="622" name="Google Shape;622;p61"/>
          <p:cNvSpPr/>
          <p:nvPr/>
        </p:nvSpPr>
        <p:spPr>
          <a:xfrm>
            <a:off x="2854704" y="4000000"/>
            <a:ext cx="2538300" cy="944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1"/>
          <p:cNvSpPr/>
          <p:nvPr/>
        </p:nvSpPr>
        <p:spPr>
          <a:xfrm>
            <a:off x="2852225" y="4000000"/>
            <a:ext cx="2538300" cy="254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&lt;&lt;context&gt;&gt; </a:t>
            </a:r>
            <a:r>
              <a:rPr lang="en-GB"/>
              <a:t>Editor</a:t>
            </a:r>
            <a:r>
              <a:rPr lang="en-GB"/>
              <a:t>Context</a:t>
            </a:r>
            <a:endParaRPr/>
          </a:p>
        </p:txBody>
      </p:sp>
      <p:cxnSp>
        <p:nvCxnSpPr>
          <p:cNvPr id="624" name="Google Shape;624;p61"/>
          <p:cNvCxnSpPr>
            <a:stCxn id="620" idx="3"/>
            <a:endCxn id="622" idx="1"/>
          </p:cNvCxnSpPr>
          <p:nvPr/>
        </p:nvCxnSpPr>
        <p:spPr>
          <a:xfrm>
            <a:off x="2484345" y="4472200"/>
            <a:ext cx="370500" cy="0"/>
          </a:xfrm>
          <a:prstGeom prst="straightConnector1">
            <a:avLst/>
          </a:prstGeom>
          <a:noFill/>
          <a:ln cap="flat" cmpd="sng" w="9525">
            <a:solidFill>
              <a:schemeClr val="dk2"/>
            </a:solidFill>
            <a:prstDash val="solid"/>
            <a:round/>
            <a:headEnd len="med" w="med" type="none"/>
            <a:tailEnd len="med" w="med" type="none"/>
          </a:ln>
        </p:spPr>
      </p:cxnSp>
      <p:sp>
        <p:nvSpPr>
          <p:cNvPr id="625" name="Google Shape;625;p61"/>
          <p:cNvSpPr/>
          <p:nvPr/>
        </p:nvSpPr>
        <p:spPr>
          <a:xfrm>
            <a:off x="5865950" y="3785550"/>
            <a:ext cx="2922600" cy="8022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&lt;&lt;ActivationExpression&gt;&gt;</a:t>
            </a:r>
            <a:endParaRPr/>
          </a:p>
          <a:p>
            <a:pPr indent="0" lvl="0" marL="0" rtl="0" algn="l">
              <a:spcBef>
                <a:spcPts val="0"/>
              </a:spcBef>
              <a:spcAft>
                <a:spcPts val="0"/>
              </a:spcAft>
              <a:buNone/>
            </a:pPr>
            <a:r>
              <a:rPr lang="en-GB"/>
              <a:t>Self.UserRole.RoleName=</a:t>
            </a:r>
            <a:r>
              <a:rPr lang="en-GB">
                <a:solidFill>
                  <a:schemeClr val="dk1"/>
                </a:solidFill>
              </a:rPr>
              <a:t>"</a:t>
            </a:r>
            <a:r>
              <a:rPr lang="en-GB"/>
              <a:t>Editor</a:t>
            </a:r>
            <a:r>
              <a:rPr lang="en-GB"/>
              <a:t>"</a:t>
            </a:r>
            <a:endParaRPr/>
          </a:p>
        </p:txBody>
      </p:sp>
      <p:cxnSp>
        <p:nvCxnSpPr>
          <p:cNvPr id="626" name="Google Shape;626;p61"/>
          <p:cNvCxnSpPr>
            <a:stCxn id="622" idx="3"/>
            <a:endCxn id="625" idx="1"/>
          </p:cNvCxnSpPr>
          <p:nvPr/>
        </p:nvCxnSpPr>
        <p:spPr>
          <a:xfrm flipH="1" rot="10800000">
            <a:off x="5393004" y="4186600"/>
            <a:ext cx="472800" cy="28560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32" name="Google Shape;632;p6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Thành phần hiển thị</a:t>
            </a:r>
            <a:endParaRPr/>
          </a:p>
        </p:txBody>
      </p:sp>
      <p:sp>
        <p:nvSpPr>
          <p:cNvPr id="633" name="Google Shape;633;p62"/>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Thành phần hiển thị (ViewComponent) - Thành phần có thể được nhìn thấy trong giao diện người dùng được sử dụng để xuất dữ liệu hoặc nhận dữ liệu từ người dùng.</a:t>
            </a:r>
            <a:endParaRPr/>
          </a:p>
          <a:p>
            <a:pPr indent="-381000" lvl="0" marL="457200" rtl="0" algn="just">
              <a:spcBef>
                <a:spcPts val="0"/>
              </a:spcBef>
              <a:spcAft>
                <a:spcPts val="0"/>
              </a:spcAft>
              <a:buSzPts val="2400"/>
              <a:buChar char="●"/>
            </a:pPr>
            <a:r>
              <a:rPr lang="en-GB"/>
              <a:t>Mỗi thành phần hiển thị có thể được hợp thành từ nhiều bộ phận được gọi là phần tử hiển thị ViewComponentPart</a:t>
            </a:r>
            <a:endParaRPr/>
          </a:p>
          <a:p>
            <a:pPr indent="-368300" lvl="1" marL="914400" rtl="0" algn="just">
              <a:spcBef>
                <a:spcPts val="0"/>
              </a:spcBef>
              <a:spcAft>
                <a:spcPts val="0"/>
              </a:spcAft>
              <a:buSzPts val="2200"/>
              <a:buChar char="○"/>
            </a:pPr>
            <a:r>
              <a:rPr lang="en-GB"/>
              <a:t>Phần tử hiển thị (ViewComponentPart) có thể chỉ tồn tại trong thành phần hiển thị/không tồn tại bên ngoài phạm vi thành phần hiển thị.</a:t>
            </a:r>
            <a:endParaRPr/>
          </a:p>
          <a:p>
            <a:pPr indent="-381000" lvl="0" marL="457200" rtl="0" algn="just">
              <a:spcBef>
                <a:spcPts val="0"/>
              </a:spcBef>
              <a:spcAft>
                <a:spcPts val="0"/>
              </a:spcAft>
              <a:buSzPts val="2400"/>
              <a:buChar char="●"/>
            </a:pPr>
            <a:r>
              <a:rPr lang="en-GB"/>
              <a:t>Sự kiện và điều hướng: </a:t>
            </a:r>
            <a:r>
              <a:rPr lang="en-GB"/>
              <a:t>Các thành phần hiển thị có thể tiếp nhận tương tác bằng cách gắn kết với các sự kiện.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3"/>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7. Các thành phần hiển thị</a:t>
            </a:r>
            <a:endParaRPr/>
          </a:p>
        </p:txBody>
      </p:sp>
      <p:sp>
        <p:nvSpPr>
          <p:cNvPr id="639" name="Google Shape;639;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40" name="Google Shape;640;p63"/>
          <p:cNvSpPr/>
          <p:nvPr/>
        </p:nvSpPr>
        <p:spPr>
          <a:xfrm>
            <a:off x="4087975" y="1642461"/>
            <a:ext cx="2648700" cy="129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3"/>
          <p:cNvSpPr/>
          <p:nvPr/>
        </p:nvSpPr>
        <p:spPr>
          <a:xfrm>
            <a:off x="4239990" y="1937303"/>
            <a:ext cx="377400" cy="364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2" name="Google Shape;642;p63"/>
          <p:cNvCxnSpPr/>
          <p:nvPr/>
        </p:nvCxnSpPr>
        <p:spPr>
          <a:xfrm>
            <a:off x="4228145" y="1934271"/>
            <a:ext cx="373800" cy="360600"/>
          </a:xfrm>
          <a:prstGeom prst="straightConnector1">
            <a:avLst/>
          </a:prstGeom>
          <a:noFill/>
          <a:ln cap="flat" cmpd="sng" w="9525">
            <a:solidFill>
              <a:schemeClr val="dk2"/>
            </a:solidFill>
            <a:prstDash val="solid"/>
            <a:round/>
            <a:headEnd len="med" w="med" type="none"/>
            <a:tailEnd len="med" w="med" type="none"/>
          </a:ln>
        </p:spPr>
      </p:cxnSp>
      <p:cxnSp>
        <p:nvCxnSpPr>
          <p:cNvPr id="643" name="Google Shape;643;p63"/>
          <p:cNvCxnSpPr/>
          <p:nvPr/>
        </p:nvCxnSpPr>
        <p:spPr>
          <a:xfrm flipH="1" rot="10800000">
            <a:off x="4228145" y="1934353"/>
            <a:ext cx="358200" cy="360600"/>
          </a:xfrm>
          <a:prstGeom prst="straightConnector1">
            <a:avLst/>
          </a:prstGeom>
          <a:noFill/>
          <a:ln cap="flat" cmpd="sng" w="9525">
            <a:solidFill>
              <a:schemeClr val="dk2"/>
            </a:solidFill>
            <a:prstDash val="solid"/>
            <a:round/>
            <a:headEnd len="med" w="med" type="none"/>
            <a:tailEnd len="med" w="med" type="none"/>
          </a:ln>
        </p:spPr>
      </p:cxnSp>
      <p:sp>
        <p:nvSpPr>
          <p:cNvPr id="644" name="Google Shape;644;p63"/>
          <p:cNvSpPr/>
          <p:nvPr/>
        </p:nvSpPr>
        <p:spPr>
          <a:xfrm>
            <a:off x="4239990" y="2427978"/>
            <a:ext cx="377400" cy="364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5" name="Google Shape;645;p63"/>
          <p:cNvCxnSpPr/>
          <p:nvPr/>
        </p:nvCxnSpPr>
        <p:spPr>
          <a:xfrm>
            <a:off x="4228145" y="2424946"/>
            <a:ext cx="373800" cy="360600"/>
          </a:xfrm>
          <a:prstGeom prst="straightConnector1">
            <a:avLst/>
          </a:prstGeom>
          <a:noFill/>
          <a:ln cap="flat" cmpd="sng" w="9525">
            <a:solidFill>
              <a:schemeClr val="dk2"/>
            </a:solidFill>
            <a:prstDash val="solid"/>
            <a:round/>
            <a:headEnd len="med" w="med" type="none"/>
            <a:tailEnd len="med" w="med" type="none"/>
          </a:ln>
        </p:spPr>
      </p:cxnSp>
      <p:cxnSp>
        <p:nvCxnSpPr>
          <p:cNvPr id="646" name="Google Shape;646;p63"/>
          <p:cNvCxnSpPr/>
          <p:nvPr/>
        </p:nvCxnSpPr>
        <p:spPr>
          <a:xfrm flipH="1" rot="10800000">
            <a:off x="4228145" y="2425028"/>
            <a:ext cx="358200" cy="360600"/>
          </a:xfrm>
          <a:prstGeom prst="straightConnector1">
            <a:avLst/>
          </a:prstGeom>
          <a:noFill/>
          <a:ln cap="flat" cmpd="sng" w="9525">
            <a:solidFill>
              <a:schemeClr val="dk2"/>
            </a:solidFill>
            <a:prstDash val="solid"/>
            <a:round/>
            <a:headEnd len="med" w="med" type="none"/>
            <a:tailEnd len="med" w="med" type="none"/>
          </a:ln>
        </p:spPr>
      </p:cxnSp>
      <p:sp>
        <p:nvSpPr>
          <p:cNvPr id="647" name="Google Shape;647;p63"/>
          <p:cNvSpPr txBox="1"/>
          <p:nvPr/>
        </p:nvSpPr>
        <p:spPr>
          <a:xfrm>
            <a:off x="4604359" y="2429532"/>
            <a:ext cx="2117100" cy="3984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200"/>
              <a:t>Công nghệ Web </a:t>
            </a:r>
            <a:endParaRPr sz="1200"/>
          </a:p>
          <a:p>
            <a:pPr indent="0" lvl="0" marL="0" rtl="0" algn="l">
              <a:spcBef>
                <a:spcPts val="0"/>
              </a:spcBef>
              <a:spcAft>
                <a:spcPts val="0"/>
              </a:spcAft>
              <a:buNone/>
            </a:pPr>
            <a:r>
              <a:rPr b="1" lang="en-GB" sz="1200" u="sng"/>
              <a:t>Chi tiết</a:t>
            </a:r>
            <a:endParaRPr b="1" sz="1200" u="sng"/>
          </a:p>
        </p:txBody>
      </p:sp>
      <p:sp>
        <p:nvSpPr>
          <p:cNvPr id="648" name="Google Shape;648;p63"/>
          <p:cNvSpPr txBox="1"/>
          <p:nvPr/>
        </p:nvSpPr>
        <p:spPr>
          <a:xfrm>
            <a:off x="4114472" y="1576863"/>
            <a:ext cx="2648700" cy="3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Danh sách </a:t>
            </a:r>
            <a:r>
              <a:rPr lang="en-GB" sz="1200"/>
              <a:t>sản phẩm</a:t>
            </a:r>
            <a:endParaRPr sz="1200"/>
          </a:p>
        </p:txBody>
      </p:sp>
      <p:sp>
        <p:nvSpPr>
          <p:cNvPr id="649" name="Google Shape;649;p63"/>
          <p:cNvSpPr/>
          <p:nvPr/>
        </p:nvSpPr>
        <p:spPr>
          <a:xfrm>
            <a:off x="6559812" y="1648038"/>
            <a:ext cx="154200" cy="129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3"/>
          <p:cNvSpPr/>
          <p:nvPr/>
        </p:nvSpPr>
        <p:spPr>
          <a:xfrm>
            <a:off x="6550378" y="1653863"/>
            <a:ext cx="177600" cy="14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3"/>
          <p:cNvSpPr/>
          <p:nvPr/>
        </p:nvSpPr>
        <p:spPr>
          <a:xfrm>
            <a:off x="6550378" y="2796863"/>
            <a:ext cx="177600" cy="14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3"/>
          <p:cNvSpPr/>
          <p:nvPr/>
        </p:nvSpPr>
        <p:spPr>
          <a:xfrm>
            <a:off x="6559800" y="1653863"/>
            <a:ext cx="140100" cy="106200"/>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3"/>
          <p:cNvSpPr/>
          <p:nvPr/>
        </p:nvSpPr>
        <p:spPr>
          <a:xfrm rot="-10792654">
            <a:off x="6559668" y="2811594"/>
            <a:ext cx="140400" cy="105902"/>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3"/>
          <p:cNvSpPr/>
          <p:nvPr/>
        </p:nvSpPr>
        <p:spPr>
          <a:xfrm>
            <a:off x="6587822" y="2068138"/>
            <a:ext cx="98100" cy="148200"/>
          </a:xfrm>
          <a:prstGeom prst="rect">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63"/>
          <p:cNvSpPr/>
          <p:nvPr/>
        </p:nvSpPr>
        <p:spPr>
          <a:xfrm>
            <a:off x="4101225" y="3233249"/>
            <a:ext cx="2648700" cy="129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63"/>
          <p:cNvSpPr/>
          <p:nvPr/>
        </p:nvSpPr>
        <p:spPr>
          <a:xfrm>
            <a:off x="4258099" y="3681777"/>
            <a:ext cx="531900" cy="52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7" name="Google Shape;657;p63"/>
          <p:cNvCxnSpPr/>
          <p:nvPr/>
        </p:nvCxnSpPr>
        <p:spPr>
          <a:xfrm>
            <a:off x="4241402" y="3677445"/>
            <a:ext cx="526800" cy="515100"/>
          </a:xfrm>
          <a:prstGeom prst="straightConnector1">
            <a:avLst/>
          </a:prstGeom>
          <a:noFill/>
          <a:ln cap="flat" cmpd="sng" w="9525">
            <a:solidFill>
              <a:schemeClr val="dk2"/>
            </a:solidFill>
            <a:prstDash val="solid"/>
            <a:round/>
            <a:headEnd len="med" w="med" type="none"/>
            <a:tailEnd len="med" w="med" type="none"/>
          </a:ln>
        </p:spPr>
      </p:cxnSp>
      <p:cxnSp>
        <p:nvCxnSpPr>
          <p:cNvPr id="658" name="Google Shape;658;p63"/>
          <p:cNvCxnSpPr/>
          <p:nvPr/>
        </p:nvCxnSpPr>
        <p:spPr>
          <a:xfrm flipH="1" rot="10800000">
            <a:off x="4241402" y="3677686"/>
            <a:ext cx="504900" cy="515100"/>
          </a:xfrm>
          <a:prstGeom prst="straightConnector1">
            <a:avLst/>
          </a:prstGeom>
          <a:noFill/>
          <a:ln cap="flat" cmpd="sng" w="9525">
            <a:solidFill>
              <a:schemeClr val="dk2"/>
            </a:solidFill>
            <a:prstDash val="solid"/>
            <a:round/>
            <a:headEnd len="med" w="med" type="none"/>
            <a:tailEnd len="med" w="med" type="none"/>
          </a:ln>
        </p:spPr>
      </p:cxnSp>
      <p:sp>
        <p:nvSpPr>
          <p:cNvPr id="659" name="Google Shape;659;p63"/>
          <p:cNvSpPr txBox="1"/>
          <p:nvPr/>
        </p:nvSpPr>
        <p:spPr>
          <a:xfrm>
            <a:off x="4174403" y="3453448"/>
            <a:ext cx="2117100" cy="2553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200"/>
              <a:t>Ngôn ngữ lập trình C</a:t>
            </a:r>
            <a:endParaRPr b="1" sz="1200" u="sng"/>
          </a:p>
        </p:txBody>
      </p:sp>
      <p:sp>
        <p:nvSpPr>
          <p:cNvPr id="660" name="Google Shape;660;p63"/>
          <p:cNvSpPr txBox="1"/>
          <p:nvPr/>
        </p:nvSpPr>
        <p:spPr>
          <a:xfrm>
            <a:off x="4127722" y="3167650"/>
            <a:ext cx="2648700" cy="3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Màn hình chính/Danh sách/Sách</a:t>
            </a:r>
            <a:endParaRPr sz="1200"/>
          </a:p>
        </p:txBody>
      </p:sp>
      <p:sp>
        <p:nvSpPr>
          <p:cNvPr id="661" name="Google Shape;661;p63"/>
          <p:cNvSpPr/>
          <p:nvPr/>
        </p:nvSpPr>
        <p:spPr>
          <a:xfrm>
            <a:off x="6573062" y="3238825"/>
            <a:ext cx="154200" cy="1298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3"/>
          <p:cNvSpPr/>
          <p:nvPr/>
        </p:nvSpPr>
        <p:spPr>
          <a:xfrm>
            <a:off x="6563628" y="3244650"/>
            <a:ext cx="177600" cy="14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3"/>
          <p:cNvSpPr/>
          <p:nvPr/>
        </p:nvSpPr>
        <p:spPr>
          <a:xfrm>
            <a:off x="6563628" y="4387650"/>
            <a:ext cx="177600" cy="14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3"/>
          <p:cNvSpPr/>
          <p:nvPr/>
        </p:nvSpPr>
        <p:spPr>
          <a:xfrm>
            <a:off x="6573050" y="3244650"/>
            <a:ext cx="140100" cy="106200"/>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3"/>
          <p:cNvSpPr/>
          <p:nvPr/>
        </p:nvSpPr>
        <p:spPr>
          <a:xfrm rot="-10792654">
            <a:off x="6572918" y="4402381"/>
            <a:ext cx="140400" cy="105902"/>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3"/>
          <p:cNvSpPr/>
          <p:nvPr/>
        </p:nvSpPr>
        <p:spPr>
          <a:xfrm>
            <a:off x="6601072" y="3658925"/>
            <a:ext cx="98100" cy="148200"/>
          </a:xfrm>
          <a:prstGeom prst="rect">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3"/>
          <p:cNvSpPr txBox="1"/>
          <p:nvPr/>
        </p:nvSpPr>
        <p:spPr>
          <a:xfrm>
            <a:off x="4098201" y="4215450"/>
            <a:ext cx="1140900" cy="2553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000"/>
              <a:t>Giá: 80 000</a:t>
            </a:r>
            <a:r>
              <a:rPr baseline="30000" lang="en-GB" sz="1000"/>
              <a:t>đ</a:t>
            </a:r>
            <a:endParaRPr b="1" baseline="30000" sz="1000" u="sng"/>
          </a:p>
        </p:txBody>
      </p:sp>
      <p:sp>
        <p:nvSpPr>
          <p:cNvPr id="668" name="Google Shape;668;p63"/>
          <p:cNvSpPr txBox="1"/>
          <p:nvPr/>
        </p:nvSpPr>
        <p:spPr>
          <a:xfrm>
            <a:off x="4936401" y="3682052"/>
            <a:ext cx="1522800" cy="5247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i="1" lang="en-GB" sz="1200"/>
              <a:t>Mô tả:</a:t>
            </a:r>
            <a:endParaRPr i="1" sz="1200"/>
          </a:p>
          <a:p>
            <a:pPr indent="0" lvl="0" marL="0" rtl="0" algn="l">
              <a:spcBef>
                <a:spcPts val="0"/>
              </a:spcBef>
              <a:spcAft>
                <a:spcPts val="0"/>
              </a:spcAft>
              <a:buNone/>
            </a:pPr>
            <a:r>
              <a:rPr lang="en-GB" sz="1200"/>
              <a:t>Được biên soạn theo C17 và C2x</a:t>
            </a:r>
            <a:endParaRPr sz="1200"/>
          </a:p>
        </p:txBody>
      </p:sp>
      <p:sp>
        <p:nvSpPr>
          <p:cNvPr id="669" name="Google Shape;669;p63"/>
          <p:cNvSpPr txBox="1"/>
          <p:nvPr/>
        </p:nvSpPr>
        <p:spPr>
          <a:xfrm>
            <a:off x="4604351" y="1938863"/>
            <a:ext cx="1838700" cy="3984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200"/>
              <a:t>Ngôn ngữ lập trình C</a:t>
            </a:r>
            <a:endParaRPr sz="1200"/>
          </a:p>
          <a:p>
            <a:pPr indent="0" lvl="0" marL="0" rtl="0" algn="l">
              <a:spcBef>
                <a:spcPts val="0"/>
              </a:spcBef>
              <a:spcAft>
                <a:spcPts val="0"/>
              </a:spcAft>
              <a:buNone/>
            </a:pPr>
            <a:r>
              <a:rPr b="1" lang="en-GB" sz="1200" u="sng"/>
              <a:t>Chi tiết</a:t>
            </a:r>
            <a:endParaRPr b="1" sz="1200" u="sng"/>
          </a:p>
        </p:txBody>
      </p:sp>
      <p:sp>
        <p:nvSpPr>
          <p:cNvPr id="670" name="Google Shape;670;p63"/>
          <p:cNvSpPr/>
          <p:nvPr/>
        </p:nvSpPr>
        <p:spPr>
          <a:xfrm>
            <a:off x="1063125" y="1915650"/>
            <a:ext cx="1680300" cy="763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BookList</a:t>
            </a:r>
            <a:endParaRPr/>
          </a:p>
        </p:txBody>
      </p:sp>
      <p:sp>
        <p:nvSpPr>
          <p:cNvPr id="671" name="Google Shape;671;p63"/>
          <p:cNvSpPr/>
          <p:nvPr/>
        </p:nvSpPr>
        <p:spPr>
          <a:xfrm>
            <a:off x="1083950" y="3466625"/>
            <a:ext cx="1680300" cy="763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BookDetail</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64"/>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Nạp nội dung và dữ liệu</a:t>
            </a:r>
            <a:endParaRPr/>
          </a:p>
        </p:txBody>
      </p:sp>
      <p:sp>
        <p:nvSpPr>
          <p:cNvPr id="677" name="Google Shape;677;p64"/>
          <p:cNvSpPr txBox="1"/>
          <p:nvPr>
            <p:ph idx="4294967295" type="body"/>
          </p:nvPr>
        </p:nvSpPr>
        <p:spPr>
          <a:xfrm>
            <a:off x="311700" y="950475"/>
            <a:ext cx="8520600" cy="3983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Thành phần hiển thị xuất nội dung được gắn với nó lên màn hình giao diện.</a:t>
            </a:r>
            <a:endParaRPr/>
          </a:p>
          <a:p>
            <a:pPr indent="-381000" lvl="0" marL="457200" rtl="0" algn="just">
              <a:spcBef>
                <a:spcPts val="0"/>
              </a:spcBef>
              <a:spcAft>
                <a:spcPts val="0"/>
              </a:spcAft>
              <a:buSzPts val="2400"/>
              <a:buChar char="●"/>
            </a:pPr>
            <a:r>
              <a:rPr lang="en-GB"/>
              <a:t>Nạp nội dung/ContentBinding: Xác định nguồn nội dung của thành phần hiển thị bằng URI.</a:t>
            </a:r>
            <a:endParaRPr/>
          </a:p>
          <a:p>
            <a:pPr indent="-381000" lvl="0" marL="457200" rtl="0" algn="just">
              <a:spcBef>
                <a:spcPts val="0"/>
              </a:spcBef>
              <a:spcAft>
                <a:spcPts val="0"/>
              </a:spcAft>
              <a:buSzPts val="2400"/>
              <a:buChar char="●"/>
            </a:pPr>
            <a:r>
              <a:rPr lang="en-GB"/>
              <a:t>Nạp dữ liệu/DataBinding: Dữ liệu bên trong thành phần hiển thị được xác định bởi kiểu dữ liệu, điều kiện lọc và các thuộc tính được sử dụng để hiển thị.</a:t>
            </a:r>
            <a:endParaRPr/>
          </a:p>
          <a:p>
            <a:pPr indent="-381000" lvl="0" marL="457200" rtl="0" algn="just">
              <a:spcBef>
                <a:spcPts val="0"/>
              </a:spcBef>
              <a:spcAft>
                <a:spcPts val="0"/>
              </a:spcAft>
              <a:buSzPts val="2400"/>
              <a:buChar char="●"/>
            </a:pPr>
            <a:r>
              <a:rPr lang="en-GB"/>
              <a:t>Hành vi động/DynamicBehavior: Nhận dữ liệu từ cổng dịch vụ</a:t>
            </a:r>
            <a:endParaRPr/>
          </a:p>
        </p:txBody>
      </p:sp>
      <p:sp>
        <p:nvSpPr>
          <p:cNvPr id="678" name="Google Shape;678;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79" name="Google Shape;679;p64"/>
          <p:cNvSpPr/>
          <p:nvPr/>
        </p:nvSpPr>
        <p:spPr>
          <a:xfrm>
            <a:off x="433400" y="4933450"/>
            <a:ext cx="2655000" cy="1283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a:t>WebViewer</a:t>
            </a:r>
            <a:endParaRPr/>
          </a:p>
        </p:txBody>
      </p:sp>
      <p:sp>
        <p:nvSpPr>
          <p:cNvPr id="680" name="Google Shape;680;p64"/>
          <p:cNvSpPr/>
          <p:nvPr/>
        </p:nvSpPr>
        <p:spPr>
          <a:xfrm>
            <a:off x="560725" y="5388625"/>
            <a:ext cx="2406900" cy="65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ContentBinding&gt;&gt;</a:t>
            </a:r>
            <a:endParaRPr/>
          </a:p>
          <a:p>
            <a:pPr indent="0" lvl="0" marL="0" rtl="0" algn="l">
              <a:spcBef>
                <a:spcPts val="0"/>
              </a:spcBef>
              <a:spcAft>
                <a:spcPts val="0"/>
              </a:spcAft>
              <a:buNone/>
            </a:pPr>
            <a:r>
              <a:rPr lang="en-GB"/>
              <a:t>http://mysite.com/index.html</a:t>
            </a:r>
            <a:endParaRPr/>
          </a:p>
        </p:txBody>
      </p:sp>
      <p:sp>
        <p:nvSpPr>
          <p:cNvPr id="681" name="Google Shape;681;p64"/>
          <p:cNvSpPr/>
          <p:nvPr/>
        </p:nvSpPr>
        <p:spPr>
          <a:xfrm>
            <a:off x="3252800" y="4933450"/>
            <a:ext cx="2091300" cy="1283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a:t>MessageList</a:t>
            </a:r>
            <a:endParaRPr/>
          </a:p>
        </p:txBody>
      </p:sp>
      <p:sp>
        <p:nvSpPr>
          <p:cNvPr id="682" name="Google Shape;682;p64"/>
          <p:cNvSpPr/>
          <p:nvPr/>
        </p:nvSpPr>
        <p:spPr>
          <a:xfrm>
            <a:off x="3353091" y="5388625"/>
            <a:ext cx="1896000" cy="65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DataBinding</a:t>
            </a:r>
            <a:r>
              <a:rPr lang="en-GB"/>
              <a:t>&gt;&gt;</a:t>
            </a:r>
            <a:endParaRPr/>
          </a:p>
          <a:p>
            <a:pPr indent="0" lvl="0" marL="0" rtl="0" algn="l">
              <a:spcBef>
                <a:spcPts val="0"/>
              </a:spcBef>
              <a:spcAft>
                <a:spcPts val="0"/>
              </a:spcAft>
              <a:buNone/>
            </a:pPr>
            <a:r>
              <a:rPr lang="en-GB"/>
              <a:t>MailMessage</a:t>
            </a:r>
            <a:endParaRPr/>
          </a:p>
        </p:txBody>
      </p:sp>
      <p:sp>
        <p:nvSpPr>
          <p:cNvPr id="683" name="Google Shape;683;p64"/>
          <p:cNvSpPr/>
          <p:nvPr/>
        </p:nvSpPr>
        <p:spPr>
          <a:xfrm>
            <a:off x="5521550" y="4933450"/>
            <a:ext cx="3245700" cy="1283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a:t>TweetList</a:t>
            </a:r>
            <a:endParaRPr/>
          </a:p>
        </p:txBody>
      </p:sp>
      <p:sp>
        <p:nvSpPr>
          <p:cNvPr id="684" name="Google Shape;684;p64"/>
          <p:cNvSpPr/>
          <p:nvPr/>
        </p:nvSpPr>
        <p:spPr>
          <a:xfrm>
            <a:off x="5677199" y="5388625"/>
            <a:ext cx="2942400" cy="65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DynamicBehavior</a:t>
            </a:r>
            <a:r>
              <a:rPr lang="en-GB"/>
              <a:t>&gt;&gt;</a:t>
            </a:r>
            <a:endParaRPr/>
          </a:p>
          <a:p>
            <a:pPr indent="0" lvl="0" marL="0" rtl="0" algn="l">
              <a:spcBef>
                <a:spcPts val="0"/>
              </a:spcBef>
              <a:spcAft>
                <a:spcPts val="0"/>
              </a:spcAft>
              <a:buNone/>
            </a:pPr>
            <a:r>
              <a:rPr lang="en-GB"/>
              <a:t>TwitterAPI.Search(query, resNum)</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90" name="Google Shape;690;p65"/>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Truyền tham số</a:t>
            </a:r>
            <a:endParaRPr/>
          </a:p>
        </p:txBody>
      </p:sp>
      <p:sp>
        <p:nvSpPr>
          <p:cNvPr id="691" name="Google Shape;691;p65"/>
          <p:cNvSpPr txBox="1"/>
          <p:nvPr>
            <p:ph idx="4294967295" type="body"/>
          </p:nvPr>
        </p:nvSpPr>
        <p:spPr>
          <a:xfrm>
            <a:off x="311700" y="950475"/>
            <a:ext cx="8520600" cy="19050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Kết nối tham số đầu ra của 1 thành phần hiển thị với tham số đầu vào của 1 thành phần hiển thị khác.</a:t>
            </a:r>
            <a:endParaRPr/>
          </a:p>
          <a:p>
            <a:pPr indent="-381000" lvl="0" marL="457200" rtl="0" algn="just">
              <a:spcBef>
                <a:spcPts val="0"/>
              </a:spcBef>
              <a:spcAft>
                <a:spcPts val="0"/>
              </a:spcAft>
              <a:buSzPts val="2400"/>
              <a:buChar char="●"/>
            </a:pPr>
            <a:r>
              <a:rPr lang="en-GB"/>
              <a:t>Trong trường hợp truyền đồng thời nhiều tham số các tham số được gom thành nhóm - Truyền nhóm tham số.</a:t>
            </a:r>
            <a:endParaRPr/>
          </a:p>
        </p:txBody>
      </p:sp>
      <p:sp>
        <p:nvSpPr>
          <p:cNvPr id="692" name="Google Shape;692;p65"/>
          <p:cNvSpPr/>
          <p:nvPr/>
        </p:nvSpPr>
        <p:spPr>
          <a:xfrm>
            <a:off x="890600" y="3104650"/>
            <a:ext cx="2137200" cy="1283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a:t>MailBoxList</a:t>
            </a:r>
            <a:endParaRPr/>
          </a:p>
        </p:txBody>
      </p:sp>
      <p:sp>
        <p:nvSpPr>
          <p:cNvPr id="693" name="Google Shape;693;p65"/>
          <p:cNvSpPr/>
          <p:nvPr/>
        </p:nvSpPr>
        <p:spPr>
          <a:xfrm>
            <a:off x="990891" y="3559825"/>
            <a:ext cx="1896000" cy="65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&lt;&lt;DataBinding&gt;&gt;</a:t>
            </a:r>
            <a:endParaRPr/>
          </a:p>
          <a:p>
            <a:pPr indent="0" lvl="0" marL="0" rtl="0" algn="l">
              <a:spcBef>
                <a:spcPts val="0"/>
              </a:spcBef>
              <a:spcAft>
                <a:spcPts val="0"/>
              </a:spcAft>
              <a:buNone/>
            </a:pPr>
            <a:r>
              <a:rPr lang="en-GB"/>
              <a:t>MailMessage</a:t>
            </a:r>
            <a:r>
              <a:rPr lang="en-GB"/>
              <a:t>Group</a:t>
            </a:r>
            <a:endParaRPr/>
          </a:p>
        </p:txBody>
      </p:sp>
      <p:sp>
        <p:nvSpPr>
          <p:cNvPr id="694" name="Google Shape;694;p65"/>
          <p:cNvSpPr/>
          <p:nvPr/>
        </p:nvSpPr>
        <p:spPr>
          <a:xfrm>
            <a:off x="5193100" y="3790450"/>
            <a:ext cx="3279300" cy="1905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a:t>MessageList</a:t>
            </a:r>
            <a:endParaRPr/>
          </a:p>
        </p:txBody>
      </p:sp>
      <p:sp>
        <p:nvSpPr>
          <p:cNvPr id="695" name="Google Shape;695;p65"/>
          <p:cNvSpPr/>
          <p:nvPr/>
        </p:nvSpPr>
        <p:spPr>
          <a:xfrm>
            <a:off x="5350380" y="4210773"/>
            <a:ext cx="2973300" cy="1251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&lt;&lt;DataBinding&gt;&gt;MailMessage</a:t>
            </a:r>
            <a:endParaRPr/>
          </a:p>
        </p:txBody>
      </p:sp>
      <p:sp>
        <p:nvSpPr>
          <p:cNvPr id="696" name="Google Shape;696;p65"/>
          <p:cNvSpPr/>
          <p:nvPr/>
        </p:nvSpPr>
        <p:spPr>
          <a:xfrm>
            <a:off x="5560750" y="4654463"/>
            <a:ext cx="2592000" cy="65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&lt;&lt;ConditionalExpression&gt;&gt;</a:t>
            </a:r>
            <a:endParaRPr/>
          </a:p>
          <a:p>
            <a:pPr indent="0" lvl="0" marL="0" rtl="0" algn="l">
              <a:spcBef>
                <a:spcPts val="0"/>
              </a:spcBef>
              <a:spcAft>
                <a:spcPts val="0"/>
              </a:spcAft>
              <a:buNone/>
            </a:pPr>
            <a:r>
              <a:rPr lang="en-GB"/>
              <a:t>mailMessageGroup=MailBox</a:t>
            </a:r>
            <a:endParaRPr/>
          </a:p>
        </p:txBody>
      </p:sp>
      <p:sp>
        <p:nvSpPr>
          <p:cNvPr id="697" name="Google Shape;697;p65"/>
          <p:cNvSpPr/>
          <p:nvPr/>
        </p:nvSpPr>
        <p:spPr>
          <a:xfrm>
            <a:off x="2932975" y="3664075"/>
            <a:ext cx="207000" cy="2007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18000" lIns="18000" spcFirstLastPara="1" rIns="18000" wrap="square" tIns="18000">
            <a:noAutofit/>
          </a:bodyPr>
          <a:lstStyle/>
          <a:p>
            <a:pPr indent="0" lvl="0" marL="0" rtl="0" algn="l">
              <a:spcBef>
                <a:spcPts val="0"/>
              </a:spcBef>
              <a:spcAft>
                <a:spcPts val="0"/>
              </a:spcAft>
              <a:buNone/>
            </a:pPr>
            <a:r>
              <a:rPr lang="en-GB"/>
              <a:t>✓</a:t>
            </a:r>
            <a:endParaRPr/>
          </a:p>
        </p:txBody>
      </p:sp>
      <p:cxnSp>
        <p:nvCxnSpPr>
          <p:cNvPr id="698" name="Google Shape;698;p65"/>
          <p:cNvCxnSpPr>
            <a:stCxn id="697" idx="6"/>
            <a:endCxn id="694" idx="1"/>
          </p:cNvCxnSpPr>
          <p:nvPr/>
        </p:nvCxnSpPr>
        <p:spPr>
          <a:xfrm>
            <a:off x="3139975" y="3764425"/>
            <a:ext cx="2053200" cy="978600"/>
          </a:xfrm>
          <a:prstGeom prst="bentConnector3">
            <a:avLst>
              <a:gd fmla="val 49998" name="adj1"/>
            </a:avLst>
          </a:prstGeom>
          <a:noFill/>
          <a:ln cap="flat" cmpd="sng" w="19050">
            <a:solidFill>
              <a:schemeClr val="dk2"/>
            </a:solidFill>
            <a:prstDash val="solid"/>
            <a:round/>
            <a:headEnd len="med" w="med" type="none"/>
            <a:tailEnd len="med" w="med" type="triangle"/>
          </a:ln>
        </p:spPr>
      </p:cxnSp>
      <p:sp>
        <p:nvSpPr>
          <p:cNvPr id="699" name="Google Shape;699;p65"/>
          <p:cNvSpPr/>
          <p:nvPr/>
        </p:nvSpPr>
        <p:spPr>
          <a:xfrm>
            <a:off x="1046575" y="4865375"/>
            <a:ext cx="2973300" cy="655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54000" wrap="square" tIns="91425">
            <a:noAutofit/>
          </a:bodyPr>
          <a:lstStyle/>
          <a:p>
            <a:pPr indent="0" lvl="0" marL="0" rtl="0" algn="l">
              <a:spcBef>
                <a:spcPts val="0"/>
              </a:spcBef>
              <a:spcAft>
                <a:spcPts val="0"/>
              </a:spcAft>
              <a:buNone/>
            </a:pPr>
            <a:r>
              <a:rPr lang="en-GB"/>
              <a:t>&lt;&lt;ParamBindingGroup&gt;&gt;</a:t>
            </a:r>
            <a:endParaRPr/>
          </a:p>
          <a:p>
            <a:pPr indent="0" lvl="0" marL="0" rtl="0" algn="l">
              <a:spcBef>
                <a:spcPts val="0"/>
              </a:spcBef>
              <a:spcAft>
                <a:spcPts val="0"/>
              </a:spcAft>
              <a:buNone/>
            </a:pPr>
            <a:r>
              <a:rPr lang="en-GB"/>
              <a:t>SelectedMailBox ➡ MailBox</a:t>
            </a:r>
            <a:endParaRPr/>
          </a:p>
        </p:txBody>
      </p:sp>
      <p:cxnSp>
        <p:nvCxnSpPr>
          <p:cNvPr id="700" name="Google Shape;700;p65"/>
          <p:cNvCxnSpPr>
            <a:stCxn id="699" idx="1"/>
          </p:cNvCxnSpPr>
          <p:nvPr/>
        </p:nvCxnSpPr>
        <p:spPr>
          <a:xfrm flipH="1" rot="10800000">
            <a:off x="2615163" y="4114775"/>
            <a:ext cx="1542900" cy="7506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06" name="Google Shape;706;p66"/>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Lu</a:t>
            </a:r>
            <a:r>
              <a:rPr lang="en-GB"/>
              <a:t>ồng dữ liệu</a:t>
            </a:r>
            <a:endParaRPr/>
          </a:p>
        </p:txBody>
      </p:sp>
      <p:sp>
        <p:nvSpPr>
          <p:cNvPr id="707" name="Google Shape;707;p66"/>
          <p:cNvSpPr txBox="1"/>
          <p:nvPr>
            <p:ph idx="4294967295" type="body"/>
          </p:nvPr>
        </p:nvSpPr>
        <p:spPr>
          <a:xfrm>
            <a:off x="311700" y="950475"/>
            <a:ext cx="8520600" cy="1416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Luồng dữ liệu là luồng tương tác cho biết các tham số được truyền từ 1 thành phần nguồn tới 1 thành phần đích mà không có tương tác người dùng.</a:t>
            </a:r>
            <a:endParaRPr/>
          </a:p>
        </p:txBody>
      </p:sp>
      <p:sp>
        <p:nvSpPr>
          <p:cNvPr id="708" name="Google Shape;708;p66"/>
          <p:cNvSpPr/>
          <p:nvPr/>
        </p:nvSpPr>
        <p:spPr>
          <a:xfrm>
            <a:off x="281000" y="3409450"/>
            <a:ext cx="2463000" cy="181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sz="1200"/>
              <a:t>ContactList</a:t>
            </a:r>
            <a:endParaRPr sz="1200"/>
          </a:p>
        </p:txBody>
      </p:sp>
      <p:sp>
        <p:nvSpPr>
          <p:cNvPr id="709" name="Google Shape;709;p66"/>
          <p:cNvSpPr/>
          <p:nvPr/>
        </p:nvSpPr>
        <p:spPr>
          <a:xfrm>
            <a:off x="396578" y="3864625"/>
            <a:ext cx="2184900" cy="438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&lt;&lt;DataBinding&gt;&gt; </a:t>
            </a:r>
            <a:r>
              <a:rPr lang="en-GB" sz="1200"/>
              <a:t>Contact</a:t>
            </a:r>
            <a:endParaRPr sz="1200"/>
          </a:p>
        </p:txBody>
      </p:sp>
      <p:sp>
        <p:nvSpPr>
          <p:cNvPr id="710" name="Google Shape;710;p66"/>
          <p:cNvSpPr/>
          <p:nvPr/>
        </p:nvSpPr>
        <p:spPr>
          <a:xfrm>
            <a:off x="2654747" y="3968875"/>
            <a:ext cx="185400" cy="2007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18000" lIns="18000" spcFirstLastPara="1" rIns="18000" wrap="square" tIns="18000">
            <a:noAutofit/>
          </a:bodyPr>
          <a:lstStyle/>
          <a:p>
            <a:pPr indent="0" lvl="0" marL="0" rtl="0" algn="l">
              <a:spcBef>
                <a:spcPts val="0"/>
              </a:spcBef>
              <a:spcAft>
                <a:spcPts val="0"/>
              </a:spcAft>
              <a:buNone/>
            </a:pPr>
            <a:r>
              <a:rPr lang="en-GB" sz="1200"/>
              <a:t>✓</a:t>
            </a:r>
            <a:endParaRPr sz="1200"/>
          </a:p>
        </p:txBody>
      </p:sp>
      <p:sp>
        <p:nvSpPr>
          <p:cNvPr id="711" name="Google Shape;711;p66"/>
          <p:cNvSpPr/>
          <p:nvPr/>
        </p:nvSpPr>
        <p:spPr>
          <a:xfrm>
            <a:off x="396576" y="4398025"/>
            <a:ext cx="2184900" cy="65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a:t>
            </a:r>
            <a:r>
              <a:rPr lang="en-GB" sz="1200"/>
              <a:t>VisualizationAttributes</a:t>
            </a:r>
            <a:r>
              <a:rPr lang="en-GB" sz="1200"/>
              <a:t>&gt;&gt;</a:t>
            </a:r>
            <a:endParaRPr sz="1200"/>
          </a:p>
          <a:p>
            <a:pPr indent="0" lvl="0" marL="0" rtl="0" algn="l">
              <a:spcBef>
                <a:spcPts val="0"/>
              </a:spcBef>
              <a:spcAft>
                <a:spcPts val="0"/>
              </a:spcAft>
              <a:buNone/>
            </a:pPr>
            <a:r>
              <a:rPr lang="en-GB" sz="1200"/>
              <a:t>FirstName, LastName</a:t>
            </a:r>
            <a:endParaRPr sz="1200"/>
          </a:p>
        </p:txBody>
      </p:sp>
      <p:sp>
        <p:nvSpPr>
          <p:cNvPr id="712" name="Google Shape;712;p66"/>
          <p:cNvSpPr/>
          <p:nvPr/>
        </p:nvSpPr>
        <p:spPr>
          <a:xfrm>
            <a:off x="3213850" y="3333250"/>
            <a:ext cx="2663400" cy="1970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sz="1200"/>
              <a:t>Contact</a:t>
            </a:r>
            <a:r>
              <a:rPr lang="en-GB" sz="1200"/>
              <a:t>Info</a:t>
            </a:r>
            <a:endParaRPr sz="1200"/>
          </a:p>
        </p:txBody>
      </p:sp>
      <p:sp>
        <p:nvSpPr>
          <p:cNvPr id="713" name="Google Shape;713;p66"/>
          <p:cNvSpPr/>
          <p:nvPr/>
        </p:nvSpPr>
        <p:spPr>
          <a:xfrm>
            <a:off x="3338839" y="3786531"/>
            <a:ext cx="2363100" cy="4371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&lt;&lt;DataBinding&gt;&gt; Contact</a:t>
            </a:r>
            <a:endParaRPr sz="1200"/>
          </a:p>
        </p:txBody>
      </p:sp>
      <p:sp>
        <p:nvSpPr>
          <p:cNvPr id="714" name="Google Shape;714;p66"/>
          <p:cNvSpPr/>
          <p:nvPr/>
        </p:nvSpPr>
        <p:spPr>
          <a:xfrm>
            <a:off x="3338826" y="4317721"/>
            <a:ext cx="2363100" cy="7464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&lt;&lt;VisualizationAttributes&gt;&gt;</a:t>
            </a:r>
            <a:endParaRPr sz="1200"/>
          </a:p>
          <a:p>
            <a:pPr indent="0" lvl="0" marL="0" rtl="0" algn="l">
              <a:spcBef>
                <a:spcPts val="0"/>
              </a:spcBef>
              <a:spcAft>
                <a:spcPts val="0"/>
              </a:spcAft>
              <a:buNone/>
            </a:pPr>
            <a:r>
              <a:rPr lang="en-GB" sz="1200"/>
              <a:t>FirstName, LastName, </a:t>
            </a:r>
            <a:r>
              <a:rPr lang="en-GB" sz="1200"/>
              <a:t>Photo, Birthday, URL</a:t>
            </a:r>
            <a:endParaRPr sz="1200"/>
          </a:p>
        </p:txBody>
      </p:sp>
      <p:sp>
        <p:nvSpPr>
          <p:cNvPr id="715" name="Google Shape;715;p66"/>
          <p:cNvSpPr/>
          <p:nvPr/>
        </p:nvSpPr>
        <p:spPr>
          <a:xfrm>
            <a:off x="6218625" y="2190250"/>
            <a:ext cx="2463000" cy="212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sz="1200"/>
              <a:t>Addresses</a:t>
            </a:r>
            <a:endParaRPr sz="1200"/>
          </a:p>
        </p:txBody>
      </p:sp>
      <p:sp>
        <p:nvSpPr>
          <p:cNvPr id="716" name="Google Shape;716;p66"/>
          <p:cNvSpPr/>
          <p:nvPr/>
        </p:nvSpPr>
        <p:spPr>
          <a:xfrm>
            <a:off x="6334208" y="2645425"/>
            <a:ext cx="2184900" cy="438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&lt;&lt;DataBinding&gt;&gt; </a:t>
            </a:r>
            <a:r>
              <a:rPr lang="en-GB" sz="1200"/>
              <a:t>Address</a:t>
            </a:r>
            <a:endParaRPr sz="1200"/>
          </a:p>
        </p:txBody>
      </p:sp>
      <p:sp>
        <p:nvSpPr>
          <p:cNvPr id="717" name="Google Shape;717;p66"/>
          <p:cNvSpPr/>
          <p:nvPr/>
        </p:nvSpPr>
        <p:spPr>
          <a:xfrm>
            <a:off x="6334200" y="3702924"/>
            <a:ext cx="2184900" cy="5076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&lt;&lt;VisualizationAttributes&gt;&gt;</a:t>
            </a:r>
            <a:endParaRPr sz="1200"/>
          </a:p>
          <a:p>
            <a:pPr indent="0" lvl="0" marL="0" rtl="0" algn="l">
              <a:spcBef>
                <a:spcPts val="0"/>
              </a:spcBef>
              <a:spcAft>
                <a:spcPts val="0"/>
              </a:spcAft>
              <a:buNone/>
            </a:pPr>
            <a:r>
              <a:rPr lang="en-GB" sz="1200"/>
              <a:t>Name, City, Province, Phone</a:t>
            </a:r>
            <a:endParaRPr sz="1200"/>
          </a:p>
        </p:txBody>
      </p:sp>
      <p:sp>
        <p:nvSpPr>
          <p:cNvPr id="718" name="Google Shape;718;p66"/>
          <p:cNvSpPr/>
          <p:nvPr/>
        </p:nvSpPr>
        <p:spPr>
          <a:xfrm>
            <a:off x="6218625" y="4781050"/>
            <a:ext cx="2613600" cy="1695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sz="1200"/>
              <a:t>Emails</a:t>
            </a:r>
            <a:endParaRPr sz="1200"/>
          </a:p>
        </p:txBody>
      </p:sp>
      <p:sp>
        <p:nvSpPr>
          <p:cNvPr id="719" name="Google Shape;719;p66"/>
          <p:cNvSpPr/>
          <p:nvPr/>
        </p:nvSpPr>
        <p:spPr>
          <a:xfrm>
            <a:off x="6341279" y="5236225"/>
            <a:ext cx="2318700" cy="438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&lt;&lt;DataBinding&gt;&gt; </a:t>
            </a:r>
            <a:r>
              <a:rPr lang="en-GB" sz="1200"/>
              <a:t>MailAddress</a:t>
            </a:r>
            <a:endParaRPr sz="1200"/>
          </a:p>
        </p:txBody>
      </p:sp>
      <p:sp>
        <p:nvSpPr>
          <p:cNvPr id="720" name="Google Shape;720;p66"/>
          <p:cNvSpPr/>
          <p:nvPr/>
        </p:nvSpPr>
        <p:spPr>
          <a:xfrm>
            <a:off x="6341270" y="5769625"/>
            <a:ext cx="2318700" cy="5247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&lt;&lt;VisualizationAttributes&gt;&gt;</a:t>
            </a:r>
            <a:endParaRPr sz="1200"/>
          </a:p>
          <a:p>
            <a:pPr indent="0" lvl="0" marL="0" rtl="0" algn="l">
              <a:spcBef>
                <a:spcPts val="0"/>
              </a:spcBef>
              <a:spcAft>
                <a:spcPts val="0"/>
              </a:spcAft>
              <a:buNone/>
            </a:pPr>
            <a:r>
              <a:rPr lang="en-GB" sz="1200"/>
              <a:t>Name, City, Province, Phone</a:t>
            </a:r>
            <a:endParaRPr sz="1200"/>
          </a:p>
        </p:txBody>
      </p:sp>
      <p:sp>
        <p:nvSpPr>
          <p:cNvPr id="721" name="Google Shape;721;p66"/>
          <p:cNvSpPr/>
          <p:nvPr/>
        </p:nvSpPr>
        <p:spPr>
          <a:xfrm>
            <a:off x="6334200" y="3133076"/>
            <a:ext cx="2184900" cy="5076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&lt;&lt;</a:t>
            </a:r>
            <a:r>
              <a:rPr lang="en-GB" sz="1200"/>
              <a:t>ConditionalExpression</a:t>
            </a:r>
            <a:r>
              <a:rPr lang="en-GB" sz="1200"/>
              <a:t>&gt;&gt; </a:t>
            </a:r>
            <a:r>
              <a:rPr lang="en-GB" sz="1200"/>
              <a:t>contact = contactID</a:t>
            </a:r>
            <a:endParaRPr sz="1200"/>
          </a:p>
        </p:txBody>
      </p:sp>
      <p:cxnSp>
        <p:nvCxnSpPr>
          <p:cNvPr id="722" name="Google Shape;722;p66"/>
          <p:cNvCxnSpPr>
            <a:stCxn id="710" idx="6"/>
          </p:cNvCxnSpPr>
          <p:nvPr/>
        </p:nvCxnSpPr>
        <p:spPr>
          <a:xfrm>
            <a:off x="2840147" y="4069225"/>
            <a:ext cx="394500" cy="19800"/>
          </a:xfrm>
          <a:prstGeom prst="straightConnector1">
            <a:avLst/>
          </a:prstGeom>
          <a:noFill/>
          <a:ln cap="flat" cmpd="sng" w="9525">
            <a:solidFill>
              <a:schemeClr val="dk2"/>
            </a:solidFill>
            <a:prstDash val="solid"/>
            <a:round/>
            <a:headEnd len="med" w="med" type="none"/>
            <a:tailEnd len="med" w="med" type="triangle"/>
          </a:ln>
        </p:spPr>
      </p:cxnSp>
      <p:cxnSp>
        <p:nvCxnSpPr>
          <p:cNvPr id="723" name="Google Shape;723;p66"/>
          <p:cNvCxnSpPr>
            <a:stCxn id="712" idx="0"/>
          </p:cNvCxnSpPr>
          <p:nvPr/>
        </p:nvCxnSpPr>
        <p:spPr>
          <a:xfrm rot="-5400000">
            <a:off x="5108050" y="2252050"/>
            <a:ext cx="518700" cy="1643700"/>
          </a:xfrm>
          <a:prstGeom prst="bentConnector2">
            <a:avLst/>
          </a:prstGeom>
          <a:noFill/>
          <a:ln cap="flat" cmpd="sng" w="9525">
            <a:solidFill>
              <a:schemeClr val="dk2"/>
            </a:solidFill>
            <a:prstDash val="dash"/>
            <a:round/>
            <a:headEnd len="med" w="med" type="none"/>
            <a:tailEnd len="med" w="med" type="triangle"/>
          </a:ln>
        </p:spPr>
      </p:cxnSp>
      <p:cxnSp>
        <p:nvCxnSpPr>
          <p:cNvPr id="724" name="Google Shape;724;p66"/>
          <p:cNvCxnSpPr>
            <a:stCxn id="712" idx="2"/>
          </p:cNvCxnSpPr>
          <p:nvPr/>
        </p:nvCxnSpPr>
        <p:spPr>
          <a:xfrm flipH="1" rot="-5400000">
            <a:off x="5211700" y="4637800"/>
            <a:ext cx="353400" cy="1685700"/>
          </a:xfrm>
          <a:prstGeom prst="bentConnector2">
            <a:avLst/>
          </a:prstGeom>
          <a:noFill/>
          <a:ln cap="flat" cmpd="sng" w="9525">
            <a:solidFill>
              <a:schemeClr val="dk2"/>
            </a:solidFill>
            <a:prstDash val="dash"/>
            <a:round/>
            <a:headEnd len="med" w="med" type="none"/>
            <a:tailEnd len="med" w="med" type="triangle"/>
          </a:ln>
        </p:spPr>
      </p:cxnSp>
      <p:sp>
        <p:nvSpPr>
          <p:cNvPr id="725" name="Google Shape;725;p66"/>
          <p:cNvSpPr/>
          <p:nvPr/>
        </p:nvSpPr>
        <p:spPr>
          <a:xfrm>
            <a:off x="1885225" y="2338500"/>
            <a:ext cx="2363100" cy="589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l">
              <a:spcBef>
                <a:spcPts val="0"/>
              </a:spcBef>
              <a:spcAft>
                <a:spcPts val="0"/>
              </a:spcAft>
              <a:buNone/>
            </a:pPr>
            <a:r>
              <a:rPr lang="en-GB" sz="1200"/>
              <a:t>&lt;&lt;ParamBindingGroup&gt;&gt;</a:t>
            </a:r>
            <a:endParaRPr sz="1200"/>
          </a:p>
          <a:p>
            <a:pPr indent="0" lvl="0" marL="0" rtl="0" algn="l">
              <a:spcBef>
                <a:spcPts val="0"/>
              </a:spcBef>
              <a:spcAft>
                <a:spcPts val="0"/>
              </a:spcAft>
              <a:buNone/>
            </a:pPr>
            <a:r>
              <a:rPr lang="en-GB" sz="1200"/>
              <a:t>contact ➡ contactID</a:t>
            </a:r>
            <a:endParaRPr sz="1200"/>
          </a:p>
        </p:txBody>
      </p:sp>
      <p:cxnSp>
        <p:nvCxnSpPr>
          <p:cNvPr id="726" name="Google Shape;726;p66"/>
          <p:cNvCxnSpPr>
            <a:stCxn id="725" idx="2"/>
          </p:cNvCxnSpPr>
          <p:nvPr/>
        </p:nvCxnSpPr>
        <p:spPr>
          <a:xfrm>
            <a:off x="4174600" y="2633400"/>
            <a:ext cx="348300" cy="4053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32" name="Google Shape;732;p67"/>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Mở rộng IFML</a:t>
            </a:r>
            <a:endParaRPr/>
          </a:p>
        </p:txBody>
      </p:sp>
      <p:sp>
        <p:nvSpPr>
          <p:cNvPr id="733" name="Google Shape;733;p67"/>
          <p:cNvSpPr txBox="1"/>
          <p:nvPr>
            <p:ph idx="4294967295" type="body"/>
          </p:nvPr>
        </p:nvSpPr>
        <p:spPr>
          <a:xfrm>
            <a:off x="311700" y="950475"/>
            <a:ext cx="8520600" cy="2156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thành phần mở rộng được ký hiệu bởi nhãn loài  và có thể chứa các phần tử bổ xung.</a:t>
            </a:r>
            <a:endParaRPr/>
          </a:p>
          <a:p>
            <a:pPr indent="-381000" lvl="0" marL="457200" rtl="0" algn="just">
              <a:spcBef>
                <a:spcPts val="0"/>
              </a:spcBef>
              <a:spcAft>
                <a:spcPts val="0"/>
              </a:spcAft>
              <a:buSzPts val="2400"/>
              <a:buChar char="●"/>
            </a:pPr>
            <a:r>
              <a:rPr lang="en-GB"/>
              <a:t>IFLM cho phép mở rộng thành phần hiển thị cơ bản (ViewComponent) với các đặc tả của người dùng.</a:t>
            </a:r>
            <a:endParaRPr/>
          </a:p>
          <a:p>
            <a:pPr indent="-381000" lvl="0" marL="457200" rtl="0" algn="just">
              <a:spcBef>
                <a:spcPts val="0"/>
              </a:spcBef>
              <a:spcAft>
                <a:spcPts val="0"/>
              </a:spcAft>
              <a:buSzPts val="2400"/>
              <a:buChar char="●"/>
            </a:pPr>
            <a:r>
              <a:rPr lang="en-GB"/>
              <a:t>Ví dụ các mở rộng của thành phần hiển thị:</a:t>
            </a:r>
            <a:endParaRPr/>
          </a:p>
        </p:txBody>
      </p:sp>
      <p:sp>
        <p:nvSpPr>
          <p:cNvPr id="734" name="Google Shape;734;p67"/>
          <p:cNvSpPr/>
          <p:nvPr/>
        </p:nvSpPr>
        <p:spPr>
          <a:xfrm>
            <a:off x="2264150" y="3371975"/>
            <a:ext cx="2053200" cy="988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sz="1600"/>
              <a:t>&lt;&lt;List&gt;&gt; ListName</a:t>
            </a:r>
            <a:endParaRPr sz="1600"/>
          </a:p>
        </p:txBody>
      </p:sp>
      <p:sp>
        <p:nvSpPr>
          <p:cNvPr id="735" name="Google Shape;735;p67"/>
          <p:cNvSpPr/>
          <p:nvPr/>
        </p:nvSpPr>
        <p:spPr>
          <a:xfrm>
            <a:off x="4712525" y="3371975"/>
            <a:ext cx="2895000" cy="988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sz="1600"/>
              <a:t>&lt;&lt;</a:t>
            </a:r>
            <a:r>
              <a:rPr lang="en-GB" sz="1600"/>
              <a:t>Details</a:t>
            </a:r>
            <a:r>
              <a:rPr lang="en-GB" sz="1600"/>
              <a:t>&gt;&gt; </a:t>
            </a:r>
            <a:r>
              <a:rPr lang="en-GB" sz="1600"/>
              <a:t>DetailsName</a:t>
            </a:r>
            <a:endParaRPr sz="1600"/>
          </a:p>
        </p:txBody>
      </p:sp>
      <p:sp>
        <p:nvSpPr>
          <p:cNvPr id="736" name="Google Shape;736;p67"/>
          <p:cNvSpPr/>
          <p:nvPr/>
        </p:nvSpPr>
        <p:spPr>
          <a:xfrm>
            <a:off x="3232450" y="4821950"/>
            <a:ext cx="3436800" cy="129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a:t>&lt;&lt;</a:t>
            </a:r>
            <a:r>
              <a:rPr lang="en-GB"/>
              <a:t>Form</a:t>
            </a:r>
            <a:r>
              <a:rPr lang="en-GB"/>
              <a:t>&gt;&gt; </a:t>
            </a:r>
            <a:r>
              <a:rPr lang="en-GB"/>
              <a:t>FormName</a:t>
            </a:r>
            <a:endParaRPr/>
          </a:p>
        </p:txBody>
      </p:sp>
      <p:sp>
        <p:nvSpPr>
          <p:cNvPr id="737" name="Google Shape;737;p67"/>
          <p:cNvSpPr/>
          <p:nvPr/>
        </p:nvSpPr>
        <p:spPr>
          <a:xfrm>
            <a:off x="3387666" y="5215900"/>
            <a:ext cx="3171000" cy="3192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54000">
            <a:noAutofit/>
          </a:bodyPr>
          <a:lstStyle/>
          <a:p>
            <a:pPr indent="0" lvl="0" marL="0" rtl="0" algn="l">
              <a:spcBef>
                <a:spcPts val="0"/>
              </a:spcBef>
              <a:spcAft>
                <a:spcPts val="0"/>
              </a:spcAft>
              <a:buNone/>
            </a:pPr>
            <a:r>
              <a:rPr lang="en-GB" sz="1600"/>
              <a:t>&lt;&lt;</a:t>
            </a:r>
            <a:r>
              <a:rPr lang="en-GB" sz="1600"/>
              <a:t>SimpleField&gt;&gt; Field1: type1</a:t>
            </a:r>
            <a:endParaRPr sz="1600"/>
          </a:p>
        </p:txBody>
      </p:sp>
      <p:sp>
        <p:nvSpPr>
          <p:cNvPr id="738" name="Google Shape;738;p67"/>
          <p:cNvSpPr/>
          <p:nvPr/>
        </p:nvSpPr>
        <p:spPr>
          <a:xfrm>
            <a:off x="3387666" y="5596900"/>
            <a:ext cx="3171000" cy="3192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54000">
            <a:noAutofit/>
          </a:bodyPr>
          <a:lstStyle/>
          <a:p>
            <a:pPr indent="0" lvl="0" marL="0" rtl="0" algn="l">
              <a:spcBef>
                <a:spcPts val="0"/>
              </a:spcBef>
              <a:spcAft>
                <a:spcPts val="0"/>
              </a:spcAft>
              <a:buNone/>
            </a:pPr>
            <a:r>
              <a:rPr lang="en-GB" sz="1600"/>
              <a:t>&lt;&lt;</a:t>
            </a:r>
            <a:r>
              <a:rPr lang="en-GB" sz="1600"/>
              <a:t>SelectionField</a:t>
            </a:r>
            <a:r>
              <a:rPr lang="en-GB" sz="1600"/>
              <a:t>&gt;&gt; </a:t>
            </a:r>
            <a:r>
              <a:rPr lang="en-GB" sz="1600"/>
              <a:t>Sel1</a:t>
            </a:r>
            <a:endParaRPr sz="16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44" name="Google Shape;744;p6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mở rộng để xuất dữ liệu</a:t>
            </a:r>
            <a:endParaRPr/>
          </a:p>
        </p:txBody>
      </p:sp>
      <p:sp>
        <p:nvSpPr>
          <p:cNvPr id="745" name="Google Shape;745;p68"/>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Danh sách/List: Mở rộng của ViewComponent để hiển thị 1 danh sách các đối tượng. Nếu danh sách được gắn với 1 sự kiện thì bất kỳ đối tượng nào trong nó cũng có thể được sử dụng để kích hoạt sự kiện và truyền như đối số.</a:t>
            </a:r>
            <a:endParaRPr/>
          </a:p>
          <a:p>
            <a:pPr indent="-381000" lvl="0" marL="457200" rtl="0" algn="just">
              <a:spcBef>
                <a:spcPts val="0"/>
              </a:spcBef>
              <a:spcAft>
                <a:spcPts val="0"/>
              </a:spcAft>
              <a:buSzPts val="2400"/>
              <a:buChar char="●"/>
            </a:pPr>
            <a:r>
              <a:rPr lang="en-GB"/>
              <a:t>Danh sách đa lựa chọn/MultiChoiceList: Hỗ trợ nhiều sự kiện (checking, unchecking, submit) và cho phép chọn nhiều phần tử.</a:t>
            </a:r>
            <a:endParaRPr/>
          </a:p>
          <a:p>
            <a:pPr indent="-381000" lvl="0" marL="457200" rtl="0" algn="just">
              <a:spcBef>
                <a:spcPts val="0"/>
              </a:spcBef>
              <a:spcAft>
                <a:spcPts val="0"/>
              </a:spcAft>
              <a:buSzPts val="2400"/>
              <a:buChar char="●"/>
            </a:pPr>
            <a:r>
              <a:rPr lang="en-GB"/>
              <a:t>Chi tiết/Detail: Được sử dụng để hiển thị các thuộc tính của đối tượng. Đối tượng trong nó có thể được sử dụng để kích hoạt sự kiện và truyền đi như đối số.</a:t>
            </a:r>
            <a:endParaRPr/>
          </a:p>
          <a:p>
            <a:pPr indent="-381000" lvl="0" marL="457200" rtl="0" algn="just">
              <a:spcBef>
                <a:spcPts val="0"/>
              </a:spcBef>
              <a:spcAft>
                <a:spcPts val="0"/>
              </a:spcAft>
              <a:buSzPts val="2400"/>
              <a:buChar char="●"/>
            </a:pPr>
            <a:r>
              <a:rPr lang="en-GB"/>
              <a:t>Sự kiện chọn/SelectEvent: Hỗ trợ lựa chọn 1 hoặc nhiều phần tử từ 1 tập hợp. Khi được kích hoạt nó khiến các giá trị được lựa chọn được truyền đi như đối số.</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Biểu mẫu</a:t>
            </a:r>
            <a:endParaRPr b="1"/>
          </a:p>
        </p:txBody>
      </p:sp>
      <p:sp>
        <p:nvSpPr>
          <p:cNvPr id="751" name="Google Shape;751;p69"/>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Biểu mẫu/Form là 1 thành phần hiển thị có thể bao gồm nhiều trường dữ liệu.</a:t>
            </a:r>
            <a:endParaRPr/>
          </a:p>
          <a:p>
            <a:pPr indent="-381000" lvl="0" marL="457200" rtl="0" algn="just">
              <a:spcBef>
                <a:spcPts val="0"/>
              </a:spcBef>
              <a:spcAft>
                <a:spcPts val="0"/>
              </a:spcAft>
              <a:buSzPts val="2400"/>
              <a:buChar char="●"/>
            </a:pPr>
            <a:r>
              <a:rPr lang="en-GB"/>
              <a:t>Trường/Field là bộ phận của biểu mẫu được xác định bởi kiểu dữ liệu của giá trị mà nó tiếp nhận hoặc hiển thị cho người dùng.</a:t>
            </a:r>
            <a:endParaRPr/>
          </a:p>
          <a:p>
            <a:pPr indent="-381000" lvl="0" marL="457200" rtl="0" algn="just">
              <a:spcBef>
                <a:spcPts val="0"/>
              </a:spcBef>
              <a:spcAft>
                <a:spcPts val="0"/>
              </a:spcAft>
              <a:buSzPts val="2400"/>
              <a:buChar char="●"/>
            </a:pPr>
            <a:r>
              <a:rPr lang="en-GB"/>
              <a:t>Trường đơn giản/SimpleField Là 1 loại trường tiếp nhận giá trị có định kiểu. Giá trị của nó là tham số đầu ra và có thể được truyền tới thành phần khác hoặc hành động.</a:t>
            </a:r>
            <a:endParaRPr/>
          </a:p>
          <a:p>
            <a:pPr indent="-381000" lvl="0" marL="457200" rtl="0" algn="just">
              <a:spcBef>
                <a:spcPts val="0"/>
              </a:spcBef>
              <a:spcAft>
                <a:spcPts val="0"/>
              </a:spcAft>
              <a:buSzPts val="2400"/>
              <a:buChar char="●"/>
            </a:pPr>
            <a:r>
              <a:rPr lang="en-GB"/>
              <a:t>Trường lựa chọn/SelectionField là 1 loại trường cho phép chọn 1 hoặc nhiều giá trị từ 1 tập đã được định nghĩa.</a:t>
            </a:r>
            <a:endParaRPr/>
          </a:p>
          <a:p>
            <a:pPr indent="-381000" lvl="0" marL="457200" rtl="0" algn="just">
              <a:spcBef>
                <a:spcPts val="0"/>
              </a:spcBef>
              <a:spcAft>
                <a:spcPts val="0"/>
              </a:spcAft>
              <a:buSzPts val="2400"/>
              <a:buChar char="●"/>
            </a:pPr>
            <a:r>
              <a:rPr lang="en-GB"/>
              <a:t>Sự kiện gửi/SubmitEvent là 1 loại sự kiện biểu diễn việc gửi 1 hoặc nhiều giá trị. Nó kích hoạt truyền tham số từ thành phần chứa sự kiện tới đích của luồng điều hướng.</a:t>
            </a:r>
            <a:endParaRPr/>
          </a:p>
        </p:txBody>
      </p:sp>
      <p:sp>
        <p:nvSpPr>
          <p:cNvPr id="752" name="Google Shape;752;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0"/>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8. Biểu mẫu</a:t>
            </a:r>
            <a:endParaRPr/>
          </a:p>
        </p:txBody>
      </p:sp>
      <p:sp>
        <p:nvSpPr>
          <p:cNvPr id="758" name="Google Shape;758;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59" name="Google Shape;759;p70"/>
          <p:cNvSpPr/>
          <p:nvPr/>
        </p:nvSpPr>
        <p:spPr>
          <a:xfrm>
            <a:off x="804425" y="1791875"/>
            <a:ext cx="1680300" cy="763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&lt;&lt;Form&gt;&gt;</a:t>
            </a:r>
            <a:endParaRPr/>
          </a:p>
          <a:p>
            <a:pPr indent="0" lvl="0" marL="0" rtl="0" algn="ctr">
              <a:spcBef>
                <a:spcPts val="0"/>
              </a:spcBef>
              <a:spcAft>
                <a:spcPts val="0"/>
              </a:spcAft>
              <a:buNone/>
            </a:pPr>
            <a:r>
              <a:rPr lang="en-GB"/>
              <a:t>BookEntry</a:t>
            </a:r>
            <a:endParaRPr/>
          </a:p>
        </p:txBody>
      </p:sp>
      <p:sp>
        <p:nvSpPr>
          <p:cNvPr id="760" name="Google Shape;760;p70"/>
          <p:cNvSpPr/>
          <p:nvPr/>
        </p:nvSpPr>
        <p:spPr>
          <a:xfrm>
            <a:off x="3821700" y="1558500"/>
            <a:ext cx="3282900" cy="2315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70"/>
          <p:cNvSpPr txBox="1"/>
          <p:nvPr/>
        </p:nvSpPr>
        <p:spPr>
          <a:xfrm>
            <a:off x="4016425" y="1423575"/>
            <a:ext cx="1680300" cy="255300"/>
          </a:xfrm>
          <a:prstGeom prst="rect">
            <a:avLst/>
          </a:prstGeom>
          <a:solidFill>
            <a:srgbClr val="FFFFFF"/>
          </a:solidFill>
          <a:ln>
            <a:noFill/>
          </a:ln>
        </p:spPr>
        <p:txBody>
          <a:bodyPr anchorCtr="0" anchor="t" bIns="91425" lIns="91425" spcFirstLastPara="1" rIns="91425" wrap="square" tIns="18000">
            <a:noAutofit/>
          </a:bodyPr>
          <a:lstStyle/>
          <a:p>
            <a:pPr indent="0" lvl="0" marL="0" rtl="0" algn="l">
              <a:spcBef>
                <a:spcPts val="0"/>
              </a:spcBef>
              <a:spcAft>
                <a:spcPts val="0"/>
              </a:spcAft>
              <a:buNone/>
            </a:pPr>
            <a:r>
              <a:rPr lang="en-GB"/>
              <a:t>Thông tin về sách</a:t>
            </a:r>
            <a:endParaRPr/>
          </a:p>
        </p:txBody>
      </p:sp>
      <p:sp>
        <p:nvSpPr>
          <p:cNvPr id="762" name="Google Shape;762;p70"/>
          <p:cNvSpPr txBox="1"/>
          <p:nvPr/>
        </p:nvSpPr>
        <p:spPr>
          <a:xfrm>
            <a:off x="4006375" y="1803125"/>
            <a:ext cx="580200" cy="293400"/>
          </a:xfrm>
          <a:prstGeom prst="rect">
            <a:avLst/>
          </a:prstGeom>
          <a:noFill/>
          <a:ln>
            <a:noFill/>
          </a:ln>
        </p:spPr>
        <p:txBody>
          <a:bodyPr anchorCtr="0" anchor="t" bIns="91425" lIns="91425" spcFirstLastPara="1" rIns="91425" wrap="square" tIns="18000">
            <a:noAutofit/>
          </a:bodyPr>
          <a:lstStyle/>
          <a:p>
            <a:pPr indent="0" lvl="0" marL="0" rtl="0" algn="l">
              <a:spcBef>
                <a:spcPts val="0"/>
              </a:spcBef>
              <a:spcAft>
                <a:spcPts val="0"/>
              </a:spcAft>
              <a:buNone/>
            </a:pPr>
            <a:r>
              <a:rPr lang="en-GB"/>
              <a:t>Tên:</a:t>
            </a:r>
            <a:endParaRPr/>
          </a:p>
        </p:txBody>
      </p:sp>
      <p:sp>
        <p:nvSpPr>
          <p:cNvPr id="763" name="Google Shape;763;p70"/>
          <p:cNvSpPr/>
          <p:nvPr/>
        </p:nvSpPr>
        <p:spPr>
          <a:xfrm>
            <a:off x="4723800" y="1785875"/>
            <a:ext cx="2260200" cy="25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Ngôn ngữ lập trình C</a:t>
            </a:r>
            <a:endParaRPr/>
          </a:p>
        </p:txBody>
      </p:sp>
      <p:sp>
        <p:nvSpPr>
          <p:cNvPr id="764" name="Google Shape;764;p70"/>
          <p:cNvSpPr txBox="1"/>
          <p:nvPr/>
        </p:nvSpPr>
        <p:spPr>
          <a:xfrm>
            <a:off x="4006375" y="2184125"/>
            <a:ext cx="580200" cy="293400"/>
          </a:xfrm>
          <a:prstGeom prst="rect">
            <a:avLst/>
          </a:prstGeom>
          <a:noFill/>
          <a:ln>
            <a:noFill/>
          </a:ln>
        </p:spPr>
        <p:txBody>
          <a:bodyPr anchorCtr="0" anchor="t" bIns="91425" lIns="91425" spcFirstLastPara="1" rIns="91425" wrap="square" tIns="18000">
            <a:noAutofit/>
          </a:bodyPr>
          <a:lstStyle/>
          <a:p>
            <a:pPr indent="0" lvl="0" marL="0" rtl="0" algn="l">
              <a:spcBef>
                <a:spcPts val="0"/>
              </a:spcBef>
              <a:spcAft>
                <a:spcPts val="0"/>
              </a:spcAft>
              <a:buNone/>
            </a:pPr>
            <a:r>
              <a:rPr lang="en-GB"/>
              <a:t>Giá:</a:t>
            </a:r>
            <a:endParaRPr/>
          </a:p>
        </p:txBody>
      </p:sp>
      <p:sp>
        <p:nvSpPr>
          <p:cNvPr id="765" name="Google Shape;765;p70"/>
          <p:cNvSpPr/>
          <p:nvPr/>
        </p:nvSpPr>
        <p:spPr>
          <a:xfrm>
            <a:off x="4723800" y="2166875"/>
            <a:ext cx="888600" cy="25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80000</a:t>
            </a:r>
            <a:endParaRPr/>
          </a:p>
        </p:txBody>
      </p:sp>
      <p:sp>
        <p:nvSpPr>
          <p:cNvPr id="766" name="Google Shape;766;p70"/>
          <p:cNvSpPr txBox="1"/>
          <p:nvPr/>
        </p:nvSpPr>
        <p:spPr>
          <a:xfrm>
            <a:off x="5682775" y="2184125"/>
            <a:ext cx="723600" cy="293400"/>
          </a:xfrm>
          <a:prstGeom prst="rect">
            <a:avLst/>
          </a:prstGeom>
          <a:noFill/>
          <a:ln>
            <a:noFill/>
          </a:ln>
        </p:spPr>
        <p:txBody>
          <a:bodyPr anchorCtr="0" anchor="t" bIns="91425" lIns="54000" spcFirstLastPara="1" rIns="18000" wrap="square" tIns="18000">
            <a:noAutofit/>
          </a:bodyPr>
          <a:lstStyle/>
          <a:p>
            <a:pPr indent="0" lvl="0" marL="0" rtl="0" algn="l">
              <a:spcBef>
                <a:spcPts val="0"/>
              </a:spcBef>
              <a:spcAft>
                <a:spcPts val="0"/>
              </a:spcAft>
              <a:buNone/>
            </a:pPr>
            <a:r>
              <a:rPr lang="en-GB"/>
              <a:t>Đơn vị:</a:t>
            </a:r>
            <a:endParaRPr/>
          </a:p>
        </p:txBody>
      </p:sp>
      <p:sp>
        <p:nvSpPr>
          <p:cNvPr id="767" name="Google Shape;767;p70"/>
          <p:cNvSpPr/>
          <p:nvPr/>
        </p:nvSpPr>
        <p:spPr>
          <a:xfrm>
            <a:off x="6400200" y="2166875"/>
            <a:ext cx="580200" cy="255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đ</a:t>
            </a:r>
            <a:endParaRPr/>
          </a:p>
        </p:txBody>
      </p:sp>
      <p:sp>
        <p:nvSpPr>
          <p:cNvPr id="768" name="Google Shape;768;p70"/>
          <p:cNvSpPr/>
          <p:nvPr/>
        </p:nvSpPr>
        <p:spPr>
          <a:xfrm rot="-10788307">
            <a:off x="6828823" y="2268348"/>
            <a:ext cx="88201" cy="66301"/>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70"/>
          <p:cNvSpPr txBox="1"/>
          <p:nvPr/>
        </p:nvSpPr>
        <p:spPr>
          <a:xfrm>
            <a:off x="4006375" y="2488925"/>
            <a:ext cx="723600" cy="293400"/>
          </a:xfrm>
          <a:prstGeom prst="rect">
            <a:avLst/>
          </a:prstGeom>
          <a:noFill/>
          <a:ln>
            <a:noFill/>
          </a:ln>
        </p:spPr>
        <p:txBody>
          <a:bodyPr anchorCtr="0" anchor="t" bIns="91425" lIns="91425" spcFirstLastPara="1" rIns="91425" wrap="square" tIns="18000">
            <a:noAutofit/>
          </a:bodyPr>
          <a:lstStyle/>
          <a:p>
            <a:pPr indent="0" lvl="0" marL="0" rtl="0" algn="l">
              <a:spcBef>
                <a:spcPts val="0"/>
              </a:spcBef>
              <a:spcAft>
                <a:spcPts val="0"/>
              </a:spcAft>
              <a:buNone/>
            </a:pPr>
            <a:r>
              <a:rPr lang="en-GB"/>
              <a:t>Mô tả:</a:t>
            </a:r>
            <a:endParaRPr/>
          </a:p>
        </p:txBody>
      </p:sp>
      <p:sp>
        <p:nvSpPr>
          <p:cNvPr id="770" name="Google Shape;770;p70"/>
          <p:cNvSpPr/>
          <p:nvPr/>
        </p:nvSpPr>
        <p:spPr>
          <a:xfrm>
            <a:off x="4114075" y="2795875"/>
            <a:ext cx="2869800" cy="473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Được biên soạn theo C17 và C2x</a:t>
            </a:r>
            <a:endParaRPr/>
          </a:p>
        </p:txBody>
      </p:sp>
      <p:sp>
        <p:nvSpPr>
          <p:cNvPr id="771" name="Google Shape;771;p70"/>
          <p:cNvSpPr/>
          <p:nvPr/>
        </p:nvSpPr>
        <p:spPr>
          <a:xfrm>
            <a:off x="5948750" y="3442150"/>
            <a:ext cx="957600" cy="360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Cập nhật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71"/>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8. Biểu mẫu</a:t>
            </a:r>
            <a:r>
              <a:rPr baseline="-25000" lang="en-GB"/>
              <a:t>(</a:t>
            </a:r>
            <a:r>
              <a:rPr baseline="-25000" lang="en-GB"/>
              <a:t>2)</a:t>
            </a:r>
            <a:endParaRPr baseline="-25000"/>
          </a:p>
        </p:txBody>
      </p:sp>
      <p:sp>
        <p:nvSpPr>
          <p:cNvPr id="777" name="Google Shape;777;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8" name="Google Shape;778;p71"/>
          <p:cNvSpPr/>
          <p:nvPr/>
        </p:nvSpPr>
        <p:spPr>
          <a:xfrm>
            <a:off x="2567175" y="970925"/>
            <a:ext cx="3346800" cy="2189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91425" wrap="square" tIns="18000">
            <a:noAutofit/>
          </a:bodyPr>
          <a:lstStyle/>
          <a:p>
            <a:pPr indent="0" lvl="0" marL="0" rtl="0" algn="l">
              <a:spcBef>
                <a:spcPts val="0"/>
              </a:spcBef>
              <a:spcAft>
                <a:spcPts val="0"/>
              </a:spcAft>
              <a:buNone/>
            </a:pPr>
            <a:r>
              <a:rPr lang="en-GB" sz="1600"/>
              <a:t>&lt;&lt;Form&gt;&gt; DataInput</a:t>
            </a:r>
            <a:endParaRPr sz="1600"/>
          </a:p>
        </p:txBody>
      </p:sp>
      <p:sp>
        <p:nvSpPr>
          <p:cNvPr id="779" name="Google Shape;779;p71"/>
          <p:cNvSpPr/>
          <p:nvPr/>
        </p:nvSpPr>
        <p:spPr>
          <a:xfrm>
            <a:off x="2749410" y="1391600"/>
            <a:ext cx="2898000" cy="396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&lt;&lt;SimpleField&gt;&gt; Text:string</a:t>
            </a:r>
            <a:endParaRPr sz="1600"/>
          </a:p>
        </p:txBody>
      </p:sp>
      <p:sp>
        <p:nvSpPr>
          <p:cNvPr id="780" name="Google Shape;780;p71"/>
          <p:cNvSpPr/>
          <p:nvPr/>
        </p:nvSpPr>
        <p:spPr>
          <a:xfrm>
            <a:off x="2749410" y="1925000"/>
            <a:ext cx="2898000" cy="396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&lt;&lt;SimpleField&gt;&gt; Picker:date</a:t>
            </a:r>
            <a:endParaRPr sz="1600"/>
          </a:p>
        </p:txBody>
      </p:sp>
      <p:sp>
        <p:nvSpPr>
          <p:cNvPr id="781" name="Google Shape;781;p71"/>
          <p:cNvSpPr/>
          <p:nvPr/>
        </p:nvSpPr>
        <p:spPr>
          <a:xfrm>
            <a:off x="2749410" y="2458400"/>
            <a:ext cx="2898000" cy="396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&lt;&lt;SelectionField&gt;&gt; Chooser</a:t>
            </a:r>
            <a:endParaRPr sz="1600"/>
          </a:p>
        </p:txBody>
      </p:sp>
      <p:sp>
        <p:nvSpPr>
          <p:cNvPr id="782" name="Google Shape;782;p71"/>
          <p:cNvSpPr/>
          <p:nvPr/>
        </p:nvSpPr>
        <p:spPr>
          <a:xfrm>
            <a:off x="5751753" y="1969575"/>
            <a:ext cx="310500" cy="3105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rPr lang="en-GB"/>
              <a:t>↵</a:t>
            </a:r>
            <a:endParaRPr/>
          </a:p>
        </p:txBody>
      </p:sp>
      <p:sp>
        <p:nvSpPr>
          <p:cNvPr id="783" name="Google Shape;783;p71"/>
          <p:cNvSpPr txBox="1"/>
          <p:nvPr/>
        </p:nvSpPr>
        <p:spPr>
          <a:xfrm>
            <a:off x="5993300" y="1884750"/>
            <a:ext cx="897300" cy="3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Submit</a:t>
            </a:r>
            <a:endParaRPr sz="1600"/>
          </a:p>
        </p:txBody>
      </p:sp>
      <p:sp>
        <p:nvSpPr>
          <p:cNvPr id="784" name="Google Shape;784;p71"/>
          <p:cNvSpPr/>
          <p:nvPr/>
        </p:nvSpPr>
        <p:spPr>
          <a:xfrm>
            <a:off x="2544175" y="3674775"/>
            <a:ext cx="4964400" cy="24153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p:txBody>
      </p:sp>
      <p:sp>
        <p:nvSpPr>
          <p:cNvPr id="785" name="Google Shape;785;p71"/>
          <p:cNvSpPr txBox="1"/>
          <p:nvPr/>
        </p:nvSpPr>
        <p:spPr>
          <a:xfrm>
            <a:off x="2936576" y="3493625"/>
            <a:ext cx="1572900" cy="3450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Nhập dữ liệu</a:t>
            </a:r>
            <a:endParaRPr sz="1600"/>
          </a:p>
        </p:txBody>
      </p:sp>
      <p:sp>
        <p:nvSpPr>
          <p:cNvPr id="786" name="Google Shape;786;p71"/>
          <p:cNvSpPr txBox="1"/>
          <p:nvPr/>
        </p:nvSpPr>
        <p:spPr>
          <a:xfrm>
            <a:off x="3024484" y="4019825"/>
            <a:ext cx="10647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Văn bản:</a:t>
            </a:r>
            <a:endParaRPr sz="1600"/>
          </a:p>
        </p:txBody>
      </p:sp>
      <p:sp>
        <p:nvSpPr>
          <p:cNvPr id="787" name="Google Shape;787;p71"/>
          <p:cNvSpPr txBox="1"/>
          <p:nvPr/>
        </p:nvSpPr>
        <p:spPr>
          <a:xfrm>
            <a:off x="3024484" y="4400825"/>
            <a:ext cx="12600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Chọn ngày:</a:t>
            </a:r>
            <a:endParaRPr sz="1600"/>
          </a:p>
        </p:txBody>
      </p:sp>
      <p:sp>
        <p:nvSpPr>
          <p:cNvPr id="788" name="Google Shape;788;p71"/>
          <p:cNvSpPr txBox="1"/>
          <p:nvPr/>
        </p:nvSpPr>
        <p:spPr>
          <a:xfrm>
            <a:off x="3024484" y="5052119"/>
            <a:ext cx="12600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Lựa chọn:</a:t>
            </a:r>
            <a:endParaRPr sz="1600"/>
          </a:p>
        </p:txBody>
      </p:sp>
      <p:sp>
        <p:nvSpPr>
          <p:cNvPr id="789" name="Google Shape;789;p71"/>
          <p:cNvSpPr/>
          <p:nvPr/>
        </p:nvSpPr>
        <p:spPr>
          <a:xfrm>
            <a:off x="6101776" y="5607100"/>
            <a:ext cx="1191900" cy="39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Gửi</a:t>
            </a:r>
            <a:endParaRPr sz="1600"/>
          </a:p>
        </p:txBody>
      </p:sp>
      <p:sp>
        <p:nvSpPr>
          <p:cNvPr id="790" name="Google Shape;790;p71"/>
          <p:cNvSpPr/>
          <p:nvPr/>
        </p:nvSpPr>
        <p:spPr>
          <a:xfrm>
            <a:off x="4356355" y="3979575"/>
            <a:ext cx="2862300" cy="396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p:txBody>
      </p:sp>
      <p:sp>
        <p:nvSpPr>
          <p:cNvPr id="791" name="Google Shape;791;p71"/>
          <p:cNvSpPr/>
          <p:nvPr/>
        </p:nvSpPr>
        <p:spPr>
          <a:xfrm>
            <a:off x="4356355" y="4512975"/>
            <a:ext cx="1491600" cy="396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28/04/2023</a:t>
            </a:r>
            <a:endParaRPr sz="1600"/>
          </a:p>
        </p:txBody>
      </p:sp>
      <p:sp>
        <p:nvSpPr>
          <p:cNvPr id="792" name="Google Shape;792;p71"/>
          <p:cNvSpPr/>
          <p:nvPr/>
        </p:nvSpPr>
        <p:spPr>
          <a:xfrm>
            <a:off x="5937344" y="4514425"/>
            <a:ext cx="467100" cy="39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a:t>
            </a:r>
            <a:endParaRPr sz="1600"/>
          </a:p>
        </p:txBody>
      </p:sp>
      <p:sp>
        <p:nvSpPr>
          <p:cNvPr id="793" name="Google Shape;793;p71"/>
          <p:cNvSpPr/>
          <p:nvPr/>
        </p:nvSpPr>
        <p:spPr>
          <a:xfrm>
            <a:off x="4356355" y="5046375"/>
            <a:ext cx="2048100" cy="396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Mục 1</a:t>
            </a:r>
            <a:endParaRPr sz="1600"/>
          </a:p>
        </p:txBody>
      </p:sp>
      <p:sp>
        <p:nvSpPr>
          <p:cNvPr id="794" name="Google Shape;794;p71"/>
          <p:cNvSpPr/>
          <p:nvPr/>
        </p:nvSpPr>
        <p:spPr>
          <a:xfrm rot="10800000">
            <a:off x="5956909" y="5141275"/>
            <a:ext cx="351600" cy="217200"/>
          </a:xfrm>
          <a:prstGeom prst="triangle">
            <a:avLst>
              <a:gd fmla="val 50000" name="adj"/>
            </a:avLst>
          </a:prstGeom>
          <a:solidFill>
            <a:srgbClr val="43434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7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mở rộng cho giao diện cửa sổ</a:t>
            </a:r>
            <a:endParaRPr baseline="-25000"/>
          </a:p>
        </p:txBody>
      </p:sp>
      <p:sp>
        <p:nvSpPr>
          <p:cNvPr id="800" name="Google Shape;800;p72"/>
          <p:cNvSpPr txBox="1"/>
          <p:nvPr>
            <p:ph idx="1" type="body"/>
          </p:nvPr>
        </p:nvSpPr>
        <p:spPr>
          <a:xfrm>
            <a:off x="311700" y="950475"/>
            <a:ext cx="8520600" cy="511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Mở rộng sự kiện:</a:t>
            </a:r>
            <a:endParaRPr/>
          </a:p>
          <a:p>
            <a:pPr indent="-368300" lvl="1" marL="914400" rtl="0" algn="just">
              <a:spcBef>
                <a:spcPts val="0"/>
              </a:spcBef>
              <a:spcAft>
                <a:spcPts val="0"/>
              </a:spcAft>
              <a:buSzPts val="2200"/>
              <a:buChar char="○"/>
            </a:pPr>
            <a:r>
              <a:rPr lang="en-GB"/>
              <a:t>Khi mất tiêu điểm/OnFocusLost: Sự kiện được kích hoạt khi người dùng rời trường dữ liệu. Có thể được gắn với trường đơn giản hoặc toàn bộ biểu mẫu.</a:t>
            </a:r>
            <a:endParaRPr/>
          </a:p>
          <a:p>
            <a:pPr indent="0" lvl="0" marL="914400" rtl="0" algn="just">
              <a:spcBef>
                <a:spcPts val="0"/>
              </a:spcBef>
              <a:spcAft>
                <a:spcPts val="0"/>
              </a:spcAft>
              <a:buNone/>
            </a:pPr>
            <a:r>
              <a:rPr lang="en-GB"/>
              <a:t> </a:t>
            </a:r>
            <a:endParaRPr/>
          </a:p>
          <a:p>
            <a:pPr indent="0" lvl="0" marL="914400" rtl="0" algn="just">
              <a:spcBef>
                <a:spcPts val="0"/>
              </a:spcBef>
              <a:spcAft>
                <a:spcPts val="0"/>
              </a:spcAft>
              <a:buNone/>
            </a:pPr>
            <a:r>
              <a:rPr lang="en-GB"/>
              <a:t> </a:t>
            </a:r>
            <a:endParaRPr/>
          </a:p>
          <a:p>
            <a:pPr indent="0" lvl="0" marL="914400" rtl="0" algn="just">
              <a:spcBef>
                <a:spcPts val="0"/>
              </a:spcBef>
              <a:spcAft>
                <a:spcPts val="0"/>
              </a:spcAft>
              <a:buNone/>
            </a:pPr>
            <a:r>
              <a:rPr lang="en-GB"/>
              <a:t> </a:t>
            </a:r>
            <a:endParaRPr/>
          </a:p>
          <a:p>
            <a:pPr indent="0" lvl="0" marL="914400" rtl="0" algn="just">
              <a:spcBef>
                <a:spcPts val="0"/>
              </a:spcBef>
              <a:spcAft>
                <a:spcPts val="0"/>
              </a:spcAft>
              <a:buNone/>
            </a:pPr>
            <a:r>
              <a:rPr lang="en-GB"/>
              <a:t> </a:t>
            </a:r>
            <a:endParaRPr/>
          </a:p>
          <a:p>
            <a:pPr indent="0" lvl="0" marL="914400" rtl="0" algn="just">
              <a:spcBef>
                <a:spcPts val="0"/>
              </a:spcBef>
              <a:spcAft>
                <a:spcPts val="0"/>
              </a:spcAft>
              <a:buNone/>
            </a:pPr>
            <a:r>
              <a:rPr lang="en-GB"/>
              <a:t> </a:t>
            </a:r>
            <a:endParaRPr/>
          </a:p>
          <a:p>
            <a:pPr indent="-368300" lvl="1" marL="914400" rtl="0" algn="just">
              <a:spcBef>
                <a:spcPts val="0"/>
              </a:spcBef>
              <a:spcAft>
                <a:spcPts val="0"/>
              </a:spcAft>
              <a:buSzPts val="2200"/>
              <a:buChar char="○"/>
            </a:pPr>
            <a:r>
              <a:rPr lang="en-GB"/>
              <a:t>Bắt đầu kéo/OnDragStart - Bắt đầu kéo. Sự kiện đích được xác định bởi OnDropEvent.</a:t>
            </a:r>
            <a:endParaRPr/>
          </a:p>
          <a:p>
            <a:pPr indent="-368300" lvl="1" marL="914400" rtl="0" algn="just">
              <a:spcBef>
                <a:spcPts val="0"/>
              </a:spcBef>
              <a:spcAft>
                <a:spcPts val="0"/>
              </a:spcAft>
              <a:buSzPts val="2200"/>
              <a:buChar char="○"/>
            </a:pPr>
            <a:r>
              <a:rPr lang="en-GB"/>
              <a:t>Thả/OnDrop - Được kích hoạt khi kết thúc tương tác thả.</a:t>
            </a:r>
            <a:endParaRPr/>
          </a:p>
        </p:txBody>
      </p:sp>
      <p:sp>
        <p:nvSpPr>
          <p:cNvPr id="801" name="Google Shape;801;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02" name="Google Shape;802;p72"/>
          <p:cNvSpPr/>
          <p:nvPr/>
        </p:nvSpPr>
        <p:spPr>
          <a:xfrm>
            <a:off x="569897" y="2704600"/>
            <a:ext cx="3760500" cy="174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2"/>
          <p:cNvSpPr/>
          <p:nvPr/>
        </p:nvSpPr>
        <p:spPr>
          <a:xfrm>
            <a:off x="566225" y="2704600"/>
            <a:ext cx="3760500" cy="35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ProfileManagement</a:t>
            </a:r>
            <a:endParaRPr/>
          </a:p>
        </p:txBody>
      </p:sp>
      <p:sp>
        <p:nvSpPr>
          <p:cNvPr id="804" name="Google Shape;804;p72"/>
          <p:cNvSpPr/>
          <p:nvPr/>
        </p:nvSpPr>
        <p:spPr>
          <a:xfrm>
            <a:off x="791225" y="3183150"/>
            <a:ext cx="3392700" cy="1155900"/>
          </a:xfrm>
          <a:prstGeom prst="roundRect">
            <a:avLst>
              <a:gd fmla="val 16667" name="adj"/>
            </a:avLst>
          </a:prstGeom>
          <a:solidFill>
            <a:srgbClr val="CCCCCC"/>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Form&gt;&gt; ProfileEditor</a:t>
            </a:r>
            <a:endParaRPr/>
          </a:p>
        </p:txBody>
      </p:sp>
      <p:sp>
        <p:nvSpPr>
          <p:cNvPr id="805" name="Google Shape;805;p72"/>
          <p:cNvSpPr/>
          <p:nvPr/>
        </p:nvSpPr>
        <p:spPr>
          <a:xfrm>
            <a:off x="928171" y="3623100"/>
            <a:ext cx="3054600" cy="357900"/>
          </a:xfrm>
          <a:prstGeom prst="rect">
            <a:avLst/>
          </a:prstGeom>
          <a:solidFill>
            <a:schemeClr val="lt1"/>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SimpleField&gt;&gt; UserName: String</a:t>
            </a:r>
            <a:endParaRPr/>
          </a:p>
        </p:txBody>
      </p:sp>
      <p:sp>
        <p:nvSpPr>
          <p:cNvPr id="806" name="Google Shape;806;p72"/>
          <p:cNvSpPr/>
          <p:nvPr/>
        </p:nvSpPr>
        <p:spPr>
          <a:xfrm>
            <a:off x="6144875" y="3267976"/>
            <a:ext cx="1639025" cy="11559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Kiểm tra tính khả dụng</a:t>
            </a:r>
            <a:endParaRPr/>
          </a:p>
        </p:txBody>
      </p:sp>
      <p:sp>
        <p:nvSpPr>
          <p:cNvPr id="807" name="Google Shape;807;p72"/>
          <p:cNvSpPr/>
          <p:nvPr/>
        </p:nvSpPr>
        <p:spPr>
          <a:xfrm>
            <a:off x="3861751" y="3686353"/>
            <a:ext cx="210900" cy="20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8" name="Google Shape;808;p72"/>
          <p:cNvCxnSpPr>
            <a:stCxn id="807" idx="6"/>
            <a:endCxn id="806" idx="1"/>
          </p:cNvCxnSpPr>
          <p:nvPr/>
        </p:nvCxnSpPr>
        <p:spPr>
          <a:xfrm>
            <a:off x="4072651" y="3788353"/>
            <a:ext cx="2072100" cy="57600"/>
          </a:xfrm>
          <a:prstGeom prst="straightConnector1">
            <a:avLst/>
          </a:prstGeom>
          <a:noFill/>
          <a:ln cap="flat" cmpd="sng" w="9525">
            <a:solidFill>
              <a:schemeClr val="dk2"/>
            </a:solidFill>
            <a:prstDash val="solid"/>
            <a:round/>
            <a:headEnd len="med" w="med" type="none"/>
            <a:tailEnd len="med" w="med" type="triangle"/>
          </a:ln>
        </p:spPr>
      </p:cxnSp>
      <p:sp>
        <p:nvSpPr>
          <p:cNvPr id="809" name="Google Shape;809;p72"/>
          <p:cNvSpPr txBox="1"/>
          <p:nvPr/>
        </p:nvSpPr>
        <p:spPr>
          <a:xfrm>
            <a:off x="4295964" y="3450572"/>
            <a:ext cx="1718100" cy="4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OnFocusLost&gt;&gt;</a:t>
            </a:r>
            <a:endParaRPr/>
          </a:p>
        </p:txBody>
      </p:sp>
      <p:sp>
        <p:nvSpPr>
          <p:cNvPr id="810" name="Google Shape;810;p72"/>
          <p:cNvSpPr/>
          <p:nvPr/>
        </p:nvSpPr>
        <p:spPr>
          <a:xfrm>
            <a:off x="4692775" y="2570675"/>
            <a:ext cx="3091125" cy="49182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l">
              <a:spcBef>
                <a:spcPts val="0"/>
              </a:spcBef>
              <a:spcAft>
                <a:spcPts val="0"/>
              </a:spcAft>
              <a:buNone/>
            </a:pPr>
            <a:r>
              <a:rPr lang="en-GB" sz="1200"/>
              <a:t>&lt;&lt;</a:t>
            </a:r>
            <a:r>
              <a:rPr lang="en-GB" sz="1200"/>
              <a:t>ParamBindingGroup&gt;&gt;</a:t>
            </a:r>
            <a:endParaRPr sz="1200"/>
          </a:p>
          <a:p>
            <a:pPr indent="0" lvl="0" marL="0" rtl="0" algn="l">
              <a:spcBef>
                <a:spcPts val="0"/>
              </a:spcBef>
              <a:spcAft>
                <a:spcPts val="0"/>
              </a:spcAft>
              <a:buNone/>
            </a:pPr>
            <a:r>
              <a:rPr lang="en-GB" sz="1200"/>
              <a:t>Username ➡ name</a:t>
            </a:r>
            <a:endParaRPr sz="1200"/>
          </a:p>
        </p:txBody>
      </p:sp>
      <p:cxnSp>
        <p:nvCxnSpPr>
          <p:cNvPr id="811" name="Google Shape;811;p72"/>
          <p:cNvCxnSpPr>
            <a:stCxn id="810" idx="4"/>
          </p:cNvCxnSpPr>
          <p:nvPr/>
        </p:nvCxnSpPr>
        <p:spPr>
          <a:xfrm flipH="1">
            <a:off x="5848638" y="3062500"/>
            <a:ext cx="389700" cy="7590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3"/>
          <p:cNvSpPr/>
          <p:nvPr/>
        </p:nvSpPr>
        <p:spPr>
          <a:xfrm>
            <a:off x="3114125" y="3286675"/>
            <a:ext cx="5693400" cy="288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7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mở rộng cho giao diện cửa sổ</a:t>
            </a:r>
            <a:r>
              <a:rPr baseline="-25000" lang="en-GB"/>
              <a:t>(2)</a:t>
            </a:r>
            <a:endParaRPr baseline="-25000"/>
          </a:p>
        </p:txBody>
      </p:sp>
      <p:sp>
        <p:nvSpPr>
          <p:cNvPr id="818" name="Google Shape;818;p73"/>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thành phần hiển thị:</a:t>
            </a:r>
            <a:endParaRPr/>
          </a:p>
          <a:p>
            <a:pPr indent="-368300" lvl="1" marL="914400" rtl="0" algn="just">
              <a:spcBef>
                <a:spcPts val="0"/>
              </a:spcBef>
              <a:spcAft>
                <a:spcPts val="0"/>
              </a:spcAft>
              <a:buSzPts val="2200"/>
              <a:buChar char="○"/>
            </a:pPr>
            <a:r>
              <a:rPr lang="en-GB"/>
              <a:t>Cây/Tree: Được sử dụng để hiển thị dữ liệu phân cấp, ví dụ cây danh mục email.</a:t>
            </a:r>
            <a:endParaRPr/>
          </a:p>
          <a:p>
            <a:pPr indent="-368300" lvl="1" marL="914400" rtl="0" algn="just">
              <a:spcBef>
                <a:spcPts val="0"/>
              </a:spcBef>
              <a:spcAft>
                <a:spcPts val="0"/>
              </a:spcAft>
              <a:buSzPts val="2200"/>
              <a:buChar char="○"/>
            </a:pPr>
            <a:r>
              <a:rPr lang="en-GB"/>
              <a:t>Bảng/Table: Hiển thị dữ liệu theo dạng bảng và hỗ trợ người dùng soạn thảo.</a:t>
            </a:r>
            <a:endParaRPr/>
          </a:p>
        </p:txBody>
      </p:sp>
      <p:sp>
        <p:nvSpPr>
          <p:cNvPr id="819" name="Google Shape;819;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820" name="Google Shape;820;p73"/>
          <p:cNvPicPr preferRelativeResize="0"/>
          <p:nvPr/>
        </p:nvPicPr>
        <p:blipFill>
          <a:blip r:embed="rId3">
            <a:alphaModFix/>
          </a:blip>
          <a:stretch>
            <a:fillRect/>
          </a:stretch>
        </p:blipFill>
        <p:spPr>
          <a:xfrm>
            <a:off x="416863" y="3264113"/>
            <a:ext cx="2409825" cy="3038475"/>
          </a:xfrm>
          <a:prstGeom prst="rect">
            <a:avLst/>
          </a:prstGeom>
          <a:noFill/>
          <a:ln>
            <a:noFill/>
          </a:ln>
        </p:spPr>
      </p:pic>
      <p:graphicFrame>
        <p:nvGraphicFramePr>
          <p:cNvPr id="821" name="Google Shape;821;p73"/>
          <p:cNvGraphicFramePr/>
          <p:nvPr/>
        </p:nvGraphicFramePr>
        <p:xfrm>
          <a:off x="3219750" y="3924300"/>
          <a:ext cx="3000000" cy="3000000"/>
        </p:xfrm>
        <a:graphic>
          <a:graphicData uri="http://schemas.openxmlformats.org/drawingml/2006/table">
            <a:tbl>
              <a:tblPr>
                <a:noFill/>
                <a:tableStyleId>{8F5BC04D-34C5-45BF-B592-F13FD6BDF3E6}</a:tableStyleId>
              </a:tblPr>
              <a:tblGrid>
                <a:gridCol w="768050"/>
                <a:gridCol w="1389150"/>
                <a:gridCol w="1078600"/>
                <a:gridCol w="1078600"/>
                <a:gridCol w="1078600"/>
              </a:tblGrid>
              <a:tr h="383600">
                <a:tc>
                  <a:txBody>
                    <a:bodyPr/>
                    <a:lstStyle/>
                    <a:p>
                      <a:pPr indent="0" lvl="0" marL="0" rtl="0" algn="l">
                        <a:spcBef>
                          <a:spcPts val="0"/>
                        </a:spcBef>
                        <a:spcAft>
                          <a:spcPts val="0"/>
                        </a:spcAft>
                        <a:buNone/>
                      </a:pPr>
                      <a:r>
                        <a:rPr lang="en-GB"/>
                        <a:t>Mã</a:t>
                      </a:r>
                      <a:endParaRPr/>
                    </a:p>
                  </a:txBody>
                  <a:tcPr marT="91425" marB="91425" marR="91425" marL="91425"/>
                </a:tc>
                <a:tc>
                  <a:txBody>
                    <a:bodyPr/>
                    <a:lstStyle/>
                    <a:p>
                      <a:pPr indent="0" lvl="0" marL="0" rtl="0" algn="l">
                        <a:spcBef>
                          <a:spcPts val="0"/>
                        </a:spcBef>
                        <a:spcAft>
                          <a:spcPts val="0"/>
                        </a:spcAft>
                        <a:buNone/>
                      </a:pPr>
                      <a:r>
                        <a:rPr lang="en-GB"/>
                        <a:t>T</a:t>
                      </a:r>
                      <a:r>
                        <a:rPr lang="en-GB"/>
                        <a:t>ên</a:t>
                      </a:r>
                      <a:endParaRPr/>
                    </a:p>
                  </a:txBody>
                  <a:tcPr marT="91425" marB="91425" marR="91425" marL="91425"/>
                </a:tc>
                <a:tc>
                  <a:txBody>
                    <a:bodyPr/>
                    <a:lstStyle/>
                    <a:p>
                      <a:pPr indent="0" lvl="0" marL="0" rtl="0" algn="l">
                        <a:spcBef>
                          <a:spcPts val="0"/>
                        </a:spcBef>
                        <a:spcAft>
                          <a:spcPts val="0"/>
                        </a:spcAft>
                        <a:buNone/>
                      </a:pPr>
                      <a:r>
                        <a:rPr lang="en-GB"/>
                        <a:t>Đơn giá</a:t>
                      </a:r>
                      <a:endParaRPr/>
                    </a:p>
                  </a:txBody>
                  <a:tcPr marT="91425" marB="91425" marR="91425" marL="91425"/>
                </a:tc>
                <a:tc>
                  <a:txBody>
                    <a:bodyPr/>
                    <a:lstStyle/>
                    <a:p>
                      <a:pPr indent="0" lvl="0" marL="0" rtl="0" algn="l">
                        <a:spcBef>
                          <a:spcPts val="0"/>
                        </a:spcBef>
                        <a:spcAft>
                          <a:spcPts val="0"/>
                        </a:spcAft>
                        <a:buNone/>
                      </a:pPr>
                      <a:r>
                        <a:rPr lang="en-GB"/>
                        <a:t>Đơn vị</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3600">
                <a:tc>
                  <a:txBody>
                    <a:bodyPr/>
                    <a:lstStyle/>
                    <a:p>
                      <a:pPr indent="0" lvl="0" marL="0" rtl="0" algn="l">
                        <a:spcBef>
                          <a:spcPts val="0"/>
                        </a:spcBef>
                        <a:spcAft>
                          <a:spcPts val="0"/>
                        </a:spcAft>
                        <a:buNone/>
                      </a:pPr>
                      <a:r>
                        <a:rPr lang="en-GB"/>
                        <a:t>T110</a:t>
                      </a:r>
                      <a:endParaRPr/>
                    </a:p>
                  </a:txBody>
                  <a:tcPr marT="91425" marB="91425" marR="91425" marL="91425"/>
                </a:tc>
                <a:tc>
                  <a:txBody>
                    <a:bodyPr/>
                    <a:lstStyle/>
                    <a:p>
                      <a:pPr indent="0" lvl="0" marL="0" rtl="0" algn="l">
                        <a:spcBef>
                          <a:spcPts val="0"/>
                        </a:spcBef>
                        <a:spcAft>
                          <a:spcPts val="0"/>
                        </a:spcAft>
                        <a:buNone/>
                      </a:pPr>
                      <a:r>
                        <a:rPr lang="en-GB"/>
                        <a:t>Tua vít</a:t>
                      </a:r>
                      <a:endParaRPr/>
                    </a:p>
                  </a:txBody>
                  <a:tcPr marT="91425" marB="91425" marR="91425" marL="91425"/>
                </a:tc>
                <a:tc>
                  <a:txBody>
                    <a:bodyPr/>
                    <a:lstStyle/>
                    <a:p>
                      <a:pPr indent="0" lvl="0" marL="0" rtl="0" algn="l">
                        <a:spcBef>
                          <a:spcPts val="0"/>
                        </a:spcBef>
                        <a:spcAft>
                          <a:spcPts val="0"/>
                        </a:spcAft>
                        <a:buNone/>
                      </a:pPr>
                      <a:r>
                        <a:rPr lang="en-GB"/>
                        <a:t>10000</a:t>
                      </a:r>
                      <a:endParaRPr/>
                    </a:p>
                  </a:txBody>
                  <a:tcPr marT="91425" marB="91425" marR="91425" marL="91425"/>
                </a:tc>
                <a:tc>
                  <a:txBody>
                    <a:bodyPr/>
                    <a:lstStyle/>
                    <a:p>
                      <a:pPr indent="0" lvl="0" marL="0" rtl="0" algn="l">
                        <a:spcBef>
                          <a:spcPts val="0"/>
                        </a:spcBef>
                        <a:spcAft>
                          <a:spcPts val="0"/>
                        </a:spcAft>
                        <a:buNone/>
                      </a:pPr>
                      <a:r>
                        <a:rPr lang="en-GB"/>
                        <a:t>cái</a:t>
                      </a:r>
                      <a:endParaRPr/>
                    </a:p>
                  </a:txBody>
                  <a:tcPr marT="91425" marB="91425" marR="91425" marL="91425"/>
                </a:tc>
                <a:tc>
                  <a:txBody>
                    <a:bodyPr/>
                    <a:lstStyle/>
                    <a:p>
                      <a:pPr indent="0" lvl="0" marL="0" rtl="0" algn="l">
                        <a:spcBef>
                          <a:spcPts val="0"/>
                        </a:spcBef>
                        <a:spcAft>
                          <a:spcPts val="0"/>
                        </a:spcAft>
                        <a:buNone/>
                      </a:pPr>
                      <a:r>
                        <a:rPr lang="en-GB" u="sng">
                          <a:solidFill>
                            <a:srgbClr val="0B5394"/>
                          </a:solidFill>
                        </a:rPr>
                        <a:t>Xóa</a:t>
                      </a:r>
                      <a:endParaRPr u="sng">
                        <a:solidFill>
                          <a:srgbClr val="0B5394"/>
                        </a:solidFill>
                      </a:endParaRPr>
                    </a:p>
                  </a:txBody>
                  <a:tcPr marT="91425" marB="91425" marR="91425" marL="91425"/>
                </a:tc>
              </a:tr>
              <a:tr h="383600">
                <a:tc>
                  <a:txBody>
                    <a:bodyPr/>
                    <a:lstStyle/>
                    <a:p>
                      <a:pPr indent="0" lvl="0" marL="0" rtl="0" algn="l">
                        <a:spcBef>
                          <a:spcPts val="0"/>
                        </a:spcBef>
                        <a:spcAft>
                          <a:spcPts val="0"/>
                        </a:spcAft>
                        <a:buNone/>
                      </a:pPr>
                      <a:r>
                        <a:rPr lang="en-GB"/>
                        <a:t>K221</a:t>
                      </a:r>
                      <a:endParaRPr/>
                    </a:p>
                  </a:txBody>
                  <a:tcPr marT="91425" marB="91425" marR="91425" marL="91425"/>
                </a:tc>
                <a:tc>
                  <a:txBody>
                    <a:bodyPr/>
                    <a:lstStyle/>
                    <a:p>
                      <a:pPr indent="0" lvl="0" marL="0" rtl="0" algn="l">
                        <a:spcBef>
                          <a:spcPts val="0"/>
                        </a:spcBef>
                        <a:spcAft>
                          <a:spcPts val="0"/>
                        </a:spcAft>
                        <a:buNone/>
                      </a:pPr>
                      <a:r>
                        <a:rPr lang="en-GB"/>
                        <a:t>Kìm mỏ nhọn</a:t>
                      </a:r>
                      <a:endParaRPr/>
                    </a:p>
                  </a:txBody>
                  <a:tcPr marT="91425" marB="91425" marR="91425" marL="91425"/>
                </a:tc>
                <a:tc>
                  <a:txBody>
                    <a:bodyPr/>
                    <a:lstStyle/>
                    <a:p>
                      <a:pPr indent="0" lvl="0" marL="0" rtl="0" algn="l">
                        <a:spcBef>
                          <a:spcPts val="0"/>
                        </a:spcBef>
                        <a:spcAft>
                          <a:spcPts val="0"/>
                        </a:spcAft>
                        <a:buNone/>
                      </a:pPr>
                      <a:r>
                        <a:rPr lang="en-GB"/>
                        <a:t>15000</a:t>
                      </a:r>
                      <a:endParaRPr/>
                    </a:p>
                  </a:txBody>
                  <a:tcPr marT="91425" marB="91425" marR="91425" marL="91425"/>
                </a:tc>
                <a:tc>
                  <a:txBody>
                    <a:bodyPr/>
                    <a:lstStyle/>
                    <a:p>
                      <a:pPr indent="0" lvl="0" marL="0" rtl="0" algn="l">
                        <a:spcBef>
                          <a:spcPts val="0"/>
                        </a:spcBef>
                        <a:spcAft>
                          <a:spcPts val="0"/>
                        </a:spcAft>
                        <a:buNone/>
                      </a:pPr>
                      <a:r>
                        <a:rPr lang="en-GB"/>
                        <a:t>cái</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u="sng">
                          <a:solidFill>
                            <a:srgbClr val="0B5394"/>
                          </a:solidFill>
                        </a:rPr>
                        <a:t>Xóa</a:t>
                      </a:r>
                      <a:endParaRPr/>
                    </a:p>
                  </a:txBody>
                  <a:tcPr marT="91425" marB="91425" marR="91425" marL="91425"/>
                </a:tc>
              </a:tr>
              <a:tr h="383600">
                <a:tc>
                  <a:txBody>
                    <a:bodyPr/>
                    <a:lstStyle/>
                    <a:p>
                      <a:pPr indent="0" lvl="0" marL="0" rtl="0" algn="l">
                        <a:spcBef>
                          <a:spcPts val="0"/>
                        </a:spcBef>
                        <a:spcAft>
                          <a:spcPts val="0"/>
                        </a:spcAft>
                        <a:buNone/>
                      </a:pPr>
                      <a:r>
                        <a:rPr lang="en-GB"/>
                        <a:t>D335</a:t>
                      </a:r>
                      <a:endParaRPr/>
                    </a:p>
                  </a:txBody>
                  <a:tcPr marT="91425" marB="91425" marR="91425" marL="91425"/>
                </a:tc>
                <a:tc>
                  <a:txBody>
                    <a:bodyPr/>
                    <a:lstStyle/>
                    <a:p>
                      <a:pPr indent="0" lvl="0" marL="0" rtl="0" algn="l">
                        <a:spcBef>
                          <a:spcPts val="0"/>
                        </a:spcBef>
                        <a:spcAft>
                          <a:spcPts val="0"/>
                        </a:spcAft>
                        <a:buNone/>
                      </a:pPr>
                      <a:r>
                        <a:rPr lang="en-GB"/>
                        <a:t>Dây thép</a:t>
                      </a:r>
                      <a:endParaRPr/>
                    </a:p>
                  </a:txBody>
                  <a:tcPr marT="91425" marB="91425" marR="91425" marL="91425"/>
                </a:tc>
                <a:tc>
                  <a:txBody>
                    <a:bodyPr/>
                    <a:lstStyle/>
                    <a:p>
                      <a:pPr indent="0" lvl="0" marL="0" rtl="0" algn="l">
                        <a:spcBef>
                          <a:spcPts val="0"/>
                        </a:spcBef>
                        <a:spcAft>
                          <a:spcPts val="0"/>
                        </a:spcAft>
                        <a:buNone/>
                      </a:pPr>
                      <a:r>
                        <a:rPr lang="en-GB"/>
                        <a:t>30000</a:t>
                      </a:r>
                      <a:endParaRPr/>
                    </a:p>
                  </a:txBody>
                  <a:tcPr marT="91425" marB="91425" marR="91425" marL="91425"/>
                </a:tc>
                <a:tc>
                  <a:txBody>
                    <a:bodyPr/>
                    <a:lstStyle/>
                    <a:p>
                      <a:pPr indent="0" lvl="0" marL="0" rtl="0" algn="l">
                        <a:spcBef>
                          <a:spcPts val="0"/>
                        </a:spcBef>
                        <a:spcAft>
                          <a:spcPts val="0"/>
                        </a:spcAft>
                        <a:buNone/>
                      </a:pPr>
                      <a:r>
                        <a:rPr lang="en-GB"/>
                        <a:t>k</a:t>
                      </a:r>
                      <a:r>
                        <a:rPr lang="en-GB"/>
                        <a:t>g</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u="sng">
                          <a:solidFill>
                            <a:srgbClr val="0B5394"/>
                          </a:solidFill>
                        </a:rPr>
                        <a:t>Xóa</a:t>
                      </a:r>
                      <a:endParaRPr/>
                    </a:p>
                  </a:txBody>
                  <a:tcPr marT="91425" marB="91425" marR="91425" marL="91425"/>
                </a:tc>
              </a:tr>
              <a:tr h="383600">
                <a:tc>
                  <a:txBody>
                    <a:bodyPr/>
                    <a:lstStyle/>
                    <a:p>
                      <a:pPr indent="0" lvl="0" marL="0" rtl="0" algn="l">
                        <a:spcBef>
                          <a:spcPts val="0"/>
                        </a:spcBef>
                        <a:spcAft>
                          <a:spcPts val="0"/>
                        </a:spcAft>
                        <a:buNone/>
                      </a:pPr>
                      <a:r>
                        <a:rPr lang="en-GB"/>
                        <a:t>O668</a:t>
                      </a:r>
                      <a:endParaRPr/>
                    </a:p>
                  </a:txBody>
                  <a:tcPr marT="91425" marB="91425" marR="91425" marL="91425"/>
                </a:tc>
                <a:tc>
                  <a:txBody>
                    <a:bodyPr/>
                    <a:lstStyle/>
                    <a:p>
                      <a:pPr indent="0" lvl="0" marL="0" rtl="0" algn="l">
                        <a:spcBef>
                          <a:spcPts val="0"/>
                        </a:spcBef>
                        <a:spcAft>
                          <a:spcPts val="0"/>
                        </a:spcAft>
                        <a:buNone/>
                      </a:pPr>
                      <a:r>
                        <a:rPr lang="en-GB"/>
                        <a:t>Ốc vít</a:t>
                      </a:r>
                      <a:endParaRPr/>
                    </a:p>
                  </a:txBody>
                  <a:tcPr marT="91425" marB="91425" marR="91425" marL="91425"/>
                </a:tc>
                <a:tc>
                  <a:txBody>
                    <a:bodyPr/>
                    <a:lstStyle/>
                    <a:p>
                      <a:pPr indent="0" lvl="0" marL="0" rtl="0" algn="l">
                        <a:spcBef>
                          <a:spcPts val="0"/>
                        </a:spcBef>
                        <a:spcAft>
                          <a:spcPts val="0"/>
                        </a:spcAft>
                        <a:buNone/>
                      </a:pPr>
                      <a:r>
                        <a:rPr lang="en-GB"/>
                        <a:t>50000</a:t>
                      </a:r>
                      <a:endParaRPr/>
                    </a:p>
                  </a:txBody>
                  <a:tcPr marT="91425" marB="91425" marR="91425" marL="91425"/>
                </a:tc>
                <a:tc>
                  <a:txBody>
                    <a:bodyPr/>
                    <a:lstStyle/>
                    <a:p>
                      <a:pPr indent="0" lvl="0" marL="0" rtl="0" algn="l">
                        <a:spcBef>
                          <a:spcPts val="0"/>
                        </a:spcBef>
                        <a:spcAft>
                          <a:spcPts val="0"/>
                        </a:spcAft>
                        <a:buNone/>
                      </a:pPr>
                      <a:r>
                        <a:rPr lang="en-GB"/>
                        <a:t>k</a:t>
                      </a:r>
                      <a:r>
                        <a:rPr lang="en-GB"/>
                        <a:t>g</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u="sng">
                          <a:solidFill>
                            <a:srgbClr val="0B5394"/>
                          </a:solidFill>
                        </a:rPr>
                        <a:t>Xóa</a:t>
                      </a:r>
                      <a:endParaRPr/>
                    </a:p>
                  </a:txBody>
                  <a:tcPr marT="91425" marB="91425" marR="91425" marL="91425"/>
                </a:tc>
              </a:tr>
            </a:tbl>
          </a:graphicData>
        </a:graphic>
      </p:graphicFrame>
      <p:sp>
        <p:nvSpPr>
          <p:cNvPr id="822" name="Google Shape;822;p73"/>
          <p:cNvSpPr/>
          <p:nvPr/>
        </p:nvSpPr>
        <p:spPr>
          <a:xfrm>
            <a:off x="3114125" y="3286675"/>
            <a:ext cx="5693400" cy="30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Danh mục sản phẩm</a:t>
            </a:r>
            <a:endParaRPr/>
          </a:p>
        </p:txBody>
      </p:sp>
      <p:sp>
        <p:nvSpPr>
          <p:cNvPr id="823" name="Google Shape;823;p73"/>
          <p:cNvSpPr/>
          <p:nvPr/>
        </p:nvSpPr>
        <p:spPr>
          <a:xfrm>
            <a:off x="8557401" y="3347053"/>
            <a:ext cx="172500" cy="17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8000" lIns="18000" spcFirstLastPara="1" rIns="18000" wrap="square" tIns="18000">
            <a:noAutofit/>
          </a:bodyPr>
          <a:lstStyle/>
          <a:p>
            <a:pPr indent="0" lvl="0" marL="0" rtl="0" algn="l">
              <a:spcBef>
                <a:spcPts val="0"/>
              </a:spcBef>
              <a:spcAft>
                <a:spcPts val="0"/>
              </a:spcAft>
              <a:buNone/>
            </a:pPr>
            <a:r>
              <a:rPr lang="en-GB"/>
              <a:t>X</a:t>
            </a:r>
            <a:endParaRPr/>
          </a:p>
        </p:txBody>
      </p:sp>
      <p:sp>
        <p:nvSpPr>
          <p:cNvPr id="824" name="Google Shape;824;p73"/>
          <p:cNvSpPr/>
          <p:nvPr/>
        </p:nvSpPr>
        <p:spPr>
          <a:xfrm>
            <a:off x="8328801" y="3347053"/>
            <a:ext cx="172500" cy="17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8000" lIns="18000" spcFirstLastPara="1" rIns="18000" wrap="square" tIns="18000">
            <a:noAutofit/>
          </a:bodyPr>
          <a:lstStyle/>
          <a:p>
            <a:pPr indent="0" lvl="0" marL="0" rtl="0" algn="l">
              <a:spcBef>
                <a:spcPts val="0"/>
              </a:spcBef>
              <a:spcAft>
                <a:spcPts val="0"/>
              </a:spcAft>
              <a:buNone/>
            </a:pPr>
            <a:r>
              <a:rPr lang="en-GB"/>
              <a:t>🗕</a:t>
            </a:r>
            <a:endParaRPr/>
          </a:p>
        </p:txBody>
      </p:sp>
      <p:sp>
        <p:nvSpPr>
          <p:cNvPr id="825" name="Google Shape;825;p73"/>
          <p:cNvSpPr/>
          <p:nvPr/>
        </p:nvSpPr>
        <p:spPr>
          <a:xfrm>
            <a:off x="8100201" y="3347053"/>
            <a:ext cx="172500" cy="17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8000" lIns="18000" spcFirstLastPara="1" rIns="18000" wrap="square" tIns="18000">
            <a:noAutofit/>
          </a:bodyPr>
          <a:lstStyle/>
          <a:p>
            <a:pPr indent="0" lvl="0" marL="0" rtl="0" algn="ctr">
              <a:spcBef>
                <a:spcPts val="0"/>
              </a:spcBef>
              <a:spcAft>
                <a:spcPts val="0"/>
              </a:spcAft>
              <a:buNone/>
            </a:pPr>
            <a:r>
              <a:rPr lang="en-GB"/>
              <a:t>-</a:t>
            </a:r>
            <a:endParaRPr/>
          </a:p>
        </p:txBody>
      </p:sp>
      <p:cxnSp>
        <p:nvCxnSpPr>
          <p:cNvPr id="826" name="Google Shape;826;p73"/>
          <p:cNvCxnSpPr/>
          <p:nvPr/>
        </p:nvCxnSpPr>
        <p:spPr>
          <a:xfrm>
            <a:off x="4865300" y="2656925"/>
            <a:ext cx="647100" cy="534900"/>
          </a:xfrm>
          <a:prstGeom prst="straightConnector1">
            <a:avLst/>
          </a:prstGeom>
          <a:noFill/>
          <a:ln cap="flat" cmpd="sng" w="9525">
            <a:solidFill>
              <a:schemeClr val="dk2"/>
            </a:solidFill>
            <a:prstDash val="dash"/>
            <a:round/>
            <a:headEnd len="med" w="med" type="none"/>
            <a:tailEnd len="med" w="med" type="none"/>
          </a:ln>
        </p:spPr>
      </p:cxnSp>
      <p:sp>
        <p:nvSpPr>
          <p:cNvPr id="827" name="Google Shape;827;p73"/>
          <p:cNvSpPr/>
          <p:nvPr/>
        </p:nvSpPr>
        <p:spPr>
          <a:xfrm>
            <a:off x="759125" y="1837425"/>
            <a:ext cx="396825" cy="1397475"/>
          </a:xfrm>
          <a:custGeom>
            <a:rect b="b" l="l" r="r" t="t"/>
            <a:pathLst>
              <a:path extrusionOk="0" h="55899" w="15873">
                <a:moveTo>
                  <a:pt x="15873" y="0"/>
                </a:moveTo>
                <a:lnTo>
                  <a:pt x="0" y="0"/>
                </a:lnTo>
                <a:lnTo>
                  <a:pt x="0" y="55899"/>
                </a:lnTo>
              </a:path>
            </a:pathLst>
          </a:custGeom>
          <a:noFill/>
          <a:ln cap="flat" cmpd="sng" w="9525">
            <a:solidFill>
              <a:schemeClr val="dk2"/>
            </a:solidFill>
            <a:prstDash val="dash"/>
            <a:round/>
            <a:headEnd len="med" w="med" type="none"/>
            <a:tailEnd len="med" w="med" type="none"/>
          </a:ln>
        </p:spPr>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7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mở rộng cho giao diện Web</a:t>
            </a:r>
            <a:endParaRPr/>
          </a:p>
        </p:txBody>
      </p:sp>
      <p:sp>
        <p:nvSpPr>
          <p:cNvPr id="833" name="Google Shape;833;p74"/>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Phân vùng: Các mở rộng của ViewContainer</a:t>
            </a:r>
            <a:endParaRPr/>
          </a:p>
          <a:p>
            <a:pPr indent="-368300" lvl="1" marL="914400" rtl="0" algn="just">
              <a:spcBef>
                <a:spcPts val="0"/>
              </a:spcBef>
              <a:spcAft>
                <a:spcPts val="0"/>
              </a:spcAft>
              <a:buSzPts val="2200"/>
              <a:buChar char="○"/>
            </a:pPr>
            <a:r>
              <a:rPr lang="en-GB"/>
              <a:t>Trang - </a:t>
            </a:r>
            <a:r>
              <a:rPr lang="en-GB"/>
              <a:t>p</a:t>
            </a:r>
            <a:r>
              <a:rPr lang="en-GB"/>
              <a:t>age - </a:t>
            </a:r>
            <a:r>
              <a:rPr lang="en-GB"/>
              <a:t>1 mở rộng của thành phần khung b</a:t>
            </a:r>
            <a:r>
              <a:rPr lang="en-GB"/>
              <a:t>iểu diễn 1 trang Web có địa chỉ URL riêng.</a:t>
            </a:r>
            <a:endParaRPr/>
          </a:p>
          <a:p>
            <a:pPr indent="-368300" lvl="1" marL="914400" rtl="0" algn="just">
              <a:spcBef>
                <a:spcPts val="0"/>
              </a:spcBef>
              <a:spcAft>
                <a:spcPts val="0"/>
              </a:spcAft>
              <a:buSzPts val="2200"/>
              <a:buChar char="○"/>
            </a:pPr>
            <a:r>
              <a:rPr lang="en-GB"/>
              <a:t>Khu vực - Area - </a:t>
            </a:r>
            <a:r>
              <a:rPr lang="en-GB"/>
              <a:t>1 mở rộng của thành phần khung loại trừ b</a:t>
            </a:r>
            <a:r>
              <a:rPr lang="en-GB"/>
              <a:t>iểu diễn 1 nhóm trang hoặc các khu vực khác, được gom nhóm theo mục đích ứng dụng cụ thể.</a:t>
            </a:r>
            <a:endParaRPr/>
          </a:p>
          <a:p>
            <a:pPr indent="-368300" lvl="1" marL="914400" rtl="0" algn="just">
              <a:spcBef>
                <a:spcPts val="0"/>
              </a:spcBef>
              <a:spcAft>
                <a:spcPts val="0"/>
              </a:spcAft>
              <a:buSzPts val="2200"/>
              <a:buChar char="○"/>
            </a:pPr>
            <a:r>
              <a:rPr lang="en-GB"/>
              <a:t>Miền - SiteView -</a:t>
            </a:r>
            <a:r>
              <a:rPr lang="en-GB"/>
              <a:t> 1 mở rộng của thành phần khung loại trừ b</a:t>
            </a:r>
            <a:r>
              <a:rPr lang="en-GB"/>
              <a:t>iểu diễn các khu vực của ứng dụng Web và các trang được gom lại theo mục đích ứng dụng cụ thể, thường để đáp ứng nhu cầu của 1 tác nhân.</a:t>
            </a:r>
            <a:endParaRPr/>
          </a:p>
        </p:txBody>
      </p:sp>
      <p:sp>
        <p:nvSpPr>
          <p:cNvPr id="834" name="Google Shape;834;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7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mở rộng cho giao diện Web</a:t>
            </a:r>
            <a:r>
              <a:rPr baseline="-25000" lang="en-GB"/>
              <a:t>(2)</a:t>
            </a:r>
            <a:endParaRPr baseline="-25000"/>
          </a:p>
        </p:txBody>
      </p:sp>
      <p:sp>
        <p:nvSpPr>
          <p:cNvPr id="840" name="Google Shape;840;p75"/>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Miền/Khu vực/Trang được bổ xung thêm các thuộc tính mới cần thiết cho môi trường Web:</a:t>
            </a:r>
            <a:endParaRPr/>
          </a:p>
          <a:p>
            <a:pPr indent="-381000" lvl="0" marL="457200" rtl="0" algn="just">
              <a:spcBef>
                <a:spcPts val="0"/>
              </a:spcBef>
              <a:spcAft>
                <a:spcPts val="0"/>
              </a:spcAft>
              <a:buSzPts val="2400"/>
              <a:buChar char="●"/>
            </a:pPr>
            <a:r>
              <a:rPr lang="en-GB"/>
              <a:t>Nhãn URL/URL label: Chuỗi cho biết địa chỉ cố định của miền/trang/khu vực. Đối với các trang động, URL thường bao gồm các tham số để tính nội dung của nó.</a:t>
            </a:r>
            <a:endParaRPr/>
          </a:p>
          <a:p>
            <a:pPr indent="-381000" lvl="0" marL="457200" rtl="0" algn="just">
              <a:spcBef>
                <a:spcPts val="0"/>
              </a:spcBef>
              <a:spcAft>
                <a:spcPts val="0"/>
              </a:spcAft>
              <a:buSzPts val="2400"/>
              <a:buChar char="●"/>
            </a:pPr>
            <a:r>
              <a:rPr lang="en-GB"/>
              <a:t>Bảo mật/Security: Nếu thuộc tính có giá trị là "được bảo mật" thì tất cả các trang của khu vực được truy cập bằng giao thức HTTPS.</a:t>
            </a:r>
            <a:endParaRPr/>
          </a:p>
          <a:p>
            <a:pPr indent="-381000" lvl="0" marL="457200" rtl="0" algn="just">
              <a:spcBef>
                <a:spcPts val="0"/>
              </a:spcBef>
              <a:spcAft>
                <a:spcPts val="0"/>
              </a:spcAft>
              <a:buSzPts val="2400"/>
              <a:buChar char="●"/>
            </a:pPr>
            <a:r>
              <a:rPr lang="en-GB"/>
              <a:t>Bảo vệ/Protection: Nếu thuộc tính có giá trị là "được bảo vệ" thì tất cả trang trong khu vực hoặc miền, hoặc 1 trang riêng lẻ được giới hạn truy cập.</a:t>
            </a:r>
            <a:endParaRPr/>
          </a:p>
          <a:p>
            <a:pPr indent="0" lvl="0" marL="0" rtl="0" algn="just">
              <a:spcBef>
                <a:spcPts val="0"/>
              </a:spcBef>
              <a:spcAft>
                <a:spcPts val="0"/>
              </a:spcAft>
              <a:buNone/>
            </a:pPr>
            <a:r>
              <a:t/>
            </a:r>
            <a:endParaRPr/>
          </a:p>
        </p:txBody>
      </p:sp>
      <p:sp>
        <p:nvSpPr>
          <p:cNvPr id="841" name="Google Shape;841;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7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mở rộng cho giao diện Web</a:t>
            </a:r>
            <a:r>
              <a:rPr baseline="-25000" lang="en-GB"/>
              <a:t>(3)</a:t>
            </a:r>
            <a:endParaRPr baseline="-25000"/>
          </a:p>
        </p:txBody>
      </p:sp>
      <p:sp>
        <p:nvSpPr>
          <p:cNvPr id="847" name="Google Shape;847;p76"/>
          <p:cNvSpPr txBox="1"/>
          <p:nvPr>
            <p:ph idx="4294967295" type="body"/>
          </p:nvPr>
        </p:nvSpPr>
        <p:spPr>
          <a:xfrm>
            <a:off x="311700" y="950475"/>
            <a:ext cx="8520600" cy="36474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Liên kết/Link: Luồng điều hướng Web (WebNavigationFlow) là 1 mở rộ</a:t>
            </a:r>
            <a:r>
              <a:rPr lang="en-GB"/>
              <a:t>ng của luồng điều hướng (NavigationFlow) với các thuộc tính bổ xung:</a:t>
            </a:r>
            <a:endParaRPr/>
          </a:p>
          <a:p>
            <a:pPr indent="-368300" lvl="1" marL="914400" rtl="0" algn="just">
              <a:spcBef>
                <a:spcPts val="0"/>
              </a:spcBef>
              <a:spcAft>
                <a:spcPts val="0"/>
              </a:spcAft>
              <a:buSzPts val="2200"/>
              <a:buChar char="○"/>
            </a:pPr>
            <a:r>
              <a:rPr lang="en-GB"/>
              <a:t>Quan hệ/Rel: Xác định mối quan hệ giữa tài liệu hiện thời và tài liệu được liên kết; giá trị của nó được mã hóa bằng HTML.</a:t>
            </a:r>
            <a:endParaRPr/>
          </a:p>
          <a:p>
            <a:pPr indent="-368300" lvl="1" marL="914400" rtl="0" algn="just">
              <a:spcBef>
                <a:spcPts val="0"/>
              </a:spcBef>
              <a:spcAft>
                <a:spcPts val="0"/>
              </a:spcAft>
              <a:buSzPts val="2200"/>
              <a:buChar char="○"/>
            </a:pPr>
            <a:r>
              <a:rPr lang="en-GB"/>
              <a:t>Đích/Target: Xác định đích mở tài liệu, thường là 1 cửa sổ trình duyệt; có thể là cùng cửa sổ trình duyệt với tài liệu hiện tại hoặc 1 cửa sổ mới.</a:t>
            </a:r>
            <a:endParaRPr/>
          </a:p>
        </p:txBody>
      </p:sp>
      <p:sp>
        <p:nvSpPr>
          <p:cNvPr id="848" name="Google Shape;848;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49" name="Google Shape;849;p76"/>
          <p:cNvSpPr/>
          <p:nvPr/>
        </p:nvSpPr>
        <p:spPr>
          <a:xfrm>
            <a:off x="493065" y="4685800"/>
            <a:ext cx="3112800" cy="174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6"/>
          <p:cNvSpPr/>
          <p:nvPr/>
        </p:nvSpPr>
        <p:spPr>
          <a:xfrm>
            <a:off x="490025" y="4685800"/>
            <a:ext cx="3112800" cy="35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TechnicalSupport</a:t>
            </a:r>
            <a:endParaRPr/>
          </a:p>
        </p:txBody>
      </p:sp>
      <p:sp>
        <p:nvSpPr>
          <p:cNvPr id="851" name="Google Shape;851;p76"/>
          <p:cNvSpPr/>
          <p:nvPr/>
        </p:nvSpPr>
        <p:spPr>
          <a:xfrm>
            <a:off x="676273" y="5164350"/>
            <a:ext cx="2808600" cy="1155900"/>
          </a:xfrm>
          <a:prstGeom prst="roundRect">
            <a:avLst>
              <a:gd fmla="val 16667" name="adj"/>
            </a:avLst>
          </a:prstGeom>
          <a:solidFill>
            <a:srgbClr val="CCCCCC"/>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Details</a:t>
            </a:r>
            <a:r>
              <a:rPr lang="en-GB"/>
              <a:t>&gt;&gt; </a:t>
            </a:r>
            <a:r>
              <a:rPr lang="en-GB"/>
              <a:t>TechManual</a:t>
            </a:r>
            <a:endParaRPr/>
          </a:p>
        </p:txBody>
      </p:sp>
      <p:sp>
        <p:nvSpPr>
          <p:cNvPr id="852" name="Google Shape;852;p76"/>
          <p:cNvSpPr/>
          <p:nvPr/>
        </p:nvSpPr>
        <p:spPr>
          <a:xfrm>
            <a:off x="789633" y="5604300"/>
            <a:ext cx="2528400" cy="357900"/>
          </a:xfrm>
          <a:prstGeom prst="rect">
            <a:avLst/>
          </a:prstGeom>
          <a:solidFill>
            <a:schemeClr val="lt1"/>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a:t>
            </a:r>
            <a:r>
              <a:rPr lang="en-GB"/>
              <a:t>DataBinding</a:t>
            </a:r>
            <a:r>
              <a:rPr lang="en-GB"/>
              <a:t>&gt;&gt; </a:t>
            </a:r>
            <a:r>
              <a:rPr lang="en-GB"/>
              <a:t>Document</a:t>
            </a:r>
            <a:endParaRPr/>
          </a:p>
        </p:txBody>
      </p:sp>
      <p:sp>
        <p:nvSpPr>
          <p:cNvPr id="853" name="Google Shape;853;p76"/>
          <p:cNvSpPr/>
          <p:nvPr/>
        </p:nvSpPr>
        <p:spPr>
          <a:xfrm>
            <a:off x="3361419" y="5286553"/>
            <a:ext cx="210900" cy="20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76"/>
          <p:cNvSpPr/>
          <p:nvPr/>
        </p:nvSpPr>
        <p:spPr>
          <a:xfrm>
            <a:off x="5446065" y="4720306"/>
            <a:ext cx="3112800" cy="1746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76"/>
          <p:cNvSpPr/>
          <p:nvPr/>
        </p:nvSpPr>
        <p:spPr>
          <a:xfrm>
            <a:off x="5443025" y="4720306"/>
            <a:ext cx="3112800" cy="35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LicensingInformation</a:t>
            </a:r>
            <a:endParaRPr/>
          </a:p>
        </p:txBody>
      </p:sp>
      <p:sp>
        <p:nvSpPr>
          <p:cNvPr id="856" name="Google Shape;856;p76"/>
          <p:cNvSpPr/>
          <p:nvPr/>
        </p:nvSpPr>
        <p:spPr>
          <a:xfrm>
            <a:off x="5629273" y="5198856"/>
            <a:ext cx="2808600" cy="1155900"/>
          </a:xfrm>
          <a:prstGeom prst="roundRect">
            <a:avLst>
              <a:gd fmla="val 16667" name="adj"/>
            </a:avLst>
          </a:prstGeom>
          <a:solidFill>
            <a:srgbClr val="CCCCCC"/>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&lt;&lt;Details&gt;&gt; </a:t>
            </a:r>
            <a:r>
              <a:rPr lang="en-GB"/>
              <a:t>LicenseInfo</a:t>
            </a:r>
            <a:endParaRPr/>
          </a:p>
        </p:txBody>
      </p:sp>
      <p:sp>
        <p:nvSpPr>
          <p:cNvPr id="857" name="Google Shape;857;p76"/>
          <p:cNvSpPr/>
          <p:nvPr/>
        </p:nvSpPr>
        <p:spPr>
          <a:xfrm>
            <a:off x="5742633" y="5638806"/>
            <a:ext cx="2528400" cy="357900"/>
          </a:xfrm>
          <a:prstGeom prst="rect">
            <a:avLst/>
          </a:prstGeom>
          <a:solidFill>
            <a:schemeClr val="lt1"/>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&lt;&lt;DataBinding&gt;&gt; Document</a:t>
            </a:r>
            <a:endParaRPr/>
          </a:p>
        </p:txBody>
      </p:sp>
      <p:cxnSp>
        <p:nvCxnSpPr>
          <p:cNvPr id="858" name="Google Shape;858;p76"/>
          <p:cNvCxnSpPr>
            <a:stCxn id="853" idx="6"/>
          </p:cNvCxnSpPr>
          <p:nvPr/>
        </p:nvCxnSpPr>
        <p:spPr>
          <a:xfrm>
            <a:off x="3572319" y="5388553"/>
            <a:ext cx="2052000" cy="14400"/>
          </a:xfrm>
          <a:prstGeom prst="straightConnector1">
            <a:avLst/>
          </a:prstGeom>
          <a:noFill/>
          <a:ln cap="flat" cmpd="sng" w="9525">
            <a:solidFill>
              <a:schemeClr val="dk2"/>
            </a:solidFill>
            <a:prstDash val="solid"/>
            <a:round/>
            <a:headEnd len="med" w="med" type="none"/>
            <a:tailEnd len="med" w="med" type="triangle"/>
          </a:ln>
        </p:spPr>
      </p:cxnSp>
      <p:sp>
        <p:nvSpPr>
          <p:cNvPr id="859" name="Google Shape;859;p76"/>
          <p:cNvSpPr txBox="1"/>
          <p:nvPr/>
        </p:nvSpPr>
        <p:spPr>
          <a:xfrm>
            <a:off x="3640350" y="4925675"/>
            <a:ext cx="1805700" cy="44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&lt;&lt;</a:t>
            </a:r>
            <a:r>
              <a:rPr lang="en-GB" sz="1000"/>
              <a:t>WebNavigationFlow&gt;&gt;</a:t>
            </a:r>
            <a:endParaRPr sz="1000"/>
          </a:p>
          <a:p>
            <a:pPr indent="0" lvl="0" marL="0" rtl="0" algn="l">
              <a:spcBef>
                <a:spcPts val="0"/>
              </a:spcBef>
              <a:spcAft>
                <a:spcPts val="0"/>
              </a:spcAft>
              <a:buNone/>
            </a:pPr>
            <a:r>
              <a:rPr lang="en-GB" sz="1200"/>
              <a:t>Licensing</a:t>
            </a:r>
            <a:endParaRPr sz="1200"/>
          </a:p>
        </p:txBody>
      </p:sp>
      <p:sp>
        <p:nvSpPr>
          <p:cNvPr id="860" name="Google Shape;860;p76"/>
          <p:cNvSpPr/>
          <p:nvPr/>
        </p:nvSpPr>
        <p:spPr>
          <a:xfrm>
            <a:off x="3762550" y="5782575"/>
            <a:ext cx="1524900" cy="7635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54000" wrap="square" tIns="91425">
            <a:noAutofit/>
          </a:bodyPr>
          <a:lstStyle/>
          <a:p>
            <a:pPr indent="0" lvl="0" marL="0" rtl="0" algn="l">
              <a:spcBef>
                <a:spcPts val="0"/>
              </a:spcBef>
              <a:spcAft>
                <a:spcPts val="0"/>
              </a:spcAft>
              <a:buNone/>
            </a:pPr>
            <a:r>
              <a:rPr lang="en-GB"/>
              <a:t>Rel=</a:t>
            </a:r>
            <a:r>
              <a:rPr lang="en-GB">
                <a:solidFill>
                  <a:schemeClr val="dk1"/>
                </a:solidFill>
              </a:rPr>
              <a:t>"</a:t>
            </a:r>
            <a:r>
              <a:rPr lang="en-GB"/>
              <a:t>Licensing"</a:t>
            </a:r>
            <a:endParaRPr/>
          </a:p>
          <a:p>
            <a:pPr indent="0" lvl="0" marL="0" rtl="0" algn="l">
              <a:spcBef>
                <a:spcPts val="0"/>
              </a:spcBef>
              <a:spcAft>
                <a:spcPts val="0"/>
              </a:spcAft>
              <a:buNone/>
            </a:pPr>
            <a:r>
              <a:rPr lang="en-GB"/>
              <a:t>Target=”_top"</a:t>
            </a:r>
            <a:endParaRPr/>
          </a:p>
        </p:txBody>
      </p:sp>
      <p:cxnSp>
        <p:nvCxnSpPr>
          <p:cNvPr id="861" name="Google Shape;861;p76"/>
          <p:cNvCxnSpPr>
            <a:stCxn id="860" idx="0"/>
          </p:cNvCxnSpPr>
          <p:nvPr/>
        </p:nvCxnSpPr>
        <p:spPr>
          <a:xfrm flipH="1" rot="10800000">
            <a:off x="4525000" y="5411775"/>
            <a:ext cx="177900" cy="3708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7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mở rộng cho giao diện Web</a:t>
            </a:r>
            <a:r>
              <a:rPr baseline="-25000" lang="en-GB"/>
              <a:t>(4)</a:t>
            </a:r>
            <a:endParaRPr baseline="-25000"/>
          </a:p>
        </p:txBody>
      </p:sp>
      <p:sp>
        <p:nvSpPr>
          <p:cNvPr id="867" name="Google Shape;867;p77"/>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Thành phần hiển thị:</a:t>
            </a:r>
            <a:endParaRPr/>
          </a:p>
          <a:p>
            <a:pPr indent="-368300" lvl="1" marL="914400" rtl="0" algn="just">
              <a:spcBef>
                <a:spcPts val="0"/>
              </a:spcBef>
              <a:spcAft>
                <a:spcPts val="0"/>
              </a:spcAft>
              <a:buSzPts val="2200"/>
              <a:buChar char="○"/>
            </a:pPr>
            <a:r>
              <a:rPr lang="en-GB"/>
              <a:t>Danh sách sắp xếp động/DynamicSortedList: Là mở rộng của thành phần danh sách (List) cho phép người dùng sắp xếp dữ liệu bằng các thuộc tính trực quan.</a:t>
            </a:r>
            <a:endParaRPr/>
          </a:p>
          <a:p>
            <a:pPr indent="-368300" lvl="1" marL="914400" rtl="0" algn="just">
              <a:spcBef>
                <a:spcPts val="0"/>
              </a:spcBef>
              <a:spcAft>
                <a:spcPts val="0"/>
              </a:spcAft>
              <a:buSzPts val="2200"/>
              <a:buChar char="○"/>
            </a:pPr>
            <a:r>
              <a:rPr lang="en-GB"/>
              <a:t>Danh sách cuộn/ScrollableList: Là mở rộng của danh sách cho phép gom các phần tử thành khối (phân trang) và cho phép di chuyển đến các khối.</a:t>
            </a:r>
            <a:endParaRPr/>
          </a:p>
          <a:p>
            <a:pPr indent="-368300" lvl="1" marL="914400" rtl="0" algn="just">
              <a:spcBef>
                <a:spcPts val="0"/>
              </a:spcBef>
              <a:spcAft>
                <a:spcPts val="0"/>
              </a:spcAft>
              <a:buSzPts val="2200"/>
              <a:buChar char="○"/>
            </a:pPr>
            <a:r>
              <a:rPr lang="en-GB"/>
              <a:t>Danh sách lồng  nhau/NestedList: Là mở rộng của danh sách với thành phần có thể là danh sách.</a:t>
            </a:r>
            <a:endParaRPr/>
          </a:p>
        </p:txBody>
      </p:sp>
      <p:sp>
        <p:nvSpPr>
          <p:cNvPr id="868" name="Google Shape;868;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7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Mở rộng cho giao diện di động</a:t>
            </a:r>
            <a:endParaRPr/>
          </a:p>
        </p:txBody>
      </p:sp>
      <p:sp>
        <p:nvSpPr>
          <p:cNvPr id="874" name="Google Shape;874;p78"/>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Ngữ cảnh:</a:t>
            </a:r>
            <a:endParaRPr/>
          </a:p>
          <a:p>
            <a:pPr indent="-368300" lvl="1" marL="914400" rtl="0" algn="just">
              <a:spcBef>
                <a:spcPts val="0"/>
              </a:spcBef>
              <a:spcAft>
                <a:spcPts val="0"/>
              </a:spcAft>
              <a:buSzPts val="2200"/>
              <a:buChar char="○"/>
            </a:pPr>
            <a:r>
              <a:rPr lang="en-GB"/>
              <a:t>Thiết bị/Device có các chiều sau:</a:t>
            </a:r>
            <a:endParaRPr/>
          </a:p>
          <a:p>
            <a:pPr indent="-342900" lvl="2" marL="1371600" rtl="0" algn="just">
              <a:spcBef>
                <a:spcPts val="0"/>
              </a:spcBef>
              <a:spcAft>
                <a:spcPts val="0"/>
              </a:spcAft>
              <a:buSzPts val="1800"/>
              <a:buChar char="■"/>
            </a:pPr>
            <a:r>
              <a:rPr lang="en-GB"/>
              <a:t>Kích thước đường chéo/DiagonalSize: Kích thước vật lý theo đường chéo của màn hình.</a:t>
            </a:r>
            <a:endParaRPr/>
          </a:p>
          <a:p>
            <a:pPr indent="-342900" lvl="2" marL="1371600" rtl="0" algn="just">
              <a:spcBef>
                <a:spcPts val="0"/>
              </a:spcBef>
              <a:spcAft>
                <a:spcPts val="0"/>
              </a:spcAft>
              <a:buSzPts val="1800"/>
              <a:buChar char="■"/>
            </a:pPr>
            <a:r>
              <a:rPr lang="en-GB"/>
              <a:t>Phân khúc kích thước/SizeCategory: Các kích thước có thể được gom thành các lớp như (Nhỏ, Bình thường, Lớn, rất lớn).</a:t>
            </a:r>
            <a:endParaRPr/>
          </a:p>
          <a:p>
            <a:pPr indent="-342900" lvl="2" marL="1371600" rtl="0" algn="just">
              <a:spcBef>
                <a:spcPts val="0"/>
              </a:spcBef>
              <a:spcAft>
                <a:spcPts val="0"/>
              </a:spcAft>
              <a:buSzPts val="1800"/>
              <a:buChar char="■"/>
            </a:pPr>
            <a:r>
              <a:rPr lang="en-GB"/>
              <a:t>Phân khúc mật độ/DensityCategory: Các giá trị mật độ được gom thành các lớp (Thấp, Trung bình, Cao, Rất cao).</a:t>
            </a:r>
            <a:endParaRPr/>
          </a:p>
          <a:p>
            <a:pPr indent="-342900" lvl="2" marL="1371600" rtl="0" algn="just">
              <a:spcBef>
                <a:spcPts val="0"/>
              </a:spcBef>
              <a:spcAft>
                <a:spcPts val="0"/>
              </a:spcAft>
              <a:buSzPts val="1800"/>
              <a:buChar char="■"/>
            </a:pPr>
            <a:r>
              <a:rPr lang="en-GB"/>
              <a:t>Kích thước theo điểm ảnh/PixelSize: Kích thước thực tế theo chiều ngang và chiều dọc của màn hình được đo bằng điểm.</a:t>
            </a:r>
            <a:endParaRPr/>
          </a:p>
          <a:p>
            <a:pPr indent="-342900" lvl="2" marL="1371600" rtl="0" algn="just">
              <a:spcBef>
                <a:spcPts val="0"/>
              </a:spcBef>
              <a:spcAft>
                <a:spcPts val="0"/>
              </a:spcAft>
              <a:buSzPts val="1800"/>
              <a:buChar char="■"/>
            </a:pPr>
            <a:r>
              <a:rPr lang="en-GB"/>
              <a:t>Mật độ: Số lượng điểm ảnh trên đơn vị diện tích được đo bằng dpi (dots per inch).</a:t>
            </a:r>
            <a:endParaRPr/>
          </a:p>
          <a:p>
            <a:pPr indent="-342900" lvl="2" marL="1371600" rtl="0" algn="just">
              <a:spcBef>
                <a:spcPts val="0"/>
              </a:spcBef>
              <a:spcAft>
                <a:spcPts val="0"/>
              </a:spcAft>
              <a:buSzPts val="1800"/>
              <a:buChar char="■"/>
            </a:pPr>
            <a:r>
              <a:rPr lang="en-GB"/>
              <a:t>Kết nối mạng/Network connectivity: Có thể được sử dụng để tùy chỉnh chất lượng của nội dung trên giao diện dựa trên tốc độ kết nối mạng.</a:t>
            </a:r>
            <a:endParaRPr/>
          </a:p>
          <a:p>
            <a:pPr indent="-342900" lvl="2" marL="1371600" rtl="0" algn="just">
              <a:spcBef>
                <a:spcPts val="0"/>
              </a:spcBef>
              <a:spcAft>
                <a:spcPts val="0"/>
              </a:spcAft>
              <a:buSzPts val="1800"/>
              <a:buChar char="■"/>
            </a:pPr>
            <a:r>
              <a:rPr lang="en-GB"/>
              <a:t>v.v..</a:t>
            </a:r>
            <a:endParaRPr/>
          </a:p>
        </p:txBody>
      </p:sp>
      <p:sp>
        <p:nvSpPr>
          <p:cNvPr id="875" name="Google Shape;875;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7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Mở rộng cho giao diện di động</a:t>
            </a:r>
            <a:r>
              <a:rPr baseline="-25000" lang="en-GB"/>
              <a:t>(2)</a:t>
            </a:r>
            <a:endParaRPr baseline="-25000"/>
          </a:p>
        </p:txBody>
      </p:sp>
      <p:sp>
        <p:nvSpPr>
          <p:cNvPr id="881" name="Google Shape;881;p79"/>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Phân vùng:</a:t>
            </a:r>
            <a:endParaRPr/>
          </a:p>
          <a:p>
            <a:pPr indent="-368300" lvl="1" marL="914400" rtl="0" algn="just">
              <a:spcBef>
                <a:spcPts val="0"/>
              </a:spcBef>
              <a:spcAft>
                <a:spcPts val="0"/>
              </a:spcAft>
              <a:buSzPts val="2200"/>
              <a:buChar char="○"/>
            </a:pPr>
            <a:r>
              <a:rPr lang="en-GB"/>
              <a:t>Nhãn dòng</a:t>
            </a:r>
            <a:r>
              <a:rPr lang="en-GB"/>
              <a:t> </a:t>
            </a:r>
            <a:r>
              <a:rPr lang="en-GB"/>
              <a:t>&lt;&lt;system&gt;&gt;: Thành phần khung được gán nhãn &lt;&lt;system&gt;&gt; biểu diễn 1 vùng cố định của giao diện, được quản lý bởi hệ điều hành hoặc nền tảng giao diện khác.</a:t>
            </a:r>
            <a:endParaRPr/>
          </a:p>
          <a:p>
            <a:pPr indent="-381000" lvl="0" marL="457200" rtl="0" algn="just">
              <a:spcBef>
                <a:spcPts val="0"/>
              </a:spcBef>
              <a:spcAft>
                <a:spcPts val="0"/>
              </a:spcAft>
              <a:buSzPts val="2400"/>
              <a:buChar char="●"/>
            </a:pPr>
            <a:r>
              <a:rPr lang="en-GB"/>
              <a:t>Thành phần hiển thị và sự kiện/Component and event:</a:t>
            </a:r>
            <a:endParaRPr/>
          </a:p>
          <a:p>
            <a:pPr indent="-368300" lvl="1" marL="914400" rtl="0" algn="just">
              <a:spcBef>
                <a:spcPts val="0"/>
              </a:spcBef>
              <a:spcAft>
                <a:spcPts val="0"/>
              </a:spcAft>
              <a:buSzPts val="2200"/>
              <a:buChar char="○"/>
            </a:pPr>
            <a:r>
              <a:rPr lang="en-GB"/>
              <a:t>Nhãn dòng &lt;&lt;system&gt;&gt;: Thành phần hiển thị được gán nhãn &lt;&lt;system&gt;&gt; nhấn mạnh giao diện sử dụng các thành phần của hệ thống.</a:t>
            </a:r>
            <a:endParaRPr/>
          </a:p>
          <a:p>
            <a:pPr indent="-368300" lvl="1" marL="914400" rtl="0" algn="just">
              <a:spcBef>
                <a:spcPts val="0"/>
              </a:spcBef>
              <a:spcAft>
                <a:spcPts val="0"/>
              </a:spcAft>
              <a:buSzPts val="2200"/>
              <a:buChar char="○"/>
            </a:pPr>
            <a:r>
              <a:rPr lang="en-GB"/>
              <a:t>&lt;&lt;nhấn&gt;&gt; và &lt;&lt;chạm&gt;&gt;: &lt;&lt;press&gt;&gt; and &lt;&lt;touch&gt;&gt;.</a:t>
            </a:r>
            <a:endParaRPr/>
          </a:p>
        </p:txBody>
      </p:sp>
      <p:sp>
        <p:nvSpPr>
          <p:cNvPr id="882" name="Google Shape;882;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8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88" name="Google Shape;888;p80"/>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rPr>
              <a:t>1. Tổng quan về thiết kế giao diện</a:t>
            </a:r>
            <a:endParaRPr>
              <a:solidFill>
                <a:schemeClr val="dk1"/>
              </a:solidFill>
            </a:endParaRPr>
          </a:p>
          <a:p>
            <a:pPr indent="0" lvl="0" marL="0" marR="24765" rtl="0" algn="just">
              <a:lnSpc>
                <a:spcPct val="100000"/>
              </a:lnSpc>
              <a:spcBef>
                <a:spcPts val="300"/>
              </a:spcBef>
              <a:spcAft>
                <a:spcPts val="0"/>
              </a:spcAft>
              <a:buNone/>
            </a:pPr>
            <a:r>
              <a:rPr lang="en-GB">
                <a:solidFill>
                  <a:schemeClr val="dk1"/>
                </a:solidFill>
              </a:rPr>
              <a:t>2. Ngôn ngữ mô hình hóa luồng tương tác</a:t>
            </a:r>
            <a:endParaRPr>
              <a:solidFill>
                <a:schemeClr val="dk1"/>
              </a:solidFill>
            </a:endParaRPr>
          </a:p>
          <a:p>
            <a:pPr indent="0" lvl="0" marL="0" marR="24765" rtl="0" algn="just">
              <a:lnSpc>
                <a:spcPct val="100000"/>
              </a:lnSpc>
              <a:spcBef>
                <a:spcPts val="300"/>
              </a:spcBef>
              <a:spcAft>
                <a:spcPts val="300"/>
              </a:spcAft>
              <a:buNone/>
            </a:pPr>
            <a:r>
              <a:rPr lang="en-GB">
                <a:solidFill>
                  <a:schemeClr val="dk1"/>
                </a:solidFill>
              </a:rPr>
              <a:t>3. Ví dụ tổng hợp</a:t>
            </a:r>
            <a:endParaRPr>
              <a:solidFill>
                <a:schemeClr val="dk1"/>
              </a:solidFill>
            </a:endParaRPr>
          </a:p>
        </p:txBody>
      </p:sp>
      <p:sp>
        <p:nvSpPr>
          <p:cNvPr id="889" name="Google Shape;889;p80"/>
          <p:cNvSpPr/>
          <p:nvPr/>
        </p:nvSpPr>
        <p:spPr>
          <a:xfrm>
            <a:off x="318450" y="1679046"/>
            <a:ext cx="57804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81"/>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Ví dụ thiết kế giao diện Web </a:t>
            </a:r>
            <a:endParaRPr/>
          </a:p>
          <a:p>
            <a:pPr indent="0" lvl="0" marL="0" rtl="0" algn="ctr">
              <a:spcBef>
                <a:spcPts val="0"/>
              </a:spcBef>
              <a:spcAft>
                <a:spcPts val="0"/>
              </a:spcAft>
              <a:buNone/>
            </a:pPr>
            <a:r>
              <a:rPr lang="en-GB"/>
              <a:t>cho kịch bản Đặt lịch hẹn dịch vụ Spa</a:t>
            </a:r>
            <a:endParaRPr/>
          </a:p>
        </p:txBody>
      </p:sp>
      <p:sp>
        <p:nvSpPr>
          <p:cNvPr id="896" name="Google Shape;896;p8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82"/>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a:t>
            </a:r>
            <a:r>
              <a:rPr lang="en-GB"/>
              <a:t>ịch bản sử dụng</a:t>
            </a:r>
            <a:endParaRPr/>
          </a:p>
        </p:txBody>
      </p:sp>
      <p:sp>
        <p:nvSpPr>
          <p:cNvPr id="902" name="Google Shape;902;p8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03" name="Google Shape;903;p82"/>
          <p:cNvSpPr/>
          <p:nvPr/>
        </p:nvSpPr>
        <p:spPr>
          <a:xfrm>
            <a:off x="461100" y="1022075"/>
            <a:ext cx="8451000" cy="5315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t>Kịch bản Khách hàng đặt lịch hẹn dịch vụ Spa</a:t>
            </a:r>
            <a:endParaRPr b="1" sz="2200"/>
          </a:p>
          <a:p>
            <a:pPr indent="-368300" lvl="0" marL="457200" rtl="0" algn="l">
              <a:spcBef>
                <a:spcPts val="0"/>
              </a:spcBef>
              <a:spcAft>
                <a:spcPts val="0"/>
              </a:spcAft>
              <a:buClr>
                <a:schemeClr val="dk1"/>
              </a:buClr>
              <a:buSzPts val="2200"/>
              <a:buAutoNum type="arabicPeriod"/>
            </a:pPr>
            <a:r>
              <a:rPr lang="en-GB" sz="2200">
                <a:solidFill>
                  <a:schemeClr val="dk1"/>
                </a:solidFill>
              </a:rPr>
              <a:t>Khách hàng yêu cầu Chọn lịch hẹn</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GB" sz="2200">
                <a:solidFill>
                  <a:schemeClr val="dk1"/>
                </a:solidFill>
              </a:rPr>
              <a:t>Hệ thống hiển thị lịch làm việc</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GB" sz="2200">
                <a:solidFill>
                  <a:schemeClr val="dk1"/>
                </a:solidFill>
              </a:rPr>
              <a:t>Khách hàng lựa chọn thời gian phù hợp</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GB" sz="2200">
                <a:solidFill>
                  <a:schemeClr val="dk1"/>
                </a:solidFill>
              </a:rPr>
              <a:t>Hệ thống gửi mã xác nhận tới khách hàng</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GB" sz="2200">
                <a:solidFill>
                  <a:schemeClr val="dk1"/>
                </a:solidFill>
              </a:rPr>
              <a:t>Khách hàng nhập mã xác nhận</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GB" sz="2200">
                <a:solidFill>
                  <a:schemeClr val="dk1"/>
                </a:solidFill>
              </a:rPr>
              <a:t>Hoàn thành đặt lịch nếu mã xác nhận hợp lệ.</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GB" sz="2200">
                <a:solidFill>
                  <a:schemeClr val="dk1"/>
                </a:solidFill>
              </a:rPr>
              <a:t>Nếu mã xác nhận không hợp lệ </a:t>
            </a:r>
            <a:endParaRPr sz="2200">
              <a:solidFill>
                <a:schemeClr val="dk1"/>
              </a:solidFill>
            </a:endParaRPr>
          </a:p>
          <a:p>
            <a:pPr indent="0" lvl="0" marL="457200" rtl="0" algn="l">
              <a:spcBef>
                <a:spcPts val="0"/>
              </a:spcBef>
              <a:spcAft>
                <a:spcPts val="0"/>
              </a:spcAft>
              <a:buNone/>
            </a:pPr>
            <a:r>
              <a:rPr lang="en-GB" sz="2200">
                <a:solidFill>
                  <a:schemeClr val="dk1"/>
                </a:solidFill>
              </a:rPr>
              <a:t>- Khách hàng có thể nhập lại</a:t>
            </a:r>
            <a:endParaRPr sz="2200">
              <a:solidFill>
                <a:schemeClr val="dk1"/>
              </a:solidFill>
            </a:endParaRPr>
          </a:p>
          <a:p>
            <a:pPr indent="0" lvl="0" marL="457200" rtl="0" algn="l">
              <a:spcBef>
                <a:spcPts val="0"/>
              </a:spcBef>
              <a:spcAft>
                <a:spcPts val="0"/>
              </a:spcAft>
              <a:buNone/>
            </a:pPr>
            <a:r>
              <a:rPr lang="en-GB" sz="2200">
                <a:solidFill>
                  <a:schemeClr val="dk1"/>
                </a:solidFill>
              </a:rPr>
              <a:t>- hoặc yêu cầu gửi lại mã xác nhận</a:t>
            </a:r>
            <a:endParaRPr sz="2200">
              <a:solidFill>
                <a:schemeClr val="dk1"/>
              </a:solidFill>
            </a:endParaRPr>
          </a:p>
          <a:p>
            <a:pPr indent="0" lvl="0" marL="457200" rtl="0" algn="l">
              <a:spcBef>
                <a:spcPts val="0"/>
              </a:spcBef>
              <a:spcAft>
                <a:spcPts val="0"/>
              </a:spcAft>
              <a:buNone/>
            </a:pPr>
            <a:r>
              <a:rPr i="1" lang="en-GB" sz="2200">
                <a:solidFill>
                  <a:schemeClr val="dk1"/>
                </a:solidFill>
              </a:rPr>
              <a:t>	(rồi quay lại bước 5).</a:t>
            </a:r>
            <a:endParaRPr i="1" sz="2200">
              <a:solidFill>
                <a:schemeClr val="dk1"/>
              </a:solidFill>
            </a:endParaRPr>
          </a:p>
          <a:p>
            <a:pPr indent="0" lvl="0" marL="457200" rtl="0" algn="l">
              <a:spcBef>
                <a:spcPts val="0"/>
              </a:spcBef>
              <a:spcAft>
                <a:spcPts val="0"/>
              </a:spcAft>
              <a:buNone/>
            </a:pPr>
            <a:r>
              <a:rPr lang="en-GB" sz="2200">
                <a:solidFill>
                  <a:schemeClr val="dk1"/>
                </a:solidFill>
              </a:rPr>
              <a:t>- hoặc kết thúc không đặt lịch hẹn.</a:t>
            </a:r>
            <a:endParaRPr sz="22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83"/>
          <p:cNvSpPr txBox="1"/>
          <p:nvPr/>
        </p:nvSpPr>
        <p:spPr>
          <a:xfrm>
            <a:off x="3117200" y="1396050"/>
            <a:ext cx="2219100" cy="6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&lt;&lt;WebNavigationFlow&gt;&gt;</a:t>
            </a:r>
            <a:endParaRPr/>
          </a:p>
          <a:p>
            <a:pPr indent="0" lvl="0" marL="0" rtl="0" algn="l">
              <a:spcBef>
                <a:spcPts val="0"/>
              </a:spcBef>
              <a:spcAft>
                <a:spcPts val="0"/>
              </a:spcAft>
              <a:buNone/>
            </a:pPr>
            <a:r>
              <a:rPr lang="en-GB"/>
              <a:t>Đặt lịch</a:t>
            </a:r>
            <a:endParaRPr/>
          </a:p>
        </p:txBody>
      </p:sp>
      <p:sp>
        <p:nvSpPr>
          <p:cNvPr id="909" name="Google Shape;909;p83"/>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Mô hình hóa luồng tương tác</a:t>
            </a:r>
            <a:endParaRPr/>
          </a:p>
        </p:txBody>
      </p:sp>
      <p:sp>
        <p:nvSpPr>
          <p:cNvPr id="910" name="Google Shape;910;p8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11" name="Google Shape;911;p83"/>
          <p:cNvSpPr/>
          <p:nvPr/>
        </p:nvSpPr>
        <p:spPr>
          <a:xfrm>
            <a:off x="911050" y="1040400"/>
            <a:ext cx="2219100" cy="13917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[L] &lt;&lt;Home&gt;&gt; &lt;&lt;Page&gt;&gt;</a:t>
            </a:r>
            <a:endParaRPr/>
          </a:p>
          <a:p>
            <a:pPr indent="0" lvl="0" marL="0" rtl="0" algn="ctr">
              <a:spcBef>
                <a:spcPts val="0"/>
              </a:spcBef>
              <a:spcAft>
                <a:spcPts val="0"/>
              </a:spcAft>
              <a:buNone/>
            </a:pPr>
            <a:r>
              <a:rPr lang="en-GB"/>
              <a:t>Màn hình chính</a:t>
            </a:r>
            <a:endParaRPr/>
          </a:p>
        </p:txBody>
      </p:sp>
      <p:cxnSp>
        <p:nvCxnSpPr>
          <p:cNvPr id="912" name="Google Shape;912;p83"/>
          <p:cNvCxnSpPr/>
          <p:nvPr/>
        </p:nvCxnSpPr>
        <p:spPr>
          <a:xfrm flipH="1" rot="10800000">
            <a:off x="3217246" y="1921650"/>
            <a:ext cx="2257500" cy="27000"/>
          </a:xfrm>
          <a:prstGeom prst="straightConnector1">
            <a:avLst/>
          </a:prstGeom>
          <a:noFill/>
          <a:ln cap="flat" cmpd="sng" w="9525">
            <a:solidFill>
              <a:srgbClr val="595959"/>
            </a:solidFill>
            <a:prstDash val="solid"/>
            <a:round/>
            <a:headEnd len="med" w="med" type="none"/>
            <a:tailEnd len="med" w="med" type="triangle"/>
          </a:ln>
        </p:spPr>
      </p:cxnSp>
      <p:cxnSp>
        <p:nvCxnSpPr>
          <p:cNvPr id="913" name="Google Shape;913;p83"/>
          <p:cNvCxnSpPr>
            <a:stCxn id="914" idx="4"/>
          </p:cNvCxnSpPr>
          <p:nvPr/>
        </p:nvCxnSpPr>
        <p:spPr>
          <a:xfrm flipH="1">
            <a:off x="6699723" y="2603063"/>
            <a:ext cx="3000" cy="407700"/>
          </a:xfrm>
          <a:prstGeom prst="straightConnector1">
            <a:avLst/>
          </a:prstGeom>
          <a:noFill/>
          <a:ln cap="flat" cmpd="sng" w="9525">
            <a:solidFill>
              <a:srgbClr val="595959"/>
            </a:solidFill>
            <a:prstDash val="solid"/>
            <a:round/>
            <a:headEnd len="med" w="med" type="none"/>
            <a:tailEnd len="med" w="med" type="triangle"/>
          </a:ln>
        </p:spPr>
      </p:cxnSp>
      <p:cxnSp>
        <p:nvCxnSpPr>
          <p:cNvPr id="915" name="Google Shape;915;p83"/>
          <p:cNvCxnSpPr>
            <a:stCxn id="916" idx="4"/>
            <a:endCxn id="911" idx="1"/>
          </p:cNvCxnSpPr>
          <p:nvPr/>
        </p:nvCxnSpPr>
        <p:spPr>
          <a:xfrm flipH="1" rot="5400000">
            <a:off x="-809505" y="3457001"/>
            <a:ext cx="3746700" cy="305400"/>
          </a:xfrm>
          <a:prstGeom prst="bentConnector4">
            <a:avLst>
              <a:gd fmla="val -6356" name="adj1"/>
              <a:gd fmla="val 178003" name="adj2"/>
            </a:avLst>
          </a:prstGeom>
          <a:noFill/>
          <a:ln cap="flat" cmpd="sng" w="9525">
            <a:solidFill>
              <a:srgbClr val="595959"/>
            </a:solidFill>
            <a:prstDash val="solid"/>
            <a:round/>
            <a:headEnd len="med" w="med" type="none"/>
            <a:tailEnd len="med" w="med" type="triangle"/>
          </a:ln>
        </p:spPr>
      </p:cxnSp>
      <p:cxnSp>
        <p:nvCxnSpPr>
          <p:cNvPr id="917" name="Google Shape;917;p83"/>
          <p:cNvCxnSpPr/>
          <p:nvPr/>
        </p:nvCxnSpPr>
        <p:spPr>
          <a:xfrm>
            <a:off x="911050" y="1580974"/>
            <a:ext cx="2219100" cy="0"/>
          </a:xfrm>
          <a:prstGeom prst="straightConnector1">
            <a:avLst/>
          </a:prstGeom>
          <a:noFill/>
          <a:ln cap="flat" cmpd="sng" w="9525">
            <a:solidFill>
              <a:schemeClr val="dk2"/>
            </a:solidFill>
            <a:prstDash val="solid"/>
            <a:round/>
            <a:headEnd len="med" w="med" type="none"/>
            <a:tailEnd len="med" w="med" type="none"/>
          </a:ln>
        </p:spPr>
      </p:cxnSp>
      <p:sp>
        <p:nvSpPr>
          <p:cNvPr id="918" name="Google Shape;918;p83"/>
          <p:cNvSpPr/>
          <p:nvPr/>
        </p:nvSpPr>
        <p:spPr>
          <a:xfrm>
            <a:off x="5321450" y="884600"/>
            <a:ext cx="3120900" cy="17526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54000">
            <a:noAutofit/>
          </a:bodyPr>
          <a:lstStyle/>
          <a:p>
            <a:pPr indent="0" lvl="0" marL="0" rtl="0" algn="l">
              <a:spcBef>
                <a:spcPts val="0"/>
              </a:spcBef>
              <a:spcAft>
                <a:spcPts val="0"/>
              </a:spcAft>
              <a:buNone/>
            </a:pPr>
            <a:r>
              <a:rPr lang="en-GB"/>
              <a:t>&lt;&lt;Page&gt;&gt; Chọn lịch hẹn</a:t>
            </a:r>
            <a:endParaRPr/>
          </a:p>
        </p:txBody>
      </p:sp>
      <p:cxnSp>
        <p:nvCxnSpPr>
          <p:cNvPr id="919" name="Google Shape;919;p83"/>
          <p:cNvCxnSpPr/>
          <p:nvPr/>
        </p:nvCxnSpPr>
        <p:spPr>
          <a:xfrm>
            <a:off x="5321450" y="1231781"/>
            <a:ext cx="3120900" cy="0"/>
          </a:xfrm>
          <a:prstGeom prst="straightConnector1">
            <a:avLst/>
          </a:prstGeom>
          <a:noFill/>
          <a:ln cap="flat" cmpd="sng" w="9525">
            <a:solidFill>
              <a:schemeClr val="dk2"/>
            </a:solidFill>
            <a:prstDash val="solid"/>
            <a:round/>
            <a:headEnd len="med" w="med" type="none"/>
            <a:tailEnd len="med" w="med" type="none"/>
          </a:ln>
        </p:spPr>
      </p:cxnSp>
      <p:sp>
        <p:nvSpPr>
          <p:cNvPr id="920" name="Google Shape;920;p83"/>
          <p:cNvSpPr/>
          <p:nvPr/>
        </p:nvSpPr>
        <p:spPr>
          <a:xfrm>
            <a:off x="5482325" y="1301201"/>
            <a:ext cx="2784300" cy="1169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&lt;&lt;Form&gt;&gt; Đặt lịch hẹn</a:t>
            </a:r>
            <a:endParaRPr/>
          </a:p>
        </p:txBody>
      </p:sp>
      <p:sp>
        <p:nvSpPr>
          <p:cNvPr id="921" name="Google Shape;921;p83"/>
          <p:cNvSpPr/>
          <p:nvPr/>
        </p:nvSpPr>
        <p:spPr>
          <a:xfrm>
            <a:off x="5618900" y="1765016"/>
            <a:ext cx="2563500" cy="5604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&lt;&lt;SimpleField&gt;&gt; TimeTable:ServiceEntry</a:t>
            </a:r>
            <a:endParaRPr/>
          </a:p>
        </p:txBody>
      </p:sp>
      <p:sp>
        <p:nvSpPr>
          <p:cNvPr id="914" name="Google Shape;914;p83"/>
          <p:cNvSpPr/>
          <p:nvPr/>
        </p:nvSpPr>
        <p:spPr>
          <a:xfrm>
            <a:off x="6574923" y="2347463"/>
            <a:ext cx="255600" cy="255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rPr lang="en-GB"/>
              <a:t>↵</a:t>
            </a:r>
            <a:endParaRPr/>
          </a:p>
        </p:txBody>
      </p:sp>
      <p:sp>
        <p:nvSpPr>
          <p:cNvPr id="922" name="Google Shape;922;p83"/>
          <p:cNvSpPr/>
          <p:nvPr/>
        </p:nvSpPr>
        <p:spPr>
          <a:xfrm>
            <a:off x="5702450" y="4104825"/>
            <a:ext cx="2784300" cy="14493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&lt;&lt;Modal&gt;&gt; Xác nhận cuộc hẹn</a:t>
            </a:r>
            <a:endParaRPr/>
          </a:p>
        </p:txBody>
      </p:sp>
      <p:cxnSp>
        <p:nvCxnSpPr>
          <p:cNvPr id="923" name="Google Shape;923;p83"/>
          <p:cNvCxnSpPr/>
          <p:nvPr/>
        </p:nvCxnSpPr>
        <p:spPr>
          <a:xfrm>
            <a:off x="5702450" y="4456301"/>
            <a:ext cx="2784300" cy="0"/>
          </a:xfrm>
          <a:prstGeom prst="straightConnector1">
            <a:avLst/>
          </a:prstGeom>
          <a:noFill/>
          <a:ln cap="flat" cmpd="sng" w="9525">
            <a:solidFill>
              <a:schemeClr val="dk2"/>
            </a:solidFill>
            <a:prstDash val="solid"/>
            <a:round/>
            <a:headEnd len="med" w="med" type="none"/>
            <a:tailEnd len="med" w="med" type="none"/>
          </a:ln>
        </p:spPr>
      </p:cxnSp>
      <p:sp>
        <p:nvSpPr>
          <p:cNvPr id="924" name="Google Shape;924;p83"/>
          <p:cNvSpPr/>
          <p:nvPr/>
        </p:nvSpPr>
        <p:spPr>
          <a:xfrm>
            <a:off x="5845974" y="4546525"/>
            <a:ext cx="2484000" cy="91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&lt;&lt;Form&gt;&gt; Xác nhận OTP</a:t>
            </a:r>
            <a:endParaRPr/>
          </a:p>
        </p:txBody>
      </p:sp>
      <p:sp>
        <p:nvSpPr>
          <p:cNvPr id="925" name="Google Shape;925;p83"/>
          <p:cNvSpPr/>
          <p:nvPr/>
        </p:nvSpPr>
        <p:spPr>
          <a:xfrm>
            <a:off x="978050" y="3278050"/>
            <a:ext cx="2978100" cy="22689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54000">
            <a:noAutofit/>
          </a:bodyPr>
          <a:lstStyle/>
          <a:p>
            <a:pPr indent="0" lvl="0" marL="0" rtl="0" algn="l">
              <a:spcBef>
                <a:spcPts val="0"/>
              </a:spcBef>
              <a:spcAft>
                <a:spcPts val="0"/>
              </a:spcAft>
              <a:buNone/>
            </a:pPr>
            <a:r>
              <a:rPr lang="en-GB"/>
              <a:t>&lt;&lt;Page&gt;&gt; Kết quả cuộc hẹn</a:t>
            </a:r>
            <a:endParaRPr/>
          </a:p>
        </p:txBody>
      </p:sp>
      <p:cxnSp>
        <p:nvCxnSpPr>
          <p:cNvPr id="926" name="Google Shape;926;p83"/>
          <p:cNvCxnSpPr/>
          <p:nvPr/>
        </p:nvCxnSpPr>
        <p:spPr>
          <a:xfrm>
            <a:off x="978050" y="3598394"/>
            <a:ext cx="2978100" cy="0"/>
          </a:xfrm>
          <a:prstGeom prst="straightConnector1">
            <a:avLst/>
          </a:prstGeom>
          <a:noFill/>
          <a:ln cap="flat" cmpd="sng" w="9525">
            <a:solidFill>
              <a:schemeClr val="dk2"/>
            </a:solidFill>
            <a:prstDash val="solid"/>
            <a:round/>
            <a:headEnd len="med" w="med" type="none"/>
            <a:tailEnd len="med" w="med" type="none"/>
          </a:ln>
        </p:spPr>
      </p:cxnSp>
      <p:sp>
        <p:nvSpPr>
          <p:cNvPr id="927" name="Google Shape;927;p83"/>
          <p:cNvSpPr/>
          <p:nvPr/>
        </p:nvSpPr>
        <p:spPr>
          <a:xfrm>
            <a:off x="1131575" y="3688729"/>
            <a:ext cx="2656800" cy="1752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&lt;&lt;Detail&gt;&gt; Cuộc hẹn</a:t>
            </a:r>
            <a:endParaRPr/>
          </a:p>
        </p:txBody>
      </p:sp>
      <p:sp>
        <p:nvSpPr>
          <p:cNvPr id="928" name="Google Shape;928;p83"/>
          <p:cNvSpPr/>
          <p:nvPr/>
        </p:nvSpPr>
        <p:spPr>
          <a:xfrm>
            <a:off x="5753976" y="4996301"/>
            <a:ext cx="255600" cy="255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rPr lang="en-GB"/>
              <a:t>↵</a:t>
            </a:r>
            <a:endParaRPr/>
          </a:p>
        </p:txBody>
      </p:sp>
      <p:cxnSp>
        <p:nvCxnSpPr>
          <p:cNvPr id="929" name="Google Shape;929;p83"/>
          <p:cNvCxnSpPr>
            <a:stCxn id="928" idx="2"/>
            <a:endCxn id="930" idx="0"/>
          </p:cNvCxnSpPr>
          <p:nvPr/>
        </p:nvCxnSpPr>
        <p:spPr>
          <a:xfrm flipH="1">
            <a:off x="5474976" y="5124101"/>
            <a:ext cx="279000" cy="341400"/>
          </a:xfrm>
          <a:prstGeom prst="straightConnector1">
            <a:avLst/>
          </a:prstGeom>
          <a:noFill/>
          <a:ln cap="flat" cmpd="sng" w="9525">
            <a:solidFill>
              <a:schemeClr val="dk2"/>
            </a:solidFill>
            <a:prstDash val="solid"/>
            <a:round/>
            <a:headEnd len="med" w="med" type="none"/>
            <a:tailEnd len="med" w="med" type="triangle"/>
          </a:ln>
        </p:spPr>
      </p:cxnSp>
      <p:sp>
        <p:nvSpPr>
          <p:cNvPr id="931" name="Google Shape;931;p83"/>
          <p:cNvSpPr/>
          <p:nvPr/>
        </p:nvSpPr>
        <p:spPr>
          <a:xfrm>
            <a:off x="3203700" y="2508300"/>
            <a:ext cx="1504800" cy="6480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Rel = “booking”</a:t>
            </a:r>
            <a:endParaRPr/>
          </a:p>
          <a:p>
            <a:pPr indent="0" lvl="0" marL="0" rtl="0" algn="l">
              <a:spcBef>
                <a:spcPts val="0"/>
              </a:spcBef>
              <a:spcAft>
                <a:spcPts val="0"/>
              </a:spcAft>
              <a:buNone/>
            </a:pPr>
            <a:r>
              <a:rPr lang="en-GB"/>
              <a:t>Target = “_top”</a:t>
            </a:r>
            <a:endParaRPr/>
          </a:p>
        </p:txBody>
      </p:sp>
      <p:cxnSp>
        <p:nvCxnSpPr>
          <p:cNvPr id="932" name="Google Shape;932;p83"/>
          <p:cNvCxnSpPr>
            <a:stCxn id="931" idx="0"/>
          </p:cNvCxnSpPr>
          <p:nvPr/>
        </p:nvCxnSpPr>
        <p:spPr>
          <a:xfrm flipH="1" rot="10800000">
            <a:off x="3956100" y="2005800"/>
            <a:ext cx="184500" cy="502500"/>
          </a:xfrm>
          <a:prstGeom prst="straightConnector1">
            <a:avLst/>
          </a:prstGeom>
          <a:noFill/>
          <a:ln cap="flat" cmpd="sng" w="9525">
            <a:solidFill>
              <a:schemeClr val="dk2"/>
            </a:solidFill>
            <a:prstDash val="dash"/>
            <a:round/>
            <a:headEnd len="med" w="med" type="none"/>
            <a:tailEnd len="med" w="med" type="none"/>
          </a:ln>
        </p:spPr>
      </p:cxnSp>
      <p:sp>
        <p:nvSpPr>
          <p:cNvPr id="933" name="Google Shape;933;p83"/>
          <p:cNvSpPr/>
          <p:nvPr/>
        </p:nvSpPr>
        <p:spPr>
          <a:xfrm>
            <a:off x="6054475" y="3008013"/>
            <a:ext cx="1249200" cy="648000"/>
          </a:xfrm>
          <a:prstGeom prst="hexagon">
            <a:avLst>
              <a:gd fmla="val 25000"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Gửi mã OTP</a:t>
            </a:r>
            <a:endParaRPr/>
          </a:p>
        </p:txBody>
      </p:sp>
      <p:sp>
        <p:nvSpPr>
          <p:cNvPr id="934" name="Google Shape;934;p83"/>
          <p:cNvSpPr/>
          <p:nvPr/>
        </p:nvSpPr>
        <p:spPr>
          <a:xfrm>
            <a:off x="5761164" y="4539101"/>
            <a:ext cx="255600" cy="255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t/>
            </a:r>
            <a:endParaRPr/>
          </a:p>
        </p:txBody>
      </p:sp>
      <p:sp>
        <p:nvSpPr>
          <p:cNvPr id="916" name="Google Shape;916;p83"/>
          <p:cNvSpPr/>
          <p:nvPr/>
        </p:nvSpPr>
        <p:spPr>
          <a:xfrm>
            <a:off x="1088745" y="5227451"/>
            <a:ext cx="255600" cy="255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t/>
            </a:r>
            <a:endParaRPr/>
          </a:p>
        </p:txBody>
      </p:sp>
      <p:sp>
        <p:nvSpPr>
          <p:cNvPr id="935" name="Google Shape;935;p83"/>
          <p:cNvSpPr/>
          <p:nvPr/>
        </p:nvSpPr>
        <p:spPr>
          <a:xfrm>
            <a:off x="2961645" y="1807351"/>
            <a:ext cx="255600" cy="255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t/>
            </a:r>
            <a:endParaRPr/>
          </a:p>
        </p:txBody>
      </p:sp>
      <p:sp>
        <p:nvSpPr>
          <p:cNvPr id="936" name="Google Shape;936;p83"/>
          <p:cNvSpPr txBox="1"/>
          <p:nvPr/>
        </p:nvSpPr>
        <p:spPr>
          <a:xfrm>
            <a:off x="4719575" y="3008025"/>
            <a:ext cx="11376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Gửi lại OTP</a:t>
            </a:r>
            <a:endParaRPr/>
          </a:p>
        </p:txBody>
      </p:sp>
      <p:sp>
        <p:nvSpPr>
          <p:cNvPr id="937" name="Google Shape;937;p83"/>
          <p:cNvSpPr/>
          <p:nvPr/>
        </p:nvSpPr>
        <p:spPr>
          <a:xfrm>
            <a:off x="6599364" y="3624701"/>
            <a:ext cx="255600" cy="255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t/>
            </a:r>
            <a:endParaRPr/>
          </a:p>
        </p:txBody>
      </p:sp>
      <p:cxnSp>
        <p:nvCxnSpPr>
          <p:cNvPr id="938" name="Google Shape;938;p83"/>
          <p:cNvCxnSpPr>
            <a:stCxn id="934" idx="2"/>
            <a:endCxn id="933" idx="3"/>
          </p:cNvCxnSpPr>
          <p:nvPr/>
        </p:nvCxnSpPr>
        <p:spPr>
          <a:xfrm flipH="1" rot="10800000">
            <a:off x="5761164" y="3331901"/>
            <a:ext cx="293400" cy="1335000"/>
          </a:xfrm>
          <a:prstGeom prst="bentConnector3">
            <a:avLst>
              <a:gd fmla="val -81161" name="adj1"/>
            </a:avLst>
          </a:prstGeom>
          <a:noFill/>
          <a:ln cap="flat" cmpd="sng" w="9525">
            <a:solidFill>
              <a:schemeClr val="dk2"/>
            </a:solidFill>
            <a:prstDash val="solid"/>
            <a:round/>
            <a:headEnd len="med" w="med" type="none"/>
            <a:tailEnd len="med" w="med" type="triangle"/>
          </a:ln>
        </p:spPr>
      </p:cxnSp>
      <p:cxnSp>
        <p:nvCxnSpPr>
          <p:cNvPr id="939" name="Google Shape;939;p83"/>
          <p:cNvCxnSpPr>
            <a:stCxn id="937" idx="4"/>
          </p:cNvCxnSpPr>
          <p:nvPr/>
        </p:nvCxnSpPr>
        <p:spPr>
          <a:xfrm flipH="1">
            <a:off x="6716964" y="3880301"/>
            <a:ext cx="10200" cy="200100"/>
          </a:xfrm>
          <a:prstGeom prst="straightConnector1">
            <a:avLst/>
          </a:prstGeom>
          <a:noFill/>
          <a:ln cap="flat" cmpd="sng" w="9525">
            <a:solidFill>
              <a:schemeClr val="dk2"/>
            </a:solidFill>
            <a:prstDash val="solid"/>
            <a:round/>
            <a:headEnd len="med" w="med" type="none"/>
            <a:tailEnd len="med" w="med" type="triangle"/>
          </a:ln>
        </p:spPr>
      </p:cxnSp>
      <p:sp>
        <p:nvSpPr>
          <p:cNvPr id="930" name="Google Shape;930;p83"/>
          <p:cNvSpPr/>
          <p:nvPr/>
        </p:nvSpPr>
        <p:spPr>
          <a:xfrm>
            <a:off x="4225675" y="5141613"/>
            <a:ext cx="1249200" cy="648000"/>
          </a:xfrm>
          <a:prstGeom prst="hexagon">
            <a:avLst>
              <a:gd fmla="val 25000"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Kiểm tra</a:t>
            </a:r>
            <a:r>
              <a:rPr lang="en-GB"/>
              <a:t> mã OTP</a:t>
            </a:r>
            <a:endParaRPr/>
          </a:p>
        </p:txBody>
      </p:sp>
      <p:sp>
        <p:nvSpPr>
          <p:cNvPr id="940" name="Google Shape;940;p83"/>
          <p:cNvSpPr/>
          <p:nvPr/>
        </p:nvSpPr>
        <p:spPr>
          <a:xfrm>
            <a:off x="4999164" y="5664849"/>
            <a:ext cx="255600" cy="255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t/>
            </a:r>
            <a:endParaRPr/>
          </a:p>
        </p:txBody>
      </p:sp>
      <p:cxnSp>
        <p:nvCxnSpPr>
          <p:cNvPr id="941" name="Google Shape;941;p83"/>
          <p:cNvCxnSpPr>
            <a:stCxn id="940" idx="4"/>
            <a:endCxn id="922" idx="2"/>
          </p:cNvCxnSpPr>
          <p:nvPr/>
        </p:nvCxnSpPr>
        <p:spPr>
          <a:xfrm rot="-5400000">
            <a:off x="5927664" y="4753449"/>
            <a:ext cx="366300" cy="1967700"/>
          </a:xfrm>
          <a:prstGeom prst="bentConnector3">
            <a:avLst>
              <a:gd fmla="val -65008" name="adj1"/>
            </a:avLst>
          </a:prstGeom>
          <a:noFill/>
          <a:ln cap="flat" cmpd="sng" w="9525">
            <a:solidFill>
              <a:schemeClr val="dk2"/>
            </a:solidFill>
            <a:prstDash val="solid"/>
            <a:round/>
            <a:headEnd len="med" w="med" type="none"/>
            <a:tailEnd len="med" w="med" type="triangle"/>
          </a:ln>
        </p:spPr>
      </p:cxnSp>
      <p:sp>
        <p:nvSpPr>
          <p:cNvPr id="942" name="Google Shape;942;p83"/>
          <p:cNvSpPr txBox="1"/>
          <p:nvPr/>
        </p:nvSpPr>
        <p:spPr>
          <a:xfrm>
            <a:off x="5176775" y="6132225"/>
            <a:ext cx="11376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Mã OTP sai</a:t>
            </a:r>
            <a:endParaRPr/>
          </a:p>
        </p:txBody>
      </p:sp>
      <p:sp>
        <p:nvSpPr>
          <p:cNvPr id="943" name="Google Shape;943;p83"/>
          <p:cNvSpPr/>
          <p:nvPr/>
        </p:nvSpPr>
        <p:spPr>
          <a:xfrm>
            <a:off x="4465764" y="5664849"/>
            <a:ext cx="255600" cy="255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ctr">
              <a:spcBef>
                <a:spcPts val="0"/>
              </a:spcBef>
              <a:spcAft>
                <a:spcPts val="0"/>
              </a:spcAft>
              <a:buNone/>
            </a:pPr>
            <a:r>
              <a:t/>
            </a:r>
            <a:endParaRPr/>
          </a:p>
        </p:txBody>
      </p:sp>
      <p:cxnSp>
        <p:nvCxnSpPr>
          <p:cNvPr id="944" name="Google Shape;944;p83"/>
          <p:cNvCxnSpPr>
            <a:stCxn id="943" idx="4"/>
            <a:endCxn id="925" idx="2"/>
          </p:cNvCxnSpPr>
          <p:nvPr/>
        </p:nvCxnSpPr>
        <p:spPr>
          <a:xfrm flipH="1" rot="5400000">
            <a:off x="3343614" y="4670499"/>
            <a:ext cx="373500" cy="2126400"/>
          </a:xfrm>
          <a:prstGeom prst="bentConnector3">
            <a:avLst>
              <a:gd fmla="val -63755" name="adj1"/>
            </a:avLst>
          </a:prstGeom>
          <a:noFill/>
          <a:ln cap="flat" cmpd="sng" w="9525">
            <a:solidFill>
              <a:schemeClr val="dk2"/>
            </a:solidFill>
            <a:prstDash val="solid"/>
            <a:round/>
            <a:headEnd len="med" w="med" type="none"/>
            <a:tailEnd len="med" w="med" type="triangle"/>
          </a:ln>
        </p:spPr>
      </p:cxnSp>
      <p:sp>
        <p:nvSpPr>
          <p:cNvPr id="945" name="Google Shape;945;p83"/>
          <p:cNvSpPr txBox="1"/>
          <p:nvPr/>
        </p:nvSpPr>
        <p:spPr>
          <a:xfrm>
            <a:off x="2814575" y="6132225"/>
            <a:ext cx="14112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Mã OTP </a:t>
            </a:r>
            <a:r>
              <a:rPr lang="en-GB"/>
              <a:t>đúng</a:t>
            </a:r>
            <a:endParaRPr/>
          </a:p>
        </p:txBody>
      </p:sp>
      <p:sp>
        <p:nvSpPr>
          <p:cNvPr id="946" name="Google Shape;946;p83"/>
          <p:cNvSpPr/>
          <p:nvPr/>
        </p:nvSpPr>
        <p:spPr>
          <a:xfrm>
            <a:off x="1351475" y="4182350"/>
            <a:ext cx="2348400" cy="1069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l">
              <a:spcBef>
                <a:spcPts val="0"/>
              </a:spcBef>
              <a:spcAft>
                <a:spcPts val="0"/>
              </a:spcAft>
              <a:buNone/>
            </a:pPr>
            <a:r>
              <a:rPr lang="en-GB" sz="1200"/>
              <a:t>&lt;&lt;</a:t>
            </a:r>
            <a:r>
              <a:rPr lang="en-GB" sz="1200"/>
              <a:t>DataBinding&gt;&gt; ServiceEntry</a:t>
            </a:r>
            <a:endParaRPr sz="1200"/>
          </a:p>
        </p:txBody>
      </p:sp>
      <p:sp>
        <p:nvSpPr>
          <p:cNvPr id="947" name="Google Shape;947;p83"/>
          <p:cNvSpPr/>
          <p:nvPr/>
        </p:nvSpPr>
        <p:spPr>
          <a:xfrm>
            <a:off x="1503875" y="4563350"/>
            <a:ext cx="1967700" cy="604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18000" lIns="18000" spcFirstLastPara="1" rIns="18000" wrap="square" tIns="18000">
            <a:noAutofit/>
          </a:bodyPr>
          <a:lstStyle/>
          <a:p>
            <a:pPr indent="0" lvl="0" marL="0" rtl="0" algn="l">
              <a:spcBef>
                <a:spcPts val="0"/>
              </a:spcBef>
              <a:spcAft>
                <a:spcPts val="0"/>
              </a:spcAft>
              <a:buNone/>
            </a:pPr>
            <a:r>
              <a:rPr lang="en-GB" sz="1200"/>
              <a:t>&lt;&lt;</a:t>
            </a:r>
            <a:r>
              <a:rPr lang="en-GB" sz="1200"/>
              <a:t>ConditionalExpression</a:t>
            </a:r>
            <a:r>
              <a:rPr lang="en-GB" sz="1200"/>
              <a:t>&gt;&gt; </a:t>
            </a:r>
            <a:r>
              <a:rPr lang="en-GB" sz="1200"/>
              <a:t>self.isConfirmed = true</a:t>
            </a:r>
            <a:endParaRPr sz="1200"/>
          </a:p>
        </p:txBody>
      </p:sp>
      <p:sp>
        <p:nvSpPr>
          <p:cNvPr id="948" name="Google Shape;948;p83"/>
          <p:cNvSpPr/>
          <p:nvPr/>
        </p:nvSpPr>
        <p:spPr>
          <a:xfrm>
            <a:off x="976650" y="2559200"/>
            <a:ext cx="1504800" cy="6480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Rel = “</a:t>
            </a:r>
            <a:r>
              <a:rPr lang="en-GB"/>
              <a:t>home</a:t>
            </a:r>
            <a:r>
              <a:rPr lang="en-GB"/>
              <a:t>”</a:t>
            </a:r>
            <a:endParaRPr/>
          </a:p>
          <a:p>
            <a:pPr indent="0" lvl="0" marL="0" rtl="0" algn="l">
              <a:spcBef>
                <a:spcPts val="0"/>
              </a:spcBef>
              <a:spcAft>
                <a:spcPts val="0"/>
              </a:spcAft>
              <a:buNone/>
            </a:pPr>
            <a:r>
              <a:rPr lang="en-GB"/>
              <a:t>Target = “_top”</a:t>
            </a:r>
            <a:endParaRPr/>
          </a:p>
        </p:txBody>
      </p:sp>
      <p:sp>
        <p:nvSpPr>
          <p:cNvPr id="949" name="Google Shape;949;p83"/>
          <p:cNvSpPr txBox="1"/>
          <p:nvPr/>
        </p:nvSpPr>
        <p:spPr>
          <a:xfrm>
            <a:off x="221600" y="5739450"/>
            <a:ext cx="1839900" cy="6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&lt;&lt;WebNavFlow&gt;&gt;</a:t>
            </a:r>
            <a:endParaRPr/>
          </a:p>
          <a:p>
            <a:pPr indent="0" lvl="0" marL="0" rtl="0" algn="l">
              <a:spcBef>
                <a:spcPts val="0"/>
              </a:spcBef>
              <a:spcAft>
                <a:spcPts val="0"/>
              </a:spcAft>
              <a:buNone/>
            </a:pPr>
            <a:r>
              <a:rPr lang="en-GB"/>
              <a:t>Hoàn thành</a:t>
            </a:r>
            <a:endParaRPr/>
          </a:p>
        </p:txBody>
      </p:sp>
      <p:cxnSp>
        <p:nvCxnSpPr>
          <p:cNvPr id="950" name="Google Shape;950;p83"/>
          <p:cNvCxnSpPr>
            <a:endCxn id="948" idx="1"/>
          </p:cNvCxnSpPr>
          <p:nvPr/>
        </p:nvCxnSpPr>
        <p:spPr>
          <a:xfrm flipH="1" rot="10800000">
            <a:off x="678450" y="2883200"/>
            <a:ext cx="298200" cy="3345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8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Quy chuẩn giao diện</a:t>
            </a:r>
            <a:endParaRPr/>
          </a:p>
        </p:txBody>
      </p:sp>
      <p:sp>
        <p:nvSpPr>
          <p:cNvPr id="956" name="Google Shape;956;p84"/>
          <p:cNvSpPr txBox="1"/>
          <p:nvPr>
            <p:ph idx="1" type="body"/>
          </p:nvPr>
        </p:nvSpPr>
        <p:spPr>
          <a:xfrm>
            <a:off x="311700" y="950475"/>
            <a:ext cx="8520600" cy="5462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nút bấm</a:t>
            </a:r>
            <a:endParaRPr/>
          </a:p>
          <a:p>
            <a:pPr indent="-368300" lvl="1" marL="914400" rtl="0" algn="just">
              <a:spcBef>
                <a:spcPts val="0"/>
              </a:spcBef>
              <a:spcAft>
                <a:spcPts val="0"/>
              </a:spcAft>
              <a:buSzPts val="2200"/>
              <a:buChar char="○"/>
            </a:pPr>
            <a:r>
              <a:rPr lang="en-GB"/>
              <a:t>Gửi yêu cầu - Đặt lịch hẹn theo thông tin đã chọn</a:t>
            </a:r>
            <a:endParaRPr/>
          </a:p>
          <a:p>
            <a:pPr indent="-368300" lvl="1" marL="914400" rtl="0" algn="just">
              <a:spcBef>
                <a:spcPts val="0"/>
              </a:spcBef>
              <a:spcAft>
                <a:spcPts val="0"/>
              </a:spcAft>
              <a:buSzPts val="2200"/>
              <a:buChar char="○"/>
            </a:pPr>
            <a:r>
              <a:rPr lang="en-GB"/>
              <a:t>Xác nhận - Chứng minh người dùng thực đang gửi yêu cầu</a:t>
            </a:r>
            <a:endParaRPr/>
          </a:p>
          <a:p>
            <a:pPr indent="-368300" lvl="1" marL="914400" rtl="0" algn="just">
              <a:spcBef>
                <a:spcPts val="0"/>
              </a:spcBef>
              <a:spcAft>
                <a:spcPts val="0"/>
              </a:spcAft>
              <a:buSzPts val="2200"/>
              <a:buChar char="○"/>
            </a:pPr>
            <a:r>
              <a:rPr lang="en-GB"/>
              <a:t>Hoàn thành - Đóng cửa sổ đặt lịch hẹn và quay về màn hình chính</a:t>
            </a:r>
            <a:endParaRPr/>
          </a:p>
          <a:p>
            <a:pPr indent="-381000" lvl="0" marL="457200" rtl="0" algn="just">
              <a:spcBef>
                <a:spcPts val="0"/>
              </a:spcBef>
              <a:spcAft>
                <a:spcPts val="0"/>
              </a:spcAft>
              <a:buSzPts val="2400"/>
              <a:buChar char="●"/>
            </a:pPr>
            <a:r>
              <a:rPr lang="en-GB"/>
              <a:t>Các danh mục mức đỉnh</a:t>
            </a:r>
            <a:endParaRPr/>
          </a:p>
          <a:p>
            <a:pPr indent="-368300" lvl="1" marL="914400" rtl="0" algn="just">
              <a:spcBef>
                <a:spcPts val="0"/>
              </a:spcBef>
              <a:spcAft>
                <a:spcPts val="0"/>
              </a:spcAft>
              <a:buSzPts val="2200"/>
              <a:buChar char="○"/>
            </a:pPr>
            <a:r>
              <a:rPr lang="en-GB"/>
              <a:t>Đặt lịch hẹn - Bắt đầu thực hiện kịch bản Đặt Lịch hẹn</a:t>
            </a:r>
            <a:endParaRPr/>
          </a:p>
          <a:p>
            <a:pPr indent="-381000" lvl="0" marL="457200" rtl="0" algn="just">
              <a:spcBef>
                <a:spcPts val="0"/>
              </a:spcBef>
              <a:spcAft>
                <a:spcPts val="0"/>
              </a:spcAft>
              <a:buSzPts val="2400"/>
              <a:buChar char="●"/>
            </a:pPr>
            <a:r>
              <a:rPr lang="en-GB"/>
              <a:t>Các liên kết</a:t>
            </a:r>
            <a:endParaRPr/>
          </a:p>
          <a:p>
            <a:pPr indent="-368300" lvl="1" marL="914400" rtl="0" algn="just">
              <a:spcBef>
                <a:spcPts val="0"/>
              </a:spcBef>
              <a:spcAft>
                <a:spcPts val="0"/>
              </a:spcAft>
              <a:buSzPts val="2200"/>
              <a:buChar char="○"/>
            </a:pPr>
            <a:r>
              <a:rPr lang="en-GB"/>
              <a:t>Gửi lại mã - Gửi lại mã OTP để định danh người dùng</a:t>
            </a:r>
            <a:endParaRPr/>
          </a:p>
          <a:p>
            <a:pPr indent="-381000" lvl="0" marL="457200" rtl="0" algn="just">
              <a:spcBef>
                <a:spcPts val="0"/>
              </a:spcBef>
              <a:spcAft>
                <a:spcPts val="0"/>
              </a:spcAft>
              <a:buSzPts val="2400"/>
              <a:buChar char="●"/>
            </a:pPr>
            <a:r>
              <a:rPr lang="en-GB"/>
              <a:t>Hộp nhập mã</a:t>
            </a:r>
            <a:endParaRPr/>
          </a:p>
          <a:p>
            <a:pPr indent="-368300" lvl="1" marL="914400" rtl="0" algn="just">
              <a:spcBef>
                <a:spcPts val="0"/>
              </a:spcBef>
              <a:spcAft>
                <a:spcPts val="0"/>
              </a:spcAft>
              <a:buSzPts val="2200"/>
              <a:buChar char="○"/>
            </a:pPr>
            <a:r>
              <a:rPr lang="en-GB"/>
              <a:t>1 dòng, độ dài tối đa 6 ký tự</a:t>
            </a:r>
            <a:endParaRPr/>
          </a:p>
          <a:p>
            <a:pPr indent="-368300" lvl="1" marL="914400" rtl="0" algn="just">
              <a:spcBef>
                <a:spcPts val="0"/>
              </a:spcBef>
              <a:spcAft>
                <a:spcPts val="0"/>
              </a:spcAft>
              <a:buSzPts val="2200"/>
              <a:buChar char="○"/>
            </a:pPr>
            <a:r>
              <a:rPr lang="en-GB"/>
              <a:t>Hiện ký tự</a:t>
            </a:r>
            <a:endParaRPr/>
          </a:p>
          <a:p>
            <a:pPr indent="-368300" lvl="1" marL="914400" rtl="0" algn="just">
              <a:spcBef>
                <a:spcPts val="0"/>
              </a:spcBef>
              <a:spcAft>
                <a:spcPts val="0"/>
              </a:spcAft>
              <a:buSzPts val="2200"/>
              <a:buChar char="○"/>
            </a:pPr>
            <a:r>
              <a:rPr lang="en-GB"/>
              <a:t>Cỡ chữ 18pt</a:t>
            </a:r>
            <a:endParaRPr/>
          </a:p>
        </p:txBody>
      </p:sp>
      <p:sp>
        <p:nvSpPr>
          <p:cNvPr id="957" name="Google Shape;957;p84"/>
          <p:cNvSpPr/>
          <p:nvPr/>
        </p:nvSpPr>
        <p:spPr>
          <a:xfrm>
            <a:off x="3517425" y="4606475"/>
            <a:ext cx="1762500" cy="34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123567</a:t>
            </a:r>
            <a:endParaRPr sz="1800"/>
          </a:p>
        </p:txBody>
      </p:sp>
      <p:sp>
        <p:nvSpPr>
          <p:cNvPr id="958" name="Google Shape;958;p8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85"/>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Quy chuẩn giao diện</a:t>
            </a:r>
            <a:r>
              <a:rPr baseline="-25000" lang="en-GB"/>
              <a:t>(2)</a:t>
            </a:r>
            <a:endParaRPr baseline="-25000"/>
          </a:p>
        </p:txBody>
      </p:sp>
      <p:sp>
        <p:nvSpPr>
          <p:cNvPr id="964" name="Google Shape;964;p85"/>
          <p:cNvSpPr txBox="1"/>
          <p:nvPr>
            <p:ph idx="4294967295" type="body"/>
          </p:nvPr>
        </p:nvSpPr>
        <p:spPr>
          <a:xfrm>
            <a:off x="311700" y="927026"/>
            <a:ext cx="8520600" cy="11652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Thời gian biểu:</a:t>
            </a:r>
            <a:endParaRPr/>
          </a:p>
          <a:p>
            <a:pPr indent="-368300" lvl="1" marL="914400" rtl="0" algn="just">
              <a:spcBef>
                <a:spcPts val="0"/>
              </a:spcBef>
              <a:spcAft>
                <a:spcPts val="0"/>
              </a:spcAft>
              <a:buSzPts val="2200"/>
              <a:buChar char="○"/>
            </a:pPr>
            <a:r>
              <a:rPr lang="en-GB"/>
              <a:t>Hiển thị theo ngày, khoảng cách 30 phút</a:t>
            </a:r>
            <a:endParaRPr/>
          </a:p>
          <a:p>
            <a:pPr indent="-368300" lvl="1" marL="914400" rtl="0" algn="just">
              <a:spcBef>
                <a:spcPts val="0"/>
              </a:spcBef>
              <a:spcAft>
                <a:spcPts val="0"/>
              </a:spcAft>
              <a:buSzPts val="2200"/>
              <a:buChar char="○"/>
            </a:pPr>
            <a:r>
              <a:rPr lang="en-GB"/>
              <a:t>Dòng là thời gian, cột là dịch vụ</a:t>
            </a:r>
            <a:endParaRPr/>
          </a:p>
          <a:p>
            <a:pPr indent="-368300" lvl="1" marL="914400" rtl="0" algn="just">
              <a:spcBef>
                <a:spcPts val="0"/>
              </a:spcBef>
              <a:spcAft>
                <a:spcPts val="0"/>
              </a:spcAft>
              <a:buSzPts val="2200"/>
              <a:buChar char="○"/>
            </a:pPr>
            <a:r>
              <a:rPr lang="en-GB"/>
              <a:t>Để trống ô có thể chọn, ô đã có lịch hẹn được tô mầu đỏ, ô được chọn được tô mầu xanh.</a:t>
            </a:r>
            <a:endParaRPr/>
          </a:p>
        </p:txBody>
      </p:sp>
      <p:graphicFrame>
        <p:nvGraphicFramePr>
          <p:cNvPr id="965" name="Google Shape;965;p85"/>
          <p:cNvGraphicFramePr/>
          <p:nvPr/>
        </p:nvGraphicFramePr>
        <p:xfrm>
          <a:off x="514200" y="3292075"/>
          <a:ext cx="3000000" cy="3000000"/>
        </p:xfrm>
        <a:graphic>
          <a:graphicData uri="http://schemas.openxmlformats.org/drawingml/2006/table">
            <a:tbl>
              <a:tblPr>
                <a:noFill/>
                <a:tableStyleId>{8F5BC04D-34C5-45BF-B592-F13FD6BDF3E6}</a:tableStyleId>
              </a:tblPr>
              <a:tblGrid>
                <a:gridCol w="1497825"/>
                <a:gridCol w="1497825"/>
                <a:gridCol w="1497825"/>
                <a:gridCol w="1705675"/>
              </a:tblGrid>
              <a:tr h="195300">
                <a:tc rowSpan="2">
                  <a:txBody>
                    <a:bodyPr/>
                    <a:lstStyle/>
                    <a:p>
                      <a:pPr indent="0" lvl="0" marL="0" rtl="0" algn="l">
                        <a:spcBef>
                          <a:spcPts val="0"/>
                        </a:spcBef>
                        <a:spcAft>
                          <a:spcPts val="0"/>
                        </a:spcAft>
                        <a:buNone/>
                      </a:pPr>
                      <a:r>
                        <a:t/>
                      </a:r>
                      <a:endParaRPr/>
                    </a:p>
                  </a:txBody>
                  <a:tcPr marT="91425" marB="91425" marR="91425" marL="91425"/>
                </a:tc>
                <a:tc gridSpan="2">
                  <a:txBody>
                    <a:bodyPr/>
                    <a:lstStyle/>
                    <a:p>
                      <a:pPr indent="0" lvl="0" marL="0" rtl="0" algn="l">
                        <a:spcBef>
                          <a:spcPts val="0"/>
                        </a:spcBef>
                        <a:spcAft>
                          <a:spcPts val="0"/>
                        </a:spcAft>
                        <a:buNone/>
                      </a:pPr>
                      <a:r>
                        <a:rPr lang="en-GB"/>
                        <a:t>Gội đầu</a:t>
                      </a:r>
                      <a:endParaRPr/>
                    </a:p>
                  </a:txBody>
                  <a:tcPr marT="91425" marB="91425" marR="91425" marL="91425"/>
                </a:tc>
                <a:tc hMerge="1"/>
                <a:tc rowSpan="2">
                  <a:txBody>
                    <a:bodyPr/>
                    <a:lstStyle/>
                    <a:p>
                      <a:pPr indent="0" lvl="0" marL="0" rtl="0" algn="l">
                        <a:spcBef>
                          <a:spcPts val="0"/>
                        </a:spcBef>
                        <a:spcAft>
                          <a:spcPts val="0"/>
                        </a:spcAft>
                        <a:buNone/>
                      </a:pPr>
                      <a:r>
                        <a:rPr lang="en-GB"/>
                        <a:t>Chăm sóc da mặt</a:t>
                      </a:r>
                      <a:endParaRPr/>
                    </a:p>
                  </a:txBody>
                  <a:tcPr marT="91425" marB="91425" marR="91425" marL="91425"/>
                </a:tc>
              </a:tr>
              <a:tr h="187800">
                <a:tc vMerge="1"/>
                <a:tc>
                  <a:txBody>
                    <a:bodyPr/>
                    <a:lstStyle/>
                    <a:p>
                      <a:pPr indent="0" lvl="0" marL="0" rtl="0" algn="l">
                        <a:spcBef>
                          <a:spcPts val="0"/>
                        </a:spcBef>
                        <a:spcAft>
                          <a:spcPts val="0"/>
                        </a:spcAft>
                        <a:buNone/>
                      </a:pPr>
                      <a:r>
                        <a:rPr lang="en-GB"/>
                        <a:t>Ghế 1</a:t>
                      </a:r>
                      <a:endParaRPr/>
                    </a:p>
                  </a:txBody>
                  <a:tcPr marT="91425" marB="91425" marR="91425" marL="91425"/>
                </a:tc>
                <a:tc>
                  <a:txBody>
                    <a:bodyPr/>
                    <a:lstStyle/>
                    <a:p>
                      <a:pPr indent="0" lvl="0" marL="0" rtl="0" algn="l">
                        <a:spcBef>
                          <a:spcPts val="0"/>
                        </a:spcBef>
                        <a:spcAft>
                          <a:spcPts val="0"/>
                        </a:spcAft>
                        <a:buNone/>
                      </a:pPr>
                      <a:r>
                        <a:rPr lang="en-GB"/>
                        <a:t>Ghế 2</a:t>
                      </a:r>
                      <a:endParaRPr/>
                    </a:p>
                  </a:txBody>
                  <a:tcPr marT="91425" marB="91425" marR="91425" marL="91425"/>
                </a:tc>
                <a:tc vMerge="1"/>
              </a:tr>
              <a:tr h="187800">
                <a:tc>
                  <a:txBody>
                    <a:bodyPr/>
                    <a:lstStyle/>
                    <a:p>
                      <a:pPr indent="0" lvl="0" marL="0" rtl="0" algn="l">
                        <a:spcBef>
                          <a:spcPts val="0"/>
                        </a:spcBef>
                        <a:spcAft>
                          <a:spcPts val="0"/>
                        </a:spcAft>
                        <a:buNone/>
                      </a:pPr>
                      <a:r>
                        <a:rPr lang="en-GB"/>
                        <a:t>8h30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solidFill>
                      <a:srgbClr val="FF0000"/>
                    </a:solidFil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solidFill>
                      <a:srgbClr val="1155CC"/>
                    </a:solidFill>
                  </a:tcPr>
                </a:tc>
              </a:tr>
              <a:tr h="187800">
                <a:tc>
                  <a:txBody>
                    <a:bodyPr/>
                    <a:lstStyle/>
                    <a:p>
                      <a:pPr indent="0" lvl="0" marL="0" rtl="0" algn="l">
                        <a:spcBef>
                          <a:spcPts val="0"/>
                        </a:spcBef>
                        <a:spcAft>
                          <a:spcPts val="0"/>
                        </a:spcAft>
                        <a:buNone/>
                      </a:pPr>
                      <a:r>
                        <a:rPr lang="en-GB"/>
                        <a:t>9h00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187800">
                <a:tc>
                  <a:txBody>
                    <a:bodyPr/>
                    <a:lstStyle/>
                    <a:p>
                      <a:pPr indent="0" lvl="0" marL="0" rtl="0" algn="l">
                        <a:spcBef>
                          <a:spcPts val="0"/>
                        </a:spcBef>
                        <a:spcAft>
                          <a:spcPts val="0"/>
                        </a:spcAft>
                        <a:buNone/>
                      </a:pPr>
                      <a:r>
                        <a:rPr lang="en-GB"/>
                        <a:t>11h00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solidFill>
                      <a:srgbClr val="FF0000"/>
                    </a:solidFill>
                  </a:tcPr>
                </a:tc>
              </a:tr>
              <a:tr h="187800">
                <a:tc>
                  <a:txBody>
                    <a:bodyPr/>
                    <a:lstStyle/>
                    <a:p>
                      <a:pPr indent="0" lvl="0" marL="0" rtl="0" algn="l">
                        <a:spcBef>
                          <a:spcPts val="0"/>
                        </a:spcBef>
                        <a:spcAft>
                          <a:spcPts val="0"/>
                        </a:spcAft>
                        <a:buNone/>
                      </a:pPr>
                      <a:r>
                        <a:rPr lang="en-GB"/>
                        <a:t>11h30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187800">
                <a:tc>
                  <a:txBody>
                    <a:bodyPr/>
                    <a:lstStyle/>
                    <a:p>
                      <a:pPr indent="0" lvl="0" marL="0" rtl="0" algn="l">
                        <a:spcBef>
                          <a:spcPts val="0"/>
                        </a:spcBef>
                        <a:spcAft>
                          <a:spcPts val="0"/>
                        </a:spcAft>
                        <a:buNone/>
                      </a:pPr>
                      <a:r>
                        <a:rPr lang="en-GB"/>
                        <a:t>13h30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solidFill>
                      <a:srgbClr val="FF0000"/>
                    </a:solidFill>
                  </a:tcPr>
                </a:tc>
                <a:tc>
                  <a:txBody>
                    <a:bodyPr/>
                    <a:lstStyle/>
                    <a:p>
                      <a:pPr indent="0" lvl="0" marL="0" rtl="0" algn="l">
                        <a:spcBef>
                          <a:spcPts val="0"/>
                        </a:spcBef>
                        <a:spcAft>
                          <a:spcPts val="0"/>
                        </a:spcAft>
                        <a:buNone/>
                      </a:pPr>
                      <a:r>
                        <a:t/>
                      </a:r>
                      <a:endParaRPr/>
                    </a:p>
                  </a:txBody>
                  <a:tcPr marT="91425" marB="91425" marR="91425" marL="91425"/>
                </a:tc>
              </a:tr>
              <a:tr h="187800">
                <a:tc>
                  <a:txBody>
                    <a:bodyPr/>
                    <a:lstStyle/>
                    <a:p>
                      <a:pPr indent="0" lvl="0" marL="0" rtl="0" algn="l">
                        <a:spcBef>
                          <a:spcPts val="0"/>
                        </a:spcBef>
                        <a:spcAft>
                          <a:spcPts val="0"/>
                        </a:spcAft>
                        <a:buNone/>
                      </a:pPr>
                      <a:r>
                        <a:rPr lang="en-GB"/>
                        <a:t>14h00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966" name="Google Shape;966;p85"/>
          <p:cNvSpPr txBox="1"/>
          <p:nvPr/>
        </p:nvSpPr>
        <p:spPr>
          <a:xfrm>
            <a:off x="529650" y="2876825"/>
            <a:ext cx="18993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Ngày </a:t>
            </a:r>
            <a:r>
              <a:rPr b="1" lang="en-GB"/>
              <a:t>10/04/2023</a:t>
            </a:r>
            <a:endParaRPr b="1"/>
          </a:p>
        </p:txBody>
      </p:sp>
      <p:sp>
        <p:nvSpPr>
          <p:cNvPr id="967" name="Google Shape;967;p8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68" name="Google Shape;968;p85"/>
          <p:cNvSpPr/>
          <p:nvPr/>
        </p:nvSpPr>
        <p:spPr>
          <a:xfrm>
            <a:off x="6935650" y="3139675"/>
            <a:ext cx="1899300" cy="1074300"/>
          </a:xfrm>
          <a:prstGeom prst="cloudCallout">
            <a:avLst>
              <a:gd fmla="val -55905" name="adj1"/>
              <a:gd fmla="val 58568" name="adj2"/>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Khách chọn chăm sóc da mặt lúc 8h30</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8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Quy chuẩn giao diện</a:t>
            </a:r>
            <a:r>
              <a:rPr baseline="-25000" lang="en-GB"/>
              <a:t>(3)</a:t>
            </a:r>
            <a:endParaRPr baseline="-25000"/>
          </a:p>
        </p:txBody>
      </p:sp>
      <p:sp>
        <p:nvSpPr>
          <p:cNvPr id="974" name="Google Shape;974;p86"/>
          <p:cNvSpPr txBox="1"/>
          <p:nvPr>
            <p:ph idx="4294967295" type="body"/>
          </p:nvPr>
        </p:nvSpPr>
        <p:spPr>
          <a:xfrm>
            <a:off x="311700" y="1308026"/>
            <a:ext cx="8520600" cy="11652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Chi tiết cuộc hẹn:</a:t>
            </a:r>
            <a:endParaRPr/>
          </a:p>
          <a:p>
            <a:pPr indent="-368300" lvl="1" marL="914400" rtl="0" algn="just">
              <a:spcBef>
                <a:spcPts val="0"/>
              </a:spcBef>
              <a:spcAft>
                <a:spcPts val="0"/>
              </a:spcAft>
              <a:buSzPts val="2200"/>
              <a:buChar char="○"/>
            </a:pPr>
            <a:r>
              <a:rPr lang="en-GB"/>
              <a:t>Hiển thị thông tin cuộc hẹn đã được đăng ký thành công</a:t>
            </a:r>
            <a:endParaRPr/>
          </a:p>
        </p:txBody>
      </p:sp>
      <p:sp>
        <p:nvSpPr>
          <p:cNvPr id="975" name="Google Shape;975;p86"/>
          <p:cNvSpPr txBox="1"/>
          <p:nvPr/>
        </p:nvSpPr>
        <p:spPr>
          <a:xfrm>
            <a:off x="2060650" y="2060050"/>
            <a:ext cx="5351400" cy="154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Đặt lịch hẹn thành công!</a:t>
            </a:r>
            <a:endParaRPr b="1" sz="1600"/>
          </a:p>
          <a:p>
            <a:pPr indent="0" lvl="0" marL="0" rtl="0" algn="l">
              <a:spcBef>
                <a:spcPts val="0"/>
              </a:spcBef>
              <a:spcAft>
                <a:spcPts val="0"/>
              </a:spcAft>
              <a:buNone/>
            </a:pPr>
            <a:r>
              <a:t/>
            </a:r>
            <a:endParaRPr b="1"/>
          </a:p>
          <a:p>
            <a:pPr indent="0" lvl="0" marL="0" rtl="0" algn="l">
              <a:spcBef>
                <a:spcPts val="0"/>
              </a:spcBef>
              <a:spcAft>
                <a:spcPts val="0"/>
              </a:spcAft>
              <a:buNone/>
            </a:pPr>
            <a:r>
              <a:rPr b="1" lang="en-GB"/>
              <a:t>Tên dịch vụ: </a:t>
            </a:r>
            <a:r>
              <a:rPr lang="en-GB"/>
              <a:t>Chăm sóc da mặt</a:t>
            </a:r>
            <a:endParaRPr/>
          </a:p>
          <a:p>
            <a:pPr indent="0" lvl="0" marL="0" rtl="0" algn="l">
              <a:spcBef>
                <a:spcPts val="0"/>
              </a:spcBef>
              <a:spcAft>
                <a:spcPts val="0"/>
              </a:spcAft>
              <a:buNone/>
            </a:pPr>
            <a:r>
              <a:rPr b="1" lang="en-GB"/>
              <a:t>Thời gian:</a:t>
            </a:r>
            <a:r>
              <a:rPr lang="en-GB"/>
              <a:t> 9h00</a:t>
            </a:r>
            <a:endParaRPr/>
          </a:p>
          <a:p>
            <a:pPr indent="0" lvl="0" marL="0" rtl="0" algn="l">
              <a:spcBef>
                <a:spcPts val="0"/>
              </a:spcBef>
              <a:spcAft>
                <a:spcPts val="0"/>
              </a:spcAft>
              <a:buNone/>
            </a:pPr>
            <a:r>
              <a:rPr b="1" lang="en-GB"/>
              <a:t>Ngày</a:t>
            </a:r>
            <a:r>
              <a:rPr lang="en-GB"/>
              <a:t>: 10/04/2023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76" name="Google Shape;976;p8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8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mẫu giao diện: Trang chính</a:t>
            </a:r>
            <a:endParaRPr/>
          </a:p>
        </p:txBody>
      </p:sp>
      <p:sp>
        <p:nvSpPr>
          <p:cNvPr id="982" name="Google Shape;982;p8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83" name="Google Shape;983;p87"/>
          <p:cNvSpPr/>
          <p:nvPr/>
        </p:nvSpPr>
        <p:spPr>
          <a:xfrm>
            <a:off x="748800" y="2474725"/>
            <a:ext cx="7835100" cy="31596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87"/>
          <p:cNvSpPr/>
          <p:nvPr/>
        </p:nvSpPr>
        <p:spPr>
          <a:xfrm>
            <a:off x="483975" y="1022775"/>
            <a:ext cx="8310000" cy="5469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7"/>
          <p:cNvSpPr/>
          <p:nvPr/>
        </p:nvSpPr>
        <p:spPr>
          <a:xfrm>
            <a:off x="502261" y="1592500"/>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87"/>
          <p:cNvSpPr/>
          <p:nvPr/>
        </p:nvSpPr>
        <p:spPr>
          <a:xfrm>
            <a:off x="474850" y="1022775"/>
            <a:ext cx="8310000" cy="566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87"/>
          <p:cNvSpPr/>
          <p:nvPr/>
        </p:nvSpPr>
        <p:spPr>
          <a:xfrm>
            <a:off x="1369775" y="1150600"/>
            <a:ext cx="7241400" cy="3288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87"/>
          <p:cNvSpPr txBox="1"/>
          <p:nvPr/>
        </p:nvSpPr>
        <p:spPr>
          <a:xfrm>
            <a:off x="992225" y="1978770"/>
            <a:ext cx="1296600" cy="3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solidFill>
                  <a:srgbClr val="0097A7"/>
                </a:solidFill>
                <a:hlinkClick>
                  <a:extLst>
                    <a:ext uri="{A12FA001-AC4F-418D-AE19-62706E023703}">
                      <ahyp:hlinkClr val="tx"/>
                    </a:ext>
                  </a:extLst>
                </a:hlinkClick>
              </a:rPr>
              <a:t>Đặt lịch hẹn</a:t>
            </a:r>
            <a:endParaRPr b="1" u="sng"/>
          </a:p>
        </p:txBody>
      </p:sp>
      <p:sp>
        <p:nvSpPr>
          <p:cNvPr id="989" name="Google Shape;989;p87"/>
          <p:cNvSpPr txBox="1"/>
          <p:nvPr/>
        </p:nvSpPr>
        <p:spPr>
          <a:xfrm>
            <a:off x="7369375" y="1762450"/>
            <a:ext cx="12966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Người dùng</a:t>
            </a:r>
            <a:endParaRPr/>
          </a:p>
        </p:txBody>
      </p:sp>
      <p:sp>
        <p:nvSpPr>
          <p:cNvPr id="990" name="Google Shape;990;p87"/>
          <p:cNvSpPr/>
          <p:nvPr/>
        </p:nvSpPr>
        <p:spPr>
          <a:xfrm>
            <a:off x="6888550" y="1798975"/>
            <a:ext cx="374400" cy="374400"/>
          </a:xfrm>
          <a:prstGeom prst="ellipse">
            <a:avLst/>
          </a:prstGeom>
          <a:solidFill>
            <a:srgbClr val="99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87"/>
          <p:cNvSpPr/>
          <p:nvPr/>
        </p:nvSpPr>
        <p:spPr>
          <a:xfrm>
            <a:off x="502261" y="5725564"/>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 Thông tin liên hệ&gt;&gt;</a:t>
            </a:r>
            <a:endParaRPr/>
          </a:p>
        </p:txBody>
      </p:sp>
      <p:sp>
        <p:nvSpPr>
          <p:cNvPr id="992" name="Google Shape;992;p87"/>
          <p:cNvSpPr txBox="1"/>
          <p:nvPr/>
        </p:nvSpPr>
        <p:spPr>
          <a:xfrm>
            <a:off x="2748675" y="2671350"/>
            <a:ext cx="3780600" cy="5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t>&lt;&lt;Bài viết về thẩm mỹ viện&gt;&gt;</a:t>
            </a:r>
            <a:endParaRPr sz="1800"/>
          </a:p>
        </p:txBody>
      </p:sp>
      <p:cxnSp>
        <p:nvCxnSpPr>
          <p:cNvPr id="993" name="Google Shape;993;p87"/>
          <p:cNvCxnSpPr/>
          <p:nvPr/>
        </p:nvCxnSpPr>
        <p:spPr>
          <a:xfrm>
            <a:off x="739675" y="2493000"/>
            <a:ext cx="7816800" cy="3114000"/>
          </a:xfrm>
          <a:prstGeom prst="straightConnector1">
            <a:avLst/>
          </a:prstGeom>
          <a:noFill/>
          <a:ln cap="flat" cmpd="sng" w="9525">
            <a:solidFill>
              <a:srgbClr val="595959"/>
            </a:solidFill>
            <a:prstDash val="solid"/>
            <a:round/>
            <a:headEnd len="med" w="med" type="none"/>
            <a:tailEnd len="med" w="med" type="none"/>
          </a:ln>
        </p:spPr>
      </p:cxnSp>
      <p:cxnSp>
        <p:nvCxnSpPr>
          <p:cNvPr id="994" name="Google Shape;994;p87"/>
          <p:cNvCxnSpPr/>
          <p:nvPr/>
        </p:nvCxnSpPr>
        <p:spPr>
          <a:xfrm flipH="1" rot="10800000">
            <a:off x="767075" y="2502200"/>
            <a:ext cx="7789500" cy="3123000"/>
          </a:xfrm>
          <a:prstGeom prst="straightConnector1">
            <a:avLst/>
          </a:prstGeom>
          <a:noFill/>
          <a:ln cap="flat" cmpd="sng" w="9525">
            <a:solidFill>
              <a:srgbClr val="595959"/>
            </a:solidFill>
            <a:prstDash val="solid"/>
            <a:round/>
            <a:headEnd len="med" w="med" type="none"/>
            <a:tailEnd len="med" w="med" type="none"/>
          </a:ln>
        </p:spPr>
      </p:cxn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88"/>
          <p:cNvSpPr/>
          <p:nvPr/>
        </p:nvSpPr>
        <p:spPr>
          <a:xfrm>
            <a:off x="483975" y="1022775"/>
            <a:ext cx="8310000" cy="546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88"/>
          <p:cNvSpPr/>
          <p:nvPr/>
        </p:nvSpPr>
        <p:spPr>
          <a:xfrm>
            <a:off x="502261" y="1592500"/>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8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mẫu giao diện: Đặt lịch hẹn</a:t>
            </a:r>
            <a:endParaRPr/>
          </a:p>
        </p:txBody>
      </p:sp>
      <p:sp>
        <p:nvSpPr>
          <p:cNvPr id="1002" name="Google Shape;1002;p88"/>
          <p:cNvSpPr/>
          <p:nvPr/>
        </p:nvSpPr>
        <p:spPr>
          <a:xfrm>
            <a:off x="474850" y="1022775"/>
            <a:ext cx="8310000" cy="56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88"/>
          <p:cNvSpPr/>
          <p:nvPr/>
        </p:nvSpPr>
        <p:spPr>
          <a:xfrm>
            <a:off x="1369775" y="1150600"/>
            <a:ext cx="7241400" cy="328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88"/>
          <p:cNvSpPr txBox="1"/>
          <p:nvPr/>
        </p:nvSpPr>
        <p:spPr>
          <a:xfrm>
            <a:off x="7369375" y="1762450"/>
            <a:ext cx="12966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Người dùng</a:t>
            </a:r>
            <a:endParaRPr/>
          </a:p>
        </p:txBody>
      </p:sp>
      <p:sp>
        <p:nvSpPr>
          <p:cNvPr id="1005" name="Google Shape;1005;p88"/>
          <p:cNvSpPr/>
          <p:nvPr/>
        </p:nvSpPr>
        <p:spPr>
          <a:xfrm>
            <a:off x="6888550" y="1798975"/>
            <a:ext cx="374400" cy="3744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006" name="Google Shape;1006;p88"/>
          <p:cNvGraphicFramePr/>
          <p:nvPr/>
        </p:nvGraphicFramePr>
        <p:xfrm>
          <a:off x="1123800" y="2758675"/>
          <a:ext cx="3000000" cy="3000000"/>
        </p:xfrm>
        <a:graphic>
          <a:graphicData uri="http://schemas.openxmlformats.org/drawingml/2006/table">
            <a:tbl>
              <a:tblPr>
                <a:noFill/>
                <a:tableStyleId>{8F5BC04D-34C5-45BF-B592-F13FD6BDF3E6}</a:tableStyleId>
              </a:tblPr>
              <a:tblGrid>
                <a:gridCol w="1497825"/>
                <a:gridCol w="1497825"/>
                <a:gridCol w="1497825"/>
                <a:gridCol w="1705675"/>
              </a:tblGrid>
              <a:tr h="356825">
                <a:tc rowSpan="2">
                  <a:txBody>
                    <a:bodyPr/>
                    <a:lstStyle/>
                    <a:p>
                      <a:pPr indent="0" lvl="0" marL="0" rtl="0" algn="l">
                        <a:spcBef>
                          <a:spcPts val="0"/>
                        </a:spcBef>
                        <a:spcAft>
                          <a:spcPts val="0"/>
                        </a:spcAft>
                        <a:buNone/>
                      </a:pPr>
                      <a:r>
                        <a:t/>
                      </a:r>
                      <a:endParaRPr/>
                    </a:p>
                  </a:txBody>
                  <a:tcPr marT="72000" marB="72000" marR="91425" marL="91425"/>
                </a:tc>
                <a:tc gridSpan="2">
                  <a:txBody>
                    <a:bodyPr/>
                    <a:lstStyle/>
                    <a:p>
                      <a:pPr indent="0" lvl="0" marL="0" rtl="0" algn="l">
                        <a:spcBef>
                          <a:spcPts val="0"/>
                        </a:spcBef>
                        <a:spcAft>
                          <a:spcPts val="0"/>
                        </a:spcAft>
                        <a:buNone/>
                      </a:pPr>
                      <a:r>
                        <a:rPr lang="en-GB"/>
                        <a:t>Gội đầu</a:t>
                      </a:r>
                      <a:endParaRPr/>
                    </a:p>
                  </a:txBody>
                  <a:tcPr marT="72000" marB="72000" marR="91425" marL="91425"/>
                </a:tc>
                <a:tc hMerge="1"/>
                <a:tc rowSpan="2">
                  <a:txBody>
                    <a:bodyPr/>
                    <a:lstStyle/>
                    <a:p>
                      <a:pPr indent="0" lvl="0" marL="0" rtl="0" algn="l">
                        <a:spcBef>
                          <a:spcPts val="0"/>
                        </a:spcBef>
                        <a:spcAft>
                          <a:spcPts val="0"/>
                        </a:spcAft>
                        <a:buNone/>
                      </a:pPr>
                      <a:r>
                        <a:rPr lang="en-GB"/>
                        <a:t>Chăm sóc da mặt</a:t>
                      </a:r>
                      <a:endParaRPr/>
                    </a:p>
                  </a:txBody>
                  <a:tcPr marT="72000" marB="72000" marR="91425" marL="91425"/>
                </a:tc>
              </a:tr>
              <a:tr h="356825">
                <a:tc vMerge="1"/>
                <a:tc>
                  <a:txBody>
                    <a:bodyPr/>
                    <a:lstStyle/>
                    <a:p>
                      <a:pPr indent="0" lvl="0" marL="0" rtl="0" algn="l">
                        <a:spcBef>
                          <a:spcPts val="0"/>
                        </a:spcBef>
                        <a:spcAft>
                          <a:spcPts val="0"/>
                        </a:spcAft>
                        <a:buNone/>
                      </a:pPr>
                      <a:r>
                        <a:rPr lang="en-GB"/>
                        <a:t>Ghế 1</a:t>
                      </a:r>
                      <a:endParaRPr/>
                    </a:p>
                  </a:txBody>
                  <a:tcPr marT="72000" marB="72000" marR="91425" marL="91425"/>
                </a:tc>
                <a:tc>
                  <a:txBody>
                    <a:bodyPr/>
                    <a:lstStyle/>
                    <a:p>
                      <a:pPr indent="0" lvl="0" marL="0" rtl="0" algn="l">
                        <a:spcBef>
                          <a:spcPts val="0"/>
                        </a:spcBef>
                        <a:spcAft>
                          <a:spcPts val="0"/>
                        </a:spcAft>
                        <a:buNone/>
                      </a:pPr>
                      <a:r>
                        <a:rPr lang="en-GB"/>
                        <a:t>Ghế 2</a:t>
                      </a:r>
                      <a:endParaRPr/>
                    </a:p>
                  </a:txBody>
                  <a:tcPr marT="72000" marB="72000" marR="91425" marL="91425"/>
                </a:tc>
                <a:tc vMerge="1"/>
              </a:tr>
              <a:tr h="356825">
                <a:tc>
                  <a:txBody>
                    <a:bodyPr/>
                    <a:lstStyle/>
                    <a:p>
                      <a:pPr indent="0" lvl="0" marL="0" rtl="0" algn="l">
                        <a:spcBef>
                          <a:spcPts val="0"/>
                        </a:spcBef>
                        <a:spcAft>
                          <a:spcPts val="0"/>
                        </a:spcAft>
                        <a:buNone/>
                      </a:pPr>
                      <a:r>
                        <a:rPr lang="en-GB"/>
                        <a:t>8h30</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solidFill>
                      <a:srgbClr val="FF0000"/>
                    </a:solidFill>
                  </a:tcPr>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r>
              <a:tr h="356825">
                <a:tc>
                  <a:txBody>
                    <a:bodyPr/>
                    <a:lstStyle/>
                    <a:p>
                      <a:pPr indent="0" lvl="0" marL="0" rtl="0" algn="l">
                        <a:spcBef>
                          <a:spcPts val="0"/>
                        </a:spcBef>
                        <a:spcAft>
                          <a:spcPts val="0"/>
                        </a:spcAft>
                        <a:buNone/>
                      </a:pPr>
                      <a:r>
                        <a:rPr lang="en-GB"/>
                        <a:t>9h00</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solidFill>
                      <a:srgbClr val="1155CC"/>
                    </a:solidFill>
                  </a:tcPr>
                </a:tc>
              </a:tr>
              <a:tr h="356825">
                <a:tc>
                  <a:txBody>
                    <a:bodyPr/>
                    <a:lstStyle/>
                    <a:p>
                      <a:pPr indent="0" lvl="0" marL="0" rtl="0" algn="l">
                        <a:spcBef>
                          <a:spcPts val="0"/>
                        </a:spcBef>
                        <a:spcAft>
                          <a:spcPts val="0"/>
                        </a:spcAft>
                        <a:buNone/>
                      </a:pPr>
                      <a:r>
                        <a:rPr lang="en-GB"/>
                        <a:t>11h00</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solidFill>
                      <a:srgbClr val="FFFFFF"/>
                    </a:solidFill>
                  </a:tcPr>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solidFill>
                      <a:srgbClr val="FF0000"/>
                    </a:solidFill>
                  </a:tcPr>
                </a:tc>
              </a:tr>
              <a:tr h="356825">
                <a:tc>
                  <a:txBody>
                    <a:bodyPr/>
                    <a:lstStyle/>
                    <a:p>
                      <a:pPr indent="0" lvl="0" marL="0" rtl="0" algn="l">
                        <a:spcBef>
                          <a:spcPts val="0"/>
                        </a:spcBef>
                        <a:spcAft>
                          <a:spcPts val="0"/>
                        </a:spcAft>
                        <a:buNone/>
                      </a:pPr>
                      <a:r>
                        <a:rPr lang="en-GB"/>
                        <a:t>11h30</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r>
              <a:tr h="356825">
                <a:tc>
                  <a:txBody>
                    <a:bodyPr/>
                    <a:lstStyle/>
                    <a:p>
                      <a:pPr indent="0" lvl="0" marL="0" rtl="0" algn="l">
                        <a:spcBef>
                          <a:spcPts val="0"/>
                        </a:spcBef>
                        <a:spcAft>
                          <a:spcPts val="0"/>
                        </a:spcAft>
                        <a:buNone/>
                      </a:pPr>
                      <a:r>
                        <a:rPr lang="en-GB"/>
                        <a:t>13h30</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solidFill>
                      <a:srgbClr val="FF0000"/>
                    </a:solidFill>
                  </a:tcPr>
                </a:tc>
                <a:tc>
                  <a:txBody>
                    <a:bodyPr/>
                    <a:lstStyle/>
                    <a:p>
                      <a:pPr indent="0" lvl="0" marL="0" rtl="0" algn="l">
                        <a:spcBef>
                          <a:spcPts val="0"/>
                        </a:spcBef>
                        <a:spcAft>
                          <a:spcPts val="0"/>
                        </a:spcAft>
                        <a:buNone/>
                      </a:pPr>
                      <a:r>
                        <a:t/>
                      </a:r>
                      <a:endParaRPr/>
                    </a:p>
                  </a:txBody>
                  <a:tcPr marT="72000" marB="72000" marR="91425" marL="91425"/>
                </a:tc>
              </a:tr>
              <a:tr h="356825">
                <a:tc>
                  <a:txBody>
                    <a:bodyPr/>
                    <a:lstStyle/>
                    <a:p>
                      <a:pPr indent="0" lvl="0" marL="0" rtl="0" algn="l">
                        <a:spcBef>
                          <a:spcPts val="0"/>
                        </a:spcBef>
                        <a:spcAft>
                          <a:spcPts val="0"/>
                        </a:spcAft>
                        <a:buNone/>
                      </a:pPr>
                      <a:r>
                        <a:rPr lang="en-GB"/>
                        <a:t>14h00</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c>
                  <a:txBody>
                    <a:bodyPr/>
                    <a:lstStyle/>
                    <a:p>
                      <a:pPr indent="0" lvl="0" marL="0" rtl="0" algn="l">
                        <a:spcBef>
                          <a:spcPts val="0"/>
                        </a:spcBef>
                        <a:spcAft>
                          <a:spcPts val="0"/>
                        </a:spcAft>
                        <a:buNone/>
                      </a:pPr>
                      <a:r>
                        <a:t/>
                      </a:r>
                      <a:endParaRPr/>
                    </a:p>
                  </a:txBody>
                  <a:tcPr marT="72000" marB="72000" marR="91425" marL="91425"/>
                </a:tc>
              </a:tr>
            </a:tbl>
          </a:graphicData>
        </a:graphic>
      </p:graphicFrame>
      <p:sp>
        <p:nvSpPr>
          <p:cNvPr id="1007" name="Google Shape;1007;p88"/>
          <p:cNvSpPr txBox="1"/>
          <p:nvPr/>
        </p:nvSpPr>
        <p:spPr>
          <a:xfrm>
            <a:off x="1063050" y="2343425"/>
            <a:ext cx="18993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Ngày </a:t>
            </a:r>
            <a:r>
              <a:rPr b="1" lang="en-GB"/>
              <a:t>10/04/2023</a:t>
            </a:r>
            <a:endParaRPr b="1"/>
          </a:p>
        </p:txBody>
      </p:sp>
      <p:sp>
        <p:nvSpPr>
          <p:cNvPr id="1008" name="Google Shape;1008;p88"/>
          <p:cNvSpPr/>
          <p:nvPr/>
        </p:nvSpPr>
        <p:spPr>
          <a:xfrm>
            <a:off x="7451575" y="3451825"/>
            <a:ext cx="319500" cy="216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88"/>
          <p:cNvSpPr/>
          <p:nvPr/>
        </p:nvSpPr>
        <p:spPr>
          <a:xfrm>
            <a:off x="7488100" y="3505200"/>
            <a:ext cx="255600" cy="2601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88"/>
          <p:cNvSpPr/>
          <p:nvPr/>
        </p:nvSpPr>
        <p:spPr>
          <a:xfrm>
            <a:off x="7488100" y="5257800"/>
            <a:ext cx="255600" cy="2601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88"/>
          <p:cNvSpPr/>
          <p:nvPr/>
        </p:nvSpPr>
        <p:spPr>
          <a:xfrm>
            <a:off x="7506361" y="3579675"/>
            <a:ext cx="219000" cy="109500"/>
          </a:xfrm>
          <a:prstGeom prst="triangl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88"/>
          <p:cNvSpPr/>
          <p:nvPr/>
        </p:nvSpPr>
        <p:spPr>
          <a:xfrm rot="10800000">
            <a:off x="7506361" y="5332275"/>
            <a:ext cx="219000" cy="109500"/>
          </a:xfrm>
          <a:prstGeom prst="triangl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88"/>
          <p:cNvSpPr/>
          <p:nvPr/>
        </p:nvSpPr>
        <p:spPr>
          <a:xfrm>
            <a:off x="7506350" y="3899300"/>
            <a:ext cx="219000" cy="2601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88"/>
          <p:cNvSpPr/>
          <p:nvPr/>
        </p:nvSpPr>
        <p:spPr>
          <a:xfrm>
            <a:off x="3734925" y="5835225"/>
            <a:ext cx="1397100" cy="3927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Gửi yêu cầu</a:t>
            </a:r>
            <a:endParaRPr/>
          </a:p>
        </p:txBody>
      </p:sp>
      <p:sp>
        <p:nvSpPr>
          <p:cNvPr id="1015" name="Google Shape;1015;p8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16" name="Google Shape;1016;p88"/>
          <p:cNvSpPr txBox="1"/>
          <p:nvPr/>
        </p:nvSpPr>
        <p:spPr>
          <a:xfrm>
            <a:off x="1138675" y="1971050"/>
            <a:ext cx="30450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55CC"/>
                </a:solidFill>
              </a:rPr>
              <a:t>Màn hình chính/Đặt lịch hẹn</a:t>
            </a:r>
            <a:endParaRPr>
              <a:solidFill>
                <a:srgbClr val="1155CC"/>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89"/>
          <p:cNvSpPr/>
          <p:nvPr/>
        </p:nvSpPr>
        <p:spPr>
          <a:xfrm>
            <a:off x="483975" y="1022775"/>
            <a:ext cx="8310000" cy="546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89"/>
          <p:cNvSpPr/>
          <p:nvPr/>
        </p:nvSpPr>
        <p:spPr>
          <a:xfrm>
            <a:off x="502261" y="1592500"/>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8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mẫu giao diện: </a:t>
            </a:r>
            <a:r>
              <a:rPr lang="en-GB"/>
              <a:t>Xác nhận lịch hẹn</a:t>
            </a:r>
            <a:endParaRPr/>
          </a:p>
        </p:txBody>
      </p:sp>
      <p:sp>
        <p:nvSpPr>
          <p:cNvPr id="1024" name="Google Shape;1024;p89"/>
          <p:cNvSpPr/>
          <p:nvPr/>
        </p:nvSpPr>
        <p:spPr>
          <a:xfrm>
            <a:off x="474850" y="1022775"/>
            <a:ext cx="8310000" cy="56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89"/>
          <p:cNvSpPr/>
          <p:nvPr/>
        </p:nvSpPr>
        <p:spPr>
          <a:xfrm>
            <a:off x="1369775" y="1150600"/>
            <a:ext cx="7241400" cy="328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89"/>
          <p:cNvSpPr txBox="1"/>
          <p:nvPr/>
        </p:nvSpPr>
        <p:spPr>
          <a:xfrm>
            <a:off x="7369375" y="1762450"/>
            <a:ext cx="12966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Người dùng</a:t>
            </a:r>
            <a:endParaRPr/>
          </a:p>
        </p:txBody>
      </p:sp>
      <p:sp>
        <p:nvSpPr>
          <p:cNvPr id="1027" name="Google Shape;1027;p89"/>
          <p:cNvSpPr/>
          <p:nvPr/>
        </p:nvSpPr>
        <p:spPr>
          <a:xfrm>
            <a:off x="6888550" y="1798975"/>
            <a:ext cx="374400" cy="3744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89"/>
          <p:cNvSpPr/>
          <p:nvPr/>
        </p:nvSpPr>
        <p:spPr>
          <a:xfrm>
            <a:off x="502261" y="5725564"/>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 Thông tin liên hệ&gt;&gt;</a:t>
            </a:r>
            <a:endParaRPr/>
          </a:p>
        </p:txBody>
      </p:sp>
      <p:sp>
        <p:nvSpPr>
          <p:cNvPr id="1029" name="Google Shape;1029;p89"/>
          <p:cNvSpPr txBox="1"/>
          <p:nvPr/>
        </p:nvSpPr>
        <p:spPr>
          <a:xfrm>
            <a:off x="1320675" y="2933550"/>
            <a:ext cx="1634700" cy="3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Mã OTP đã nhận:</a:t>
            </a:r>
            <a:endParaRPr/>
          </a:p>
        </p:txBody>
      </p:sp>
      <p:sp>
        <p:nvSpPr>
          <p:cNvPr id="1030" name="Google Shape;1030;p89"/>
          <p:cNvSpPr/>
          <p:nvPr/>
        </p:nvSpPr>
        <p:spPr>
          <a:xfrm>
            <a:off x="3009150" y="2973823"/>
            <a:ext cx="1762500" cy="34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123567</a:t>
            </a:r>
            <a:endParaRPr sz="1800"/>
          </a:p>
        </p:txBody>
      </p:sp>
      <p:sp>
        <p:nvSpPr>
          <p:cNvPr id="1031" name="Google Shape;1031;p89"/>
          <p:cNvSpPr/>
          <p:nvPr/>
        </p:nvSpPr>
        <p:spPr>
          <a:xfrm>
            <a:off x="3201525" y="3473025"/>
            <a:ext cx="1397100" cy="3927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Xác nhận</a:t>
            </a:r>
            <a:endParaRPr/>
          </a:p>
        </p:txBody>
      </p:sp>
      <p:sp>
        <p:nvSpPr>
          <p:cNvPr id="1032" name="Google Shape;1032;p89"/>
          <p:cNvSpPr txBox="1"/>
          <p:nvPr/>
        </p:nvSpPr>
        <p:spPr>
          <a:xfrm>
            <a:off x="5001100" y="2862849"/>
            <a:ext cx="18903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200"/>
              <a:t>(Chưa nhận được mã)</a:t>
            </a:r>
            <a:endParaRPr i="1" sz="1200"/>
          </a:p>
          <a:p>
            <a:pPr indent="0" lvl="0" marL="0" rtl="0" algn="l">
              <a:spcBef>
                <a:spcPts val="0"/>
              </a:spcBef>
              <a:spcAft>
                <a:spcPts val="0"/>
              </a:spcAft>
              <a:buNone/>
            </a:pPr>
            <a:r>
              <a:rPr lang="en-GB" u="sng"/>
              <a:t>Gửi lại </a:t>
            </a:r>
            <a:endParaRPr u="sng"/>
          </a:p>
        </p:txBody>
      </p:sp>
      <p:sp>
        <p:nvSpPr>
          <p:cNvPr id="1033" name="Google Shape;1033;p89"/>
          <p:cNvSpPr txBox="1"/>
          <p:nvPr/>
        </p:nvSpPr>
        <p:spPr>
          <a:xfrm>
            <a:off x="1138675" y="1971050"/>
            <a:ext cx="35022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55CC"/>
                </a:solidFill>
              </a:rPr>
              <a:t>Màn hình chính/Đặt lịch hẹn/</a:t>
            </a:r>
            <a:r>
              <a:rPr lang="en-GB">
                <a:solidFill>
                  <a:srgbClr val="1155CC"/>
                </a:solidFill>
              </a:rPr>
              <a:t>Xác nhận</a:t>
            </a:r>
            <a:endParaRPr>
              <a:solidFill>
                <a:srgbClr val="1155CC"/>
              </a:solidFill>
            </a:endParaRPr>
          </a:p>
        </p:txBody>
      </p:sp>
      <p:sp>
        <p:nvSpPr>
          <p:cNvPr id="1034" name="Google Shape;1034;p8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90"/>
          <p:cNvSpPr/>
          <p:nvPr/>
        </p:nvSpPr>
        <p:spPr>
          <a:xfrm>
            <a:off x="483975" y="1022775"/>
            <a:ext cx="8310000" cy="546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90"/>
          <p:cNvSpPr/>
          <p:nvPr/>
        </p:nvSpPr>
        <p:spPr>
          <a:xfrm>
            <a:off x="483975" y="1022775"/>
            <a:ext cx="8310000" cy="546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90"/>
          <p:cNvSpPr/>
          <p:nvPr/>
        </p:nvSpPr>
        <p:spPr>
          <a:xfrm>
            <a:off x="502261" y="1592500"/>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9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mẫu giao diện: Trạng thái đặt lịch</a:t>
            </a:r>
            <a:endParaRPr/>
          </a:p>
        </p:txBody>
      </p:sp>
      <p:sp>
        <p:nvSpPr>
          <p:cNvPr id="1043" name="Google Shape;1043;p90"/>
          <p:cNvSpPr/>
          <p:nvPr/>
        </p:nvSpPr>
        <p:spPr>
          <a:xfrm>
            <a:off x="474850" y="1022775"/>
            <a:ext cx="8310000" cy="56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90"/>
          <p:cNvSpPr/>
          <p:nvPr/>
        </p:nvSpPr>
        <p:spPr>
          <a:xfrm>
            <a:off x="1369775" y="1150600"/>
            <a:ext cx="7241400" cy="328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90"/>
          <p:cNvSpPr txBox="1"/>
          <p:nvPr/>
        </p:nvSpPr>
        <p:spPr>
          <a:xfrm>
            <a:off x="992225" y="1978770"/>
            <a:ext cx="1296600" cy="3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solidFill>
                  <a:srgbClr val="1155CC"/>
                </a:solidFill>
              </a:rPr>
              <a:t>Đặt lịch hẹn</a:t>
            </a:r>
            <a:endParaRPr b="1" u="sng">
              <a:solidFill>
                <a:srgbClr val="1155CC"/>
              </a:solidFill>
            </a:endParaRPr>
          </a:p>
        </p:txBody>
      </p:sp>
      <p:sp>
        <p:nvSpPr>
          <p:cNvPr id="1046" name="Google Shape;1046;p90"/>
          <p:cNvSpPr txBox="1"/>
          <p:nvPr/>
        </p:nvSpPr>
        <p:spPr>
          <a:xfrm>
            <a:off x="7369375" y="1762450"/>
            <a:ext cx="12966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Người dùng</a:t>
            </a:r>
            <a:endParaRPr/>
          </a:p>
        </p:txBody>
      </p:sp>
      <p:sp>
        <p:nvSpPr>
          <p:cNvPr id="1047" name="Google Shape;1047;p90"/>
          <p:cNvSpPr/>
          <p:nvPr/>
        </p:nvSpPr>
        <p:spPr>
          <a:xfrm>
            <a:off x="6888550" y="1798975"/>
            <a:ext cx="374400" cy="3744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90"/>
          <p:cNvSpPr/>
          <p:nvPr/>
        </p:nvSpPr>
        <p:spPr>
          <a:xfrm>
            <a:off x="502261" y="5725564"/>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 Thông tin liên hệ&gt;&gt;</a:t>
            </a:r>
            <a:endParaRPr/>
          </a:p>
        </p:txBody>
      </p:sp>
      <p:sp>
        <p:nvSpPr>
          <p:cNvPr id="1049" name="Google Shape;1049;p90"/>
          <p:cNvSpPr/>
          <p:nvPr/>
        </p:nvSpPr>
        <p:spPr>
          <a:xfrm>
            <a:off x="502261" y="1592500"/>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90"/>
          <p:cNvSpPr/>
          <p:nvPr/>
        </p:nvSpPr>
        <p:spPr>
          <a:xfrm>
            <a:off x="474850" y="1022775"/>
            <a:ext cx="8310000" cy="56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90"/>
          <p:cNvSpPr/>
          <p:nvPr/>
        </p:nvSpPr>
        <p:spPr>
          <a:xfrm>
            <a:off x="1369775" y="1150600"/>
            <a:ext cx="7241400" cy="328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90"/>
          <p:cNvSpPr txBox="1"/>
          <p:nvPr/>
        </p:nvSpPr>
        <p:spPr>
          <a:xfrm>
            <a:off x="7369375" y="1762450"/>
            <a:ext cx="12966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Người dùng</a:t>
            </a:r>
            <a:endParaRPr/>
          </a:p>
        </p:txBody>
      </p:sp>
      <p:sp>
        <p:nvSpPr>
          <p:cNvPr id="1053" name="Google Shape;1053;p90"/>
          <p:cNvSpPr/>
          <p:nvPr/>
        </p:nvSpPr>
        <p:spPr>
          <a:xfrm>
            <a:off x="6888550" y="1798975"/>
            <a:ext cx="374400" cy="3744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90"/>
          <p:cNvSpPr/>
          <p:nvPr/>
        </p:nvSpPr>
        <p:spPr>
          <a:xfrm>
            <a:off x="502261" y="5725564"/>
            <a:ext cx="8264400" cy="7635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&lt;&lt; Thông tin liên hệ&gt;&gt;</a:t>
            </a:r>
            <a:endParaRPr/>
          </a:p>
        </p:txBody>
      </p:sp>
      <p:sp>
        <p:nvSpPr>
          <p:cNvPr id="1055" name="Google Shape;1055;p90"/>
          <p:cNvSpPr txBox="1"/>
          <p:nvPr/>
        </p:nvSpPr>
        <p:spPr>
          <a:xfrm>
            <a:off x="2136850" y="2593450"/>
            <a:ext cx="5351400" cy="154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t>Đặt lịch hẹn thành công!</a:t>
            </a:r>
            <a:endParaRPr b="1" sz="1600"/>
          </a:p>
          <a:p>
            <a:pPr indent="0" lvl="0" marL="0" rtl="0" algn="l">
              <a:spcBef>
                <a:spcPts val="0"/>
              </a:spcBef>
              <a:spcAft>
                <a:spcPts val="0"/>
              </a:spcAft>
              <a:buNone/>
            </a:pPr>
            <a:r>
              <a:t/>
            </a:r>
            <a:endParaRPr b="1"/>
          </a:p>
          <a:p>
            <a:pPr indent="0" lvl="0" marL="0" rtl="0" algn="l">
              <a:spcBef>
                <a:spcPts val="0"/>
              </a:spcBef>
              <a:spcAft>
                <a:spcPts val="0"/>
              </a:spcAft>
              <a:buNone/>
            </a:pPr>
            <a:r>
              <a:rPr b="1" lang="en-GB"/>
              <a:t>Tên dịch vụ: </a:t>
            </a:r>
            <a:r>
              <a:rPr lang="en-GB"/>
              <a:t>Chăm sóc da mặt</a:t>
            </a:r>
            <a:endParaRPr/>
          </a:p>
          <a:p>
            <a:pPr indent="0" lvl="0" marL="0" rtl="0" algn="l">
              <a:spcBef>
                <a:spcPts val="0"/>
              </a:spcBef>
              <a:spcAft>
                <a:spcPts val="0"/>
              </a:spcAft>
              <a:buNone/>
            </a:pPr>
            <a:r>
              <a:rPr b="1" lang="en-GB"/>
              <a:t>Thời gian:</a:t>
            </a:r>
            <a:r>
              <a:rPr lang="en-GB"/>
              <a:t> 9h00</a:t>
            </a:r>
            <a:endParaRPr/>
          </a:p>
          <a:p>
            <a:pPr indent="0" lvl="0" marL="0" rtl="0" algn="l">
              <a:spcBef>
                <a:spcPts val="0"/>
              </a:spcBef>
              <a:spcAft>
                <a:spcPts val="0"/>
              </a:spcAft>
              <a:buNone/>
            </a:pPr>
            <a:r>
              <a:rPr b="1" lang="en-GB"/>
              <a:t>Ngày</a:t>
            </a:r>
            <a:r>
              <a:rPr lang="en-GB"/>
              <a:t>: 10/04/2023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56" name="Google Shape;1056;p90"/>
          <p:cNvSpPr/>
          <p:nvPr/>
        </p:nvSpPr>
        <p:spPr>
          <a:xfrm>
            <a:off x="3734925" y="4463625"/>
            <a:ext cx="1397100" cy="3927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Hoàn thành</a:t>
            </a:r>
            <a:endParaRPr/>
          </a:p>
        </p:txBody>
      </p:sp>
      <p:sp>
        <p:nvSpPr>
          <p:cNvPr id="1057" name="Google Shape;1057;p9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58" name="Google Shape;1058;p90"/>
          <p:cNvSpPr txBox="1"/>
          <p:nvPr/>
        </p:nvSpPr>
        <p:spPr>
          <a:xfrm>
            <a:off x="1138675" y="1971050"/>
            <a:ext cx="35022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55CC"/>
                </a:solidFill>
              </a:rPr>
              <a:t>Màn hình chính/Đặt lịch hẹn/</a:t>
            </a:r>
            <a:r>
              <a:rPr lang="en-GB">
                <a:solidFill>
                  <a:srgbClr val="1155CC"/>
                </a:solidFill>
              </a:rPr>
              <a:t>Kết quả</a:t>
            </a:r>
            <a:endParaRPr>
              <a:solidFill>
                <a:srgbClr val="1155CC"/>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pic>
        <p:nvPicPr>
          <p:cNvPr id="1063" name="Google Shape;1063;p91"/>
          <p:cNvPicPr preferRelativeResize="0"/>
          <p:nvPr/>
        </p:nvPicPr>
        <p:blipFill>
          <a:blip r:embed="rId3">
            <a:alphaModFix/>
          </a:blip>
          <a:stretch>
            <a:fillRect/>
          </a:stretch>
        </p:blipFill>
        <p:spPr>
          <a:xfrm>
            <a:off x="546325" y="4278883"/>
            <a:ext cx="3593399" cy="2372168"/>
          </a:xfrm>
          <a:prstGeom prst="rect">
            <a:avLst/>
          </a:prstGeom>
          <a:noFill/>
          <a:ln>
            <a:noFill/>
          </a:ln>
        </p:spPr>
      </p:pic>
      <p:pic>
        <p:nvPicPr>
          <p:cNvPr id="1064" name="Google Shape;1064;p91"/>
          <p:cNvPicPr preferRelativeResize="0"/>
          <p:nvPr/>
        </p:nvPicPr>
        <p:blipFill>
          <a:blip r:embed="rId4">
            <a:alphaModFix/>
          </a:blip>
          <a:stretch>
            <a:fillRect/>
          </a:stretch>
        </p:blipFill>
        <p:spPr>
          <a:xfrm>
            <a:off x="4770812" y="4215675"/>
            <a:ext cx="3611188" cy="2383900"/>
          </a:xfrm>
          <a:prstGeom prst="rect">
            <a:avLst/>
          </a:prstGeom>
          <a:noFill/>
          <a:ln>
            <a:noFill/>
          </a:ln>
        </p:spPr>
      </p:pic>
      <p:pic>
        <p:nvPicPr>
          <p:cNvPr id="1065" name="Google Shape;1065;p91"/>
          <p:cNvPicPr preferRelativeResize="0"/>
          <p:nvPr/>
        </p:nvPicPr>
        <p:blipFill>
          <a:blip r:embed="rId5">
            <a:alphaModFix/>
          </a:blip>
          <a:stretch>
            <a:fillRect/>
          </a:stretch>
        </p:blipFill>
        <p:spPr>
          <a:xfrm>
            <a:off x="4859825" y="1098043"/>
            <a:ext cx="3593399" cy="2372157"/>
          </a:xfrm>
          <a:prstGeom prst="rect">
            <a:avLst/>
          </a:prstGeom>
          <a:noFill/>
          <a:ln>
            <a:noFill/>
          </a:ln>
        </p:spPr>
      </p:pic>
      <p:pic>
        <p:nvPicPr>
          <p:cNvPr id="1066" name="Google Shape;1066;p91"/>
          <p:cNvPicPr preferRelativeResize="0"/>
          <p:nvPr/>
        </p:nvPicPr>
        <p:blipFill>
          <a:blip r:embed="rId6">
            <a:alphaModFix/>
          </a:blip>
          <a:stretch>
            <a:fillRect/>
          </a:stretch>
        </p:blipFill>
        <p:spPr>
          <a:xfrm>
            <a:off x="488275" y="1087175"/>
            <a:ext cx="3593399" cy="2383893"/>
          </a:xfrm>
          <a:prstGeom prst="rect">
            <a:avLst/>
          </a:prstGeom>
          <a:noFill/>
          <a:ln>
            <a:noFill/>
          </a:ln>
        </p:spPr>
      </p:pic>
      <p:sp>
        <p:nvSpPr>
          <p:cNvPr id="1067" name="Google Shape;1067;p9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Bảng phân cảnh Đặt lịch hẹn</a:t>
            </a:r>
            <a:endParaRPr/>
          </a:p>
        </p:txBody>
      </p:sp>
      <p:cxnSp>
        <p:nvCxnSpPr>
          <p:cNvPr id="1068" name="Google Shape;1068;p91"/>
          <p:cNvCxnSpPr>
            <a:endCxn id="1065" idx="1"/>
          </p:cNvCxnSpPr>
          <p:nvPr/>
        </p:nvCxnSpPr>
        <p:spPr>
          <a:xfrm>
            <a:off x="1114025" y="1598022"/>
            <a:ext cx="3745800" cy="686100"/>
          </a:xfrm>
          <a:prstGeom prst="straightConnector1">
            <a:avLst/>
          </a:prstGeom>
          <a:noFill/>
          <a:ln cap="flat" cmpd="sng" w="19050">
            <a:solidFill>
              <a:schemeClr val="dk2"/>
            </a:solidFill>
            <a:prstDash val="solid"/>
            <a:round/>
            <a:headEnd len="med" w="med" type="none"/>
            <a:tailEnd len="med" w="med" type="triangle"/>
          </a:ln>
        </p:spPr>
      </p:cxnSp>
      <p:cxnSp>
        <p:nvCxnSpPr>
          <p:cNvPr id="1069" name="Google Shape;1069;p91"/>
          <p:cNvCxnSpPr>
            <a:endCxn id="1070" idx="0"/>
          </p:cNvCxnSpPr>
          <p:nvPr/>
        </p:nvCxnSpPr>
        <p:spPr>
          <a:xfrm>
            <a:off x="6547615" y="3296674"/>
            <a:ext cx="4800" cy="906600"/>
          </a:xfrm>
          <a:prstGeom prst="straightConnector1">
            <a:avLst/>
          </a:prstGeom>
          <a:noFill/>
          <a:ln cap="flat" cmpd="sng" w="19050">
            <a:solidFill>
              <a:schemeClr val="dk2"/>
            </a:solidFill>
            <a:prstDash val="solid"/>
            <a:round/>
            <a:headEnd len="med" w="med" type="none"/>
            <a:tailEnd len="med" w="med" type="triangle"/>
          </a:ln>
        </p:spPr>
      </p:cxnSp>
      <p:cxnSp>
        <p:nvCxnSpPr>
          <p:cNvPr id="1071" name="Google Shape;1071;p91"/>
          <p:cNvCxnSpPr>
            <a:endCxn id="1063" idx="3"/>
          </p:cNvCxnSpPr>
          <p:nvPr/>
        </p:nvCxnSpPr>
        <p:spPr>
          <a:xfrm flipH="1">
            <a:off x="4139724" y="5378567"/>
            <a:ext cx="1887300" cy="86400"/>
          </a:xfrm>
          <a:prstGeom prst="straightConnector1">
            <a:avLst/>
          </a:prstGeom>
          <a:noFill/>
          <a:ln cap="flat" cmpd="sng" w="19050">
            <a:solidFill>
              <a:schemeClr val="dk2"/>
            </a:solidFill>
            <a:prstDash val="solid"/>
            <a:round/>
            <a:headEnd len="med" w="med" type="none"/>
            <a:tailEnd len="med" w="med" type="triangle"/>
          </a:ln>
        </p:spPr>
      </p:cxnSp>
      <p:cxnSp>
        <p:nvCxnSpPr>
          <p:cNvPr id="1072" name="Google Shape;1072;p91"/>
          <p:cNvCxnSpPr/>
          <p:nvPr/>
        </p:nvCxnSpPr>
        <p:spPr>
          <a:xfrm rot="10800000">
            <a:off x="849200" y="3470200"/>
            <a:ext cx="1388100" cy="2355900"/>
          </a:xfrm>
          <a:prstGeom prst="straightConnector1">
            <a:avLst/>
          </a:prstGeom>
          <a:noFill/>
          <a:ln cap="flat" cmpd="sng" w="19050">
            <a:solidFill>
              <a:schemeClr val="dk2"/>
            </a:solidFill>
            <a:prstDash val="solid"/>
            <a:round/>
            <a:headEnd len="med" w="med" type="none"/>
            <a:tailEnd len="med" w="med" type="triangle"/>
          </a:ln>
        </p:spPr>
      </p:cxnSp>
      <p:sp>
        <p:nvSpPr>
          <p:cNvPr id="1073" name="Google Shape;1073;p9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9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Sinh mã nguồn giao diện</a:t>
            </a:r>
            <a:endParaRPr/>
          </a:p>
        </p:txBody>
      </p:sp>
      <p:sp>
        <p:nvSpPr>
          <p:cNvPr id="1079" name="Google Shape;1079;p9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080" name="Google Shape;1080;p92"/>
          <p:cNvPicPr preferRelativeResize="0"/>
          <p:nvPr/>
        </p:nvPicPr>
        <p:blipFill>
          <a:blip r:embed="rId3">
            <a:alphaModFix/>
          </a:blip>
          <a:stretch>
            <a:fillRect/>
          </a:stretch>
        </p:blipFill>
        <p:spPr>
          <a:xfrm>
            <a:off x="238150" y="798300"/>
            <a:ext cx="8470524" cy="562027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9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AI ?</a:t>
            </a:r>
            <a:endParaRPr/>
          </a:p>
        </p:txBody>
      </p:sp>
      <p:sp>
        <p:nvSpPr>
          <p:cNvPr id="1086" name="Google Shape;1086;p9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087" name="Google Shape;1087;p93"/>
          <p:cNvPicPr preferRelativeResize="0"/>
          <p:nvPr/>
        </p:nvPicPr>
        <p:blipFill>
          <a:blip r:embed="rId3">
            <a:alphaModFix/>
          </a:blip>
          <a:stretch>
            <a:fillRect/>
          </a:stretch>
        </p:blipFill>
        <p:spPr>
          <a:xfrm>
            <a:off x="89550" y="998075"/>
            <a:ext cx="2705075" cy="2572200"/>
          </a:xfrm>
          <a:prstGeom prst="rect">
            <a:avLst/>
          </a:prstGeom>
          <a:noFill/>
          <a:ln>
            <a:noFill/>
          </a:ln>
        </p:spPr>
      </p:pic>
      <p:pic>
        <p:nvPicPr>
          <p:cNvPr id="1088" name="Google Shape;1088;p93"/>
          <p:cNvPicPr preferRelativeResize="0"/>
          <p:nvPr/>
        </p:nvPicPr>
        <p:blipFill>
          <a:blip r:embed="rId4">
            <a:alphaModFix/>
          </a:blip>
          <a:stretch>
            <a:fillRect/>
          </a:stretch>
        </p:blipFill>
        <p:spPr>
          <a:xfrm>
            <a:off x="3037475" y="698101"/>
            <a:ext cx="5434974" cy="409077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9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Sinh nguyên mẫu từ mô hình IFML?</a:t>
            </a:r>
            <a:endParaRPr/>
          </a:p>
        </p:txBody>
      </p:sp>
      <p:sp>
        <p:nvSpPr>
          <p:cNvPr id="1094" name="Google Shape;1094;p9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9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100" name="Google Shape;1100;p95"/>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