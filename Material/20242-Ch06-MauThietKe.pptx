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43.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135.xml"/>
  <Override ContentType="application/vnd.openxmlformats-officedocument.presentationml.notesSlide+xml" PartName="/ppt/notesSlides/notesSlide137.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41.xml"/>
  <Override ContentType="application/vnd.openxmlformats-officedocument.presentationml.notesSlide+xml" PartName="/ppt/notesSlides/notesSlide123.xml"/>
  <Override ContentType="application/vnd.openxmlformats-officedocument.presentationml.notesSlide+xml" PartName="/ppt/notesSlides/notesSlide110.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120.xml"/>
  <Override ContentType="application/vnd.openxmlformats-officedocument.presentationml.notesSlide+xml" PartName="/ppt/notesSlides/notesSlide2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4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142.xml"/>
  <Override ContentType="application/vnd.openxmlformats-officedocument.presentationml.notesSlide+xml" PartName="/ppt/notesSlides/notesSlide84.xml"/>
  <Override ContentType="application/vnd.openxmlformats-officedocument.presentationml.notesSlide+xml" PartName="/ppt/notesSlides/notesSlide116.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24.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108.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140.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111.xml"/>
  <Override ContentType="application/vnd.openxmlformats-officedocument.presentationml.notesSlide+xml" PartName="/ppt/notesSlides/notesSlide139.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128.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1.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141.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98.xml"/>
  <Override ContentType="application/vnd.openxmlformats-officedocument.presentationml.slide+xml" PartName="/ppt/slides/slide125.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114.xml"/>
  <Override ContentType="application/vnd.openxmlformats-officedocument.presentationml.slide+xml" PartName="/ppt/slides/slide31.xml"/>
  <Override ContentType="application/vnd.openxmlformats-officedocument.presentationml.slide+xml" PartName="/ppt/slides/slide127.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30.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124.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09.xml"/>
  <Override ContentType="application/vnd.openxmlformats-officedocument.presentationml.slide+xml" PartName="/ppt/slides/slide134.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143.xml"/>
  <Override ContentType="application/vnd.openxmlformats-officedocument.presentationml.slide+xml" PartName="/ppt/slides/slide117.xml"/>
  <Override ContentType="application/vnd.openxmlformats-officedocument.presentationml.slide+xml" PartName="/ppt/slides/slide132.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15.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 id="385" r:id="rId135"/>
    <p:sldId id="386" r:id="rId136"/>
    <p:sldId id="387" r:id="rId137"/>
    <p:sldId id="388" r:id="rId138"/>
    <p:sldId id="389" r:id="rId139"/>
    <p:sldId id="390" r:id="rId140"/>
    <p:sldId id="391" r:id="rId141"/>
    <p:sldId id="392" r:id="rId142"/>
    <p:sldId id="393" r:id="rId143"/>
    <p:sldId id="394" r:id="rId144"/>
    <p:sldId id="395" r:id="rId145"/>
    <p:sldId id="396" r:id="rId146"/>
    <p:sldId id="397" r:id="rId147"/>
    <p:sldId id="398" r:id="rId148"/>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07" Type="http://schemas.openxmlformats.org/officeDocument/2006/relationships/slide" Target="slides/slide102.xml"/><Relationship Id="rId106" Type="http://schemas.openxmlformats.org/officeDocument/2006/relationships/slide" Target="slides/slide101.xml"/><Relationship Id="rId105" Type="http://schemas.openxmlformats.org/officeDocument/2006/relationships/slide" Target="slides/slide100.xml"/><Relationship Id="rId104" Type="http://schemas.openxmlformats.org/officeDocument/2006/relationships/slide" Target="slides/slide99.xml"/><Relationship Id="rId109" Type="http://schemas.openxmlformats.org/officeDocument/2006/relationships/slide" Target="slides/slide104.xml"/><Relationship Id="rId108" Type="http://schemas.openxmlformats.org/officeDocument/2006/relationships/slide" Target="slides/slide103.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103" Type="http://schemas.openxmlformats.org/officeDocument/2006/relationships/slide" Target="slides/slide98.xml"/><Relationship Id="rId102" Type="http://schemas.openxmlformats.org/officeDocument/2006/relationships/slide" Target="slides/slide97.xml"/><Relationship Id="rId101" Type="http://schemas.openxmlformats.org/officeDocument/2006/relationships/slide" Target="slides/slide96.xml"/><Relationship Id="rId100" Type="http://schemas.openxmlformats.org/officeDocument/2006/relationships/slide" Target="slides/slide95.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29" Type="http://schemas.openxmlformats.org/officeDocument/2006/relationships/slide" Target="slides/slide124.xml"/><Relationship Id="rId128" Type="http://schemas.openxmlformats.org/officeDocument/2006/relationships/slide" Target="slides/slide123.xml"/><Relationship Id="rId127" Type="http://schemas.openxmlformats.org/officeDocument/2006/relationships/slide" Target="slides/slide122.xml"/><Relationship Id="rId126" Type="http://schemas.openxmlformats.org/officeDocument/2006/relationships/slide" Target="slides/slide121.xml"/><Relationship Id="rId26" Type="http://schemas.openxmlformats.org/officeDocument/2006/relationships/slide" Target="slides/slide21.xml"/><Relationship Id="rId121" Type="http://schemas.openxmlformats.org/officeDocument/2006/relationships/slide" Target="slides/slide116.xml"/><Relationship Id="rId25" Type="http://schemas.openxmlformats.org/officeDocument/2006/relationships/slide" Target="slides/slide20.xml"/><Relationship Id="rId120" Type="http://schemas.openxmlformats.org/officeDocument/2006/relationships/slide" Target="slides/slide115.xml"/><Relationship Id="rId28" Type="http://schemas.openxmlformats.org/officeDocument/2006/relationships/slide" Target="slides/slide23.xml"/><Relationship Id="rId27" Type="http://schemas.openxmlformats.org/officeDocument/2006/relationships/slide" Target="slides/slide22.xml"/><Relationship Id="rId125" Type="http://schemas.openxmlformats.org/officeDocument/2006/relationships/slide" Target="slides/slide120.xml"/><Relationship Id="rId29" Type="http://schemas.openxmlformats.org/officeDocument/2006/relationships/slide" Target="slides/slide24.xml"/><Relationship Id="rId124" Type="http://schemas.openxmlformats.org/officeDocument/2006/relationships/slide" Target="slides/slide119.xml"/><Relationship Id="rId123" Type="http://schemas.openxmlformats.org/officeDocument/2006/relationships/slide" Target="slides/slide118.xml"/><Relationship Id="rId122" Type="http://schemas.openxmlformats.org/officeDocument/2006/relationships/slide" Target="slides/slide117.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11" Type="http://schemas.openxmlformats.org/officeDocument/2006/relationships/slide" Target="slides/slide6.xml"/><Relationship Id="rId99" Type="http://schemas.openxmlformats.org/officeDocument/2006/relationships/slide" Target="slides/slide94.xml"/><Relationship Id="rId10" Type="http://schemas.openxmlformats.org/officeDocument/2006/relationships/slide" Target="slides/slide5.xml"/><Relationship Id="rId98" Type="http://schemas.openxmlformats.org/officeDocument/2006/relationships/slide" Target="slides/slide93.xml"/><Relationship Id="rId13" Type="http://schemas.openxmlformats.org/officeDocument/2006/relationships/slide" Target="slides/slide8.xml"/><Relationship Id="rId12" Type="http://schemas.openxmlformats.org/officeDocument/2006/relationships/slide" Target="slides/slide7.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slide" Target="slides/slide113.xml"/><Relationship Id="rId117" Type="http://schemas.openxmlformats.org/officeDocument/2006/relationships/slide" Target="slides/slide112.xml"/><Relationship Id="rId116" Type="http://schemas.openxmlformats.org/officeDocument/2006/relationships/slide" Target="slides/slide111.xml"/><Relationship Id="rId115" Type="http://schemas.openxmlformats.org/officeDocument/2006/relationships/slide" Target="slides/slide110.xml"/><Relationship Id="rId119" Type="http://schemas.openxmlformats.org/officeDocument/2006/relationships/slide" Target="slides/slide114.xml"/><Relationship Id="rId15" Type="http://schemas.openxmlformats.org/officeDocument/2006/relationships/slide" Target="slides/slide10.xml"/><Relationship Id="rId110" Type="http://schemas.openxmlformats.org/officeDocument/2006/relationships/slide" Target="slides/slide105.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14" Type="http://schemas.openxmlformats.org/officeDocument/2006/relationships/slide" Target="slides/slide109.xml"/><Relationship Id="rId18" Type="http://schemas.openxmlformats.org/officeDocument/2006/relationships/slide" Target="slides/slide13.xml"/><Relationship Id="rId113" Type="http://schemas.openxmlformats.org/officeDocument/2006/relationships/slide" Target="slides/slide108.xml"/><Relationship Id="rId112" Type="http://schemas.openxmlformats.org/officeDocument/2006/relationships/slide" Target="slides/slide107.xml"/><Relationship Id="rId111" Type="http://schemas.openxmlformats.org/officeDocument/2006/relationships/slide" Target="slides/slide106.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48" Type="http://schemas.openxmlformats.org/officeDocument/2006/relationships/slide" Target="slides/slide143.xml"/><Relationship Id="rId9" Type="http://schemas.openxmlformats.org/officeDocument/2006/relationships/slide" Target="slides/slide4.xml"/><Relationship Id="rId143" Type="http://schemas.openxmlformats.org/officeDocument/2006/relationships/slide" Target="slides/slide138.xml"/><Relationship Id="rId142" Type="http://schemas.openxmlformats.org/officeDocument/2006/relationships/slide" Target="slides/slide137.xml"/><Relationship Id="rId141" Type="http://schemas.openxmlformats.org/officeDocument/2006/relationships/slide" Target="slides/slide136.xml"/><Relationship Id="rId140" Type="http://schemas.openxmlformats.org/officeDocument/2006/relationships/slide" Target="slides/slide135.xml"/><Relationship Id="rId5" Type="http://schemas.openxmlformats.org/officeDocument/2006/relationships/notesMaster" Target="notesMasters/notesMaster1.xml"/><Relationship Id="rId147" Type="http://schemas.openxmlformats.org/officeDocument/2006/relationships/slide" Target="slides/slide142.xml"/><Relationship Id="rId6" Type="http://schemas.openxmlformats.org/officeDocument/2006/relationships/slide" Target="slides/slide1.xml"/><Relationship Id="rId146" Type="http://schemas.openxmlformats.org/officeDocument/2006/relationships/slide" Target="slides/slide141.xml"/><Relationship Id="rId7" Type="http://schemas.openxmlformats.org/officeDocument/2006/relationships/slide" Target="slides/slide2.xml"/><Relationship Id="rId145" Type="http://schemas.openxmlformats.org/officeDocument/2006/relationships/slide" Target="slides/slide140.xml"/><Relationship Id="rId8" Type="http://schemas.openxmlformats.org/officeDocument/2006/relationships/slide" Target="slides/slide3.xml"/><Relationship Id="rId144" Type="http://schemas.openxmlformats.org/officeDocument/2006/relationships/slide" Target="slides/slide139.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139" Type="http://schemas.openxmlformats.org/officeDocument/2006/relationships/slide" Target="slides/slide134.xml"/><Relationship Id="rId138" Type="http://schemas.openxmlformats.org/officeDocument/2006/relationships/slide" Target="slides/slide133.xml"/><Relationship Id="rId137" Type="http://schemas.openxmlformats.org/officeDocument/2006/relationships/slide" Target="slides/slide132.xml"/><Relationship Id="rId132" Type="http://schemas.openxmlformats.org/officeDocument/2006/relationships/slide" Target="slides/slide127.xml"/><Relationship Id="rId131" Type="http://schemas.openxmlformats.org/officeDocument/2006/relationships/slide" Target="slides/slide126.xml"/><Relationship Id="rId130" Type="http://schemas.openxmlformats.org/officeDocument/2006/relationships/slide" Target="slides/slide125.xml"/><Relationship Id="rId136" Type="http://schemas.openxmlformats.org/officeDocument/2006/relationships/slide" Target="slides/slide131.xml"/><Relationship Id="rId135" Type="http://schemas.openxmlformats.org/officeDocument/2006/relationships/slide" Target="slides/slide130.xml"/><Relationship Id="rId134" Type="http://schemas.openxmlformats.org/officeDocument/2006/relationships/slide" Target="slides/slide129.xml"/><Relationship Id="rId133" Type="http://schemas.openxmlformats.org/officeDocument/2006/relationships/slide" Target="slides/slide128.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65" Type="http://schemas.openxmlformats.org/officeDocument/2006/relationships/slide" Target="slides/slide60.xml"/><Relationship Id="rId68" Type="http://schemas.openxmlformats.org/officeDocument/2006/relationships/slide" Target="slides/slide63.xml"/><Relationship Id="rId67" Type="http://schemas.openxmlformats.org/officeDocument/2006/relationships/slide" Target="slides/slide62.xml"/><Relationship Id="rId60" Type="http://schemas.openxmlformats.org/officeDocument/2006/relationships/slide" Target="slides/slide55.xml"/><Relationship Id="rId69" Type="http://schemas.openxmlformats.org/officeDocument/2006/relationships/slide" Target="slides/slide6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54" Type="http://schemas.openxmlformats.org/officeDocument/2006/relationships/slide" Target="slides/slide49.xml"/><Relationship Id="rId57" Type="http://schemas.openxmlformats.org/officeDocument/2006/relationships/slide" Target="slides/slide52.xml"/><Relationship Id="rId56" Type="http://schemas.openxmlformats.org/officeDocument/2006/relationships/slide" Target="slides/slide51.xml"/><Relationship Id="rId59" Type="http://schemas.openxmlformats.org/officeDocument/2006/relationships/slide" Target="slides/slide54.xml"/><Relationship Id="rId58"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d0d106feaa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d0d106fea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d0d13cd312_0_44: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d0d13cd312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4d57d1d1cc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34d57d1d1c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2581804e1e0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2581804e1e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abb9add4af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3abb9add4a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25286dec0a6_0_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25286dec0a6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25286dec0a6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25286dec0a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4b2a7dbf14_0_1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4b2a7dbf14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4b2a7dbf14_0_12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34b2a7dbf14_0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24bf02a6364_0_112: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24bf02a6364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25797599207_0_138: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25797599207_0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25286dec0a6_0_1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25286dec0a6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22acaaba266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22acaaba26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25331f69d32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06" name="Google Shape;306;g25331f69d3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2ee9b2bb1d8_0_2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62" name="Google Shape;362;g2ee9b2bb1d8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2ef16fcbddd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69" name="Google Shape;369;g2ef16fcbdd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g25797599207_0_15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21" name="Google Shape;421;g25797599207_0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g229985c0f03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28" name="Google Shape;428;g229985c0f0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g22acaaba266_0_10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61" name="Google Shape;461;g22acaaba266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g2ef93fdf5ad_0_1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23" name="Google Shape;523;g2ef93fdf5ad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g2ef93fdf5ad_0_1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30" name="Google Shape;530;g2ef93fdf5ad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g25797599207_0_15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65" name="Google Shape;565;g25797599207_0_1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g229985c0f03_0_2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72" name="Google Shape;572;g229985c0f03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g34aaeb6588a_0_1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06" name="Google Shape;606;g34aaeb6588a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6" name="Shape 646"/>
        <p:cNvGrpSpPr/>
        <p:nvPr/>
      </p:nvGrpSpPr>
      <p:grpSpPr>
        <a:xfrm>
          <a:off x="0" y="0"/>
          <a:ext cx="0" cy="0"/>
          <a:chOff x="0" y="0"/>
          <a:chExt cx="0" cy="0"/>
        </a:xfrm>
      </p:grpSpPr>
      <p:sp>
        <p:nvSpPr>
          <p:cNvPr id="647" name="Google Shape;647;g2fac7916665_0_4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48" name="Google Shape;648;g2fac7916665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 name="Shape 653"/>
        <p:cNvGrpSpPr/>
        <p:nvPr/>
      </p:nvGrpSpPr>
      <p:grpSpPr>
        <a:xfrm>
          <a:off x="0" y="0"/>
          <a:ext cx="0" cy="0"/>
          <a:chOff x="0" y="0"/>
          <a:chExt cx="0" cy="0"/>
        </a:xfrm>
      </p:grpSpPr>
      <p:sp>
        <p:nvSpPr>
          <p:cNvPr id="654" name="Google Shape;654;g2fac7916665_0_5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55" name="Google Shape;655;g2fac7916665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8" name="Shape 678"/>
        <p:cNvGrpSpPr/>
        <p:nvPr/>
      </p:nvGrpSpPr>
      <p:grpSpPr>
        <a:xfrm>
          <a:off x="0" y="0"/>
          <a:ext cx="0" cy="0"/>
          <a:chOff x="0" y="0"/>
          <a:chExt cx="0" cy="0"/>
        </a:xfrm>
      </p:grpSpPr>
      <p:sp>
        <p:nvSpPr>
          <p:cNvPr id="679" name="Google Shape;679;g2fac7916665_0_7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80" name="Google Shape;680;g2fac7916665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3" name="Shape 713"/>
        <p:cNvGrpSpPr/>
        <p:nvPr/>
      </p:nvGrpSpPr>
      <p:grpSpPr>
        <a:xfrm>
          <a:off x="0" y="0"/>
          <a:ext cx="0" cy="0"/>
          <a:chOff x="0" y="0"/>
          <a:chExt cx="0" cy="0"/>
        </a:xfrm>
      </p:grpSpPr>
      <p:sp>
        <p:nvSpPr>
          <p:cNvPr id="714" name="Google Shape;714;g25797599207_0_17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15" name="Google Shape;715;g25797599207_0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0" name="Shape 720"/>
        <p:cNvGrpSpPr/>
        <p:nvPr/>
      </p:nvGrpSpPr>
      <p:grpSpPr>
        <a:xfrm>
          <a:off x="0" y="0"/>
          <a:ext cx="0" cy="0"/>
          <a:chOff x="0" y="0"/>
          <a:chExt cx="0" cy="0"/>
        </a:xfrm>
      </p:grpSpPr>
      <p:sp>
        <p:nvSpPr>
          <p:cNvPr id="721" name="Google Shape;721;g229985c0f03_0_4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22" name="Google Shape;722;g229985c0f03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1" name="Shape 741"/>
        <p:cNvGrpSpPr/>
        <p:nvPr/>
      </p:nvGrpSpPr>
      <p:grpSpPr>
        <a:xfrm>
          <a:off x="0" y="0"/>
          <a:ext cx="0" cy="0"/>
          <a:chOff x="0" y="0"/>
          <a:chExt cx="0" cy="0"/>
        </a:xfrm>
      </p:grpSpPr>
      <p:sp>
        <p:nvSpPr>
          <p:cNvPr id="742" name="Google Shape;742;g34aaeb6588a_0_5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43" name="Google Shape;743;g34aaeb6588a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1" name="Shape 771"/>
        <p:cNvGrpSpPr/>
        <p:nvPr/>
      </p:nvGrpSpPr>
      <p:grpSpPr>
        <a:xfrm>
          <a:off x="0" y="0"/>
          <a:ext cx="0" cy="0"/>
          <a:chOff x="0" y="0"/>
          <a:chExt cx="0" cy="0"/>
        </a:xfrm>
      </p:grpSpPr>
      <p:sp>
        <p:nvSpPr>
          <p:cNvPr id="772" name="Google Shape;772;g2fac7916665_0_11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73" name="Google Shape;773;g2fac7916665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8" name="Shape 778"/>
        <p:cNvGrpSpPr/>
        <p:nvPr/>
      </p:nvGrpSpPr>
      <p:grpSpPr>
        <a:xfrm>
          <a:off x="0" y="0"/>
          <a:ext cx="0" cy="0"/>
          <a:chOff x="0" y="0"/>
          <a:chExt cx="0" cy="0"/>
        </a:xfrm>
      </p:grpSpPr>
      <p:sp>
        <p:nvSpPr>
          <p:cNvPr id="779" name="Google Shape;779;g2fac7916665_0_12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80" name="Google Shape;780;g2fac7916665_0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0" name="Shape 820"/>
        <p:cNvGrpSpPr/>
        <p:nvPr/>
      </p:nvGrpSpPr>
      <p:grpSpPr>
        <a:xfrm>
          <a:off x="0" y="0"/>
          <a:ext cx="0" cy="0"/>
          <a:chOff x="0" y="0"/>
          <a:chExt cx="0" cy="0"/>
        </a:xfrm>
      </p:grpSpPr>
      <p:sp>
        <p:nvSpPr>
          <p:cNvPr id="821" name="Google Shape;821;g25797599207_0_17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22" name="Google Shape;822;g25797599207_0_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7" name="Shape 827"/>
        <p:cNvGrpSpPr/>
        <p:nvPr/>
      </p:nvGrpSpPr>
      <p:grpSpPr>
        <a:xfrm>
          <a:off x="0" y="0"/>
          <a:ext cx="0" cy="0"/>
          <a:chOff x="0" y="0"/>
          <a:chExt cx="0" cy="0"/>
        </a:xfrm>
      </p:grpSpPr>
      <p:sp>
        <p:nvSpPr>
          <p:cNvPr id="828" name="Google Shape;828;g229985c0f03_0_6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29" name="Google Shape;829;g229985c0f03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8" name="Shape 838"/>
        <p:cNvGrpSpPr/>
        <p:nvPr/>
      </p:nvGrpSpPr>
      <p:grpSpPr>
        <a:xfrm>
          <a:off x="0" y="0"/>
          <a:ext cx="0" cy="0"/>
          <a:chOff x="0" y="0"/>
          <a:chExt cx="0" cy="0"/>
        </a:xfrm>
      </p:grpSpPr>
      <p:sp>
        <p:nvSpPr>
          <p:cNvPr id="839" name="Google Shape;839;g34aaeb6588a_0_10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40" name="Google Shape;840;g34aaeb6588a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6" name="Shape 856"/>
        <p:cNvGrpSpPr/>
        <p:nvPr/>
      </p:nvGrpSpPr>
      <p:grpSpPr>
        <a:xfrm>
          <a:off x="0" y="0"/>
          <a:ext cx="0" cy="0"/>
          <a:chOff x="0" y="0"/>
          <a:chExt cx="0" cy="0"/>
        </a:xfrm>
      </p:grpSpPr>
      <p:sp>
        <p:nvSpPr>
          <p:cNvPr id="857" name="Google Shape;857;g2fac7916665_0_16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58" name="Google Shape;858;g2fac7916665_0_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3" name="Shape 863"/>
        <p:cNvGrpSpPr/>
        <p:nvPr/>
      </p:nvGrpSpPr>
      <p:grpSpPr>
        <a:xfrm>
          <a:off x="0" y="0"/>
          <a:ext cx="0" cy="0"/>
          <a:chOff x="0" y="0"/>
          <a:chExt cx="0" cy="0"/>
        </a:xfrm>
      </p:grpSpPr>
      <p:sp>
        <p:nvSpPr>
          <p:cNvPr id="864" name="Google Shape;864;g34aaeb6588a_0_11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65" name="Google Shape;865;g34aaeb6588a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4" name="Shape 874"/>
        <p:cNvGrpSpPr/>
        <p:nvPr/>
      </p:nvGrpSpPr>
      <p:grpSpPr>
        <a:xfrm>
          <a:off x="0" y="0"/>
          <a:ext cx="0" cy="0"/>
          <a:chOff x="0" y="0"/>
          <a:chExt cx="0" cy="0"/>
        </a:xfrm>
      </p:grpSpPr>
      <p:sp>
        <p:nvSpPr>
          <p:cNvPr id="875" name="Google Shape;875;g2fac7916665_0_16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76" name="Google Shape;876;g2fac7916665_0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1" name="Shape 881"/>
        <p:cNvGrpSpPr/>
        <p:nvPr/>
      </p:nvGrpSpPr>
      <p:grpSpPr>
        <a:xfrm>
          <a:off x="0" y="0"/>
          <a:ext cx="0" cy="0"/>
          <a:chOff x="0" y="0"/>
          <a:chExt cx="0" cy="0"/>
        </a:xfrm>
      </p:grpSpPr>
      <p:sp>
        <p:nvSpPr>
          <p:cNvPr id="882" name="Google Shape;882;g22ecfa29e2b_0_0: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83" name="Google Shape;883;g22ecfa29e2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9" name="Shape 889"/>
        <p:cNvGrpSpPr/>
        <p:nvPr/>
      </p:nvGrpSpPr>
      <p:grpSpPr>
        <a:xfrm>
          <a:off x="0" y="0"/>
          <a:ext cx="0" cy="0"/>
          <a:chOff x="0" y="0"/>
          <a:chExt cx="0" cy="0"/>
        </a:xfrm>
      </p:grpSpPr>
      <p:sp>
        <p:nvSpPr>
          <p:cNvPr id="890" name="Google Shape;890;g25797599207_0_18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91" name="Google Shape;891;g25797599207_0_1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6" name="Shape 896"/>
        <p:cNvGrpSpPr/>
        <p:nvPr/>
      </p:nvGrpSpPr>
      <p:grpSpPr>
        <a:xfrm>
          <a:off x="0" y="0"/>
          <a:ext cx="0" cy="0"/>
          <a:chOff x="0" y="0"/>
          <a:chExt cx="0" cy="0"/>
        </a:xfrm>
      </p:grpSpPr>
      <p:sp>
        <p:nvSpPr>
          <p:cNvPr id="897" name="Google Shape;897;g22ecfa29e2b_0_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98" name="Google Shape;898;g22ecfa29e2b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6" name="Shape 936"/>
        <p:cNvGrpSpPr/>
        <p:nvPr/>
      </p:nvGrpSpPr>
      <p:grpSpPr>
        <a:xfrm>
          <a:off x="0" y="0"/>
          <a:ext cx="0" cy="0"/>
          <a:chOff x="0" y="0"/>
          <a:chExt cx="0" cy="0"/>
        </a:xfrm>
      </p:grpSpPr>
      <p:sp>
        <p:nvSpPr>
          <p:cNvPr id="937" name="Google Shape;937;g302179407ee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938" name="Google Shape;938;g302179407e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5" name="Shape 965"/>
        <p:cNvGrpSpPr/>
        <p:nvPr/>
      </p:nvGrpSpPr>
      <p:grpSpPr>
        <a:xfrm>
          <a:off x="0" y="0"/>
          <a:ext cx="0" cy="0"/>
          <a:chOff x="0" y="0"/>
          <a:chExt cx="0" cy="0"/>
        </a:xfrm>
      </p:grpSpPr>
      <p:sp>
        <p:nvSpPr>
          <p:cNvPr id="966" name="Google Shape;966;g302179407ee_0_8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967" name="Google Shape;967;g302179407ee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2" name="Shape 972"/>
        <p:cNvGrpSpPr/>
        <p:nvPr/>
      </p:nvGrpSpPr>
      <p:grpSpPr>
        <a:xfrm>
          <a:off x="0" y="0"/>
          <a:ext cx="0" cy="0"/>
          <a:chOff x="0" y="0"/>
          <a:chExt cx="0" cy="0"/>
        </a:xfrm>
      </p:grpSpPr>
      <p:sp>
        <p:nvSpPr>
          <p:cNvPr id="973" name="Google Shape;973;g302179407ee_0_6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974" name="Google Shape;974;g302179407ee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8" name="Shape 998"/>
        <p:cNvGrpSpPr/>
        <p:nvPr/>
      </p:nvGrpSpPr>
      <p:grpSpPr>
        <a:xfrm>
          <a:off x="0" y="0"/>
          <a:ext cx="0" cy="0"/>
          <a:chOff x="0" y="0"/>
          <a:chExt cx="0" cy="0"/>
        </a:xfrm>
      </p:grpSpPr>
      <p:sp>
        <p:nvSpPr>
          <p:cNvPr id="999" name="Google Shape;999;g25797599207_0_18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000" name="Google Shape;1000;g25797599207_0_1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5" name="Shape 1005"/>
        <p:cNvGrpSpPr/>
        <p:nvPr/>
      </p:nvGrpSpPr>
      <p:grpSpPr>
        <a:xfrm>
          <a:off x="0" y="0"/>
          <a:ext cx="0" cy="0"/>
          <a:chOff x="0" y="0"/>
          <a:chExt cx="0" cy="0"/>
        </a:xfrm>
      </p:grpSpPr>
      <p:sp>
        <p:nvSpPr>
          <p:cNvPr id="1006" name="Google Shape;1006;g22ecfa29e2b_0_4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007" name="Google Shape;1007;g22ecfa29e2b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5" name="Shape 1035"/>
        <p:cNvGrpSpPr/>
        <p:nvPr/>
      </p:nvGrpSpPr>
      <p:grpSpPr>
        <a:xfrm>
          <a:off x="0" y="0"/>
          <a:ext cx="0" cy="0"/>
          <a:chOff x="0" y="0"/>
          <a:chExt cx="0" cy="0"/>
        </a:xfrm>
      </p:grpSpPr>
      <p:sp>
        <p:nvSpPr>
          <p:cNvPr id="1036" name="Google Shape;1036;g302179407ee_0_9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037" name="Google Shape;1037;g302179407ee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7" name="Shape 1067"/>
        <p:cNvGrpSpPr/>
        <p:nvPr/>
      </p:nvGrpSpPr>
      <p:grpSpPr>
        <a:xfrm>
          <a:off x="0" y="0"/>
          <a:ext cx="0" cy="0"/>
          <a:chOff x="0" y="0"/>
          <a:chExt cx="0" cy="0"/>
        </a:xfrm>
      </p:grpSpPr>
      <p:sp>
        <p:nvSpPr>
          <p:cNvPr id="1068" name="Google Shape;1068;g302179407ee_0_11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069" name="Google Shape;1069;g302179407ee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6" name="Shape 1106"/>
        <p:cNvGrpSpPr/>
        <p:nvPr/>
      </p:nvGrpSpPr>
      <p:grpSpPr>
        <a:xfrm>
          <a:off x="0" y="0"/>
          <a:ext cx="0" cy="0"/>
          <a:chOff x="0" y="0"/>
          <a:chExt cx="0" cy="0"/>
        </a:xfrm>
      </p:grpSpPr>
      <p:sp>
        <p:nvSpPr>
          <p:cNvPr id="1107" name="Google Shape;1107;g302179407ee_0_15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108" name="Google Shape;1108;g302179407ee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3" name="Shape 1113"/>
        <p:cNvGrpSpPr/>
        <p:nvPr/>
      </p:nvGrpSpPr>
      <p:grpSpPr>
        <a:xfrm>
          <a:off x="0" y="0"/>
          <a:ext cx="0" cy="0"/>
          <a:chOff x="0" y="0"/>
          <a:chExt cx="0" cy="0"/>
        </a:xfrm>
      </p:grpSpPr>
      <p:sp>
        <p:nvSpPr>
          <p:cNvPr id="1114" name="Google Shape;1114;g25797599207_0_20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115" name="Google Shape;1115;g25797599207_0_2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5" name="Shape 1135"/>
        <p:cNvGrpSpPr/>
        <p:nvPr/>
      </p:nvGrpSpPr>
      <p:grpSpPr>
        <a:xfrm>
          <a:off x="0" y="0"/>
          <a:ext cx="0" cy="0"/>
          <a:chOff x="0" y="0"/>
          <a:chExt cx="0" cy="0"/>
        </a:xfrm>
      </p:grpSpPr>
      <p:sp>
        <p:nvSpPr>
          <p:cNvPr id="1136" name="Google Shape;1136;g22ecfa29e2b_0_7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137" name="Google Shape;1137;g22ecfa29e2b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2" name="Shape 1162"/>
        <p:cNvGrpSpPr/>
        <p:nvPr/>
      </p:nvGrpSpPr>
      <p:grpSpPr>
        <a:xfrm>
          <a:off x="0" y="0"/>
          <a:ext cx="0" cy="0"/>
          <a:chOff x="0" y="0"/>
          <a:chExt cx="0" cy="0"/>
        </a:xfrm>
      </p:grpSpPr>
      <p:sp>
        <p:nvSpPr>
          <p:cNvPr id="1163" name="Google Shape;1163;g302179407ee_0_15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164" name="Google Shape;1164;g302179407ee_0_1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0" name="Shape 1200"/>
        <p:cNvGrpSpPr/>
        <p:nvPr/>
      </p:nvGrpSpPr>
      <p:grpSpPr>
        <a:xfrm>
          <a:off x="0" y="0"/>
          <a:ext cx="0" cy="0"/>
          <a:chOff x="0" y="0"/>
          <a:chExt cx="0" cy="0"/>
        </a:xfrm>
      </p:grpSpPr>
      <p:sp>
        <p:nvSpPr>
          <p:cNvPr id="1201" name="Google Shape;1201;g302179407ee_0_19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202" name="Google Shape;1202;g302179407ee_0_1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2" name="Shape 1232"/>
        <p:cNvGrpSpPr/>
        <p:nvPr/>
      </p:nvGrpSpPr>
      <p:grpSpPr>
        <a:xfrm>
          <a:off x="0" y="0"/>
          <a:ext cx="0" cy="0"/>
          <a:chOff x="0" y="0"/>
          <a:chExt cx="0" cy="0"/>
        </a:xfrm>
      </p:grpSpPr>
      <p:sp>
        <p:nvSpPr>
          <p:cNvPr id="1233" name="Google Shape;1233;g302179407ee_0_25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234" name="Google Shape;1234;g302179407ee_0_2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9" name="Shape 1239"/>
        <p:cNvGrpSpPr/>
        <p:nvPr/>
      </p:nvGrpSpPr>
      <p:grpSpPr>
        <a:xfrm>
          <a:off x="0" y="0"/>
          <a:ext cx="0" cy="0"/>
          <a:chOff x="0" y="0"/>
          <a:chExt cx="0" cy="0"/>
        </a:xfrm>
      </p:grpSpPr>
      <p:sp>
        <p:nvSpPr>
          <p:cNvPr id="1240" name="Google Shape;1240;g302179407ee_0_22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241" name="Google Shape;1241;g302179407ee_0_2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9" name="Shape 1269"/>
        <p:cNvGrpSpPr/>
        <p:nvPr/>
      </p:nvGrpSpPr>
      <p:grpSpPr>
        <a:xfrm>
          <a:off x="0" y="0"/>
          <a:ext cx="0" cy="0"/>
          <a:chOff x="0" y="0"/>
          <a:chExt cx="0" cy="0"/>
        </a:xfrm>
      </p:grpSpPr>
      <p:sp>
        <p:nvSpPr>
          <p:cNvPr id="1270" name="Google Shape;1270;g3abb9add4af_11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271" name="Google Shape;1271;g3abb9add4af_1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7" name="Shape 1287"/>
        <p:cNvGrpSpPr/>
        <p:nvPr/>
      </p:nvGrpSpPr>
      <p:grpSpPr>
        <a:xfrm>
          <a:off x="0" y="0"/>
          <a:ext cx="0" cy="0"/>
          <a:chOff x="0" y="0"/>
          <a:chExt cx="0" cy="0"/>
        </a:xfrm>
      </p:grpSpPr>
      <p:sp>
        <p:nvSpPr>
          <p:cNvPr id="1288" name="Google Shape;1288;g25797599207_0_19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289" name="Google Shape;1289;g25797599207_0_1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6" name="Shape 1296"/>
        <p:cNvGrpSpPr/>
        <p:nvPr/>
      </p:nvGrpSpPr>
      <p:grpSpPr>
        <a:xfrm>
          <a:off x="0" y="0"/>
          <a:ext cx="0" cy="0"/>
          <a:chOff x="0" y="0"/>
          <a:chExt cx="0" cy="0"/>
        </a:xfrm>
      </p:grpSpPr>
      <p:sp>
        <p:nvSpPr>
          <p:cNvPr id="1297" name="Google Shape;1297;g22ecfa29e2b_0_14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298" name="Google Shape;1298;g22ecfa29e2b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7" name="Shape 1327"/>
        <p:cNvGrpSpPr/>
        <p:nvPr/>
      </p:nvGrpSpPr>
      <p:grpSpPr>
        <a:xfrm>
          <a:off x="0" y="0"/>
          <a:ext cx="0" cy="0"/>
          <a:chOff x="0" y="0"/>
          <a:chExt cx="0" cy="0"/>
        </a:xfrm>
      </p:grpSpPr>
      <p:sp>
        <p:nvSpPr>
          <p:cNvPr id="1328" name="Google Shape;1328;g2f83dc0277d_0_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329" name="Google Shape;1329;g2f83dc0277d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3" name="Shape 1363"/>
        <p:cNvGrpSpPr/>
        <p:nvPr/>
      </p:nvGrpSpPr>
      <p:grpSpPr>
        <a:xfrm>
          <a:off x="0" y="0"/>
          <a:ext cx="0" cy="0"/>
          <a:chOff x="0" y="0"/>
          <a:chExt cx="0" cy="0"/>
        </a:xfrm>
      </p:grpSpPr>
      <p:sp>
        <p:nvSpPr>
          <p:cNvPr id="1364" name="Google Shape;1364;g2f83dc0277d_0_13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365" name="Google Shape;1365;g2f83dc0277d_0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7" name="Shape 1377"/>
        <p:cNvGrpSpPr/>
        <p:nvPr/>
      </p:nvGrpSpPr>
      <p:grpSpPr>
        <a:xfrm>
          <a:off x="0" y="0"/>
          <a:ext cx="0" cy="0"/>
          <a:chOff x="0" y="0"/>
          <a:chExt cx="0" cy="0"/>
        </a:xfrm>
      </p:grpSpPr>
      <p:sp>
        <p:nvSpPr>
          <p:cNvPr id="1378" name="Google Shape;1378;g2f83dc0277d_0_13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379" name="Google Shape;1379;g2f83dc0277d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4" name="Shape 1384"/>
        <p:cNvGrpSpPr/>
        <p:nvPr/>
      </p:nvGrpSpPr>
      <p:grpSpPr>
        <a:xfrm>
          <a:off x="0" y="0"/>
          <a:ext cx="0" cy="0"/>
          <a:chOff x="0" y="0"/>
          <a:chExt cx="0" cy="0"/>
        </a:xfrm>
      </p:grpSpPr>
      <p:sp>
        <p:nvSpPr>
          <p:cNvPr id="1385" name="Google Shape;1385;g2f83dc0277d_0_9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386" name="Google Shape;1386;g2f83dc0277d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0" name="Shape 1420"/>
        <p:cNvGrpSpPr/>
        <p:nvPr/>
      </p:nvGrpSpPr>
      <p:grpSpPr>
        <a:xfrm>
          <a:off x="0" y="0"/>
          <a:ext cx="0" cy="0"/>
          <a:chOff x="0" y="0"/>
          <a:chExt cx="0" cy="0"/>
        </a:xfrm>
      </p:grpSpPr>
      <p:sp>
        <p:nvSpPr>
          <p:cNvPr id="1421" name="Google Shape;1421;g2f83dc0277d_0_15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422" name="Google Shape;1422;g2f83dc0277d_0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8" name="Shape 1458"/>
        <p:cNvGrpSpPr/>
        <p:nvPr/>
      </p:nvGrpSpPr>
      <p:grpSpPr>
        <a:xfrm>
          <a:off x="0" y="0"/>
          <a:ext cx="0" cy="0"/>
          <a:chOff x="0" y="0"/>
          <a:chExt cx="0" cy="0"/>
        </a:xfrm>
      </p:grpSpPr>
      <p:sp>
        <p:nvSpPr>
          <p:cNvPr id="1459" name="Google Shape;1459;g25797599207_0_20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460" name="Google Shape;1460;g25797599207_0_2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5" name="Shape 1465"/>
        <p:cNvGrpSpPr/>
        <p:nvPr/>
      </p:nvGrpSpPr>
      <p:grpSpPr>
        <a:xfrm>
          <a:off x="0" y="0"/>
          <a:ext cx="0" cy="0"/>
          <a:chOff x="0" y="0"/>
          <a:chExt cx="0" cy="0"/>
        </a:xfrm>
      </p:grpSpPr>
      <p:sp>
        <p:nvSpPr>
          <p:cNvPr id="1466" name="Google Shape;1466;g22ecfa29e2b_0_12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467" name="Google Shape;1467;g22ecfa29e2b_0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1" name="Shape 1491"/>
        <p:cNvGrpSpPr/>
        <p:nvPr/>
      </p:nvGrpSpPr>
      <p:grpSpPr>
        <a:xfrm>
          <a:off x="0" y="0"/>
          <a:ext cx="0" cy="0"/>
          <a:chOff x="0" y="0"/>
          <a:chExt cx="0" cy="0"/>
        </a:xfrm>
      </p:grpSpPr>
      <p:sp>
        <p:nvSpPr>
          <p:cNvPr id="1492" name="Google Shape;1492;g34aaeb6588a_0_17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493" name="Google Shape;1493;g34aaeb6588a_0_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1" name="Shape 1521"/>
        <p:cNvGrpSpPr/>
        <p:nvPr/>
      </p:nvGrpSpPr>
      <p:grpSpPr>
        <a:xfrm>
          <a:off x="0" y="0"/>
          <a:ext cx="0" cy="0"/>
          <a:chOff x="0" y="0"/>
          <a:chExt cx="0" cy="0"/>
        </a:xfrm>
      </p:grpSpPr>
      <p:sp>
        <p:nvSpPr>
          <p:cNvPr id="1522" name="Google Shape;1522;g2f853a5fff6_0_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523" name="Google Shape;1523;g2f853a5fff6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5" name="Shape 1565"/>
        <p:cNvGrpSpPr/>
        <p:nvPr/>
      </p:nvGrpSpPr>
      <p:grpSpPr>
        <a:xfrm>
          <a:off x="0" y="0"/>
          <a:ext cx="0" cy="0"/>
          <a:chOff x="0" y="0"/>
          <a:chExt cx="0" cy="0"/>
        </a:xfrm>
      </p:grpSpPr>
      <p:sp>
        <p:nvSpPr>
          <p:cNvPr id="1566" name="Google Shape;1566;g2f853a5fff6_0_4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567" name="Google Shape;1567;g2f853a5fff6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2" name="Shape 1602"/>
        <p:cNvGrpSpPr/>
        <p:nvPr/>
      </p:nvGrpSpPr>
      <p:grpSpPr>
        <a:xfrm>
          <a:off x="0" y="0"/>
          <a:ext cx="0" cy="0"/>
          <a:chOff x="0" y="0"/>
          <a:chExt cx="0" cy="0"/>
        </a:xfrm>
      </p:grpSpPr>
      <p:sp>
        <p:nvSpPr>
          <p:cNvPr id="1603" name="Google Shape;1603;g2f853a5fff6_0_8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604" name="Google Shape;1604;g2f853a5fff6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9" name="Shape 1609"/>
        <p:cNvGrpSpPr/>
        <p:nvPr/>
      </p:nvGrpSpPr>
      <p:grpSpPr>
        <a:xfrm>
          <a:off x="0" y="0"/>
          <a:ext cx="0" cy="0"/>
          <a:chOff x="0" y="0"/>
          <a:chExt cx="0" cy="0"/>
        </a:xfrm>
      </p:grpSpPr>
      <p:sp>
        <p:nvSpPr>
          <p:cNvPr id="1610" name="Google Shape;1610;g25797599207_0_21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611" name="Google Shape;1611;g25797599207_0_2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6" name="Shape 1616"/>
        <p:cNvGrpSpPr/>
        <p:nvPr/>
      </p:nvGrpSpPr>
      <p:grpSpPr>
        <a:xfrm>
          <a:off x="0" y="0"/>
          <a:ext cx="0" cy="0"/>
          <a:chOff x="0" y="0"/>
          <a:chExt cx="0" cy="0"/>
        </a:xfrm>
      </p:grpSpPr>
      <p:sp>
        <p:nvSpPr>
          <p:cNvPr id="1617" name="Google Shape;1617;g22ecfa29e2b_0_19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618" name="Google Shape;1618;g22ecfa29e2b_0_1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5" name="Shape 1645"/>
        <p:cNvGrpSpPr/>
        <p:nvPr/>
      </p:nvGrpSpPr>
      <p:grpSpPr>
        <a:xfrm>
          <a:off x="0" y="0"/>
          <a:ext cx="0" cy="0"/>
          <a:chOff x="0" y="0"/>
          <a:chExt cx="0" cy="0"/>
        </a:xfrm>
      </p:grpSpPr>
      <p:sp>
        <p:nvSpPr>
          <p:cNvPr id="1646" name="Google Shape;1646;g34aaeb6588a_0_24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647" name="Google Shape;1647;g34aaeb6588a_0_2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8" name="Shape 1688"/>
        <p:cNvGrpSpPr/>
        <p:nvPr/>
      </p:nvGrpSpPr>
      <p:grpSpPr>
        <a:xfrm>
          <a:off x="0" y="0"/>
          <a:ext cx="0" cy="0"/>
          <a:chOff x="0" y="0"/>
          <a:chExt cx="0" cy="0"/>
        </a:xfrm>
      </p:grpSpPr>
      <p:sp>
        <p:nvSpPr>
          <p:cNvPr id="1689" name="Google Shape;1689;g2f853a5fff6_0_12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690" name="Google Shape;1690;g2f853a5fff6_0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8" name="Shape 1708"/>
        <p:cNvGrpSpPr/>
        <p:nvPr/>
      </p:nvGrpSpPr>
      <p:grpSpPr>
        <a:xfrm>
          <a:off x="0" y="0"/>
          <a:ext cx="0" cy="0"/>
          <a:chOff x="0" y="0"/>
          <a:chExt cx="0" cy="0"/>
        </a:xfrm>
      </p:grpSpPr>
      <p:sp>
        <p:nvSpPr>
          <p:cNvPr id="1709" name="Google Shape;1709;g2f853a5fff6_0_11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710" name="Google Shape;1710;g2f853a5fff6_0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5" name="Shape 1715"/>
        <p:cNvGrpSpPr/>
        <p:nvPr/>
      </p:nvGrpSpPr>
      <p:grpSpPr>
        <a:xfrm>
          <a:off x="0" y="0"/>
          <a:ext cx="0" cy="0"/>
          <a:chOff x="0" y="0"/>
          <a:chExt cx="0" cy="0"/>
        </a:xfrm>
      </p:grpSpPr>
      <p:sp>
        <p:nvSpPr>
          <p:cNvPr id="1716" name="Google Shape;1716;g2f853a5fff6_0_8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717" name="Google Shape;1717;g2f853a5fff6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4" name="Shape 1744"/>
        <p:cNvGrpSpPr/>
        <p:nvPr/>
      </p:nvGrpSpPr>
      <p:grpSpPr>
        <a:xfrm>
          <a:off x="0" y="0"/>
          <a:ext cx="0" cy="0"/>
          <a:chOff x="0" y="0"/>
          <a:chExt cx="0" cy="0"/>
        </a:xfrm>
      </p:grpSpPr>
      <p:sp>
        <p:nvSpPr>
          <p:cNvPr id="1745" name="Google Shape;1745;g25797599207_0_22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746" name="Google Shape;1746;g25797599207_0_2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1" name="Shape 1751"/>
        <p:cNvGrpSpPr/>
        <p:nvPr/>
      </p:nvGrpSpPr>
      <p:grpSpPr>
        <a:xfrm>
          <a:off x="0" y="0"/>
          <a:ext cx="0" cy="0"/>
          <a:chOff x="0" y="0"/>
          <a:chExt cx="0" cy="0"/>
        </a:xfrm>
      </p:grpSpPr>
      <p:sp>
        <p:nvSpPr>
          <p:cNvPr id="1752" name="Google Shape;1752;g22ecfa29e2b_0_21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753" name="Google Shape;1753;g22ecfa29e2b_0_2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5" name="Shape 1775"/>
        <p:cNvGrpSpPr/>
        <p:nvPr/>
      </p:nvGrpSpPr>
      <p:grpSpPr>
        <a:xfrm>
          <a:off x="0" y="0"/>
          <a:ext cx="0" cy="0"/>
          <a:chOff x="0" y="0"/>
          <a:chExt cx="0" cy="0"/>
        </a:xfrm>
      </p:grpSpPr>
      <p:sp>
        <p:nvSpPr>
          <p:cNvPr id="1776" name="Google Shape;1776;g2f853a5fff6_0_14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777" name="Google Shape;1777;g2f853a5fff6_0_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7" name="Shape 1797"/>
        <p:cNvGrpSpPr/>
        <p:nvPr/>
      </p:nvGrpSpPr>
      <p:grpSpPr>
        <a:xfrm>
          <a:off x="0" y="0"/>
          <a:ext cx="0" cy="0"/>
          <a:chOff x="0" y="0"/>
          <a:chExt cx="0" cy="0"/>
        </a:xfrm>
      </p:grpSpPr>
      <p:sp>
        <p:nvSpPr>
          <p:cNvPr id="1798" name="Google Shape;1798;g2f853a5fff6_0_19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799" name="Google Shape;1799;g2f853a5fff6_0_1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4" name="Shape 1804"/>
        <p:cNvGrpSpPr/>
        <p:nvPr/>
      </p:nvGrpSpPr>
      <p:grpSpPr>
        <a:xfrm>
          <a:off x="0" y="0"/>
          <a:ext cx="0" cy="0"/>
          <a:chOff x="0" y="0"/>
          <a:chExt cx="0" cy="0"/>
        </a:xfrm>
      </p:grpSpPr>
      <p:sp>
        <p:nvSpPr>
          <p:cNvPr id="1805" name="Google Shape;1805;g2f853a5fff6_0_16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806" name="Google Shape;1806;g2f853a5fff6_0_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1" name="Shape 1831"/>
        <p:cNvGrpSpPr/>
        <p:nvPr/>
      </p:nvGrpSpPr>
      <p:grpSpPr>
        <a:xfrm>
          <a:off x="0" y="0"/>
          <a:ext cx="0" cy="0"/>
          <a:chOff x="0" y="0"/>
          <a:chExt cx="0" cy="0"/>
        </a:xfrm>
      </p:grpSpPr>
      <p:sp>
        <p:nvSpPr>
          <p:cNvPr id="1832" name="Google Shape;1832;g305ba7a984a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833" name="Google Shape;1833;g305ba7a984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8" name="Shape 1838"/>
        <p:cNvGrpSpPr/>
        <p:nvPr/>
      </p:nvGrpSpPr>
      <p:grpSpPr>
        <a:xfrm>
          <a:off x="0" y="0"/>
          <a:ext cx="0" cy="0"/>
          <a:chOff x="0" y="0"/>
          <a:chExt cx="0" cy="0"/>
        </a:xfrm>
      </p:grpSpPr>
      <p:sp>
        <p:nvSpPr>
          <p:cNvPr id="1839" name="Google Shape;1839;g22ecfa29e2b_0_238: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840" name="Google Shape;1840;g22ecfa29e2b_0_2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6" name="Shape 1846"/>
        <p:cNvGrpSpPr/>
        <p:nvPr/>
      </p:nvGrpSpPr>
      <p:grpSpPr>
        <a:xfrm>
          <a:off x="0" y="0"/>
          <a:ext cx="0" cy="0"/>
          <a:chOff x="0" y="0"/>
          <a:chExt cx="0" cy="0"/>
        </a:xfrm>
      </p:grpSpPr>
      <p:sp>
        <p:nvSpPr>
          <p:cNvPr id="1847" name="Google Shape;1847;g25797599207_0_23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848" name="Google Shape;1848;g25797599207_0_2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3" name="Shape 1853"/>
        <p:cNvGrpSpPr/>
        <p:nvPr/>
      </p:nvGrpSpPr>
      <p:grpSpPr>
        <a:xfrm>
          <a:off x="0" y="0"/>
          <a:ext cx="0" cy="0"/>
          <a:chOff x="0" y="0"/>
          <a:chExt cx="0" cy="0"/>
        </a:xfrm>
      </p:grpSpPr>
      <p:sp>
        <p:nvSpPr>
          <p:cNvPr id="1854" name="Google Shape;1854;g22ecfa29e2b_0_24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855" name="Google Shape;1855;g22ecfa29e2b_0_2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5" name="Shape 1875"/>
        <p:cNvGrpSpPr/>
        <p:nvPr/>
      </p:nvGrpSpPr>
      <p:grpSpPr>
        <a:xfrm>
          <a:off x="0" y="0"/>
          <a:ext cx="0" cy="0"/>
          <a:chOff x="0" y="0"/>
          <a:chExt cx="0" cy="0"/>
        </a:xfrm>
      </p:grpSpPr>
      <p:sp>
        <p:nvSpPr>
          <p:cNvPr id="1876" name="Google Shape;1876;g2f8ea8a9cc0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877" name="Google Shape;1877;g2f8ea8a9cc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4" name="Shape 1904"/>
        <p:cNvGrpSpPr/>
        <p:nvPr/>
      </p:nvGrpSpPr>
      <p:grpSpPr>
        <a:xfrm>
          <a:off x="0" y="0"/>
          <a:ext cx="0" cy="0"/>
          <a:chOff x="0" y="0"/>
          <a:chExt cx="0" cy="0"/>
        </a:xfrm>
      </p:grpSpPr>
      <p:sp>
        <p:nvSpPr>
          <p:cNvPr id="1905" name="Google Shape;1905;g2f8ea8a9cc0_0_4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906" name="Google Shape;1906;g2f8ea8a9cc0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1" name="Shape 1911"/>
        <p:cNvGrpSpPr/>
        <p:nvPr/>
      </p:nvGrpSpPr>
      <p:grpSpPr>
        <a:xfrm>
          <a:off x="0" y="0"/>
          <a:ext cx="0" cy="0"/>
          <a:chOff x="0" y="0"/>
          <a:chExt cx="0" cy="0"/>
        </a:xfrm>
      </p:grpSpPr>
      <p:sp>
        <p:nvSpPr>
          <p:cNvPr id="1912" name="Google Shape;1912;g2f8ea8a9cc0_0_1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913" name="Google Shape;1913;g2f8ea8a9cc0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1" name="Shape 1941"/>
        <p:cNvGrpSpPr/>
        <p:nvPr/>
      </p:nvGrpSpPr>
      <p:grpSpPr>
        <a:xfrm>
          <a:off x="0" y="0"/>
          <a:ext cx="0" cy="0"/>
          <a:chOff x="0" y="0"/>
          <a:chExt cx="0" cy="0"/>
        </a:xfrm>
      </p:grpSpPr>
      <p:sp>
        <p:nvSpPr>
          <p:cNvPr id="1942" name="Google Shape;1942;g25797599207_0_23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943" name="Google Shape;1943;g25797599207_0_2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8" name="Shape 1948"/>
        <p:cNvGrpSpPr/>
        <p:nvPr/>
      </p:nvGrpSpPr>
      <p:grpSpPr>
        <a:xfrm>
          <a:off x="0" y="0"/>
          <a:ext cx="0" cy="0"/>
          <a:chOff x="0" y="0"/>
          <a:chExt cx="0" cy="0"/>
        </a:xfrm>
      </p:grpSpPr>
      <p:sp>
        <p:nvSpPr>
          <p:cNvPr id="1949" name="Google Shape;1949;g22ecfa29e2b_0_26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950" name="Google Shape;1950;g22ecfa29e2b_0_2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8" name="Shape 1978"/>
        <p:cNvGrpSpPr/>
        <p:nvPr/>
      </p:nvGrpSpPr>
      <p:grpSpPr>
        <a:xfrm>
          <a:off x="0" y="0"/>
          <a:ext cx="0" cy="0"/>
          <a:chOff x="0" y="0"/>
          <a:chExt cx="0" cy="0"/>
        </a:xfrm>
      </p:grpSpPr>
      <p:sp>
        <p:nvSpPr>
          <p:cNvPr id="1979" name="Google Shape;1979;g34ad144cb72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980" name="Google Shape;1980;g34ad144cb7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8" name="Shape 2008"/>
        <p:cNvGrpSpPr/>
        <p:nvPr/>
      </p:nvGrpSpPr>
      <p:grpSpPr>
        <a:xfrm>
          <a:off x="0" y="0"/>
          <a:ext cx="0" cy="0"/>
          <a:chOff x="0" y="0"/>
          <a:chExt cx="0" cy="0"/>
        </a:xfrm>
      </p:grpSpPr>
      <p:sp>
        <p:nvSpPr>
          <p:cNvPr id="2009" name="Google Shape;2009;g34ad144cb72_0_6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010" name="Google Shape;2010;g34ad144cb72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5" name="Shape 2015"/>
        <p:cNvGrpSpPr/>
        <p:nvPr/>
      </p:nvGrpSpPr>
      <p:grpSpPr>
        <a:xfrm>
          <a:off x="0" y="0"/>
          <a:ext cx="0" cy="0"/>
          <a:chOff x="0" y="0"/>
          <a:chExt cx="0" cy="0"/>
        </a:xfrm>
      </p:grpSpPr>
      <p:sp>
        <p:nvSpPr>
          <p:cNvPr id="2016" name="Google Shape;2016;g34ad144cb72_0_7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017" name="Google Shape;2017;g34ad144cb72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2" name="Shape 2062"/>
        <p:cNvGrpSpPr/>
        <p:nvPr/>
      </p:nvGrpSpPr>
      <p:grpSpPr>
        <a:xfrm>
          <a:off x="0" y="0"/>
          <a:ext cx="0" cy="0"/>
          <a:chOff x="0" y="0"/>
          <a:chExt cx="0" cy="0"/>
        </a:xfrm>
      </p:grpSpPr>
      <p:sp>
        <p:nvSpPr>
          <p:cNvPr id="2063" name="Google Shape;2063;g25797599207_0_24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064" name="Google Shape;2064;g25797599207_0_2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9" name="Shape 2069"/>
        <p:cNvGrpSpPr/>
        <p:nvPr/>
      </p:nvGrpSpPr>
      <p:grpSpPr>
        <a:xfrm>
          <a:off x="0" y="0"/>
          <a:ext cx="0" cy="0"/>
          <a:chOff x="0" y="0"/>
          <a:chExt cx="0" cy="0"/>
        </a:xfrm>
      </p:grpSpPr>
      <p:sp>
        <p:nvSpPr>
          <p:cNvPr id="2070" name="Google Shape;2070;g34ad144cb72_0_13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071" name="Google Shape;2071;g34ad144cb72_0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2" name="Shape 2092"/>
        <p:cNvGrpSpPr/>
        <p:nvPr/>
      </p:nvGrpSpPr>
      <p:grpSpPr>
        <a:xfrm>
          <a:off x="0" y="0"/>
          <a:ext cx="0" cy="0"/>
          <a:chOff x="0" y="0"/>
          <a:chExt cx="0" cy="0"/>
        </a:xfrm>
      </p:grpSpPr>
      <p:sp>
        <p:nvSpPr>
          <p:cNvPr id="2093" name="Google Shape;2093;g34ad144cb72_0_15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094" name="Google Shape;2094;g34ad144cb72_0_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0" name="Shape 2110"/>
        <p:cNvGrpSpPr/>
        <p:nvPr/>
      </p:nvGrpSpPr>
      <p:grpSpPr>
        <a:xfrm>
          <a:off x="0" y="0"/>
          <a:ext cx="0" cy="0"/>
          <a:chOff x="0" y="0"/>
          <a:chExt cx="0" cy="0"/>
        </a:xfrm>
      </p:grpSpPr>
      <p:sp>
        <p:nvSpPr>
          <p:cNvPr id="2111" name="Google Shape;2111;g34ad144cb72_0_13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112" name="Google Shape;2112;g34ad144cb72_0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3" name="Shape 2143"/>
        <p:cNvGrpSpPr/>
        <p:nvPr/>
      </p:nvGrpSpPr>
      <p:grpSpPr>
        <a:xfrm>
          <a:off x="0" y="0"/>
          <a:ext cx="0" cy="0"/>
          <a:chOff x="0" y="0"/>
          <a:chExt cx="0" cy="0"/>
        </a:xfrm>
      </p:grpSpPr>
      <p:sp>
        <p:nvSpPr>
          <p:cNvPr id="2144" name="Google Shape;2144;g34ad144cb72_0_21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145" name="Google Shape;2145;g34ad144cb72_0_2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0" name="Shape 2150"/>
        <p:cNvGrpSpPr/>
        <p:nvPr/>
      </p:nvGrpSpPr>
      <p:grpSpPr>
        <a:xfrm>
          <a:off x="0" y="0"/>
          <a:ext cx="0" cy="0"/>
          <a:chOff x="0" y="0"/>
          <a:chExt cx="0" cy="0"/>
        </a:xfrm>
      </p:grpSpPr>
      <p:sp>
        <p:nvSpPr>
          <p:cNvPr id="2151" name="Google Shape;2151;g34ad144cb72_0_22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152" name="Google Shape;2152;g34ad144cb72_0_2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5" name="Shape 2185"/>
        <p:cNvGrpSpPr/>
        <p:nvPr/>
      </p:nvGrpSpPr>
      <p:grpSpPr>
        <a:xfrm>
          <a:off x="0" y="0"/>
          <a:ext cx="0" cy="0"/>
          <a:chOff x="0" y="0"/>
          <a:chExt cx="0" cy="0"/>
        </a:xfrm>
      </p:grpSpPr>
      <p:sp>
        <p:nvSpPr>
          <p:cNvPr id="2186" name="Google Shape;2186;g25797599207_0_24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187" name="Google Shape;2187;g25797599207_0_2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2" name="Shape 2192"/>
        <p:cNvGrpSpPr/>
        <p:nvPr/>
      </p:nvGrpSpPr>
      <p:grpSpPr>
        <a:xfrm>
          <a:off x="0" y="0"/>
          <a:ext cx="0" cy="0"/>
          <a:chOff x="0" y="0"/>
          <a:chExt cx="0" cy="0"/>
        </a:xfrm>
      </p:grpSpPr>
      <p:sp>
        <p:nvSpPr>
          <p:cNvPr id="2193" name="Google Shape;2193;g22ecfa29e2b_0_31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194" name="Google Shape;2194;g22ecfa29e2b_0_3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3" name="Shape 2223"/>
        <p:cNvGrpSpPr/>
        <p:nvPr/>
      </p:nvGrpSpPr>
      <p:grpSpPr>
        <a:xfrm>
          <a:off x="0" y="0"/>
          <a:ext cx="0" cy="0"/>
          <a:chOff x="0" y="0"/>
          <a:chExt cx="0" cy="0"/>
        </a:xfrm>
      </p:grpSpPr>
      <p:sp>
        <p:nvSpPr>
          <p:cNvPr id="2224" name="Google Shape;2224;g34ad144cb72_0_26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225" name="Google Shape;2225;g34ad144cb72_0_2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6" name="Shape 2276"/>
        <p:cNvGrpSpPr/>
        <p:nvPr/>
      </p:nvGrpSpPr>
      <p:grpSpPr>
        <a:xfrm>
          <a:off x="0" y="0"/>
          <a:ext cx="0" cy="0"/>
          <a:chOff x="0" y="0"/>
          <a:chExt cx="0" cy="0"/>
        </a:xfrm>
      </p:grpSpPr>
      <p:sp>
        <p:nvSpPr>
          <p:cNvPr id="2277" name="Google Shape;2277;g34ad144cb72_0_32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278" name="Google Shape;2278;g34ad144cb72_0_3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3" name="Shape 2283"/>
        <p:cNvGrpSpPr/>
        <p:nvPr/>
      </p:nvGrpSpPr>
      <p:grpSpPr>
        <a:xfrm>
          <a:off x="0" y="0"/>
          <a:ext cx="0" cy="0"/>
          <a:chOff x="0" y="0"/>
          <a:chExt cx="0" cy="0"/>
        </a:xfrm>
      </p:grpSpPr>
      <p:sp>
        <p:nvSpPr>
          <p:cNvPr id="2284" name="Google Shape;2284;g34ad144cb72_0_33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285" name="Google Shape;2285;g34ad144cb72_0_3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7" name="Shape 2317"/>
        <p:cNvGrpSpPr/>
        <p:nvPr/>
      </p:nvGrpSpPr>
      <p:grpSpPr>
        <a:xfrm>
          <a:off x="0" y="0"/>
          <a:ext cx="0" cy="0"/>
          <a:chOff x="0" y="0"/>
          <a:chExt cx="0" cy="0"/>
        </a:xfrm>
      </p:grpSpPr>
      <p:sp>
        <p:nvSpPr>
          <p:cNvPr id="2318" name="Google Shape;2318;g25797599207_0_25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319" name="Google Shape;2319;g25797599207_0_2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4" name="Shape 2324"/>
        <p:cNvGrpSpPr/>
        <p:nvPr/>
      </p:nvGrpSpPr>
      <p:grpSpPr>
        <a:xfrm>
          <a:off x="0" y="0"/>
          <a:ext cx="0" cy="0"/>
          <a:chOff x="0" y="0"/>
          <a:chExt cx="0" cy="0"/>
        </a:xfrm>
      </p:grpSpPr>
      <p:sp>
        <p:nvSpPr>
          <p:cNvPr id="2325" name="Google Shape;2325;g22ecfa29e2b_0_34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326" name="Google Shape;2326;g22ecfa29e2b_0_3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7" name="Shape 2347"/>
        <p:cNvGrpSpPr/>
        <p:nvPr/>
      </p:nvGrpSpPr>
      <p:grpSpPr>
        <a:xfrm>
          <a:off x="0" y="0"/>
          <a:ext cx="0" cy="0"/>
          <a:chOff x="0" y="0"/>
          <a:chExt cx="0" cy="0"/>
        </a:xfrm>
      </p:grpSpPr>
      <p:sp>
        <p:nvSpPr>
          <p:cNvPr id="2348" name="Google Shape;2348;g34ad144cb72_0_37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349" name="Google Shape;2349;g34ad144cb72_0_3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4" name="Shape 2364"/>
        <p:cNvGrpSpPr/>
        <p:nvPr/>
      </p:nvGrpSpPr>
      <p:grpSpPr>
        <a:xfrm>
          <a:off x="0" y="0"/>
          <a:ext cx="0" cy="0"/>
          <a:chOff x="0" y="0"/>
          <a:chExt cx="0" cy="0"/>
        </a:xfrm>
      </p:grpSpPr>
      <p:sp>
        <p:nvSpPr>
          <p:cNvPr id="2365" name="Google Shape;2365;g34ad8081287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366" name="Google Shape;2366;g34ad808128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3" name="Shape 2393"/>
        <p:cNvGrpSpPr/>
        <p:nvPr/>
      </p:nvGrpSpPr>
      <p:grpSpPr>
        <a:xfrm>
          <a:off x="0" y="0"/>
          <a:ext cx="0" cy="0"/>
          <a:chOff x="0" y="0"/>
          <a:chExt cx="0" cy="0"/>
        </a:xfrm>
      </p:grpSpPr>
      <p:sp>
        <p:nvSpPr>
          <p:cNvPr id="2394" name="Google Shape;2394;g34ad8081287_0_4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395" name="Google Shape;2395;g34ad8081287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0" name="Shape 2400"/>
        <p:cNvGrpSpPr/>
        <p:nvPr/>
      </p:nvGrpSpPr>
      <p:grpSpPr>
        <a:xfrm>
          <a:off x="0" y="0"/>
          <a:ext cx="0" cy="0"/>
          <a:chOff x="0" y="0"/>
          <a:chExt cx="0" cy="0"/>
        </a:xfrm>
      </p:grpSpPr>
      <p:sp>
        <p:nvSpPr>
          <p:cNvPr id="2401" name="Google Shape;2401;g34ad8081287_0_4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402" name="Google Shape;2402;g34ad8081287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7" name="Shape 2427"/>
        <p:cNvGrpSpPr/>
        <p:nvPr/>
      </p:nvGrpSpPr>
      <p:grpSpPr>
        <a:xfrm>
          <a:off x="0" y="0"/>
          <a:ext cx="0" cy="0"/>
          <a:chOff x="0" y="0"/>
          <a:chExt cx="0" cy="0"/>
        </a:xfrm>
      </p:grpSpPr>
      <p:sp>
        <p:nvSpPr>
          <p:cNvPr id="2428" name="Google Shape;2428;g25797599207_0_26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429" name="Google Shape;2429;g25797599207_0_2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4" name="Shape 2434"/>
        <p:cNvGrpSpPr/>
        <p:nvPr/>
      </p:nvGrpSpPr>
      <p:grpSpPr>
        <a:xfrm>
          <a:off x="0" y="0"/>
          <a:ext cx="0" cy="0"/>
          <a:chOff x="0" y="0"/>
          <a:chExt cx="0" cy="0"/>
        </a:xfrm>
      </p:grpSpPr>
      <p:sp>
        <p:nvSpPr>
          <p:cNvPr id="2435" name="Google Shape;2435;g22ecfa29e2b_0_36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436" name="Google Shape;2436;g22ecfa29e2b_0_3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6" name="Shape 2456"/>
        <p:cNvGrpSpPr/>
        <p:nvPr/>
      </p:nvGrpSpPr>
      <p:grpSpPr>
        <a:xfrm>
          <a:off x="0" y="0"/>
          <a:ext cx="0" cy="0"/>
          <a:chOff x="0" y="0"/>
          <a:chExt cx="0" cy="0"/>
        </a:xfrm>
      </p:grpSpPr>
      <p:sp>
        <p:nvSpPr>
          <p:cNvPr id="2457" name="Google Shape;2457;g34ad8081287_0_8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458" name="Google Shape;2458;g34ad8081287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4" name="Shape 2484"/>
        <p:cNvGrpSpPr/>
        <p:nvPr/>
      </p:nvGrpSpPr>
      <p:grpSpPr>
        <a:xfrm>
          <a:off x="0" y="0"/>
          <a:ext cx="0" cy="0"/>
          <a:chOff x="0" y="0"/>
          <a:chExt cx="0" cy="0"/>
        </a:xfrm>
      </p:grpSpPr>
      <p:sp>
        <p:nvSpPr>
          <p:cNvPr id="2485" name="Google Shape;2485;g34ad8081287_1_1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486" name="Google Shape;2486;g34ad8081287_1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1" name="Shape 2491"/>
        <p:cNvGrpSpPr/>
        <p:nvPr/>
      </p:nvGrpSpPr>
      <p:grpSpPr>
        <a:xfrm>
          <a:off x="0" y="0"/>
          <a:ext cx="0" cy="0"/>
          <a:chOff x="0" y="0"/>
          <a:chExt cx="0" cy="0"/>
        </a:xfrm>
      </p:grpSpPr>
      <p:sp>
        <p:nvSpPr>
          <p:cNvPr id="2492" name="Google Shape;2492;g34ad8081287_1_2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493" name="Google Shape;2493;g34ad8081287_1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7" name="Shape 2507"/>
        <p:cNvGrpSpPr/>
        <p:nvPr/>
      </p:nvGrpSpPr>
      <p:grpSpPr>
        <a:xfrm>
          <a:off x="0" y="0"/>
          <a:ext cx="0" cy="0"/>
          <a:chOff x="0" y="0"/>
          <a:chExt cx="0" cy="0"/>
        </a:xfrm>
      </p:grpSpPr>
      <p:sp>
        <p:nvSpPr>
          <p:cNvPr id="2508" name="Google Shape;2508;g25797599207_0_26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509" name="Google Shape;2509;g25797599207_0_2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4" name="Shape 2514"/>
        <p:cNvGrpSpPr/>
        <p:nvPr/>
      </p:nvGrpSpPr>
      <p:grpSpPr>
        <a:xfrm>
          <a:off x="0" y="0"/>
          <a:ext cx="0" cy="0"/>
          <a:chOff x="0" y="0"/>
          <a:chExt cx="0" cy="0"/>
        </a:xfrm>
      </p:grpSpPr>
      <p:sp>
        <p:nvSpPr>
          <p:cNvPr id="2515" name="Google Shape;2515;g25797599207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516" name="Google Shape;2516;g2579759920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2" name="Shape 2552"/>
        <p:cNvGrpSpPr/>
        <p:nvPr/>
      </p:nvGrpSpPr>
      <p:grpSpPr>
        <a:xfrm>
          <a:off x="0" y="0"/>
          <a:ext cx="0" cy="0"/>
          <a:chOff x="0" y="0"/>
          <a:chExt cx="0" cy="0"/>
        </a:xfrm>
      </p:grpSpPr>
      <p:sp>
        <p:nvSpPr>
          <p:cNvPr id="2553" name="Google Shape;2553;g34ad8081287_1_3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554" name="Google Shape;2554;g34ad8081287_1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5" name="Shape 2605"/>
        <p:cNvGrpSpPr/>
        <p:nvPr/>
      </p:nvGrpSpPr>
      <p:grpSpPr>
        <a:xfrm>
          <a:off x="0" y="0"/>
          <a:ext cx="0" cy="0"/>
          <a:chOff x="0" y="0"/>
          <a:chExt cx="0" cy="0"/>
        </a:xfrm>
      </p:grpSpPr>
      <p:sp>
        <p:nvSpPr>
          <p:cNvPr id="2606" name="Google Shape;2606;g34ad8081287_1_14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607" name="Google Shape;2607;g34ad8081287_1_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2" name="Shape 2612"/>
        <p:cNvGrpSpPr/>
        <p:nvPr/>
      </p:nvGrpSpPr>
      <p:grpSpPr>
        <a:xfrm>
          <a:off x="0" y="0"/>
          <a:ext cx="0" cy="0"/>
          <a:chOff x="0" y="0"/>
          <a:chExt cx="0" cy="0"/>
        </a:xfrm>
      </p:grpSpPr>
      <p:sp>
        <p:nvSpPr>
          <p:cNvPr id="2613" name="Google Shape;2613;g34ad8081287_1_14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614" name="Google Shape;2614;g34ad8081287_1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9" name="Shape 2639"/>
        <p:cNvGrpSpPr/>
        <p:nvPr/>
      </p:nvGrpSpPr>
      <p:grpSpPr>
        <a:xfrm>
          <a:off x="0" y="0"/>
          <a:ext cx="0" cy="0"/>
          <a:chOff x="0" y="0"/>
          <a:chExt cx="0" cy="0"/>
        </a:xfrm>
      </p:grpSpPr>
      <p:sp>
        <p:nvSpPr>
          <p:cNvPr id="2640" name="Google Shape;2640;g25797599207_0_27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641" name="Google Shape;2641;g25797599207_0_2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6" name="Shape 2646"/>
        <p:cNvGrpSpPr/>
        <p:nvPr/>
      </p:nvGrpSpPr>
      <p:grpSpPr>
        <a:xfrm>
          <a:off x="0" y="0"/>
          <a:ext cx="0" cy="0"/>
          <a:chOff x="0" y="0"/>
          <a:chExt cx="0" cy="0"/>
        </a:xfrm>
      </p:grpSpPr>
      <p:sp>
        <p:nvSpPr>
          <p:cNvPr id="2647" name="Google Shape;2647;g25797599207_0_3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648" name="Google Shape;2648;g25797599207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0" name="Shape 2670"/>
        <p:cNvGrpSpPr/>
        <p:nvPr/>
      </p:nvGrpSpPr>
      <p:grpSpPr>
        <a:xfrm>
          <a:off x="0" y="0"/>
          <a:ext cx="0" cy="0"/>
          <a:chOff x="0" y="0"/>
          <a:chExt cx="0" cy="0"/>
        </a:xfrm>
      </p:grpSpPr>
      <p:sp>
        <p:nvSpPr>
          <p:cNvPr id="2671" name="Google Shape;2671;g34ad8081287_1_19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672" name="Google Shape;2672;g34ad8081287_1_1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2" name="Shape 2702"/>
        <p:cNvGrpSpPr/>
        <p:nvPr/>
      </p:nvGrpSpPr>
      <p:grpSpPr>
        <a:xfrm>
          <a:off x="0" y="0"/>
          <a:ext cx="0" cy="0"/>
          <a:chOff x="0" y="0"/>
          <a:chExt cx="0" cy="0"/>
        </a:xfrm>
      </p:grpSpPr>
      <p:sp>
        <p:nvSpPr>
          <p:cNvPr id="2703" name="Google Shape;2703;g34ad8081287_1_26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704" name="Google Shape;2704;g34ad8081287_1_2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9" name="Shape 2709"/>
        <p:cNvGrpSpPr/>
        <p:nvPr/>
      </p:nvGrpSpPr>
      <p:grpSpPr>
        <a:xfrm>
          <a:off x="0" y="0"/>
          <a:ext cx="0" cy="0"/>
          <a:chOff x="0" y="0"/>
          <a:chExt cx="0" cy="0"/>
        </a:xfrm>
      </p:grpSpPr>
      <p:sp>
        <p:nvSpPr>
          <p:cNvPr id="2710" name="Google Shape;2710;g34ad8081287_1_27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711" name="Google Shape;2711;g34ad8081287_1_2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7" name="Shape 2737"/>
        <p:cNvGrpSpPr/>
        <p:nvPr/>
      </p:nvGrpSpPr>
      <p:grpSpPr>
        <a:xfrm>
          <a:off x="0" y="0"/>
          <a:ext cx="0" cy="0"/>
          <a:chOff x="0" y="0"/>
          <a:chExt cx="0" cy="0"/>
        </a:xfrm>
      </p:grpSpPr>
      <p:sp>
        <p:nvSpPr>
          <p:cNvPr id="2738" name="Google Shape;2738;g25797599207_0_27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739" name="Google Shape;2739;g25797599207_0_2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4" name="Shape 2744"/>
        <p:cNvGrpSpPr/>
        <p:nvPr/>
      </p:nvGrpSpPr>
      <p:grpSpPr>
        <a:xfrm>
          <a:off x="0" y="0"/>
          <a:ext cx="0" cy="0"/>
          <a:chOff x="0" y="0"/>
          <a:chExt cx="0" cy="0"/>
        </a:xfrm>
      </p:grpSpPr>
      <p:sp>
        <p:nvSpPr>
          <p:cNvPr id="2745" name="Google Shape;2745;g25797599207_0_5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746" name="Google Shape;2746;g25797599207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8" name="Shape 2768"/>
        <p:cNvGrpSpPr/>
        <p:nvPr/>
      </p:nvGrpSpPr>
      <p:grpSpPr>
        <a:xfrm>
          <a:off x="0" y="0"/>
          <a:ext cx="0" cy="0"/>
          <a:chOff x="0" y="0"/>
          <a:chExt cx="0" cy="0"/>
        </a:xfrm>
      </p:grpSpPr>
      <p:sp>
        <p:nvSpPr>
          <p:cNvPr id="2769" name="Google Shape;2769;g34ad8081287_1_33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770" name="Google Shape;2770;g34ad8081287_1_3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1" name="Shape 2811"/>
        <p:cNvGrpSpPr/>
        <p:nvPr/>
      </p:nvGrpSpPr>
      <p:grpSpPr>
        <a:xfrm>
          <a:off x="0" y="0"/>
          <a:ext cx="0" cy="0"/>
          <a:chOff x="0" y="0"/>
          <a:chExt cx="0" cy="0"/>
        </a:xfrm>
      </p:grpSpPr>
      <p:sp>
        <p:nvSpPr>
          <p:cNvPr id="2812" name="Google Shape;2812;g34ad8081287_1_42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813" name="Google Shape;2813;g34ad8081287_1_4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8" name="Shape 2818"/>
        <p:cNvGrpSpPr/>
        <p:nvPr/>
      </p:nvGrpSpPr>
      <p:grpSpPr>
        <a:xfrm>
          <a:off x="0" y="0"/>
          <a:ext cx="0" cy="0"/>
          <a:chOff x="0" y="0"/>
          <a:chExt cx="0" cy="0"/>
        </a:xfrm>
      </p:grpSpPr>
      <p:sp>
        <p:nvSpPr>
          <p:cNvPr id="2819" name="Google Shape;2819;g34ad8081287_1_30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820" name="Google Shape;2820;g34ad8081287_1_3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6" name="Shape 2846"/>
        <p:cNvGrpSpPr/>
        <p:nvPr/>
      </p:nvGrpSpPr>
      <p:grpSpPr>
        <a:xfrm>
          <a:off x="0" y="0"/>
          <a:ext cx="0" cy="0"/>
          <a:chOff x="0" y="0"/>
          <a:chExt cx="0" cy="0"/>
        </a:xfrm>
      </p:grpSpPr>
      <p:sp>
        <p:nvSpPr>
          <p:cNvPr id="2847" name="Google Shape;2847;g25797599207_0_28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848" name="Google Shape;2848;g25797599207_0_2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3" name="Shape 2853"/>
        <p:cNvGrpSpPr/>
        <p:nvPr/>
      </p:nvGrpSpPr>
      <p:grpSpPr>
        <a:xfrm>
          <a:off x="0" y="0"/>
          <a:ext cx="0" cy="0"/>
          <a:chOff x="0" y="0"/>
          <a:chExt cx="0" cy="0"/>
        </a:xfrm>
      </p:grpSpPr>
      <p:sp>
        <p:nvSpPr>
          <p:cNvPr id="2854" name="Google Shape;2854;g34ad8081287_1_42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855" name="Google Shape;2855;g34ad8081287_1_4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9" name="Shape 2869"/>
        <p:cNvGrpSpPr/>
        <p:nvPr/>
      </p:nvGrpSpPr>
      <p:grpSpPr>
        <a:xfrm>
          <a:off x="0" y="0"/>
          <a:ext cx="0" cy="0"/>
          <a:chOff x="0" y="0"/>
          <a:chExt cx="0" cy="0"/>
        </a:xfrm>
      </p:grpSpPr>
      <p:sp>
        <p:nvSpPr>
          <p:cNvPr id="2870" name="Google Shape;2870;g25797599207_0_8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871" name="Google Shape;2871;g25797599207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7" name="Shape 2887"/>
        <p:cNvGrpSpPr/>
        <p:nvPr/>
      </p:nvGrpSpPr>
      <p:grpSpPr>
        <a:xfrm>
          <a:off x="0" y="0"/>
          <a:ext cx="0" cy="0"/>
          <a:chOff x="0" y="0"/>
          <a:chExt cx="0" cy="0"/>
        </a:xfrm>
      </p:grpSpPr>
      <p:sp>
        <p:nvSpPr>
          <p:cNvPr id="2888" name="Google Shape;2888;g34ad8081287_1_45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889" name="Google Shape;2889;g34ad8081287_1_4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4" name="Shape 2894"/>
        <p:cNvGrpSpPr/>
        <p:nvPr/>
      </p:nvGrpSpPr>
      <p:grpSpPr>
        <a:xfrm>
          <a:off x="0" y="0"/>
          <a:ext cx="0" cy="0"/>
          <a:chOff x="0" y="0"/>
          <a:chExt cx="0" cy="0"/>
        </a:xfrm>
      </p:grpSpPr>
      <p:sp>
        <p:nvSpPr>
          <p:cNvPr id="2895" name="Google Shape;2895;g34ad8081287_1_46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896" name="Google Shape;2896;g34ad8081287_1_4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8" name="Shape 2918"/>
        <p:cNvGrpSpPr/>
        <p:nvPr/>
      </p:nvGrpSpPr>
      <p:grpSpPr>
        <a:xfrm>
          <a:off x="0" y="0"/>
          <a:ext cx="0" cy="0"/>
          <a:chOff x="0" y="0"/>
          <a:chExt cx="0" cy="0"/>
        </a:xfrm>
      </p:grpSpPr>
      <p:sp>
        <p:nvSpPr>
          <p:cNvPr id="2919" name="Google Shape;2919;g25797599207_0_29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920" name="Google Shape;2920;g25797599207_0_2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5" name="Shape 2925"/>
        <p:cNvGrpSpPr/>
        <p:nvPr/>
      </p:nvGrpSpPr>
      <p:grpSpPr>
        <a:xfrm>
          <a:off x="0" y="0"/>
          <a:ext cx="0" cy="0"/>
          <a:chOff x="0" y="0"/>
          <a:chExt cx="0" cy="0"/>
        </a:xfrm>
      </p:grpSpPr>
      <p:sp>
        <p:nvSpPr>
          <p:cNvPr id="2926" name="Google Shape;2926;g25797599207_0_9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927" name="Google Shape;2927;g25797599207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4" name="Shape 2964"/>
        <p:cNvGrpSpPr/>
        <p:nvPr/>
      </p:nvGrpSpPr>
      <p:grpSpPr>
        <a:xfrm>
          <a:off x="0" y="0"/>
          <a:ext cx="0" cy="0"/>
          <a:chOff x="0" y="0"/>
          <a:chExt cx="0" cy="0"/>
        </a:xfrm>
      </p:grpSpPr>
      <p:sp>
        <p:nvSpPr>
          <p:cNvPr id="2965" name="Google Shape;2965;g34ad8081287_1_48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966" name="Google Shape;2966;g34ad8081287_1_4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7" name="Shape 2997"/>
        <p:cNvGrpSpPr/>
        <p:nvPr/>
      </p:nvGrpSpPr>
      <p:grpSpPr>
        <a:xfrm>
          <a:off x="0" y="0"/>
          <a:ext cx="0" cy="0"/>
          <a:chOff x="0" y="0"/>
          <a:chExt cx="0" cy="0"/>
        </a:xfrm>
      </p:grpSpPr>
      <p:sp>
        <p:nvSpPr>
          <p:cNvPr id="2998" name="Google Shape;2998;g34ad8081287_1_57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999" name="Google Shape;2999;g34ad8081287_1_5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4" name="Shape 3004"/>
        <p:cNvGrpSpPr/>
        <p:nvPr/>
      </p:nvGrpSpPr>
      <p:grpSpPr>
        <a:xfrm>
          <a:off x="0" y="0"/>
          <a:ext cx="0" cy="0"/>
          <a:chOff x="0" y="0"/>
          <a:chExt cx="0" cy="0"/>
        </a:xfrm>
      </p:grpSpPr>
      <p:sp>
        <p:nvSpPr>
          <p:cNvPr id="3005" name="Google Shape;3005;g34ad8081287_1_58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006" name="Google Shape;3006;g34ad8081287_1_5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2" name="Shape 3042"/>
        <p:cNvGrpSpPr/>
        <p:nvPr/>
      </p:nvGrpSpPr>
      <p:grpSpPr>
        <a:xfrm>
          <a:off x="0" y="0"/>
          <a:ext cx="0" cy="0"/>
          <a:chOff x="0" y="0"/>
          <a:chExt cx="0" cy="0"/>
        </a:xfrm>
      </p:grpSpPr>
      <p:sp>
        <p:nvSpPr>
          <p:cNvPr id="3043" name="Google Shape;3043;g34ad8081287_1_61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044" name="Google Shape;3044;g34ad8081287_1_6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9" name="Shape 3049"/>
        <p:cNvGrpSpPr/>
        <p:nvPr/>
      </p:nvGrpSpPr>
      <p:grpSpPr>
        <a:xfrm>
          <a:off x="0" y="0"/>
          <a:ext cx="0" cy="0"/>
          <a:chOff x="0" y="0"/>
          <a:chExt cx="0" cy="0"/>
        </a:xfrm>
      </p:grpSpPr>
      <p:sp>
        <p:nvSpPr>
          <p:cNvPr id="3050" name="Google Shape;3050;g34b2a7dbf14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051" name="Google Shape;3051;g34b2a7dbf1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6" name="Shape 3056"/>
        <p:cNvGrpSpPr/>
        <p:nvPr/>
      </p:nvGrpSpPr>
      <p:grpSpPr>
        <a:xfrm>
          <a:off x="0" y="0"/>
          <a:ext cx="0" cy="0"/>
          <a:chOff x="0" y="0"/>
          <a:chExt cx="0" cy="0"/>
        </a:xfrm>
      </p:grpSpPr>
      <p:sp>
        <p:nvSpPr>
          <p:cNvPr id="3057" name="Google Shape;3057;g34b2a7dbf14_0_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058" name="Google Shape;3058;g34b2a7dbf14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3" name="Shape 3063"/>
        <p:cNvGrpSpPr/>
        <p:nvPr/>
      </p:nvGrpSpPr>
      <p:grpSpPr>
        <a:xfrm>
          <a:off x="0" y="0"/>
          <a:ext cx="0" cy="0"/>
          <a:chOff x="0" y="0"/>
          <a:chExt cx="0" cy="0"/>
        </a:xfrm>
      </p:grpSpPr>
      <p:sp>
        <p:nvSpPr>
          <p:cNvPr id="3064" name="Google Shape;3064;g12f7f353c56_0_23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065" name="Google Shape;3065;g12f7f353c56_0_2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992767"/>
            <a:ext cx="8520600" cy="27369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3778833"/>
            <a:ext cx="8520600" cy="10569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867800"/>
            <a:ext cx="8520600" cy="11223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18" name="Google Shape;18;p4"/>
          <p:cNvSpPr txBox="1"/>
          <p:nvPr>
            <p:ph idx="1" type="body"/>
          </p:nvPr>
        </p:nvSpPr>
        <p:spPr>
          <a:xfrm>
            <a:off x="311700" y="950475"/>
            <a:ext cx="8520600" cy="5418300"/>
          </a:xfrm>
          <a:prstGeom prst="rect">
            <a:avLst/>
          </a:prstGeom>
        </p:spPr>
        <p:txBody>
          <a:bodyPr anchorCtr="0" anchor="t" bIns="91425" lIns="91425" spcFirstLastPara="1" rIns="91425" wrap="square" tIns="91425">
            <a:noAutofit/>
          </a:bodyPr>
          <a:lstStyle>
            <a:lvl1pPr indent="-381000" lvl="0" marL="457200">
              <a:spcBef>
                <a:spcPts val="0"/>
              </a:spcBef>
              <a:spcAft>
                <a:spcPts val="0"/>
              </a:spcAft>
              <a:buClr>
                <a:srgbClr val="666666"/>
              </a:buClr>
              <a:buSzPts val="2400"/>
              <a:buChar char="●"/>
              <a:defRPr>
                <a:solidFill>
                  <a:srgbClr val="666666"/>
                </a:solidFill>
              </a:defRPr>
            </a:lvl1pPr>
            <a:lvl2pPr indent="-368300" lvl="1" marL="914400">
              <a:spcBef>
                <a:spcPts val="0"/>
              </a:spcBef>
              <a:spcAft>
                <a:spcPts val="0"/>
              </a:spcAft>
              <a:buClr>
                <a:srgbClr val="666666"/>
              </a:buClr>
              <a:buSzPts val="2200"/>
              <a:buChar char="○"/>
              <a:defRPr>
                <a:solidFill>
                  <a:srgbClr val="666666"/>
                </a:solidFill>
              </a:defRPr>
            </a:lvl2pPr>
            <a:lvl3pPr indent="-342900" lvl="2" marL="1371600">
              <a:spcBef>
                <a:spcPts val="0"/>
              </a:spcBef>
              <a:spcAft>
                <a:spcPts val="0"/>
              </a:spcAft>
              <a:buClr>
                <a:srgbClr val="666666"/>
              </a:buClr>
              <a:buSzPts val="1800"/>
              <a:buChar char="■"/>
              <a:defRPr>
                <a:solidFill>
                  <a:srgbClr val="666666"/>
                </a:solidFill>
              </a:defRPr>
            </a:lvl3pPr>
            <a:lvl4pPr indent="-317500" lvl="3" marL="1828800">
              <a:spcBef>
                <a:spcPts val="0"/>
              </a:spcBef>
              <a:spcAft>
                <a:spcPts val="0"/>
              </a:spcAft>
              <a:buClr>
                <a:srgbClr val="666666"/>
              </a:buClr>
              <a:buSzPts val="1400"/>
              <a:buChar char="●"/>
              <a:defRPr>
                <a:solidFill>
                  <a:srgbClr val="666666"/>
                </a:solidFill>
              </a:defRPr>
            </a:lvl4pPr>
            <a:lvl5pPr indent="-317500" lvl="4" marL="2286000">
              <a:spcBef>
                <a:spcPts val="1600"/>
              </a:spcBef>
              <a:spcAft>
                <a:spcPts val="0"/>
              </a:spcAft>
              <a:buClr>
                <a:srgbClr val="666666"/>
              </a:buClr>
              <a:buSzPts val="1400"/>
              <a:buChar char="○"/>
              <a:defRPr>
                <a:solidFill>
                  <a:srgbClr val="666666"/>
                </a:solidFill>
              </a:defRPr>
            </a:lvl5pPr>
            <a:lvl6pPr indent="-317500" lvl="5" marL="2743200">
              <a:spcBef>
                <a:spcPts val="1600"/>
              </a:spcBef>
              <a:spcAft>
                <a:spcPts val="0"/>
              </a:spcAft>
              <a:buClr>
                <a:srgbClr val="666666"/>
              </a:buClr>
              <a:buSzPts val="1400"/>
              <a:buChar char="■"/>
              <a:defRPr>
                <a:solidFill>
                  <a:srgbClr val="666666"/>
                </a:solidFill>
              </a:defRPr>
            </a:lvl6pPr>
            <a:lvl7pPr indent="-317500" lvl="6" marL="3200400">
              <a:spcBef>
                <a:spcPts val="1600"/>
              </a:spcBef>
              <a:spcAft>
                <a:spcPts val="0"/>
              </a:spcAft>
              <a:buClr>
                <a:srgbClr val="666666"/>
              </a:buClr>
              <a:buSzPts val="1400"/>
              <a:buChar char="●"/>
              <a:defRPr>
                <a:solidFill>
                  <a:srgbClr val="666666"/>
                </a:solidFill>
              </a:defRPr>
            </a:lvl7pPr>
            <a:lvl8pPr indent="-317500" lvl="7" marL="3657600">
              <a:spcBef>
                <a:spcPts val="1600"/>
              </a:spcBef>
              <a:spcAft>
                <a:spcPts val="0"/>
              </a:spcAft>
              <a:buClr>
                <a:srgbClr val="666666"/>
              </a:buClr>
              <a:buSzPts val="1400"/>
              <a:buChar char="○"/>
              <a:defRPr>
                <a:solidFill>
                  <a:srgbClr val="666666"/>
                </a:solidFill>
              </a:defRPr>
            </a:lvl8pPr>
            <a:lvl9pPr indent="-317500" lvl="8" marL="4114800">
              <a:spcBef>
                <a:spcPts val="1600"/>
              </a:spcBef>
              <a:spcAft>
                <a:spcPts val="1600"/>
              </a:spcAft>
              <a:buClr>
                <a:srgbClr val="666666"/>
              </a:buClr>
              <a:buSzPts val="1400"/>
              <a:buChar char="■"/>
              <a:defRPr>
                <a:solidFill>
                  <a:srgbClr val="666666"/>
                </a:solidFill>
              </a:defRPr>
            </a:lvl9pPr>
          </a:lstStyle>
          <a:p/>
        </p:txBody>
      </p:sp>
      <p:sp>
        <p:nvSpPr>
          <p:cNvPr id="19" name="Google Shape;19;p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2" name="Google Shape;22;p5"/>
          <p:cNvSpPr txBox="1"/>
          <p:nvPr>
            <p:ph idx="1" type="body"/>
          </p:nvPr>
        </p:nvSpPr>
        <p:spPr>
          <a:xfrm>
            <a:off x="311700" y="1536633"/>
            <a:ext cx="3999900" cy="4555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536633"/>
            <a:ext cx="3999900" cy="4555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7" name="Google Shape;27;p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740800"/>
            <a:ext cx="2808000" cy="1007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852800"/>
            <a:ext cx="2808000" cy="42393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600200"/>
            <a:ext cx="6367800" cy="54543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67"/>
            <a:ext cx="4572000" cy="6858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644233"/>
            <a:ext cx="4045200" cy="19764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3737433"/>
            <a:ext cx="4045200" cy="16467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965433"/>
            <a:ext cx="3837000" cy="4926900"/>
          </a:xfrm>
          <a:prstGeom prst="rect">
            <a:avLst/>
          </a:prstGeom>
        </p:spPr>
        <p:txBody>
          <a:bodyPr anchorCtr="0" anchor="ctr" bIns="91425" lIns="91425" spcFirstLastPara="1" rIns="91425" wrap="square" tIns="91425">
            <a:noAutofit/>
          </a:bodyPr>
          <a:lstStyle>
            <a:lvl1pPr indent="-381000" lvl="0" marL="457200">
              <a:spcBef>
                <a:spcPts val="0"/>
              </a:spcBef>
              <a:spcAft>
                <a:spcPts val="0"/>
              </a:spcAft>
              <a:buSzPts val="2400"/>
              <a:buChar char="●"/>
              <a:defRPr/>
            </a:lvl1pPr>
            <a:lvl2pPr indent="-368300" lvl="1" marL="914400">
              <a:spcBef>
                <a:spcPts val="0"/>
              </a:spcBef>
              <a:spcAft>
                <a:spcPts val="0"/>
              </a:spcAft>
              <a:buSzPts val="2200"/>
              <a:buChar char="○"/>
              <a:defRPr/>
            </a:lvl2pPr>
            <a:lvl3pPr indent="-342900" lvl="2" marL="1371600">
              <a:spcBef>
                <a:spcPts val="0"/>
              </a:spcBef>
              <a:spcAft>
                <a:spcPts val="0"/>
              </a:spcAft>
              <a:buSzPts val="1800"/>
              <a:buChar char="■"/>
              <a:defRPr/>
            </a:lvl3pPr>
            <a:lvl4pPr indent="-317500" lvl="3" marL="1828800">
              <a:spcBef>
                <a:spcPts val="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5640767"/>
            <a:ext cx="5998800" cy="8067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2400"/>
              <a:buNone/>
              <a:defRPr/>
            </a:lvl1pPr>
          </a:lstStyle>
          <a:p/>
        </p:txBody>
      </p:sp>
      <p:sp>
        <p:nvSpPr>
          <p:cNvPr id="43" name="Google Shape;43;p1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474833"/>
            <a:ext cx="8520600" cy="26181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4202967"/>
            <a:ext cx="8520600" cy="1734300"/>
          </a:xfrm>
          <a:prstGeom prst="rect">
            <a:avLst/>
          </a:prstGeom>
        </p:spPr>
        <p:txBody>
          <a:bodyPr anchorCtr="0" anchor="t" bIns="91425" lIns="91425" spcFirstLastPara="1" rIns="91425" wrap="square" tIns="91425">
            <a:noAutofit/>
          </a:bodyPr>
          <a:lstStyle>
            <a:lvl1pPr indent="-381000" lvl="0" marL="457200" algn="ctr">
              <a:spcBef>
                <a:spcPts val="0"/>
              </a:spcBef>
              <a:spcAft>
                <a:spcPts val="0"/>
              </a:spcAft>
              <a:buSzPts val="2400"/>
              <a:buChar char="●"/>
              <a:defRPr/>
            </a:lvl1pPr>
            <a:lvl2pPr indent="-368300" lvl="1" marL="914400" algn="ctr">
              <a:spcBef>
                <a:spcPts val="0"/>
              </a:spcBef>
              <a:spcAft>
                <a:spcPts val="0"/>
              </a:spcAft>
              <a:buSzPts val="2200"/>
              <a:buChar char="○"/>
              <a:defRPr/>
            </a:lvl2pPr>
            <a:lvl3pPr indent="-342900" lvl="2" marL="1371600" algn="ctr">
              <a:spcBef>
                <a:spcPts val="0"/>
              </a:spcBef>
              <a:spcAft>
                <a:spcPts val="0"/>
              </a:spcAft>
              <a:buSzPts val="1800"/>
              <a:buChar char="■"/>
              <a:defRPr/>
            </a:lvl3pPr>
            <a:lvl4pPr indent="-317500" lvl="3" marL="1828800" algn="ctr">
              <a:spcBef>
                <a:spcPts val="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186967"/>
            <a:ext cx="8520600" cy="7635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200"/>
              <a:buNone/>
              <a:defRPr sz="3200">
                <a:solidFill>
                  <a:schemeClr val="dk1"/>
                </a:solidFill>
              </a:defRPr>
            </a:lvl1pPr>
            <a:lvl2pPr lvl="1">
              <a:spcBef>
                <a:spcPts val="0"/>
              </a:spcBef>
              <a:spcAft>
                <a:spcPts val="0"/>
              </a:spcAft>
              <a:buClr>
                <a:schemeClr val="dk1"/>
              </a:buClr>
              <a:buSzPts val="3200"/>
              <a:buNone/>
              <a:defRPr sz="3200">
                <a:solidFill>
                  <a:schemeClr val="dk1"/>
                </a:solidFill>
              </a:defRPr>
            </a:lvl2pPr>
            <a:lvl3pPr lvl="2">
              <a:spcBef>
                <a:spcPts val="0"/>
              </a:spcBef>
              <a:spcAft>
                <a:spcPts val="0"/>
              </a:spcAft>
              <a:buClr>
                <a:schemeClr val="dk1"/>
              </a:buClr>
              <a:buSzPts val="3200"/>
              <a:buNone/>
              <a:defRPr sz="3200">
                <a:solidFill>
                  <a:schemeClr val="dk1"/>
                </a:solidFill>
              </a:defRPr>
            </a:lvl3pPr>
            <a:lvl4pPr lvl="3">
              <a:spcBef>
                <a:spcPts val="0"/>
              </a:spcBef>
              <a:spcAft>
                <a:spcPts val="0"/>
              </a:spcAft>
              <a:buClr>
                <a:schemeClr val="dk1"/>
              </a:buClr>
              <a:buSzPts val="3200"/>
              <a:buNone/>
              <a:defRPr sz="3200">
                <a:solidFill>
                  <a:schemeClr val="dk1"/>
                </a:solidFill>
              </a:defRPr>
            </a:lvl4pPr>
            <a:lvl5pPr lvl="4">
              <a:spcBef>
                <a:spcPts val="0"/>
              </a:spcBef>
              <a:spcAft>
                <a:spcPts val="0"/>
              </a:spcAft>
              <a:buClr>
                <a:schemeClr val="dk1"/>
              </a:buClr>
              <a:buSzPts val="3200"/>
              <a:buNone/>
              <a:defRPr sz="3200">
                <a:solidFill>
                  <a:schemeClr val="dk1"/>
                </a:solidFill>
              </a:defRPr>
            </a:lvl5pPr>
            <a:lvl6pPr lvl="5">
              <a:spcBef>
                <a:spcPts val="0"/>
              </a:spcBef>
              <a:spcAft>
                <a:spcPts val="0"/>
              </a:spcAft>
              <a:buClr>
                <a:schemeClr val="dk1"/>
              </a:buClr>
              <a:buSzPts val="3200"/>
              <a:buNone/>
              <a:defRPr sz="3200">
                <a:solidFill>
                  <a:schemeClr val="dk1"/>
                </a:solidFill>
              </a:defRPr>
            </a:lvl6pPr>
            <a:lvl7pPr lvl="6">
              <a:spcBef>
                <a:spcPts val="0"/>
              </a:spcBef>
              <a:spcAft>
                <a:spcPts val="0"/>
              </a:spcAft>
              <a:buClr>
                <a:schemeClr val="dk1"/>
              </a:buClr>
              <a:buSzPts val="3200"/>
              <a:buNone/>
              <a:defRPr sz="3200">
                <a:solidFill>
                  <a:schemeClr val="dk1"/>
                </a:solidFill>
              </a:defRPr>
            </a:lvl7pPr>
            <a:lvl8pPr lvl="7">
              <a:spcBef>
                <a:spcPts val="0"/>
              </a:spcBef>
              <a:spcAft>
                <a:spcPts val="0"/>
              </a:spcAft>
              <a:buClr>
                <a:schemeClr val="dk1"/>
              </a:buClr>
              <a:buSzPts val="3200"/>
              <a:buNone/>
              <a:defRPr sz="3200">
                <a:solidFill>
                  <a:schemeClr val="dk1"/>
                </a:solidFill>
              </a:defRPr>
            </a:lvl8pPr>
            <a:lvl9pPr lvl="8">
              <a:spcBef>
                <a:spcPts val="0"/>
              </a:spcBef>
              <a:spcAft>
                <a:spcPts val="0"/>
              </a:spcAft>
              <a:buClr>
                <a:schemeClr val="dk1"/>
              </a:buClr>
              <a:buSzPts val="3200"/>
              <a:buNone/>
              <a:defRPr sz="3200">
                <a:solidFill>
                  <a:schemeClr val="dk1"/>
                </a:solidFill>
              </a:defRPr>
            </a:lvl9pPr>
          </a:lstStyle>
          <a:p/>
        </p:txBody>
      </p:sp>
      <p:sp>
        <p:nvSpPr>
          <p:cNvPr id="7" name="Google Shape;7;p1"/>
          <p:cNvSpPr txBox="1"/>
          <p:nvPr>
            <p:ph idx="1" type="body"/>
          </p:nvPr>
        </p:nvSpPr>
        <p:spPr>
          <a:xfrm>
            <a:off x="311700" y="1088500"/>
            <a:ext cx="8520600" cy="5003400"/>
          </a:xfrm>
          <a:prstGeom prst="rect">
            <a:avLst/>
          </a:prstGeom>
          <a:noFill/>
          <a:ln>
            <a:noFill/>
          </a:ln>
        </p:spPr>
        <p:txBody>
          <a:bodyPr anchorCtr="0" anchor="t" bIns="91425" lIns="91425" spcFirstLastPara="1" rIns="91425" wrap="square" tIns="91425">
            <a:noAutofit/>
          </a:bodyPr>
          <a:lstStyle>
            <a:lvl1pPr indent="-381000" lvl="0" marL="457200">
              <a:lnSpc>
                <a:spcPct val="115000"/>
              </a:lnSpc>
              <a:spcBef>
                <a:spcPts val="0"/>
              </a:spcBef>
              <a:spcAft>
                <a:spcPts val="0"/>
              </a:spcAft>
              <a:buClr>
                <a:srgbClr val="666666"/>
              </a:buClr>
              <a:buSzPts val="2400"/>
              <a:buChar char="●"/>
              <a:defRPr sz="2400">
                <a:solidFill>
                  <a:srgbClr val="666666"/>
                </a:solidFill>
              </a:defRPr>
            </a:lvl1pPr>
            <a:lvl2pPr indent="-368300" lvl="1" marL="914400">
              <a:lnSpc>
                <a:spcPct val="115000"/>
              </a:lnSpc>
              <a:spcBef>
                <a:spcPts val="0"/>
              </a:spcBef>
              <a:spcAft>
                <a:spcPts val="0"/>
              </a:spcAft>
              <a:buClr>
                <a:srgbClr val="666666"/>
              </a:buClr>
              <a:buSzPts val="2200"/>
              <a:buChar char="○"/>
              <a:defRPr sz="2200">
                <a:solidFill>
                  <a:srgbClr val="666666"/>
                </a:solidFill>
              </a:defRPr>
            </a:lvl2pPr>
            <a:lvl3pPr indent="-342900" lvl="2" marL="1371600">
              <a:lnSpc>
                <a:spcPct val="115000"/>
              </a:lnSpc>
              <a:spcBef>
                <a:spcPts val="0"/>
              </a:spcBef>
              <a:spcAft>
                <a:spcPts val="0"/>
              </a:spcAft>
              <a:buClr>
                <a:srgbClr val="666666"/>
              </a:buClr>
              <a:buSzPts val="1800"/>
              <a:buChar char="■"/>
              <a:defRPr sz="1800">
                <a:solidFill>
                  <a:srgbClr val="666666"/>
                </a:solidFill>
              </a:defRPr>
            </a:lvl3pPr>
            <a:lvl4pPr indent="-317500" lvl="3" marL="1828800">
              <a:lnSpc>
                <a:spcPct val="115000"/>
              </a:lnSpc>
              <a:spcBef>
                <a:spcPts val="0"/>
              </a:spcBef>
              <a:spcAft>
                <a:spcPts val="0"/>
              </a:spcAft>
              <a:buClr>
                <a:srgbClr val="666666"/>
              </a:buClr>
              <a:buSzPts val="1400"/>
              <a:buChar char="●"/>
              <a:defRPr>
                <a:solidFill>
                  <a:srgbClr val="666666"/>
                </a:solidFill>
              </a:defRPr>
            </a:lvl4pPr>
            <a:lvl5pPr indent="-317500" lvl="4" marL="2286000">
              <a:lnSpc>
                <a:spcPct val="115000"/>
              </a:lnSpc>
              <a:spcBef>
                <a:spcPts val="1600"/>
              </a:spcBef>
              <a:spcAft>
                <a:spcPts val="0"/>
              </a:spcAft>
              <a:buClr>
                <a:srgbClr val="666666"/>
              </a:buClr>
              <a:buSzPts val="1400"/>
              <a:buChar char="○"/>
              <a:defRPr>
                <a:solidFill>
                  <a:srgbClr val="666666"/>
                </a:solidFill>
              </a:defRPr>
            </a:lvl5pPr>
            <a:lvl6pPr indent="-317500" lvl="5" marL="2743200">
              <a:lnSpc>
                <a:spcPct val="115000"/>
              </a:lnSpc>
              <a:spcBef>
                <a:spcPts val="1600"/>
              </a:spcBef>
              <a:spcAft>
                <a:spcPts val="0"/>
              </a:spcAft>
              <a:buClr>
                <a:srgbClr val="666666"/>
              </a:buClr>
              <a:buSzPts val="1400"/>
              <a:buChar char="■"/>
              <a:defRPr>
                <a:solidFill>
                  <a:srgbClr val="666666"/>
                </a:solidFill>
              </a:defRPr>
            </a:lvl6pPr>
            <a:lvl7pPr indent="-317500" lvl="6" marL="3200400">
              <a:lnSpc>
                <a:spcPct val="115000"/>
              </a:lnSpc>
              <a:spcBef>
                <a:spcPts val="1600"/>
              </a:spcBef>
              <a:spcAft>
                <a:spcPts val="0"/>
              </a:spcAft>
              <a:buClr>
                <a:srgbClr val="666666"/>
              </a:buClr>
              <a:buSzPts val="1400"/>
              <a:buChar char="●"/>
              <a:defRPr>
                <a:solidFill>
                  <a:srgbClr val="666666"/>
                </a:solidFill>
              </a:defRPr>
            </a:lvl7pPr>
            <a:lvl8pPr indent="-317500" lvl="7" marL="3657600">
              <a:lnSpc>
                <a:spcPct val="115000"/>
              </a:lnSpc>
              <a:spcBef>
                <a:spcPts val="1600"/>
              </a:spcBef>
              <a:spcAft>
                <a:spcPts val="0"/>
              </a:spcAft>
              <a:buClr>
                <a:srgbClr val="666666"/>
              </a:buClr>
              <a:buSzPts val="1400"/>
              <a:buChar char="○"/>
              <a:defRPr>
                <a:solidFill>
                  <a:srgbClr val="666666"/>
                </a:solidFill>
              </a:defRPr>
            </a:lvl8pPr>
            <a:lvl9pPr indent="-317500" lvl="8" marL="4114800">
              <a:lnSpc>
                <a:spcPct val="115000"/>
              </a:lnSpc>
              <a:spcBef>
                <a:spcPts val="1600"/>
              </a:spcBef>
              <a:spcAft>
                <a:spcPts val="1600"/>
              </a:spcAft>
              <a:buClr>
                <a:srgbClr val="666666"/>
              </a:buClr>
              <a:buSzPts val="1400"/>
              <a:buChar char="■"/>
              <a:defRPr>
                <a:solidFill>
                  <a:srgbClr val="666666"/>
                </a:solidFill>
              </a:defRPr>
            </a:lvl9pPr>
          </a:lstStyle>
          <a:p/>
        </p:txBody>
      </p:sp>
      <p:sp>
        <p:nvSpPr>
          <p:cNvPr id="8" name="Google Shape;8;p1"/>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3.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0" y="777075"/>
            <a:ext cx="8520600" cy="2065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GB" sz="4200"/>
              <a:t>Phân tích và thiết kế Hệ thống</a:t>
            </a:r>
            <a:endParaRPr sz="4200"/>
          </a:p>
        </p:txBody>
      </p:sp>
      <p:sp>
        <p:nvSpPr>
          <p:cNvPr id="55" name="Google Shape;55;p13"/>
          <p:cNvSpPr txBox="1"/>
          <p:nvPr>
            <p:ph idx="1" type="subTitle"/>
          </p:nvPr>
        </p:nvSpPr>
        <p:spPr>
          <a:xfrm>
            <a:off x="311700" y="3778827"/>
            <a:ext cx="8520600" cy="8124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GB" sz="2600"/>
              <a:t>Giảng viên: Nguyễn Bá Ngọc</a:t>
            </a:r>
            <a:endParaRPr sz="2600"/>
          </a:p>
        </p:txBody>
      </p:sp>
      <p:sp>
        <p:nvSpPr>
          <p:cNvPr id="56" name="Google Shape;56;p13"/>
          <p:cNvSpPr txBox="1"/>
          <p:nvPr/>
        </p:nvSpPr>
        <p:spPr>
          <a:xfrm>
            <a:off x="125" y="6116250"/>
            <a:ext cx="9144000" cy="609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2600"/>
              <a:t>Hà Nội-2025</a:t>
            </a:r>
            <a:endParaRPr sz="2600"/>
          </a:p>
        </p:txBody>
      </p:sp>
      <p:sp>
        <p:nvSpPr>
          <p:cNvPr id="57" name="Google Shape;57;p13"/>
          <p:cNvSpPr txBox="1"/>
          <p:nvPr/>
        </p:nvSpPr>
        <p:spPr>
          <a:xfrm>
            <a:off x="491750" y="4667625"/>
            <a:ext cx="3857100" cy="100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36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4"/>
          <p:cNvSpPr txBox="1"/>
          <p:nvPr>
            <p:ph type="title"/>
          </p:nvPr>
        </p:nvSpPr>
        <p:spPr>
          <a:xfrm>
            <a:off x="311700" y="2867800"/>
            <a:ext cx="8520600" cy="1122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GB"/>
              <a:t>Mẫu thiết kế</a:t>
            </a:r>
            <a:endParaRPr/>
          </a:p>
        </p:txBody>
      </p:sp>
      <p:sp>
        <p:nvSpPr>
          <p:cNvPr id="63" name="Google Shape;63;p1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Chuyển ngữ</a:t>
            </a:r>
            <a:endParaRPr/>
          </a:p>
        </p:txBody>
      </p:sp>
      <p:sp>
        <p:nvSpPr>
          <p:cNvPr id="69" name="Google Shape;69;p15"/>
          <p:cNvSpPr txBox="1"/>
          <p:nvPr>
            <p:ph idx="4294967295" type="body"/>
          </p:nvPr>
        </p:nvSpPr>
        <p:spPr>
          <a:xfrm>
            <a:off x="311700" y="950475"/>
            <a:ext cx="8520600" cy="5247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i="1" lang="en-GB"/>
              <a:t>Pattern =&gt; Mẫu hay Họa tiết? hay …</a:t>
            </a:r>
            <a:endParaRPr i="1"/>
          </a:p>
          <a:p>
            <a:pPr indent="0" lvl="0" marL="0" rtl="0" algn="just">
              <a:spcBef>
                <a:spcPts val="0"/>
              </a:spcBef>
              <a:spcAft>
                <a:spcPts val="0"/>
              </a:spcAft>
              <a:buNone/>
            </a:pPr>
            <a:r>
              <a:t/>
            </a:r>
            <a:endParaRPr/>
          </a:p>
        </p:txBody>
      </p:sp>
      <p:sp>
        <p:nvSpPr>
          <p:cNvPr id="70" name="Google Shape;70;p1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pic>
        <p:nvPicPr>
          <p:cNvPr id="71" name="Google Shape;71;p15"/>
          <p:cNvPicPr preferRelativeResize="0"/>
          <p:nvPr/>
        </p:nvPicPr>
        <p:blipFill rotWithShape="1">
          <a:blip r:embed="rId3">
            <a:alphaModFix/>
          </a:blip>
          <a:srcRect b="1929" l="0" r="0" t="25539"/>
          <a:stretch/>
        </p:blipFill>
        <p:spPr>
          <a:xfrm>
            <a:off x="1666700" y="1572050"/>
            <a:ext cx="5857912" cy="3182726"/>
          </a:xfrm>
          <a:prstGeom prst="rect">
            <a:avLst/>
          </a:prstGeom>
          <a:noFill/>
          <a:ln>
            <a:noFill/>
          </a:ln>
        </p:spPr>
      </p:pic>
      <p:sp>
        <p:nvSpPr>
          <p:cNvPr id="72" name="Google Shape;72;p15"/>
          <p:cNvSpPr txBox="1"/>
          <p:nvPr/>
        </p:nvSpPr>
        <p:spPr>
          <a:xfrm>
            <a:off x="5251700" y="4678575"/>
            <a:ext cx="2399400" cy="5247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GB" sz="2400">
                <a:solidFill>
                  <a:srgbClr val="666666"/>
                </a:solidFill>
              </a:rPr>
              <a:t>[ảnh sưu tầm]</a:t>
            </a:r>
            <a:endParaRPr sz="2400">
              <a:solidFill>
                <a:srgbClr val="666666"/>
              </a:solidFill>
            </a:endParaRPr>
          </a:p>
        </p:txBody>
      </p:sp>
      <p:sp>
        <p:nvSpPr>
          <p:cNvPr id="73" name="Google Shape;73;p15"/>
          <p:cNvSpPr txBox="1"/>
          <p:nvPr/>
        </p:nvSpPr>
        <p:spPr>
          <a:xfrm>
            <a:off x="331800" y="5050875"/>
            <a:ext cx="8520600" cy="16155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n-GB" sz="2200">
                <a:solidFill>
                  <a:srgbClr val="666666"/>
                </a:solidFill>
              </a:rPr>
              <a:t>Hoa văn, họa tiết trong hội họa được sử dụng để chỉ những thành phần được kết hợp với nhau theo quy luật để tạo thành bức tranh.</a:t>
            </a:r>
            <a:endParaRPr sz="2200">
              <a:solidFill>
                <a:srgbClr val="666666"/>
              </a:solidFill>
            </a:endParaRPr>
          </a:p>
          <a:p>
            <a:pPr indent="0" lvl="0" marL="0" rtl="0" algn="just">
              <a:spcBef>
                <a:spcPts val="0"/>
              </a:spcBef>
              <a:spcAft>
                <a:spcPts val="0"/>
              </a:spcAft>
              <a:buNone/>
            </a:pPr>
            <a:r>
              <a:rPr i="1" lang="en-GB" sz="2200">
                <a:solidFill>
                  <a:srgbClr val="666666"/>
                </a:solidFill>
              </a:rPr>
              <a:t>Tuy nhiên trong phân tích và thiết kế hệ thống từ </a:t>
            </a:r>
            <a:r>
              <a:rPr b="1" i="1" lang="en-GB" sz="2200">
                <a:solidFill>
                  <a:srgbClr val="666666"/>
                </a:solidFill>
              </a:rPr>
              <a:t>mẫu</a:t>
            </a:r>
            <a:r>
              <a:rPr i="1" lang="en-GB" sz="2200">
                <a:solidFill>
                  <a:srgbClr val="666666"/>
                </a:solidFill>
              </a:rPr>
              <a:t> được sử dụng phổ biến hơn.</a:t>
            </a:r>
            <a:r>
              <a:rPr lang="en-GB" sz="2200">
                <a:solidFill>
                  <a:srgbClr val="666666"/>
                </a:solidFill>
              </a:rPr>
              <a:t> </a:t>
            </a:r>
            <a:endParaRPr sz="2200">
              <a:solidFill>
                <a:srgbClr val="666666"/>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6"/>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Khái niệm</a:t>
            </a:r>
            <a:endParaRPr/>
          </a:p>
        </p:txBody>
      </p:sp>
      <p:sp>
        <p:nvSpPr>
          <p:cNvPr id="79" name="Google Shape;79;p16"/>
          <p:cNvSpPr txBox="1"/>
          <p:nvPr>
            <p:ph idx="1" type="body"/>
          </p:nvPr>
        </p:nvSpPr>
        <p:spPr>
          <a:xfrm>
            <a:off x="311700" y="950475"/>
            <a:ext cx="8520600" cy="54183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i="1" lang="en-GB"/>
              <a:t>Mẫu thiết kế là giải pháp thiết kế khái quát </a:t>
            </a:r>
            <a:r>
              <a:rPr i="1" lang="en-GB"/>
              <a:t>cho vấn đề thiết kế </a:t>
            </a:r>
            <a:r>
              <a:rPr i="1" lang="en-GB"/>
              <a:t>được chấp nhận rộng rãi</a:t>
            </a:r>
            <a:r>
              <a:rPr i="1" lang="en-GB"/>
              <a:t>. </a:t>
            </a:r>
            <a:r>
              <a:rPr i="1" lang="en-GB"/>
              <a:t>Mỗi mẫu thiết kế cung cấp một giải pháp khái quát cho một vấn đề thiết kế phổ biến. Khái niệm mẫu hàm chứa nguyên lý tương tự, có thể giải quyết các vấn đề tương tự theo cách tương tự.</a:t>
            </a:r>
            <a:endParaRPr i="1"/>
          </a:p>
        </p:txBody>
      </p:sp>
      <p:sp>
        <p:nvSpPr>
          <p:cNvPr id="80" name="Google Shape;80;p1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7"/>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a:t>
            </a:r>
            <a:r>
              <a:rPr lang="en-GB"/>
              <a:t>hách thức cơ bản trong phát triển</a:t>
            </a:r>
            <a:endParaRPr/>
          </a:p>
        </p:txBody>
      </p:sp>
      <p:sp>
        <p:nvSpPr>
          <p:cNvPr id="86" name="Google Shape;86;p1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87" name="Google Shape;87;p17"/>
          <p:cNvSpPr txBox="1"/>
          <p:nvPr/>
        </p:nvSpPr>
        <p:spPr>
          <a:xfrm>
            <a:off x="553650" y="2357450"/>
            <a:ext cx="8278800" cy="1366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800">
                <a:solidFill>
                  <a:srgbClr val="666666"/>
                </a:solidFill>
              </a:rPr>
              <a:t>Các thay đổi - Changes</a:t>
            </a:r>
            <a:endParaRPr b="1" sz="2800">
              <a:solidFill>
                <a:srgbClr val="666666"/>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8"/>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Các thành phần của mẫu thiết kế</a:t>
            </a:r>
            <a:endParaRPr/>
          </a:p>
        </p:txBody>
      </p:sp>
      <p:sp>
        <p:nvSpPr>
          <p:cNvPr id="93" name="Google Shape;93;p18"/>
          <p:cNvSpPr txBox="1"/>
          <p:nvPr>
            <p:ph idx="1" type="body"/>
          </p:nvPr>
        </p:nvSpPr>
        <p:spPr>
          <a:xfrm>
            <a:off x="311700" y="950475"/>
            <a:ext cx="8520600" cy="54183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b="1" lang="en-GB"/>
              <a:t>Tên</a:t>
            </a:r>
            <a:r>
              <a:rPr lang="en-GB"/>
              <a:t> - Ngắn gọn, gợi nghĩa, làm giàu bộ từ vựng.</a:t>
            </a:r>
            <a:endParaRPr/>
          </a:p>
          <a:p>
            <a:pPr indent="-381000" lvl="0" marL="457200" rtl="0" algn="l">
              <a:spcBef>
                <a:spcPts val="0"/>
              </a:spcBef>
              <a:spcAft>
                <a:spcPts val="0"/>
              </a:spcAft>
              <a:buSzPts val="2400"/>
              <a:buChar char="●"/>
            </a:pPr>
            <a:r>
              <a:rPr b="1" lang="en-GB"/>
              <a:t>Vấn đề</a:t>
            </a:r>
            <a:r>
              <a:rPr lang="en-GB"/>
              <a:t> - Phát biểu vấn đề </a:t>
            </a:r>
            <a:r>
              <a:rPr lang="en-GB"/>
              <a:t>thiết kế </a:t>
            </a:r>
            <a:r>
              <a:rPr lang="en-GB"/>
              <a:t>được giải quyết.</a:t>
            </a:r>
            <a:endParaRPr/>
          </a:p>
          <a:p>
            <a:pPr indent="-381000" lvl="0" marL="457200" rtl="0" algn="l">
              <a:spcBef>
                <a:spcPts val="0"/>
              </a:spcBef>
              <a:spcAft>
                <a:spcPts val="0"/>
              </a:spcAft>
              <a:buSzPts val="2400"/>
              <a:buChar char="●"/>
            </a:pPr>
            <a:r>
              <a:rPr b="1" lang="en-GB"/>
              <a:t>Giải pháp</a:t>
            </a:r>
            <a:r>
              <a:rPr lang="en-GB"/>
              <a:t> - Các mô hình cấu trúc và hành vi.</a:t>
            </a:r>
            <a:endParaRPr/>
          </a:p>
          <a:p>
            <a:pPr indent="-381000" lvl="0" marL="457200" rtl="0" algn="l">
              <a:spcBef>
                <a:spcPts val="0"/>
              </a:spcBef>
              <a:spcAft>
                <a:spcPts val="0"/>
              </a:spcAft>
              <a:buSzPts val="2400"/>
              <a:buChar char="●"/>
            </a:pPr>
            <a:r>
              <a:rPr b="1" lang="en-GB"/>
              <a:t>Hệ quả </a:t>
            </a:r>
            <a:r>
              <a:rPr lang="en-GB"/>
              <a:t>- Ưu nhược điểm khi áp dụng mẫu thiết kế.</a:t>
            </a:r>
            <a:endParaRPr/>
          </a:p>
        </p:txBody>
      </p:sp>
      <p:sp>
        <p:nvSpPr>
          <p:cNvPr id="94" name="Google Shape;94;p1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9"/>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Phân loại mẫu thiết kế</a:t>
            </a:r>
            <a:endParaRPr/>
          </a:p>
        </p:txBody>
      </p:sp>
      <p:sp>
        <p:nvSpPr>
          <p:cNvPr id="100" name="Google Shape;100;p19"/>
          <p:cNvSpPr txBox="1"/>
          <p:nvPr>
            <p:ph idx="1" type="body"/>
          </p:nvPr>
        </p:nvSpPr>
        <p:spPr>
          <a:xfrm>
            <a:off x="311700" y="950475"/>
            <a:ext cx="8520600" cy="5418300"/>
          </a:xfrm>
          <a:prstGeom prst="rect">
            <a:avLst/>
          </a:prstGeom>
        </p:spPr>
        <p:txBody>
          <a:bodyPr anchorCtr="0" anchor="t" bIns="91425" lIns="91425" spcFirstLastPara="1" rIns="91425" wrap="square" tIns="91425">
            <a:noAutofit/>
          </a:bodyPr>
          <a:lstStyle/>
          <a:p>
            <a:pPr indent="-381000" lvl="0" marL="457200" rtl="0" algn="just">
              <a:spcBef>
                <a:spcPts val="0"/>
              </a:spcBef>
              <a:spcAft>
                <a:spcPts val="0"/>
              </a:spcAft>
              <a:buSzPts val="2400"/>
              <a:buChar char="●"/>
            </a:pPr>
            <a:r>
              <a:rPr b="1" lang="en-GB"/>
              <a:t>Mẫu tạo (Creational patterns) − </a:t>
            </a:r>
            <a:r>
              <a:rPr lang="en-GB"/>
              <a:t>Giải quyết vấn đề tạo đối tượng</a:t>
            </a:r>
            <a:r>
              <a:rPr b="1" lang="en-GB"/>
              <a:t>.</a:t>
            </a:r>
            <a:endParaRPr/>
          </a:p>
          <a:p>
            <a:pPr indent="-381000" lvl="0" marL="457200" rtl="0" algn="just">
              <a:spcBef>
                <a:spcPts val="0"/>
              </a:spcBef>
              <a:spcAft>
                <a:spcPts val="0"/>
              </a:spcAft>
              <a:buSzPts val="2400"/>
              <a:buChar char="●"/>
            </a:pPr>
            <a:r>
              <a:rPr b="1" lang="en-GB"/>
              <a:t>Mẫu kết cấu (Structural patterns) −</a:t>
            </a:r>
            <a:r>
              <a:rPr lang="en-GB"/>
              <a:t> Giải quyết vấn đề kết hợp đối tượng để tạo cấu trúc lớn hơn.</a:t>
            </a:r>
            <a:endParaRPr/>
          </a:p>
          <a:p>
            <a:pPr indent="-381000" lvl="0" marL="457200" rtl="0" algn="just">
              <a:spcBef>
                <a:spcPts val="0"/>
              </a:spcBef>
              <a:spcAft>
                <a:spcPts val="0"/>
              </a:spcAft>
              <a:buSzPts val="2400"/>
              <a:buChar char="●"/>
            </a:pPr>
            <a:r>
              <a:rPr b="1" lang="en-GB"/>
              <a:t>Mẫu </a:t>
            </a:r>
            <a:r>
              <a:rPr b="1" lang="en-GB"/>
              <a:t>hành vi</a:t>
            </a:r>
            <a:r>
              <a:rPr b="1" lang="en-GB"/>
              <a:t> (Behavioral patterns) −</a:t>
            </a:r>
            <a:r>
              <a:rPr lang="en-GB"/>
              <a:t> Giải quyết vấn đề </a:t>
            </a:r>
            <a:r>
              <a:rPr lang="en-GB"/>
              <a:t>hành vi</a:t>
            </a:r>
            <a:r>
              <a:rPr lang="en-GB"/>
              <a:t> và phân chia trách nhiệm giữa các đối tượng.</a:t>
            </a:r>
            <a:endParaRPr/>
          </a:p>
        </p:txBody>
      </p:sp>
      <p:sp>
        <p:nvSpPr>
          <p:cNvPr id="101" name="Google Shape;101;p1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0"/>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Phân loại mẫu thiết kế</a:t>
            </a:r>
            <a:endParaRPr/>
          </a:p>
        </p:txBody>
      </p:sp>
      <p:sp>
        <p:nvSpPr>
          <p:cNvPr id="107" name="Google Shape;107;p2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08" name="Google Shape;108;p20"/>
          <p:cNvSpPr/>
          <p:nvPr/>
        </p:nvSpPr>
        <p:spPr>
          <a:xfrm>
            <a:off x="3871050" y="854375"/>
            <a:ext cx="1483800" cy="4812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t>Mẫu thiết kế</a:t>
            </a:r>
            <a:endParaRPr sz="1600"/>
          </a:p>
        </p:txBody>
      </p:sp>
      <p:sp>
        <p:nvSpPr>
          <p:cNvPr id="109" name="Google Shape;109;p20"/>
          <p:cNvSpPr/>
          <p:nvPr/>
        </p:nvSpPr>
        <p:spPr>
          <a:xfrm>
            <a:off x="1813650" y="1921175"/>
            <a:ext cx="1483800" cy="4812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t>Mẫu t</a:t>
            </a:r>
            <a:r>
              <a:rPr lang="en-GB" sz="1600"/>
              <a:t>ạo</a:t>
            </a:r>
            <a:endParaRPr sz="1600"/>
          </a:p>
        </p:txBody>
      </p:sp>
      <p:sp>
        <p:nvSpPr>
          <p:cNvPr id="110" name="Google Shape;110;p20"/>
          <p:cNvSpPr/>
          <p:nvPr/>
        </p:nvSpPr>
        <p:spPr>
          <a:xfrm>
            <a:off x="3861024" y="1921175"/>
            <a:ext cx="1483800" cy="4812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t>Mẫu </a:t>
            </a:r>
            <a:r>
              <a:rPr lang="en-GB" sz="1600"/>
              <a:t>kết cấu</a:t>
            </a:r>
            <a:endParaRPr sz="1600"/>
          </a:p>
        </p:txBody>
      </p:sp>
      <p:sp>
        <p:nvSpPr>
          <p:cNvPr id="111" name="Google Shape;111;p20"/>
          <p:cNvSpPr/>
          <p:nvPr/>
        </p:nvSpPr>
        <p:spPr>
          <a:xfrm>
            <a:off x="6309900" y="1921175"/>
            <a:ext cx="1559400" cy="4812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t>Mẫu </a:t>
            </a:r>
            <a:r>
              <a:rPr lang="en-GB" sz="1600"/>
              <a:t>hành vi</a:t>
            </a:r>
            <a:endParaRPr sz="1600"/>
          </a:p>
        </p:txBody>
      </p:sp>
      <p:sp>
        <p:nvSpPr>
          <p:cNvPr id="112" name="Google Shape;112;p20"/>
          <p:cNvSpPr/>
          <p:nvPr/>
        </p:nvSpPr>
        <p:spPr>
          <a:xfrm>
            <a:off x="4211975" y="1335625"/>
            <a:ext cx="180600" cy="1704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3" name="Google Shape;113;p20"/>
          <p:cNvSpPr/>
          <p:nvPr/>
        </p:nvSpPr>
        <p:spPr>
          <a:xfrm>
            <a:off x="4516775" y="1335625"/>
            <a:ext cx="180600" cy="1704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4" name="Google Shape;114;p20"/>
          <p:cNvSpPr/>
          <p:nvPr/>
        </p:nvSpPr>
        <p:spPr>
          <a:xfrm>
            <a:off x="5050175" y="1335625"/>
            <a:ext cx="180600" cy="1704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15" name="Google Shape;115;p20"/>
          <p:cNvCxnSpPr>
            <a:stCxn id="109" idx="0"/>
            <a:endCxn id="112" idx="3"/>
          </p:cNvCxnSpPr>
          <p:nvPr/>
        </p:nvCxnSpPr>
        <p:spPr>
          <a:xfrm rot="-5400000">
            <a:off x="3221250" y="840275"/>
            <a:ext cx="415200" cy="1746600"/>
          </a:xfrm>
          <a:prstGeom prst="bentConnector3">
            <a:avLst>
              <a:gd fmla="val 49994" name="adj1"/>
            </a:avLst>
          </a:prstGeom>
          <a:noFill/>
          <a:ln cap="flat" cmpd="sng" w="9525">
            <a:solidFill>
              <a:schemeClr val="dk2"/>
            </a:solidFill>
            <a:prstDash val="solid"/>
            <a:round/>
            <a:headEnd len="med" w="med" type="none"/>
            <a:tailEnd len="med" w="med" type="none"/>
          </a:ln>
        </p:spPr>
      </p:cxnSp>
      <p:cxnSp>
        <p:nvCxnSpPr>
          <p:cNvPr id="116" name="Google Shape;116;p20"/>
          <p:cNvCxnSpPr>
            <a:stCxn id="110" idx="0"/>
            <a:endCxn id="113" idx="3"/>
          </p:cNvCxnSpPr>
          <p:nvPr/>
        </p:nvCxnSpPr>
        <p:spPr>
          <a:xfrm rot="-5400000">
            <a:off x="4397424" y="1711475"/>
            <a:ext cx="415200" cy="4200"/>
          </a:xfrm>
          <a:prstGeom prst="bentConnector3">
            <a:avLst>
              <a:gd fmla="val 49994" name="adj1"/>
            </a:avLst>
          </a:prstGeom>
          <a:noFill/>
          <a:ln cap="flat" cmpd="sng" w="9525">
            <a:solidFill>
              <a:schemeClr val="dk2"/>
            </a:solidFill>
            <a:prstDash val="solid"/>
            <a:round/>
            <a:headEnd len="med" w="med" type="none"/>
            <a:tailEnd len="med" w="med" type="none"/>
          </a:ln>
        </p:spPr>
      </p:cxnSp>
      <p:cxnSp>
        <p:nvCxnSpPr>
          <p:cNvPr id="117" name="Google Shape;117;p20"/>
          <p:cNvCxnSpPr>
            <a:stCxn id="111" idx="0"/>
            <a:endCxn id="114" idx="3"/>
          </p:cNvCxnSpPr>
          <p:nvPr/>
        </p:nvCxnSpPr>
        <p:spPr>
          <a:xfrm flipH="1" rot="5400000">
            <a:off x="5907450" y="739025"/>
            <a:ext cx="415200" cy="1949100"/>
          </a:xfrm>
          <a:prstGeom prst="bentConnector3">
            <a:avLst>
              <a:gd fmla="val 49994" name="adj1"/>
            </a:avLst>
          </a:prstGeom>
          <a:noFill/>
          <a:ln cap="flat" cmpd="sng" w="9525">
            <a:solidFill>
              <a:schemeClr val="dk2"/>
            </a:solidFill>
            <a:prstDash val="solid"/>
            <a:round/>
            <a:headEnd len="med" w="med" type="none"/>
            <a:tailEnd len="med" w="med" type="none"/>
          </a:ln>
        </p:spPr>
      </p:cxnSp>
      <p:sp>
        <p:nvSpPr>
          <p:cNvPr id="118" name="Google Shape;118;p20"/>
          <p:cNvSpPr/>
          <p:nvPr/>
        </p:nvSpPr>
        <p:spPr>
          <a:xfrm>
            <a:off x="289650" y="2835575"/>
            <a:ext cx="1295400" cy="524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t>Nhà máy trừu tượng</a:t>
            </a:r>
            <a:endParaRPr sz="1600"/>
          </a:p>
        </p:txBody>
      </p:sp>
      <p:sp>
        <p:nvSpPr>
          <p:cNvPr id="119" name="Google Shape;119;p20"/>
          <p:cNvSpPr/>
          <p:nvPr/>
        </p:nvSpPr>
        <p:spPr>
          <a:xfrm>
            <a:off x="289650" y="3521375"/>
            <a:ext cx="1295400" cy="4812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t>Thợ xây</a:t>
            </a:r>
            <a:endParaRPr sz="1600"/>
          </a:p>
        </p:txBody>
      </p:sp>
      <p:sp>
        <p:nvSpPr>
          <p:cNvPr id="120" name="Google Shape;120;p20"/>
          <p:cNvSpPr/>
          <p:nvPr/>
        </p:nvSpPr>
        <p:spPr>
          <a:xfrm>
            <a:off x="289650" y="4207175"/>
            <a:ext cx="1295400" cy="524700"/>
          </a:xfrm>
          <a:prstGeom prst="rect">
            <a:avLst/>
          </a:prstGeom>
          <a:noFill/>
          <a:ln cap="flat" cmpd="sng" w="9525">
            <a:solidFill>
              <a:schemeClr val="dk2"/>
            </a:solidFill>
            <a:prstDash val="solid"/>
            <a:round/>
            <a:headEnd len="sm" w="sm" type="none"/>
            <a:tailEnd len="sm" w="sm" type="none"/>
          </a:ln>
        </p:spPr>
        <p:txBody>
          <a:bodyPr anchorCtr="0" anchor="ctr" bIns="91425" lIns="18000" spcFirstLastPara="1" rIns="18000" wrap="square" tIns="91425">
            <a:noAutofit/>
          </a:bodyPr>
          <a:lstStyle/>
          <a:p>
            <a:pPr indent="0" lvl="0" marL="0" rtl="0" algn="ctr">
              <a:spcBef>
                <a:spcPts val="0"/>
              </a:spcBef>
              <a:spcAft>
                <a:spcPts val="0"/>
              </a:spcAft>
              <a:buNone/>
            </a:pPr>
            <a:r>
              <a:rPr lang="en-GB" sz="1600"/>
              <a:t>Phương thức xưởng</a:t>
            </a:r>
            <a:endParaRPr sz="1600"/>
          </a:p>
        </p:txBody>
      </p:sp>
      <p:sp>
        <p:nvSpPr>
          <p:cNvPr id="121" name="Google Shape;121;p20"/>
          <p:cNvSpPr/>
          <p:nvPr/>
        </p:nvSpPr>
        <p:spPr>
          <a:xfrm>
            <a:off x="289650" y="4969175"/>
            <a:ext cx="1295400" cy="524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t>Nguyên mẫu</a:t>
            </a:r>
            <a:endParaRPr sz="1600"/>
          </a:p>
        </p:txBody>
      </p:sp>
      <p:sp>
        <p:nvSpPr>
          <p:cNvPr id="122" name="Google Shape;122;p20"/>
          <p:cNvSpPr/>
          <p:nvPr/>
        </p:nvSpPr>
        <p:spPr>
          <a:xfrm>
            <a:off x="289650" y="5654975"/>
            <a:ext cx="1295400" cy="524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t>Lớp độc bản</a:t>
            </a:r>
            <a:endParaRPr sz="1600"/>
          </a:p>
        </p:txBody>
      </p:sp>
      <p:sp>
        <p:nvSpPr>
          <p:cNvPr id="123" name="Google Shape;123;p20"/>
          <p:cNvSpPr/>
          <p:nvPr/>
        </p:nvSpPr>
        <p:spPr>
          <a:xfrm>
            <a:off x="2651850" y="2835575"/>
            <a:ext cx="1518000" cy="417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t>Lớp chuyển</a:t>
            </a:r>
            <a:endParaRPr sz="1600"/>
          </a:p>
        </p:txBody>
      </p:sp>
      <p:sp>
        <p:nvSpPr>
          <p:cNvPr id="124" name="Google Shape;124;p20"/>
          <p:cNvSpPr/>
          <p:nvPr/>
        </p:nvSpPr>
        <p:spPr>
          <a:xfrm>
            <a:off x="2651850" y="3380733"/>
            <a:ext cx="1518000" cy="3825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t>Bắc cầu</a:t>
            </a:r>
            <a:endParaRPr sz="1600"/>
          </a:p>
        </p:txBody>
      </p:sp>
      <p:sp>
        <p:nvSpPr>
          <p:cNvPr id="125" name="Google Shape;125;p20"/>
          <p:cNvSpPr/>
          <p:nvPr/>
        </p:nvSpPr>
        <p:spPr>
          <a:xfrm>
            <a:off x="2651850" y="3905838"/>
            <a:ext cx="1518000" cy="417000"/>
          </a:xfrm>
          <a:prstGeom prst="rect">
            <a:avLst/>
          </a:prstGeom>
          <a:noFill/>
          <a:ln cap="flat" cmpd="sng" w="9525">
            <a:solidFill>
              <a:schemeClr val="dk2"/>
            </a:solidFill>
            <a:prstDash val="solid"/>
            <a:round/>
            <a:headEnd len="sm" w="sm" type="none"/>
            <a:tailEnd len="sm" w="sm" type="none"/>
          </a:ln>
        </p:spPr>
        <p:txBody>
          <a:bodyPr anchorCtr="0" anchor="ctr" bIns="91425" lIns="18000" spcFirstLastPara="1" rIns="18000" wrap="square" tIns="91425">
            <a:noAutofit/>
          </a:bodyPr>
          <a:lstStyle/>
          <a:p>
            <a:pPr indent="0" lvl="0" marL="0" rtl="0" algn="ctr">
              <a:spcBef>
                <a:spcPts val="0"/>
              </a:spcBef>
              <a:spcAft>
                <a:spcPts val="0"/>
              </a:spcAft>
              <a:buNone/>
            </a:pPr>
            <a:r>
              <a:rPr lang="en-GB" sz="1600"/>
              <a:t>Hợp chất</a:t>
            </a:r>
            <a:endParaRPr sz="1600"/>
          </a:p>
        </p:txBody>
      </p:sp>
      <p:sp>
        <p:nvSpPr>
          <p:cNvPr id="126" name="Google Shape;126;p20"/>
          <p:cNvSpPr/>
          <p:nvPr/>
        </p:nvSpPr>
        <p:spPr>
          <a:xfrm>
            <a:off x="2651850" y="4481493"/>
            <a:ext cx="1518000" cy="417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t>Lớp tô điểm</a:t>
            </a:r>
            <a:endParaRPr sz="1600"/>
          </a:p>
        </p:txBody>
      </p:sp>
      <p:sp>
        <p:nvSpPr>
          <p:cNvPr id="127" name="Google Shape;127;p20"/>
          <p:cNvSpPr/>
          <p:nvPr/>
        </p:nvSpPr>
        <p:spPr>
          <a:xfrm>
            <a:off x="2651850" y="5026648"/>
            <a:ext cx="1518000" cy="417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t>Mặt tiền</a:t>
            </a:r>
            <a:endParaRPr sz="1600"/>
          </a:p>
        </p:txBody>
      </p:sp>
      <p:sp>
        <p:nvSpPr>
          <p:cNvPr id="128" name="Google Shape;128;p20"/>
          <p:cNvSpPr/>
          <p:nvPr/>
        </p:nvSpPr>
        <p:spPr>
          <a:xfrm>
            <a:off x="2651850" y="5560049"/>
            <a:ext cx="1518000" cy="417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t>Hạng ruồi</a:t>
            </a:r>
            <a:endParaRPr sz="1600"/>
          </a:p>
        </p:txBody>
      </p:sp>
      <p:sp>
        <p:nvSpPr>
          <p:cNvPr id="129" name="Google Shape;129;p20"/>
          <p:cNvSpPr/>
          <p:nvPr/>
        </p:nvSpPr>
        <p:spPr>
          <a:xfrm>
            <a:off x="2651850" y="6093450"/>
            <a:ext cx="1518000" cy="417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t>Lớp đại diện</a:t>
            </a:r>
            <a:endParaRPr sz="1600"/>
          </a:p>
        </p:txBody>
      </p:sp>
      <p:sp>
        <p:nvSpPr>
          <p:cNvPr id="130" name="Google Shape;130;p20"/>
          <p:cNvSpPr/>
          <p:nvPr/>
        </p:nvSpPr>
        <p:spPr>
          <a:xfrm>
            <a:off x="4937850" y="2835575"/>
            <a:ext cx="1483800" cy="524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t>Chuỗi trách nhiệm</a:t>
            </a:r>
            <a:endParaRPr sz="1600"/>
          </a:p>
        </p:txBody>
      </p:sp>
      <p:sp>
        <p:nvSpPr>
          <p:cNvPr id="131" name="Google Shape;131;p20"/>
          <p:cNvSpPr/>
          <p:nvPr/>
        </p:nvSpPr>
        <p:spPr>
          <a:xfrm>
            <a:off x="4937850" y="3521373"/>
            <a:ext cx="1483800" cy="3693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t>Lệnh</a:t>
            </a:r>
            <a:endParaRPr sz="1600"/>
          </a:p>
        </p:txBody>
      </p:sp>
      <p:sp>
        <p:nvSpPr>
          <p:cNvPr id="132" name="Google Shape;132;p20"/>
          <p:cNvSpPr/>
          <p:nvPr/>
        </p:nvSpPr>
        <p:spPr>
          <a:xfrm>
            <a:off x="4937850" y="4047296"/>
            <a:ext cx="1483800" cy="402600"/>
          </a:xfrm>
          <a:prstGeom prst="rect">
            <a:avLst/>
          </a:prstGeom>
          <a:noFill/>
          <a:ln cap="flat" cmpd="sng" w="9525">
            <a:solidFill>
              <a:schemeClr val="dk2"/>
            </a:solidFill>
            <a:prstDash val="solid"/>
            <a:round/>
            <a:headEnd len="sm" w="sm" type="none"/>
            <a:tailEnd len="sm" w="sm" type="none"/>
          </a:ln>
        </p:spPr>
        <p:txBody>
          <a:bodyPr anchorCtr="0" anchor="ctr" bIns="91425" lIns="18000" spcFirstLastPara="1" rIns="18000" wrap="square" tIns="91425">
            <a:noAutofit/>
          </a:bodyPr>
          <a:lstStyle/>
          <a:p>
            <a:pPr indent="0" lvl="0" marL="0" rtl="0" algn="ctr">
              <a:spcBef>
                <a:spcPts val="0"/>
              </a:spcBef>
              <a:spcAft>
                <a:spcPts val="0"/>
              </a:spcAft>
              <a:buNone/>
            </a:pPr>
            <a:r>
              <a:rPr lang="en-GB" sz="1600"/>
              <a:t>Lớp diễn dịch</a:t>
            </a:r>
            <a:endParaRPr sz="1600"/>
          </a:p>
        </p:txBody>
      </p:sp>
      <p:sp>
        <p:nvSpPr>
          <p:cNvPr id="133" name="Google Shape;133;p20"/>
          <p:cNvSpPr/>
          <p:nvPr/>
        </p:nvSpPr>
        <p:spPr>
          <a:xfrm>
            <a:off x="4937850" y="4631655"/>
            <a:ext cx="1483800" cy="4026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t>Biến duyệt</a:t>
            </a:r>
            <a:endParaRPr sz="1600"/>
          </a:p>
        </p:txBody>
      </p:sp>
      <p:sp>
        <p:nvSpPr>
          <p:cNvPr id="134" name="Google Shape;134;p20"/>
          <p:cNvSpPr/>
          <p:nvPr/>
        </p:nvSpPr>
        <p:spPr>
          <a:xfrm>
            <a:off x="4937850" y="5157578"/>
            <a:ext cx="1483800" cy="4026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t>Lớp điều phối</a:t>
            </a:r>
            <a:endParaRPr sz="1600"/>
          </a:p>
        </p:txBody>
      </p:sp>
      <p:sp>
        <p:nvSpPr>
          <p:cNvPr id="135" name="Google Shape;135;p20"/>
          <p:cNvSpPr/>
          <p:nvPr/>
        </p:nvSpPr>
        <p:spPr>
          <a:xfrm>
            <a:off x="4937850" y="5690976"/>
            <a:ext cx="1483800" cy="4026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t>Bản sao lưu</a:t>
            </a:r>
            <a:endParaRPr sz="1600"/>
          </a:p>
        </p:txBody>
      </p:sp>
      <p:sp>
        <p:nvSpPr>
          <p:cNvPr id="136" name="Google Shape;136;p20"/>
          <p:cNvSpPr/>
          <p:nvPr/>
        </p:nvSpPr>
        <p:spPr>
          <a:xfrm>
            <a:off x="7528650" y="2835575"/>
            <a:ext cx="1403700" cy="3693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t>Lớp quan sát</a:t>
            </a:r>
            <a:endParaRPr sz="1600"/>
          </a:p>
        </p:txBody>
      </p:sp>
      <p:sp>
        <p:nvSpPr>
          <p:cNvPr id="137" name="Google Shape;137;p20"/>
          <p:cNvSpPr/>
          <p:nvPr/>
        </p:nvSpPr>
        <p:spPr>
          <a:xfrm>
            <a:off x="7528650" y="3361498"/>
            <a:ext cx="1403700" cy="402600"/>
          </a:xfrm>
          <a:prstGeom prst="rect">
            <a:avLst/>
          </a:prstGeom>
          <a:noFill/>
          <a:ln cap="flat" cmpd="sng" w="9525">
            <a:solidFill>
              <a:schemeClr val="dk2"/>
            </a:solidFill>
            <a:prstDash val="solid"/>
            <a:round/>
            <a:headEnd len="sm" w="sm" type="none"/>
            <a:tailEnd len="sm" w="sm" type="none"/>
          </a:ln>
        </p:spPr>
        <p:txBody>
          <a:bodyPr anchorCtr="0" anchor="ctr" bIns="91425" lIns="18000" spcFirstLastPara="1" rIns="18000" wrap="square" tIns="91425">
            <a:noAutofit/>
          </a:bodyPr>
          <a:lstStyle/>
          <a:p>
            <a:pPr indent="0" lvl="0" marL="0" rtl="0" algn="ctr">
              <a:spcBef>
                <a:spcPts val="0"/>
              </a:spcBef>
              <a:spcAft>
                <a:spcPts val="0"/>
              </a:spcAft>
              <a:buNone/>
            </a:pPr>
            <a:r>
              <a:rPr lang="en-GB" sz="1600"/>
              <a:t>Trạng thái</a:t>
            </a:r>
            <a:endParaRPr sz="1600"/>
          </a:p>
        </p:txBody>
      </p:sp>
      <p:sp>
        <p:nvSpPr>
          <p:cNvPr id="138" name="Google Shape;138;p20"/>
          <p:cNvSpPr/>
          <p:nvPr/>
        </p:nvSpPr>
        <p:spPr>
          <a:xfrm>
            <a:off x="7528650" y="3945856"/>
            <a:ext cx="1403700" cy="4026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t>Chiến thuật</a:t>
            </a:r>
            <a:endParaRPr sz="1600"/>
          </a:p>
        </p:txBody>
      </p:sp>
      <p:sp>
        <p:nvSpPr>
          <p:cNvPr id="139" name="Google Shape;139;p20"/>
          <p:cNvSpPr/>
          <p:nvPr/>
        </p:nvSpPr>
        <p:spPr>
          <a:xfrm>
            <a:off x="7528650" y="4471774"/>
            <a:ext cx="1403700" cy="4812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t>Phương thức mẫu</a:t>
            </a:r>
            <a:endParaRPr sz="1600"/>
          </a:p>
        </p:txBody>
      </p:sp>
      <p:sp>
        <p:nvSpPr>
          <p:cNvPr id="140" name="Google Shape;140;p20"/>
          <p:cNvSpPr/>
          <p:nvPr/>
        </p:nvSpPr>
        <p:spPr>
          <a:xfrm>
            <a:off x="7528650" y="5081376"/>
            <a:ext cx="1403700" cy="4026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t>Khách thăm</a:t>
            </a:r>
            <a:endParaRPr sz="1600"/>
          </a:p>
        </p:txBody>
      </p:sp>
      <p:sp>
        <p:nvSpPr>
          <p:cNvPr id="141" name="Google Shape;141;p20"/>
          <p:cNvSpPr/>
          <p:nvPr/>
        </p:nvSpPr>
        <p:spPr>
          <a:xfrm>
            <a:off x="2306975" y="2402425"/>
            <a:ext cx="180600" cy="1704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2" name="Google Shape;142;p20"/>
          <p:cNvSpPr/>
          <p:nvPr/>
        </p:nvSpPr>
        <p:spPr>
          <a:xfrm>
            <a:off x="4516775" y="2402425"/>
            <a:ext cx="180600" cy="1704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3" name="Google Shape;143;p20"/>
          <p:cNvSpPr/>
          <p:nvPr/>
        </p:nvSpPr>
        <p:spPr>
          <a:xfrm>
            <a:off x="6802775" y="2402425"/>
            <a:ext cx="180600" cy="1704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4" name="Google Shape;144;p20"/>
          <p:cNvSpPr/>
          <p:nvPr/>
        </p:nvSpPr>
        <p:spPr>
          <a:xfrm>
            <a:off x="7107575" y="2402425"/>
            <a:ext cx="180600" cy="1704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45" name="Google Shape;145;p20"/>
          <p:cNvCxnSpPr>
            <a:stCxn id="118" idx="3"/>
            <a:endCxn id="141" idx="3"/>
          </p:cNvCxnSpPr>
          <p:nvPr/>
        </p:nvCxnSpPr>
        <p:spPr>
          <a:xfrm flipH="1" rot="10800000">
            <a:off x="1585050" y="2572925"/>
            <a:ext cx="812100" cy="525000"/>
          </a:xfrm>
          <a:prstGeom prst="bentConnector2">
            <a:avLst/>
          </a:prstGeom>
          <a:noFill/>
          <a:ln cap="flat" cmpd="sng" w="9525">
            <a:solidFill>
              <a:schemeClr val="dk2"/>
            </a:solidFill>
            <a:prstDash val="solid"/>
            <a:round/>
            <a:headEnd len="med" w="med" type="none"/>
            <a:tailEnd len="med" w="med" type="none"/>
          </a:ln>
        </p:spPr>
      </p:cxnSp>
      <p:cxnSp>
        <p:nvCxnSpPr>
          <p:cNvPr id="146" name="Google Shape;146;p20"/>
          <p:cNvCxnSpPr>
            <a:stCxn id="119" idx="3"/>
            <a:endCxn id="141" idx="3"/>
          </p:cNvCxnSpPr>
          <p:nvPr/>
        </p:nvCxnSpPr>
        <p:spPr>
          <a:xfrm flipH="1" rot="10800000">
            <a:off x="1585050" y="2572775"/>
            <a:ext cx="812100" cy="1189200"/>
          </a:xfrm>
          <a:prstGeom prst="bentConnector2">
            <a:avLst/>
          </a:prstGeom>
          <a:noFill/>
          <a:ln cap="flat" cmpd="sng" w="9525">
            <a:solidFill>
              <a:schemeClr val="dk2"/>
            </a:solidFill>
            <a:prstDash val="solid"/>
            <a:round/>
            <a:headEnd len="med" w="med" type="none"/>
            <a:tailEnd len="med" w="med" type="none"/>
          </a:ln>
        </p:spPr>
      </p:cxnSp>
      <p:cxnSp>
        <p:nvCxnSpPr>
          <p:cNvPr id="147" name="Google Shape;147;p20"/>
          <p:cNvCxnSpPr>
            <a:stCxn id="120" idx="3"/>
            <a:endCxn id="141" idx="3"/>
          </p:cNvCxnSpPr>
          <p:nvPr/>
        </p:nvCxnSpPr>
        <p:spPr>
          <a:xfrm flipH="1" rot="10800000">
            <a:off x="1585050" y="2572925"/>
            <a:ext cx="812100" cy="1896600"/>
          </a:xfrm>
          <a:prstGeom prst="bentConnector2">
            <a:avLst/>
          </a:prstGeom>
          <a:noFill/>
          <a:ln cap="flat" cmpd="sng" w="9525">
            <a:solidFill>
              <a:schemeClr val="dk2"/>
            </a:solidFill>
            <a:prstDash val="solid"/>
            <a:round/>
            <a:headEnd len="med" w="med" type="none"/>
            <a:tailEnd len="med" w="med" type="none"/>
          </a:ln>
        </p:spPr>
      </p:cxnSp>
      <p:cxnSp>
        <p:nvCxnSpPr>
          <p:cNvPr id="148" name="Google Shape;148;p20"/>
          <p:cNvCxnSpPr>
            <a:stCxn id="121" idx="3"/>
            <a:endCxn id="141" idx="3"/>
          </p:cNvCxnSpPr>
          <p:nvPr/>
        </p:nvCxnSpPr>
        <p:spPr>
          <a:xfrm flipH="1" rot="10800000">
            <a:off x="1585050" y="2572925"/>
            <a:ext cx="812100" cy="2658600"/>
          </a:xfrm>
          <a:prstGeom prst="bentConnector2">
            <a:avLst/>
          </a:prstGeom>
          <a:noFill/>
          <a:ln cap="flat" cmpd="sng" w="9525">
            <a:solidFill>
              <a:schemeClr val="dk2"/>
            </a:solidFill>
            <a:prstDash val="solid"/>
            <a:round/>
            <a:headEnd len="med" w="med" type="none"/>
            <a:tailEnd len="med" w="med" type="none"/>
          </a:ln>
        </p:spPr>
      </p:cxnSp>
      <p:cxnSp>
        <p:nvCxnSpPr>
          <p:cNvPr id="149" name="Google Shape;149;p20"/>
          <p:cNvCxnSpPr>
            <a:stCxn id="122" idx="3"/>
            <a:endCxn id="141" idx="3"/>
          </p:cNvCxnSpPr>
          <p:nvPr/>
        </p:nvCxnSpPr>
        <p:spPr>
          <a:xfrm flipH="1" rot="10800000">
            <a:off x="1585050" y="2572925"/>
            <a:ext cx="812100" cy="3344400"/>
          </a:xfrm>
          <a:prstGeom prst="bentConnector2">
            <a:avLst/>
          </a:prstGeom>
          <a:noFill/>
          <a:ln cap="flat" cmpd="sng" w="9525">
            <a:solidFill>
              <a:schemeClr val="dk2"/>
            </a:solidFill>
            <a:prstDash val="solid"/>
            <a:round/>
            <a:headEnd len="med" w="med" type="none"/>
            <a:tailEnd len="med" w="med" type="none"/>
          </a:ln>
        </p:spPr>
      </p:cxnSp>
      <p:cxnSp>
        <p:nvCxnSpPr>
          <p:cNvPr id="150" name="Google Shape;150;p20"/>
          <p:cNvCxnSpPr>
            <a:stCxn id="123" idx="3"/>
            <a:endCxn id="142" idx="3"/>
          </p:cNvCxnSpPr>
          <p:nvPr/>
        </p:nvCxnSpPr>
        <p:spPr>
          <a:xfrm flipH="1" rot="10800000">
            <a:off x="4169850" y="2572775"/>
            <a:ext cx="437100" cy="471300"/>
          </a:xfrm>
          <a:prstGeom prst="bentConnector2">
            <a:avLst/>
          </a:prstGeom>
          <a:noFill/>
          <a:ln cap="flat" cmpd="sng" w="9525">
            <a:solidFill>
              <a:schemeClr val="dk2"/>
            </a:solidFill>
            <a:prstDash val="solid"/>
            <a:round/>
            <a:headEnd len="med" w="med" type="none"/>
            <a:tailEnd len="med" w="med" type="none"/>
          </a:ln>
        </p:spPr>
      </p:cxnSp>
      <p:cxnSp>
        <p:nvCxnSpPr>
          <p:cNvPr id="151" name="Google Shape;151;p20"/>
          <p:cNvCxnSpPr>
            <a:stCxn id="124" idx="3"/>
            <a:endCxn id="142" idx="3"/>
          </p:cNvCxnSpPr>
          <p:nvPr/>
        </p:nvCxnSpPr>
        <p:spPr>
          <a:xfrm flipH="1" rot="10800000">
            <a:off x="4169850" y="2572683"/>
            <a:ext cx="437100" cy="999300"/>
          </a:xfrm>
          <a:prstGeom prst="bentConnector2">
            <a:avLst/>
          </a:prstGeom>
          <a:noFill/>
          <a:ln cap="flat" cmpd="sng" w="9525">
            <a:solidFill>
              <a:schemeClr val="dk2"/>
            </a:solidFill>
            <a:prstDash val="solid"/>
            <a:round/>
            <a:headEnd len="med" w="med" type="none"/>
            <a:tailEnd len="med" w="med" type="none"/>
          </a:ln>
        </p:spPr>
      </p:cxnSp>
      <p:cxnSp>
        <p:nvCxnSpPr>
          <p:cNvPr id="152" name="Google Shape;152;p20"/>
          <p:cNvCxnSpPr>
            <a:stCxn id="125" idx="3"/>
            <a:endCxn id="142" idx="3"/>
          </p:cNvCxnSpPr>
          <p:nvPr/>
        </p:nvCxnSpPr>
        <p:spPr>
          <a:xfrm flipH="1" rot="10800000">
            <a:off x="4169850" y="2572938"/>
            <a:ext cx="437100" cy="1541400"/>
          </a:xfrm>
          <a:prstGeom prst="bentConnector2">
            <a:avLst/>
          </a:prstGeom>
          <a:noFill/>
          <a:ln cap="flat" cmpd="sng" w="9525">
            <a:solidFill>
              <a:schemeClr val="dk2"/>
            </a:solidFill>
            <a:prstDash val="solid"/>
            <a:round/>
            <a:headEnd len="med" w="med" type="none"/>
            <a:tailEnd len="med" w="med" type="none"/>
          </a:ln>
        </p:spPr>
      </p:cxnSp>
      <p:cxnSp>
        <p:nvCxnSpPr>
          <p:cNvPr id="153" name="Google Shape;153;p20"/>
          <p:cNvCxnSpPr>
            <a:stCxn id="126" idx="3"/>
            <a:endCxn id="142" idx="3"/>
          </p:cNvCxnSpPr>
          <p:nvPr/>
        </p:nvCxnSpPr>
        <p:spPr>
          <a:xfrm flipH="1" rot="10800000">
            <a:off x="4169850" y="2572893"/>
            <a:ext cx="437100" cy="2117100"/>
          </a:xfrm>
          <a:prstGeom prst="bentConnector2">
            <a:avLst/>
          </a:prstGeom>
          <a:noFill/>
          <a:ln cap="flat" cmpd="sng" w="9525">
            <a:solidFill>
              <a:schemeClr val="dk2"/>
            </a:solidFill>
            <a:prstDash val="solid"/>
            <a:round/>
            <a:headEnd len="med" w="med" type="none"/>
            <a:tailEnd len="med" w="med" type="none"/>
          </a:ln>
        </p:spPr>
      </p:cxnSp>
      <p:cxnSp>
        <p:nvCxnSpPr>
          <p:cNvPr id="154" name="Google Shape;154;p20"/>
          <p:cNvCxnSpPr>
            <a:stCxn id="127" idx="3"/>
            <a:endCxn id="142" idx="3"/>
          </p:cNvCxnSpPr>
          <p:nvPr/>
        </p:nvCxnSpPr>
        <p:spPr>
          <a:xfrm flipH="1" rot="10800000">
            <a:off x="4169850" y="2572948"/>
            <a:ext cx="437100" cy="2662200"/>
          </a:xfrm>
          <a:prstGeom prst="bentConnector2">
            <a:avLst/>
          </a:prstGeom>
          <a:noFill/>
          <a:ln cap="flat" cmpd="sng" w="9525">
            <a:solidFill>
              <a:schemeClr val="dk2"/>
            </a:solidFill>
            <a:prstDash val="solid"/>
            <a:round/>
            <a:headEnd len="med" w="med" type="none"/>
            <a:tailEnd len="med" w="med" type="none"/>
          </a:ln>
        </p:spPr>
      </p:cxnSp>
      <p:cxnSp>
        <p:nvCxnSpPr>
          <p:cNvPr id="155" name="Google Shape;155;p20"/>
          <p:cNvCxnSpPr>
            <a:stCxn id="128" idx="3"/>
            <a:endCxn id="142" idx="3"/>
          </p:cNvCxnSpPr>
          <p:nvPr/>
        </p:nvCxnSpPr>
        <p:spPr>
          <a:xfrm flipH="1" rot="10800000">
            <a:off x="4169850" y="2572949"/>
            <a:ext cx="437100" cy="3195600"/>
          </a:xfrm>
          <a:prstGeom prst="bentConnector2">
            <a:avLst/>
          </a:prstGeom>
          <a:noFill/>
          <a:ln cap="flat" cmpd="sng" w="9525">
            <a:solidFill>
              <a:schemeClr val="dk2"/>
            </a:solidFill>
            <a:prstDash val="solid"/>
            <a:round/>
            <a:headEnd len="med" w="med" type="none"/>
            <a:tailEnd len="med" w="med" type="none"/>
          </a:ln>
        </p:spPr>
      </p:cxnSp>
      <p:cxnSp>
        <p:nvCxnSpPr>
          <p:cNvPr id="156" name="Google Shape;156;p20"/>
          <p:cNvCxnSpPr>
            <a:stCxn id="129" idx="3"/>
            <a:endCxn id="142" idx="3"/>
          </p:cNvCxnSpPr>
          <p:nvPr/>
        </p:nvCxnSpPr>
        <p:spPr>
          <a:xfrm flipH="1" rot="10800000">
            <a:off x="4169850" y="2572950"/>
            <a:ext cx="437100" cy="3729000"/>
          </a:xfrm>
          <a:prstGeom prst="bentConnector2">
            <a:avLst/>
          </a:prstGeom>
          <a:noFill/>
          <a:ln cap="flat" cmpd="sng" w="9525">
            <a:solidFill>
              <a:schemeClr val="dk2"/>
            </a:solidFill>
            <a:prstDash val="solid"/>
            <a:round/>
            <a:headEnd len="med" w="med" type="none"/>
            <a:tailEnd len="med" w="med" type="none"/>
          </a:ln>
        </p:spPr>
      </p:cxnSp>
      <p:cxnSp>
        <p:nvCxnSpPr>
          <p:cNvPr id="157" name="Google Shape;157;p20"/>
          <p:cNvCxnSpPr>
            <a:stCxn id="130" idx="3"/>
            <a:endCxn id="143" idx="3"/>
          </p:cNvCxnSpPr>
          <p:nvPr/>
        </p:nvCxnSpPr>
        <p:spPr>
          <a:xfrm flipH="1" rot="10800000">
            <a:off x="6421650" y="2572925"/>
            <a:ext cx="471300" cy="525000"/>
          </a:xfrm>
          <a:prstGeom prst="bentConnector2">
            <a:avLst/>
          </a:prstGeom>
          <a:noFill/>
          <a:ln cap="flat" cmpd="sng" w="9525">
            <a:solidFill>
              <a:schemeClr val="dk2"/>
            </a:solidFill>
            <a:prstDash val="solid"/>
            <a:round/>
            <a:headEnd len="med" w="med" type="none"/>
            <a:tailEnd len="med" w="med" type="none"/>
          </a:ln>
        </p:spPr>
      </p:cxnSp>
      <p:cxnSp>
        <p:nvCxnSpPr>
          <p:cNvPr id="158" name="Google Shape;158;p20"/>
          <p:cNvCxnSpPr>
            <a:stCxn id="131" idx="3"/>
            <a:endCxn id="143" idx="3"/>
          </p:cNvCxnSpPr>
          <p:nvPr/>
        </p:nvCxnSpPr>
        <p:spPr>
          <a:xfrm flipH="1" rot="10800000">
            <a:off x="6421650" y="2572923"/>
            <a:ext cx="471300" cy="1133100"/>
          </a:xfrm>
          <a:prstGeom prst="bentConnector2">
            <a:avLst/>
          </a:prstGeom>
          <a:noFill/>
          <a:ln cap="flat" cmpd="sng" w="9525">
            <a:solidFill>
              <a:schemeClr val="dk2"/>
            </a:solidFill>
            <a:prstDash val="solid"/>
            <a:round/>
            <a:headEnd len="med" w="med" type="none"/>
            <a:tailEnd len="med" w="med" type="none"/>
          </a:ln>
        </p:spPr>
      </p:cxnSp>
      <p:cxnSp>
        <p:nvCxnSpPr>
          <p:cNvPr id="159" name="Google Shape;159;p20"/>
          <p:cNvCxnSpPr>
            <a:stCxn id="132" idx="3"/>
            <a:endCxn id="143" idx="3"/>
          </p:cNvCxnSpPr>
          <p:nvPr/>
        </p:nvCxnSpPr>
        <p:spPr>
          <a:xfrm flipH="1" rot="10800000">
            <a:off x="6421650" y="2572796"/>
            <a:ext cx="471300" cy="1675800"/>
          </a:xfrm>
          <a:prstGeom prst="bentConnector2">
            <a:avLst/>
          </a:prstGeom>
          <a:noFill/>
          <a:ln cap="flat" cmpd="sng" w="9525">
            <a:solidFill>
              <a:schemeClr val="dk2"/>
            </a:solidFill>
            <a:prstDash val="solid"/>
            <a:round/>
            <a:headEnd len="med" w="med" type="none"/>
            <a:tailEnd len="med" w="med" type="none"/>
          </a:ln>
        </p:spPr>
      </p:cxnSp>
      <p:cxnSp>
        <p:nvCxnSpPr>
          <p:cNvPr id="160" name="Google Shape;160;p20"/>
          <p:cNvCxnSpPr>
            <a:stCxn id="133" idx="3"/>
            <a:endCxn id="143" idx="3"/>
          </p:cNvCxnSpPr>
          <p:nvPr/>
        </p:nvCxnSpPr>
        <p:spPr>
          <a:xfrm flipH="1" rot="10800000">
            <a:off x="6421650" y="2572755"/>
            <a:ext cx="471300" cy="2260200"/>
          </a:xfrm>
          <a:prstGeom prst="bentConnector2">
            <a:avLst/>
          </a:prstGeom>
          <a:noFill/>
          <a:ln cap="flat" cmpd="sng" w="9525">
            <a:solidFill>
              <a:schemeClr val="dk2"/>
            </a:solidFill>
            <a:prstDash val="solid"/>
            <a:round/>
            <a:headEnd len="med" w="med" type="none"/>
            <a:tailEnd len="med" w="med" type="none"/>
          </a:ln>
        </p:spPr>
      </p:cxnSp>
      <p:cxnSp>
        <p:nvCxnSpPr>
          <p:cNvPr id="161" name="Google Shape;161;p20"/>
          <p:cNvCxnSpPr>
            <a:stCxn id="134" idx="3"/>
            <a:endCxn id="143" idx="3"/>
          </p:cNvCxnSpPr>
          <p:nvPr/>
        </p:nvCxnSpPr>
        <p:spPr>
          <a:xfrm flipH="1" rot="10800000">
            <a:off x="6421650" y="2572778"/>
            <a:ext cx="471300" cy="2786100"/>
          </a:xfrm>
          <a:prstGeom prst="bentConnector2">
            <a:avLst/>
          </a:prstGeom>
          <a:noFill/>
          <a:ln cap="flat" cmpd="sng" w="9525">
            <a:solidFill>
              <a:schemeClr val="dk2"/>
            </a:solidFill>
            <a:prstDash val="solid"/>
            <a:round/>
            <a:headEnd len="med" w="med" type="none"/>
            <a:tailEnd len="med" w="med" type="none"/>
          </a:ln>
        </p:spPr>
      </p:cxnSp>
      <p:cxnSp>
        <p:nvCxnSpPr>
          <p:cNvPr id="162" name="Google Shape;162;p20"/>
          <p:cNvCxnSpPr>
            <a:stCxn id="135" idx="3"/>
            <a:endCxn id="143" idx="3"/>
          </p:cNvCxnSpPr>
          <p:nvPr/>
        </p:nvCxnSpPr>
        <p:spPr>
          <a:xfrm flipH="1" rot="10800000">
            <a:off x="6421650" y="2572776"/>
            <a:ext cx="471300" cy="3319500"/>
          </a:xfrm>
          <a:prstGeom prst="bentConnector2">
            <a:avLst/>
          </a:prstGeom>
          <a:noFill/>
          <a:ln cap="flat" cmpd="sng" w="9525">
            <a:solidFill>
              <a:schemeClr val="dk2"/>
            </a:solidFill>
            <a:prstDash val="solid"/>
            <a:round/>
            <a:headEnd len="med" w="med" type="none"/>
            <a:tailEnd len="med" w="med" type="none"/>
          </a:ln>
        </p:spPr>
      </p:cxnSp>
      <p:cxnSp>
        <p:nvCxnSpPr>
          <p:cNvPr id="163" name="Google Shape;163;p20"/>
          <p:cNvCxnSpPr>
            <a:stCxn id="136" idx="1"/>
            <a:endCxn id="144" idx="3"/>
          </p:cNvCxnSpPr>
          <p:nvPr/>
        </p:nvCxnSpPr>
        <p:spPr>
          <a:xfrm rot="10800000">
            <a:off x="7197750" y="2572925"/>
            <a:ext cx="330900" cy="447300"/>
          </a:xfrm>
          <a:prstGeom prst="bentConnector2">
            <a:avLst/>
          </a:prstGeom>
          <a:noFill/>
          <a:ln cap="flat" cmpd="sng" w="9525">
            <a:solidFill>
              <a:schemeClr val="dk2"/>
            </a:solidFill>
            <a:prstDash val="solid"/>
            <a:round/>
            <a:headEnd len="med" w="med" type="none"/>
            <a:tailEnd len="med" w="med" type="none"/>
          </a:ln>
        </p:spPr>
      </p:cxnSp>
      <p:cxnSp>
        <p:nvCxnSpPr>
          <p:cNvPr id="164" name="Google Shape;164;p20"/>
          <p:cNvCxnSpPr>
            <a:stCxn id="137" idx="1"/>
            <a:endCxn id="144" idx="3"/>
          </p:cNvCxnSpPr>
          <p:nvPr/>
        </p:nvCxnSpPr>
        <p:spPr>
          <a:xfrm rot="10800000">
            <a:off x="7197750" y="2572798"/>
            <a:ext cx="330900" cy="990000"/>
          </a:xfrm>
          <a:prstGeom prst="bentConnector2">
            <a:avLst/>
          </a:prstGeom>
          <a:noFill/>
          <a:ln cap="flat" cmpd="sng" w="9525">
            <a:solidFill>
              <a:schemeClr val="dk2"/>
            </a:solidFill>
            <a:prstDash val="solid"/>
            <a:round/>
            <a:headEnd len="med" w="med" type="none"/>
            <a:tailEnd len="med" w="med" type="none"/>
          </a:ln>
        </p:spPr>
      </p:cxnSp>
      <p:cxnSp>
        <p:nvCxnSpPr>
          <p:cNvPr id="165" name="Google Shape;165;p20"/>
          <p:cNvCxnSpPr>
            <a:stCxn id="138" idx="1"/>
            <a:endCxn id="144" idx="3"/>
          </p:cNvCxnSpPr>
          <p:nvPr/>
        </p:nvCxnSpPr>
        <p:spPr>
          <a:xfrm rot="10800000">
            <a:off x="7197750" y="2572756"/>
            <a:ext cx="330900" cy="1574400"/>
          </a:xfrm>
          <a:prstGeom prst="bentConnector2">
            <a:avLst/>
          </a:prstGeom>
          <a:noFill/>
          <a:ln cap="flat" cmpd="sng" w="9525">
            <a:solidFill>
              <a:schemeClr val="dk2"/>
            </a:solidFill>
            <a:prstDash val="solid"/>
            <a:round/>
            <a:headEnd len="med" w="med" type="none"/>
            <a:tailEnd len="med" w="med" type="none"/>
          </a:ln>
        </p:spPr>
      </p:cxnSp>
      <p:cxnSp>
        <p:nvCxnSpPr>
          <p:cNvPr id="166" name="Google Shape;166;p20"/>
          <p:cNvCxnSpPr>
            <a:stCxn id="139" idx="1"/>
            <a:endCxn id="144" idx="3"/>
          </p:cNvCxnSpPr>
          <p:nvPr/>
        </p:nvCxnSpPr>
        <p:spPr>
          <a:xfrm rot="10800000">
            <a:off x="7197750" y="2572774"/>
            <a:ext cx="330900" cy="2139600"/>
          </a:xfrm>
          <a:prstGeom prst="bentConnector2">
            <a:avLst/>
          </a:prstGeom>
          <a:noFill/>
          <a:ln cap="flat" cmpd="sng" w="9525">
            <a:solidFill>
              <a:schemeClr val="dk2"/>
            </a:solidFill>
            <a:prstDash val="solid"/>
            <a:round/>
            <a:headEnd len="med" w="med" type="none"/>
            <a:tailEnd len="med" w="med" type="none"/>
          </a:ln>
        </p:spPr>
      </p:cxnSp>
      <p:cxnSp>
        <p:nvCxnSpPr>
          <p:cNvPr id="167" name="Google Shape;167;p20"/>
          <p:cNvCxnSpPr>
            <a:stCxn id="140" idx="1"/>
            <a:endCxn id="144" idx="3"/>
          </p:cNvCxnSpPr>
          <p:nvPr/>
        </p:nvCxnSpPr>
        <p:spPr>
          <a:xfrm rot="10800000">
            <a:off x="7197750" y="2572776"/>
            <a:ext cx="330900" cy="2709900"/>
          </a:xfrm>
          <a:prstGeom prst="bentConnector2">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1"/>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A classification of Design patterns</a:t>
            </a:r>
            <a:endParaRPr/>
          </a:p>
        </p:txBody>
      </p:sp>
      <p:sp>
        <p:nvSpPr>
          <p:cNvPr id="173" name="Google Shape;173;p2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74" name="Google Shape;174;p21"/>
          <p:cNvSpPr/>
          <p:nvPr/>
        </p:nvSpPr>
        <p:spPr>
          <a:xfrm>
            <a:off x="3871050" y="854375"/>
            <a:ext cx="1483800" cy="481200"/>
          </a:xfrm>
          <a:prstGeom prst="rect">
            <a:avLst/>
          </a:prstGeom>
          <a:noFill/>
          <a:ln cap="flat" cmpd="sng" w="9525">
            <a:solidFill>
              <a:schemeClr val="dk2"/>
            </a:solidFill>
            <a:prstDash val="solid"/>
            <a:round/>
            <a:headEnd len="sm" w="sm" type="none"/>
            <a:tailEnd len="sm" w="sm" type="none"/>
          </a:ln>
        </p:spPr>
        <p:txBody>
          <a:bodyPr anchorCtr="0" anchor="ctr" bIns="91425" lIns="54000" spcFirstLastPara="1" rIns="54000" wrap="square" tIns="91425">
            <a:noAutofit/>
          </a:bodyPr>
          <a:lstStyle/>
          <a:p>
            <a:pPr indent="0" lvl="0" marL="0" rtl="0" algn="ctr">
              <a:spcBef>
                <a:spcPts val="0"/>
              </a:spcBef>
              <a:spcAft>
                <a:spcPts val="0"/>
              </a:spcAft>
              <a:buNone/>
            </a:pPr>
            <a:r>
              <a:rPr lang="en-GB" sz="1600"/>
              <a:t>Design pattern</a:t>
            </a:r>
            <a:endParaRPr sz="1600"/>
          </a:p>
        </p:txBody>
      </p:sp>
      <p:sp>
        <p:nvSpPr>
          <p:cNvPr id="175" name="Google Shape;175;p21"/>
          <p:cNvSpPr/>
          <p:nvPr/>
        </p:nvSpPr>
        <p:spPr>
          <a:xfrm>
            <a:off x="1813650" y="1921175"/>
            <a:ext cx="1483800" cy="4812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t>Creational Pattern</a:t>
            </a:r>
            <a:endParaRPr sz="1600"/>
          </a:p>
        </p:txBody>
      </p:sp>
      <p:sp>
        <p:nvSpPr>
          <p:cNvPr id="176" name="Google Shape;176;p21"/>
          <p:cNvSpPr/>
          <p:nvPr/>
        </p:nvSpPr>
        <p:spPr>
          <a:xfrm>
            <a:off x="3861024" y="1921175"/>
            <a:ext cx="1483800" cy="4812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t>Structural Pattern</a:t>
            </a:r>
            <a:endParaRPr sz="1600"/>
          </a:p>
        </p:txBody>
      </p:sp>
      <p:sp>
        <p:nvSpPr>
          <p:cNvPr id="177" name="Google Shape;177;p21"/>
          <p:cNvSpPr/>
          <p:nvPr/>
        </p:nvSpPr>
        <p:spPr>
          <a:xfrm>
            <a:off x="6309900" y="1921175"/>
            <a:ext cx="1559400" cy="4812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t>Behavioral Pattern</a:t>
            </a:r>
            <a:endParaRPr sz="1600"/>
          </a:p>
        </p:txBody>
      </p:sp>
      <p:sp>
        <p:nvSpPr>
          <p:cNvPr id="178" name="Google Shape;178;p21"/>
          <p:cNvSpPr/>
          <p:nvPr/>
        </p:nvSpPr>
        <p:spPr>
          <a:xfrm>
            <a:off x="4211975" y="1335625"/>
            <a:ext cx="180600" cy="1704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9" name="Google Shape;179;p21"/>
          <p:cNvSpPr/>
          <p:nvPr/>
        </p:nvSpPr>
        <p:spPr>
          <a:xfrm>
            <a:off x="4516775" y="1335625"/>
            <a:ext cx="180600" cy="1704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0" name="Google Shape;180;p21"/>
          <p:cNvSpPr/>
          <p:nvPr/>
        </p:nvSpPr>
        <p:spPr>
          <a:xfrm>
            <a:off x="5050175" y="1335625"/>
            <a:ext cx="180600" cy="1704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81" name="Google Shape;181;p21"/>
          <p:cNvCxnSpPr>
            <a:stCxn id="175" idx="0"/>
            <a:endCxn id="178" idx="3"/>
          </p:cNvCxnSpPr>
          <p:nvPr/>
        </p:nvCxnSpPr>
        <p:spPr>
          <a:xfrm rot="-5400000">
            <a:off x="3221250" y="840275"/>
            <a:ext cx="415200" cy="1746600"/>
          </a:xfrm>
          <a:prstGeom prst="bentConnector3">
            <a:avLst>
              <a:gd fmla="val 49994" name="adj1"/>
            </a:avLst>
          </a:prstGeom>
          <a:noFill/>
          <a:ln cap="flat" cmpd="sng" w="9525">
            <a:solidFill>
              <a:schemeClr val="dk2"/>
            </a:solidFill>
            <a:prstDash val="solid"/>
            <a:round/>
            <a:headEnd len="med" w="med" type="none"/>
            <a:tailEnd len="med" w="med" type="none"/>
          </a:ln>
        </p:spPr>
      </p:cxnSp>
      <p:cxnSp>
        <p:nvCxnSpPr>
          <p:cNvPr id="182" name="Google Shape;182;p21"/>
          <p:cNvCxnSpPr>
            <a:stCxn id="176" idx="0"/>
            <a:endCxn id="179" idx="3"/>
          </p:cNvCxnSpPr>
          <p:nvPr/>
        </p:nvCxnSpPr>
        <p:spPr>
          <a:xfrm rot="-5400000">
            <a:off x="4397424" y="1711475"/>
            <a:ext cx="415200" cy="4200"/>
          </a:xfrm>
          <a:prstGeom prst="bentConnector3">
            <a:avLst>
              <a:gd fmla="val 49994" name="adj1"/>
            </a:avLst>
          </a:prstGeom>
          <a:noFill/>
          <a:ln cap="flat" cmpd="sng" w="9525">
            <a:solidFill>
              <a:schemeClr val="dk2"/>
            </a:solidFill>
            <a:prstDash val="solid"/>
            <a:round/>
            <a:headEnd len="med" w="med" type="none"/>
            <a:tailEnd len="med" w="med" type="none"/>
          </a:ln>
        </p:spPr>
      </p:cxnSp>
      <p:cxnSp>
        <p:nvCxnSpPr>
          <p:cNvPr id="183" name="Google Shape;183;p21"/>
          <p:cNvCxnSpPr>
            <a:stCxn id="177" idx="0"/>
            <a:endCxn id="180" idx="3"/>
          </p:cNvCxnSpPr>
          <p:nvPr/>
        </p:nvCxnSpPr>
        <p:spPr>
          <a:xfrm flipH="1" rot="5400000">
            <a:off x="5907450" y="739025"/>
            <a:ext cx="415200" cy="1949100"/>
          </a:xfrm>
          <a:prstGeom prst="bentConnector3">
            <a:avLst>
              <a:gd fmla="val 49994" name="adj1"/>
            </a:avLst>
          </a:prstGeom>
          <a:noFill/>
          <a:ln cap="flat" cmpd="sng" w="9525">
            <a:solidFill>
              <a:schemeClr val="dk2"/>
            </a:solidFill>
            <a:prstDash val="solid"/>
            <a:round/>
            <a:headEnd len="med" w="med" type="none"/>
            <a:tailEnd len="med" w="med" type="none"/>
          </a:ln>
        </p:spPr>
      </p:cxnSp>
      <p:sp>
        <p:nvSpPr>
          <p:cNvPr id="184" name="Google Shape;184;p21"/>
          <p:cNvSpPr/>
          <p:nvPr/>
        </p:nvSpPr>
        <p:spPr>
          <a:xfrm>
            <a:off x="289650" y="2835575"/>
            <a:ext cx="1295400" cy="524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t>Abstract Factory</a:t>
            </a:r>
            <a:endParaRPr sz="1600"/>
          </a:p>
        </p:txBody>
      </p:sp>
      <p:sp>
        <p:nvSpPr>
          <p:cNvPr id="185" name="Google Shape;185;p21"/>
          <p:cNvSpPr/>
          <p:nvPr/>
        </p:nvSpPr>
        <p:spPr>
          <a:xfrm>
            <a:off x="289650" y="3521375"/>
            <a:ext cx="1295400" cy="4812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t>Builder</a:t>
            </a:r>
            <a:endParaRPr sz="1600"/>
          </a:p>
        </p:txBody>
      </p:sp>
      <p:sp>
        <p:nvSpPr>
          <p:cNvPr id="186" name="Google Shape;186;p21"/>
          <p:cNvSpPr/>
          <p:nvPr/>
        </p:nvSpPr>
        <p:spPr>
          <a:xfrm>
            <a:off x="289650" y="4207175"/>
            <a:ext cx="1295400" cy="524700"/>
          </a:xfrm>
          <a:prstGeom prst="rect">
            <a:avLst/>
          </a:prstGeom>
          <a:noFill/>
          <a:ln cap="flat" cmpd="sng" w="9525">
            <a:solidFill>
              <a:schemeClr val="dk2"/>
            </a:solidFill>
            <a:prstDash val="solid"/>
            <a:round/>
            <a:headEnd len="sm" w="sm" type="none"/>
            <a:tailEnd len="sm" w="sm" type="none"/>
          </a:ln>
        </p:spPr>
        <p:txBody>
          <a:bodyPr anchorCtr="0" anchor="ctr" bIns="91425" lIns="18000" spcFirstLastPara="1" rIns="18000" wrap="square" tIns="91425">
            <a:noAutofit/>
          </a:bodyPr>
          <a:lstStyle/>
          <a:p>
            <a:pPr indent="0" lvl="0" marL="0" rtl="0" algn="ctr">
              <a:spcBef>
                <a:spcPts val="0"/>
              </a:spcBef>
              <a:spcAft>
                <a:spcPts val="0"/>
              </a:spcAft>
              <a:buNone/>
            </a:pPr>
            <a:r>
              <a:rPr lang="en-GB" sz="1600"/>
              <a:t>Factory Method</a:t>
            </a:r>
            <a:endParaRPr sz="1600"/>
          </a:p>
        </p:txBody>
      </p:sp>
      <p:sp>
        <p:nvSpPr>
          <p:cNvPr id="187" name="Google Shape;187;p21"/>
          <p:cNvSpPr/>
          <p:nvPr/>
        </p:nvSpPr>
        <p:spPr>
          <a:xfrm>
            <a:off x="289650" y="4969175"/>
            <a:ext cx="1295400" cy="524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t>Ptototype</a:t>
            </a:r>
            <a:endParaRPr sz="1600"/>
          </a:p>
        </p:txBody>
      </p:sp>
      <p:sp>
        <p:nvSpPr>
          <p:cNvPr id="188" name="Google Shape;188;p21"/>
          <p:cNvSpPr/>
          <p:nvPr/>
        </p:nvSpPr>
        <p:spPr>
          <a:xfrm>
            <a:off x="289650" y="5654975"/>
            <a:ext cx="1295400" cy="524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t>Singleton</a:t>
            </a:r>
            <a:endParaRPr sz="1600"/>
          </a:p>
        </p:txBody>
      </p:sp>
      <p:sp>
        <p:nvSpPr>
          <p:cNvPr id="189" name="Google Shape;189;p21"/>
          <p:cNvSpPr/>
          <p:nvPr/>
        </p:nvSpPr>
        <p:spPr>
          <a:xfrm>
            <a:off x="2651850" y="2835575"/>
            <a:ext cx="1518000" cy="417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t>Adapter</a:t>
            </a:r>
            <a:endParaRPr sz="1600"/>
          </a:p>
        </p:txBody>
      </p:sp>
      <p:sp>
        <p:nvSpPr>
          <p:cNvPr id="190" name="Google Shape;190;p21"/>
          <p:cNvSpPr/>
          <p:nvPr/>
        </p:nvSpPr>
        <p:spPr>
          <a:xfrm>
            <a:off x="2651850" y="3380733"/>
            <a:ext cx="1518000" cy="3825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t>Bridge</a:t>
            </a:r>
            <a:endParaRPr sz="1600"/>
          </a:p>
        </p:txBody>
      </p:sp>
      <p:sp>
        <p:nvSpPr>
          <p:cNvPr id="191" name="Google Shape;191;p21"/>
          <p:cNvSpPr/>
          <p:nvPr/>
        </p:nvSpPr>
        <p:spPr>
          <a:xfrm>
            <a:off x="2651850" y="3905838"/>
            <a:ext cx="1518000" cy="417000"/>
          </a:xfrm>
          <a:prstGeom prst="rect">
            <a:avLst/>
          </a:prstGeom>
          <a:noFill/>
          <a:ln cap="flat" cmpd="sng" w="9525">
            <a:solidFill>
              <a:schemeClr val="dk2"/>
            </a:solidFill>
            <a:prstDash val="solid"/>
            <a:round/>
            <a:headEnd len="sm" w="sm" type="none"/>
            <a:tailEnd len="sm" w="sm" type="none"/>
          </a:ln>
        </p:spPr>
        <p:txBody>
          <a:bodyPr anchorCtr="0" anchor="ctr" bIns="91425" lIns="18000" spcFirstLastPara="1" rIns="18000" wrap="square" tIns="91425">
            <a:noAutofit/>
          </a:bodyPr>
          <a:lstStyle/>
          <a:p>
            <a:pPr indent="0" lvl="0" marL="0" rtl="0" algn="ctr">
              <a:spcBef>
                <a:spcPts val="0"/>
              </a:spcBef>
              <a:spcAft>
                <a:spcPts val="0"/>
              </a:spcAft>
              <a:buNone/>
            </a:pPr>
            <a:r>
              <a:rPr lang="en-GB" sz="1600"/>
              <a:t>Composite</a:t>
            </a:r>
            <a:endParaRPr sz="1600"/>
          </a:p>
        </p:txBody>
      </p:sp>
      <p:sp>
        <p:nvSpPr>
          <p:cNvPr id="192" name="Google Shape;192;p21"/>
          <p:cNvSpPr/>
          <p:nvPr/>
        </p:nvSpPr>
        <p:spPr>
          <a:xfrm>
            <a:off x="2651850" y="4481493"/>
            <a:ext cx="1518000" cy="417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t>Decorator</a:t>
            </a:r>
            <a:endParaRPr sz="1600"/>
          </a:p>
        </p:txBody>
      </p:sp>
      <p:sp>
        <p:nvSpPr>
          <p:cNvPr id="193" name="Google Shape;193;p21"/>
          <p:cNvSpPr/>
          <p:nvPr/>
        </p:nvSpPr>
        <p:spPr>
          <a:xfrm>
            <a:off x="2651850" y="5026648"/>
            <a:ext cx="1518000" cy="417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t>Facade</a:t>
            </a:r>
            <a:endParaRPr sz="1600"/>
          </a:p>
        </p:txBody>
      </p:sp>
      <p:sp>
        <p:nvSpPr>
          <p:cNvPr id="194" name="Google Shape;194;p21"/>
          <p:cNvSpPr/>
          <p:nvPr/>
        </p:nvSpPr>
        <p:spPr>
          <a:xfrm>
            <a:off x="2651850" y="5560049"/>
            <a:ext cx="1518000" cy="417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t>Flyweight</a:t>
            </a:r>
            <a:endParaRPr sz="1600"/>
          </a:p>
        </p:txBody>
      </p:sp>
      <p:sp>
        <p:nvSpPr>
          <p:cNvPr id="195" name="Google Shape;195;p21"/>
          <p:cNvSpPr/>
          <p:nvPr/>
        </p:nvSpPr>
        <p:spPr>
          <a:xfrm>
            <a:off x="2651850" y="6093450"/>
            <a:ext cx="1518000" cy="417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t>Proxy</a:t>
            </a:r>
            <a:endParaRPr sz="1600"/>
          </a:p>
        </p:txBody>
      </p:sp>
      <p:sp>
        <p:nvSpPr>
          <p:cNvPr id="196" name="Google Shape;196;p21"/>
          <p:cNvSpPr/>
          <p:nvPr/>
        </p:nvSpPr>
        <p:spPr>
          <a:xfrm>
            <a:off x="4937850" y="2835575"/>
            <a:ext cx="1483800" cy="524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t>Chain of Responsibility</a:t>
            </a:r>
            <a:endParaRPr sz="1600"/>
          </a:p>
        </p:txBody>
      </p:sp>
      <p:sp>
        <p:nvSpPr>
          <p:cNvPr id="197" name="Google Shape;197;p21"/>
          <p:cNvSpPr/>
          <p:nvPr/>
        </p:nvSpPr>
        <p:spPr>
          <a:xfrm>
            <a:off x="4937850" y="3521373"/>
            <a:ext cx="1483800" cy="3693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t>Command</a:t>
            </a:r>
            <a:endParaRPr sz="1600"/>
          </a:p>
        </p:txBody>
      </p:sp>
      <p:sp>
        <p:nvSpPr>
          <p:cNvPr id="198" name="Google Shape;198;p21"/>
          <p:cNvSpPr/>
          <p:nvPr/>
        </p:nvSpPr>
        <p:spPr>
          <a:xfrm>
            <a:off x="4937850" y="4047296"/>
            <a:ext cx="1483800" cy="402600"/>
          </a:xfrm>
          <a:prstGeom prst="rect">
            <a:avLst/>
          </a:prstGeom>
          <a:noFill/>
          <a:ln cap="flat" cmpd="sng" w="9525">
            <a:solidFill>
              <a:schemeClr val="dk2"/>
            </a:solidFill>
            <a:prstDash val="solid"/>
            <a:round/>
            <a:headEnd len="sm" w="sm" type="none"/>
            <a:tailEnd len="sm" w="sm" type="none"/>
          </a:ln>
        </p:spPr>
        <p:txBody>
          <a:bodyPr anchorCtr="0" anchor="ctr" bIns="91425" lIns="18000" spcFirstLastPara="1" rIns="18000" wrap="square" tIns="91425">
            <a:noAutofit/>
          </a:bodyPr>
          <a:lstStyle/>
          <a:p>
            <a:pPr indent="0" lvl="0" marL="0" rtl="0" algn="ctr">
              <a:spcBef>
                <a:spcPts val="0"/>
              </a:spcBef>
              <a:spcAft>
                <a:spcPts val="0"/>
              </a:spcAft>
              <a:buNone/>
            </a:pPr>
            <a:r>
              <a:rPr lang="en-GB" sz="1600"/>
              <a:t>Interpreter</a:t>
            </a:r>
            <a:endParaRPr sz="1600"/>
          </a:p>
        </p:txBody>
      </p:sp>
      <p:sp>
        <p:nvSpPr>
          <p:cNvPr id="199" name="Google Shape;199;p21"/>
          <p:cNvSpPr/>
          <p:nvPr/>
        </p:nvSpPr>
        <p:spPr>
          <a:xfrm>
            <a:off x="4937850" y="4631655"/>
            <a:ext cx="1483800" cy="4026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t>Iterator</a:t>
            </a:r>
            <a:endParaRPr sz="1600"/>
          </a:p>
        </p:txBody>
      </p:sp>
      <p:sp>
        <p:nvSpPr>
          <p:cNvPr id="200" name="Google Shape;200;p21"/>
          <p:cNvSpPr/>
          <p:nvPr/>
        </p:nvSpPr>
        <p:spPr>
          <a:xfrm>
            <a:off x="4937850" y="5157578"/>
            <a:ext cx="1483800" cy="4026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t>Mediator</a:t>
            </a:r>
            <a:endParaRPr sz="1600"/>
          </a:p>
        </p:txBody>
      </p:sp>
      <p:sp>
        <p:nvSpPr>
          <p:cNvPr id="201" name="Google Shape;201;p21"/>
          <p:cNvSpPr/>
          <p:nvPr/>
        </p:nvSpPr>
        <p:spPr>
          <a:xfrm>
            <a:off x="4937850" y="5690976"/>
            <a:ext cx="1483800" cy="4026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t>Memento</a:t>
            </a:r>
            <a:endParaRPr sz="1600"/>
          </a:p>
        </p:txBody>
      </p:sp>
      <p:sp>
        <p:nvSpPr>
          <p:cNvPr id="202" name="Google Shape;202;p21"/>
          <p:cNvSpPr/>
          <p:nvPr/>
        </p:nvSpPr>
        <p:spPr>
          <a:xfrm>
            <a:off x="7528650" y="2835575"/>
            <a:ext cx="1403700" cy="3693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t>Observer</a:t>
            </a:r>
            <a:endParaRPr sz="1600"/>
          </a:p>
        </p:txBody>
      </p:sp>
      <p:sp>
        <p:nvSpPr>
          <p:cNvPr id="203" name="Google Shape;203;p21"/>
          <p:cNvSpPr/>
          <p:nvPr/>
        </p:nvSpPr>
        <p:spPr>
          <a:xfrm>
            <a:off x="7528650" y="3361498"/>
            <a:ext cx="1403700" cy="402600"/>
          </a:xfrm>
          <a:prstGeom prst="rect">
            <a:avLst/>
          </a:prstGeom>
          <a:noFill/>
          <a:ln cap="flat" cmpd="sng" w="9525">
            <a:solidFill>
              <a:schemeClr val="dk2"/>
            </a:solidFill>
            <a:prstDash val="solid"/>
            <a:round/>
            <a:headEnd len="sm" w="sm" type="none"/>
            <a:tailEnd len="sm" w="sm" type="none"/>
          </a:ln>
        </p:spPr>
        <p:txBody>
          <a:bodyPr anchorCtr="0" anchor="ctr" bIns="91425" lIns="18000" spcFirstLastPara="1" rIns="18000" wrap="square" tIns="91425">
            <a:noAutofit/>
          </a:bodyPr>
          <a:lstStyle/>
          <a:p>
            <a:pPr indent="0" lvl="0" marL="0" rtl="0" algn="ctr">
              <a:spcBef>
                <a:spcPts val="0"/>
              </a:spcBef>
              <a:spcAft>
                <a:spcPts val="0"/>
              </a:spcAft>
              <a:buNone/>
            </a:pPr>
            <a:r>
              <a:rPr lang="en-GB" sz="1600"/>
              <a:t>State</a:t>
            </a:r>
            <a:endParaRPr sz="1600"/>
          </a:p>
        </p:txBody>
      </p:sp>
      <p:sp>
        <p:nvSpPr>
          <p:cNvPr id="204" name="Google Shape;204;p21"/>
          <p:cNvSpPr/>
          <p:nvPr/>
        </p:nvSpPr>
        <p:spPr>
          <a:xfrm>
            <a:off x="7528650" y="3945856"/>
            <a:ext cx="1403700" cy="4026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t>Strategy</a:t>
            </a:r>
            <a:endParaRPr sz="1600"/>
          </a:p>
        </p:txBody>
      </p:sp>
      <p:sp>
        <p:nvSpPr>
          <p:cNvPr id="205" name="Google Shape;205;p21"/>
          <p:cNvSpPr/>
          <p:nvPr/>
        </p:nvSpPr>
        <p:spPr>
          <a:xfrm>
            <a:off x="7528650" y="4471774"/>
            <a:ext cx="1403700" cy="4812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t>Template Method</a:t>
            </a:r>
            <a:endParaRPr sz="1600"/>
          </a:p>
        </p:txBody>
      </p:sp>
      <p:sp>
        <p:nvSpPr>
          <p:cNvPr id="206" name="Google Shape;206;p21"/>
          <p:cNvSpPr/>
          <p:nvPr/>
        </p:nvSpPr>
        <p:spPr>
          <a:xfrm>
            <a:off x="7528650" y="5081376"/>
            <a:ext cx="1403700" cy="4026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t>Visitor</a:t>
            </a:r>
            <a:endParaRPr sz="1600"/>
          </a:p>
        </p:txBody>
      </p:sp>
      <p:sp>
        <p:nvSpPr>
          <p:cNvPr id="207" name="Google Shape;207;p21"/>
          <p:cNvSpPr/>
          <p:nvPr/>
        </p:nvSpPr>
        <p:spPr>
          <a:xfrm>
            <a:off x="2306975" y="2402425"/>
            <a:ext cx="180600" cy="1704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8" name="Google Shape;208;p21"/>
          <p:cNvSpPr/>
          <p:nvPr/>
        </p:nvSpPr>
        <p:spPr>
          <a:xfrm>
            <a:off x="4516775" y="2402425"/>
            <a:ext cx="180600" cy="1704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9" name="Google Shape;209;p21"/>
          <p:cNvSpPr/>
          <p:nvPr/>
        </p:nvSpPr>
        <p:spPr>
          <a:xfrm>
            <a:off x="6802775" y="2402425"/>
            <a:ext cx="180600" cy="1704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0" name="Google Shape;210;p21"/>
          <p:cNvSpPr/>
          <p:nvPr/>
        </p:nvSpPr>
        <p:spPr>
          <a:xfrm>
            <a:off x="7107575" y="2402425"/>
            <a:ext cx="180600" cy="1704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11" name="Google Shape;211;p21"/>
          <p:cNvCxnSpPr>
            <a:stCxn id="184" idx="3"/>
            <a:endCxn id="207" idx="3"/>
          </p:cNvCxnSpPr>
          <p:nvPr/>
        </p:nvCxnSpPr>
        <p:spPr>
          <a:xfrm flipH="1" rot="10800000">
            <a:off x="1585050" y="2572925"/>
            <a:ext cx="812100" cy="525000"/>
          </a:xfrm>
          <a:prstGeom prst="bentConnector2">
            <a:avLst/>
          </a:prstGeom>
          <a:noFill/>
          <a:ln cap="flat" cmpd="sng" w="9525">
            <a:solidFill>
              <a:schemeClr val="dk2"/>
            </a:solidFill>
            <a:prstDash val="solid"/>
            <a:round/>
            <a:headEnd len="med" w="med" type="none"/>
            <a:tailEnd len="med" w="med" type="none"/>
          </a:ln>
        </p:spPr>
      </p:cxnSp>
      <p:cxnSp>
        <p:nvCxnSpPr>
          <p:cNvPr id="212" name="Google Shape;212;p21"/>
          <p:cNvCxnSpPr>
            <a:stCxn id="185" idx="3"/>
            <a:endCxn id="207" idx="3"/>
          </p:cNvCxnSpPr>
          <p:nvPr/>
        </p:nvCxnSpPr>
        <p:spPr>
          <a:xfrm flipH="1" rot="10800000">
            <a:off x="1585050" y="2572775"/>
            <a:ext cx="812100" cy="1189200"/>
          </a:xfrm>
          <a:prstGeom prst="bentConnector2">
            <a:avLst/>
          </a:prstGeom>
          <a:noFill/>
          <a:ln cap="flat" cmpd="sng" w="9525">
            <a:solidFill>
              <a:schemeClr val="dk2"/>
            </a:solidFill>
            <a:prstDash val="solid"/>
            <a:round/>
            <a:headEnd len="med" w="med" type="none"/>
            <a:tailEnd len="med" w="med" type="none"/>
          </a:ln>
        </p:spPr>
      </p:cxnSp>
      <p:cxnSp>
        <p:nvCxnSpPr>
          <p:cNvPr id="213" name="Google Shape;213;p21"/>
          <p:cNvCxnSpPr>
            <a:stCxn id="186" idx="3"/>
            <a:endCxn id="207" idx="3"/>
          </p:cNvCxnSpPr>
          <p:nvPr/>
        </p:nvCxnSpPr>
        <p:spPr>
          <a:xfrm flipH="1" rot="10800000">
            <a:off x="1585050" y="2572925"/>
            <a:ext cx="812100" cy="1896600"/>
          </a:xfrm>
          <a:prstGeom prst="bentConnector2">
            <a:avLst/>
          </a:prstGeom>
          <a:noFill/>
          <a:ln cap="flat" cmpd="sng" w="9525">
            <a:solidFill>
              <a:schemeClr val="dk2"/>
            </a:solidFill>
            <a:prstDash val="solid"/>
            <a:round/>
            <a:headEnd len="med" w="med" type="none"/>
            <a:tailEnd len="med" w="med" type="none"/>
          </a:ln>
        </p:spPr>
      </p:cxnSp>
      <p:cxnSp>
        <p:nvCxnSpPr>
          <p:cNvPr id="214" name="Google Shape;214;p21"/>
          <p:cNvCxnSpPr>
            <a:stCxn id="187" idx="3"/>
            <a:endCxn id="207" idx="3"/>
          </p:cNvCxnSpPr>
          <p:nvPr/>
        </p:nvCxnSpPr>
        <p:spPr>
          <a:xfrm flipH="1" rot="10800000">
            <a:off x="1585050" y="2572925"/>
            <a:ext cx="812100" cy="2658600"/>
          </a:xfrm>
          <a:prstGeom prst="bentConnector2">
            <a:avLst/>
          </a:prstGeom>
          <a:noFill/>
          <a:ln cap="flat" cmpd="sng" w="9525">
            <a:solidFill>
              <a:schemeClr val="dk2"/>
            </a:solidFill>
            <a:prstDash val="solid"/>
            <a:round/>
            <a:headEnd len="med" w="med" type="none"/>
            <a:tailEnd len="med" w="med" type="none"/>
          </a:ln>
        </p:spPr>
      </p:cxnSp>
      <p:cxnSp>
        <p:nvCxnSpPr>
          <p:cNvPr id="215" name="Google Shape;215;p21"/>
          <p:cNvCxnSpPr>
            <a:stCxn id="188" idx="3"/>
            <a:endCxn id="207" idx="3"/>
          </p:cNvCxnSpPr>
          <p:nvPr/>
        </p:nvCxnSpPr>
        <p:spPr>
          <a:xfrm flipH="1" rot="10800000">
            <a:off x="1585050" y="2572925"/>
            <a:ext cx="812100" cy="3344400"/>
          </a:xfrm>
          <a:prstGeom prst="bentConnector2">
            <a:avLst/>
          </a:prstGeom>
          <a:noFill/>
          <a:ln cap="flat" cmpd="sng" w="9525">
            <a:solidFill>
              <a:schemeClr val="dk2"/>
            </a:solidFill>
            <a:prstDash val="solid"/>
            <a:round/>
            <a:headEnd len="med" w="med" type="none"/>
            <a:tailEnd len="med" w="med" type="none"/>
          </a:ln>
        </p:spPr>
      </p:cxnSp>
      <p:cxnSp>
        <p:nvCxnSpPr>
          <p:cNvPr id="216" name="Google Shape;216;p21"/>
          <p:cNvCxnSpPr>
            <a:stCxn id="189" idx="3"/>
            <a:endCxn id="208" idx="3"/>
          </p:cNvCxnSpPr>
          <p:nvPr/>
        </p:nvCxnSpPr>
        <p:spPr>
          <a:xfrm flipH="1" rot="10800000">
            <a:off x="4169850" y="2572775"/>
            <a:ext cx="437100" cy="471300"/>
          </a:xfrm>
          <a:prstGeom prst="bentConnector2">
            <a:avLst/>
          </a:prstGeom>
          <a:noFill/>
          <a:ln cap="flat" cmpd="sng" w="9525">
            <a:solidFill>
              <a:schemeClr val="dk2"/>
            </a:solidFill>
            <a:prstDash val="solid"/>
            <a:round/>
            <a:headEnd len="med" w="med" type="none"/>
            <a:tailEnd len="med" w="med" type="none"/>
          </a:ln>
        </p:spPr>
      </p:cxnSp>
      <p:cxnSp>
        <p:nvCxnSpPr>
          <p:cNvPr id="217" name="Google Shape;217;p21"/>
          <p:cNvCxnSpPr>
            <a:stCxn id="190" idx="3"/>
            <a:endCxn id="208" idx="3"/>
          </p:cNvCxnSpPr>
          <p:nvPr/>
        </p:nvCxnSpPr>
        <p:spPr>
          <a:xfrm flipH="1" rot="10800000">
            <a:off x="4169850" y="2572683"/>
            <a:ext cx="437100" cy="999300"/>
          </a:xfrm>
          <a:prstGeom prst="bentConnector2">
            <a:avLst/>
          </a:prstGeom>
          <a:noFill/>
          <a:ln cap="flat" cmpd="sng" w="9525">
            <a:solidFill>
              <a:schemeClr val="dk2"/>
            </a:solidFill>
            <a:prstDash val="solid"/>
            <a:round/>
            <a:headEnd len="med" w="med" type="none"/>
            <a:tailEnd len="med" w="med" type="none"/>
          </a:ln>
        </p:spPr>
      </p:cxnSp>
      <p:cxnSp>
        <p:nvCxnSpPr>
          <p:cNvPr id="218" name="Google Shape;218;p21"/>
          <p:cNvCxnSpPr>
            <a:stCxn id="191" idx="3"/>
            <a:endCxn id="208" idx="3"/>
          </p:cNvCxnSpPr>
          <p:nvPr/>
        </p:nvCxnSpPr>
        <p:spPr>
          <a:xfrm flipH="1" rot="10800000">
            <a:off x="4169850" y="2572938"/>
            <a:ext cx="437100" cy="1541400"/>
          </a:xfrm>
          <a:prstGeom prst="bentConnector2">
            <a:avLst/>
          </a:prstGeom>
          <a:noFill/>
          <a:ln cap="flat" cmpd="sng" w="9525">
            <a:solidFill>
              <a:schemeClr val="dk2"/>
            </a:solidFill>
            <a:prstDash val="solid"/>
            <a:round/>
            <a:headEnd len="med" w="med" type="none"/>
            <a:tailEnd len="med" w="med" type="none"/>
          </a:ln>
        </p:spPr>
      </p:cxnSp>
      <p:cxnSp>
        <p:nvCxnSpPr>
          <p:cNvPr id="219" name="Google Shape;219;p21"/>
          <p:cNvCxnSpPr>
            <a:stCxn id="192" idx="3"/>
            <a:endCxn id="208" idx="3"/>
          </p:cNvCxnSpPr>
          <p:nvPr/>
        </p:nvCxnSpPr>
        <p:spPr>
          <a:xfrm flipH="1" rot="10800000">
            <a:off x="4169850" y="2572893"/>
            <a:ext cx="437100" cy="2117100"/>
          </a:xfrm>
          <a:prstGeom prst="bentConnector2">
            <a:avLst/>
          </a:prstGeom>
          <a:noFill/>
          <a:ln cap="flat" cmpd="sng" w="9525">
            <a:solidFill>
              <a:schemeClr val="dk2"/>
            </a:solidFill>
            <a:prstDash val="solid"/>
            <a:round/>
            <a:headEnd len="med" w="med" type="none"/>
            <a:tailEnd len="med" w="med" type="none"/>
          </a:ln>
        </p:spPr>
      </p:cxnSp>
      <p:cxnSp>
        <p:nvCxnSpPr>
          <p:cNvPr id="220" name="Google Shape;220;p21"/>
          <p:cNvCxnSpPr>
            <a:stCxn id="193" idx="3"/>
            <a:endCxn id="208" idx="3"/>
          </p:cNvCxnSpPr>
          <p:nvPr/>
        </p:nvCxnSpPr>
        <p:spPr>
          <a:xfrm flipH="1" rot="10800000">
            <a:off x="4169850" y="2572948"/>
            <a:ext cx="437100" cy="2662200"/>
          </a:xfrm>
          <a:prstGeom prst="bentConnector2">
            <a:avLst/>
          </a:prstGeom>
          <a:noFill/>
          <a:ln cap="flat" cmpd="sng" w="9525">
            <a:solidFill>
              <a:schemeClr val="dk2"/>
            </a:solidFill>
            <a:prstDash val="solid"/>
            <a:round/>
            <a:headEnd len="med" w="med" type="none"/>
            <a:tailEnd len="med" w="med" type="none"/>
          </a:ln>
        </p:spPr>
      </p:cxnSp>
      <p:cxnSp>
        <p:nvCxnSpPr>
          <p:cNvPr id="221" name="Google Shape;221;p21"/>
          <p:cNvCxnSpPr>
            <a:stCxn id="194" idx="3"/>
            <a:endCxn id="208" idx="3"/>
          </p:cNvCxnSpPr>
          <p:nvPr/>
        </p:nvCxnSpPr>
        <p:spPr>
          <a:xfrm flipH="1" rot="10800000">
            <a:off x="4169850" y="2572949"/>
            <a:ext cx="437100" cy="3195600"/>
          </a:xfrm>
          <a:prstGeom prst="bentConnector2">
            <a:avLst/>
          </a:prstGeom>
          <a:noFill/>
          <a:ln cap="flat" cmpd="sng" w="9525">
            <a:solidFill>
              <a:schemeClr val="dk2"/>
            </a:solidFill>
            <a:prstDash val="solid"/>
            <a:round/>
            <a:headEnd len="med" w="med" type="none"/>
            <a:tailEnd len="med" w="med" type="none"/>
          </a:ln>
        </p:spPr>
      </p:cxnSp>
      <p:cxnSp>
        <p:nvCxnSpPr>
          <p:cNvPr id="222" name="Google Shape;222;p21"/>
          <p:cNvCxnSpPr>
            <a:stCxn id="195" idx="3"/>
            <a:endCxn id="208" idx="3"/>
          </p:cNvCxnSpPr>
          <p:nvPr/>
        </p:nvCxnSpPr>
        <p:spPr>
          <a:xfrm flipH="1" rot="10800000">
            <a:off x="4169850" y="2572950"/>
            <a:ext cx="437100" cy="3729000"/>
          </a:xfrm>
          <a:prstGeom prst="bentConnector2">
            <a:avLst/>
          </a:prstGeom>
          <a:noFill/>
          <a:ln cap="flat" cmpd="sng" w="9525">
            <a:solidFill>
              <a:schemeClr val="dk2"/>
            </a:solidFill>
            <a:prstDash val="solid"/>
            <a:round/>
            <a:headEnd len="med" w="med" type="none"/>
            <a:tailEnd len="med" w="med" type="none"/>
          </a:ln>
        </p:spPr>
      </p:cxnSp>
      <p:cxnSp>
        <p:nvCxnSpPr>
          <p:cNvPr id="223" name="Google Shape;223;p21"/>
          <p:cNvCxnSpPr>
            <a:stCxn id="196" idx="3"/>
            <a:endCxn id="209" idx="3"/>
          </p:cNvCxnSpPr>
          <p:nvPr/>
        </p:nvCxnSpPr>
        <p:spPr>
          <a:xfrm flipH="1" rot="10800000">
            <a:off x="6421650" y="2572925"/>
            <a:ext cx="471300" cy="525000"/>
          </a:xfrm>
          <a:prstGeom prst="bentConnector2">
            <a:avLst/>
          </a:prstGeom>
          <a:noFill/>
          <a:ln cap="flat" cmpd="sng" w="9525">
            <a:solidFill>
              <a:schemeClr val="dk2"/>
            </a:solidFill>
            <a:prstDash val="solid"/>
            <a:round/>
            <a:headEnd len="med" w="med" type="none"/>
            <a:tailEnd len="med" w="med" type="none"/>
          </a:ln>
        </p:spPr>
      </p:cxnSp>
      <p:cxnSp>
        <p:nvCxnSpPr>
          <p:cNvPr id="224" name="Google Shape;224;p21"/>
          <p:cNvCxnSpPr>
            <a:stCxn id="197" idx="3"/>
            <a:endCxn id="209" idx="3"/>
          </p:cNvCxnSpPr>
          <p:nvPr/>
        </p:nvCxnSpPr>
        <p:spPr>
          <a:xfrm flipH="1" rot="10800000">
            <a:off x="6421650" y="2572923"/>
            <a:ext cx="471300" cy="1133100"/>
          </a:xfrm>
          <a:prstGeom prst="bentConnector2">
            <a:avLst/>
          </a:prstGeom>
          <a:noFill/>
          <a:ln cap="flat" cmpd="sng" w="9525">
            <a:solidFill>
              <a:schemeClr val="dk2"/>
            </a:solidFill>
            <a:prstDash val="solid"/>
            <a:round/>
            <a:headEnd len="med" w="med" type="none"/>
            <a:tailEnd len="med" w="med" type="none"/>
          </a:ln>
        </p:spPr>
      </p:cxnSp>
      <p:cxnSp>
        <p:nvCxnSpPr>
          <p:cNvPr id="225" name="Google Shape;225;p21"/>
          <p:cNvCxnSpPr>
            <a:stCxn id="198" idx="3"/>
            <a:endCxn id="209" idx="3"/>
          </p:cNvCxnSpPr>
          <p:nvPr/>
        </p:nvCxnSpPr>
        <p:spPr>
          <a:xfrm flipH="1" rot="10800000">
            <a:off x="6421650" y="2572796"/>
            <a:ext cx="471300" cy="1675800"/>
          </a:xfrm>
          <a:prstGeom prst="bentConnector2">
            <a:avLst/>
          </a:prstGeom>
          <a:noFill/>
          <a:ln cap="flat" cmpd="sng" w="9525">
            <a:solidFill>
              <a:schemeClr val="dk2"/>
            </a:solidFill>
            <a:prstDash val="solid"/>
            <a:round/>
            <a:headEnd len="med" w="med" type="none"/>
            <a:tailEnd len="med" w="med" type="none"/>
          </a:ln>
        </p:spPr>
      </p:cxnSp>
      <p:cxnSp>
        <p:nvCxnSpPr>
          <p:cNvPr id="226" name="Google Shape;226;p21"/>
          <p:cNvCxnSpPr>
            <a:stCxn id="199" idx="3"/>
            <a:endCxn id="209" idx="3"/>
          </p:cNvCxnSpPr>
          <p:nvPr/>
        </p:nvCxnSpPr>
        <p:spPr>
          <a:xfrm flipH="1" rot="10800000">
            <a:off x="6421650" y="2572755"/>
            <a:ext cx="471300" cy="2260200"/>
          </a:xfrm>
          <a:prstGeom prst="bentConnector2">
            <a:avLst/>
          </a:prstGeom>
          <a:noFill/>
          <a:ln cap="flat" cmpd="sng" w="9525">
            <a:solidFill>
              <a:schemeClr val="dk2"/>
            </a:solidFill>
            <a:prstDash val="solid"/>
            <a:round/>
            <a:headEnd len="med" w="med" type="none"/>
            <a:tailEnd len="med" w="med" type="none"/>
          </a:ln>
        </p:spPr>
      </p:cxnSp>
      <p:cxnSp>
        <p:nvCxnSpPr>
          <p:cNvPr id="227" name="Google Shape;227;p21"/>
          <p:cNvCxnSpPr>
            <a:stCxn id="200" idx="3"/>
            <a:endCxn id="209" idx="3"/>
          </p:cNvCxnSpPr>
          <p:nvPr/>
        </p:nvCxnSpPr>
        <p:spPr>
          <a:xfrm flipH="1" rot="10800000">
            <a:off x="6421650" y="2572778"/>
            <a:ext cx="471300" cy="2786100"/>
          </a:xfrm>
          <a:prstGeom prst="bentConnector2">
            <a:avLst/>
          </a:prstGeom>
          <a:noFill/>
          <a:ln cap="flat" cmpd="sng" w="9525">
            <a:solidFill>
              <a:schemeClr val="dk2"/>
            </a:solidFill>
            <a:prstDash val="solid"/>
            <a:round/>
            <a:headEnd len="med" w="med" type="none"/>
            <a:tailEnd len="med" w="med" type="none"/>
          </a:ln>
        </p:spPr>
      </p:cxnSp>
      <p:cxnSp>
        <p:nvCxnSpPr>
          <p:cNvPr id="228" name="Google Shape;228;p21"/>
          <p:cNvCxnSpPr>
            <a:stCxn id="201" idx="3"/>
            <a:endCxn id="209" idx="3"/>
          </p:cNvCxnSpPr>
          <p:nvPr/>
        </p:nvCxnSpPr>
        <p:spPr>
          <a:xfrm flipH="1" rot="10800000">
            <a:off x="6421650" y="2572776"/>
            <a:ext cx="471300" cy="3319500"/>
          </a:xfrm>
          <a:prstGeom prst="bentConnector2">
            <a:avLst/>
          </a:prstGeom>
          <a:noFill/>
          <a:ln cap="flat" cmpd="sng" w="9525">
            <a:solidFill>
              <a:schemeClr val="dk2"/>
            </a:solidFill>
            <a:prstDash val="solid"/>
            <a:round/>
            <a:headEnd len="med" w="med" type="none"/>
            <a:tailEnd len="med" w="med" type="none"/>
          </a:ln>
        </p:spPr>
      </p:cxnSp>
      <p:cxnSp>
        <p:nvCxnSpPr>
          <p:cNvPr id="229" name="Google Shape;229;p21"/>
          <p:cNvCxnSpPr>
            <a:stCxn id="202" idx="1"/>
            <a:endCxn id="210" idx="3"/>
          </p:cNvCxnSpPr>
          <p:nvPr/>
        </p:nvCxnSpPr>
        <p:spPr>
          <a:xfrm rot="10800000">
            <a:off x="7197750" y="2572925"/>
            <a:ext cx="330900" cy="447300"/>
          </a:xfrm>
          <a:prstGeom prst="bentConnector2">
            <a:avLst/>
          </a:prstGeom>
          <a:noFill/>
          <a:ln cap="flat" cmpd="sng" w="9525">
            <a:solidFill>
              <a:schemeClr val="dk2"/>
            </a:solidFill>
            <a:prstDash val="solid"/>
            <a:round/>
            <a:headEnd len="med" w="med" type="none"/>
            <a:tailEnd len="med" w="med" type="none"/>
          </a:ln>
        </p:spPr>
      </p:cxnSp>
      <p:cxnSp>
        <p:nvCxnSpPr>
          <p:cNvPr id="230" name="Google Shape;230;p21"/>
          <p:cNvCxnSpPr>
            <a:stCxn id="203" idx="1"/>
            <a:endCxn id="210" idx="3"/>
          </p:cNvCxnSpPr>
          <p:nvPr/>
        </p:nvCxnSpPr>
        <p:spPr>
          <a:xfrm rot="10800000">
            <a:off x="7197750" y="2572798"/>
            <a:ext cx="330900" cy="990000"/>
          </a:xfrm>
          <a:prstGeom prst="bentConnector2">
            <a:avLst/>
          </a:prstGeom>
          <a:noFill/>
          <a:ln cap="flat" cmpd="sng" w="9525">
            <a:solidFill>
              <a:schemeClr val="dk2"/>
            </a:solidFill>
            <a:prstDash val="solid"/>
            <a:round/>
            <a:headEnd len="med" w="med" type="none"/>
            <a:tailEnd len="med" w="med" type="none"/>
          </a:ln>
        </p:spPr>
      </p:cxnSp>
      <p:cxnSp>
        <p:nvCxnSpPr>
          <p:cNvPr id="231" name="Google Shape;231;p21"/>
          <p:cNvCxnSpPr>
            <a:stCxn id="204" idx="1"/>
            <a:endCxn id="210" idx="3"/>
          </p:cNvCxnSpPr>
          <p:nvPr/>
        </p:nvCxnSpPr>
        <p:spPr>
          <a:xfrm rot="10800000">
            <a:off x="7197750" y="2572756"/>
            <a:ext cx="330900" cy="1574400"/>
          </a:xfrm>
          <a:prstGeom prst="bentConnector2">
            <a:avLst/>
          </a:prstGeom>
          <a:noFill/>
          <a:ln cap="flat" cmpd="sng" w="9525">
            <a:solidFill>
              <a:schemeClr val="dk2"/>
            </a:solidFill>
            <a:prstDash val="solid"/>
            <a:round/>
            <a:headEnd len="med" w="med" type="none"/>
            <a:tailEnd len="med" w="med" type="none"/>
          </a:ln>
        </p:spPr>
      </p:cxnSp>
      <p:cxnSp>
        <p:nvCxnSpPr>
          <p:cNvPr id="232" name="Google Shape;232;p21"/>
          <p:cNvCxnSpPr>
            <a:stCxn id="205" idx="1"/>
            <a:endCxn id="210" idx="3"/>
          </p:cNvCxnSpPr>
          <p:nvPr/>
        </p:nvCxnSpPr>
        <p:spPr>
          <a:xfrm rot="10800000">
            <a:off x="7197750" y="2572774"/>
            <a:ext cx="330900" cy="2139600"/>
          </a:xfrm>
          <a:prstGeom prst="bentConnector2">
            <a:avLst/>
          </a:prstGeom>
          <a:noFill/>
          <a:ln cap="flat" cmpd="sng" w="9525">
            <a:solidFill>
              <a:schemeClr val="dk2"/>
            </a:solidFill>
            <a:prstDash val="solid"/>
            <a:round/>
            <a:headEnd len="med" w="med" type="none"/>
            <a:tailEnd len="med" w="med" type="none"/>
          </a:ln>
        </p:spPr>
      </p:cxnSp>
      <p:cxnSp>
        <p:nvCxnSpPr>
          <p:cNvPr id="233" name="Google Shape;233;p21"/>
          <p:cNvCxnSpPr>
            <a:stCxn id="206" idx="1"/>
            <a:endCxn id="210" idx="3"/>
          </p:cNvCxnSpPr>
          <p:nvPr/>
        </p:nvCxnSpPr>
        <p:spPr>
          <a:xfrm rot="10800000">
            <a:off x="7197750" y="2572776"/>
            <a:ext cx="330900" cy="2709900"/>
          </a:xfrm>
          <a:prstGeom prst="bentConnector2">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22"/>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Nội dung</a:t>
            </a:r>
            <a:endParaRPr/>
          </a:p>
        </p:txBody>
      </p:sp>
      <p:sp>
        <p:nvSpPr>
          <p:cNvPr id="239" name="Google Shape;239;p2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240" name="Google Shape;240;p22"/>
          <p:cNvSpPr txBox="1"/>
          <p:nvPr>
            <p:ph idx="1" type="body"/>
          </p:nvPr>
        </p:nvSpPr>
        <p:spPr>
          <a:xfrm>
            <a:off x="311700" y="950475"/>
            <a:ext cx="8520600" cy="54183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Mẫu tạo</a:t>
            </a:r>
            <a:endParaRPr/>
          </a:p>
          <a:p>
            <a:pPr indent="-381000" lvl="0" marL="457200" rtl="0" algn="l">
              <a:spcBef>
                <a:spcPts val="0"/>
              </a:spcBef>
              <a:spcAft>
                <a:spcPts val="0"/>
              </a:spcAft>
              <a:buSzPts val="2400"/>
              <a:buChar char="●"/>
            </a:pPr>
            <a:r>
              <a:rPr lang="en-GB"/>
              <a:t>Mẫu</a:t>
            </a:r>
            <a:r>
              <a:rPr lang="en-GB"/>
              <a:t> kết cấu</a:t>
            </a:r>
            <a:endParaRPr/>
          </a:p>
          <a:p>
            <a:pPr indent="-381000" lvl="0" marL="457200" rtl="0" algn="l">
              <a:spcBef>
                <a:spcPts val="0"/>
              </a:spcBef>
              <a:spcAft>
                <a:spcPts val="0"/>
              </a:spcAft>
              <a:buSzPts val="2400"/>
              <a:buChar char="●"/>
            </a:pPr>
            <a:r>
              <a:rPr lang="en-GB"/>
              <a:t>Mẫu</a:t>
            </a:r>
            <a:r>
              <a:rPr lang="en-GB"/>
              <a:t> hành vi</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23"/>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Nội dung</a:t>
            </a:r>
            <a:endParaRPr/>
          </a:p>
        </p:txBody>
      </p:sp>
      <p:sp>
        <p:nvSpPr>
          <p:cNvPr id="246" name="Google Shape;246;p2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247" name="Google Shape;247;p23"/>
          <p:cNvSpPr txBox="1"/>
          <p:nvPr>
            <p:ph idx="1" type="body"/>
          </p:nvPr>
        </p:nvSpPr>
        <p:spPr>
          <a:xfrm>
            <a:off x="311700" y="950475"/>
            <a:ext cx="8520600" cy="54183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Mẫu tạo</a:t>
            </a:r>
            <a:endParaRPr/>
          </a:p>
          <a:p>
            <a:pPr indent="-381000" lvl="0" marL="457200" rtl="0" algn="l">
              <a:spcBef>
                <a:spcPts val="0"/>
              </a:spcBef>
              <a:spcAft>
                <a:spcPts val="0"/>
              </a:spcAft>
              <a:buSzPts val="2400"/>
              <a:buChar char="●"/>
            </a:pPr>
            <a:r>
              <a:rPr lang="en-GB"/>
              <a:t>Mẫu kết cấu</a:t>
            </a:r>
            <a:endParaRPr/>
          </a:p>
          <a:p>
            <a:pPr indent="-381000" lvl="0" marL="457200" rtl="0" algn="l">
              <a:spcBef>
                <a:spcPts val="0"/>
              </a:spcBef>
              <a:spcAft>
                <a:spcPts val="0"/>
              </a:spcAft>
              <a:buSzPts val="2400"/>
              <a:buChar char="●"/>
            </a:pPr>
            <a:r>
              <a:rPr lang="en-GB"/>
              <a:t>Mẫu hành vi</a:t>
            </a:r>
            <a:endParaRPr/>
          </a:p>
        </p:txBody>
      </p:sp>
      <p:sp>
        <p:nvSpPr>
          <p:cNvPr id="248" name="Google Shape;248;p23"/>
          <p:cNvSpPr/>
          <p:nvPr/>
        </p:nvSpPr>
        <p:spPr>
          <a:xfrm>
            <a:off x="357900" y="817187"/>
            <a:ext cx="6629700" cy="831900"/>
          </a:xfrm>
          <a:prstGeom prst="rightArrow">
            <a:avLst>
              <a:gd fmla="val 50000" name="adj1"/>
              <a:gd fmla="val 50000" name="adj2"/>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24"/>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Nh</a:t>
            </a:r>
            <a:r>
              <a:rPr lang="en-GB"/>
              <a:t>à máy trừu tượng</a:t>
            </a:r>
            <a:endParaRPr/>
          </a:p>
        </p:txBody>
      </p:sp>
      <p:sp>
        <p:nvSpPr>
          <p:cNvPr id="254" name="Google Shape;254;p24"/>
          <p:cNvSpPr txBox="1"/>
          <p:nvPr>
            <p:ph idx="1" type="body"/>
          </p:nvPr>
        </p:nvSpPr>
        <p:spPr>
          <a:xfrm>
            <a:off x="311700" y="950475"/>
            <a:ext cx="8520600" cy="54183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i="1" lang="en-GB"/>
              <a:t>Abstract Factory</a:t>
            </a:r>
            <a:endParaRPr i="1"/>
          </a:p>
          <a:p>
            <a:pPr indent="0" lvl="0" marL="0" rtl="0" algn="just">
              <a:spcBef>
                <a:spcPts val="0"/>
              </a:spcBef>
              <a:spcAft>
                <a:spcPts val="0"/>
              </a:spcAft>
              <a:buNone/>
            </a:pPr>
            <a:r>
              <a:rPr lang="en-GB"/>
              <a:t>Cung cấp các giao diện để tạo một tập đối tượng, trong đó các đối tượng có thể thuộc các cây kế thừa</a:t>
            </a:r>
            <a:r>
              <a:rPr lang="en-GB"/>
              <a:t> khác nhau</a:t>
            </a:r>
            <a:r>
              <a:rPr lang="en-GB"/>
              <a:t>.</a:t>
            </a:r>
            <a:endParaRPr/>
          </a:p>
        </p:txBody>
      </p:sp>
      <p:sp>
        <p:nvSpPr>
          <p:cNvPr id="255" name="Google Shape;255;p2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25"/>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Nhà máy </a:t>
            </a:r>
            <a:r>
              <a:rPr lang="en-GB"/>
              <a:t>trừu tượng</a:t>
            </a:r>
            <a:r>
              <a:rPr lang="en-GB"/>
              <a:t>: </a:t>
            </a:r>
            <a:r>
              <a:rPr lang="en-GB"/>
              <a:t>Cấu trúc</a:t>
            </a:r>
            <a:endParaRPr/>
          </a:p>
        </p:txBody>
      </p:sp>
      <p:sp>
        <p:nvSpPr>
          <p:cNvPr id="261" name="Google Shape;261;p2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262" name="Google Shape;262;p25"/>
          <p:cNvSpPr/>
          <p:nvPr/>
        </p:nvSpPr>
        <p:spPr>
          <a:xfrm>
            <a:off x="4266600" y="1178050"/>
            <a:ext cx="1602300" cy="2799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i="1" lang="en-GB"/>
              <a:t>M</a:t>
            </a:r>
            <a:r>
              <a:rPr i="1" lang="en-GB"/>
              <a:t>ô hình nhà máy</a:t>
            </a:r>
            <a:endParaRPr i="1"/>
          </a:p>
        </p:txBody>
      </p:sp>
      <p:sp>
        <p:nvSpPr>
          <p:cNvPr id="263" name="Google Shape;263;p25"/>
          <p:cNvSpPr/>
          <p:nvPr/>
        </p:nvSpPr>
        <p:spPr>
          <a:xfrm>
            <a:off x="4266600" y="1457912"/>
            <a:ext cx="1602300" cy="5223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i="1" lang="en-GB"/>
              <a:t>Tạo A</a:t>
            </a:r>
            <a:r>
              <a:rPr i="1" lang="en-GB"/>
              <a:t>()</a:t>
            </a:r>
            <a:endParaRPr i="1"/>
          </a:p>
          <a:p>
            <a:pPr indent="0" lvl="0" marL="0" rtl="0" algn="l">
              <a:spcBef>
                <a:spcPts val="0"/>
              </a:spcBef>
              <a:spcAft>
                <a:spcPts val="0"/>
              </a:spcAft>
              <a:buNone/>
            </a:pPr>
            <a:r>
              <a:rPr i="1" lang="en-GB"/>
              <a:t>Tạo B</a:t>
            </a:r>
            <a:r>
              <a:rPr i="1" lang="en-GB"/>
              <a:t>()</a:t>
            </a:r>
            <a:endParaRPr i="1"/>
          </a:p>
        </p:txBody>
      </p:sp>
      <p:sp>
        <p:nvSpPr>
          <p:cNvPr id="264" name="Google Shape;264;p25"/>
          <p:cNvSpPr/>
          <p:nvPr/>
        </p:nvSpPr>
        <p:spPr>
          <a:xfrm>
            <a:off x="3717700" y="2428225"/>
            <a:ext cx="1198200" cy="2802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a:t>Nhà máy 1</a:t>
            </a:r>
            <a:endParaRPr/>
          </a:p>
        </p:txBody>
      </p:sp>
      <p:sp>
        <p:nvSpPr>
          <p:cNvPr id="265" name="Google Shape;265;p25"/>
          <p:cNvSpPr/>
          <p:nvPr/>
        </p:nvSpPr>
        <p:spPr>
          <a:xfrm>
            <a:off x="3717700" y="2708053"/>
            <a:ext cx="1198200" cy="5223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lang="en-GB"/>
              <a:t>Tạo A</a:t>
            </a:r>
            <a:r>
              <a:rPr lang="en-GB"/>
              <a:t>()</a:t>
            </a:r>
            <a:endParaRPr/>
          </a:p>
          <a:p>
            <a:pPr indent="0" lvl="0" marL="0" rtl="0" algn="l">
              <a:spcBef>
                <a:spcPts val="0"/>
              </a:spcBef>
              <a:spcAft>
                <a:spcPts val="0"/>
              </a:spcAft>
              <a:buNone/>
            </a:pPr>
            <a:r>
              <a:rPr lang="en-GB"/>
              <a:t>Tạo B</a:t>
            </a:r>
            <a:r>
              <a:rPr lang="en-GB"/>
              <a:t>()</a:t>
            </a:r>
            <a:endParaRPr/>
          </a:p>
        </p:txBody>
      </p:sp>
      <p:sp>
        <p:nvSpPr>
          <p:cNvPr id="266" name="Google Shape;266;p25"/>
          <p:cNvSpPr/>
          <p:nvPr/>
        </p:nvSpPr>
        <p:spPr>
          <a:xfrm>
            <a:off x="5268428" y="2428225"/>
            <a:ext cx="1198200" cy="2802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a:t>Nhà máy 2</a:t>
            </a:r>
            <a:endParaRPr/>
          </a:p>
        </p:txBody>
      </p:sp>
      <p:sp>
        <p:nvSpPr>
          <p:cNvPr id="267" name="Google Shape;267;p25"/>
          <p:cNvSpPr/>
          <p:nvPr/>
        </p:nvSpPr>
        <p:spPr>
          <a:xfrm>
            <a:off x="5268428" y="2708053"/>
            <a:ext cx="1198200" cy="5223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lang="en-GB"/>
              <a:t>Tạo A</a:t>
            </a:r>
            <a:r>
              <a:rPr lang="en-GB"/>
              <a:t>()</a:t>
            </a:r>
            <a:endParaRPr/>
          </a:p>
          <a:p>
            <a:pPr indent="0" lvl="0" marL="0" rtl="0" algn="l">
              <a:spcBef>
                <a:spcPts val="0"/>
              </a:spcBef>
              <a:spcAft>
                <a:spcPts val="0"/>
              </a:spcAft>
              <a:buNone/>
            </a:pPr>
            <a:r>
              <a:rPr lang="en-GB"/>
              <a:t>Tạo B</a:t>
            </a:r>
            <a:r>
              <a:rPr lang="en-GB"/>
              <a:t>()</a:t>
            </a:r>
            <a:endParaRPr/>
          </a:p>
        </p:txBody>
      </p:sp>
      <p:sp>
        <p:nvSpPr>
          <p:cNvPr id="268" name="Google Shape;268;p25"/>
          <p:cNvSpPr/>
          <p:nvPr/>
        </p:nvSpPr>
        <p:spPr>
          <a:xfrm>
            <a:off x="4093975" y="3429000"/>
            <a:ext cx="19917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i="1" lang="en-GB"/>
              <a:t>Mô hình sản </a:t>
            </a:r>
            <a:r>
              <a:rPr i="1" lang="en-GB"/>
              <a:t>phẩm A</a:t>
            </a:r>
            <a:endParaRPr i="1"/>
          </a:p>
        </p:txBody>
      </p:sp>
      <p:sp>
        <p:nvSpPr>
          <p:cNvPr id="269" name="Google Shape;269;p25"/>
          <p:cNvSpPr/>
          <p:nvPr/>
        </p:nvSpPr>
        <p:spPr>
          <a:xfrm>
            <a:off x="3655350" y="4191000"/>
            <a:ext cx="14511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a:t>Sản phẩm A1</a:t>
            </a:r>
            <a:endParaRPr/>
          </a:p>
        </p:txBody>
      </p:sp>
      <p:sp>
        <p:nvSpPr>
          <p:cNvPr id="270" name="Google Shape;270;p25"/>
          <p:cNvSpPr/>
          <p:nvPr/>
        </p:nvSpPr>
        <p:spPr>
          <a:xfrm>
            <a:off x="5194900" y="4191000"/>
            <a:ext cx="14733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a:t>Sản phẩm A2</a:t>
            </a:r>
            <a:endParaRPr/>
          </a:p>
        </p:txBody>
      </p:sp>
      <p:sp>
        <p:nvSpPr>
          <p:cNvPr id="271" name="Google Shape;271;p25"/>
          <p:cNvSpPr/>
          <p:nvPr/>
        </p:nvSpPr>
        <p:spPr>
          <a:xfrm>
            <a:off x="4243572" y="4752275"/>
            <a:ext cx="17529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i="1" lang="en-GB"/>
              <a:t>Mô hình sản phẩm B</a:t>
            </a:r>
            <a:endParaRPr i="1"/>
          </a:p>
        </p:txBody>
      </p:sp>
      <p:sp>
        <p:nvSpPr>
          <p:cNvPr id="272" name="Google Shape;272;p25"/>
          <p:cNvSpPr/>
          <p:nvPr/>
        </p:nvSpPr>
        <p:spPr>
          <a:xfrm>
            <a:off x="3655350" y="5514275"/>
            <a:ext cx="14514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a:t>Sản phẩm B1</a:t>
            </a:r>
            <a:endParaRPr/>
          </a:p>
        </p:txBody>
      </p:sp>
      <p:sp>
        <p:nvSpPr>
          <p:cNvPr id="273" name="Google Shape;273;p25"/>
          <p:cNvSpPr/>
          <p:nvPr/>
        </p:nvSpPr>
        <p:spPr>
          <a:xfrm>
            <a:off x="5216915" y="5514275"/>
            <a:ext cx="14514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a:t>Sản phẩm B2</a:t>
            </a:r>
            <a:endParaRPr/>
          </a:p>
        </p:txBody>
      </p:sp>
      <p:sp>
        <p:nvSpPr>
          <p:cNvPr id="274" name="Google Shape;274;p25"/>
          <p:cNvSpPr/>
          <p:nvPr/>
        </p:nvSpPr>
        <p:spPr>
          <a:xfrm>
            <a:off x="4843300" y="1971625"/>
            <a:ext cx="130800" cy="1116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25"/>
          <p:cNvSpPr/>
          <p:nvPr/>
        </p:nvSpPr>
        <p:spPr>
          <a:xfrm>
            <a:off x="5148100" y="1971625"/>
            <a:ext cx="130800" cy="1116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76" name="Google Shape;276;p25"/>
          <p:cNvCxnSpPr>
            <a:stCxn id="264" idx="0"/>
            <a:endCxn id="274" idx="3"/>
          </p:cNvCxnSpPr>
          <p:nvPr/>
        </p:nvCxnSpPr>
        <p:spPr>
          <a:xfrm rot="-5400000">
            <a:off x="4440250" y="1959775"/>
            <a:ext cx="345000" cy="591900"/>
          </a:xfrm>
          <a:prstGeom prst="bentConnector3">
            <a:avLst>
              <a:gd fmla="val 50000" name="adj1"/>
            </a:avLst>
          </a:prstGeom>
          <a:noFill/>
          <a:ln cap="flat" cmpd="sng" w="9525">
            <a:solidFill>
              <a:schemeClr val="dk2"/>
            </a:solidFill>
            <a:prstDash val="solid"/>
            <a:round/>
            <a:headEnd len="med" w="med" type="none"/>
            <a:tailEnd len="med" w="med" type="none"/>
          </a:ln>
        </p:spPr>
      </p:cxnSp>
      <p:cxnSp>
        <p:nvCxnSpPr>
          <p:cNvPr id="277" name="Google Shape;277;p25"/>
          <p:cNvCxnSpPr>
            <a:stCxn id="266" idx="0"/>
            <a:endCxn id="275" idx="3"/>
          </p:cNvCxnSpPr>
          <p:nvPr/>
        </p:nvCxnSpPr>
        <p:spPr>
          <a:xfrm flipH="1" rot="5400000">
            <a:off x="5368028" y="1928725"/>
            <a:ext cx="345000" cy="654000"/>
          </a:xfrm>
          <a:prstGeom prst="bentConnector3">
            <a:avLst>
              <a:gd fmla="val 50000" name="adj1"/>
            </a:avLst>
          </a:prstGeom>
          <a:noFill/>
          <a:ln cap="flat" cmpd="sng" w="9525">
            <a:solidFill>
              <a:schemeClr val="dk2"/>
            </a:solidFill>
            <a:prstDash val="solid"/>
            <a:round/>
            <a:headEnd len="med" w="med" type="none"/>
            <a:tailEnd len="med" w="med" type="none"/>
          </a:ln>
        </p:spPr>
      </p:cxnSp>
      <p:sp>
        <p:nvSpPr>
          <p:cNvPr id="278" name="Google Shape;278;p25"/>
          <p:cNvSpPr/>
          <p:nvPr/>
        </p:nvSpPr>
        <p:spPr>
          <a:xfrm>
            <a:off x="4752906" y="3751828"/>
            <a:ext cx="130800" cy="1116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25"/>
          <p:cNvSpPr/>
          <p:nvPr/>
        </p:nvSpPr>
        <p:spPr>
          <a:xfrm>
            <a:off x="5362506" y="3751828"/>
            <a:ext cx="130800" cy="1116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80" name="Google Shape;280;p25"/>
          <p:cNvCxnSpPr>
            <a:stCxn id="269" idx="0"/>
            <a:endCxn id="278" idx="3"/>
          </p:cNvCxnSpPr>
          <p:nvPr/>
        </p:nvCxnSpPr>
        <p:spPr>
          <a:xfrm rot="-5400000">
            <a:off x="4435800" y="3808500"/>
            <a:ext cx="327600" cy="437400"/>
          </a:xfrm>
          <a:prstGeom prst="bentConnector3">
            <a:avLst>
              <a:gd fmla="val 49996" name="adj1"/>
            </a:avLst>
          </a:prstGeom>
          <a:noFill/>
          <a:ln cap="flat" cmpd="sng" w="9525">
            <a:solidFill>
              <a:schemeClr val="dk2"/>
            </a:solidFill>
            <a:prstDash val="solid"/>
            <a:round/>
            <a:headEnd len="med" w="med" type="none"/>
            <a:tailEnd len="med" w="med" type="none"/>
          </a:ln>
        </p:spPr>
      </p:cxnSp>
      <p:cxnSp>
        <p:nvCxnSpPr>
          <p:cNvPr id="281" name="Google Shape;281;p25"/>
          <p:cNvCxnSpPr>
            <a:stCxn id="270" idx="0"/>
            <a:endCxn id="279" idx="3"/>
          </p:cNvCxnSpPr>
          <p:nvPr/>
        </p:nvCxnSpPr>
        <p:spPr>
          <a:xfrm flipH="1" rot="5400000">
            <a:off x="5515900" y="3775350"/>
            <a:ext cx="327600" cy="503700"/>
          </a:xfrm>
          <a:prstGeom prst="bentConnector3">
            <a:avLst>
              <a:gd fmla="val 49996" name="adj1"/>
            </a:avLst>
          </a:prstGeom>
          <a:noFill/>
          <a:ln cap="flat" cmpd="sng" w="9525">
            <a:solidFill>
              <a:schemeClr val="dk2"/>
            </a:solidFill>
            <a:prstDash val="solid"/>
            <a:round/>
            <a:headEnd len="med" w="med" type="none"/>
            <a:tailEnd len="med" w="med" type="none"/>
          </a:ln>
        </p:spPr>
      </p:cxnSp>
      <p:sp>
        <p:nvSpPr>
          <p:cNvPr id="282" name="Google Shape;282;p25"/>
          <p:cNvSpPr/>
          <p:nvPr/>
        </p:nvSpPr>
        <p:spPr>
          <a:xfrm>
            <a:off x="4763681" y="5075103"/>
            <a:ext cx="130800" cy="1116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25"/>
          <p:cNvSpPr/>
          <p:nvPr/>
        </p:nvSpPr>
        <p:spPr>
          <a:xfrm>
            <a:off x="5373281" y="5075103"/>
            <a:ext cx="130800" cy="1116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84" name="Google Shape;284;p25"/>
          <p:cNvCxnSpPr>
            <a:stCxn id="272" idx="0"/>
            <a:endCxn id="282" idx="3"/>
          </p:cNvCxnSpPr>
          <p:nvPr/>
        </p:nvCxnSpPr>
        <p:spPr>
          <a:xfrm rot="-5400000">
            <a:off x="4441200" y="5126525"/>
            <a:ext cx="327600" cy="447900"/>
          </a:xfrm>
          <a:prstGeom prst="bentConnector3">
            <a:avLst>
              <a:gd fmla="val 49996" name="adj1"/>
            </a:avLst>
          </a:prstGeom>
          <a:noFill/>
          <a:ln cap="flat" cmpd="sng" w="9525">
            <a:solidFill>
              <a:schemeClr val="dk2"/>
            </a:solidFill>
            <a:prstDash val="solid"/>
            <a:round/>
            <a:headEnd len="med" w="med" type="none"/>
            <a:tailEnd len="med" w="med" type="none"/>
          </a:ln>
        </p:spPr>
      </p:cxnSp>
      <p:cxnSp>
        <p:nvCxnSpPr>
          <p:cNvPr id="285" name="Google Shape;285;p25"/>
          <p:cNvCxnSpPr>
            <a:stCxn id="273" idx="0"/>
            <a:endCxn id="283" idx="3"/>
          </p:cNvCxnSpPr>
          <p:nvPr/>
        </p:nvCxnSpPr>
        <p:spPr>
          <a:xfrm flipH="1" rot="5400000">
            <a:off x="5526815" y="5098475"/>
            <a:ext cx="327600" cy="504000"/>
          </a:xfrm>
          <a:prstGeom prst="bentConnector3">
            <a:avLst>
              <a:gd fmla="val 49996" name="adj1"/>
            </a:avLst>
          </a:prstGeom>
          <a:noFill/>
          <a:ln cap="flat" cmpd="sng" w="9525">
            <a:solidFill>
              <a:schemeClr val="dk2"/>
            </a:solidFill>
            <a:prstDash val="solid"/>
            <a:round/>
            <a:headEnd len="med" w="med" type="none"/>
            <a:tailEnd len="med" w="med" type="none"/>
          </a:ln>
        </p:spPr>
      </p:cxnSp>
      <p:sp>
        <p:nvSpPr>
          <p:cNvPr id="286" name="Google Shape;286;p25"/>
          <p:cNvSpPr/>
          <p:nvPr/>
        </p:nvSpPr>
        <p:spPr>
          <a:xfrm>
            <a:off x="2034975" y="1122250"/>
            <a:ext cx="1471200" cy="4239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a:t>Khách</a:t>
            </a:r>
            <a:endParaRPr/>
          </a:p>
        </p:txBody>
      </p:sp>
      <p:sp>
        <p:nvSpPr>
          <p:cNvPr id="287" name="Google Shape;287;p25"/>
          <p:cNvSpPr txBox="1"/>
          <p:nvPr/>
        </p:nvSpPr>
        <p:spPr>
          <a:xfrm>
            <a:off x="3401250" y="3851473"/>
            <a:ext cx="855000" cy="34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200"/>
              <a:t>&lt;&lt;</a:t>
            </a:r>
            <a:r>
              <a:rPr lang="en-GB" sz="1200"/>
              <a:t>tạo</a:t>
            </a:r>
            <a:r>
              <a:rPr lang="en-GB" sz="1200"/>
              <a:t>&gt;&gt;</a:t>
            </a:r>
            <a:endParaRPr sz="1200"/>
          </a:p>
        </p:txBody>
      </p:sp>
      <p:sp>
        <p:nvSpPr>
          <p:cNvPr id="288" name="Google Shape;288;p25"/>
          <p:cNvSpPr txBox="1"/>
          <p:nvPr/>
        </p:nvSpPr>
        <p:spPr>
          <a:xfrm>
            <a:off x="6152550" y="3846346"/>
            <a:ext cx="855000" cy="34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200"/>
              <a:t>&lt;&lt;tạo&gt;&gt;</a:t>
            </a:r>
            <a:endParaRPr sz="1200"/>
          </a:p>
        </p:txBody>
      </p:sp>
      <p:cxnSp>
        <p:nvCxnSpPr>
          <p:cNvPr id="289" name="Google Shape;289;p25"/>
          <p:cNvCxnSpPr>
            <a:stCxn id="265" idx="1"/>
            <a:endCxn id="269" idx="1"/>
          </p:cNvCxnSpPr>
          <p:nvPr/>
        </p:nvCxnSpPr>
        <p:spPr>
          <a:xfrm flipH="1">
            <a:off x="3655300" y="2969203"/>
            <a:ext cx="62400" cy="1383000"/>
          </a:xfrm>
          <a:prstGeom prst="bentConnector3">
            <a:avLst>
              <a:gd fmla="val 481530" name="adj1"/>
            </a:avLst>
          </a:prstGeom>
          <a:noFill/>
          <a:ln cap="flat" cmpd="sng" w="9525">
            <a:solidFill>
              <a:schemeClr val="dk2"/>
            </a:solidFill>
            <a:prstDash val="dash"/>
            <a:round/>
            <a:headEnd len="med" w="med" type="none"/>
            <a:tailEnd len="med" w="med" type="stealth"/>
          </a:ln>
        </p:spPr>
      </p:cxnSp>
      <p:cxnSp>
        <p:nvCxnSpPr>
          <p:cNvPr id="290" name="Google Shape;290;p25"/>
          <p:cNvCxnSpPr>
            <a:stCxn id="265" idx="1"/>
            <a:endCxn id="272" idx="1"/>
          </p:cNvCxnSpPr>
          <p:nvPr/>
        </p:nvCxnSpPr>
        <p:spPr>
          <a:xfrm flipH="1">
            <a:off x="3655300" y="2969203"/>
            <a:ext cx="62400" cy="2706300"/>
          </a:xfrm>
          <a:prstGeom prst="bentConnector3">
            <a:avLst>
              <a:gd fmla="val 481530" name="adj1"/>
            </a:avLst>
          </a:prstGeom>
          <a:noFill/>
          <a:ln cap="flat" cmpd="sng" w="9525">
            <a:solidFill>
              <a:schemeClr val="dk2"/>
            </a:solidFill>
            <a:prstDash val="dash"/>
            <a:round/>
            <a:headEnd len="med" w="med" type="none"/>
            <a:tailEnd len="med" w="med" type="stealth"/>
          </a:ln>
        </p:spPr>
      </p:cxnSp>
      <p:cxnSp>
        <p:nvCxnSpPr>
          <p:cNvPr id="291" name="Google Shape;291;p25"/>
          <p:cNvCxnSpPr>
            <a:stCxn id="267" idx="3"/>
            <a:endCxn id="270" idx="3"/>
          </p:cNvCxnSpPr>
          <p:nvPr/>
        </p:nvCxnSpPr>
        <p:spPr>
          <a:xfrm>
            <a:off x="6466628" y="2969203"/>
            <a:ext cx="201600" cy="1383000"/>
          </a:xfrm>
          <a:prstGeom prst="bentConnector3">
            <a:avLst>
              <a:gd fmla="val 218104" name="adj1"/>
            </a:avLst>
          </a:prstGeom>
          <a:noFill/>
          <a:ln cap="flat" cmpd="sng" w="9525">
            <a:solidFill>
              <a:schemeClr val="dk2"/>
            </a:solidFill>
            <a:prstDash val="dash"/>
            <a:round/>
            <a:headEnd len="med" w="med" type="none"/>
            <a:tailEnd len="med" w="med" type="stealth"/>
          </a:ln>
        </p:spPr>
      </p:cxnSp>
      <p:cxnSp>
        <p:nvCxnSpPr>
          <p:cNvPr id="292" name="Google Shape;292;p25"/>
          <p:cNvCxnSpPr>
            <a:stCxn id="267" idx="3"/>
            <a:endCxn id="273" idx="3"/>
          </p:cNvCxnSpPr>
          <p:nvPr/>
        </p:nvCxnSpPr>
        <p:spPr>
          <a:xfrm>
            <a:off x="6466628" y="2969203"/>
            <a:ext cx="201600" cy="2706300"/>
          </a:xfrm>
          <a:prstGeom prst="bentConnector3">
            <a:avLst>
              <a:gd fmla="val 218161" name="adj1"/>
            </a:avLst>
          </a:prstGeom>
          <a:noFill/>
          <a:ln cap="flat" cmpd="sng" w="9525">
            <a:solidFill>
              <a:schemeClr val="dk2"/>
            </a:solidFill>
            <a:prstDash val="dash"/>
            <a:round/>
            <a:headEnd len="med" w="med" type="none"/>
            <a:tailEnd len="med" w="med" type="stealth"/>
          </a:ln>
        </p:spPr>
      </p:cxnSp>
      <p:sp>
        <p:nvSpPr>
          <p:cNvPr id="293" name="Google Shape;293;p25"/>
          <p:cNvSpPr/>
          <p:nvPr/>
        </p:nvSpPr>
        <p:spPr>
          <a:xfrm>
            <a:off x="2037217" y="1541200"/>
            <a:ext cx="1471200" cy="5784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lang="en-GB"/>
              <a:t>Lập Nhà Máy()</a:t>
            </a:r>
            <a:endParaRPr/>
          </a:p>
          <a:p>
            <a:pPr indent="0" lvl="0" marL="0" rtl="0" algn="l">
              <a:spcBef>
                <a:spcPts val="0"/>
              </a:spcBef>
              <a:spcAft>
                <a:spcPts val="0"/>
              </a:spcAft>
              <a:buNone/>
            </a:pPr>
            <a:r>
              <a:rPr lang="en-GB"/>
              <a:t>Tạo Đối Tượng()</a:t>
            </a:r>
            <a:endParaRPr/>
          </a:p>
        </p:txBody>
      </p:sp>
      <p:sp>
        <p:nvSpPr>
          <p:cNvPr id="294" name="Google Shape;294;p25"/>
          <p:cNvSpPr/>
          <p:nvPr/>
        </p:nvSpPr>
        <p:spPr>
          <a:xfrm>
            <a:off x="3521500" y="1261752"/>
            <a:ext cx="130800" cy="111600"/>
          </a:xfrm>
          <a:prstGeom prst="flowChartDecision">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95" name="Google Shape;295;p25"/>
          <p:cNvCxnSpPr>
            <a:stCxn id="294" idx="3"/>
            <a:endCxn id="262" idx="1"/>
          </p:cNvCxnSpPr>
          <p:nvPr/>
        </p:nvCxnSpPr>
        <p:spPr>
          <a:xfrm>
            <a:off x="3652300" y="1317552"/>
            <a:ext cx="614400" cy="300"/>
          </a:xfrm>
          <a:prstGeom prst="straightConnector1">
            <a:avLst/>
          </a:prstGeom>
          <a:noFill/>
          <a:ln cap="flat" cmpd="sng" w="9525">
            <a:solidFill>
              <a:schemeClr val="dk2"/>
            </a:solidFill>
            <a:prstDash val="solid"/>
            <a:round/>
            <a:headEnd len="med" w="med" type="none"/>
            <a:tailEnd len="med" w="med" type="none"/>
          </a:ln>
        </p:spPr>
      </p:cxnSp>
      <p:sp>
        <p:nvSpPr>
          <p:cNvPr id="296" name="Google Shape;296;p25"/>
          <p:cNvSpPr/>
          <p:nvPr/>
        </p:nvSpPr>
        <p:spPr>
          <a:xfrm>
            <a:off x="6512525" y="1321375"/>
            <a:ext cx="2109600" cy="578400"/>
          </a:xfrm>
          <a:prstGeom prst="foldedCorner">
            <a:avLst>
              <a:gd fmla="val 16667" name="adj"/>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a:solidFill>
                  <a:schemeClr val="dk2"/>
                </a:solidFill>
              </a:rPr>
              <a:t>C</a:t>
            </a:r>
            <a:r>
              <a:rPr lang="en-GB">
                <a:solidFill>
                  <a:schemeClr val="dk2"/>
                </a:solidFill>
              </a:rPr>
              <a:t>ung cấp các giao diện để tạo các sản phẩm</a:t>
            </a:r>
            <a:endParaRPr/>
          </a:p>
        </p:txBody>
      </p:sp>
      <p:sp>
        <p:nvSpPr>
          <p:cNvPr id="297" name="Google Shape;297;p25"/>
          <p:cNvSpPr/>
          <p:nvPr/>
        </p:nvSpPr>
        <p:spPr>
          <a:xfrm>
            <a:off x="893250" y="2692975"/>
            <a:ext cx="1896000" cy="657900"/>
          </a:xfrm>
          <a:prstGeom prst="foldedCorner">
            <a:avLst>
              <a:gd fmla="val 16667" name="adj"/>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T</a:t>
            </a:r>
            <a:r>
              <a:rPr lang="en-GB">
                <a:solidFill>
                  <a:schemeClr val="dk2"/>
                </a:solidFill>
              </a:rPr>
              <a:t>ạo các sản phẩm cụ thể.</a:t>
            </a:r>
            <a:endParaRPr>
              <a:solidFill>
                <a:schemeClr val="dk2"/>
              </a:solidFill>
            </a:endParaRPr>
          </a:p>
        </p:txBody>
      </p:sp>
      <p:sp>
        <p:nvSpPr>
          <p:cNvPr id="298" name="Google Shape;298;p25"/>
          <p:cNvSpPr/>
          <p:nvPr/>
        </p:nvSpPr>
        <p:spPr>
          <a:xfrm>
            <a:off x="215200" y="1168975"/>
            <a:ext cx="1550400" cy="811200"/>
          </a:xfrm>
          <a:prstGeom prst="foldedCorner">
            <a:avLst>
              <a:gd fmla="val 16667" name="adj"/>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Có thể sử dụng các nhà máy cụ thể khác nhau.</a:t>
            </a:r>
            <a:endParaRPr>
              <a:solidFill>
                <a:schemeClr val="dk2"/>
              </a:solidFill>
            </a:endParaRPr>
          </a:p>
        </p:txBody>
      </p:sp>
      <p:cxnSp>
        <p:nvCxnSpPr>
          <p:cNvPr id="299" name="Google Shape;299;p25"/>
          <p:cNvCxnSpPr>
            <a:stCxn id="262" idx="3"/>
            <a:endCxn id="296" idx="1"/>
          </p:cNvCxnSpPr>
          <p:nvPr/>
        </p:nvCxnSpPr>
        <p:spPr>
          <a:xfrm>
            <a:off x="5868900" y="1318000"/>
            <a:ext cx="643500" cy="292500"/>
          </a:xfrm>
          <a:prstGeom prst="straightConnector1">
            <a:avLst/>
          </a:prstGeom>
          <a:noFill/>
          <a:ln cap="flat" cmpd="sng" w="9525">
            <a:solidFill>
              <a:schemeClr val="dk2"/>
            </a:solidFill>
            <a:prstDash val="dot"/>
            <a:round/>
            <a:headEnd len="med" w="med" type="none"/>
            <a:tailEnd len="med" w="med" type="none"/>
          </a:ln>
        </p:spPr>
      </p:cxnSp>
      <p:cxnSp>
        <p:nvCxnSpPr>
          <p:cNvPr id="300" name="Google Shape;300;p25"/>
          <p:cNvCxnSpPr>
            <a:stCxn id="286" idx="1"/>
            <a:endCxn id="298" idx="3"/>
          </p:cNvCxnSpPr>
          <p:nvPr/>
        </p:nvCxnSpPr>
        <p:spPr>
          <a:xfrm flipH="1">
            <a:off x="1765575" y="1334200"/>
            <a:ext cx="269400" cy="240300"/>
          </a:xfrm>
          <a:prstGeom prst="straightConnector1">
            <a:avLst/>
          </a:prstGeom>
          <a:noFill/>
          <a:ln cap="flat" cmpd="sng" w="9525">
            <a:solidFill>
              <a:schemeClr val="dk2"/>
            </a:solidFill>
            <a:prstDash val="dot"/>
            <a:round/>
            <a:headEnd len="med" w="med" type="none"/>
            <a:tailEnd len="med" w="med" type="none"/>
          </a:ln>
        </p:spPr>
      </p:cxnSp>
      <p:cxnSp>
        <p:nvCxnSpPr>
          <p:cNvPr id="301" name="Google Shape;301;p25"/>
          <p:cNvCxnSpPr>
            <a:stCxn id="264" idx="1"/>
            <a:endCxn id="297" idx="3"/>
          </p:cNvCxnSpPr>
          <p:nvPr/>
        </p:nvCxnSpPr>
        <p:spPr>
          <a:xfrm flipH="1">
            <a:off x="2789200" y="2568325"/>
            <a:ext cx="928500" cy="453600"/>
          </a:xfrm>
          <a:prstGeom prst="straightConnector1">
            <a:avLst/>
          </a:prstGeom>
          <a:noFill/>
          <a:ln cap="flat" cmpd="sng" w="9525">
            <a:solidFill>
              <a:schemeClr val="dk2"/>
            </a:solidFill>
            <a:prstDash val="dot"/>
            <a:round/>
            <a:headEnd len="med" w="med" type="none"/>
            <a:tailEnd len="med" w="med" type="none"/>
          </a:ln>
        </p:spPr>
      </p:cxnSp>
      <p:sp>
        <p:nvSpPr>
          <p:cNvPr id="302" name="Google Shape;302;p25"/>
          <p:cNvSpPr txBox="1"/>
          <p:nvPr/>
        </p:nvSpPr>
        <p:spPr>
          <a:xfrm>
            <a:off x="3449286" y="942371"/>
            <a:ext cx="620100" cy="27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0..1</a:t>
            </a:r>
            <a:endParaRPr>
              <a:solidFill>
                <a:schemeClr val="dk2"/>
              </a:solidFill>
            </a:endParaRPr>
          </a:p>
        </p:txBody>
      </p:sp>
      <p:sp>
        <p:nvSpPr>
          <p:cNvPr id="303" name="Google Shape;303;p25"/>
          <p:cNvSpPr txBox="1"/>
          <p:nvPr/>
        </p:nvSpPr>
        <p:spPr>
          <a:xfrm>
            <a:off x="4030397" y="942375"/>
            <a:ext cx="350400" cy="27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1</a:t>
            </a:r>
            <a:endParaRPr>
              <a:solidFill>
                <a:schemeClr val="dk2"/>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cxnSp>
        <p:nvCxnSpPr>
          <p:cNvPr id="308" name="Google Shape;308;p26"/>
          <p:cNvCxnSpPr/>
          <p:nvPr/>
        </p:nvCxnSpPr>
        <p:spPr>
          <a:xfrm>
            <a:off x="4441675" y="5158600"/>
            <a:ext cx="2640600" cy="0"/>
          </a:xfrm>
          <a:prstGeom prst="straightConnector1">
            <a:avLst/>
          </a:prstGeom>
          <a:noFill/>
          <a:ln cap="flat" cmpd="sng" w="9525">
            <a:solidFill>
              <a:schemeClr val="dk2"/>
            </a:solidFill>
            <a:prstDash val="solid"/>
            <a:round/>
            <a:headEnd len="med" w="med" type="none"/>
            <a:tailEnd len="med" w="med" type="triangle"/>
          </a:ln>
        </p:spPr>
      </p:cxnSp>
      <p:cxnSp>
        <p:nvCxnSpPr>
          <p:cNvPr id="309" name="Google Shape;309;p26"/>
          <p:cNvCxnSpPr>
            <a:endCxn id="310" idx="1"/>
          </p:cNvCxnSpPr>
          <p:nvPr/>
        </p:nvCxnSpPr>
        <p:spPr>
          <a:xfrm flipH="1" rot="10800000">
            <a:off x="4441800" y="4749217"/>
            <a:ext cx="2187000" cy="2100"/>
          </a:xfrm>
          <a:prstGeom prst="straightConnector1">
            <a:avLst/>
          </a:prstGeom>
          <a:noFill/>
          <a:ln cap="flat" cmpd="sng" w="9525">
            <a:solidFill>
              <a:schemeClr val="dk2"/>
            </a:solidFill>
            <a:prstDash val="solid"/>
            <a:round/>
            <a:headEnd len="med" w="med" type="none"/>
            <a:tailEnd len="med" w="med" type="triangle"/>
          </a:ln>
        </p:spPr>
      </p:cxnSp>
      <p:cxnSp>
        <p:nvCxnSpPr>
          <p:cNvPr id="311" name="Google Shape;311;p26"/>
          <p:cNvCxnSpPr/>
          <p:nvPr/>
        </p:nvCxnSpPr>
        <p:spPr>
          <a:xfrm>
            <a:off x="7236150" y="4942097"/>
            <a:ext cx="0" cy="1228800"/>
          </a:xfrm>
          <a:prstGeom prst="straightConnector1">
            <a:avLst/>
          </a:prstGeom>
          <a:noFill/>
          <a:ln cap="flat" cmpd="sng" w="9525">
            <a:solidFill>
              <a:schemeClr val="dk2"/>
            </a:solidFill>
            <a:prstDash val="dash"/>
            <a:round/>
            <a:headEnd len="med" w="med" type="none"/>
            <a:tailEnd len="med" w="med" type="none"/>
          </a:ln>
        </p:spPr>
      </p:cxnSp>
      <p:cxnSp>
        <p:nvCxnSpPr>
          <p:cNvPr id="312" name="Google Shape;312;p26"/>
          <p:cNvCxnSpPr/>
          <p:nvPr/>
        </p:nvCxnSpPr>
        <p:spPr>
          <a:xfrm flipH="1">
            <a:off x="6313350" y="3689185"/>
            <a:ext cx="8400" cy="2419800"/>
          </a:xfrm>
          <a:prstGeom prst="straightConnector1">
            <a:avLst/>
          </a:prstGeom>
          <a:noFill/>
          <a:ln cap="flat" cmpd="sng" w="9525">
            <a:solidFill>
              <a:schemeClr val="dk2"/>
            </a:solidFill>
            <a:prstDash val="dash"/>
            <a:round/>
            <a:headEnd len="med" w="med" type="none"/>
            <a:tailEnd len="med" w="med" type="none"/>
          </a:ln>
        </p:spPr>
      </p:cxnSp>
      <p:sp>
        <p:nvSpPr>
          <p:cNvPr id="313" name="Google Shape;313;p26"/>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Nhà máy trừu tượng: Hành vi</a:t>
            </a:r>
            <a:endParaRPr/>
          </a:p>
        </p:txBody>
      </p:sp>
      <p:sp>
        <p:nvSpPr>
          <p:cNvPr id="314" name="Google Shape;314;p2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315" name="Google Shape;315;p26"/>
          <p:cNvSpPr/>
          <p:nvPr/>
        </p:nvSpPr>
        <p:spPr>
          <a:xfrm>
            <a:off x="1066200" y="1132825"/>
            <a:ext cx="14742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u="sng"/>
              <a:t>:</a:t>
            </a:r>
            <a:r>
              <a:rPr lang="en-GB" sz="1600" u="sng"/>
              <a:t>Khách</a:t>
            </a:r>
            <a:endParaRPr sz="1600" u="sng"/>
          </a:p>
        </p:txBody>
      </p:sp>
      <p:cxnSp>
        <p:nvCxnSpPr>
          <p:cNvPr id="316" name="Google Shape;316;p26"/>
          <p:cNvCxnSpPr/>
          <p:nvPr/>
        </p:nvCxnSpPr>
        <p:spPr>
          <a:xfrm>
            <a:off x="1803300" y="1455325"/>
            <a:ext cx="0" cy="4768500"/>
          </a:xfrm>
          <a:prstGeom prst="straightConnector1">
            <a:avLst/>
          </a:prstGeom>
          <a:noFill/>
          <a:ln cap="flat" cmpd="sng" w="9525">
            <a:solidFill>
              <a:schemeClr val="dk2"/>
            </a:solidFill>
            <a:prstDash val="dash"/>
            <a:round/>
            <a:headEnd len="med" w="med" type="none"/>
            <a:tailEnd len="med" w="med" type="none"/>
          </a:ln>
        </p:spPr>
      </p:cxnSp>
      <p:sp>
        <p:nvSpPr>
          <p:cNvPr id="317" name="Google Shape;317;p26"/>
          <p:cNvSpPr/>
          <p:nvPr/>
        </p:nvSpPr>
        <p:spPr>
          <a:xfrm>
            <a:off x="2806873" y="1132825"/>
            <a:ext cx="1474200" cy="322500"/>
          </a:xfrm>
          <a:prstGeom prst="rect">
            <a:avLst/>
          </a:prstGeom>
          <a:noFill/>
          <a:ln cap="flat" cmpd="sng" w="9525">
            <a:solidFill>
              <a:schemeClr val="dk2"/>
            </a:solidFill>
            <a:prstDash val="solid"/>
            <a:round/>
            <a:headEnd len="sm" w="sm" type="none"/>
            <a:tailEnd len="sm" w="sm" type="none"/>
          </a:ln>
        </p:spPr>
        <p:txBody>
          <a:bodyPr anchorCtr="0" anchor="ctr" bIns="54000" lIns="18000" spcFirstLastPara="1" rIns="18000" wrap="square" tIns="54000">
            <a:noAutofit/>
          </a:bodyPr>
          <a:lstStyle/>
          <a:p>
            <a:pPr indent="0" lvl="0" marL="0" rtl="0" algn="ctr">
              <a:spcBef>
                <a:spcPts val="0"/>
              </a:spcBef>
              <a:spcAft>
                <a:spcPts val="0"/>
              </a:spcAft>
              <a:buNone/>
            </a:pPr>
            <a:r>
              <a:rPr lang="en-GB" sz="1600" u="sng"/>
              <a:t>f1</a:t>
            </a:r>
            <a:r>
              <a:rPr lang="en-GB" sz="1600" u="sng"/>
              <a:t>:</a:t>
            </a:r>
            <a:r>
              <a:rPr lang="en-GB" sz="1600" u="sng"/>
              <a:t>Nhà máy 1</a:t>
            </a:r>
            <a:endParaRPr sz="1600" u="sng"/>
          </a:p>
        </p:txBody>
      </p:sp>
      <p:cxnSp>
        <p:nvCxnSpPr>
          <p:cNvPr id="318" name="Google Shape;318;p26"/>
          <p:cNvCxnSpPr/>
          <p:nvPr/>
        </p:nvCxnSpPr>
        <p:spPr>
          <a:xfrm flipH="1">
            <a:off x="3532350" y="1455325"/>
            <a:ext cx="10200" cy="4696800"/>
          </a:xfrm>
          <a:prstGeom prst="straightConnector1">
            <a:avLst/>
          </a:prstGeom>
          <a:noFill/>
          <a:ln cap="flat" cmpd="sng" w="9525">
            <a:solidFill>
              <a:schemeClr val="dk2"/>
            </a:solidFill>
            <a:prstDash val="dash"/>
            <a:round/>
            <a:headEnd len="med" w="med" type="none"/>
            <a:tailEnd len="med" w="med" type="none"/>
          </a:ln>
        </p:spPr>
      </p:cxnSp>
      <p:sp>
        <p:nvSpPr>
          <p:cNvPr id="319" name="Google Shape;319;p26"/>
          <p:cNvSpPr/>
          <p:nvPr/>
        </p:nvSpPr>
        <p:spPr>
          <a:xfrm>
            <a:off x="3472675" y="2899192"/>
            <a:ext cx="130800" cy="261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26"/>
          <p:cNvSpPr txBox="1"/>
          <p:nvPr/>
        </p:nvSpPr>
        <p:spPr>
          <a:xfrm>
            <a:off x="2120292" y="2737675"/>
            <a:ext cx="981000" cy="200400"/>
          </a:xfrm>
          <a:prstGeom prst="rect">
            <a:avLst/>
          </a:prstGeom>
          <a:noFill/>
          <a:ln>
            <a:noFill/>
          </a:ln>
        </p:spPr>
        <p:txBody>
          <a:bodyPr anchorCtr="0" anchor="t" bIns="18000" lIns="18000" spcFirstLastPara="1" rIns="18000" wrap="square" tIns="18000">
            <a:noAutofit/>
          </a:bodyPr>
          <a:lstStyle/>
          <a:p>
            <a:pPr indent="0" lvl="0" marL="0" rtl="0" algn="l">
              <a:spcBef>
                <a:spcPts val="0"/>
              </a:spcBef>
              <a:spcAft>
                <a:spcPts val="0"/>
              </a:spcAft>
              <a:buNone/>
            </a:pPr>
            <a:r>
              <a:rPr lang="en-GB"/>
              <a:t>T</a:t>
            </a:r>
            <a:r>
              <a:rPr lang="en-GB">
                <a:solidFill>
                  <a:schemeClr val="dk1"/>
                </a:solidFill>
              </a:rPr>
              <a:t>ạo A</a:t>
            </a:r>
            <a:r>
              <a:rPr lang="en-GB"/>
              <a:t>()</a:t>
            </a:r>
            <a:endParaRPr/>
          </a:p>
        </p:txBody>
      </p:sp>
      <p:sp>
        <p:nvSpPr>
          <p:cNvPr id="321" name="Google Shape;321;p26"/>
          <p:cNvSpPr/>
          <p:nvPr/>
        </p:nvSpPr>
        <p:spPr>
          <a:xfrm>
            <a:off x="4952400" y="2923494"/>
            <a:ext cx="1671900" cy="322500"/>
          </a:xfrm>
          <a:prstGeom prst="rect">
            <a:avLst/>
          </a:prstGeom>
          <a:noFill/>
          <a:ln cap="flat" cmpd="sng" w="9525">
            <a:solidFill>
              <a:schemeClr val="dk2"/>
            </a:solidFill>
            <a:prstDash val="solid"/>
            <a:round/>
            <a:headEnd len="sm" w="sm" type="none"/>
            <a:tailEnd len="sm" w="sm" type="none"/>
          </a:ln>
        </p:spPr>
        <p:txBody>
          <a:bodyPr anchorCtr="0" anchor="ctr" bIns="54000" lIns="18000" spcFirstLastPara="1" rIns="18000" wrap="square" tIns="54000">
            <a:noAutofit/>
          </a:bodyPr>
          <a:lstStyle/>
          <a:p>
            <a:pPr indent="0" lvl="0" marL="0" rtl="0" algn="ctr">
              <a:spcBef>
                <a:spcPts val="0"/>
              </a:spcBef>
              <a:spcAft>
                <a:spcPts val="0"/>
              </a:spcAft>
              <a:buNone/>
            </a:pPr>
            <a:r>
              <a:rPr lang="en-GB" sz="1600" u="sng"/>
              <a:t>:</a:t>
            </a:r>
            <a:r>
              <a:rPr lang="en-GB" sz="1600" u="sng"/>
              <a:t>Sản phẩm A1</a:t>
            </a:r>
            <a:endParaRPr sz="1600" u="sng"/>
          </a:p>
        </p:txBody>
      </p:sp>
      <p:cxnSp>
        <p:nvCxnSpPr>
          <p:cNvPr id="322" name="Google Shape;322;p26"/>
          <p:cNvCxnSpPr/>
          <p:nvPr/>
        </p:nvCxnSpPr>
        <p:spPr>
          <a:xfrm flipH="1">
            <a:off x="5768250" y="3262975"/>
            <a:ext cx="20100" cy="2905500"/>
          </a:xfrm>
          <a:prstGeom prst="straightConnector1">
            <a:avLst/>
          </a:prstGeom>
          <a:noFill/>
          <a:ln cap="flat" cmpd="sng" w="9525">
            <a:solidFill>
              <a:schemeClr val="dk2"/>
            </a:solidFill>
            <a:prstDash val="dash"/>
            <a:round/>
            <a:headEnd len="med" w="med" type="none"/>
            <a:tailEnd len="med" w="med" type="none"/>
          </a:ln>
        </p:spPr>
      </p:cxnSp>
      <p:sp>
        <p:nvSpPr>
          <p:cNvPr id="323" name="Google Shape;323;p26"/>
          <p:cNvSpPr/>
          <p:nvPr/>
        </p:nvSpPr>
        <p:spPr>
          <a:xfrm>
            <a:off x="3658742" y="1590025"/>
            <a:ext cx="1474200" cy="3225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54000" lIns="18000" spcFirstLastPara="1" rIns="18000" wrap="square" tIns="54000">
            <a:noAutofit/>
          </a:bodyPr>
          <a:lstStyle/>
          <a:p>
            <a:pPr indent="0" lvl="0" marL="0" rtl="0" algn="ctr">
              <a:spcBef>
                <a:spcPts val="0"/>
              </a:spcBef>
              <a:spcAft>
                <a:spcPts val="0"/>
              </a:spcAft>
              <a:buNone/>
            </a:pPr>
            <a:r>
              <a:rPr lang="en-GB" sz="1600" u="sng"/>
              <a:t>f2</a:t>
            </a:r>
            <a:r>
              <a:rPr lang="en-GB" sz="1600" u="sng"/>
              <a:t>:</a:t>
            </a:r>
            <a:r>
              <a:rPr lang="en-GB" sz="1600" u="sng"/>
              <a:t>Nhà máy 2</a:t>
            </a:r>
            <a:endParaRPr sz="1600" u="sng"/>
          </a:p>
        </p:txBody>
      </p:sp>
      <p:cxnSp>
        <p:nvCxnSpPr>
          <p:cNvPr id="324" name="Google Shape;324;p26"/>
          <p:cNvCxnSpPr/>
          <p:nvPr/>
        </p:nvCxnSpPr>
        <p:spPr>
          <a:xfrm>
            <a:off x="4380750" y="1916710"/>
            <a:ext cx="0" cy="4245300"/>
          </a:xfrm>
          <a:prstGeom prst="straightConnector1">
            <a:avLst/>
          </a:prstGeom>
          <a:noFill/>
          <a:ln cap="flat" cmpd="sng" w="9525">
            <a:solidFill>
              <a:schemeClr val="dk2"/>
            </a:solidFill>
            <a:prstDash val="dash"/>
            <a:round/>
            <a:headEnd len="med" w="med" type="none"/>
            <a:tailEnd len="med" w="med" type="none"/>
          </a:ln>
        </p:spPr>
      </p:cxnSp>
      <p:sp>
        <p:nvSpPr>
          <p:cNvPr id="325" name="Google Shape;325;p26"/>
          <p:cNvSpPr txBox="1"/>
          <p:nvPr/>
        </p:nvSpPr>
        <p:spPr>
          <a:xfrm>
            <a:off x="2120292" y="3118676"/>
            <a:ext cx="981000" cy="200400"/>
          </a:xfrm>
          <a:prstGeom prst="rect">
            <a:avLst/>
          </a:prstGeom>
          <a:noFill/>
          <a:ln>
            <a:noFill/>
          </a:ln>
        </p:spPr>
        <p:txBody>
          <a:bodyPr anchorCtr="0" anchor="t" bIns="18000" lIns="18000" spcFirstLastPara="1" rIns="18000" wrap="square" tIns="18000">
            <a:noAutofit/>
          </a:bodyPr>
          <a:lstStyle/>
          <a:p>
            <a:pPr indent="0" lvl="0" marL="0" rtl="0" algn="l">
              <a:spcBef>
                <a:spcPts val="0"/>
              </a:spcBef>
              <a:spcAft>
                <a:spcPts val="0"/>
              </a:spcAft>
              <a:buNone/>
            </a:pPr>
            <a:r>
              <a:rPr lang="en-GB"/>
              <a:t>Tạo B</a:t>
            </a:r>
            <a:r>
              <a:rPr lang="en-GB"/>
              <a:t>()</a:t>
            </a:r>
            <a:endParaRPr/>
          </a:p>
        </p:txBody>
      </p:sp>
      <p:sp>
        <p:nvSpPr>
          <p:cNvPr id="326" name="Google Shape;326;p26"/>
          <p:cNvSpPr/>
          <p:nvPr/>
        </p:nvSpPr>
        <p:spPr>
          <a:xfrm>
            <a:off x="5485800" y="3345838"/>
            <a:ext cx="1671900" cy="3225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54000" lIns="18000" spcFirstLastPara="1" rIns="18000" wrap="square" tIns="54000">
            <a:noAutofit/>
          </a:bodyPr>
          <a:lstStyle/>
          <a:p>
            <a:pPr indent="0" lvl="0" marL="0" rtl="0" algn="ctr">
              <a:spcBef>
                <a:spcPts val="0"/>
              </a:spcBef>
              <a:spcAft>
                <a:spcPts val="0"/>
              </a:spcAft>
              <a:buNone/>
            </a:pPr>
            <a:r>
              <a:rPr lang="en-GB" sz="1600" u="sng"/>
              <a:t>:</a:t>
            </a:r>
            <a:r>
              <a:rPr lang="en-GB" sz="1600" u="sng"/>
              <a:t>Sản phẩm B1</a:t>
            </a:r>
            <a:endParaRPr sz="1600" u="sng"/>
          </a:p>
        </p:txBody>
      </p:sp>
      <p:sp>
        <p:nvSpPr>
          <p:cNvPr id="310" name="Google Shape;310;p26"/>
          <p:cNvSpPr/>
          <p:nvPr/>
        </p:nvSpPr>
        <p:spPr>
          <a:xfrm>
            <a:off x="6628800" y="4587967"/>
            <a:ext cx="1671900" cy="322500"/>
          </a:xfrm>
          <a:prstGeom prst="rect">
            <a:avLst/>
          </a:prstGeom>
          <a:noFill/>
          <a:ln cap="flat" cmpd="sng" w="9525">
            <a:solidFill>
              <a:schemeClr val="dk2"/>
            </a:solidFill>
            <a:prstDash val="solid"/>
            <a:round/>
            <a:headEnd len="sm" w="sm" type="none"/>
            <a:tailEnd len="sm" w="sm" type="none"/>
          </a:ln>
        </p:spPr>
        <p:txBody>
          <a:bodyPr anchorCtr="0" anchor="ctr" bIns="54000" lIns="18000" spcFirstLastPara="1" rIns="18000" wrap="square" tIns="54000">
            <a:noAutofit/>
          </a:bodyPr>
          <a:lstStyle/>
          <a:p>
            <a:pPr indent="0" lvl="0" marL="0" rtl="0" algn="ctr">
              <a:spcBef>
                <a:spcPts val="0"/>
              </a:spcBef>
              <a:spcAft>
                <a:spcPts val="0"/>
              </a:spcAft>
              <a:buNone/>
            </a:pPr>
            <a:r>
              <a:rPr lang="en-GB" sz="1600" u="sng"/>
              <a:t>:</a:t>
            </a:r>
            <a:r>
              <a:rPr lang="en-GB" sz="1600" u="sng"/>
              <a:t>Sản phẩm A2</a:t>
            </a:r>
            <a:endParaRPr sz="1600" u="sng"/>
          </a:p>
        </p:txBody>
      </p:sp>
      <p:sp>
        <p:nvSpPr>
          <p:cNvPr id="327" name="Google Shape;327;p26"/>
          <p:cNvSpPr/>
          <p:nvPr/>
        </p:nvSpPr>
        <p:spPr>
          <a:xfrm>
            <a:off x="7086000" y="5036453"/>
            <a:ext cx="1671900" cy="3225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54000" lIns="18000" spcFirstLastPara="1" rIns="18000" wrap="square" tIns="54000">
            <a:noAutofit/>
          </a:bodyPr>
          <a:lstStyle/>
          <a:p>
            <a:pPr indent="0" lvl="0" marL="0" rtl="0" algn="ctr">
              <a:spcBef>
                <a:spcPts val="0"/>
              </a:spcBef>
              <a:spcAft>
                <a:spcPts val="0"/>
              </a:spcAft>
              <a:buNone/>
            </a:pPr>
            <a:r>
              <a:rPr lang="en-GB" sz="1600" u="sng"/>
              <a:t>:</a:t>
            </a:r>
            <a:r>
              <a:rPr lang="en-GB" sz="1600" u="sng"/>
              <a:t>Sản phẩm B2</a:t>
            </a:r>
            <a:endParaRPr sz="1600" u="sng"/>
          </a:p>
        </p:txBody>
      </p:sp>
      <p:cxnSp>
        <p:nvCxnSpPr>
          <p:cNvPr id="328" name="Google Shape;328;p26"/>
          <p:cNvCxnSpPr/>
          <p:nvPr/>
        </p:nvCxnSpPr>
        <p:spPr>
          <a:xfrm>
            <a:off x="7921950" y="5394689"/>
            <a:ext cx="0" cy="855600"/>
          </a:xfrm>
          <a:prstGeom prst="straightConnector1">
            <a:avLst/>
          </a:prstGeom>
          <a:noFill/>
          <a:ln cap="flat" cmpd="sng" w="9525">
            <a:solidFill>
              <a:schemeClr val="dk2"/>
            </a:solidFill>
            <a:prstDash val="dash"/>
            <a:round/>
            <a:headEnd len="med" w="med" type="none"/>
            <a:tailEnd len="med" w="med" type="none"/>
          </a:ln>
        </p:spPr>
      </p:cxnSp>
      <p:sp>
        <p:nvSpPr>
          <p:cNvPr id="329" name="Google Shape;329;p26"/>
          <p:cNvSpPr/>
          <p:nvPr/>
        </p:nvSpPr>
        <p:spPr>
          <a:xfrm>
            <a:off x="416050" y="2185008"/>
            <a:ext cx="130800" cy="1221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26"/>
          <p:cNvSpPr/>
          <p:nvPr/>
        </p:nvSpPr>
        <p:spPr>
          <a:xfrm>
            <a:off x="1737503" y="2111050"/>
            <a:ext cx="130800" cy="261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31" name="Google Shape;331;p26"/>
          <p:cNvCxnSpPr>
            <a:stCxn id="329" idx="6"/>
            <a:endCxn id="330" idx="1"/>
          </p:cNvCxnSpPr>
          <p:nvPr/>
        </p:nvCxnSpPr>
        <p:spPr>
          <a:xfrm flipH="1" rot="10800000">
            <a:off x="546850" y="2241558"/>
            <a:ext cx="1190700" cy="4500"/>
          </a:xfrm>
          <a:prstGeom prst="straightConnector1">
            <a:avLst/>
          </a:prstGeom>
          <a:noFill/>
          <a:ln cap="flat" cmpd="sng" w="9525">
            <a:solidFill>
              <a:schemeClr val="dk2"/>
            </a:solidFill>
            <a:prstDash val="solid"/>
            <a:round/>
            <a:headEnd len="med" w="med" type="none"/>
            <a:tailEnd len="med" w="med" type="triangle"/>
          </a:ln>
        </p:spPr>
      </p:cxnSp>
      <p:sp>
        <p:nvSpPr>
          <p:cNvPr id="332" name="Google Shape;332;p26"/>
          <p:cNvSpPr txBox="1"/>
          <p:nvPr/>
        </p:nvSpPr>
        <p:spPr>
          <a:xfrm>
            <a:off x="413875" y="1870972"/>
            <a:ext cx="1474200" cy="261300"/>
          </a:xfrm>
          <a:prstGeom prst="rect">
            <a:avLst/>
          </a:prstGeom>
          <a:noFill/>
          <a:ln>
            <a:noFill/>
          </a:ln>
        </p:spPr>
        <p:txBody>
          <a:bodyPr anchorCtr="0" anchor="t" bIns="18000" lIns="18000" spcFirstLastPara="1" rIns="18000" wrap="square" tIns="18000">
            <a:noAutofit/>
          </a:bodyPr>
          <a:lstStyle/>
          <a:p>
            <a:pPr indent="0" lvl="0" marL="0" rtl="0" algn="l">
              <a:spcBef>
                <a:spcPts val="0"/>
              </a:spcBef>
              <a:spcAft>
                <a:spcPts val="0"/>
              </a:spcAft>
              <a:buNone/>
            </a:pPr>
            <a:r>
              <a:rPr lang="en-GB"/>
              <a:t>Lập Nhà Máy</a:t>
            </a:r>
            <a:r>
              <a:rPr lang="en-GB"/>
              <a:t>(</a:t>
            </a:r>
            <a:r>
              <a:rPr lang="en-GB"/>
              <a:t>f1</a:t>
            </a:r>
            <a:r>
              <a:rPr lang="en-GB"/>
              <a:t>)</a:t>
            </a:r>
            <a:endParaRPr/>
          </a:p>
        </p:txBody>
      </p:sp>
      <p:sp>
        <p:nvSpPr>
          <p:cNvPr id="333" name="Google Shape;333;p26"/>
          <p:cNvSpPr/>
          <p:nvPr/>
        </p:nvSpPr>
        <p:spPr>
          <a:xfrm>
            <a:off x="416050" y="2642208"/>
            <a:ext cx="130800" cy="1221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26"/>
          <p:cNvSpPr/>
          <p:nvPr/>
        </p:nvSpPr>
        <p:spPr>
          <a:xfrm>
            <a:off x="1737500" y="2568250"/>
            <a:ext cx="130800" cy="990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35" name="Google Shape;335;p26"/>
          <p:cNvCxnSpPr/>
          <p:nvPr/>
        </p:nvCxnSpPr>
        <p:spPr>
          <a:xfrm flipH="1" rot="10800000">
            <a:off x="546850" y="2688250"/>
            <a:ext cx="1185000" cy="15000"/>
          </a:xfrm>
          <a:prstGeom prst="straightConnector1">
            <a:avLst/>
          </a:prstGeom>
          <a:noFill/>
          <a:ln cap="flat" cmpd="sng" w="9525">
            <a:solidFill>
              <a:schemeClr val="dk2"/>
            </a:solidFill>
            <a:prstDash val="solid"/>
            <a:round/>
            <a:headEnd len="med" w="med" type="none"/>
            <a:tailEnd len="med" w="med" type="triangle"/>
          </a:ln>
        </p:spPr>
      </p:cxnSp>
      <p:sp>
        <p:nvSpPr>
          <p:cNvPr id="336" name="Google Shape;336;p26"/>
          <p:cNvSpPr txBox="1"/>
          <p:nvPr/>
        </p:nvSpPr>
        <p:spPr>
          <a:xfrm>
            <a:off x="362350" y="2394452"/>
            <a:ext cx="1411200" cy="261300"/>
          </a:xfrm>
          <a:prstGeom prst="rect">
            <a:avLst/>
          </a:prstGeom>
          <a:noFill/>
          <a:ln>
            <a:noFill/>
          </a:ln>
        </p:spPr>
        <p:txBody>
          <a:bodyPr anchorCtr="0" anchor="t" bIns="18000" lIns="18000" spcFirstLastPara="1" rIns="18000" wrap="square" tIns="18000">
            <a:noAutofit/>
          </a:bodyPr>
          <a:lstStyle/>
          <a:p>
            <a:pPr indent="0" lvl="0" marL="0" rtl="0" algn="l">
              <a:spcBef>
                <a:spcPts val="0"/>
              </a:spcBef>
              <a:spcAft>
                <a:spcPts val="0"/>
              </a:spcAft>
              <a:buNone/>
            </a:pPr>
            <a:r>
              <a:rPr lang="en-GB"/>
              <a:t>Tạo Đối Tượng</a:t>
            </a:r>
            <a:r>
              <a:rPr lang="en-GB"/>
              <a:t>()</a:t>
            </a:r>
            <a:endParaRPr/>
          </a:p>
        </p:txBody>
      </p:sp>
      <p:sp>
        <p:nvSpPr>
          <p:cNvPr id="337" name="Google Shape;337;p26"/>
          <p:cNvSpPr/>
          <p:nvPr/>
        </p:nvSpPr>
        <p:spPr>
          <a:xfrm>
            <a:off x="3472675" y="3295394"/>
            <a:ext cx="130800" cy="261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26"/>
          <p:cNvSpPr txBox="1"/>
          <p:nvPr/>
        </p:nvSpPr>
        <p:spPr>
          <a:xfrm>
            <a:off x="3665204" y="2832231"/>
            <a:ext cx="853500" cy="200400"/>
          </a:xfrm>
          <a:prstGeom prst="rect">
            <a:avLst/>
          </a:prstGeom>
          <a:noFill/>
          <a:ln>
            <a:noFill/>
          </a:ln>
        </p:spPr>
        <p:txBody>
          <a:bodyPr anchorCtr="0" anchor="t" bIns="18000" lIns="18000" spcFirstLastPara="1" rIns="18000" wrap="square" tIns="18000">
            <a:noAutofit/>
          </a:bodyPr>
          <a:lstStyle/>
          <a:p>
            <a:pPr indent="0" lvl="0" marL="0" rtl="0" algn="l">
              <a:spcBef>
                <a:spcPts val="0"/>
              </a:spcBef>
              <a:spcAft>
                <a:spcPts val="0"/>
              </a:spcAft>
              <a:buNone/>
            </a:pPr>
            <a:r>
              <a:rPr lang="en-GB"/>
              <a:t>&lt;&lt;</a:t>
            </a:r>
            <a:r>
              <a:rPr lang="en-GB">
                <a:solidFill>
                  <a:schemeClr val="dk1"/>
                </a:solidFill>
              </a:rPr>
              <a:t>tạo</a:t>
            </a:r>
            <a:r>
              <a:rPr lang="en-GB"/>
              <a:t>&gt;&gt;</a:t>
            </a:r>
            <a:endParaRPr/>
          </a:p>
        </p:txBody>
      </p:sp>
      <p:sp>
        <p:nvSpPr>
          <p:cNvPr id="339" name="Google Shape;339;p26"/>
          <p:cNvSpPr txBox="1"/>
          <p:nvPr/>
        </p:nvSpPr>
        <p:spPr>
          <a:xfrm>
            <a:off x="3650050" y="3265577"/>
            <a:ext cx="1002000" cy="200400"/>
          </a:xfrm>
          <a:prstGeom prst="rect">
            <a:avLst/>
          </a:prstGeom>
          <a:noFill/>
          <a:ln>
            <a:noFill/>
          </a:ln>
        </p:spPr>
        <p:txBody>
          <a:bodyPr anchorCtr="0" anchor="t" bIns="18000" lIns="18000" spcFirstLastPara="1" rIns="18000" wrap="square" tIns="18000">
            <a:noAutofit/>
          </a:bodyPr>
          <a:lstStyle/>
          <a:p>
            <a:pPr indent="0" lvl="0" marL="0" rtl="0" algn="l">
              <a:spcBef>
                <a:spcPts val="0"/>
              </a:spcBef>
              <a:spcAft>
                <a:spcPts val="0"/>
              </a:spcAft>
              <a:buNone/>
            </a:pPr>
            <a:r>
              <a:rPr lang="en-GB"/>
              <a:t>&lt;&lt;</a:t>
            </a:r>
            <a:r>
              <a:rPr lang="en-GB"/>
              <a:t>tạo</a:t>
            </a:r>
            <a:r>
              <a:rPr lang="en-GB"/>
              <a:t>&gt;&gt;</a:t>
            </a:r>
            <a:endParaRPr/>
          </a:p>
        </p:txBody>
      </p:sp>
      <p:sp>
        <p:nvSpPr>
          <p:cNvPr id="340" name="Google Shape;340;p26"/>
          <p:cNvSpPr/>
          <p:nvPr/>
        </p:nvSpPr>
        <p:spPr>
          <a:xfrm>
            <a:off x="416050" y="3861408"/>
            <a:ext cx="130800" cy="1221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26"/>
          <p:cNvSpPr/>
          <p:nvPr/>
        </p:nvSpPr>
        <p:spPr>
          <a:xfrm>
            <a:off x="1737503" y="3787450"/>
            <a:ext cx="130800" cy="261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42" name="Google Shape;342;p26"/>
          <p:cNvCxnSpPr>
            <a:stCxn id="340" idx="6"/>
            <a:endCxn id="341" idx="1"/>
          </p:cNvCxnSpPr>
          <p:nvPr/>
        </p:nvCxnSpPr>
        <p:spPr>
          <a:xfrm flipH="1" rot="10800000">
            <a:off x="546850" y="3917958"/>
            <a:ext cx="1190700" cy="4500"/>
          </a:xfrm>
          <a:prstGeom prst="straightConnector1">
            <a:avLst/>
          </a:prstGeom>
          <a:noFill/>
          <a:ln cap="flat" cmpd="sng" w="9525">
            <a:solidFill>
              <a:schemeClr val="dk2"/>
            </a:solidFill>
            <a:prstDash val="solid"/>
            <a:round/>
            <a:headEnd len="med" w="med" type="none"/>
            <a:tailEnd len="med" w="med" type="triangle"/>
          </a:ln>
        </p:spPr>
      </p:cxnSp>
      <p:sp>
        <p:nvSpPr>
          <p:cNvPr id="343" name="Google Shape;343;p26"/>
          <p:cNvSpPr txBox="1"/>
          <p:nvPr/>
        </p:nvSpPr>
        <p:spPr>
          <a:xfrm>
            <a:off x="407650" y="3599725"/>
            <a:ext cx="1474200" cy="261300"/>
          </a:xfrm>
          <a:prstGeom prst="rect">
            <a:avLst/>
          </a:prstGeom>
          <a:noFill/>
          <a:ln>
            <a:noFill/>
          </a:ln>
        </p:spPr>
        <p:txBody>
          <a:bodyPr anchorCtr="0" anchor="t" bIns="18000" lIns="18000" spcFirstLastPara="1" rIns="18000" wrap="square" tIns="18000">
            <a:noAutofit/>
          </a:bodyPr>
          <a:lstStyle/>
          <a:p>
            <a:pPr indent="0" lvl="0" marL="0" rtl="0" algn="l">
              <a:spcBef>
                <a:spcPts val="0"/>
              </a:spcBef>
              <a:spcAft>
                <a:spcPts val="0"/>
              </a:spcAft>
              <a:buNone/>
            </a:pPr>
            <a:r>
              <a:rPr lang="en-GB"/>
              <a:t>Lập Nhà Máy</a:t>
            </a:r>
            <a:r>
              <a:rPr lang="en-GB"/>
              <a:t>(f2)</a:t>
            </a:r>
            <a:endParaRPr/>
          </a:p>
        </p:txBody>
      </p:sp>
      <p:sp>
        <p:nvSpPr>
          <p:cNvPr id="344" name="Google Shape;344;p26"/>
          <p:cNvSpPr/>
          <p:nvPr/>
        </p:nvSpPr>
        <p:spPr>
          <a:xfrm>
            <a:off x="416050" y="4318608"/>
            <a:ext cx="130800" cy="1221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26"/>
          <p:cNvSpPr/>
          <p:nvPr/>
        </p:nvSpPr>
        <p:spPr>
          <a:xfrm>
            <a:off x="1737500" y="4244650"/>
            <a:ext cx="130800" cy="990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26"/>
          <p:cNvSpPr/>
          <p:nvPr/>
        </p:nvSpPr>
        <p:spPr>
          <a:xfrm>
            <a:off x="4310875" y="4575592"/>
            <a:ext cx="130800" cy="261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26"/>
          <p:cNvSpPr/>
          <p:nvPr/>
        </p:nvSpPr>
        <p:spPr>
          <a:xfrm>
            <a:off x="4310875" y="4971794"/>
            <a:ext cx="130800" cy="261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26"/>
          <p:cNvSpPr txBox="1"/>
          <p:nvPr/>
        </p:nvSpPr>
        <p:spPr>
          <a:xfrm>
            <a:off x="4597089" y="4540337"/>
            <a:ext cx="1002000" cy="200400"/>
          </a:xfrm>
          <a:prstGeom prst="rect">
            <a:avLst/>
          </a:prstGeom>
          <a:noFill/>
          <a:ln>
            <a:noFill/>
          </a:ln>
        </p:spPr>
        <p:txBody>
          <a:bodyPr anchorCtr="0" anchor="t" bIns="18000" lIns="18000" spcFirstLastPara="1" rIns="18000" wrap="square" tIns="18000">
            <a:noAutofit/>
          </a:bodyPr>
          <a:lstStyle/>
          <a:p>
            <a:pPr indent="0" lvl="0" marL="0" rtl="0" algn="l">
              <a:spcBef>
                <a:spcPts val="0"/>
              </a:spcBef>
              <a:spcAft>
                <a:spcPts val="0"/>
              </a:spcAft>
              <a:buNone/>
            </a:pPr>
            <a:r>
              <a:rPr lang="en-GB"/>
              <a:t>&lt;&lt;</a:t>
            </a:r>
            <a:r>
              <a:rPr lang="en-GB"/>
              <a:t>tạo</a:t>
            </a:r>
            <a:r>
              <a:rPr lang="en-GB"/>
              <a:t>&gt;&gt;</a:t>
            </a:r>
            <a:endParaRPr/>
          </a:p>
        </p:txBody>
      </p:sp>
      <p:sp>
        <p:nvSpPr>
          <p:cNvPr id="349" name="Google Shape;349;p26"/>
          <p:cNvSpPr txBox="1"/>
          <p:nvPr/>
        </p:nvSpPr>
        <p:spPr>
          <a:xfrm>
            <a:off x="4597089" y="4921337"/>
            <a:ext cx="1002000" cy="200400"/>
          </a:xfrm>
          <a:prstGeom prst="rect">
            <a:avLst/>
          </a:prstGeom>
          <a:noFill/>
          <a:ln>
            <a:noFill/>
          </a:ln>
        </p:spPr>
        <p:txBody>
          <a:bodyPr anchorCtr="0" anchor="t" bIns="18000" lIns="18000" spcFirstLastPara="1" rIns="18000" wrap="square" tIns="18000">
            <a:noAutofit/>
          </a:bodyPr>
          <a:lstStyle/>
          <a:p>
            <a:pPr indent="0" lvl="0" marL="0" rtl="0" algn="l">
              <a:spcBef>
                <a:spcPts val="0"/>
              </a:spcBef>
              <a:spcAft>
                <a:spcPts val="0"/>
              </a:spcAft>
              <a:buNone/>
            </a:pPr>
            <a:r>
              <a:rPr lang="en-GB"/>
              <a:t>&lt;&lt;</a:t>
            </a:r>
            <a:r>
              <a:rPr lang="en-GB"/>
              <a:t>tạo</a:t>
            </a:r>
            <a:r>
              <a:rPr lang="en-GB"/>
              <a:t>&gt;&gt;</a:t>
            </a:r>
            <a:endParaRPr/>
          </a:p>
        </p:txBody>
      </p:sp>
      <p:cxnSp>
        <p:nvCxnSpPr>
          <p:cNvPr id="350" name="Google Shape;350;p26"/>
          <p:cNvCxnSpPr/>
          <p:nvPr/>
        </p:nvCxnSpPr>
        <p:spPr>
          <a:xfrm>
            <a:off x="1851075" y="3008046"/>
            <a:ext cx="1626600" cy="0"/>
          </a:xfrm>
          <a:prstGeom prst="straightConnector1">
            <a:avLst/>
          </a:prstGeom>
          <a:noFill/>
          <a:ln cap="flat" cmpd="sng" w="9525">
            <a:solidFill>
              <a:schemeClr val="dk2"/>
            </a:solidFill>
            <a:prstDash val="solid"/>
            <a:round/>
            <a:headEnd len="med" w="med" type="none"/>
            <a:tailEnd len="med" w="med" type="triangle"/>
          </a:ln>
        </p:spPr>
      </p:cxnSp>
      <p:cxnSp>
        <p:nvCxnSpPr>
          <p:cNvPr id="351" name="Google Shape;351;p26"/>
          <p:cNvCxnSpPr/>
          <p:nvPr/>
        </p:nvCxnSpPr>
        <p:spPr>
          <a:xfrm>
            <a:off x="1851075" y="3389048"/>
            <a:ext cx="1626600" cy="0"/>
          </a:xfrm>
          <a:prstGeom prst="straightConnector1">
            <a:avLst/>
          </a:prstGeom>
          <a:noFill/>
          <a:ln cap="flat" cmpd="sng" w="9525">
            <a:solidFill>
              <a:schemeClr val="dk2"/>
            </a:solidFill>
            <a:prstDash val="solid"/>
            <a:round/>
            <a:headEnd len="med" w="med" type="none"/>
            <a:tailEnd len="med" w="med" type="triangle"/>
          </a:ln>
        </p:spPr>
      </p:cxnSp>
      <p:cxnSp>
        <p:nvCxnSpPr>
          <p:cNvPr id="352" name="Google Shape;352;p26"/>
          <p:cNvCxnSpPr/>
          <p:nvPr/>
        </p:nvCxnSpPr>
        <p:spPr>
          <a:xfrm>
            <a:off x="3616250" y="3084250"/>
            <a:ext cx="1333200" cy="0"/>
          </a:xfrm>
          <a:prstGeom prst="straightConnector1">
            <a:avLst/>
          </a:prstGeom>
          <a:noFill/>
          <a:ln cap="flat" cmpd="sng" w="9525">
            <a:solidFill>
              <a:schemeClr val="dk2"/>
            </a:solidFill>
            <a:prstDash val="solid"/>
            <a:round/>
            <a:headEnd len="med" w="med" type="none"/>
            <a:tailEnd len="med" w="med" type="triangle"/>
          </a:ln>
        </p:spPr>
      </p:cxnSp>
      <p:cxnSp>
        <p:nvCxnSpPr>
          <p:cNvPr id="353" name="Google Shape;353;p26"/>
          <p:cNvCxnSpPr/>
          <p:nvPr/>
        </p:nvCxnSpPr>
        <p:spPr>
          <a:xfrm>
            <a:off x="3616250" y="3505669"/>
            <a:ext cx="1836900" cy="0"/>
          </a:xfrm>
          <a:prstGeom prst="straightConnector1">
            <a:avLst/>
          </a:prstGeom>
          <a:noFill/>
          <a:ln cap="flat" cmpd="sng" w="9525">
            <a:solidFill>
              <a:schemeClr val="dk2"/>
            </a:solidFill>
            <a:prstDash val="solid"/>
            <a:round/>
            <a:headEnd len="med" w="med" type="none"/>
            <a:tailEnd len="med" w="med" type="triangle"/>
          </a:ln>
        </p:spPr>
      </p:cxnSp>
      <p:sp>
        <p:nvSpPr>
          <p:cNvPr id="354" name="Google Shape;354;p26"/>
          <p:cNvSpPr txBox="1"/>
          <p:nvPr/>
        </p:nvSpPr>
        <p:spPr>
          <a:xfrm>
            <a:off x="2120292" y="4414078"/>
            <a:ext cx="981000" cy="200400"/>
          </a:xfrm>
          <a:prstGeom prst="rect">
            <a:avLst/>
          </a:prstGeom>
          <a:noFill/>
          <a:ln>
            <a:noFill/>
          </a:ln>
        </p:spPr>
        <p:txBody>
          <a:bodyPr anchorCtr="0" anchor="t" bIns="18000" lIns="18000" spcFirstLastPara="1" rIns="18000" wrap="square" tIns="18000">
            <a:noAutofit/>
          </a:bodyPr>
          <a:lstStyle/>
          <a:p>
            <a:pPr indent="0" lvl="0" marL="0" rtl="0" algn="l">
              <a:spcBef>
                <a:spcPts val="0"/>
              </a:spcBef>
              <a:spcAft>
                <a:spcPts val="0"/>
              </a:spcAft>
              <a:buNone/>
            </a:pPr>
            <a:r>
              <a:rPr lang="en-GB"/>
              <a:t>T</a:t>
            </a:r>
            <a:r>
              <a:rPr lang="en-GB">
                <a:solidFill>
                  <a:schemeClr val="dk1"/>
                </a:solidFill>
              </a:rPr>
              <a:t>ạo A</a:t>
            </a:r>
            <a:r>
              <a:rPr lang="en-GB"/>
              <a:t>()</a:t>
            </a:r>
            <a:endParaRPr/>
          </a:p>
        </p:txBody>
      </p:sp>
      <p:sp>
        <p:nvSpPr>
          <p:cNvPr id="355" name="Google Shape;355;p26"/>
          <p:cNvSpPr txBox="1"/>
          <p:nvPr/>
        </p:nvSpPr>
        <p:spPr>
          <a:xfrm>
            <a:off x="2120292" y="4795079"/>
            <a:ext cx="981000" cy="200400"/>
          </a:xfrm>
          <a:prstGeom prst="rect">
            <a:avLst/>
          </a:prstGeom>
          <a:noFill/>
          <a:ln>
            <a:noFill/>
          </a:ln>
        </p:spPr>
        <p:txBody>
          <a:bodyPr anchorCtr="0" anchor="t" bIns="18000" lIns="18000" spcFirstLastPara="1" rIns="18000" wrap="square" tIns="18000">
            <a:noAutofit/>
          </a:bodyPr>
          <a:lstStyle/>
          <a:p>
            <a:pPr indent="0" lvl="0" marL="0" rtl="0" algn="l">
              <a:spcBef>
                <a:spcPts val="0"/>
              </a:spcBef>
              <a:spcAft>
                <a:spcPts val="0"/>
              </a:spcAft>
              <a:buNone/>
            </a:pPr>
            <a:r>
              <a:rPr lang="en-GB"/>
              <a:t>T</a:t>
            </a:r>
            <a:r>
              <a:rPr lang="en-GB"/>
              <a:t>ạo B()</a:t>
            </a:r>
            <a:endParaRPr/>
          </a:p>
        </p:txBody>
      </p:sp>
      <p:cxnSp>
        <p:nvCxnSpPr>
          <p:cNvPr id="356" name="Google Shape;356;p26"/>
          <p:cNvCxnSpPr/>
          <p:nvPr/>
        </p:nvCxnSpPr>
        <p:spPr>
          <a:xfrm flipH="1" rot="10800000">
            <a:off x="546850" y="4364650"/>
            <a:ext cx="1185000" cy="15000"/>
          </a:xfrm>
          <a:prstGeom prst="straightConnector1">
            <a:avLst/>
          </a:prstGeom>
          <a:noFill/>
          <a:ln cap="flat" cmpd="sng" w="9525">
            <a:solidFill>
              <a:schemeClr val="dk2"/>
            </a:solidFill>
            <a:prstDash val="solid"/>
            <a:round/>
            <a:headEnd len="med" w="med" type="none"/>
            <a:tailEnd len="med" w="med" type="triangle"/>
          </a:ln>
        </p:spPr>
      </p:cxnSp>
      <p:sp>
        <p:nvSpPr>
          <p:cNvPr id="357" name="Google Shape;357;p26"/>
          <p:cNvSpPr txBox="1"/>
          <p:nvPr/>
        </p:nvSpPr>
        <p:spPr>
          <a:xfrm>
            <a:off x="373450" y="4042150"/>
            <a:ext cx="1411200" cy="261300"/>
          </a:xfrm>
          <a:prstGeom prst="rect">
            <a:avLst/>
          </a:prstGeom>
          <a:noFill/>
          <a:ln>
            <a:noFill/>
          </a:ln>
        </p:spPr>
        <p:txBody>
          <a:bodyPr anchorCtr="0" anchor="t" bIns="18000" lIns="18000" spcFirstLastPara="1" rIns="18000" wrap="square" tIns="18000">
            <a:noAutofit/>
          </a:bodyPr>
          <a:lstStyle/>
          <a:p>
            <a:pPr indent="0" lvl="0" marL="0" rtl="0" algn="l">
              <a:spcBef>
                <a:spcPts val="0"/>
              </a:spcBef>
              <a:spcAft>
                <a:spcPts val="0"/>
              </a:spcAft>
              <a:buNone/>
            </a:pPr>
            <a:r>
              <a:rPr lang="en-GB">
                <a:solidFill>
                  <a:schemeClr val="dk1"/>
                </a:solidFill>
              </a:rPr>
              <a:t>T</a:t>
            </a:r>
            <a:r>
              <a:rPr lang="en-GB">
                <a:solidFill>
                  <a:schemeClr val="dk1"/>
                </a:solidFill>
              </a:rPr>
              <a:t>ạo Đối Tượng()</a:t>
            </a:r>
            <a:endParaRPr/>
          </a:p>
        </p:txBody>
      </p:sp>
      <p:cxnSp>
        <p:nvCxnSpPr>
          <p:cNvPr id="358" name="Google Shape;358;p26"/>
          <p:cNvCxnSpPr/>
          <p:nvPr/>
        </p:nvCxnSpPr>
        <p:spPr>
          <a:xfrm>
            <a:off x="1851083" y="4684448"/>
            <a:ext cx="2392200" cy="0"/>
          </a:xfrm>
          <a:prstGeom prst="straightConnector1">
            <a:avLst/>
          </a:prstGeom>
          <a:noFill/>
          <a:ln cap="flat" cmpd="sng" w="9525">
            <a:solidFill>
              <a:schemeClr val="dk2"/>
            </a:solidFill>
            <a:prstDash val="solid"/>
            <a:round/>
            <a:headEnd len="med" w="med" type="none"/>
            <a:tailEnd len="med" w="med" type="triangle"/>
          </a:ln>
        </p:spPr>
      </p:cxnSp>
      <p:cxnSp>
        <p:nvCxnSpPr>
          <p:cNvPr id="359" name="Google Shape;359;p26"/>
          <p:cNvCxnSpPr/>
          <p:nvPr/>
        </p:nvCxnSpPr>
        <p:spPr>
          <a:xfrm>
            <a:off x="1851083" y="5065450"/>
            <a:ext cx="2392200" cy="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27"/>
          <p:cNvSpPr txBox="1"/>
          <p:nvPr>
            <p:ph idx="1" type="body"/>
          </p:nvPr>
        </p:nvSpPr>
        <p:spPr>
          <a:xfrm>
            <a:off x="311700" y="950475"/>
            <a:ext cx="8520600" cy="5418300"/>
          </a:xfrm>
          <a:prstGeom prst="rect">
            <a:avLst/>
          </a:prstGeom>
        </p:spPr>
        <p:txBody>
          <a:bodyPr anchorCtr="0" anchor="t" bIns="91425" lIns="91425" spcFirstLastPara="1" rIns="91425" wrap="square" tIns="91425">
            <a:noAutofit/>
          </a:bodyPr>
          <a:lstStyle/>
          <a:p>
            <a:pPr indent="-381000" lvl="0" marL="457200" rtl="0" algn="just">
              <a:spcBef>
                <a:spcPts val="0"/>
              </a:spcBef>
              <a:spcAft>
                <a:spcPts val="0"/>
              </a:spcAft>
              <a:buSzPts val="2400"/>
              <a:buChar char="●"/>
            </a:pPr>
            <a:r>
              <a:rPr lang="en-GB"/>
              <a:t>Cô lập các lớp cụ thể khiến chúng trong suốt đối với phía khách. Phía khách chỉ sử dụng các giao diện khái quát.</a:t>
            </a:r>
            <a:endParaRPr/>
          </a:p>
          <a:p>
            <a:pPr indent="-381000" lvl="0" marL="457200" rtl="0" algn="just">
              <a:spcBef>
                <a:spcPts val="0"/>
              </a:spcBef>
              <a:spcAft>
                <a:spcPts val="0"/>
              </a:spcAft>
              <a:buSzPts val="2400"/>
              <a:buChar char="●"/>
            </a:pPr>
            <a:r>
              <a:rPr lang="en-GB"/>
              <a:t>Dễ thay thế một </a:t>
            </a:r>
            <a:r>
              <a:rPr lang="en-GB"/>
              <a:t>ê-kíp</a:t>
            </a:r>
            <a:r>
              <a:rPr lang="en-GB"/>
              <a:t> đối tượng bằng cách chuyển sang sử dụng một nhà máy cụ thể khác.</a:t>
            </a:r>
            <a:endParaRPr/>
          </a:p>
          <a:p>
            <a:pPr indent="-381000" lvl="0" marL="457200" rtl="0" algn="just">
              <a:spcBef>
                <a:spcPts val="0"/>
              </a:spcBef>
              <a:spcAft>
                <a:spcPts val="0"/>
              </a:spcAft>
              <a:buSzPts val="2400"/>
              <a:buChar char="●"/>
            </a:pPr>
            <a:r>
              <a:rPr lang="en-GB"/>
              <a:t>Tăng cường tính nhất quán của ê-kíp đối tượng trong trường hợp chúng ràng buộc lẫn nhau.</a:t>
            </a:r>
            <a:endParaRPr/>
          </a:p>
          <a:p>
            <a:pPr indent="-381000" lvl="0" marL="457200" rtl="0" algn="just">
              <a:spcBef>
                <a:spcPts val="0"/>
              </a:spcBef>
              <a:spcAft>
                <a:spcPts val="0"/>
              </a:spcAft>
              <a:buSzPts val="2400"/>
              <a:buChar char="●"/>
            </a:pPr>
            <a:r>
              <a:rPr lang="en-GB"/>
              <a:t>Khó bổ </a:t>
            </a:r>
            <a:r>
              <a:rPr lang="en-GB"/>
              <a:t>sung</a:t>
            </a:r>
            <a:r>
              <a:rPr lang="en-GB"/>
              <a:t> đối tượng mới vì phải thay đổi nhà máy trừu tượng và các nhà máy cụ thể đã triển khai.</a:t>
            </a:r>
            <a:endParaRPr/>
          </a:p>
        </p:txBody>
      </p:sp>
      <p:sp>
        <p:nvSpPr>
          <p:cNvPr id="365" name="Google Shape;365;p27"/>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Nhà máy trừu tượng: Hệ quả</a:t>
            </a:r>
            <a:endParaRPr/>
          </a:p>
        </p:txBody>
      </p:sp>
      <p:sp>
        <p:nvSpPr>
          <p:cNvPr id="366" name="Google Shape;366;p2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28"/>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1. Giao diện đồ họa</a:t>
            </a:r>
            <a:endParaRPr/>
          </a:p>
        </p:txBody>
      </p:sp>
      <p:sp>
        <p:nvSpPr>
          <p:cNvPr id="372" name="Google Shape;372;p2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373" name="Google Shape;373;p28"/>
          <p:cNvSpPr/>
          <p:nvPr/>
        </p:nvSpPr>
        <p:spPr>
          <a:xfrm>
            <a:off x="4266600" y="1025650"/>
            <a:ext cx="1602300" cy="2799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i="1" lang="en-GB"/>
              <a:t>GUIFactory</a:t>
            </a:r>
            <a:endParaRPr i="1"/>
          </a:p>
        </p:txBody>
      </p:sp>
      <p:sp>
        <p:nvSpPr>
          <p:cNvPr id="374" name="Google Shape;374;p28"/>
          <p:cNvSpPr/>
          <p:nvPr/>
        </p:nvSpPr>
        <p:spPr>
          <a:xfrm>
            <a:off x="4266600" y="1305496"/>
            <a:ext cx="1602300" cy="7635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i="1" lang="en-GB"/>
              <a:t>CreateForm</a:t>
            </a:r>
            <a:r>
              <a:rPr i="1" lang="en-GB"/>
              <a:t>()</a:t>
            </a:r>
            <a:endParaRPr i="1"/>
          </a:p>
          <a:p>
            <a:pPr indent="0" lvl="0" marL="0" rtl="0" algn="l">
              <a:spcBef>
                <a:spcPts val="0"/>
              </a:spcBef>
              <a:spcAft>
                <a:spcPts val="0"/>
              </a:spcAft>
              <a:buNone/>
            </a:pPr>
            <a:r>
              <a:rPr i="1" lang="en-GB"/>
              <a:t>CreateText</a:t>
            </a:r>
            <a:r>
              <a:rPr i="1" lang="en-GB"/>
              <a:t>B</a:t>
            </a:r>
            <a:r>
              <a:rPr i="1" lang="en-GB"/>
              <a:t>ox</a:t>
            </a:r>
            <a:r>
              <a:rPr i="1" lang="en-GB"/>
              <a:t>()</a:t>
            </a:r>
            <a:endParaRPr i="1"/>
          </a:p>
          <a:p>
            <a:pPr indent="0" lvl="0" marL="0" rtl="0" algn="l">
              <a:spcBef>
                <a:spcPts val="0"/>
              </a:spcBef>
              <a:spcAft>
                <a:spcPts val="0"/>
              </a:spcAft>
              <a:buNone/>
            </a:pPr>
            <a:r>
              <a:rPr i="1" lang="en-GB"/>
              <a:t>CreateButton()</a:t>
            </a:r>
            <a:endParaRPr i="1"/>
          </a:p>
        </p:txBody>
      </p:sp>
      <p:sp>
        <p:nvSpPr>
          <p:cNvPr id="375" name="Google Shape;375;p28"/>
          <p:cNvSpPr/>
          <p:nvPr/>
        </p:nvSpPr>
        <p:spPr>
          <a:xfrm>
            <a:off x="3442600" y="2504425"/>
            <a:ext cx="1473300" cy="2802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a:t>SimpleGUI</a:t>
            </a:r>
            <a:endParaRPr/>
          </a:p>
        </p:txBody>
      </p:sp>
      <p:sp>
        <p:nvSpPr>
          <p:cNvPr id="376" name="Google Shape;376;p28"/>
          <p:cNvSpPr/>
          <p:nvPr/>
        </p:nvSpPr>
        <p:spPr>
          <a:xfrm>
            <a:off x="3442600" y="2784249"/>
            <a:ext cx="1473300" cy="7635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Clr>
                <a:schemeClr val="dk1"/>
              </a:buClr>
              <a:buSzPts val="1100"/>
              <a:buFont typeface="Arial"/>
              <a:buNone/>
            </a:pPr>
            <a:r>
              <a:rPr lang="en-GB">
                <a:solidFill>
                  <a:schemeClr val="dk1"/>
                </a:solidFill>
              </a:rPr>
              <a:t>C</a:t>
            </a:r>
            <a:r>
              <a:rPr lang="en-GB">
                <a:solidFill>
                  <a:schemeClr val="dk1"/>
                </a:solidFill>
              </a:rPr>
              <a:t>reateForm()</a:t>
            </a:r>
            <a:endParaRPr>
              <a:solidFill>
                <a:schemeClr val="dk1"/>
              </a:solidFill>
            </a:endParaRPr>
          </a:p>
          <a:p>
            <a:pPr indent="0" lvl="0" marL="0" rtl="0" algn="l">
              <a:spcBef>
                <a:spcPts val="0"/>
              </a:spcBef>
              <a:spcAft>
                <a:spcPts val="0"/>
              </a:spcAft>
              <a:buClr>
                <a:schemeClr val="dk1"/>
              </a:buClr>
              <a:buSzPts val="1100"/>
              <a:buFont typeface="Arial"/>
              <a:buNone/>
            </a:pPr>
            <a:r>
              <a:rPr lang="en-GB">
                <a:solidFill>
                  <a:schemeClr val="dk1"/>
                </a:solidFill>
              </a:rPr>
              <a:t>CreateTextBox()</a:t>
            </a:r>
            <a:endParaRPr>
              <a:solidFill>
                <a:schemeClr val="dk1"/>
              </a:solidFill>
            </a:endParaRPr>
          </a:p>
          <a:p>
            <a:pPr indent="0" lvl="0" marL="0" rtl="0" algn="l">
              <a:spcBef>
                <a:spcPts val="0"/>
              </a:spcBef>
              <a:spcAft>
                <a:spcPts val="0"/>
              </a:spcAft>
              <a:buNone/>
            </a:pPr>
            <a:r>
              <a:rPr lang="en-GB">
                <a:solidFill>
                  <a:schemeClr val="dk1"/>
                </a:solidFill>
              </a:rPr>
              <a:t>CreateButton()</a:t>
            </a:r>
            <a:endParaRPr/>
          </a:p>
        </p:txBody>
      </p:sp>
      <p:sp>
        <p:nvSpPr>
          <p:cNvPr id="377" name="Google Shape;377;p28"/>
          <p:cNvSpPr/>
          <p:nvPr/>
        </p:nvSpPr>
        <p:spPr>
          <a:xfrm>
            <a:off x="5268427" y="2504425"/>
            <a:ext cx="1602300" cy="2802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a:t>CosmicGUI</a:t>
            </a:r>
            <a:endParaRPr/>
          </a:p>
        </p:txBody>
      </p:sp>
      <p:sp>
        <p:nvSpPr>
          <p:cNvPr id="378" name="Google Shape;378;p28"/>
          <p:cNvSpPr/>
          <p:nvPr/>
        </p:nvSpPr>
        <p:spPr>
          <a:xfrm>
            <a:off x="5268425" y="2784249"/>
            <a:ext cx="1602300" cy="7635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Clr>
                <a:schemeClr val="dk1"/>
              </a:buClr>
              <a:buSzPts val="1100"/>
              <a:buFont typeface="Arial"/>
              <a:buNone/>
            </a:pPr>
            <a:r>
              <a:rPr lang="en-GB">
                <a:solidFill>
                  <a:schemeClr val="dk1"/>
                </a:solidFill>
              </a:rPr>
              <a:t>C</a:t>
            </a:r>
            <a:r>
              <a:rPr lang="en-GB">
                <a:solidFill>
                  <a:schemeClr val="dk1"/>
                </a:solidFill>
              </a:rPr>
              <a:t>reateForm()</a:t>
            </a:r>
            <a:endParaRPr>
              <a:solidFill>
                <a:schemeClr val="dk1"/>
              </a:solidFill>
            </a:endParaRPr>
          </a:p>
          <a:p>
            <a:pPr indent="0" lvl="0" marL="0" rtl="0" algn="l">
              <a:spcBef>
                <a:spcPts val="0"/>
              </a:spcBef>
              <a:spcAft>
                <a:spcPts val="0"/>
              </a:spcAft>
              <a:buClr>
                <a:schemeClr val="dk1"/>
              </a:buClr>
              <a:buSzPts val="1100"/>
              <a:buFont typeface="Arial"/>
              <a:buNone/>
            </a:pPr>
            <a:r>
              <a:rPr lang="en-GB">
                <a:solidFill>
                  <a:schemeClr val="dk1"/>
                </a:solidFill>
              </a:rPr>
              <a:t>CreateTextBox()</a:t>
            </a:r>
            <a:endParaRPr>
              <a:solidFill>
                <a:schemeClr val="dk1"/>
              </a:solidFill>
            </a:endParaRPr>
          </a:p>
          <a:p>
            <a:pPr indent="0" lvl="0" marL="0" rtl="0" algn="l">
              <a:spcBef>
                <a:spcPts val="0"/>
              </a:spcBef>
              <a:spcAft>
                <a:spcPts val="0"/>
              </a:spcAft>
              <a:buClr>
                <a:schemeClr val="dk1"/>
              </a:buClr>
              <a:buSzPts val="1100"/>
              <a:buFont typeface="Arial"/>
              <a:buNone/>
            </a:pPr>
            <a:r>
              <a:rPr lang="en-GB">
                <a:solidFill>
                  <a:schemeClr val="dk1"/>
                </a:solidFill>
              </a:rPr>
              <a:t>CreateButton()</a:t>
            </a:r>
            <a:endParaRPr>
              <a:solidFill>
                <a:schemeClr val="dk1"/>
              </a:solidFill>
            </a:endParaRPr>
          </a:p>
          <a:p>
            <a:pPr indent="0" lvl="0" marL="0" rtl="0" algn="l">
              <a:spcBef>
                <a:spcPts val="0"/>
              </a:spcBef>
              <a:spcAft>
                <a:spcPts val="0"/>
              </a:spcAft>
              <a:buNone/>
            </a:pPr>
            <a:r>
              <a:t/>
            </a:r>
            <a:endParaRPr/>
          </a:p>
        </p:txBody>
      </p:sp>
      <p:sp>
        <p:nvSpPr>
          <p:cNvPr id="379" name="Google Shape;379;p28"/>
          <p:cNvSpPr/>
          <p:nvPr/>
        </p:nvSpPr>
        <p:spPr>
          <a:xfrm>
            <a:off x="4093975" y="3657600"/>
            <a:ext cx="19917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i="1" lang="en-GB"/>
              <a:t>Form</a:t>
            </a:r>
            <a:endParaRPr i="1"/>
          </a:p>
        </p:txBody>
      </p:sp>
      <p:sp>
        <p:nvSpPr>
          <p:cNvPr id="380" name="Google Shape;380;p28"/>
          <p:cNvSpPr/>
          <p:nvPr/>
        </p:nvSpPr>
        <p:spPr>
          <a:xfrm>
            <a:off x="3655350" y="4191000"/>
            <a:ext cx="14511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a:t>SimpleForm</a:t>
            </a:r>
            <a:endParaRPr/>
          </a:p>
        </p:txBody>
      </p:sp>
      <p:sp>
        <p:nvSpPr>
          <p:cNvPr id="381" name="Google Shape;381;p28"/>
          <p:cNvSpPr/>
          <p:nvPr/>
        </p:nvSpPr>
        <p:spPr>
          <a:xfrm>
            <a:off x="5194900" y="4191000"/>
            <a:ext cx="14733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a:t>CosmicForm</a:t>
            </a:r>
            <a:endParaRPr/>
          </a:p>
        </p:txBody>
      </p:sp>
      <p:sp>
        <p:nvSpPr>
          <p:cNvPr id="382" name="Google Shape;382;p28"/>
          <p:cNvSpPr/>
          <p:nvPr/>
        </p:nvSpPr>
        <p:spPr>
          <a:xfrm>
            <a:off x="4243572" y="4676075"/>
            <a:ext cx="17529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i="1" lang="en-GB"/>
              <a:t>TextBox</a:t>
            </a:r>
            <a:endParaRPr i="1"/>
          </a:p>
        </p:txBody>
      </p:sp>
      <p:sp>
        <p:nvSpPr>
          <p:cNvPr id="383" name="Google Shape;383;p28"/>
          <p:cNvSpPr/>
          <p:nvPr/>
        </p:nvSpPr>
        <p:spPr>
          <a:xfrm>
            <a:off x="3655350" y="5209475"/>
            <a:ext cx="14514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a:t>SimpleTextBox</a:t>
            </a:r>
            <a:endParaRPr/>
          </a:p>
        </p:txBody>
      </p:sp>
      <p:sp>
        <p:nvSpPr>
          <p:cNvPr id="384" name="Google Shape;384;p28"/>
          <p:cNvSpPr/>
          <p:nvPr/>
        </p:nvSpPr>
        <p:spPr>
          <a:xfrm>
            <a:off x="5216915" y="5209475"/>
            <a:ext cx="14514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a:t>CosmicTextBox</a:t>
            </a:r>
            <a:endParaRPr/>
          </a:p>
        </p:txBody>
      </p:sp>
      <p:sp>
        <p:nvSpPr>
          <p:cNvPr id="385" name="Google Shape;385;p28"/>
          <p:cNvSpPr/>
          <p:nvPr/>
        </p:nvSpPr>
        <p:spPr>
          <a:xfrm>
            <a:off x="4690900" y="2061116"/>
            <a:ext cx="130800" cy="1116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28"/>
          <p:cNvSpPr/>
          <p:nvPr/>
        </p:nvSpPr>
        <p:spPr>
          <a:xfrm>
            <a:off x="5148100" y="2061116"/>
            <a:ext cx="130800" cy="1116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87" name="Google Shape;387;p28"/>
          <p:cNvCxnSpPr>
            <a:stCxn id="375" idx="0"/>
            <a:endCxn id="385" idx="3"/>
          </p:cNvCxnSpPr>
          <p:nvPr/>
        </p:nvCxnSpPr>
        <p:spPr>
          <a:xfrm rot="-5400000">
            <a:off x="4301800" y="2050075"/>
            <a:ext cx="331800" cy="576900"/>
          </a:xfrm>
          <a:prstGeom prst="bentConnector3">
            <a:avLst>
              <a:gd fmla="val 49986" name="adj1"/>
            </a:avLst>
          </a:prstGeom>
          <a:noFill/>
          <a:ln cap="flat" cmpd="sng" w="9525">
            <a:solidFill>
              <a:schemeClr val="dk2"/>
            </a:solidFill>
            <a:prstDash val="solid"/>
            <a:round/>
            <a:headEnd len="med" w="med" type="none"/>
            <a:tailEnd len="med" w="med" type="none"/>
          </a:ln>
        </p:spPr>
      </p:cxnSp>
      <p:cxnSp>
        <p:nvCxnSpPr>
          <p:cNvPr id="388" name="Google Shape;388;p28"/>
          <p:cNvCxnSpPr>
            <a:stCxn id="377" idx="0"/>
            <a:endCxn id="386" idx="3"/>
          </p:cNvCxnSpPr>
          <p:nvPr/>
        </p:nvCxnSpPr>
        <p:spPr>
          <a:xfrm flipH="1" rot="5400000">
            <a:off x="5475577" y="1910425"/>
            <a:ext cx="331800" cy="856200"/>
          </a:xfrm>
          <a:prstGeom prst="bentConnector3">
            <a:avLst>
              <a:gd fmla="val 49986" name="adj1"/>
            </a:avLst>
          </a:prstGeom>
          <a:noFill/>
          <a:ln cap="flat" cmpd="sng" w="9525">
            <a:solidFill>
              <a:schemeClr val="dk2"/>
            </a:solidFill>
            <a:prstDash val="solid"/>
            <a:round/>
            <a:headEnd len="med" w="med" type="none"/>
            <a:tailEnd len="med" w="med" type="none"/>
          </a:ln>
        </p:spPr>
      </p:cxnSp>
      <p:sp>
        <p:nvSpPr>
          <p:cNvPr id="389" name="Google Shape;389;p28"/>
          <p:cNvSpPr/>
          <p:nvPr/>
        </p:nvSpPr>
        <p:spPr>
          <a:xfrm>
            <a:off x="4319560" y="3980428"/>
            <a:ext cx="130800" cy="1116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28"/>
          <p:cNvSpPr/>
          <p:nvPr/>
        </p:nvSpPr>
        <p:spPr>
          <a:xfrm>
            <a:off x="5867414" y="3980428"/>
            <a:ext cx="130800" cy="1116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91" name="Google Shape;391;p28"/>
          <p:cNvCxnSpPr>
            <a:stCxn id="380" idx="0"/>
            <a:endCxn id="389" idx="3"/>
          </p:cNvCxnSpPr>
          <p:nvPr/>
        </p:nvCxnSpPr>
        <p:spPr>
          <a:xfrm rot="-5400000">
            <a:off x="4333500" y="4139400"/>
            <a:ext cx="99000" cy="4200"/>
          </a:xfrm>
          <a:prstGeom prst="bentConnector3">
            <a:avLst>
              <a:gd fmla="val 49986" name="adj1"/>
            </a:avLst>
          </a:prstGeom>
          <a:noFill/>
          <a:ln cap="flat" cmpd="sng" w="9525">
            <a:solidFill>
              <a:schemeClr val="dk2"/>
            </a:solidFill>
            <a:prstDash val="solid"/>
            <a:round/>
            <a:headEnd len="med" w="med" type="none"/>
            <a:tailEnd len="med" w="med" type="none"/>
          </a:ln>
        </p:spPr>
      </p:cxnSp>
      <p:cxnSp>
        <p:nvCxnSpPr>
          <p:cNvPr id="392" name="Google Shape;392;p28"/>
          <p:cNvCxnSpPr>
            <a:stCxn id="381" idx="0"/>
            <a:endCxn id="390" idx="3"/>
          </p:cNvCxnSpPr>
          <p:nvPr/>
        </p:nvCxnSpPr>
        <p:spPr>
          <a:xfrm rot="-5400000">
            <a:off x="5882650" y="4140900"/>
            <a:ext cx="99000" cy="1200"/>
          </a:xfrm>
          <a:prstGeom prst="bentConnector3">
            <a:avLst>
              <a:gd fmla="val 49986" name="adj1"/>
            </a:avLst>
          </a:prstGeom>
          <a:noFill/>
          <a:ln cap="flat" cmpd="sng" w="9525">
            <a:solidFill>
              <a:schemeClr val="dk2"/>
            </a:solidFill>
            <a:prstDash val="solid"/>
            <a:round/>
            <a:headEnd len="med" w="med" type="none"/>
            <a:tailEnd len="med" w="med" type="none"/>
          </a:ln>
        </p:spPr>
      </p:cxnSp>
      <p:sp>
        <p:nvSpPr>
          <p:cNvPr id="393" name="Google Shape;393;p28"/>
          <p:cNvSpPr/>
          <p:nvPr/>
        </p:nvSpPr>
        <p:spPr>
          <a:xfrm>
            <a:off x="4311120" y="4998903"/>
            <a:ext cx="130800" cy="1116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28"/>
          <p:cNvSpPr/>
          <p:nvPr/>
        </p:nvSpPr>
        <p:spPr>
          <a:xfrm>
            <a:off x="5718501" y="4998903"/>
            <a:ext cx="130800" cy="1116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28"/>
          <p:cNvSpPr/>
          <p:nvPr/>
        </p:nvSpPr>
        <p:spPr>
          <a:xfrm>
            <a:off x="1462275" y="950475"/>
            <a:ext cx="1371300" cy="4239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a:t>DesktopApp</a:t>
            </a:r>
            <a:endParaRPr/>
          </a:p>
        </p:txBody>
      </p:sp>
      <p:sp>
        <p:nvSpPr>
          <p:cNvPr id="396" name="Google Shape;396;p28"/>
          <p:cNvSpPr txBox="1"/>
          <p:nvPr/>
        </p:nvSpPr>
        <p:spPr>
          <a:xfrm>
            <a:off x="3338025" y="2034600"/>
            <a:ext cx="994500" cy="34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200"/>
              <a:t>&lt;&lt;</a:t>
            </a:r>
            <a:r>
              <a:rPr lang="en-GB" sz="1200"/>
              <a:t>create</a:t>
            </a:r>
            <a:r>
              <a:rPr lang="en-GB" sz="1200"/>
              <a:t>&gt;&gt;</a:t>
            </a:r>
            <a:endParaRPr sz="1200"/>
          </a:p>
        </p:txBody>
      </p:sp>
      <p:sp>
        <p:nvSpPr>
          <p:cNvPr id="397" name="Google Shape;397;p28"/>
          <p:cNvSpPr txBox="1"/>
          <p:nvPr/>
        </p:nvSpPr>
        <p:spPr>
          <a:xfrm>
            <a:off x="5860725" y="2041400"/>
            <a:ext cx="994500" cy="34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200"/>
              <a:t>&lt;&lt;</a:t>
            </a:r>
            <a:r>
              <a:rPr lang="en-GB" sz="1200"/>
              <a:t>create</a:t>
            </a:r>
            <a:r>
              <a:rPr lang="en-GB" sz="1200"/>
              <a:t>&gt;&gt;</a:t>
            </a:r>
            <a:endParaRPr sz="1200"/>
          </a:p>
        </p:txBody>
      </p:sp>
      <p:cxnSp>
        <p:nvCxnSpPr>
          <p:cNvPr id="398" name="Google Shape;398;p28"/>
          <p:cNvCxnSpPr>
            <a:stCxn id="374" idx="1"/>
            <a:endCxn id="379" idx="1"/>
          </p:cNvCxnSpPr>
          <p:nvPr/>
        </p:nvCxnSpPr>
        <p:spPr>
          <a:xfrm flipH="1">
            <a:off x="4094100" y="1687246"/>
            <a:ext cx="172500" cy="2131500"/>
          </a:xfrm>
          <a:prstGeom prst="bentConnector3">
            <a:avLst>
              <a:gd fmla="val 576478" name="adj1"/>
            </a:avLst>
          </a:prstGeom>
          <a:noFill/>
          <a:ln cap="flat" cmpd="sng" w="9525">
            <a:solidFill>
              <a:schemeClr val="dk2"/>
            </a:solidFill>
            <a:prstDash val="dash"/>
            <a:round/>
            <a:headEnd len="med" w="med" type="none"/>
            <a:tailEnd len="med" w="med" type="stealth"/>
          </a:ln>
        </p:spPr>
      </p:cxnSp>
      <p:cxnSp>
        <p:nvCxnSpPr>
          <p:cNvPr id="399" name="Google Shape;399;p28"/>
          <p:cNvCxnSpPr>
            <a:stCxn id="374" idx="1"/>
            <a:endCxn id="382" idx="1"/>
          </p:cNvCxnSpPr>
          <p:nvPr/>
        </p:nvCxnSpPr>
        <p:spPr>
          <a:xfrm flipH="1">
            <a:off x="4243500" y="1687246"/>
            <a:ext cx="23100" cy="3150000"/>
          </a:xfrm>
          <a:prstGeom prst="bentConnector3">
            <a:avLst>
              <a:gd fmla="val 4304870" name="adj1"/>
            </a:avLst>
          </a:prstGeom>
          <a:noFill/>
          <a:ln cap="flat" cmpd="sng" w="9525">
            <a:solidFill>
              <a:schemeClr val="dk2"/>
            </a:solidFill>
            <a:prstDash val="dash"/>
            <a:round/>
            <a:headEnd len="med" w="med" type="none"/>
            <a:tailEnd len="med" w="med" type="stealth"/>
          </a:ln>
        </p:spPr>
      </p:cxnSp>
      <p:cxnSp>
        <p:nvCxnSpPr>
          <p:cNvPr id="400" name="Google Shape;400;p28"/>
          <p:cNvCxnSpPr>
            <a:stCxn id="374" idx="3"/>
            <a:endCxn id="379" idx="3"/>
          </p:cNvCxnSpPr>
          <p:nvPr/>
        </p:nvCxnSpPr>
        <p:spPr>
          <a:xfrm>
            <a:off x="5868900" y="1687246"/>
            <a:ext cx="216900" cy="2131500"/>
          </a:xfrm>
          <a:prstGeom prst="bentConnector3">
            <a:avLst>
              <a:gd fmla="val 573663" name="adj1"/>
            </a:avLst>
          </a:prstGeom>
          <a:noFill/>
          <a:ln cap="flat" cmpd="sng" w="9525">
            <a:solidFill>
              <a:schemeClr val="dk2"/>
            </a:solidFill>
            <a:prstDash val="dash"/>
            <a:round/>
            <a:headEnd len="med" w="med" type="none"/>
            <a:tailEnd len="med" w="med" type="stealth"/>
          </a:ln>
        </p:spPr>
      </p:cxnSp>
      <p:cxnSp>
        <p:nvCxnSpPr>
          <p:cNvPr id="401" name="Google Shape;401;p28"/>
          <p:cNvCxnSpPr>
            <a:stCxn id="374" idx="3"/>
            <a:endCxn id="382" idx="3"/>
          </p:cNvCxnSpPr>
          <p:nvPr/>
        </p:nvCxnSpPr>
        <p:spPr>
          <a:xfrm>
            <a:off x="5868900" y="1687246"/>
            <a:ext cx="127500" cy="3150000"/>
          </a:xfrm>
          <a:prstGeom prst="bentConnector3">
            <a:avLst>
              <a:gd fmla="val 975902" name="adj1"/>
            </a:avLst>
          </a:prstGeom>
          <a:noFill/>
          <a:ln cap="flat" cmpd="sng" w="9525">
            <a:solidFill>
              <a:schemeClr val="dk2"/>
            </a:solidFill>
            <a:prstDash val="dash"/>
            <a:round/>
            <a:headEnd len="med" w="med" type="none"/>
            <a:tailEnd len="med" w="med" type="stealth"/>
          </a:ln>
        </p:spPr>
      </p:cxnSp>
      <p:sp>
        <p:nvSpPr>
          <p:cNvPr id="402" name="Google Shape;402;p28"/>
          <p:cNvSpPr/>
          <p:nvPr/>
        </p:nvSpPr>
        <p:spPr>
          <a:xfrm>
            <a:off x="1464364" y="1369425"/>
            <a:ext cx="1371300" cy="5958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lang="en-GB"/>
              <a:t>SetFactory</a:t>
            </a:r>
            <a:r>
              <a:rPr lang="en-GB"/>
              <a:t>()</a:t>
            </a:r>
            <a:endParaRPr/>
          </a:p>
          <a:p>
            <a:pPr indent="0" lvl="0" marL="0" rtl="0" algn="l">
              <a:spcBef>
                <a:spcPts val="0"/>
              </a:spcBef>
              <a:spcAft>
                <a:spcPts val="0"/>
              </a:spcAft>
              <a:buNone/>
            </a:pPr>
            <a:r>
              <a:rPr lang="en-GB"/>
              <a:t>InitElements()</a:t>
            </a:r>
            <a:endParaRPr/>
          </a:p>
        </p:txBody>
      </p:sp>
      <p:sp>
        <p:nvSpPr>
          <p:cNvPr id="403" name="Google Shape;403;p28"/>
          <p:cNvSpPr/>
          <p:nvPr/>
        </p:nvSpPr>
        <p:spPr>
          <a:xfrm>
            <a:off x="2835700" y="1097425"/>
            <a:ext cx="130800" cy="111600"/>
          </a:xfrm>
          <a:prstGeom prst="flowChartDecision">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404" name="Google Shape;404;p28"/>
          <p:cNvCxnSpPr>
            <a:stCxn id="403" idx="3"/>
            <a:endCxn id="373" idx="1"/>
          </p:cNvCxnSpPr>
          <p:nvPr/>
        </p:nvCxnSpPr>
        <p:spPr>
          <a:xfrm>
            <a:off x="2966500" y="1153225"/>
            <a:ext cx="1300200" cy="12300"/>
          </a:xfrm>
          <a:prstGeom prst="straightConnector1">
            <a:avLst/>
          </a:prstGeom>
          <a:noFill/>
          <a:ln cap="flat" cmpd="sng" w="9525">
            <a:solidFill>
              <a:schemeClr val="dk2"/>
            </a:solidFill>
            <a:prstDash val="solid"/>
            <a:round/>
            <a:headEnd len="med" w="med" type="none"/>
            <a:tailEnd len="med" w="med" type="none"/>
          </a:ln>
        </p:spPr>
      </p:cxnSp>
      <p:sp>
        <p:nvSpPr>
          <p:cNvPr id="405" name="Google Shape;405;p28"/>
          <p:cNvSpPr/>
          <p:nvPr/>
        </p:nvSpPr>
        <p:spPr>
          <a:xfrm>
            <a:off x="4243572" y="5666675"/>
            <a:ext cx="17529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i="1" lang="en-GB"/>
              <a:t>Button</a:t>
            </a:r>
            <a:endParaRPr i="1"/>
          </a:p>
        </p:txBody>
      </p:sp>
      <p:sp>
        <p:nvSpPr>
          <p:cNvPr id="406" name="Google Shape;406;p28"/>
          <p:cNvSpPr/>
          <p:nvPr/>
        </p:nvSpPr>
        <p:spPr>
          <a:xfrm>
            <a:off x="3655350" y="6200075"/>
            <a:ext cx="14514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a:t>SimpleButton</a:t>
            </a:r>
            <a:endParaRPr/>
          </a:p>
        </p:txBody>
      </p:sp>
      <p:sp>
        <p:nvSpPr>
          <p:cNvPr id="407" name="Google Shape;407;p28"/>
          <p:cNvSpPr/>
          <p:nvPr/>
        </p:nvSpPr>
        <p:spPr>
          <a:xfrm>
            <a:off x="5216915" y="6200075"/>
            <a:ext cx="14514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a:t>CosmicButton</a:t>
            </a:r>
            <a:endParaRPr/>
          </a:p>
        </p:txBody>
      </p:sp>
      <p:sp>
        <p:nvSpPr>
          <p:cNvPr id="408" name="Google Shape;408;p28"/>
          <p:cNvSpPr/>
          <p:nvPr/>
        </p:nvSpPr>
        <p:spPr>
          <a:xfrm>
            <a:off x="4535081" y="5989503"/>
            <a:ext cx="130800" cy="1116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28"/>
          <p:cNvSpPr/>
          <p:nvPr/>
        </p:nvSpPr>
        <p:spPr>
          <a:xfrm>
            <a:off x="5678081" y="5989503"/>
            <a:ext cx="130800" cy="1116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0" name="Google Shape;410;p28"/>
          <p:cNvCxnSpPr>
            <a:stCxn id="374" idx="1"/>
            <a:endCxn id="405" idx="1"/>
          </p:cNvCxnSpPr>
          <p:nvPr/>
        </p:nvCxnSpPr>
        <p:spPr>
          <a:xfrm flipH="1">
            <a:off x="4243500" y="1687246"/>
            <a:ext cx="23100" cy="4140600"/>
          </a:xfrm>
          <a:prstGeom prst="bentConnector3">
            <a:avLst>
              <a:gd fmla="val 4304870" name="adj1"/>
            </a:avLst>
          </a:prstGeom>
          <a:noFill/>
          <a:ln cap="flat" cmpd="sng" w="9525">
            <a:solidFill>
              <a:schemeClr val="dk2"/>
            </a:solidFill>
            <a:prstDash val="dash"/>
            <a:round/>
            <a:headEnd len="med" w="med" type="none"/>
            <a:tailEnd len="med" w="med" type="none"/>
          </a:ln>
        </p:spPr>
      </p:cxnSp>
      <p:cxnSp>
        <p:nvCxnSpPr>
          <p:cNvPr id="411" name="Google Shape;411;p28"/>
          <p:cNvCxnSpPr>
            <a:stCxn id="374" idx="3"/>
            <a:endCxn id="405" idx="3"/>
          </p:cNvCxnSpPr>
          <p:nvPr/>
        </p:nvCxnSpPr>
        <p:spPr>
          <a:xfrm>
            <a:off x="5868900" y="1687246"/>
            <a:ext cx="127500" cy="4140600"/>
          </a:xfrm>
          <a:prstGeom prst="bentConnector3">
            <a:avLst>
              <a:gd fmla="val 986333" name="adj1"/>
            </a:avLst>
          </a:prstGeom>
          <a:noFill/>
          <a:ln cap="flat" cmpd="sng" w="9525">
            <a:solidFill>
              <a:schemeClr val="dk2"/>
            </a:solidFill>
            <a:prstDash val="dash"/>
            <a:round/>
            <a:headEnd len="med" w="med" type="none"/>
            <a:tailEnd len="med" w="med" type="none"/>
          </a:ln>
        </p:spPr>
      </p:cxnSp>
      <p:sp>
        <p:nvSpPr>
          <p:cNvPr id="412" name="Google Shape;412;p28"/>
          <p:cNvSpPr txBox="1"/>
          <p:nvPr/>
        </p:nvSpPr>
        <p:spPr>
          <a:xfrm>
            <a:off x="3020250" y="1120200"/>
            <a:ext cx="1073700" cy="34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200"/>
              <a:t>use &gt;</a:t>
            </a:r>
            <a:endParaRPr sz="1200"/>
          </a:p>
        </p:txBody>
      </p:sp>
      <p:sp>
        <p:nvSpPr>
          <p:cNvPr id="413" name="Google Shape;413;p28"/>
          <p:cNvSpPr txBox="1"/>
          <p:nvPr/>
        </p:nvSpPr>
        <p:spPr>
          <a:xfrm>
            <a:off x="2763486" y="818463"/>
            <a:ext cx="620100" cy="27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0..1</a:t>
            </a:r>
            <a:endParaRPr>
              <a:solidFill>
                <a:schemeClr val="dk2"/>
              </a:solidFill>
            </a:endParaRPr>
          </a:p>
        </p:txBody>
      </p:sp>
      <p:sp>
        <p:nvSpPr>
          <p:cNvPr id="414" name="Google Shape;414;p28"/>
          <p:cNvSpPr txBox="1"/>
          <p:nvPr/>
        </p:nvSpPr>
        <p:spPr>
          <a:xfrm>
            <a:off x="4030397" y="854248"/>
            <a:ext cx="350400" cy="27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1</a:t>
            </a:r>
            <a:endParaRPr>
              <a:solidFill>
                <a:schemeClr val="dk2"/>
              </a:solidFill>
            </a:endParaRPr>
          </a:p>
        </p:txBody>
      </p:sp>
      <p:cxnSp>
        <p:nvCxnSpPr>
          <p:cNvPr id="415" name="Google Shape;415;p28"/>
          <p:cNvCxnSpPr>
            <a:stCxn id="394" idx="3"/>
          </p:cNvCxnSpPr>
          <p:nvPr/>
        </p:nvCxnSpPr>
        <p:spPr>
          <a:xfrm>
            <a:off x="5783901" y="5110503"/>
            <a:ext cx="0" cy="82500"/>
          </a:xfrm>
          <a:prstGeom prst="straightConnector1">
            <a:avLst/>
          </a:prstGeom>
          <a:noFill/>
          <a:ln cap="flat" cmpd="sng" w="9525">
            <a:solidFill>
              <a:schemeClr val="dk2"/>
            </a:solidFill>
            <a:prstDash val="solid"/>
            <a:round/>
            <a:headEnd len="med" w="med" type="none"/>
            <a:tailEnd len="med" w="med" type="none"/>
          </a:ln>
        </p:spPr>
      </p:cxnSp>
      <p:cxnSp>
        <p:nvCxnSpPr>
          <p:cNvPr id="416" name="Google Shape;416;p28"/>
          <p:cNvCxnSpPr/>
          <p:nvPr/>
        </p:nvCxnSpPr>
        <p:spPr>
          <a:xfrm>
            <a:off x="4376520" y="5110503"/>
            <a:ext cx="0" cy="82500"/>
          </a:xfrm>
          <a:prstGeom prst="straightConnector1">
            <a:avLst/>
          </a:prstGeom>
          <a:noFill/>
          <a:ln cap="flat" cmpd="sng" w="9525">
            <a:solidFill>
              <a:schemeClr val="dk2"/>
            </a:solidFill>
            <a:prstDash val="solid"/>
            <a:round/>
            <a:headEnd len="med" w="med" type="none"/>
            <a:tailEnd len="med" w="med" type="none"/>
          </a:ln>
        </p:spPr>
      </p:cxnSp>
      <p:cxnSp>
        <p:nvCxnSpPr>
          <p:cNvPr id="417" name="Google Shape;417;p28"/>
          <p:cNvCxnSpPr/>
          <p:nvPr/>
        </p:nvCxnSpPr>
        <p:spPr>
          <a:xfrm>
            <a:off x="4593193" y="6101103"/>
            <a:ext cx="0" cy="82500"/>
          </a:xfrm>
          <a:prstGeom prst="straightConnector1">
            <a:avLst/>
          </a:prstGeom>
          <a:noFill/>
          <a:ln cap="flat" cmpd="sng" w="9525">
            <a:solidFill>
              <a:schemeClr val="dk2"/>
            </a:solidFill>
            <a:prstDash val="solid"/>
            <a:round/>
            <a:headEnd len="med" w="med" type="none"/>
            <a:tailEnd len="med" w="med" type="none"/>
          </a:ln>
        </p:spPr>
      </p:cxnSp>
      <p:cxnSp>
        <p:nvCxnSpPr>
          <p:cNvPr id="418" name="Google Shape;418;p28"/>
          <p:cNvCxnSpPr/>
          <p:nvPr/>
        </p:nvCxnSpPr>
        <p:spPr>
          <a:xfrm>
            <a:off x="5748120" y="6101103"/>
            <a:ext cx="0" cy="825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29"/>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Thợ xây</a:t>
            </a:r>
            <a:endParaRPr/>
          </a:p>
        </p:txBody>
      </p:sp>
      <p:sp>
        <p:nvSpPr>
          <p:cNvPr id="424" name="Google Shape;424;p29"/>
          <p:cNvSpPr txBox="1"/>
          <p:nvPr>
            <p:ph idx="1" type="body"/>
          </p:nvPr>
        </p:nvSpPr>
        <p:spPr>
          <a:xfrm>
            <a:off x="311700" y="950475"/>
            <a:ext cx="8520600" cy="54183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i="1" lang="en-GB"/>
              <a:t>Builder</a:t>
            </a:r>
            <a:endParaRPr i="1"/>
          </a:p>
          <a:p>
            <a:pPr indent="0" lvl="0" marL="0" rtl="0" algn="just">
              <a:spcBef>
                <a:spcPts val="0"/>
              </a:spcBef>
              <a:spcAft>
                <a:spcPts val="0"/>
              </a:spcAft>
              <a:buNone/>
            </a:pPr>
            <a:r>
              <a:rPr lang="en-GB"/>
              <a:t>Tách riêng phần khởi tạo đối tượng phức tạp ra ngoài lớp, qua đó có thể sử dụng cùng một tiến trình để tạo nhiều biểu diễn khác nhau.</a:t>
            </a:r>
            <a:endParaRPr/>
          </a:p>
          <a:p>
            <a:pPr indent="0" lvl="0" marL="0" rtl="0" algn="l">
              <a:spcBef>
                <a:spcPts val="0"/>
              </a:spcBef>
              <a:spcAft>
                <a:spcPts val="0"/>
              </a:spcAft>
              <a:buNone/>
            </a:pPr>
            <a:r>
              <a:t/>
            </a:r>
            <a:endParaRPr/>
          </a:p>
        </p:txBody>
      </p:sp>
      <p:sp>
        <p:nvSpPr>
          <p:cNvPr id="425" name="Google Shape;425;p2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p30"/>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Thợ xây: Cấu trúc</a:t>
            </a:r>
            <a:endParaRPr/>
          </a:p>
        </p:txBody>
      </p:sp>
      <p:sp>
        <p:nvSpPr>
          <p:cNvPr id="431" name="Google Shape;431;p3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432" name="Google Shape;432;p30"/>
          <p:cNvSpPr/>
          <p:nvPr/>
        </p:nvSpPr>
        <p:spPr>
          <a:xfrm>
            <a:off x="5532011" y="2159408"/>
            <a:ext cx="1291500" cy="3846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i="1" lang="en-GB" sz="1600"/>
              <a:t>Thợ</a:t>
            </a:r>
            <a:endParaRPr i="1" sz="1600"/>
          </a:p>
        </p:txBody>
      </p:sp>
      <p:sp>
        <p:nvSpPr>
          <p:cNvPr id="433" name="Google Shape;433;p30"/>
          <p:cNvSpPr/>
          <p:nvPr/>
        </p:nvSpPr>
        <p:spPr>
          <a:xfrm>
            <a:off x="5532000" y="2543825"/>
            <a:ext cx="1291500" cy="8673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i="1" lang="en-GB" sz="1600"/>
              <a:t>Thi công 1()</a:t>
            </a:r>
            <a:endParaRPr i="1" sz="1600"/>
          </a:p>
          <a:p>
            <a:pPr indent="0" lvl="0" marL="0" rtl="0" algn="l">
              <a:spcBef>
                <a:spcPts val="0"/>
              </a:spcBef>
              <a:spcAft>
                <a:spcPts val="0"/>
              </a:spcAft>
              <a:buNone/>
            </a:pPr>
            <a:r>
              <a:rPr i="1" lang="en-GB" sz="1600"/>
              <a:t>Thi công 2()</a:t>
            </a:r>
            <a:endParaRPr i="1" sz="1600"/>
          </a:p>
          <a:p>
            <a:pPr indent="0" lvl="0" marL="0" rtl="0" algn="l">
              <a:spcBef>
                <a:spcPts val="0"/>
              </a:spcBef>
              <a:spcAft>
                <a:spcPts val="0"/>
              </a:spcAft>
              <a:buNone/>
            </a:pPr>
            <a:r>
              <a:rPr i="1" lang="en-GB" sz="1600"/>
              <a:t>Thi công 3()</a:t>
            </a:r>
            <a:endParaRPr i="1" sz="1600"/>
          </a:p>
        </p:txBody>
      </p:sp>
      <p:sp>
        <p:nvSpPr>
          <p:cNvPr id="434" name="Google Shape;434;p30"/>
          <p:cNvSpPr/>
          <p:nvPr/>
        </p:nvSpPr>
        <p:spPr>
          <a:xfrm>
            <a:off x="4278001" y="3769800"/>
            <a:ext cx="17619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Thợ cụ thể 1</a:t>
            </a:r>
            <a:endParaRPr sz="1600"/>
          </a:p>
        </p:txBody>
      </p:sp>
      <p:sp>
        <p:nvSpPr>
          <p:cNvPr id="435" name="Google Shape;435;p30"/>
          <p:cNvSpPr/>
          <p:nvPr/>
        </p:nvSpPr>
        <p:spPr>
          <a:xfrm>
            <a:off x="4278000" y="4092025"/>
            <a:ext cx="1761900" cy="8673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lang="en-GB" sz="1600"/>
              <a:t>Thi công 1</a:t>
            </a:r>
            <a:r>
              <a:rPr lang="en-GB" sz="1600"/>
              <a:t>()</a:t>
            </a:r>
            <a:endParaRPr sz="1600"/>
          </a:p>
          <a:p>
            <a:pPr indent="0" lvl="0" marL="0" rtl="0" algn="l">
              <a:spcBef>
                <a:spcPts val="0"/>
              </a:spcBef>
              <a:spcAft>
                <a:spcPts val="0"/>
              </a:spcAft>
              <a:buNone/>
            </a:pPr>
            <a:r>
              <a:rPr lang="en-GB" sz="1600"/>
              <a:t>Thi công 2()</a:t>
            </a:r>
            <a:endParaRPr sz="1600"/>
          </a:p>
          <a:p>
            <a:pPr indent="0" lvl="0" marL="0" rtl="0" algn="l">
              <a:spcBef>
                <a:spcPts val="0"/>
              </a:spcBef>
              <a:spcAft>
                <a:spcPts val="0"/>
              </a:spcAft>
              <a:buNone/>
            </a:pPr>
            <a:r>
              <a:rPr lang="en-GB" sz="1600"/>
              <a:t>Bàn giao()</a:t>
            </a:r>
            <a:endParaRPr sz="1600"/>
          </a:p>
        </p:txBody>
      </p:sp>
      <p:sp>
        <p:nvSpPr>
          <p:cNvPr id="436" name="Google Shape;436;p30"/>
          <p:cNvSpPr/>
          <p:nvPr/>
        </p:nvSpPr>
        <p:spPr>
          <a:xfrm>
            <a:off x="5855104" y="3402469"/>
            <a:ext cx="130800" cy="1116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30"/>
          <p:cNvSpPr/>
          <p:nvPr/>
        </p:nvSpPr>
        <p:spPr>
          <a:xfrm>
            <a:off x="4546926" y="5334000"/>
            <a:ext cx="12261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Mẫu nhà 1</a:t>
            </a:r>
            <a:endParaRPr sz="1600"/>
          </a:p>
        </p:txBody>
      </p:sp>
      <p:cxnSp>
        <p:nvCxnSpPr>
          <p:cNvPr id="438" name="Google Shape;438;p30"/>
          <p:cNvCxnSpPr>
            <a:stCxn id="435" idx="2"/>
            <a:endCxn id="437" idx="0"/>
          </p:cNvCxnSpPr>
          <p:nvPr/>
        </p:nvCxnSpPr>
        <p:spPr>
          <a:xfrm>
            <a:off x="5158950" y="4959325"/>
            <a:ext cx="900" cy="374700"/>
          </a:xfrm>
          <a:prstGeom prst="straightConnector1">
            <a:avLst/>
          </a:prstGeom>
          <a:noFill/>
          <a:ln cap="flat" cmpd="sng" w="9525">
            <a:solidFill>
              <a:schemeClr val="dk2"/>
            </a:solidFill>
            <a:prstDash val="dash"/>
            <a:round/>
            <a:headEnd len="med" w="med" type="none"/>
            <a:tailEnd len="med" w="med" type="stealth"/>
          </a:ln>
        </p:spPr>
      </p:cxnSp>
      <p:sp>
        <p:nvSpPr>
          <p:cNvPr id="439" name="Google Shape;439;p30"/>
          <p:cNvSpPr/>
          <p:nvPr/>
        </p:nvSpPr>
        <p:spPr>
          <a:xfrm>
            <a:off x="1410852" y="2208150"/>
            <a:ext cx="2125200" cy="391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Quản lý</a:t>
            </a:r>
            <a:endParaRPr sz="1600"/>
          </a:p>
        </p:txBody>
      </p:sp>
      <p:sp>
        <p:nvSpPr>
          <p:cNvPr id="440" name="Google Shape;440;p30"/>
          <p:cNvSpPr/>
          <p:nvPr/>
        </p:nvSpPr>
        <p:spPr>
          <a:xfrm>
            <a:off x="1410850" y="2599375"/>
            <a:ext cx="2125200" cy="6213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lang="en-GB" sz="1600"/>
              <a:t>Xây nhà</a:t>
            </a:r>
            <a:r>
              <a:rPr lang="en-GB" sz="1600"/>
              <a:t>()</a:t>
            </a:r>
            <a:endParaRPr sz="1600"/>
          </a:p>
          <a:p>
            <a:pPr indent="0" lvl="0" marL="0" rtl="0" algn="l">
              <a:spcBef>
                <a:spcPts val="0"/>
              </a:spcBef>
              <a:spcAft>
                <a:spcPts val="0"/>
              </a:spcAft>
              <a:buClr>
                <a:schemeClr val="dk1"/>
              </a:buClr>
              <a:buSzPts val="1100"/>
              <a:buFont typeface="Arial"/>
              <a:buNone/>
            </a:pPr>
            <a:r>
              <a:rPr lang="en-GB" sz="1600">
                <a:solidFill>
                  <a:schemeClr val="dk1"/>
                </a:solidFill>
              </a:rPr>
              <a:t>Tuyển(Thợ thợ)</a:t>
            </a:r>
            <a:endParaRPr sz="1600"/>
          </a:p>
        </p:txBody>
      </p:sp>
      <p:sp>
        <p:nvSpPr>
          <p:cNvPr id="441" name="Google Shape;441;p30"/>
          <p:cNvSpPr/>
          <p:nvPr/>
        </p:nvSpPr>
        <p:spPr>
          <a:xfrm>
            <a:off x="1838086" y="3697294"/>
            <a:ext cx="12915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Ứng dụng</a:t>
            </a:r>
            <a:endParaRPr sz="1600"/>
          </a:p>
        </p:txBody>
      </p:sp>
      <p:cxnSp>
        <p:nvCxnSpPr>
          <p:cNvPr id="442" name="Google Shape;442;p30"/>
          <p:cNvCxnSpPr>
            <a:stCxn id="441" idx="0"/>
            <a:endCxn id="440" idx="2"/>
          </p:cNvCxnSpPr>
          <p:nvPr/>
        </p:nvCxnSpPr>
        <p:spPr>
          <a:xfrm rot="10800000">
            <a:off x="2473336" y="3220594"/>
            <a:ext cx="10500" cy="476700"/>
          </a:xfrm>
          <a:prstGeom prst="straightConnector1">
            <a:avLst/>
          </a:prstGeom>
          <a:noFill/>
          <a:ln cap="flat" cmpd="sng" w="9525">
            <a:solidFill>
              <a:schemeClr val="dk2"/>
            </a:solidFill>
            <a:prstDash val="dash"/>
            <a:round/>
            <a:headEnd len="med" w="med" type="none"/>
            <a:tailEnd len="med" w="med" type="stealth"/>
          </a:ln>
        </p:spPr>
      </p:cxnSp>
      <p:sp>
        <p:nvSpPr>
          <p:cNvPr id="443" name="Google Shape;443;p30"/>
          <p:cNvSpPr txBox="1"/>
          <p:nvPr/>
        </p:nvSpPr>
        <p:spPr>
          <a:xfrm>
            <a:off x="4236298" y="4959300"/>
            <a:ext cx="1092300" cy="26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200"/>
              <a:t>&lt;&lt;create&gt;&gt;</a:t>
            </a:r>
            <a:endParaRPr sz="1200"/>
          </a:p>
        </p:txBody>
      </p:sp>
      <p:sp>
        <p:nvSpPr>
          <p:cNvPr id="444" name="Google Shape;444;p30"/>
          <p:cNvSpPr/>
          <p:nvPr/>
        </p:nvSpPr>
        <p:spPr>
          <a:xfrm flipH="1" rot="10800000">
            <a:off x="1363850" y="1026725"/>
            <a:ext cx="3073800" cy="985200"/>
          </a:xfrm>
          <a:prstGeom prst="foldedCorner">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30"/>
          <p:cNvSpPr txBox="1"/>
          <p:nvPr/>
        </p:nvSpPr>
        <p:spPr>
          <a:xfrm>
            <a:off x="1422554" y="1035713"/>
            <a:ext cx="3014700" cy="9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if (yêu cầu 1) thợ-&gt;Thi công 1();</a:t>
            </a:r>
            <a:endParaRPr/>
          </a:p>
          <a:p>
            <a:pPr indent="0" lvl="0" marL="0" rtl="0" algn="l">
              <a:spcBef>
                <a:spcPts val="0"/>
              </a:spcBef>
              <a:spcAft>
                <a:spcPts val="0"/>
              </a:spcAft>
              <a:buNone/>
            </a:pPr>
            <a:r>
              <a:rPr lang="en-GB"/>
              <a:t>if (yêu cầu 2) thợ-&gt;Thi công 2();</a:t>
            </a:r>
            <a:endParaRPr/>
          </a:p>
          <a:p>
            <a:pPr indent="0" lvl="0" marL="0" rtl="0" algn="l">
              <a:spcBef>
                <a:spcPts val="0"/>
              </a:spcBef>
              <a:spcAft>
                <a:spcPts val="0"/>
              </a:spcAft>
              <a:buNone/>
            </a:pPr>
            <a:r>
              <a:rPr lang="en-GB"/>
              <a:t>if (yêu cầu 3) thợ-&gt;Thi công 3();</a:t>
            </a:r>
            <a:endParaRPr/>
          </a:p>
          <a:p>
            <a:pPr indent="0" lvl="0" marL="0" rtl="0" algn="l">
              <a:spcBef>
                <a:spcPts val="0"/>
              </a:spcBef>
              <a:spcAft>
                <a:spcPts val="0"/>
              </a:spcAft>
              <a:buNone/>
            </a:pPr>
            <a:r>
              <a:rPr lang="en-GB"/>
              <a:t>…</a:t>
            </a:r>
            <a:endParaRPr/>
          </a:p>
        </p:txBody>
      </p:sp>
      <p:cxnSp>
        <p:nvCxnSpPr>
          <p:cNvPr id="446" name="Google Shape;446;p30"/>
          <p:cNvCxnSpPr>
            <a:stCxn id="440" idx="1"/>
            <a:endCxn id="444" idx="1"/>
          </p:cNvCxnSpPr>
          <p:nvPr/>
        </p:nvCxnSpPr>
        <p:spPr>
          <a:xfrm rot="10800000">
            <a:off x="1363750" y="1519225"/>
            <a:ext cx="47100" cy="1390800"/>
          </a:xfrm>
          <a:prstGeom prst="bentConnector3">
            <a:avLst>
              <a:gd fmla="val 605361" name="adj1"/>
            </a:avLst>
          </a:prstGeom>
          <a:noFill/>
          <a:ln cap="flat" cmpd="sng" w="9525">
            <a:solidFill>
              <a:schemeClr val="dk2"/>
            </a:solidFill>
            <a:prstDash val="dot"/>
            <a:round/>
            <a:headEnd len="med" w="med" type="none"/>
            <a:tailEnd len="med" w="med" type="none"/>
          </a:ln>
        </p:spPr>
      </p:cxnSp>
      <p:cxnSp>
        <p:nvCxnSpPr>
          <p:cNvPr id="447" name="Google Shape;447;p30"/>
          <p:cNvCxnSpPr>
            <a:stCxn id="448" idx="3"/>
            <a:endCxn id="432" idx="1"/>
          </p:cNvCxnSpPr>
          <p:nvPr/>
        </p:nvCxnSpPr>
        <p:spPr>
          <a:xfrm flipH="1" rot="10800000">
            <a:off x="3770125" y="2351653"/>
            <a:ext cx="1761900" cy="3900"/>
          </a:xfrm>
          <a:prstGeom prst="straightConnector1">
            <a:avLst/>
          </a:prstGeom>
          <a:noFill/>
          <a:ln cap="flat" cmpd="sng" w="9525">
            <a:solidFill>
              <a:schemeClr val="dk2"/>
            </a:solidFill>
            <a:prstDash val="solid"/>
            <a:round/>
            <a:headEnd len="med" w="med" type="none"/>
            <a:tailEnd len="med" w="med" type="none"/>
          </a:ln>
        </p:spPr>
      </p:cxnSp>
      <p:sp>
        <p:nvSpPr>
          <p:cNvPr id="449" name="Google Shape;449;p30"/>
          <p:cNvSpPr txBox="1"/>
          <p:nvPr/>
        </p:nvSpPr>
        <p:spPr>
          <a:xfrm>
            <a:off x="4146653" y="2011925"/>
            <a:ext cx="852300" cy="36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Chỉ đạo</a:t>
            </a:r>
            <a:endParaRPr/>
          </a:p>
        </p:txBody>
      </p:sp>
      <p:sp>
        <p:nvSpPr>
          <p:cNvPr id="450" name="Google Shape;450;p30"/>
          <p:cNvSpPr/>
          <p:nvPr/>
        </p:nvSpPr>
        <p:spPr>
          <a:xfrm>
            <a:off x="6342601" y="3769800"/>
            <a:ext cx="19131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Thợ cụ thể 2</a:t>
            </a:r>
            <a:endParaRPr sz="1600"/>
          </a:p>
        </p:txBody>
      </p:sp>
      <p:sp>
        <p:nvSpPr>
          <p:cNvPr id="451" name="Google Shape;451;p30"/>
          <p:cNvSpPr/>
          <p:nvPr/>
        </p:nvSpPr>
        <p:spPr>
          <a:xfrm>
            <a:off x="6342600" y="4092025"/>
            <a:ext cx="1913100" cy="8673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lang="en-GB" sz="1600"/>
              <a:t>Thi công</a:t>
            </a:r>
            <a:r>
              <a:rPr lang="en-GB" sz="1600"/>
              <a:t> 1()</a:t>
            </a:r>
            <a:endParaRPr sz="1600"/>
          </a:p>
          <a:p>
            <a:pPr indent="0" lvl="0" marL="0" rtl="0" algn="l">
              <a:spcBef>
                <a:spcPts val="0"/>
              </a:spcBef>
              <a:spcAft>
                <a:spcPts val="0"/>
              </a:spcAft>
              <a:buNone/>
            </a:pPr>
            <a:r>
              <a:rPr lang="en-GB" sz="1600"/>
              <a:t>Thi công 3</a:t>
            </a:r>
            <a:r>
              <a:rPr lang="en-GB" sz="1600"/>
              <a:t>()</a:t>
            </a:r>
            <a:endParaRPr sz="1600"/>
          </a:p>
          <a:p>
            <a:pPr indent="0" lvl="0" marL="0" rtl="0" algn="l">
              <a:spcBef>
                <a:spcPts val="0"/>
              </a:spcBef>
              <a:spcAft>
                <a:spcPts val="0"/>
              </a:spcAft>
              <a:buNone/>
            </a:pPr>
            <a:r>
              <a:rPr lang="en-GB" sz="1600"/>
              <a:t>Giao nhà</a:t>
            </a:r>
            <a:r>
              <a:rPr lang="en-GB" sz="1600"/>
              <a:t>()</a:t>
            </a:r>
            <a:endParaRPr sz="1600"/>
          </a:p>
        </p:txBody>
      </p:sp>
      <p:sp>
        <p:nvSpPr>
          <p:cNvPr id="452" name="Google Shape;452;p30"/>
          <p:cNvSpPr/>
          <p:nvPr/>
        </p:nvSpPr>
        <p:spPr>
          <a:xfrm>
            <a:off x="6680526" y="5334000"/>
            <a:ext cx="12261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Mẫu nhà</a:t>
            </a:r>
            <a:r>
              <a:rPr lang="en-GB" sz="1600"/>
              <a:t> 2</a:t>
            </a:r>
            <a:endParaRPr sz="1600"/>
          </a:p>
        </p:txBody>
      </p:sp>
      <p:cxnSp>
        <p:nvCxnSpPr>
          <p:cNvPr id="453" name="Google Shape;453;p30"/>
          <p:cNvCxnSpPr>
            <a:stCxn id="451" idx="2"/>
            <a:endCxn id="452" idx="0"/>
          </p:cNvCxnSpPr>
          <p:nvPr/>
        </p:nvCxnSpPr>
        <p:spPr>
          <a:xfrm flipH="1">
            <a:off x="7293450" y="4959325"/>
            <a:ext cx="5700" cy="374700"/>
          </a:xfrm>
          <a:prstGeom prst="straightConnector1">
            <a:avLst/>
          </a:prstGeom>
          <a:noFill/>
          <a:ln cap="flat" cmpd="sng" w="9525">
            <a:solidFill>
              <a:schemeClr val="dk2"/>
            </a:solidFill>
            <a:prstDash val="dash"/>
            <a:round/>
            <a:headEnd len="med" w="med" type="none"/>
            <a:tailEnd len="med" w="med" type="stealth"/>
          </a:ln>
        </p:spPr>
      </p:cxnSp>
      <p:sp>
        <p:nvSpPr>
          <p:cNvPr id="454" name="Google Shape;454;p30"/>
          <p:cNvSpPr txBox="1"/>
          <p:nvPr/>
        </p:nvSpPr>
        <p:spPr>
          <a:xfrm>
            <a:off x="6369898" y="4959300"/>
            <a:ext cx="1092300" cy="26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200"/>
              <a:t>&lt;&lt;create&gt;&gt;</a:t>
            </a:r>
            <a:endParaRPr sz="1200"/>
          </a:p>
        </p:txBody>
      </p:sp>
      <p:sp>
        <p:nvSpPr>
          <p:cNvPr id="455" name="Google Shape;455;p30"/>
          <p:cNvSpPr/>
          <p:nvPr/>
        </p:nvSpPr>
        <p:spPr>
          <a:xfrm>
            <a:off x="6388504" y="3402469"/>
            <a:ext cx="130800" cy="1116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56" name="Google Shape;456;p30"/>
          <p:cNvCxnSpPr>
            <a:stCxn id="434" idx="0"/>
            <a:endCxn id="436" idx="3"/>
          </p:cNvCxnSpPr>
          <p:nvPr/>
        </p:nvCxnSpPr>
        <p:spPr>
          <a:xfrm rot="-5400000">
            <a:off x="5412001" y="3261150"/>
            <a:ext cx="255600" cy="761700"/>
          </a:xfrm>
          <a:prstGeom prst="bentConnector3">
            <a:avLst>
              <a:gd fmla="val 50026" name="adj1"/>
            </a:avLst>
          </a:prstGeom>
          <a:noFill/>
          <a:ln cap="flat" cmpd="sng" w="9525">
            <a:solidFill>
              <a:schemeClr val="dk2"/>
            </a:solidFill>
            <a:prstDash val="solid"/>
            <a:round/>
            <a:headEnd len="med" w="med" type="none"/>
            <a:tailEnd len="med" w="med" type="none"/>
          </a:ln>
        </p:spPr>
      </p:cxnSp>
      <p:cxnSp>
        <p:nvCxnSpPr>
          <p:cNvPr id="457" name="Google Shape;457;p30"/>
          <p:cNvCxnSpPr>
            <a:stCxn id="450" idx="0"/>
            <a:endCxn id="455" idx="3"/>
          </p:cNvCxnSpPr>
          <p:nvPr/>
        </p:nvCxnSpPr>
        <p:spPr>
          <a:xfrm flipH="1" rot="5400000">
            <a:off x="6748801" y="3219450"/>
            <a:ext cx="255600" cy="845100"/>
          </a:xfrm>
          <a:prstGeom prst="bentConnector3">
            <a:avLst>
              <a:gd fmla="val 50026" name="adj1"/>
            </a:avLst>
          </a:prstGeom>
          <a:noFill/>
          <a:ln cap="flat" cmpd="sng" w="9525">
            <a:solidFill>
              <a:schemeClr val="dk2"/>
            </a:solidFill>
            <a:prstDash val="solid"/>
            <a:round/>
            <a:headEnd len="med" w="med" type="none"/>
            <a:tailEnd len="med" w="med" type="none"/>
          </a:ln>
        </p:spPr>
      </p:cxnSp>
      <p:sp>
        <p:nvSpPr>
          <p:cNvPr id="448" name="Google Shape;448;p30"/>
          <p:cNvSpPr/>
          <p:nvPr/>
        </p:nvSpPr>
        <p:spPr>
          <a:xfrm>
            <a:off x="3544175" y="2269166"/>
            <a:ext cx="225950" cy="172775"/>
          </a:xfrm>
          <a:prstGeom prst="flowChartDecision">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sp>
        <p:nvSpPr>
          <p:cNvPr id="458" name="Google Shape;458;p30"/>
          <p:cNvSpPr txBox="1"/>
          <p:nvPr/>
        </p:nvSpPr>
        <p:spPr>
          <a:xfrm>
            <a:off x="2346825" y="5732700"/>
            <a:ext cx="6430500" cy="48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i="1" lang="en-GB" sz="1600">
                <a:solidFill>
                  <a:schemeClr val="dk2"/>
                </a:solidFill>
              </a:rPr>
              <a:t>Mẫu nhà 1</a:t>
            </a:r>
            <a:r>
              <a:rPr i="1" lang="en-GB" sz="1600">
                <a:solidFill>
                  <a:schemeClr val="dk2"/>
                </a:solidFill>
              </a:rPr>
              <a:t> và</a:t>
            </a:r>
            <a:r>
              <a:rPr b="1" i="1" lang="en-GB" sz="1600">
                <a:solidFill>
                  <a:schemeClr val="dk2"/>
                </a:solidFill>
              </a:rPr>
              <a:t> Mẫu nhà 2</a:t>
            </a:r>
            <a:r>
              <a:rPr i="1" lang="en-GB" sz="1600">
                <a:solidFill>
                  <a:schemeClr val="dk2"/>
                </a:solidFill>
              </a:rPr>
              <a:t> có thể thuộc các cây kế thừa khác nhau.</a:t>
            </a:r>
            <a:endParaRPr i="1" sz="1600">
              <a:solidFill>
                <a:schemeClr val="dk2"/>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31"/>
          <p:cNvSpPr/>
          <p:nvPr/>
        </p:nvSpPr>
        <p:spPr>
          <a:xfrm>
            <a:off x="5983200" y="1026600"/>
            <a:ext cx="18345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u="sng"/>
              <a:t>thợ</a:t>
            </a:r>
            <a:r>
              <a:rPr lang="en-GB" sz="1600" u="sng"/>
              <a:t>2</a:t>
            </a:r>
            <a:r>
              <a:rPr lang="en-GB" sz="1600" u="sng"/>
              <a:t>:Thợ cụ thể </a:t>
            </a:r>
            <a:r>
              <a:rPr lang="en-GB" sz="1600" u="sng"/>
              <a:t>2</a:t>
            </a:r>
            <a:endParaRPr sz="1600" u="sng"/>
          </a:p>
        </p:txBody>
      </p:sp>
      <p:cxnSp>
        <p:nvCxnSpPr>
          <p:cNvPr id="464" name="Google Shape;464;p31"/>
          <p:cNvCxnSpPr/>
          <p:nvPr/>
        </p:nvCxnSpPr>
        <p:spPr>
          <a:xfrm>
            <a:off x="6851546" y="1342429"/>
            <a:ext cx="0" cy="5282700"/>
          </a:xfrm>
          <a:prstGeom prst="straightConnector1">
            <a:avLst/>
          </a:prstGeom>
          <a:noFill/>
          <a:ln cap="flat" cmpd="sng" w="9525">
            <a:solidFill>
              <a:schemeClr val="dk2"/>
            </a:solidFill>
            <a:prstDash val="dash"/>
            <a:round/>
            <a:headEnd len="med" w="med" type="none"/>
            <a:tailEnd len="med" w="med" type="none"/>
          </a:ln>
        </p:spPr>
      </p:cxnSp>
      <p:sp>
        <p:nvSpPr>
          <p:cNvPr id="465" name="Google Shape;465;p31"/>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Thợ xây</a:t>
            </a:r>
            <a:r>
              <a:rPr lang="en-GB"/>
              <a:t>: </a:t>
            </a:r>
            <a:r>
              <a:rPr lang="en-GB"/>
              <a:t>Hành vi</a:t>
            </a:r>
            <a:endParaRPr/>
          </a:p>
        </p:txBody>
      </p:sp>
      <p:sp>
        <p:nvSpPr>
          <p:cNvPr id="466" name="Google Shape;466;p3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467" name="Google Shape;467;p31"/>
          <p:cNvSpPr/>
          <p:nvPr/>
        </p:nvSpPr>
        <p:spPr>
          <a:xfrm>
            <a:off x="623711" y="1028352"/>
            <a:ext cx="12915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u="sng"/>
              <a:t>:</a:t>
            </a:r>
            <a:r>
              <a:rPr lang="en-GB" sz="1600" u="sng"/>
              <a:t>Ứng dụng</a:t>
            </a:r>
            <a:endParaRPr sz="1600" u="sng"/>
          </a:p>
        </p:txBody>
      </p:sp>
      <p:sp>
        <p:nvSpPr>
          <p:cNvPr id="468" name="Google Shape;468;p31"/>
          <p:cNvSpPr/>
          <p:nvPr/>
        </p:nvSpPr>
        <p:spPr>
          <a:xfrm>
            <a:off x="3773400" y="1026600"/>
            <a:ext cx="18345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u="sng"/>
              <a:t>thợ1:Thợ cụ thể 1</a:t>
            </a:r>
            <a:endParaRPr sz="1600" u="sng"/>
          </a:p>
        </p:txBody>
      </p:sp>
      <p:sp>
        <p:nvSpPr>
          <p:cNvPr id="469" name="Google Shape;469;p31"/>
          <p:cNvSpPr/>
          <p:nvPr/>
        </p:nvSpPr>
        <p:spPr>
          <a:xfrm>
            <a:off x="2600075" y="1023800"/>
            <a:ext cx="10047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u="sng"/>
              <a:t>:</a:t>
            </a:r>
            <a:r>
              <a:rPr lang="en-GB" sz="1600" u="sng"/>
              <a:t>Quản lý</a:t>
            </a:r>
            <a:endParaRPr sz="1600" u="sng"/>
          </a:p>
        </p:txBody>
      </p:sp>
      <p:cxnSp>
        <p:nvCxnSpPr>
          <p:cNvPr id="470" name="Google Shape;470;p31"/>
          <p:cNvCxnSpPr/>
          <p:nvPr/>
        </p:nvCxnSpPr>
        <p:spPr>
          <a:xfrm>
            <a:off x="1269450" y="1350850"/>
            <a:ext cx="0" cy="5137800"/>
          </a:xfrm>
          <a:prstGeom prst="straightConnector1">
            <a:avLst/>
          </a:prstGeom>
          <a:noFill/>
          <a:ln cap="flat" cmpd="sng" w="9525">
            <a:solidFill>
              <a:schemeClr val="dk2"/>
            </a:solidFill>
            <a:prstDash val="dash"/>
            <a:round/>
            <a:headEnd len="med" w="med" type="none"/>
            <a:tailEnd len="med" w="med" type="none"/>
          </a:ln>
        </p:spPr>
      </p:cxnSp>
      <p:cxnSp>
        <p:nvCxnSpPr>
          <p:cNvPr id="471" name="Google Shape;471;p31"/>
          <p:cNvCxnSpPr/>
          <p:nvPr/>
        </p:nvCxnSpPr>
        <p:spPr>
          <a:xfrm>
            <a:off x="3160019" y="1371538"/>
            <a:ext cx="0" cy="5123700"/>
          </a:xfrm>
          <a:prstGeom prst="straightConnector1">
            <a:avLst/>
          </a:prstGeom>
          <a:noFill/>
          <a:ln cap="flat" cmpd="sng" w="9525">
            <a:solidFill>
              <a:schemeClr val="dk2"/>
            </a:solidFill>
            <a:prstDash val="dash"/>
            <a:round/>
            <a:headEnd len="med" w="med" type="none"/>
            <a:tailEnd len="med" w="med" type="none"/>
          </a:ln>
        </p:spPr>
      </p:cxnSp>
      <p:cxnSp>
        <p:nvCxnSpPr>
          <p:cNvPr id="472" name="Google Shape;472;p31"/>
          <p:cNvCxnSpPr/>
          <p:nvPr/>
        </p:nvCxnSpPr>
        <p:spPr>
          <a:xfrm>
            <a:off x="4641746" y="1378699"/>
            <a:ext cx="0" cy="5146500"/>
          </a:xfrm>
          <a:prstGeom prst="straightConnector1">
            <a:avLst/>
          </a:prstGeom>
          <a:noFill/>
          <a:ln cap="flat" cmpd="sng" w="9525">
            <a:solidFill>
              <a:schemeClr val="dk2"/>
            </a:solidFill>
            <a:prstDash val="dash"/>
            <a:round/>
            <a:headEnd len="med" w="med" type="none"/>
            <a:tailEnd len="med" w="med" type="none"/>
          </a:ln>
        </p:spPr>
      </p:cxnSp>
      <p:sp>
        <p:nvSpPr>
          <p:cNvPr id="473" name="Google Shape;473;p31"/>
          <p:cNvSpPr/>
          <p:nvPr/>
        </p:nvSpPr>
        <p:spPr>
          <a:xfrm>
            <a:off x="3100400" y="2195996"/>
            <a:ext cx="130800" cy="763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74" name="Google Shape;474;p31"/>
          <p:cNvCxnSpPr/>
          <p:nvPr/>
        </p:nvCxnSpPr>
        <p:spPr>
          <a:xfrm flipH="1" rot="10800000">
            <a:off x="1265900" y="2272946"/>
            <a:ext cx="1834500" cy="6600"/>
          </a:xfrm>
          <a:prstGeom prst="straightConnector1">
            <a:avLst/>
          </a:prstGeom>
          <a:noFill/>
          <a:ln cap="flat" cmpd="sng" w="9525">
            <a:solidFill>
              <a:schemeClr val="dk2"/>
            </a:solidFill>
            <a:prstDash val="solid"/>
            <a:round/>
            <a:headEnd len="med" w="med" type="none"/>
            <a:tailEnd len="med" w="med" type="triangle"/>
          </a:ln>
        </p:spPr>
      </p:cxnSp>
      <p:sp>
        <p:nvSpPr>
          <p:cNvPr id="475" name="Google Shape;475;p31"/>
          <p:cNvSpPr txBox="1"/>
          <p:nvPr/>
        </p:nvSpPr>
        <p:spPr>
          <a:xfrm>
            <a:off x="1387961" y="2001817"/>
            <a:ext cx="1474200" cy="200400"/>
          </a:xfrm>
          <a:prstGeom prst="rect">
            <a:avLst/>
          </a:prstGeom>
          <a:noFill/>
          <a:ln>
            <a:noFill/>
          </a:ln>
        </p:spPr>
        <p:txBody>
          <a:bodyPr anchorCtr="0" anchor="t" bIns="18000" lIns="18000" spcFirstLastPara="1" rIns="18000" wrap="square" tIns="18000">
            <a:noAutofit/>
          </a:bodyPr>
          <a:lstStyle/>
          <a:p>
            <a:pPr indent="0" lvl="0" marL="0" rtl="0" algn="l">
              <a:spcBef>
                <a:spcPts val="0"/>
              </a:spcBef>
              <a:spcAft>
                <a:spcPts val="0"/>
              </a:spcAft>
              <a:buNone/>
            </a:pPr>
            <a:r>
              <a:rPr lang="en-GB"/>
              <a:t>Xây nhà()</a:t>
            </a:r>
            <a:endParaRPr/>
          </a:p>
        </p:txBody>
      </p:sp>
      <p:sp>
        <p:nvSpPr>
          <p:cNvPr id="476" name="Google Shape;476;p31"/>
          <p:cNvSpPr/>
          <p:nvPr/>
        </p:nvSpPr>
        <p:spPr>
          <a:xfrm>
            <a:off x="4565625" y="2242224"/>
            <a:ext cx="130800" cy="220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31"/>
          <p:cNvSpPr/>
          <p:nvPr/>
        </p:nvSpPr>
        <p:spPr>
          <a:xfrm>
            <a:off x="4565625" y="2801727"/>
            <a:ext cx="130800" cy="219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78" name="Google Shape;478;p31"/>
          <p:cNvCxnSpPr/>
          <p:nvPr/>
        </p:nvCxnSpPr>
        <p:spPr>
          <a:xfrm>
            <a:off x="3235272" y="2403050"/>
            <a:ext cx="1308300" cy="0"/>
          </a:xfrm>
          <a:prstGeom prst="straightConnector1">
            <a:avLst/>
          </a:prstGeom>
          <a:noFill/>
          <a:ln cap="flat" cmpd="sng" w="9525">
            <a:solidFill>
              <a:schemeClr val="dk2"/>
            </a:solidFill>
            <a:prstDash val="solid"/>
            <a:round/>
            <a:headEnd len="med" w="med" type="none"/>
            <a:tailEnd len="med" w="med" type="triangle"/>
          </a:ln>
        </p:spPr>
      </p:cxnSp>
      <p:cxnSp>
        <p:nvCxnSpPr>
          <p:cNvPr id="479" name="Google Shape;479;p31"/>
          <p:cNvCxnSpPr/>
          <p:nvPr/>
        </p:nvCxnSpPr>
        <p:spPr>
          <a:xfrm>
            <a:off x="3235272" y="2900180"/>
            <a:ext cx="1308300" cy="0"/>
          </a:xfrm>
          <a:prstGeom prst="straightConnector1">
            <a:avLst/>
          </a:prstGeom>
          <a:noFill/>
          <a:ln cap="flat" cmpd="sng" w="9525">
            <a:solidFill>
              <a:schemeClr val="dk2"/>
            </a:solidFill>
            <a:prstDash val="solid"/>
            <a:round/>
            <a:headEnd len="med" w="med" type="none"/>
            <a:tailEnd len="med" w="med" type="triangle"/>
          </a:ln>
        </p:spPr>
      </p:cxnSp>
      <p:sp>
        <p:nvSpPr>
          <p:cNvPr id="480" name="Google Shape;480;p31"/>
          <p:cNvSpPr/>
          <p:nvPr/>
        </p:nvSpPr>
        <p:spPr>
          <a:xfrm>
            <a:off x="4565625" y="3110386"/>
            <a:ext cx="130800" cy="524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81" name="Google Shape;481;p31"/>
          <p:cNvCxnSpPr/>
          <p:nvPr/>
        </p:nvCxnSpPr>
        <p:spPr>
          <a:xfrm>
            <a:off x="1265975" y="3254825"/>
            <a:ext cx="3299700" cy="0"/>
          </a:xfrm>
          <a:prstGeom prst="straightConnector1">
            <a:avLst/>
          </a:prstGeom>
          <a:noFill/>
          <a:ln cap="flat" cmpd="sng" w="9525">
            <a:solidFill>
              <a:schemeClr val="dk2"/>
            </a:solidFill>
            <a:prstDash val="solid"/>
            <a:round/>
            <a:headEnd len="med" w="med" type="none"/>
            <a:tailEnd len="med" w="med" type="triangle"/>
          </a:ln>
        </p:spPr>
      </p:cxnSp>
      <p:sp>
        <p:nvSpPr>
          <p:cNvPr id="482" name="Google Shape;482;p31"/>
          <p:cNvSpPr txBox="1"/>
          <p:nvPr/>
        </p:nvSpPr>
        <p:spPr>
          <a:xfrm>
            <a:off x="1387950" y="2992426"/>
            <a:ext cx="1751400" cy="322500"/>
          </a:xfrm>
          <a:prstGeom prst="rect">
            <a:avLst/>
          </a:prstGeom>
          <a:noFill/>
          <a:ln>
            <a:noFill/>
          </a:ln>
        </p:spPr>
        <p:txBody>
          <a:bodyPr anchorCtr="0" anchor="t" bIns="18000" lIns="18000" spcFirstLastPara="1" rIns="18000" wrap="square" tIns="18000">
            <a:noAutofit/>
          </a:bodyPr>
          <a:lstStyle/>
          <a:p>
            <a:pPr indent="0" lvl="0" marL="0" rtl="0" algn="l">
              <a:spcBef>
                <a:spcPts val="0"/>
              </a:spcBef>
              <a:spcAft>
                <a:spcPts val="0"/>
              </a:spcAft>
              <a:buNone/>
            </a:pPr>
            <a:r>
              <a:rPr lang="en-GB"/>
              <a:t>Bàn giao</a:t>
            </a:r>
            <a:r>
              <a:rPr lang="en-GB"/>
              <a:t>()</a:t>
            </a:r>
            <a:endParaRPr/>
          </a:p>
        </p:txBody>
      </p:sp>
      <p:sp>
        <p:nvSpPr>
          <p:cNvPr id="483" name="Google Shape;483;p31"/>
          <p:cNvSpPr txBox="1"/>
          <p:nvPr/>
        </p:nvSpPr>
        <p:spPr>
          <a:xfrm>
            <a:off x="3369152" y="2154225"/>
            <a:ext cx="1212000" cy="200400"/>
          </a:xfrm>
          <a:prstGeom prst="rect">
            <a:avLst/>
          </a:prstGeom>
          <a:noFill/>
          <a:ln>
            <a:noFill/>
          </a:ln>
        </p:spPr>
        <p:txBody>
          <a:bodyPr anchorCtr="0" anchor="t" bIns="18000" lIns="18000" spcFirstLastPara="1" rIns="18000" wrap="square" tIns="18000">
            <a:noAutofit/>
          </a:bodyPr>
          <a:lstStyle/>
          <a:p>
            <a:pPr indent="0" lvl="0" marL="0" rtl="0" algn="l">
              <a:spcBef>
                <a:spcPts val="0"/>
              </a:spcBef>
              <a:spcAft>
                <a:spcPts val="0"/>
              </a:spcAft>
              <a:buNone/>
            </a:pPr>
            <a:r>
              <a:rPr lang="en-GB"/>
              <a:t>Thi công 1</a:t>
            </a:r>
            <a:r>
              <a:rPr lang="en-GB"/>
              <a:t>()</a:t>
            </a:r>
            <a:endParaRPr/>
          </a:p>
        </p:txBody>
      </p:sp>
      <p:sp>
        <p:nvSpPr>
          <p:cNvPr id="484" name="Google Shape;484;p31"/>
          <p:cNvSpPr txBox="1"/>
          <p:nvPr/>
        </p:nvSpPr>
        <p:spPr>
          <a:xfrm>
            <a:off x="3369152" y="2651355"/>
            <a:ext cx="1174500" cy="200400"/>
          </a:xfrm>
          <a:prstGeom prst="rect">
            <a:avLst/>
          </a:prstGeom>
          <a:noFill/>
          <a:ln>
            <a:noFill/>
          </a:ln>
        </p:spPr>
        <p:txBody>
          <a:bodyPr anchorCtr="0" anchor="t" bIns="18000" lIns="18000" spcFirstLastPara="1" rIns="18000" wrap="square" tIns="18000">
            <a:noAutofit/>
          </a:bodyPr>
          <a:lstStyle/>
          <a:p>
            <a:pPr indent="0" lvl="0" marL="0" rtl="0" algn="l">
              <a:spcBef>
                <a:spcPts val="0"/>
              </a:spcBef>
              <a:spcAft>
                <a:spcPts val="0"/>
              </a:spcAft>
              <a:buNone/>
            </a:pPr>
            <a:r>
              <a:rPr lang="en-GB"/>
              <a:t>Thi công 3</a:t>
            </a:r>
            <a:r>
              <a:rPr lang="en-GB"/>
              <a:t>()</a:t>
            </a:r>
            <a:endParaRPr/>
          </a:p>
        </p:txBody>
      </p:sp>
      <p:cxnSp>
        <p:nvCxnSpPr>
          <p:cNvPr id="485" name="Google Shape;485;p31"/>
          <p:cNvCxnSpPr/>
          <p:nvPr/>
        </p:nvCxnSpPr>
        <p:spPr>
          <a:xfrm rot="10800000">
            <a:off x="1275025" y="3525125"/>
            <a:ext cx="3297900" cy="0"/>
          </a:xfrm>
          <a:prstGeom prst="straightConnector1">
            <a:avLst/>
          </a:prstGeom>
          <a:noFill/>
          <a:ln cap="flat" cmpd="sng" w="9525">
            <a:solidFill>
              <a:schemeClr val="dk2"/>
            </a:solidFill>
            <a:prstDash val="dash"/>
            <a:round/>
            <a:headEnd len="med" w="med" type="none"/>
            <a:tailEnd len="med" w="med" type="triangle"/>
          </a:ln>
        </p:spPr>
      </p:cxnSp>
      <p:sp>
        <p:nvSpPr>
          <p:cNvPr id="486" name="Google Shape;486;p31"/>
          <p:cNvSpPr txBox="1"/>
          <p:nvPr/>
        </p:nvSpPr>
        <p:spPr>
          <a:xfrm>
            <a:off x="3369148" y="3297225"/>
            <a:ext cx="1751400" cy="200400"/>
          </a:xfrm>
          <a:prstGeom prst="rect">
            <a:avLst/>
          </a:prstGeom>
          <a:noFill/>
          <a:ln>
            <a:noFill/>
          </a:ln>
        </p:spPr>
        <p:txBody>
          <a:bodyPr anchorCtr="0" anchor="t" bIns="18000" lIns="18000" spcFirstLastPara="1" rIns="18000" wrap="square" tIns="18000">
            <a:noAutofit/>
          </a:bodyPr>
          <a:lstStyle/>
          <a:p>
            <a:pPr indent="0" lvl="0" marL="0" rtl="0" algn="l">
              <a:spcBef>
                <a:spcPts val="0"/>
              </a:spcBef>
              <a:spcAft>
                <a:spcPts val="0"/>
              </a:spcAft>
              <a:buNone/>
            </a:pPr>
            <a:r>
              <a:rPr lang="en-GB"/>
              <a:t>nhà 1</a:t>
            </a:r>
            <a:endParaRPr/>
          </a:p>
        </p:txBody>
      </p:sp>
      <p:sp>
        <p:nvSpPr>
          <p:cNvPr id="487" name="Google Shape;487;p31"/>
          <p:cNvSpPr/>
          <p:nvPr/>
        </p:nvSpPr>
        <p:spPr>
          <a:xfrm>
            <a:off x="3093963" y="1662564"/>
            <a:ext cx="130800" cy="261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88" name="Google Shape;488;p31"/>
          <p:cNvCxnSpPr/>
          <p:nvPr/>
        </p:nvCxnSpPr>
        <p:spPr>
          <a:xfrm flipH="1" rot="10800000">
            <a:off x="1265900" y="1815746"/>
            <a:ext cx="1834500" cy="6600"/>
          </a:xfrm>
          <a:prstGeom prst="straightConnector1">
            <a:avLst/>
          </a:prstGeom>
          <a:noFill/>
          <a:ln cap="flat" cmpd="sng" w="9525">
            <a:solidFill>
              <a:schemeClr val="dk2"/>
            </a:solidFill>
            <a:prstDash val="solid"/>
            <a:round/>
            <a:headEnd len="med" w="med" type="none"/>
            <a:tailEnd len="med" w="med" type="triangle"/>
          </a:ln>
        </p:spPr>
      </p:cxnSp>
      <p:sp>
        <p:nvSpPr>
          <p:cNvPr id="489" name="Google Shape;489;p31"/>
          <p:cNvSpPr txBox="1"/>
          <p:nvPr/>
        </p:nvSpPr>
        <p:spPr>
          <a:xfrm>
            <a:off x="1387961" y="1544617"/>
            <a:ext cx="1474200" cy="200400"/>
          </a:xfrm>
          <a:prstGeom prst="rect">
            <a:avLst/>
          </a:prstGeom>
          <a:noFill/>
          <a:ln>
            <a:noFill/>
          </a:ln>
        </p:spPr>
        <p:txBody>
          <a:bodyPr anchorCtr="0" anchor="t" bIns="18000" lIns="18000" spcFirstLastPara="1" rIns="18000" wrap="square" tIns="18000">
            <a:noAutofit/>
          </a:bodyPr>
          <a:lstStyle/>
          <a:p>
            <a:pPr indent="0" lvl="0" marL="0" rtl="0" algn="l">
              <a:spcBef>
                <a:spcPts val="0"/>
              </a:spcBef>
              <a:spcAft>
                <a:spcPts val="0"/>
              </a:spcAft>
              <a:buNone/>
            </a:pPr>
            <a:r>
              <a:rPr lang="en-GB"/>
              <a:t>Tuyển</a:t>
            </a:r>
            <a:r>
              <a:rPr lang="en-GB"/>
              <a:t>(</a:t>
            </a:r>
            <a:r>
              <a:rPr lang="en-GB"/>
              <a:t>thợ1</a:t>
            </a:r>
            <a:r>
              <a:rPr lang="en-GB"/>
              <a:t>)</a:t>
            </a:r>
            <a:endParaRPr/>
          </a:p>
        </p:txBody>
      </p:sp>
      <p:sp>
        <p:nvSpPr>
          <p:cNvPr id="490" name="Google Shape;490;p31"/>
          <p:cNvSpPr/>
          <p:nvPr/>
        </p:nvSpPr>
        <p:spPr>
          <a:xfrm>
            <a:off x="5607900" y="3160200"/>
            <a:ext cx="16764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u="sng"/>
              <a:t>nhà1</a:t>
            </a:r>
            <a:r>
              <a:rPr lang="en-GB" sz="1600" u="sng"/>
              <a:t>:</a:t>
            </a:r>
            <a:r>
              <a:rPr lang="en-GB" sz="1600" u="sng"/>
              <a:t>Mẫu nhà 1</a:t>
            </a:r>
            <a:endParaRPr sz="1600" u="sng"/>
          </a:p>
        </p:txBody>
      </p:sp>
      <p:cxnSp>
        <p:nvCxnSpPr>
          <p:cNvPr id="491" name="Google Shape;491;p31"/>
          <p:cNvCxnSpPr/>
          <p:nvPr/>
        </p:nvCxnSpPr>
        <p:spPr>
          <a:xfrm>
            <a:off x="4686277" y="3397550"/>
            <a:ext cx="918600" cy="0"/>
          </a:xfrm>
          <a:prstGeom prst="straightConnector1">
            <a:avLst/>
          </a:prstGeom>
          <a:noFill/>
          <a:ln cap="flat" cmpd="sng" w="9525">
            <a:solidFill>
              <a:schemeClr val="dk2"/>
            </a:solidFill>
            <a:prstDash val="solid"/>
            <a:round/>
            <a:headEnd len="med" w="med" type="none"/>
            <a:tailEnd len="med" w="med" type="triangle"/>
          </a:ln>
        </p:spPr>
      </p:cxnSp>
      <p:sp>
        <p:nvSpPr>
          <p:cNvPr id="492" name="Google Shape;492;p31"/>
          <p:cNvSpPr txBox="1"/>
          <p:nvPr/>
        </p:nvSpPr>
        <p:spPr>
          <a:xfrm>
            <a:off x="4816954" y="3144825"/>
            <a:ext cx="914400" cy="200400"/>
          </a:xfrm>
          <a:prstGeom prst="rect">
            <a:avLst/>
          </a:prstGeom>
          <a:noFill/>
          <a:ln>
            <a:noFill/>
          </a:ln>
        </p:spPr>
        <p:txBody>
          <a:bodyPr anchorCtr="0" anchor="t" bIns="18000" lIns="18000" spcFirstLastPara="1" rIns="18000" wrap="square" tIns="18000">
            <a:noAutofit/>
          </a:bodyPr>
          <a:lstStyle/>
          <a:p>
            <a:pPr indent="0" lvl="0" marL="0" rtl="0" algn="l">
              <a:spcBef>
                <a:spcPts val="0"/>
              </a:spcBef>
              <a:spcAft>
                <a:spcPts val="0"/>
              </a:spcAft>
              <a:buNone/>
            </a:pPr>
            <a:r>
              <a:rPr lang="en-GB"/>
              <a:t>&lt;&lt;tạo&gt;&gt;</a:t>
            </a:r>
            <a:endParaRPr/>
          </a:p>
        </p:txBody>
      </p:sp>
      <p:cxnSp>
        <p:nvCxnSpPr>
          <p:cNvPr id="493" name="Google Shape;493;p31"/>
          <p:cNvCxnSpPr/>
          <p:nvPr/>
        </p:nvCxnSpPr>
        <p:spPr>
          <a:xfrm>
            <a:off x="6446100" y="3517650"/>
            <a:ext cx="0" cy="3080100"/>
          </a:xfrm>
          <a:prstGeom prst="straightConnector1">
            <a:avLst/>
          </a:prstGeom>
          <a:noFill/>
          <a:ln cap="flat" cmpd="sng" w="9525">
            <a:solidFill>
              <a:schemeClr val="dk2"/>
            </a:solidFill>
            <a:prstDash val="dash"/>
            <a:round/>
            <a:headEnd len="med" w="med" type="none"/>
            <a:tailEnd len="med" w="med" type="none"/>
          </a:ln>
        </p:spPr>
      </p:cxnSp>
      <p:sp>
        <p:nvSpPr>
          <p:cNvPr id="494" name="Google Shape;494;p31"/>
          <p:cNvSpPr/>
          <p:nvPr/>
        </p:nvSpPr>
        <p:spPr>
          <a:xfrm>
            <a:off x="3100400" y="4329596"/>
            <a:ext cx="130800" cy="763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95" name="Google Shape;495;p31"/>
          <p:cNvCxnSpPr/>
          <p:nvPr/>
        </p:nvCxnSpPr>
        <p:spPr>
          <a:xfrm flipH="1" rot="10800000">
            <a:off x="1265900" y="4406546"/>
            <a:ext cx="1834500" cy="6600"/>
          </a:xfrm>
          <a:prstGeom prst="straightConnector1">
            <a:avLst/>
          </a:prstGeom>
          <a:noFill/>
          <a:ln cap="flat" cmpd="sng" w="9525">
            <a:solidFill>
              <a:schemeClr val="dk2"/>
            </a:solidFill>
            <a:prstDash val="solid"/>
            <a:round/>
            <a:headEnd len="med" w="med" type="none"/>
            <a:tailEnd len="med" w="med" type="triangle"/>
          </a:ln>
        </p:spPr>
      </p:cxnSp>
      <p:sp>
        <p:nvSpPr>
          <p:cNvPr id="496" name="Google Shape;496;p31"/>
          <p:cNvSpPr txBox="1"/>
          <p:nvPr/>
        </p:nvSpPr>
        <p:spPr>
          <a:xfrm>
            <a:off x="1768953" y="4135428"/>
            <a:ext cx="1044000" cy="261300"/>
          </a:xfrm>
          <a:prstGeom prst="rect">
            <a:avLst/>
          </a:prstGeom>
          <a:noFill/>
          <a:ln>
            <a:noFill/>
          </a:ln>
        </p:spPr>
        <p:txBody>
          <a:bodyPr anchorCtr="0" anchor="t" bIns="18000" lIns="18000" spcFirstLastPara="1" rIns="18000" wrap="square" tIns="18000">
            <a:noAutofit/>
          </a:bodyPr>
          <a:lstStyle/>
          <a:p>
            <a:pPr indent="0" lvl="0" marL="0" rtl="0" algn="l">
              <a:spcBef>
                <a:spcPts val="0"/>
              </a:spcBef>
              <a:spcAft>
                <a:spcPts val="0"/>
              </a:spcAft>
              <a:buNone/>
            </a:pPr>
            <a:r>
              <a:rPr lang="en-GB"/>
              <a:t>Xây nhà()</a:t>
            </a:r>
            <a:endParaRPr/>
          </a:p>
        </p:txBody>
      </p:sp>
      <p:sp>
        <p:nvSpPr>
          <p:cNvPr id="497" name="Google Shape;497;p31"/>
          <p:cNvSpPr/>
          <p:nvPr/>
        </p:nvSpPr>
        <p:spPr>
          <a:xfrm>
            <a:off x="6775425" y="4405770"/>
            <a:ext cx="130800" cy="153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31"/>
          <p:cNvSpPr/>
          <p:nvPr/>
        </p:nvSpPr>
        <p:spPr>
          <a:xfrm>
            <a:off x="6775425" y="4908023"/>
            <a:ext cx="130800" cy="216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99" name="Google Shape;499;p31"/>
          <p:cNvCxnSpPr/>
          <p:nvPr/>
        </p:nvCxnSpPr>
        <p:spPr>
          <a:xfrm>
            <a:off x="3235272" y="4480415"/>
            <a:ext cx="3523800" cy="0"/>
          </a:xfrm>
          <a:prstGeom prst="straightConnector1">
            <a:avLst/>
          </a:prstGeom>
          <a:noFill/>
          <a:ln cap="flat" cmpd="sng" w="9525">
            <a:solidFill>
              <a:schemeClr val="dk2"/>
            </a:solidFill>
            <a:prstDash val="solid"/>
            <a:round/>
            <a:headEnd len="med" w="med" type="none"/>
            <a:tailEnd len="med" w="med" type="triangle"/>
          </a:ln>
        </p:spPr>
      </p:cxnSp>
      <p:cxnSp>
        <p:nvCxnSpPr>
          <p:cNvPr id="500" name="Google Shape;500;p31"/>
          <p:cNvCxnSpPr/>
          <p:nvPr/>
        </p:nvCxnSpPr>
        <p:spPr>
          <a:xfrm>
            <a:off x="3235272" y="5043763"/>
            <a:ext cx="3533700" cy="0"/>
          </a:xfrm>
          <a:prstGeom prst="straightConnector1">
            <a:avLst/>
          </a:prstGeom>
          <a:noFill/>
          <a:ln cap="flat" cmpd="sng" w="9525">
            <a:solidFill>
              <a:schemeClr val="dk2"/>
            </a:solidFill>
            <a:prstDash val="solid"/>
            <a:round/>
            <a:headEnd len="med" w="med" type="none"/>
            <a:tailEnd len="med" w="med" type="triangle"/>
          </a:ln>
        </p:spPr>
      </p:cxnSp>
      <p:sp>
        <p:nvSpPr>
          <p:cNvPr id="501" name="Google Shape;501;p31"/>
          <p:cNvSpPr/>
          <p:nvPr/>
        </p:nvSpPr>
        <p:spPr>
          <a:xfrm>
            <a:off x="6775425" y="5290238"/>
            <a:ext cx="130800" cy="524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02" name="Google Shape;502;p31"/>
          <p:cNvCxnSpPr/>
          <p:nvPr/>
        </p:nvCxnSpPr>
        <p:spPr>
          <a:xfrm>
            <a:off x="1265975" y="5388425"/>
            <a:ext cx="5483100" cy="0"/>
          </a:xfrm>
          <a:prstGeom prst="straightConnector1">
            <a:avLst/>
          </a:prstGeom>
          <a:noFill/>
          <a:ln cap="flat" cmpd="sng" w="9525">
            <a:solidFill>
              <a:schemeClr val="dk2"/>
            </a:solidFill>
            <a:prstDash val="solid"/>
            <a:round/>
            <a:headEnd len="med" w="med" type="none"/>
            <a:tailEnd len="med" w="med" type="triangle"/>
          </a:ln>
        </p:spPr>
      </p:cxnSp>
      <p:sp>
        <p:nvSpPr>
          <p:cNvPr id="503" name="Google Shape;503;p31"/>
          <p:cNvSpPr txBox="1"/>
          <p:nvPr/>
        </p:nvSpPr>
        <p:spPr>
          <a:xfrm>
            <a:off x="3292950" y="5126026"/>
            <a:ext cx="1751400" cy="322500"/>
          </a:xfrm>
          <a:prstGeom prst="rect">
            <a:avLst/>
          </a:prstGeom>
          <a:noFill/>
          <a:ln>
            <a:noFill/>
          </a:ln>
        </p:spPr>
        <p:txBody>
          <a:bodyPr anchorCtr="0" anchor="t" bIns="18000" lIns="18000" spcFirstLastPara="1" rIns="18000" wrap="square" tIns="18000">
            <a:noAutofit/>
          </a:bodyPr>
          <a:lstStyle/>
          <a:p>
            <a:pPr indent="0" lvl="0" marL="0" rtl="0" algn="l">
              <a:spcBef>
                <a:spcPts val="0"/>
              </a:spcBef>
              <a:spcAft>
                <a:spcPts val="0"/>
              </a:spcAft>
              <a:buNone/>
            </a:pPr>
            <a:r>
              <a:rPr lang="en-GB"/>
              <a:t>Bàn giao()</a:t>
            </a:r>
            <a:endParaRPr/>
          </a:p>
        </p:txBody>
      </p:sp>
      <p:sp>
        <p:nvSpPr>
          <p:cNvPr id="504" name="Google Shape;504;p31"/>
          <p:cNvSpPr txBox="1"/>
          <p:nvPr/>
        </p:nvSpPr>
        <p:spPr>
          <a:xfrm>
            <a:off x="4740761" y="4231582"/>
            <a:ext cx="1474200" cy="200400"/>
          </a:xfrm>
          <a:prstGeom prst="rect">
            <a:avLst/>
          </a:prstGeom>
          <a:noFill/>
          <a:ln>
            <a:noFill/>
          </a:ln>
        </p:spPr>
        <p:txBody>
          <a:bodyPr anchorCtr="0" anchor="t" bIns="18000" lIns="18000" spcFirstLastPara="1" rIns="18000" wrap="square" tIns="18000">
            <a:noAutofit/>
          </a:bodyPr>
          <a:lstStyle/>
          <a:p>
            <a:pPr indent="0" lvl="0" marL="0" rtl="0" algn="l">
              <a:spcBef>
                <a:spcPts val="0"/>
              </a:spcBef>
              <a:spcAft>
                <a:spcPts val="0"/>
              </a:spcAft>
              <a:buNone/>
            </a:pPr>
            <a:r>
              <a:rPr lang="en-GB"/>
              <a:t>Thi công 1()</a:t>
            </a:r>
            <a:endParaRPr/>
          </a:p>
        </p:txBody>
      </p:sp>
      <p:cxnSp>
        <p:nvCxnSpPr>
          <p:cNvPr id="505" name="Google Shape;505;p31"/>
          <p:cNvCxnSpPr/>
          <p:nvPr/>
        </p:nvCxnSpPr>
        <p:spPr>
          <a:xfrm rot="10800000">
            <a:off x="1275150" y="5734925"/>
            <a:ext cx="5523900" cy="0"/>
          </a:xfrm>
          <a:prstGeom prst="straightConnector1">
            <a:avLst/>
          </a:prstGeom>
          <a:noFill/>
          <a:ln cap="flat" cmpd="sng" w="9525">
            <a:solidFill>
              <a:schemeClr val="dk2"/>
            </a:solidFill>
            <a:prstDash val="dash"/>
            <a:round/>
            <a:headEnd len="med" w="med" type="none"/>
            <a:tailEnd len="med" w="med" type="triangle"/>
          </a:ln>
        </p:spPr>
      </p:cxnSp>
      <p:sp>
        <p:nvSpPr>
          <p:cNvPr id="506" name="Google Shape;506;p31"/>
          <p:cNvSpPr txBox="1"/>
          <p:nvPr/>
        </p:nvSpPr>
        <p:spPr>
          <a:xfrm>
            <a:off x="3673950" y="5507025"/>
            <a:ext cx="626100" cy="200400"/>
          </a:xfrm>
          <a:prstGeom prst="rect">
            <a:avLst/>
          </a:prstGeom>
          <a:noFill/>
          <a:ln>
            <a:noFill/>
          </a:ln>
        </p:spPr>
        <p:txBody>
          <a:bodyPr anchorCtr="0" anchor="t" bIns="18000" lIns="18000" spcFirstLastPara="1" rIns="18000" wrap="square" tIns="18000">
            <a:noAutofit/>
          </a:bodyPr>
          <a:lstStyle/>
          <a:p>
            <a:pPr indent="0" lvl="0" marL="0" rtl="0" algn="l">
              <a:spcBef>
                <a:spcPts val="0"/>
              </a:spcBef>
              <a:spcAft>
                <a:spcPts val="0"/>
              </a:spcAft>
              <a:buNone/>
            </a:pPr>
            <a:r>
              <a:rPr lang="en-GB"/>
              <a:t>nhà 2</a:t>
            </a:r>
            <a:endParaRPr/>
          </a:p>
        </p:txBody>
      </p:sp>
      <p:sp>
        <p:nvSpPr>
          <p:cNvPr id="507" name="Google Shape;507;p31"/>
          <p:cNvSpPr/>
          <p:nvPr/>
        </p:nvSpPr>
        <p:spPr>
          <a:xfrm>
            <a:off x="3093963" y="3948564"/>
            <a:ext cx="130800" cy="261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08" name="Google Shape;508;p31"/>
          <p:cNvCxnSpPr/>
          <p:nvPr/>
        </p:nvCxnSpPr>
        <p:spPr>
          <a:xfrm>
            <a:off x="1265900" y="4032146"/>
            <a:ext cx="1819800" cy="0"/>
          </a:xfrm>
          <a:prstGeom prst="straightConnector1">
            <a:avLst/>
          </a:prstGeom>
          <a:noFill/>
          <a:ln cap="flat" cmpd="sng" w="9525">
            <a:solidFill>
              <a:schemeClr val="dk2"/>
            </a:solidFill>
            <a:prstDash val="solid"/>
            <a:round/>
            <a:headEnd len="med" w="med" type="none"/>
            <a:tailEnd len="med" w="med" type="triangle"/>
          </a:ln>
        </p:spPr>
      </p:cxnSp>
      <p:sp>
        <p:nvSpPr>
          <p:cNvPr id="509" name="Google Shape;509;p31"/>
          <p:cNvSpPr txBox="1"/>
          <p:nvPr/>
        </p:nvSpPr>
        <p:spPr>
          <a:xfrm>
            <a:off x="1577152" y="3768190"/>
            <a:ext cx="1212000" cy="261300"/>
          </a:xfrm>
          <a:prstGeom prst="rect">
            <a:avLst/>
          </a:prstGeom>
          <a:noFill/>
          <a:ln>
            <a:noFill/>
          </a:ln>
        </p:spPr>
        <p:txBody>
          <a:bodyPr anchorCtr="0" anchor="t" bIns="18000" lIns="18000" spcFirstLastPara="1" rIns="18000" wrap="square" tIns="18000">
            <a:noAutofit/>
          </a:bodyPr>
          <a:lstStyle/>
          <a:p>
            <a:pPr indent="0" lvl="0" marL="0" rtl="0" algn="l">
              <a:spcBef>
                <a:spcPts val="0"/>
              </a:spcBef>
              <a:spcAft>
                <a:spcPts val="0"/>
              </a:spcAft>
              <a:buNone/>
            </a:pPr>
            <a:r>
              <a:rPr lang="en-GB"/>
              <a:t>Tuyển(thợ</a:t>
            </a:r>
            <a:r>
              <a:rPr lang="en-GB"/>
              <a:t>2</a:t>
            </a:r>
            <a:r>
              <a:rPr lang="en-GB"/>
              <a:t>)</a:t>
            </a:r>
            <a:endParaRPr/>
          </a:p>
        </p:txBody>
      </p:sp>
      <p:sp>
        <p:nvSpPr>
          <p:cNvPr id="510" name="Google Shape;510;p31"/>
          <p:cNvSpPr/>
          <p:nvPr/>
        </p:nvSpPr>
        <p:spPr>
          <a:xfrm>
            <a:off x="7284300" y="5446200"/>
            <a:ext cx="16764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u="sng"/>
              <a:t>nhà</a:t>
            </a:r>
            <a:r>
              <a:rPr lang="en-GB" sz="1600" u="sng"/>
              <a:t>2</a:t>
            </a:r>
            <a:r>
              <a:rPr lang="en-GB" sz="1600" u="sng"/>
              <a:t>:Mẫu nhà 2</a:t>
            </a:r>
            <a:endParaRPr sz="1600" u="sng"/>
          </a:p>
        </p:txBody>
      </p:sp>
      <p:cxnSp>
        <p:nvCxnSpPr>
          <p:cNvPr id="511" name="Google Shape;511;p31"/>
          <p:cNvCxnSpPr/>
          <p:nvPr/>
        </p:nvCxnSpPr>
        <p:spPr>
          <a:xfrm>
            <a:off x="8122500" y="5804401"/>
            <a:ext cx="0" cy="740700"/>
          </a:xfrm>
          <a:prstGeom prst="straightConnector1">
            <a:avLst/>
          </a:prstGeom>
          <a:noFill/>
          <a:ln cap="flat" cmpd="sng" w="9525">
            <a:solidFill>
              <a:schemeClr val="dk2"/>
            </a:solidFill>
            <a:prstDash val="dash"/>
            <a:round/>
            <a:headEnd len="med" w="med" type="none"/>
            <a:tailEnd len="med" w="med" type="none"/>
          </a:ln>
        </p:spPr>
      </p:cxnSp>
      <p:sp>
        <p:nvSpPr>
          <p:cNvPr id="512" name="Google Shape;512;p31"/>
          <p:cNvSpPr txBox="1"/>
          <p:nvPr/>
        </p:nvSpPr>
        <p:spPr>
          <a:xfrm>
            <a:off x="4740761" y="4794930"/>
            <a:ext cx="1474200" cy="200400"/>
          </a:xfrm>
          <a:prstGeom prst="rect">
            <a:avLst/>
          </a:prstGeom>
          <a:noFill/>
          <a:ln>
            <a:noFill/>
          </a:ln>
        </p:spPr>
        <p:txBody>
          <a:bodyPr anchorCtr="0" anchor="t" bIns="18000" lIns="18000" spcFirstLastPara="1" rIns="18000" wrap="square" tIns="18000">
            <a:noAutofit/>
          </a:bodyPr>
          <a:lstStyle/>
          <a:p>
            <a:pPr indent="0" lvl="0" marL="0" rtl="0" algn="l">
              <a:spcBef>
                <a:spcPts val="0"/>
              </a:spcBef>
              <a:spcAft>
                <a:spcPts val="0"/>
              </a:spcAft>
              <a:buNone/>
            </a:pPr>
            <a:r>
              <a:rPr lang="en-GB"/>
              <a:t>Thi công </a:t>
            </a:r>
            <a:r>
              <a:rPr lang="en-GB"/>
              <a:t>3</a:t>
            </a:r>
            <a:r>
              <a:rPr lang="en-GB"/>
              <a:t>()</a:t>
            </a:r>
            <a:endParaRPr/>
          </a:p>
        </p:txBody>
      </p:sp>
      <p:cxnSp>
        <p:nvCxnSpPr>
          <p:cNvPr id="513" name="Google Shape;513;p31"/>
          <p:cNvCxnSpPr/>
          <p:nvPr/>
        </p:nvCxnSpPr>
        <p:spPr>
          <a:xfrm>
            <a:off x="6898875" y="5531150"/>
            <a:ext cx="382500" cy="0"/>
          </a:xfrm>
          <a:prstGeom prst="straightConnector1">
            <a:avLst/>
          </a:prstGeom>
          <a:noFill/>
          <a:ln cap="flat" cmpd="sng" w="9525">
            <a:solidFill>
              <a:schemeClr val="dk2"/>
            </a:solidFill>
            <a:prstDash val="solid"/>
            <a:round/>
            <a:headEnd len="med" w="med" type="none"/>
            <a:tailEnd len="med" w="med" type="triangle"/>
          </a:ln>
        </p:spPr>
      </p:cxnSp>
      <p:sp>
        <p:nvSpPr>
          <p:cNvPr id="514" name="Google Shape;514;p31"/>
          <p:cNvSpPr txBox="1"/>
          <p:nvPr/>
        </p:nvSpPr>
        <p:spPr>
          <a:xfrm>
            <a:off x="6950554" y="5202225"/>
            <a:ext cx="914400" cy="200400"/>
          </a:xfrm>
          <a:prstGeom prst="rect">
            <a:avLst/>
          </a:prstGeom>
          <a:noFill/>
          <a:ln>
            <a:noFill/>
          </a:ln>
        </p:spPr>
        <p:txBody>
          <a:bodyPr anchorCtr="0" anchor="t" bIns="18000" lIns="18000" spcFirstLastPara="1" rIns="18000" wrap="square" tIns="18000">
            <a:noAutofit/>
          </a:bodyPr>
          <a:lstStyle/>
          <a:p>
            <a:pPr indent="0" lvl="0" marL="0" rtl="0" algn="l">
              <a:spcBef>
                <a:spcPts val="0"/>
              </a:spcBef>
              <a:spcAft>
                <a:spcPts val="0"/>
              </a:spcAft>
              <a:buNone/>
            </a:pPr>
            <a:r>
              <a:rPr lang="en-GB"/>
              <a:t>&lt;&lt;tạo&gt;&gt;</a:t>
            </a:r>
            <a:endParaRPr/>
          </a:p>
        </p:txBody>
      </p:sp>
      <p:sp>
        <p:nvSpPr>
          <p:cNvPr id="515" name="Google Shape;515;p31"/>
          <p:cNvSpPr/>
          <p:nvPr/>
        </p:nvSpPr>
        <p:spPr>
          <a:xfrm>
            <a:off x="4565625" y="2517076"/>
            <a:ext cx="130800" cy="220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16" name="Google Shape;516;p31"/>
          <p:cNvCxnSpPr/>
          <p:nvPr/>
        </p:nvCxnSpPr>
        <p:spPr>
          <a:xfrm>
            <a:off x="3235272" y="2651615"/>
            <a:ext cx="1308300" cy="0"/>
          </a:xfrm>
          <a:prstGeom prst="straightConnector1">
            <a:avLst/>
          </a:prstGeom>
          <a:noFill/>
          <a:ln cap="flat" cmpd="sng" w="9525">
            <a:solidFill>
              <a:schemeClr val="dk2"/>
            </a:solidFill>
            <a:prstDash val="solid"/>
            <a:round/>
            <a:headEnd len="med" w="med" type="none"/>
            <a:tailEnd len="med" w="med" type="triangle"/>
          </a:ln>
        </p:spPr>
      </p:cxnSp>
      <p:sp>
        <p:nvSpPr>
          <p:cNvPr id="517" name="Google Shape;517;p31"/>
          <p:cNvSpPr txBox="1"/>
          <p:nvPr/>
        </p:nvSpPr>
        <p:spPr>
          <a:xfrm>
            <a:off x="3369152" y="2402790"/>
            <a:ext cx="1212000" cy="200400"/>
          </a:xfrm>
          <a:prstGeom prst="rect">
            <a:avLst/>
          </a:prstGeom>
          <a:noFill/>
          <a:ln>
            <a:noFill/>
          </a:ln>
        </p:spPr>
        <p:txBody>
          <a:bodyPr anchorCtr="0" anchor="t" bIns="18000" lIns="18000" spcFirstLastPara="1" rIns="18000" wrap="square" tIns="18000">
            <a:noAutofit/>
          </a:bodyPr>
          <a:lstStyle/>
          <a:p>
            <a:pPr indent="0" lvl="0" marL="0" rtl="0" algn="l">
              <a:spcBef>
                <a:spcPts val="0"/>
              </a:spcBef>
              <a:spcAft>
                <a:spcPts val="0"/>
              </a:spcAft>
              <a:buNone/>
            </a:pPr>
            <a:r>
              <a:rPr lang="en-GB"/>
              <a:t>Thi công </a:t>
            </a:r>
            <a:r>
              <a:rPr lang="en-GB"/>
              <a:t>2</a:t>
            </a:r>
            <a:r>
              <a:rPr lang="en-GB"/>
              <a:t>()</a:t>
            </a:r>
            <a:endParaRPr/>
          </a:p>
        </p:txBody>
      </p:sp>
      <p:sp>
        <p:nvSpPr>
          <p:cNvPr id="518" name="Google Shape;518;p31"/>
          <p:cNvSpPr/>
          <p:nvPr/>
        </p:nvSpPr>
        <p:spPr>
          <a:xfrm>
            <a:off x="6775425" y="4674301"/>
            <a:ext cx="130800" cy="153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19" name="Google Shape;519;p31"/>
          <p:cNvCxnSpPr/>
          <p:nvPr/>
        </p:nvCxnSpPr>
        <p:spPr>
          <a:xfrm>
            <a:off x="3235272" y="4748945"/>
            <a:ext cx="3523800" cy="0"/>
          </a:xfrm>
          <a:prstGeom prst="straightConnector1">
            <a:avLst/>
          </a:prstGeom>
          <a:noFill/>
          <a:ln cap="flat" cmpd="sng" w="9525">
            <a:solidFill>
              <a:schemeClr val="dk2"/>
            </a:solidFill>
            <a:prstDash val="solid"/>
            <a:round/>
            <a:headEnd len="med" w="med" type="none"/>
            <a:tailEnd len="med" w="med" type="triangle"/>
          </a:ln>
        </p:spPr>
      </p:cxnSp>
      <p:sp>
        <p:nvSpPr>
          <p:cNvPr id="520" name="Google Shape;520;p31"/>
          <p:cNvSpPr txBox="1"/>
          <p:nvPr/>
        </p:nvSpPr>
        <p:spPr>
          <a:xfrm>
            <a:off x="4740761" y="4500113"/>
            <a:ext cx="1474200" cy="200400"/>
          </a:xfrm>
          <a:prstGeom prst="rect">
            <a:avLst/>
          </a:prstGeom>
          <a:noFill/>
          <a:ln>
            <a:noFill/>
          </a:ln>
        </p:spPr>
        <p:txBody>
          <a:bodyPr anchorCtr="0" anchor="t" bIns="18000" lIns="18000" spcFirstLastPara="1" rIns="18000" wrap="square" tIns="18000">
            <a:noAutofit/>
          </a:bodyPr>
          <a:lstStyle/>
          <a:p>
            <a:pPr indent="0" lvl="0" marL="0" rtl="0" algn="l">
              <a:spcBef>
                <a:spcPts val="0"/>
              </a:spcBef>
              <a:spcAft>
                <a:spcPts val="0"/>
              </a:spcAft>
              <a:buNone/>
            </a:pPr>
            <a:r>
              <a:rPr lang="en-GB"/>
              <a:t>Thi công </a:t>
            </a:r>
            <a:r>
              <a:rPr lang="en-GB"/>
              <a:t>2</a:t>
            </a:r>
            <a:r>
              <a:rPr lang="en-GB"/>
              <a:t>()</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4" name="Shape 524"/>
        <p:cNvGrpSpPr/>
        <p:nvPr/>
      </p:nvGrpSpPr>
      <p:grpSpPr>
        <a:xfrm>
          <a:off x="0" y="0"/>
          <a:ext cx="0" cy="0"/>
          <a:chOff x="0" y="0"/>
          <a:chExt cx="0" cy="0"/>
        </a:xfrm>
      </p:grpSpPr>
      <p:sp>
        <p:nvSpPr>
          <p:cNvPr id="525" name="Google Shape;525;p32"/>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Thợ xây: Hệ quả</a:t>
            </a:r>
            <a:endParaRPr/>
          </a:p>
        </p:txBody>
      </p:sp>
      <p:sp>
        <p:nvSpPr>
          <p:cNvPr id="526" name="Google Shape;526;p3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527" name="Google Shape;527;p32"/>
          <p:cNvSpPr txBox="1"/>
          <p:nvPr>
            <p:ph idx="1" type="body"/>
          </p:nvPr>
        </p:nvSpPr>
        <p:spPr>
          <a:xfrm>
            <a:off x="311700" y="950475"/>
            <a:ext cx="8520600" cy="5418300"/>
          </a:xfrm>
          <a:prstGeom prst="rect">
            <a:avLst/>
          </a:prstGeom>
        </p:spPr>
        <p:txBody>
          <a:bodyPr anchorCtr="0" anchor="t" bIns="91425" lIns="91425" spcFirstLastPara="1" rIns="91425" wrap="square" tIns="91425">
            <a:noAutofit/>
          </a:bodyPr>
          <a:lstStyle/>
          <a:p>
            <a:pPr indent="-381000" lvl="0" marL="457200" rtl="0" algn="just">
              <a:spcBef>
                <a:spcPts val="0"/>
              </a:spcBef>
              <a:spcAft>
                <a:spcPts val="0"/>
              </a:spcAft>
              <a:buSzPts val="2400"/>
              <a:buChar char="●"/>
            </a:pPr>
            <a:r>
              <a:rPr lang="en-GB"/>
              <a:t>Dễ thay đổi biểu diễn bên trong của sản phẩm, có thể tạo lớp thợ mới nếu cần.</a:t>
            </a:r>
            <a:endParaRPr/>
          </a:p>
          <a:p>
            <a:pPr indent="-381000" lvl="0" marL="457200" rtl="0" algn="just">
              <a:spcBef>
                <a:spcPts val="0"/>
              </a:spcBef>
              <a:spcAft>
                <a:spcPts val="0"/>
              </a:spcAft>
              <a:buSzPts val="2400"/>
              <a:buChar char="●"/>
            </a:pPr>
            <a:r>
              <a:rPr lang="en-GB"/>
              <a:t>Tách phần khởi tạo với biểu diễn của đối tượng làm tăng tính độc lập của các thành phần.</a:t>
            </a:r>
            <a:endParaRPr/>
          </a:p>
          <a:p>
            <a:pPr indent="-381000" lvl="0" marL="457200" rtl="0" algn="just">
              <a:spcBef>
                <a:spcPts val="0"/>
              </a:spcBef>
              <a:spcAft>
                <a:spcPts val="0"/>
              </a:spcAft>
              <a:buSzPts val="2400"/>
              <a:buChar char="●"/>
            </a:pPr>
            <a:r>
              <a:rPr lang="en-GB"/>
              <a:t>Có thể kiểm soát sâu hơn tiến trình tạo đối tượng</a:t>
            </a:r>
            <a:r>
              <a:rPr lang="en-GB"/>
              <a:t> cùng</a:t>
            </a:r>
            <a:r>
              <a:rPr lang="en-GB"/>
              <a:t> với biểu diễn của nó qua các bước, so với các mẫu tạo khác.</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1" name="Shape 531"/>
        <p:cNvGrpSpPr/>
        <p:nvPr/>
      </p:nvGrpSpPr>
      <p:grpSpPr>
        <a:xfrm>
          <a:off x="0" y="0"/>
          <a:ext cx="0" cy="0"/>
          <a:chOff x="0" y="0"/>
          <a:chExt cx="0" cy="0"/>
        </a:xfrm>
      </p:grpSpPr>
      <p:sp>
        <p:nvSpPr>
          <p:cNvPr id="532" name="Google Shape;532;p33"/>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2. Chuyển đổi định dạng văn </a:t>
            </a:r>
            <a:r>
              <a:rPr lang="en-GB"/>
              <a:t>bản</a:t>
            </a:r>
            <a:endParaRPr/>
          </a:p>
        </p:txBody>
      </p:sp>
      <p:sp>
        <p:nvSpPr>
          <p:cNvPr id="533" name="Google Shape;533;p3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534" name="Google Shape;534;p33"/>
          <p:cNvSpPr/>
          <p:nvPr/>
        </p:nvSpPr>
        <p:spPr>
          <a:xfrm>
            <a:off x="4548720" y="2271050"/>
            <a:ext cx="23004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i="1" lang="en-GB"/>
              <a:t>TextConverter</a:t>
            </a:r>
            <a:endParaRPr i="1"/>
          </a:p>
        </p:txBody>
      </p:sp>
      <p:sp>
        <p:nvSpPr>
          <p:cNvPr id="535" name="Google Shape;535;p33"/>
          <p:cNvSpPr/>
          <p:nvPr/>
        </p:nvSpPr>
        <p:spPr>
          <a:xfrm>
            <a:off x="4548681" y="2593271"/>
            <a:ext cx="2300400" cy="7329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i="1" lang="en-GB"/>
              <a:t>ConvertCharacter(char)</a:t>
            </a:r>
            <a:endParaRPr i="1"/>
          </a:p>
          <a:p>
            <a:pPr indent="0" lvl="0" marL="0" rtl="0" algn="l">
              <a:spcBef>
                <a:spcPts val="0"/>
              </a:spcBef>
              <a:spcAft>
                <a:spcPts val="0"/>
              </a:spcAft>
              <a:buNone/>
            </a:pPr>
            <a:r>
              <a:rPr i="1" lang="en-GB"/>
              <a:t>ConvertFontChange(Font)</a:t>
            </a:r>
            <a:endParaRPr i="1"/>
          </a:p>
          <a:p>
            <a:pPr indent="0" lvl="0" marL="0" rtl="0" algn="l">
              <a:spcBef>
                <a:spcPts val="0"/>
              </a:spcBef>
              <a:spcAft>
                <a:spcPts val="0"/>
              </a:spcAft>
              <a:buNone/>
            </a:pPr>
            <a:r>
              <a:rPr i="1" lang="en-GB"/>
              <a:t>ConvertParagraph()</a:t>
            </a:r>
            <a:endParaRPr i="1"/>
          </a:p>
        </p:txBody>
      </p:sp>
      <p:sp>
        <p:nvSpPr>
          <p:cNvPr id="536" name="Google Shape;536;p33"/>
          <p:cNvSpPr/>
          <p:nvPr/>
        </p:nvSpPr>
        <p:spPr>
          <a:xfrm>
            <a:off x="3880001" y="4023650"/>
            <a:ext cx="23379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a:t>TexConverter</a:t>
            </a:r>
            <a:endParaRPr/>
          </a:p>
        </p:txBody>
      </p:sp>
      <p:sp>
        <p:nvSpPr>
          <p:cNvPr id="537" name="Google Shape;537;p33"/>
          <p:cNvSpPr/>
          <p:nvPr/>
        </p:nvSpPr>
        <p:spPr>
          <a:xfrm>
            <a:off x="3879975" y="4345876"/>
            <a:ext cx="2337900" cy="9960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lang="en-GB"/>
              <a:t>ConvertCharacter(char)</a:t>
            </a:r>
            <a:endParaRPr/>
          </a:p>
          <a:p>
            <a:pPr indent="0" lvl="0" marL="0" rtl="0" algn="l">
              <a:spcBef>
                <a:spcPts val="0"/>
              </a:spcBef>
              <a:spcAft>
                <a:spcPts val="0"/>
              </a:spcAft>
              <a:buNone/>
            </a:pPr>
            <a:r>
              <a:rPr lang="en-GB"/>
              <a:t>ConvertFontChange(Font)</a:t>
            </a:r>
            <a:endParaRPr/>
          </a:p>
          <a:p>
            <a:pPr indent="0" lvl="0" marL="0" rtl="0" algn="l">
              <a:spcBef>
                <a:spcPts val="0"/>
              </a:spcBef>
              <a:spcAft>
                <a:spcPts val="0"/>
              </a:spcAft>
              <a:buNone/>
            </a:pPr>
            <a:r>
              <a:rPr lang="en-GB"/>
              <a:t>ConvertParagraph()</a:t>
            </a:r>
            <a:endParaRPr/>
          </a:p>
          <a:p>
            <a:pPr indent="0" lvl="0" marL="0" rtl="0" algn="l">
              <a:spcBef>
                <a:spcPts val="0"/>
              </a:spcBef>
              <a:spcAft>
                <a:spcPts val="0"/>
              </a:spcAft>
              <a:buNone/>
            </a:pPr>
            <a:r>
              <a:rPr lang="en-GB"/>
              <a:t>GetTeXText()</a:t>
            </a:r>
            <a:endParaRPr/>
          </a:p>
        </p:txBody>
      </p:sp>
      <p:sp>
        <p:nvSpPr>
          <p:cNvPr id="538" name="Google Shape;538;p33"/>
          <p:cNvSpPr/>
          <p:nvPr/>
        </p:nvSpPr>
        <p:spPr>
          <a:xfrm>
            <a:off x="6370226" y="4023650"/>
            <a:ext cx="23004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a:t>TextWidgetConverter</a:t>
            </a:r>
            <a:endParaRPr/>
          </a:p>
        </p:txBody>
      </p:sp>
      <p:sp>
        <p:nvSpPr>
          <p:cNvPr id="539" name="Google Shape;539;p33"/>
          <p:cNvSpPr/>
          <p:nvPr/>
        </p:nvSpPr>
        <p:spPr>
          <a:xfrm>
            <a:off x="6370200" y="4345877"/>
            <a:ext cx="2300400" cy="9960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Clr>
                <a:schemeClr val="dk1"/>
              </a:buClr>
              <a:buSzPts val="1100"/>
              <a:buFont typeface="Arial"/>
              <a:buNone/>
            </a:pPr>
            <a:r>
              <a:rPr lang="en-GB">
                <a:solidFill>
                  <a:schemeClr val="dk1"/>
                </a:solidFill>
              </a:rPr>
              <a:t>ConvertCharacter(char)</a:t>
            </a:r>
            <a:endParaRPr>
              <a:solidFill>
                <a:schemeClr val="dk1"/>
              </a:solidFill>
            </a:endParaRPr>
          </a:p>
          <a:p>
            <a:pPr indent="0" lvl="0" marL="0" rtl="0" algn="l">
              <a:spcBef>
                <a:spcPts val="0"/>
              </a:spcBef>
              <a:spcAft>
                <a:spcPts val="0"/>
              </a:spcAft>
              <a:buClr>
                <a:schemeClr val="dk1"/>
              </a:buClr>
              <a:buSzPts val="1100"/>
              <a:buFont typeface="Arial"/>
              <a:buNone/>
            </a:pPr>
            <a:r>
              <a:rPr lang="en-GB">
                <a:solidFill>
                  <a:schemeClr val="dk1"/>
                </a:solidFill>
              </a:rPr>
              <a:t>ConvertFontChange(Font)</a:t>
            </a:r>
            <a:endParaRPr>
              <a:solidFill>
                <a:schemeClr val="dk1"/>
              </a:solidFill>
            </a:endParaRPr>
          </a:p>
          <a:p>
            <a:pPr indent="0" lvl="0" marL="0" rtl="0" algn="l">
              <a:spcBef>
                <a:spcPts val="0"/>
              </a:spcBef>
              <a:spcAft>
                <a:spcPts val="0"/>
              </a:spcAft>
              <a:buClr>
                <a:schemeClr val="dk1"/>
              </a:buClr>
              <a:buSzPts val="1100"/>
              <a:buFont typeface="Arial"/>
              <a:buNone/>
            </a:pPr>
            <a:r>
              <a:rPr lang="en-GB">
                <a:solidFill>
                  <a:schemeClr val="dk1"/>
                </a:solidFill>
              </a:rPr>
              <a:t>ConvertParagraph()</a:t>
            </a:r>
            <a:endParaRPr>
              <a:solidFill>
                <a:schemeClr val="dk1"/>
              </a:solidFill>
            </a:endParaRPr>
          </a:p>
          <a:p>
            <a:pPr indent="0" lvl="0" marL="0" rtl="0" algn="l">
              <a:spcBef>
                <a:spcPts val="0"/>
              </a:spcBef>
              <a:spcAft>
                <a:spcPts val="0"/>
              </a:spcAft>
              <a:buClr>
                <a:schemeClr val="dk1"/>
              </a:buClr>
              <a:buSzPts val="1100"/>
              <a:buFont typeface="Arial"/>
              <a:buNone/>
            </a:pPr>
            <a:r>
              <a:rPr lang="en-GB">
                <a:solidFill>
                  <a:schemeClr val="dk1"/>
                </a:solidFill>
              </a:rPr>
              <a:t>GetTextWidget()</a:t>
            </a:r>
            <a:endParaRPr>
              <a:solidFill>
                <a:schemeClr val="dk1"/>
              </a:solidFill>
            </a:endParaRPr>
          </a:p>
          <a:p>
            <a:pPr indent="0" lvl="0" marL="0" rtl="0" algn="l">
              <a:spcBef>
                <a:spcPts val="0"/>
              </a:spcBef>
              <a:spcAft>
                <a:spcPts val="0"/>
              </a:spcAft>
              <a:buNone/>
            </a:pPr>
            <a:r>
              <a:t/>
            </a:r>
            <a:endParaRPr i="1"/>
          </a:p>
        </p:txBody>
      </p:sp>
      <p:sp>
        <p:nvSpPr>
          <p:cNvPr id="540" name="Google Shape;540;p33"/>
          <p:cNvSpPr/>
          <p:nvPr/>
        </p:nvSpPr>
        <p:spPr>
          <a:xfrm>
            <a:off x="1613474" y="4023650"/>
            <a:ext cx="21597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Clr>
                <a:schemeClr val="dk1"/>
              </a:buClr>
              <a:buSzPts val="1100"/>
              <a:buFont typeface="Arial"/>
              <a:buNone/>
            </a:pPr>
            <a:r>
              <a:rPr lang="en-GB">
                <a:solidFill>
                  <a:schemeClr val="dk1"/>
                </a:solidFill>
              </a:rPr>
              <a:t>ASCIIConverter</a:t>
            </a:r>
            <a:endParaRPr/>
          </a:p>
        </p:txBody>
      </p:sp>
      <p:sp>
        <p:nvSpPr>
          <p:cNvPr id="541" name="Google Shape;541;p33"/>
          <p:cNvSpPr/>
          <p:nvPr/>
        </p:nvSpPr>
        <p:spPr>
          <a:xfrm>
            <a:off x="1613450" y="4345875"/>
            <a:ext cx="2159700" cy="9960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lang="en-GB"/>
              <a:t>ConvertCharacter(char)</a:t>
            </a:r>
            <a:endParaRPr/>
          </a:p>
          <a:p>
            <a:pPr indent="0" lvl="0" marL="0" rtl="0" algn="l">
              <a:spcBef>
                <a:spcPts val="0"/>
              </a:spcBef>
              <a:spcAft>
                <a:spcPts val="0"/>
              </a:spcAft>
              <a:buNone/>
            </a:pPr>
            <a:r>
              <a:rPr lang="en-GB"/>
              <a:t>GetASCIIText()</a:t>
            </a:r>
            <a:endParaRPr/>
          </a:p>
        </p:txBody>
      </p:sp>
      <p:sp>
        <p:nvSpPr>
          <p:cNvPr id="542" name="Google Shape;542;p33"/>
          <p:cNvSpPr/>
          <p:nvPr/>
        </p:nvSpPr>
        <p:spPr>
          <a:xfrm>
            <a:off x="4864504" y="3326269"/>
            <a:ext cx="130800" cy="1116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33"/>
          <p:cNvSpPr/>
          <p:nvPr/>
        </p:nvSpPr>
        <p:spPr>
          <a:xfrm>
            <a:off x="5474104" y="3326269"/>
            <a:ext cx="130800" cy="1116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33"/>
          <p:cNvSpPr/>
          <p:nvPr/>
        </p:nvSpPr>
        <p:spPr>
          <a:xfrm>
            <a:off x="5931304" y="3326269"/>
            <a:ext cx="130800" cy="1116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45" name="Google Shape;545;p33"/>
          <p:cNvCxnSpPr>
            <a:stCxn id="540" idx="0"/>
            <a:endCxn id="542" idx="3"/>
          </p:cNvCxnSpPr>
          <p:nvPr/>
        </p:nvCxnSpPr>
        <p:spPr>
          <a:xfrm rot="-5400000">
            <a:off x="3518624" y="2612450"/>
            <a:ext cx="585900" cy="2236500"/>
          </a:xfrm>
          <a:prstGeom prst="bentConnector3">
            <a:avLst>
              <a:gd fmla="val 49990" name="adj1"/>
            </a:avLst>
          </a:prstGeom>
          <a:noFill/>
          <a:ln cap="flat" cmpd="sng" w="9525">
            <a:solidFill>
              <a:schemeClr val="dk2"/>
            </a:solidFill>
            <a:prstDash val="solid"/>
            <a:round/>
            <a:headEnd len="med" w="med" type="none"/>
            <a:tailEnd len="med" w="med" type="none"/>
          </a:ln>
        </p:spPr>
      </p:cxnSp>
      <p:cxnSp>
        <p:nvCxnSpPr>
          <p:cNvPr id="546" name="Google Shape;546;p33"/>
          <p:cNvCxnSpPr>
            <a:stCxn id="536" idx="0"/>
            <a:endCxn id="543" idx="3"/>
          </p:cNvCxnSpPr>
          <p:nvPr/>
        </p:nvCxnSpPr>
        <p:spPr>
          <a:xfrm rot="-5400000">
            <a:off x="5001251" y="3485450"/>
            <a:ext cx="585900" cy="490500"/>
          </a:xfrm>
          <a:prstGeom prst="bentConnector3">
            <a:avLst>
              <a:gd fmla="val 49990" name="adj1"/>
            </a:avLst>
          </a:prstGeom>
          <a:noFill/>
          <a:ln cap="flat" cmpd="sng" w="9525">
            <a:solidFill>
              <a:schemeClr val="dk2"/>
            </a:solidFill>
            <a:prstDash val="solid"/>
            <a:round/>
            <a:headEnd len="med" w="med" type="none"/>
            <a:tailEnd len="med" w="med" type="none"/>
          </a:ln>
        </p:spPr>
      </p:cxnSp>
      <p:cxnSp>
        <p:nvCxnSpPr>
          <p:cNvPr id="547" name="Google Shape;547;p33"/>
          <p:cNvCxnSpPr>
            <a:stCxn id="538" idx="0"/>
            <a:endCxn id="544" idx="3"/>
          </p:cNvCxnSpPr>
          <p:nvPr/>
        </p:nvCxnSpPr>
        <p:spPr>
          <a:xfrm flipH="1" rot="5400000">
            <a:off x="6465626" y="2968850"/>
            <a:ext cx="585900" cy="1523700"/>
          </a:xfrm>
          <a:prstGeom prst="bentConnector3">
            <a:avLst>
              <a:gd fmla="val 49990" name="adj1"/>
            </a:avLst>
          </a:prstGeom>
          <a:noFill/>
          <a:ln cap="flat" cmpd="sng" w="9525">
            <a:solidFill>
              <a:schemeClr val="dk2"/>
            </a:solidFill>
            <a:prstDash val="solid"/>
            <a:round/>
            <a:headEnd len="med" w="med" type="none"/>
            <a:tailEnd len="med" w="med" type="none"/>
          </a:ln>
        </p:spPr>
      </p:cxnSp>
      <p:sp>
        <p:nvSpPr>
          <p:cNvPr id="548" name="Google Shape;548;p33"/>
          <p:cNvSpPr/>
          <p:nvPr/>
        </p:nvSpPr>
        <p:spPr>
          <a:xfrm>
            <a:off x="4557642" y="1228104"/>
            <a:ext cx="14754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a:t>RTFReader</a:t>
            </a:r>
            <a:endParaRPr/>
          </a:p>
        </p:txBody>
      </p:sp>
      <p:sp>
        <p:nvSpPr>
          <p:cNvPr id="549" name="Google Shape;549;p33"/>
          <p:cNvSpPr/>
          <p:nvPr/>
        </p:nvSpPr>
        <p:spPr>
          <a:xfrm>
            <a:off x="4557625" y="1550326"/>
            <a:ext cx="1475400" cy="3225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lang="en-GB"/>
              <a:t>ParseRTF(File)</a:t>
            </a:r>
            <a:endParaRPr/>
          </a:p>
        </p:txBody>
      </p:sp>
      <p:sp>
        <p:nvSpPr>
          <p:cNvPr id="550" name="Google Shape;550;p33"/>
          <p:cNvSpPr/>
          <p:nvPr/>
        </p:nvSpPr>
        <p:spPr>
          <a:xfrm>
            <a:off x="1972424" y="5776250"/>
            <a:ext cx="14418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a:t>ASCIIText</a:t>
            </a:r>
            <a:endParaRPr/>
          </a:p>
        </p:txBody>
      </p:sp>
      <p:sp>
        <p:nvSpPr>
          <p:cNvPr id="551" name="Google Shape;551;p33"/>
          <p:cNvSpPr/>
          <p:nvPr/>
        </p:nvSpPr>
        <p:spPr>
          <a:xfrm>
            <a:off x="4318526" y="5776250"/>
            <a:ext cx="14418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a:t>TeXText</a:t>
            </a:r>
            <a:endParaRPr/>
          </a:p>
        </p:txBody>
      </p:sp>
      <p:sp>
        <p:nvSpPr>
          <p:cNvPr id="552" name="Google Shape;552;p33"/>
          <p:cNvSpPr/>
          <p:nvPr/>
        </p:nvSpPr>
        <p:spPr>
          <a:xfrm>
            <a:off x="6708450" y="5776250"/>
            <a:ext cx="16239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a:t>TextWidget</a:t>
            </a:r>
            <a:endParaRPr/>
          </a:p>
        </p:txBody>
      </p:sp>
      <p:cxnSp>
        <p:nvCxnSpPr>
          <p:cNvPr id="553" name="Google Shape;553;p33"/>
          <p:cNvCxnSpPr>
            <a:stCxn id="541" idx="2"/>
            <a:endCxn id="550" idx="0"/>
          </p:cNvCxnSpPr>
          <p:nvPr/>
        </p:nvCxnSpPr>
        <p:spPr>
          <a:xfrm>
            <a:off x="2693300" y="5341875"/>
            <a:ext cx="0" cy="434400"/>
          </a:xfrm>
          <a:prstGeom prst="straightConnector1">
            <a:avLst/>
          </a:prstGeom>
          <a:noFill/>
          <a:ln cap="flat" cmpd="sng" w="9525">
            <a:solidFill>
              <a:schemeClr val="dk2"/>
            </a:solidFill>
            <a:prstDash val="dash"/>
            <a:round/>
            <a:headEnd len="med" w="med" type="none"/>
            <a:tailEnd len="med" w="med" type="stealth"/>
          </a:ln>
        </p:spPr>
      </p:cxnSp>
      <p:cxnSp>
        <p:nvCxnSpPr>
          <p:cNvPr id="554" name="Google Shape;554;p33"/>
          <p:cNvCxnSpPr>
            <a:stCxn id="537" idx="2"/>
            <a:endCxn id="551" idx="0"/>
          </p:cNvCxnSpPr>
          <p:nvPr/>
        </p:nvCxnSpPr>
        <p:spPr>
          <a:xfrm flipH="1">
            <a:off x="5039325" y="5341876"/>
            <a:ext cx="9600" cy="434400"/>
          </a:xfrm>
          <a:prstGeom prst="straightConnector1">
            <a:avLst/>
          </a:prstGeom>
          <a:noFill/>
          <a:ln cap="flat" cmpd="sng" w="9525">
            <a:solidFill>
              <a:schemeClr val="dk2"/>
            </a:solidFill>
            <a:prstDash val="dash"/>
            <a:round/>
            <a:headEnd len="med" w="med" type="none"/>
            <a:tailEnd len="med" w="med" type="stealth"/>
          </a:ln>
        </p:spPr>
      </p:cxnSp>
      <p:cxnSp>
        <p:nvCxnSpPr>
          <p:cNvPr id="555" name="Google Shape;555;p33"/>
          <p:cNvCxnSpPr>
            <a:stCxn id="539" idx="2"/>
            <a:endCxn id="552" idx="0"/>
          </p:cNvCxnSpPr>
          <p:nvPr/>
        </p:nvCxnSpPr>
        <p:spPr>
          <a:xfrm>
            <a:off x="7520400" y="5341877"/>
            <a:ext cx="0" cy="434400"/>
          </a:xfrm>
          <a:prstGeom prst="straightConnector1">
            <a:avLst/>
          </a:prstGeom>
          <a:noFill/>
          <a:ln cap="flat" cmpd="sng" w="9525">
            <a:solidFill>
              <a:schemeClr val="dk2"/>
            </a:solidFill>
            <a:prstDash val="dash"/>
            <a:round/>
            <a:headEnd len="med" w="med" type="none"/>
            <a:tailEnd len="med" w="med" type="stealth"/>
          </a:ln>
        </p:spPr>
      </p:cxnSp>
      <p:sp>
        <p:nvSpPr>
          <p:cNvPr id="556" name="Google Shape;556;p33"/>
          <p:cNvSpPr/>
          <p:nvPr/>
        </p:nvSpPr>
        <p:spPr>
          <a:xfrm>
            <a:off x="6034921" y="1278566"/>
            <a:ext cx="225950" cy="172775"/>
          </a:xfrm>
          <a:prstGeom prst="flowChartDecision">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sp>
        <p:nvSpPr>
          <p:cNvPr id="557" name="Google Shape;557;p33"/>
          <p:cNvSpPr txBox="1"/>
          <p:nvPr/>
        </p:nvSpPr>
        <p:spPr>
          <a:xfrm>
            <a:off x="2648025" y="5340300"/>
            <a:ext cx="1092300" cy="26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200"/>
              <a:t>&lt;&lt;create&gt;&gt;</a:t>
            </a:r>
            <a:endParaRPr sz="1200"/>
          </a:p>
        </p:txBody>
      </p:sp>
      <p:sp>
        <p:nvSpPr>
          <p:cNvPr id="558" name="Google Shape;558;p33"/>
          <p:cNvSpPr txBox="1"/>
          <p:nvPr/>
        </p:nvSpPr>
        <p:spPr>
          <a:xfrm>
            <a:off x="5010225" y="5340300"/>
            <a:ext cx="1092300" cy="26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200"/>
              <a:t>&lt;&lt;create&gt;&gt;</a:t>
            </a:r>
            <a:endParaRPr sz="1200"/>
          </a:p>
        </p:txBody>
      </p:sp>
      <p:sp>
        <p:nvSpPr>
          <p:cNvPr id="559" name="Google Shape;559;p33"/>
          <p:cNvSpPr txBox="1"/>
          <p:nvPr/>
        </p:nvSpPr>
        <p:spPr>
          <a:xfrm>
            <a:off x="7601025" y="5340300"/>
            <a:ext cx="1092300" cy="26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200"/>
              <a:t>&lt;&lt;create&gt;&gt;</a:t>
            </a:r>
            <a:endParaRPr sz="1200"/>
          </a:p>
        </p:txBody>
      </p:sp>
      <p:cxnSp>
        <p:nvCxnSpPr>
          <p:cNvPr id="560" name="Google Shape;560;p33"/>
          <p:cNvCxnSpPr>
            <a:stCxn id="534" idx="3"/>
            <a:endCxn id="556" idx="3"/>
          </p:cNvCxnSpPr>
          <p:nvPr/>
        </p:nvCxnSpPr>
        <p:spPr>
          <a:xfrm rot="10800000">
            <a:off x="6260820" y="1364900"/>
            <a:ext cx="588300" cy="1067400"/>
          </a:xfrm>
          <a:prstGeom prst="bentConnector3">
            <a:avLst>
              <a:gd fmla="val -40477" name="adj1"/>
            </a:avLst>
          </a:prstGeom>
          <a:noFill/>
          <a:ln cap="flat" cmpd="sng" w="9525">
            <a:solidFill>
              <a:schemeClr val="dk2"/>
            </a:solidFill>
            <a:prstDash val="solid"/>
            <a:round/>
            <a:headEnd len="med" w="med" type="none"/>
            <a:tailEnd len="med" w="med" type="none"/>
          </a:ln>
        </p:spPr>
      </p:cxnSp>
      <p:sp>
        <p:nvSpPr>
          <p:cNvPr id="561" name="Google Shape;561;p33"/>
          <p:cNvSpPr/>
          <p:nvPr/>
        </p:nvSpPr>
        <p:spPr>
          <a:xfrm>
            <a:off x="391325" y="1280950"/>
            <a:ext cx="3709200" cy="2148000"/>
          </a:xfrm>
          <a:prstGeom prst="foldedCorner">
            <a:avLst>
              <a:gd fmla="val 16667" name="adj"/>
            </a:avLst>
          </a:prstGeom>
          <a:noFill/>
          <a:ln cap="flat" cmpd="sng" w="9525">
            <a:solidFill>
              <a:schemeClr val="dk2"/>
            </a:solidFill>
            <a:prstDash val="solid"/>
            <a:round/>
            <a:headEnd len="sm" w="sm" type="none"/>
            <a:tailEnd len="sm" w="sm" type="none"/>
          </a:ln>
        </p:spPr>
        <p:txBody>
          <a:bodyPr anchorCtr="0" anchor="t" bIns="91425" lIns="18000" spcFirstLastPara="1" rIns="54000" wrap="square" tIns="91425">
            <a:noAutofit/>
          </a:bodyPr>
          <a:lstStyle/>
          <a:p>
            <a:pPr indent="0" lvl="0" marL="0" rtl="0" algn="l">
              <a:spcBef>
                <a:spcPts val="0"/>
              </a:spcBef>
              <a:spcAft>
                <a:spcPts val="0"/>
              </a:spcAft>
              <a:buNone/>
            </a:pPr>
            <a:r>
              <a:rPr lang="en-GB"/>
              <a:t>while (t = getNextToken()) {</a:t>
            </a:r>
            <a:endParaRPr/>
          </a:p>
          <a:p>
            <a:pPr indent="0" lvl="0" marL="0" rtl="0" algn="l">
              <a:spcBef>
                <a:spcPts val="0"/>
              </a:spcBef>
              <a:spcAft>
                <a:spcPts val="0"/>
              </a:spcAft>
              <a:buNone/>
            </a:pPr>
            <a:r>
              <a:rPr lang="en-GB"/>
              <a:t>    switch (t.type) {</a:t>
            </a:r>
            <a:endParaRPr/>
          </a:p>
          <a:p>
            <a:pPr indent="0" lvl="0" marL="0" rtl="0" algn="l">
              <a:spcBef>
                <a:spcPts val="0"/>
              </a:spcBef>
              <a:spcAft>
                <a:spcPts val="0"/>
              </a:spcAft>
              <a:buNone/>
            </a:pPr>
            <a:r>
              <a:rPr lang="en-GB"/>
              <a:t>       case CHAR: </a:t>
            </a:r>
            <a:endParaRPr/>
          </a:p>
          <a:p>
            <a:pPr indent="0" lvl="0" marL="0" rtl="0" algn="l">
              <a:spcBef>
                <a:spcPts val="0"/>
              </a:spcBef>
              <a:spcAft>
                <a:spcPts val="0"/>
              </a:spcAft>
              <a:buNone/>
            </a:pPr>
            <a:r>
              <a:rPr lang="en-GB"/>
              <a:t>             builder.ConvertCharacter(t); break;</a:t>
            </a:r>
            <a:endParaRPr/>
          </a:p>
          <a:p>
            <a:pPr indent="0" lvl="0" marL="0" rtl="0" algn="l">
              <a:spcBef>
                <a:spcPts val="0"/>
              </a:spcBef>
              <a:spcAft>
                <a:spcPts val="0"/>
              </a:spcAft>
              <a:buNone/>
            </a:pPr>
            <a:r>
              <a:rPr lang="en-GB"/>
              <a:t>       case FONT:</a:t>
            </a:r>
            <a:endParaRPr/>
          </a:p>
          <a:p>
            <a:pPr indent="0" lvl="0" marL="0" rtl="0" algn="l">
              <a:spcBef>
                <a:spcPts val="0"/>
              </a:spcBef>
              <a:spcAft>
                <a:spcPts val="0"/>
              </a:spcAft>
              <a:buNone/>
            </a:pPr>
            <a:r>
              <a:rPr lang="en-GB"/>
              <a:t>             </a:t>
            </a:r>
            <a:r>
              <a:rPr lang="en-GB"/>
              <a:t>builder</a:t>
            </a:r>
            <a:r>
              <a:rPr lang="en-GB"/>
              <a:t>.ConvertFontChange(t); break;</a:t>
            </a:r>
            <a:endParaRPr/>
          </a:p>
          <a:p>
            <a:pPr indent="0" lvl="0" marL="0" rtl="0" algn="l">
              <a:spcBef>
                <a:spcPts val="0"/>
              </a:spcBef>
              <a:spcAft>
                <a:spcPts val="0"/>
              </a:spcAft>
              <a:buNone/>
            </a:pPr>
            <a:r>
              <a:rPr lang="en-GB"/>
              <a:t>       case PARA:</a:t>
            </a:r>
            <a:endParaRPr/>
          </a:p>
          <a:p>
            <a:pPr indent="0" lvl="0" marL="0" rtl="0" algn="l">
              <a:spcBef>
                <a:spcPts val="0"/>
              </a:spcBef>
              <a:spcAft>
                <a:spcPts val="0"/>
              </a:spcAft>
              <a:buNone/>
            </a:pPr>
            <a:r>
              <a:rPr lang="en-GB"/>
              <a:t>             builder.ConvertParagraph(); break;</a:t>
            </a:r>
            <a:endParaRPr/>
          </a:p>
          <a:p>
            <a:pPr indent="0" lvl="0" marL="0" rtl="0" algn="l">
              <a:spcBef>
                <a:spcPts val="0"/>
              </a:spcBef>
              <a:spcAft>
                <a:spcPts val="0"/>
              </a:spcAft>
              <a:buNone/>
            </a:pPr>
            <a:r>
              <a:rPr lang="en-GB"/>
              <a:t>    }</a:t>
            </a:r>
            <a:endParaRPr/>
          </a:p>
        </p:txBody>
      </p:sp>
      <p:cxnSp>
        <p:nvCxnSpPr>
          <p:cNvPr id="562" name="Google Shape;562;p33"/>
          <p:cNvCxnSpPr>
            <a:stCxn id="549" idx="1"/>
            <a:endCxn id="561" idx="3"/>
          </p:cNvCxnSpPr>
          <p:nvPr/>
        </p:nvCxnSpPr>
        <p:spPr>
          <a:xfrm flipH="1">
            <a:off x="4100425" y="1711576"/>
            <a:ext cx="457200" cy="643500"/>
          </a:xfrm>
          <a:prstGeom prst="straightConnector1">
            <a:avLst/>
          </a:prstGeom>
          <a:noFill/>
          <a:ln cap="flat" cmpd="sng" w="9525">
            <a:solidFill>
              <a:schemeClr val="dk2"/>
            </a:solidFill>
            <a:prstDash val="dot"/>
            <a:round/>
            <a:headEnd len="med" w="med" type="none"/>
            <a:tailEnd len="med" w="med" type="none"/>
          </a:ln>
        </p:spPr>
      </p:cxn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6" name="Shape 566"/>
        <p:cNvGrpSpPr/>
        <p:nvPr/>
      </p:nvGrpSpPr>
      <p:grpSpPr>
        <a:xfrm>
          <a:off x="0" y="0"/>
          <a:ext cx="0" cy="0"/>
          <a:chOff x="0" y="0"/>
          <a:chExt cx="0" cy="0"/>
        </a:xfrm>
      </p:grpSpPr>
      <p:sp>
        <p:nvSpPr>
          <p:cNvPr id="567" name="Google Shape;567;p34"/>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Phương thức xưởng</a:t>
            </a:r>
            <a:endParaRPr/>
          </a:p>
        </p:txBody>
      </p:sp>
      <p:sp>
        <p:nvSpPr>
          <p:cNvPr id="568" name="Google Shape;568;p34"/>
          <p:cNvSpPr txBox="1"/>
          <p:nvPr>
            <p:ph idx="1" type="body"/>
          </p:nvPr>
        </p:nvSpPr>
        <p:spPr>
          <a:xfrm>
            <a:off x="311700" y="950475"/>
            <a:ext cx="8520600" cy="54183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i="1" lang="en-GB"/>
              <a:t>Factory Method</a:t>
            </a:r>
            <a:endParaRPr i="1"/>
          </a:p>
          <a:p>
            <a:pPr indent="0" lvl="0" marL="0" rtl="0" algn="just">
              <a:spcBef>
                <a:spcPts val="0"/>
              </a:spcBef>
              <a:spcAft>
                <a:spcPts val="0"/>
              </a:spcAft>
              <a:buNone/>
            </a:pPr>
            <a:r>
              <a:rPr lang="en-GB"/>
              <a:t>Thiết lập giao diện để tạo một đối tượng trong cây kế thừa, nhưng để các lớp dưới quyết định tạo đối tượng của lớp nào. Phương thức xưởng cho phép trì hoãn quyết định khởi tạo tới khi định nghĩa lớp dưới.</a:t>
            </a:r>
            <a:endParaRPr/>
          </a:p>
          <a:p>
            <a:pPr indent="0" lvl="0" marL="0" rtl="0" algn="l">
              <a:spcBef>
                <a:spcPts val="0"/>
              </a:spcBef>
              <a:spcAft>
                <a:spcPts val="0"/>
              </a:spcAft>
              <a:buNone/>
            </a:pPr>
            <a:r>
              <a:t/>
            </a:r>
            <a:endParaRPr/>
          </a:p>
        </p:txBody>
      </p:sp>
      <p:sp>
        <p:nvSpPr>
          <p:cNvPr id="569" name="Google Shape;569;p3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3" name="Shape 573"/>
        <p:cNvGrpSpPr/>
        <p:nvPr/>
      </p:nvGrpSpPr>
      <p:grpSpPr>
        <a:xfrm>
          <a:off x="0" y="0"/>
          <a:ext cx="0" cy="0"/>
          <a:chOff x="0" y="0"/>
          <a:chExt cx="0" cy="0"/>
        </a:xfrm>
      </p:grpSpPr>
      <p:sp>
        <p:nvSpPr>
          <p:cNvPr id="574" name="Google Shape;574;p35"/>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Phương thức xưởng: Cấu trúc</a:t>
            </a:r>
            <a:endParaRPr/>
          </a:p>
        </p:txBody>
      </p:sp>
      <p:sp>
        <p:nvSpPr>
          <p:cNvPr id="575" name="Google Shape;575;p3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576" name="Google Shape;576;p35"/>
          <p:cNvSpPr/>
          <p:nvPr/>
        </p:nvSpPr>
        <p:spPr>
          <a:xfrm>
            <a:off x="4676079" y="2392138"/>
            <a:ext cx="2309100" cy="3552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i="1" lang="en-GB" sz="1600"/>
              <a:t>Đối tượng nghiệp vụ</a:t>
            </a:r>
            <a:endParaRPr i="1" sz="1600"/>
          </a:p>
        </p:txBody>
      </p:sp>
      <p:sp>
        <p:nvSpPr>
          <p:cNvPr id="577" name="Google Shape;577;p35"/>
          <p:cNvSpPr/>
          <p:nvPr/>
        </p:nvSpPr>
        <p:spPr>
          <a:xfrm>
            <a:off x="4676082" y="2747047"/>
            <a:ext cx="2309100" cy="6249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i="1" lang="en-GB" sz="1600"/>
              <a:t>Phương thức xưởng</a:t>
            </a:r>
            <a:r>
              <a:rPr i="1" lang="en-GB" sz="1600"/>
              <a:t>()</a:t>
            </a:r>
            <a:endParaRPr i="1" sz="1600"/>
          </a:p>
          <a:p>
            <a:pPr indent="0" lvl="0" marL="0" rtl="0" algn="l">
              <a:spcBef>
                <a:spcPts val="0"/>
              </a:spcBef>
              <a:spcAft>
                <a:spcPts val="0"/>
              </a:spcAft>
              <a:buNone/>
            </a:pPr>
            <a:r>
              <a:rPr lang="en-GB" sz="1600"/>
              <a:t>Phương thức khác()</a:t>
            </a:r>
            <a:endParaRPr sz="1600"/>
          </a:p>
        </p:txBody>
      </p:sp>
      <p:sp>
        <p:nvSpPr>
          <p:cNvPr id="578" name="Google Shape;578;p35"/>
          <p:cNvSpPr/>
          <p:nvPr/>
        </p:nvSpPr>
        <p:spPr>
          <a:xfrm>
            <a:off x="4358951" y="4222850"/>
            <a:ext cx="2168400" cy="3552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Lớp A</a:t>
            </a:r>
            <a:endParaRPr sz="1600"/>
          </a:p>
        </p:txBody>
      </p:sp>
      <p:sp>
        <p:nvSpPr>
          <p:cNvPr id="579" name="Google Shape;579;p35"/>
          <p:cNvSpPr/>
          <p:nvPr/>
        </p:nvSpPr>
        <p:spPr>
          <a:xfrm>
            <a:off x="4358950" y="4577754"/>
            <a:ext cx="2168400" cy="3990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lang="en-GB" sz="1600"/>
              <a:t>Phương thức xưởng</a:t>
            </a:r>
            <a:r>
              <a:rPr lang="en-GB" sz="1600"/>
              <a:t>()</a:t>
            </a:r>
            <a:endParaRPr sz="1600"/>
          </a:p>
        </p:txBody>
      </p:sp>
      <p:sp>
        <p:nvSpPr>
          <p:cNvPr id="580" name="Google Shape;580;p35"/>
          <p:cNvSpPr/>
          <p:nvPr/>
        </p:nvSpPr>
        <p:spPr>
          <a:xfrm>
            <a:off x="5524017" y="3381090"/>
            <a:ext cx="130800" cy="1116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35"/>
          <p:cNvSpPr/>
          <p:nvPr/>
        </p:nvSpPr>
        <p:spPr>
          <a:xfrm>
            <a:off x="1418122" y="2392129"/>
            <a:ext cx="1415400" cy="3552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Sản phẩm</a:t>
            </a:r>
            <a:endParaRPr sz="1600"/>
          </a:p>
        </p:txBody>
      </p:sp>
      <p:sp>
        <p:nvSpPr>
          <p:cNvPr id="582" name="Google Shape;582;p35"/>
          <p:cNvSpPr/>
          <p:nvPr/>
        </p:nvSpPr>
        <p:spPr>
          <a:xfrm>
            <a:off x="382925" y="4219750"/>
            <a:ext cx="1594500" cy="3552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Sản phẩm A</a:t>
            </a:r>
            <a:endParaRPr sz="1600"/>
          </a:p>
        </p:txBody>
      </p:sp>
      <p:sp>
        <p:nvSpPr>
          <p:cNvPr id="583" name="Google Shape;583;p35"/>
          <p:cNvSpPr/>
          <p:nvPr/>
        </p:nvSpPr>
        <p:spPr>
          <a:xfrm>
            <a:off x="1757733" y="2754062"/>
            <a:ext cx="130800" cy="1116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84" name="Google Shape;584;p35"/>
          <p:cNvCxnSpPr>
            <a:stCxn id="578" idx="1"/>
            <a:endCxn id="582" idx="3"/>
          </p:cNvCxnSpPr>
          <p:nvPr/>
        </p:nvCxnSpPr>
        <p:spPr>
          <a:xfrm rot="10800000">
            <a:off x="1977551" y="4397450"/>
            <a:ext cx="2381400" cy="3000"/>
          </a:xfrm>
          <a:prstGeom prst="straightConnector1">
            <a:avLst/>
          </a:prstGeom>
          <a:noFill/>
          <a:ln cap="flat" cmpd="sng" w="9525">
            <a:solidFill>
              <a:schemeClr val="dk2"/>
            </a:solidFill>
            <a:prstDash val="dash"/>
            <a:round/>
            <a:headEnd len="med" w="med" type="none"/>
            <a:tailEnd len="med" w="med" type="stealth"/>
          </a:ln>
        </p:spPr>
      </p:cxnSp>
      <p:cxnSp>
        <p:nvCxnSpPr>
          <p:cNvPr id="585" name="Google Shape;585;p35"/>
          <p:cNvCxnSpPr>
            <a:stCxn id="576" idx="1"/>
            <a:endCxn id="581" idx="3"/>
          </p:cNvCxnSpPr>
          <p:nvPr/>
        </p:nvCxnSpPr>
        <p:spPr>
          <a:xfrm rot="10800000">
            <a:off x="2833479" y="2569738"/>
            <a:ext cx="1842600" cy="0"/>
          </a:xfrm>
          <a:prstGeom prst="straightConnector1">
            <a:avLst/>
          </a:prstGeom>
          <a:noFill/>
          <a:ln cap="flat" cmpd="sng" w="9525">
            <a:solidFill>
              <a:schemeClr val="dk2"/>
            </a:solidFill>
            <a:prstDash val="dash"/>
            <a:round/>
            <a:headEnd len="med" w="med" type="none"/>
            <a:tailEnd len="med" w="med" type="stealth"/>
          </a:ln>
        </p:spPr>
      </p:cxnSp>
      <p:sp>
        <p:nvSpPr>
          <p:cNvPr id="586" name="Google Shape;586;p35"/>
          <p:cNvSpPr txBox="1"/>
          <p:nvPr/>
        </p:nvSpPr>
        <p:spPr>
          <a:xfrm>
            <a:off x="3305608" y="4051175"/>
            <a:ext cx="974100" cy="35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&lt;&lt;</a:t>
            </a:r>
            <a:r>
              <a:rPr lang="en-GB"/>
              <a:t>tạo</a:t>
            </a:r>
            <a:r>
              <a:rPr lang="en-GB"/>
              <a:t>&gt;&gt;</a:t>
            </a:r>
            <a:endParaRPr/>
          </a:p>
        </p:txBody>
      </p:sp>
      <p:sp>
        <p:nvSpPr>
          <p:cNvPr id="587" name="Google Shape;587;p35"/>
          <p:cNvSpPr txBox="1"/>
          <p:nvPr/>
        </p:nvSpPr>
        <p:spPr>
          <a:xfrm>
            <a:off x="3059724" y="1081700"/>
            <a:ext cx="1317300" cy="35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&lt;&lt;</a:t>
            </a:r>
            <a:r>
              <a:rPr lang="en-GB"/>
              <a:t>sử dụng</a:t>
            </a:r>
            <a:r>
              <a:rPr lang="en-GB"/>
              <a:t>&gt;&gt;</a:t>
            </a:r>
            <a:endParaRPr/>
          </a:p>
        </p:txBody>
      </p:sp>
      <p:sp>
        <p:nvSpPr>
          <p:cNvPr id="588" name="Google Shape;588;p35"/>
          <p:cNvSpPr/>
          <p:nvPr/>
        </p:nvSpPr>
        <p:spPr>
          <a:xfrm>
            <a:off x="5111992" y="1249129"/>
            <a:ext cx="1415400" cy="3552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Ứng dụng</a:t>
            </a:r>
            <a:endParaRPr sz="1600"/>
          </a:p>
        </p:txBody>
      </p:sp>
      <p:cxnSp>
        <p:nvCxnSpPr>
          <p:cNvPr id="589" name="Google Shape;589;p35"/>
          <p:cNvCxnSpPr>
            <a:endCxn id="581" idx="0"/>
          </p:cNvCxnSpPr>
          <p:nvPr/>
        </p:nvCxnSpPr>
        <p:spPr>
          <a:xfrm flipH="1">
            <a:off x="2125822" y="1426729"/>
            <a:ext cx="2949900" cy="965400"/>
          </a:xfrm>
          <a:prstGeom prst="bentConnector2">
            <a:avLst/>
          </a:prstGeom>
          <a:noFill/>
          <a:ln cap="flat" cmpd="sng" w="9525">
            <a:solidFill>
              <a:schemeClr val="dk2"/>
            </a:solidFill>
            <a:prstDash val="dash"/>
            <a:round/>
            <a:headEnd len="med" w="med" type="none"/>
            <a:tailEnd len="med" w="med" type="stealth"/>
          </a:ln>
        </p:spPr>
      </p:cxnSp>
      <p:sp>
        <p:nvSpPr>
          <p:cNvPr id="590" name="Google Shape;590;p35"/>
          <p:cNvSpPr txBox="1"/>
          <p:nvPr/>
        </p:nvSpPr>
        <p:spPr>
          <a:xfrm>
            <a:off x="3364525" y="2224700"/>
            <a:ext cx="974100" cy="35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&lt;&lt;</a:t>
            </a:r>
            <a:r>
              <a:rPr lang="en-GB"/>
              <a:t>tạo&gt;&gt;</a:t>
            </a:r>
            <a:endParaRPr/>
          </a:p>
        </p:txBody>
      </p:sp>
      <p:cxnSp>
        <p:nvCxnSpPr>
          <p:cNvPr id="591" name="Google Shape;591;p35"/>
          <p:cNvCxnSpPr>
            <a:stCxn id="588" idx="2"/>
            <a:endCxn id="576" idx="0"/>
          </p:cNvCxnSpPr>
          <p:nvPr/>
        </p:nvCxnSpPr>
        <p:spPr>
          <a:xfrm>
            <a:off x="5819692" y="1604329"/>
            <a:ext cx="10800" cy="787800"/>
          </a:xfrm>
          <a:prstGeom prst="straightConnector1">
            <a:avLst/>
          </a:prstGeom>
          <a:noFill/>
          <a:ln cap="flat" cmpd="sng" w="9525">
            <a:solidFill>
              <a:schemeClr val="dk2"/>
            </a:solidFill>
            <a:prstDash val="dash"/>
            <a:round/>
            <a:headEnd len="med" w="med" type="none"/>
            <a:tailEnd len="med" w="med" type="stealth"/>
          </a:ln>
        </p:spPr>
      </p:cxnSp>
      <p:sp>
        <p:nvSpPr>
          <p:cNvPr id="592" name="Google Shape;592;p35"/>
          <p:cNvSpPr txBox="1"/>
          <p:nvPr/>
        </p:nvSpPr>
        <p:spPr>
          <a:xfrm>
            <a:off x="5802924" y="1767500"/>
            <a:ext cx="1317300" cy="35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&lt;&lt;sử dụng&gt;&gt;</a:t>
            </a:r>
            <a:endParaRPr/>
          </a:p>
        </p:txBody>
      </p:sp>
      <p:sp>
        <p:nvSpPr>
          <p:cNvPr id="593" name="Google Shape;593;p35"/>
          <p:cNvSpPr/>
          <p:nvPr/>
        </p:nvSpPr>
        <p:spPr>
          <a:xfrm>
            <a:off x="2227050" y="5057950"/>
            <a:ext cx="1522500" cy="3552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Sản phẩm </a:t>
            </a:r>
            <a:r>
              <a:rPr lang="en-GB" sz="1600"/>
              <a:t>B</a:t>
            </a:r>
            <a:endParaRPr sz="1600"/>
          </a:p>
        </p:txBody>
      </p:sp>
      <p:sp>
        <p:nvSpPr>
          <p:cNvPr id="594" name="Google Shape;594;p35"/>
          <p:cNvSpPr/>
          <p:nvPr/>
        </p:nvSpPr>
        <p:spPr>
          <a:xfrm>
            <a:off x="6492560" y="5137242"/>
            <a:ext cx="2309100" cy="3552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Lớp </a:t>
            </a:r>
            <a:r>
              <a:rPr lang="en-GB" sz="1600"/>
              <a:t>B</a:t>
            </a:r>
            <a:endParaRPr sz="1600"/>
          </a:p>
        </p:txBody>
      </p:sp>
      <p:sp>
        <p:nvSpPr>
          <p:cNvPr id="595" name="Google Shape;595;p35"/>
          <p:cNvSpPr/>
          <p:nvPr/>
        </p:nvSpPr>
        <p:spPr>
          <a:xfrm>
            <a:off x="6492559" y="5492151"/>
            <a:ext cx="2309100" cy="3990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lang="en-GB" sz="1600"/>
              <a:t>Phương thức xưởng()</a:t>
            </a:r>
            <a:endParaRPr sz="1600"/>
          </a:p>
        </p:txBody>
      </p:sp>
      <p:sp>
        <p:nvSpPr>
          <p:cNvPr id="596" name="Google Shape;596;p35"/>
          <p:cNvSpPr/>
          <p:nvPr/>
        </p:nvSpPr>
        <p:spPr>
          <a:xfrm>
            <a:off x="2443533" y="2754062"/>
            <a:ext cx="130800" cy="1116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97" name="Google Shape;597;p35"/>
          <p:cNvCxnSpPr>
            <a:stCxn id="582" idx="0"/>
            <a:endCxn id="583" idx="3"/>
          </p:cNvCxnSpPr>
          <p:nvPr/>
        </p:nvCxnSpPr>
        <p:spPr>
          <a:xfrm rot="-5400000">
            <a:off x="824525" y="3221200"/>
            <a:ext cx="1354200" cy="642900"/>
          </a:xfrm>
          <a:prstGeom prst="bentConnector3">
            <a:avLst>
              <a:gd fmla="val 49996" name="adj1"/>
            </a:avLst>
          </a:prstGeom>
          <a:noFill/>
          <a:ln cap="flat" cmpd="sng" w="9525">
            <a:solidFill>
              <a:schemeClr val="dk2"/>
            </a:solidFill>
            <a:prstDash val="solid"/>
            <a:round/>
            <a:headEnd len="med" w="med" type="none"/>
            <a:tailEnd len="med" w="med" type="none"/>
          </a:ln>
        </p:spPr>
      </p:cxnSp>
      <p:cxnSp>
        <p:nvCxnSpPr>
          <p:cNvPr id="598" name="Google Shape;598;p35"/>
          <p:cNvCxnSpPr>
            <a:endCxn id="596" idx="3"/>
          </p:cNvCxnSpPr>
          <p:nvPr/>
        </p:nvCxnSpPr>
        <p:spPr>
          <a:xfrm flipH="1" rot="5400000">
            <a:off x="1610433" y="3764162"/>
            <a:ext cx="2116200" cy="319200"/>
          </a:xfrm>
          <a:prstGeom prst="bentConnector3">
            <a:avLst>
              <a:gd fmla="val 50000" name="adj1"/>
            </a:avLst>
          </a:prstGeom>
          <a:noFill/>
          <a:ln cap="flat" cmpd="sng" w="9525">
            <a:solidFill>
              <a:schemeClr val="dk2"/>
            </a:solidFill>
            <a:prstDash val="solid"/>
            <a:round/>
            <a:headEnd len="med" w="med" type="none"/>
            <a:tailEnd len="med" w="med" type="none"/>
          </a:ln>
        </p:spPr>
      </p:cxnSp>
      <p:sp>
        <p:nvSpPr>
          <p:cNvPr id="599" name="Google Shape;599;p35"/>
          <p:cNvSpPr/>
          <p:nvPr/>
        </p:nvSpPr>
        <p:spPr>
          <a:xfrm>
            <a:off x="6743217" y="3381090"/>
            <a:ext cx="130800" cy="1116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00" name="Google Shape;600;p35"/>
          <p:cNvCxnSpPr>
            <a:stCxn id="578" idx="0"/>
            <a:endCxn id="580" idx="3"/>
          </p:cNvCxnSpPr>
          <p:nvPr/>
        </p:nvCxnSpPr>
        <p:spPr>
          <a:xfrm rot="-5400000">
            <a:off x="5151251" y="3784550"/>
            <a:ext cx="730200" cy="146400"/>
          </a:xfrm>
          <a:prstGeom prst="bentConnector3">
            <a:avLst>
              <a:gd fmla="val 49997" name="adj1"/>
            </a:avLst>
          </a:prstGeom>
          <a:noFill/>
          <a:ln cap="flat" cmpd="sng" w="9525">
            <a:solidFill>
              <a:schemeClr val="dk2"/>
            </a:solidFill>
            <a:prstDash val="solid"/>
            <a:round/>
            <a:headEnd len="med" w="med" type="none"/>
            <a:tailEnd len="med" w="med" type="none"/>
          </a:ln>
        </p:spPr>
      </p:cxnSp>
      <p:cxnSp>
        <p:nvCxnSpPr>
          <p:cNvPr id="601" name="Google Shape;601;p35"/>
          <p:cNvCxnSpPr>
            <a:stCxn id="594" idx="0"/>
            <a:endCxn id="599" idx="3"/>
          </p:cNvCxnSpPr>
          <p:nvPr/>
        </p:nvCxnSpPr>
        <p:spPr>
          <a:xfrm flipH="1" rot="5400000">
            <a:off x="6405560" y="3895692"/>
            <a:ext cx="1644600" cy="838500"/>
          </a:xfrm>
          <a:prstGeom prst="bentConnector3">
            <a:avLst>
              <a:gd fmla="val 49999" name="adj1"/>
            </a:avLst>
          </a:prstGeom>
          <a:noFill/>
          <a:ln cap="flat" cmpd="sng" w="9525">
            <a:solidFill>
              <a:schemeClr val="dk2"/>
            </a:solidFill>
            <a:prstDash val="solid"/>
            <a:round/>
            <a:headEnd len="med" w="med" type="none"/>
            <a:tailEnd len="med" w="med" type="none"/>
          </a:ln>
        </p:spPr>
      </p:cxnSp>
      <p:sp>
        <p:nvSpPr>
          <p:cNvPr id="602" name="Google Shape;602;p35"/>
          <p:cNvSpPr txBox="1"/>
          <p:nvPr/>
        </p:nvSpPr>
        <p:spPr>
          <a:xfrm>
            <a:off x="5134408" y="5270375"/>
            <a:ext cx="974100" cy="35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&lt;&lt;tạo&gt;&gt;</a:t>
            </a:r>
            <a:endParaRPr/>
          </a:p>
        </p:txBody>
      </p:sp>
      <p:cxnSp>
        <p:nvCxnSpPr>
          <p:cNvPr id="603" name="Google Shape;603;p35"/>
          <p:cNvCxnSpPr>
            <a:stCxn id="595" idx="1"/>
            <a:endCxn id="593" idx="3"/>
          </p:cNvCxnSpPr>
          <p:nvPr/>
        </p:nvCxnSpPr>
        <p:spPr>
          <a:xfrm rot="10800000">
            <a:off x="3749659" y="5235651"/>
            <a:ext cx="2742900" cy="456000"/>
          </a:xfrm>
          <a:prstGeom prst="bentConnector3">
            <a:avLst>
              <a:gd fmla="val 50002" name="adj1"/>
            </a:avLst>
          </a:prstGeom>
          <a:noFill/>
          <a:ln cap="flat" cmpd="sng" w="9525">
            <a:solidFill>
              <a:schemeClr val="dk2"/>
            </a:solidFill>
            <a:prstDash val="dash"/>
            <a:round/>
            <a:headEnd len="med" w="med" type="none"/>
            <a:tailEnd len="med" w="med" type="stealth"/>
          </a:ln>
        </p:spPr>
      </p:cxn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sp>
        <p:nvSpPr>
          <p:cNvPr id="608" name="Google Shape;608;p36"/>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Phương thức xưởng: </a:t>
            </a:r>
            <a:r>
              <a:rPr lang="en-GB"/>
              <a:t>Hành vi</a:t>
            </a:r>
            <a:endParaRPr/>
          </a:p>
        </p:txBody>
      </p:sp>
      <p:sp>
        <p:nvSpPr>
          <p:cNvPr id="609" name="Google Shape;609;p3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610" name="Google Shape;610;p36"/>
          <p:cNvSpPr/>
          <p:nvPr/>
        </p:nvSpPr>
        <p:spPr>
          <a:xfrm>
            <a:off x="1461911" y="1256952"/>
            <a:ext cx="12915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u="sng"/>
              <a:t>:Ứng dụng</a:t>
            </a:r>
            <a:endParaRPr sz="1600" u="sng"/>
          </a:p>
        </p:txBody>
      </p:sp>
      <p:cxnSp>
        <p:nvCxnSpPr>
          <p:cNvPr id="611" name="Google Shape;611;p36"/>
          <p:cNvCxnSpPr/>
          <p:nvPr/>
        </p:nvCxnSpPr>
        <p:spPr>
          <a:xfrm>
            <a:off x="2107650" y="1579451"/>
            <a:ext cx="0" cy="4022400"/>
          </a:xfrm>
          <a:prstGeom prst="straightConnector1">
            <a:avLst/>
          </a:prstGeom>
          <a:noFill/>
          <a:ln cap="flat" cmpd="sng" w="9525">
            <a:solidFill>
              <a:schemeClr val="dk2"/>
            </a:solidFill>
            <a:prstDash val="dash"/>
            <a:round/>
            <a:headEnd len="med" w="med" type="none"/>
            <a:tailEnd len="med" w="med" type="none"/>
          </a:ln>
        </p:spPr>
      </p:cxnSp>
      <p:sp>
        <p:nvSpPr>
          <p:cNvPr id="612" name="Google Shape;612;p36"/>
          <p:cNvSpPr/>
          <p:nvPr/>
        </p:nvSpPr>
        <p:spPr>
          <a:xfrm>
            <a:off x="488425" y="2527325"/>
            <a:ext cx="129900" cy="1299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13" name="Google Shape;613;p36"/>
          <p:cNvSpPr/>
          <p:nvPr/>
        </p:nvSpPr>
        <p:spPr>
          <a:xfrm>
            <a:off x="2027175" y="2470832"/>
            <a:ext cx="130800" cy="475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14" name="Google Shape;614;p36"/>
          <p:cNvCxnSpPr>
            <a:stCxn id="612" idx="6"/>
          </p:cNvCxnSpPr>
          <p:nvPr/>
        </p:nvCxnSpPr>
        <p:spPr>
          <a:xfrm>
            <a:off x="618325" y="2592275"/>
            <a:ext cx="1387500" cy="0"/>
          </a:xfrm>
          <a:prstGeom prst="straightConnector1">
            <a:avLst/>
          </a:prstGeom>
          <a:noFill/>
          <a:ln cap="flat" cmpd="sng" w="9525">
            <a:solidFill>
              <a:schemeClr val="dk2"/>
            </a:solidFill>
            <a:prstDash val="solid"/>
            <a:round/>
            <a:headEnd len="med" w="med" type="none"/>
            <a:tailEnd len="med" w="med" type="triangle"/>
          </a:ln>
        </p:spPr>
      </p:cxnSp>
      <p:sp>
        <p:nvSpPr>
          <p:cNvPr id="615" name="Google Shape;615;p36"/>
          <p:cNvSpPr/>
          <p:nvPr/>
        </p:nvSpPr>
        <p:spPr>
          <a:xfrm>
            <a:off x="3131964" y="1256950"/>
            <a:ext cx="18567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u="sng"/>
              <a:t>a</a:t>
            </a:r>
            <a:r>
              <a:rPr lang="en-GB" sz="1600" u="sng"/>
              <a:t>:</a:t>
            </a:r>
            <a:r>
              <a:rPr lang="en-GB" sz="1600" u="sng"/>
              <a:t>Lớp A</a:t>
            </a:r>
            <a:endParaRPr sz="1600" u="sng"/>
          </a:p>
        </p:txBody>
      </p:sp>
      <p:cxnSp>
        <p:nvCxnSpPr>
          <p:cNvPr id="616" name="Google Shape;616;p36"/>
          <p:cNvCxnSpPr/>
          <p:nvPr/>
        </p:nvCxnSpPr>
        <p:spPr>
          <a:xfrm>
            <a:off x="4092000" y="1579450"/>
            <a:ext cx="1800" cy="4102800"/>
          </a:xfrm>
          <a:prstGeom prst="straightConnector1">
            <a:avLst/>
          </a:prstGeom>
          <a:noFill/>
          <a:ln cap="flat" cmpd="sng" w="9525">
            <a:solidFill>
              <a:schemeClr val="dk2"/>
            </a:solidFill>
            <a:prstDash val="dash"/>
            <a:round/>
            <a:headEnd len="med" w="med" type="none"/>
            <a:tailEnd len="med" w="med" type="none"/>
          </a:ln>
        </p:spPr>
      </p:cxnSp>
      <p:sp>
        <p:nvSpPr>
          <p:cNvPr id="617" name="Google Shape;617;p36"/>
          <p:cNvSpPr/>
          <p:nvPr/>
        </p:nvSpPr>
        <p:spPr>
          <a:xfrm>
            <a:off x="5043300" y="2704750"/>
            <a:ext cx="16653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u="sng"/>
              <a:t>:</a:t>
            </a:r>
            <a:r>
              <a:rPr lang="en-GB" sz="1600" u="sng"/>
              <a:t>Sản phẩm A</a:t>
            </a:r>
            <a:endParaRPr sz="1600" u="sng"/>
          </a:p>
        </p:txBody>
      </p:sp>
      <p:sp>
        <p:nvSpPr>
          <p:cNvPr id="618" name="Google Shape;618;p36"/>
          <p:cNvSpPr txBox="1"/>
          <p:nvPr/>
        </p:nvSpPr>
        <p:spPr>
          <a:xfrm>
            <a:off x="914000" y="2247800"/>
            <a:ext cx="884100" cy="40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Xử lý()</a:t>
            </a:r>
            <a:endParaRPr>
              <a:solidFill>
                <a:schemeClr val="dk2"/>
              </a:solidFill>
            </a:endParaRPr>
          </a:p>
        </p:txBody>
      </p:sp>
      <p:sp>
        <p:nvSpPr>
          <p:cNvPr id="619" name="Google Shape;619;p36"/>
          <p:cNvSpPr/>
          <p:nvPr/>
        </p:nvSpPr>
        <p:spPr>
          <a:xfrm>
            <a:off x="4028340" y="2623232"/>
            <a:ext cx="130800" cy="475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20" name="Google Shape;620;p36"/>
          <p:cNvCxnSpPr/>
          <p:nvPr/>
        </p:nvCxnSpPr>
        <p:spPr>
          <a:xfrm>
            <a:off x="2155500" y="2806825"/>
            <a:ext cx="1856700" cy="0"/>
          </a:xfrm>
          <a:prstGeom prst="straightConnector1">
            <a:avLst/>
          </a:prstGeom>
          <a:noFill/>
          <a:ln cap="flat" cmpd="sng" w="9525">
            <a:solidFill>
              <a:schemeClr val="dk2"/>
            </a:solidFill>
            <a:prstDash val="solid"/>
            <a:round/>
            <a:headEnd len="med" w="med" type="none"/>
            <a:tailEnd len="med" w="med" type="triangle"/>
          </a:ln>
        </p:spPr>
      </p:cxnSp>
      <p:sp>
        <p:nvSpPr>
          <p:cNvPr id="621" name="Google Shape;621;p36"/>
          <p:cNvSpPr txBox="1"/>
          <p:nvPr/>
        </p:nvSpPr>
        <p:spPr>
          <a:xfrm>
            <a:off x="2742800" y="2400200"/>
            <a:ext cx="1333800" cy="32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Xử lý</a:t>
            </a:r>
            <a:r>
              <a:rPr lang="en-GB">
                <a:solidFill>
                  <a:schemeClr val="dk2"/>
                </a:solidFill>
              </a:rPr>
              <a:t>()</a:t>
            </a:r>
            <a:endParaRPr>
              <a:solidFill>
                <a:schemeClr val="dk2"/>
              </a:solidFill>
            </a:endParaRPr>
          </a:p>
        </p:txBody>
      </p:sp>
      <p:cxnSp>
        <p:nvCxnSpPr>
          <p:cNvPr id="622" name="Google Shape;622;p36"/>
          <p:cNvCxnSpPr>
            <a:stCxn id="619" idx="3"/>
            <a:endCxn id="617" idx="1"/>
          </p:cNvCxnSpPr>
          <p:nvPr/>
        </p:nvCxnSpPr>
        <p:spPr>
          <a:xfrm>
            <a:off x="4159140" y="2861132"/>
            <a:ext cx="884100" cy="4800"/>
          </a:xfrm>
          <a:prstGeom prst="straightConnector1">
            <a:avLst/>
          </a:prstGeom>
          <a:noFill/>
          <a:ln cap="flat" cmpd="sng" w="9525">
            <a:solidFill>
              <a:schemeClr val="dk2"/>
            </a:solidFill>
            <a:prstDash val="solid"/>
            <a:round/>
            <a:headEnd len="med" w="med" type="none"/>
            <a:tailEnd len="med" w="med" type="triangle"/>
          </a:ln>
        </p:spPr>
      </p:cxnSp>
      <p:sp>
        <p:nvSpPr>
          <p:cNvPr id="623" name="Google Shape;623;p36"/>
          <p:cNvSpPr txBox="1"/>
          <p:nvPr/>
        </p:nvSpPr>
        <p:spPr>
          <a:xfrm>
            <a:off x="4190600" y="2532635"/>
            <a:ext cx="960300" cy="40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&lt;&lt;tạo&gt;&gt;</a:t>
            </a:r>
            <a:endParaRPr>
              <a:solidFill>
                <a:schemeClr val="dk2"/>
              </a:solidFill>
            </a:endParaRPr>
          </a:p>
        </p:txBody>
      </p:sp>
      <p:cxnSp>
        <p:nvCxnSpPr>
          <p:cNvPr id="624" name="Google Shape;624;p36"/>
          <p:cNvCxnSpPr/>
          <p:nvPr/>
        </p:nvCxnSpPr>
        <p:spPr>
          <a:xfrm>
            <a:off x="5859600" y="2853717"/>
            <a:ext cx="0" cy="2828100"/>
          </a:xfrm>
          <a:prstGeom prst="straightConnector1">
            <a:avLst/>
          </a:prstGeom>
          <a:noFill/>
          <a:ln cap="flat" cmpd="sng" w="9525">
            <a:solidFill>
              <a:schemeClr val="dk2"/>
            </a:solidFill>
            <a:prstDash val="dash"/>
            <a:round/>
            <a:headEnd len="med" w="med" type="none"/>
            <a:tailEnd len="med" w="med" type="none"/>
          </a:ln>
        </p:spPr>
      </p:cxnSp>
      <p:sp>
        <p:nvSpPr>
          <p:cNvPr id="625" name="Google Shape;625;p36"/>
          <p:cNvSpPr/>
          <p:nvPr/>
        </p:nvSpPr>
        <p:spPr>
          <a:xfrm>
            <a:off x="488425" y="1917725"/>
            <a:ext cx="129900" cy="1299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26" name="Google Shape;626;p36"/>
          <p:cNvSpPr/>
          <p:nvPr/>
        </p:nvSpPr>
        <p:spPr>
          <a:xfrm>
            <a:off x="2027175" y="1861232"/>
            <a:ext cx="130800" cy="475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27" name="Google Shape;627;p36"/>
          <p:cNvCxnSpPr>
            <a:stCxn id="625" idx="6"/>
          </p:cNvCxnSpPr>
          <p:nvPr/>
        </p:nvCxnSpPr>
        <p:spPr>
          <a:xfrm>
            <a:off x="618325" y="1982675"/>
            <a:ext cx="1387500" cy="0"/>
          </a:xfrm>
          <a:prstGeom prst="straightConnector1">
            <a:avLst/>
          </a:prstGeom>
          <a:noFill/>
          <a:ln cap="flat" cmpd="sng" w="9525">
            <a:solidFill>
              <a:schemeClr val="dk2"/>
            </a:solidFill>
            <a:prstDash val="solid"/>
            <a:round/>
            <a:headEnd len="med" w="med" type="none"/>
            <a:tailEnd len="med" w="med" type="triangle"/>
          </a:ln>
        </p:spPr>
      </p:cxnSp>
      <p:sp>
        <p:nvSpPr>
          <p:cNvPr id="628" name="Google Shape;628;p36"/>
          <p:cNvSpPr txBox="1"/>
          <p:nvPr/>
        </p:nvSpPr>
        <p:spPr>
          <a:xfrm>
            <a:off x="609200" y="1638200"/>
            <a:ext cx="1548900" cy="40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Sử dụng</a:t>
            </a:r>
            <a:r>
              <a:rPr lang="en-GB">
                <a:solidFill>
                  <a:schemeClr val="dk2"/>
                </a:solidFill>
              </a:rPr>
              <a:t>(</a:t>
            </a:r>
            <a:r>
              <a:rPr lang="en-GB">
                <a:solidFill>
                  <a:schemeClr val="dk2"/>
                </a:solidFill>
              </a:rPr>
              <a:t>a</a:t>
            </a:r>
            <a:r>
              <a:rPr lang="en-GB">
                <a:solidFill>
                  <a:schemeClr val="dk2"/>
                </a:solidFill>
              </a:rPr>
              <a:t>)</a:t>
            </a:r>
            <a:endParaRPr>
              <a:solidFill>
                <a:schemeClr val="dk2"/>
              </a:solidFill>
            </a:endParaRPr>
          </a:p>
        </p:txBody>
      </p:sp>
      <p:sp>
        <p:nvSpPr>
          <p:cNvPr id="629" name="Google Shape;629;p36"/>
          <p:cNvSpPr/>
          <p:nvPr/>
        </p:nvSpPr>
        <p:spPr>
          <a:xfrm>
            <a:off x="5265564" y="1256950"/>
            <a:ext cx="18567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u="sng"/>
              <a:t>b</a:t>
            </a:r>
            <a:r>
              <a:rPr lang="en-GB" sz="1600" u="sng"/>
              <a:t>:Lớp </a:t>
            </a:r>
            <a:r>
              <a:rPr lang="en-GB" sz="1600" u="sng"/>
              <a:t>B</a:t>
            </a:r>
            <a:endParaRPr sz="1600" u="sng"/>
          </a:p>
        </p:txBody>
      </p:sp>
      <p:cxnSp>
        <p:nvCxnSpPr>
          <p:cNvPr id="630" name="Google Shape;630;p36"/>
          <p:cNvCxnSpPr/>
          <p:nvPr/>
        </p:nvCxnSpPr>
        <p:spPr>
          <a:xfrm>
            <a:off x="6225600" y="1579450"/>
            <a:ext cx="0" cy="4102500"/>
          </a:xfrm>
          <a:prstGeom prst="straightConnector1">
            <a:avLst/>
          </a:prstGeom>
          <a:noFill/>
          <a:ln cap="flat" cmpd="sng" w="9525">
            <a:solidFill>
              <a:schemeClr val="dk2"/>
            </a:solidFill>
            <a:prstDash val="dash"/>
            <a:round/>
            <a:headEnd len="med" w="med" type="none"/>
            <a:tailEnd len="med" w="med" type="none"/>
          </a:ln>
        </p:spPr>
      </p:cxnSp>
      <p:sp>
        <p:nvSpPr>
          <p:cNvPr id="631" name="Google Shape;631;p36"/>
          <p:cNvSpPr/>
          <p:nvPr/>
        </p:nvSpPr>
        <p:spPr>
          <a:xfrm>
            <a:off x="488425" y="3975125"/>
            <a:ext cx="129900" cy="1299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32" name="Google Shape;632;p36"/>
          <p:cNvSpPr/>
          <p:nvPr/>
        </p:nvSpPr>
        <p:spPr>
          <a:xfrm>
            <a:off x="2027175" y="3974867"/>
            <a:ext cx="130800" cy="475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33" name="Google Shape;633;p36"/>
          <p:cNvCxnSpPr>
            <a:stCxn id="631" idx="6"/>
          </p:cNvCxnSpPr>
          <p:nvPr/>
        </p:nvCxnSpPr>
        <p:spPr>
          <a:xfrm>
            <a:off x="618325" y="4040075"/>
            <a:ext cx="1387500" cy="0"/>
          </a:xfrm>
          <a:prstGeom prst="straightConnector1">
            <a:avLst/>
          </a:prstGeom>
          <a:noFill/>
          <a:ln cap="flat" cmpd="sng" w="9525">
            <a:solidFill>
              <a:schemeClr val="dk2"/>
            </a:solidFill>
            <a:prstDash val="solid"/>
            <a:round/>
            <a:headEnd len="med" w="med" type="none"/>
            <a:tailEnd len="med" w="med" type="triangle"/>
          </a:ln>
        </p:spPr>
      </p:cxnSp>
      <p:sp>
        <p:nvSpPr>
          <p:cNvPr id="634" name="Google Shape;634;p36"/>
          <p:cNvSpPr txBox="1"/>
          <p:nvPr/>
        </p:nvSpPr>
        <p:spPr>
          <a:xfrm>
            <a:off x="914000" y="3695600"/>
            <a:ext cx="884100" cy="40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Xử lý()</a:t>
            </a:r>
            <a:endParaRPr>
              <a:solidFill>
                <a:schemeClr val="dk2"/>
              </a:solidFill>
            </a:endParaRPr>
          </a:p>
        </p:txBody>
      </p:sp>
      <p:sp>
        <p:nvSpPr>
          <p:cNvPr id="635" name="Google Shape;635;p36"/>
          <p:cNvSpPr/>
          <p:nvPr/>
        </p:nvSpPr>
        <p:spPr>
          <a:xfrm>
            <a:off x="6161940" y="4071032"/>
            <a:ext cx="130800" cy="475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36" name="Google Shape;636;p36"/>
          <p:cNvCxnSpPr/>
          <p:nvPr/>
        </p:nvCxnSpPr>
        <p:spPr>
          <a:xfrm>
            <a:off x="2155500" y="4254625"/>
            <a:ext cx="3984600" cy="0"/>
          </a:xfrm>
          <a:prstGeom prst="straightConnector1">
            <a:avLst/>
          </a:prstGeom>
          <a:noFill/>
          <a:ln cap="flat" cmpd="sng" w="9525">
            <a:solidFill>
              <a:schemeClr val="dk2"/>
            </a:solidFill>
            <a:prstDash val="solid"/>
            <a:round/>
            <a:headEnd len="med" w="med" type="none"/>
            <a:tailEnd len="med" w="med" type="triangle"/>
          </a:ln>
        </p:spPr>
      </p:cxnSp>
      <p:sp>
        <p:nvSpPr>
          <p:cNvPr id="637" name="Google Shape;637;p36"/>
          <p:cNvSpPr txBox="1"/>
          <p:nvPr/>
        </p:nvSpPr>
        <p:spPr>
          <a:xfrm>
            <a:off x="3352400" y="3848000"/>
            <a:ext cx="884100" cy="32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Xử lý()</a:t>
            </a:r>
            <a:endParaRPr>
              <a:solidFill>
                <a:schemeClr val="dk2"/>
              </a:solidFill>
            </a:endParaRPr>
          </a:p>
        </p:txBody>
      </p:sp>
      <p:sp>
        <p:nvSpPr>
          <p:cNvPr id="638" name="Google Shape;638;p36"/>
          <p:cNvSpPr/>
          <p:nvPr/>
        </p:nvSpPr>
        <p:spPr>
          <a:xfrm>
            <a:off x="7176900" y="4228750"/>
            <a:ext cx="16653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u="sng"/>
              <a:t>:Sản phẩm </a:t>
            </a:r>
            <a:r>
              <a:rPr lang="en-GB" sz="1600" u="sng"/>
              <a:t>B</a:t>
            </a:r>
            <a:endParaRPr sz="1600" u="sng"/>
          </a:p>
        </p:txBody>
      </p:sp>
      <p:cxnSp>
        <p:nvCxnSpPr>
          <p:cNvPr id="639" name="Google Shape;639;p36"/>
          <p:cNvCxnSpPr>
            <a:endCxn id="638" idx="1"/>
          </p:cNvCxnSpPr>
          <p:nvPr/>
        </p:nvCxnSpPr>
        <p:spPr>
          <a:xfrm>
            <a:off x="6292800" y="4385200"/>
            <a:ext cx="884100" cy="4800"/>
          </a:xfrm>
          <a:prstGeom prst="straightConnector1">
            <a:avLst/>
          </a:prstGeom>
          <a:noFill/>
          <a:ln cap="flat" cmpd="sng" w="9525">
            <a:solidFill>
              <a:schemeClr val="dk2"/>
            </a:solidFill>
            <a:prstDash val="solid"/>
            <a:round/>
            <a:headEnd len="med" w="med" type="none"/>
            <a:tailEnd len="med" w="med" type="triangle"/>
          </a:ln>
        </p:spPr>
      </p:cxnSp>
      <p:sp>
        <p:nvSpPr>
          <p:cNvPr id="640" name="Google Shape;640;p36"/>
          <p:cNvSpPr txBox="1"/>
          <p:nvPr/>
        </p:nvSpPr>
        <p:spPr>
          <a:xfrm>
            <a:off x="6324200" y="4056635"/>
            <a:ext cx="960300" cy="40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&lt;&lt;tạo&gt;&gt;</a:t>
            </a:r>
            <a:endParaRPr>
              <a:solidFill>
                <a:schemeClr val="dk2"/>
              </a:solidFill>
            </a:endParaRPr>
          </a:p>
        </p:txBody>
      </p:sp>
      <p:cxnSp>
        <p:nvCxnSpPr>
          <p:cNvPr id="641" name="Google Shape;641;p36"/>
          <p:cNvCxnSpPr/>
          <p:nvPr/>
        </p:nvCxnSpPr>
        <p:spPr>
          <a:xfrm flipH="1">
            <a:off x="7997250" y="4607401"/>
            <a:ext cx="12300" cy="1009800"/>
          </a:xfrm>
          <a:prstGeom prst="straightConnector1">
            <a:avLst/>
          </a:prstGeom>
          <a:noFill/>
          <a:ln cap="flat" cmpd="sng" w="9525">
            <a:solidFill>
              <a:schemeClr val="dk2"/>
            </a:solidFill>
            <a:prstDash val="dash"/>
            <a:round/>
            <a:headEnd len="med" w="med" type="none"/>
            <a:tailEnd len="med" w="med" type="none"/>
          </a:ln>
        </p:spPr>
      </p:cxnSp>
      <p:sp>
        <p:nvSpPr>
          <p:cNvPr id="642" name="Google Shape;642;p36"/>
          <p:cNvSpPr/>
          <p:nvPr/>
        </p:nvSpPr>
        <p:spPr>
          <a:xfrm>
            <a:off x="488425" y="3289325"/>
            <a:ext cx="129900" cy="1299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43" name="Google Shape;643;p36"/>
          <p:cNvSpPr/>
          <p:nvPr/>
        </p:nvSpPr>
        <p:spPr>
          <a:xfrm>
            <a:off x="2027175" y="3232832"/>
            <a:ext cx="130800" cy="475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44" name="Google Shape;644;p36"/>
          <p:cNvCxnSpPr>
            <a:stCxn id="642" idx="6"/>
          </p:cNvCxnSpPr>
          <p:nvPr/>
        </p:nvCxnSpPr>
        <p:spPr>
          <a:xfrm>
            <a:off x="618325" y="3354275"/>
            <a:ext cx="1387500" cy="0"/>
          </a:xfrm>
          <a:prstGeom prst="straightConnector1">
            <a:avLst/>
          </a:prstGeom>
          <a:noFill/>
          <a:ln cap="flat" cmpd="sng" w="9525">
            <a:solidFill>
              <a:schemeClr val="dk2"/>
            </a:solidFill>
            <a:prstDash val="solid"/>
            <a:round/>
            <a:headEnd len="med" w="med" type="none"/>
            <a:tailEnd len="med" w="med" type="triangle"/>
          </a:ln>
        </p:spPr>
      </p:cxnSp>
      <p:sp>
        <p:nvSpPr>
          <p:cNvPr id="645" name="Google Shape;645;p36"/>
          <p:cNvSpPr txBox="1"/>
          <p:nvPr/>
        </p:nvSpPr>
        <p:spPr>
          <a:xfrm>
            <a:off x="609200" y="3009800"/>
            <a:ext cx="1548900" cy="40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Sử dụng(</a:t>
            </a:r>
            <a:r>
              <a:rPr lang="en-GB">
                <a:solidFill>
                  <a:schemeClr val="dk2"/>
                </a:solidFill>
              </a:rPr>
              <a:t>b</a:t>
            </a:r>
            <a:r>
              <a:rPr lang="en-GB">
                <a:solidFill>
                  <a:schemeClr val="dk2"/>
                </a:solidFill>
              </a:rPr>
              <a:t>)</a:t>
            </a:r>
            <a:endParaRPr>
              <a:solidFill>
                <a:schemeClr val="dk2"/>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9" name="Shape 649"/>
        <p:cNvGrpSpPr/>
        <p:nvPr/>
      </p:nvGrpSpPr>
      <p:grpSpPr>
        <a:xfrm>
          <a:off x="0" y="0"/>
          <a:ext cx="0" cy="0"/>
          <a:chOff x="0" y="0"/>
          <a:chExt cx="0" cy="0"/>
        </a:xfrm>
      </p:grpSpPr>
      <p:sp>
        <p:nvSpPr>
          <p:cNvPr id="650" name="Google Shape;650;p37"/>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Phương thức xưởng</a:t>
            </a:r>
            <a:r>
              <a:rPr lang="en-GB"/>
              <a:t>: Hệ quả</a:t>
            </a:r>
            <a:endParaRPr/>
          </a:p>
        </p:txBody>
      </p:sp>
      <p:sp>
        <p:nvSpPr>
          <p:cNvPr id="651" name="Google Shape;651;p3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652" name="Google Shape;652;p37"/>
          <p:cNvSpPr txBox="1"/>
          <p:nvPr>
            <p:ph idx="1" type="body"/>
          </p:nvPr>
        </p:nvSpPr>
        <p:spPr>
          <a:xfrm>
            <a:off x="311700" y="950475"/>
            <a:ext cx="8520600" cy="5418300"/>
          </a:xfrm>
          <a:prstGeom prst="rect">
            <a:avLst/>
          </a:prstGeom>
        </p:spPr>
        <p:txBody>
          <a:bodyPr anchorCtr="0" anchor="t" bIns="91425" lIns="91425" spcFirstLastPara="1" rIns="91425" wrap="square" tIns="91425">
            <a:noAutofit/>
          </a:bodyPr>
          <a:lstStyle/>
          <a:p>
            <a:pPr indent="-381000" lvl="0" marL="457200" rtl="0" algn="just">
              <a:spcBef>
                <a:spcPts val="0"/>
              </a:spcBef>
              <a:spcAft>
                <a:spcPts val="0"/>
              </a:spcAft>
              <a:buSzPts val="2400"/>
              <a:buChar char="●"/>
            </a:pPr>
            <a:r>
              <a:rPr lang="en-GB"/>
              <a:t>Cung cấp điểm mở rộng cho các lớp dưới, làm tăng tính linh động của việc tạo đối tượng.</a:t>
            </a:r>
            <a:endParaRPr/>
          </a:p>
          <a:p>
            <a:pPr indent="-381000" lvl="0" marL="457200" rtl="0" algn="just">
              <a:spcBef>
                <a:spcPts val="0"/>
              </a:spcBef>
              <a:spcAft>
                <a:spcPts val="0"/>
              </a:spcAft>
              <a:buSzPts val="2400"/>
              <a:buChar char="●"/>
            </a:pPr>
            <a:r>
              <a:rPr lang="en-GB"/>
              <a:t>Có thể hình thành các cây kế thừa song hành - thường gặp khi các lớp trong cây tách 1 phần trách nhiệm của chúng thành các lớp riêng.</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6" name="Shape 656"/>
        <p:cNvGrpSpPr/>
        <p:nvPr/>
      </p:nvGrpSpPr>
      <p:grpSpPr>
        <a:xfrm>
          <a:off x="0" y="0"/>
          <a:ext cx="0" cy="0"/>
          <a:chOff x="0" y="0"/>
          <a:chExt cx="0" cy="0"/>
        </a:xfrm>
      </p:grpSpPr>
      <p:sp>
        <p:nvSpPr>
          <p:cNvPr id="657" name="Google Shape;657;p38"/>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3. Ứng dụng xử lý tài liệu đa định dạng</a:t>
            </a:r>
            <a:endParaRPr/>
          </a:p>
        </p:txBody>
      </p:sp>
      <p:sp>
        <p:nvSpPr>
          <p:cNvPr id="658" name="Google Shape;658;p3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659" name="Google Shape;659;p38"/>
          <p:cNvSpPr/>
          <p:nvPr/>
        </p:nvSpPr>
        <p:spPr>
          <a:xfrm>
            <a:off x="775264" y="1509050"/>
            <a:ext cx="12288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i="1" lang="en-GB" sz="1600">
                <a:solidFill>
                  <a:schemeClr val="dk1"/>
                </a:solidFill>
              </a:rPr>
              <a:t>Document</a:t>
            </a:r>
            <a:endParaRPr i="1" sz="1600"/>
          </a:p>
        </p:txBody>
      </p:sp>
      <p:sp>
        <p:nvSpPr>
          <p:cNvPr id="660" name="Google Shape;660;p38"/>
          <p:cNvSpPr/>
          <p:nvPr/>
        </p:nvSpPr>
        <p:spPr>
          <a:xfrm>
            <a:off x="775250" y="1831275"/>
            <a:ext cx="1228800" cy="11319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lang="en-GB" sz="1600"/>
              <a:t>Open()</a:t>
            </a:r>
            <a:endParaRPr sz="1600"/>
          </a:p>
          <a:p>
            <a:pPr indent="0" lvl="0" marL="0" rtl="0" algn="l">
              <a:spcBef>
                <a:spcPts val="0"/>
              </a:spcBef>
              <a:spcAft>
                <a:spcPts val="0"/>
              </a:spcAft>
              <a:buNone/>
            </a:pPr>
            <a:r>
              <a:rPr lang="en-GB" sz="1600"/>
              <a:t>Close()</a:t>
            </a:r>
            <a:endParaRPr sz="1600"/>
          </a:p>
          <a:p>
            <a:pPr indent="0" lvl="0" marL="0" rtl="0" algn="l">
              <a:spcBef>
                <a:spcPts val="0"/>
              </a:spcBef>
              <a:spcAft>
                <a:spcPts val="0"/>
              </a:spcAft>
              <a:buNone/>
            </a:pPr>
            <a:r>
              <a:rPr lang="en-GB" sz="1600"/>
              <a:t>Save()</a:t>
            </a:r>
            <a:endParaRPr sz="1600"/>
          </a:p>
          <a:p>
            <a:pPr indent="0" lvl="0" marL="0" rtl="0" algn="l">
              <a:spcBef>
                <a:spcPts val="0"/>
              </a:spcBef>
              <a:spcAft>
                <a:spcPts val="0"/>
              </a:spcAft>
              <a:buNone/>
            </a:pPr>
            <a:r>
              <a:rPr lang="en-GB" sz="1600"/>
              <a:t>Revert()</a:t>
            </a:r>
            <a:endParaRPr sz="1600"/>
          </a:p>
        </p:txBody>
      </p:sp>
      <p:sp>
        <p:nvSpPr>
          <p:cNvPr id="661" name="Google Shape;661;p38"/>
          <p:cNvSpPr/>
          <p:nvPr/>
        </p:nvSpPr>
        <p:spPr>
          <a:xfrm>
            <a:off x="3213670" y="1509050"/>
            <a:ext cx="18114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i="1" lang="en-GB" sz="1600">
                <a:solidFill>
                  <a:schemeClr val="dk1"/>
                </a:solidFill>
              </a:rPr>
              <a:t>Application</a:t>
            </a:r>
            <a:endParaRPr i="1" sz="1600"/>
          </a:p>
        </p:txBody>
      </p:sp>
      <p:sp>
        <p:nvSpPr>
          <p:cNvPr id="662" name="Google Shape;662;p38"/>
          <p:cNvSpPr/>
          <p:nvPr/>
        </p:nvSpPr>
        <p:spPr>
          <a:xfrm>
            <a:off x="3213650" y="1831275"/>
            <a:ext cx="1811400" cy="8808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i="1" lang="en-GB" sz="1600"/>
              <a:t>CreateDocument</a:t>
            </a:r>
            <a:r>
              <a:rPr i="1" lang="en-GB" sz="1600"/>
              <a:t>()</a:t>
            </a:r>
            <a:endParaRPr i="1" sz="1600"/>
          </a:p>
          <a:p>
            <a:pPr indent="0" lvl="0" marL="0" rtl="0" algn="l">
              <a:spcBef>
                <a:spcPts val="0"/>
              </a:spcBef>
              <a:spcAft>
                <a:spcPts val="0"/>
              </a:spcAft>
              <a:buNone/>
            </a:pPr>
            <a:r>
              <a:rPr lang="en-GB" sz="1600"/>
              <a:t>NewDocument</a:t>
            </a:r>
            <a:r>
              <a:rPr lang="en-GB" sz="1600"/>
              <a:t>()</a:t>
            </a:r>
            <a:endParaRPr sz="1600"/>
          </a:p>
          <a:p>
            <a:pPr indent="0" lvl="0" marL="0" rtl="0" algn="l">
              <a:spcBef>
                <a:spcPts val="0"/>
              </a:spcBef>
              <a:spcAft>
                <a:spcPts val="0"/>
              </a:spcAft>
              <a:buNone/>
            </a:pPr>
            <a:r>
              <a:rPr lang="en-GB" sz="1600"/>
              <a:t>OpenDocument</a:t>
            </a:r>
            <a:r>
              <a:rPr lang="en-GB" sz="1600"/>
              <a:t>()</a:t>
            </a:r>
            <a:endParaRPr sz="1600"/>
          </a:p>
        </p:txBody>
      </p:sp>
      <p:sp>
        <p:nvSpPr>
          <p:cNvPr id="663" name="Google Shape;663;p38"/>
          <p:cNvSpPr/>
          <p:nvPr/>
        </p:nvSpPr>
        <p:spPr>
          <a:xfrm>
            <a:off x="5703475" y="1509550"/>
            <a:ext cx="3256200" cy="942300"/>
          </a:xfrm>
          <a:prstGeom prst="foldedCorner">
            <a:avLst>
              <a:gd fmla="val 16667" name="adj"/>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t>Document *doc = CreateDocument();</a:t>
            </a:r>
            <a:endParaRPr/>
          </a:p>
          <a:p>
            <a:pPr indent="0" lvl="0" marL="0" rtl="0" algn="l">
              <a:spcBef>
                <a:spcPts val="0"/>
              </a:spcBef>
              <a:spcAft>
                <a:spcPts val="0"/>
              </a:spcAft>
              <a:buNone/>
            </a:pPr>
            <a:r>
              <a:rPr lang="en-GB"/>
              <a:t>docs.Add(doc);</a:t>
            </a:r>
            <a:endParaRPr/>
          </a:p>
          <a:p>
            <a:pPr indent="0" lvl="0" marL="0" rtl="0" algn="l">
              <a:spcBef>
                <a:spcPts val="0"/>
              </a:spcBef>
              <a:spcAft>
                <a:spcPts val="0"/>
              </a:spcAft>
              <a:buNone/>
            </a:pPr>
            <a:r>
              <a:rPr lang="en-GB"/>
              <a:t>doc-&gt;Open();</a:t>
            </a:r>
            <a:endParaRPr/>
          </a:p>
        </p:txBody>
      </p:sp>
      <p:sp>
        <p:nvSpPr>
          <p:cNvPr id="664" name="Google Shape;664;p38"/>
          <p:cNvSpPr/>
          <p:nvPr/>
        </p:nvSpPr>
        <p:spPr>
          <a:xfrm>
            <a:off x="3137470" y="3642650"/>
            <a:ext cx="18114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solidFill>
                  <a:schemeClr val="dk1"/>
                </a:solidFill>
              </a:rPr>
              <a:t>My</a:t>
            </a:r>
            <a:r>
              <a:rPr lang="en-GB" sz="1600">
                <a:solidFill>
                  <a:schemeClr val="dk1"/>
                </a:solidFill>
              </a:rPr>
              <a:t>Application</a:t>
            </a:r>
            <a:endParaRPr sz="1600"/>
          </a:p>
        </p:txBody>
      </p:sp>
      <p:sp>
        <p:nvSpPr>
          <p:cNvPr id="665" name="Google Shape;665;p38"/>
          <p:cNvSpPr/>
          <p:nvPr/>
        </p:nvSpPr>
        <p:spPr>
          <a:xfrm>
            <a:off x="3137450" y="3964875"/>
            <a:ext cx="1811400" cy="3714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lang="en-GB" sz="1600"/>
              <a:t>CreateDocument()</a:t>
            </a:r>
            <a:endParaRPr sz="1600"/>
          </a:p>
        </p:txBody>
      </p:sp>
      <p:sp>
        <p:nvSpPr>
          <p:cNvPr id="666" name="Google Shape;666;p38"/>
          <p:cNvSpPr/>
          <p:nvPr/>
        </p:nvSpPr>
        <p:spPr>
          <a:xfrm>
            <a:off x="3950965" y="2729277"/>
            <a:ext cx="190825" cy="155050"/>
          </a:xfrm>
          <a:prstGeom prst="flowChartExtra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cxnSp>
        <p:nvCxnSpPr>
          <p:cNvPr id="667" name="Google Shape;667;p38"/>
          <p:cNvCxnSpPr>
            <a:stCxn id="666" idx="2"/>
            <a:endCxn id="664" idx="0"/>
          </p:cNvCxnSpPr>
          <p:nvPr/>
        </p:nvCxnSpPr>
        <p:spPr>
          <a:xfrm flipH="1">
            <a:off x="4043078" y="2884327"/>
            <a:ext cx="3300" cy="758400"/>
          </a:xfrm>
          <a:prstGeom prst="straightConnector1">
            <a:avLst/>
          </a:prstGeom>
          <a:noFill/>
          <a:ln cap="flat" cmpd="sng" w="9525">
            <a:solidFill>
              <a:schemeClr val="dk2"/>
            </a:solidFill>
            <a:prstDash val="solid"/>
            <a:round/>
            <a:headEnd len="med" w="med" type="none"/>
            <a:tailEnd len="med" w="med" type="none"/>
          </a:ln>
        </p:spPr>
      </p:cxnSp>
      <p:sp>
        <p:nvSpPr>
          <p:cNvPr id="668" name="Google Shape;668;p38"/>
          <p:cNvSpPr/>
          <p:nvPr/>
        </p:nvSpPr>
        <p:spPr>
          <a:xfrm>
            <a:off x="663449" y="3642650"/>
            <a:ext cx="13929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solidFill>
                  <a:schemeClr val="dk1"/>
                </a:solidFill>
              </a:rPr>
              <a:t>My</a:t>
            </a:r>
            <a:r>
              <a:rPr lang="en-GB" sz="1600">
                <a:solidFill>
                  <a:schemeClr val="dk1"/>
                </a:solidFill>
              </a:rPr>
              <a:t>Document</a:t>
            </a:r>
            <a:endParaRPr sz="1600"/>
          </a:p>
        </p:txBody>
      </p:sp>
      <p:sp>
        <p:nvSpPr>
          <p:cNvPr id="669" name="Google Shape;669;p38"/>
          <p:cNvSpPr/>
          <p:nvPr/>
        </p:nvSpPr>
        <p:spPr>
          <a:xfrm>
            <a:off x="1264000" y="2977842"/>
            <a:ext cx="190825" cy="155050"/>
          </a:xfrm>
          <a:prstGeom prst="flowChartExtra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cxnSp>
        <p:nvCxnSpPr>
          <p:cNvPr id="670" name="Google Shape;670;p38"/>
          <p:cNvCxnSpPr>
            <a:stCxn id="669" idx="2"/>
            <a:endCxn id="668" idx="0"/>
          </p:cNvCxnSpPr>
          <p:nvPr/>
        </p:nvCxnSpPr>
        <p:spPr>
          <a:xfrm>
            <a:off x="1359413" y="3132892"/>
            <a:ext cx="600" cy="509700"/>
          </a:xfrm>
          <a:prstGeom prst="straightConnector1">
            <a:avLst/>
          </a:prstGeom>
          <a:noFill/>
          <a:ln cap="flat" cmpd="sng" w="9525">
            <a:solidFill>
              <a:schemeClr val="dk2"/>
            </a:solidFill>
            <a:prstDash val="solid"/>
            <a:round/>
            <a:headEnd len="med" w="med" type="none"/>
            <a:tailEnd len="med" w="med" type="none"/>
          </a:ln>
        </p:spPr>
      </p:cxnSp>
      <p:sp>
        <p:nvSpPr>
          <p:cNvPr id="671" name="Google Shape;671;p38"/>
          <p:cNvSpPr/>
          <p:nvPr/>
        </p:nvSpPr>
        <p:spPr>
          <a:xfrm>
            <a:off x="5627275" y="3871750"/>
            <a:ext cx="3256200" cy="464400"/>
          </a:xfrm>
          <a:prstGeom prst="foldedCorner">
            <a:avLst>
              <a:gd fmla="val 16667" name="adj"/>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t>return new</a:t>
            </a:r>
            <a:r>
              <a:rPr lang="en-GB"/>
              <a:t> </a:t>
            </a:r>
            <a:r>
              <a:rPr lang="en-GB"/>
              <a:t>My</a:t>
            </a:r>
            <a:r>
              <a:rPr lang="en-GB"/>
              <a:t>Document();</a:t>
            </a:r>
            <a:endParaRPr/>
          </a:p>
        </p:txBody>
      </p:sp>
      <p:cxnSp>
        <p:nvCxnSpPr>
          <p:cNvPr id="672" name="Google Shape;672;p38"/>
          <p:cNvCxnSpPr>
            <a:stCxn id="659" idx="3"/>
            <a:endCxn id="661" idx="1"/>
          </p:cNvCxnSpPr>
          <p:nvPr/>
        </p:nvCxnSpPr>
        <p:spPr>
          <a:xfrm>
            <a:off x="2004064" y="1670300"/>
            <a:ext cx="1209600" cy="0"/>
          </a:xfrm>
          <a:prstGeom prst="straightConnector1">
            <a:avLst/>
          </a:prstGeom>
          <a:noFill/>
          <a:ln cap="flat" cmpd="sng" w="9525">
            <a:solidFill>
              <a:schemeClr val="dk2"/>
            </a:solidFill>
            <a:prstDash val="solid"/>
            <a:round/>
            <a:headEnd len="med" w="med" type="none"/>
            <a:tailEnd len="med" w="med" type="none"/>
          </a:ln>
        </p:spPr>
      </p:cxnSp>
      <p:cxnSp>
        <p:nvCxnSpPr>
          <p:cNvPr id="673" name="Google Shape;673;p38"/>
          <p:cNvCxnSpPr>
            <a:stCxn id="664" idx="1"/>
            <a:endCxn id="668" idx="3"/>
          </p:cNvCxnSpPr>
          <p:nvPr/>
        </p:nvCxnSpPr>
        <p:spPr>
          <a:xfrm rot="10800000">
            <a:off x="2056270" y="3803900"/>
            <a:ext cx="1081200" cy="0"/>
          </a:xfrm>
          <a:prstGeom prst="straightConnector1">
            <a:avLst/>
          </a:prstGeom>
          <a:noFill/>
          <a:ln cap="flat" cmpd="sng" w="9525">
            <a:solidFill>
              <a:schemeClr val="dk2"/>
            </a:solidFill>
            <a:prstDash val="dash"/>
            <a:round/>
            <a:headEnd len="med" w="med" type="none"/>
            <a:tailEnd len="med" w="med" type="stealth"/>
          </a:ln>
        </p:spPr>
      </p:cxnSp>
      <p:sp>
        <p:nvSpPr>
          <p:cNvPr id="674" name="Google Shape;674;p38"/>
          <p:cNvSpPr txBox="1"/>
          <p:nvPr/>
        </p:nvSpPr>
        <p:spPr>
          <a:xfrm>
            <a:off x="2232729" y="1342574"/>
            <a:ext cx="981000" cy="37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manage</a:t>
            </a:r>
            <a:endParaRPr>
              <a:solidFill>
                <a:schemeClr val="dk2"/>
              </a:solidFill>
            </a:endParaRPr>
          </a:p>
        </p:txBody>
      </p:sp>
      <p:sp>
        <p:nvSpPr>
          <p:cNvPr id="675" name="Google Shape;675;p38"/>
          <p:cNvSpPr txBox="1"/>
          <p:nvPr/>
        </p:nvSpPr>
        <p:spPr>
          <a:xfrm>
            <a:off x="2080324" y="3476175"/>
            <a:ext cx="1228800" cy="37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&lt;&lt;create&gt;&gt;</a:t>
            </a:r>
            <a:endParaRPr>
              <a:solidFill>
                <a:schemeClr val="dk2"/>
              </a:solidFill>
            </a:endParaRPr>
          </a:p>
        </p:txBody>
      </p:sp>
      <p:cxnSp>
        <p:nvCxnSpPr>
          <p:cNvPr id="676" name="Google Shape;676;p38"/>
          <p:cNvCxnSpPr>
            <a:stCxn id="661" idx="3"/>
          </p:cNvCxnSpPr>
          <p:nvPr/>
        </p:nvCxnSpPr>
        <p:spPr>
          <a:xfrm>
            <a:off x="5025070" y="1670300"/>
            <a:ext cx="666600" cy="6300"/>
          </a:xfrm>
          <a:prstGeom prst="straightConnector1">
            <a:avLst/>
          </a:prstGeom>
          <a:noFill/>
          <a:ln cap="flat" cmpd="sng" w="9525">
            <a:solidFill>
              <a:schemeClr val="dk2"/>
            </a:solidFill>
            <a:prstDash val="dot"/>
            <a:round/>
            <a:headEnd len="med" w="med" type="none"/>
            <a:tailEnd len="med" w="med" type="none"/>
          </a:ln>
        </p:spPr>
      </p:cxnSp>
      <p:cxnSp>
        <p:nvCxnSpPr>
          <p:cNvPr id="677" name="Google Shape;677;p38"/>
          <p:cNvCxnSpPr>
            <a:stCxn id="665" idx="3"/>
            <a:endCxn id="671" idx="1"/>
          </p:cNvCxnSpPr>
          <p:nvPr/>
        </p:nvCxnSpPr>
        <p:spPr>
          <a:xfrm flipH="1" rot="10800000">
            <a:off x="4948850" y="4104075"/>
            <a:ext cx="678300" cy="46500"/>
          </a:xfrm>
          <a:prstGeom prst="straightConnector1">
            <a:avLst/>
          </a:prstGeom>
          <a:noFill/>
          <a:ln cap="flat" cmpd="sng" w="9525">
            <a:solidFill>
              <a:schemeClr val="dk2"/>
            </a:solidFill>
            <a:prstDash val="dot"/>
            <a:round/>
            <a:headEnd len="med" w="med" type="none"/>
            <a:tailEnd len="med" w="med" type="none"/>
          </a:ln>
        </p:spPr>
      </p:cxn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1" name="Shape 681"/>
        <p:cNvGrpSpPr/>
        <p:nvPr/>
      </p:nvGrpSpPr>
      <p:grpSpPr>
        <a:xfrm>
          <a:off x="0" y="0"/>
          <a:ext cx="0" cy="0"/>
          <a:chOff x="0" y="0"/>
          <a:chExt cx="0" cy="0"/>
        </a:xfrm>
      </p:grpSpPr>
      <p:sp>
        <p:nvSpPr>
          <p:cNvPr id="682" name="Google Shape;682;p39"/>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4. Xử lý bản vẽ</a:t>
            </a:r>
            <a:endParaRPr/>
          </a:p>
        </p:txBody>
      </p:sp>
      <p:sp>
        <p:nvSpPr>
          <p:cNvPr id="683" name="Google Shape;683;p3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684" name="Google Shape;684;p39"/>
          <p:cNvSpPr/>
          <p:nvPr/>
        </p:nvSpPr>
        <p:spPr>
          <a:xfrm>
            <a:off x="1537270" y="1737650"/>
            <a:ext cx="17601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i="1" lang="en-GB">
                <a:solidFill>
                  <a:schemeClr val="dk1"/>
                </a:solidFill>
              </a:rPr>
              <a:t>Figure</a:t>
            </a:r>
            <a:endParaRPr i="1"/>
          </a:p>
        </p:txBody>
      </p:sp>
      <p:sp>
        <p:nvSpPr>
          <p:cNvPr id="685" name="Google Shape;685;p39"/>
          <p:cNvSpPr/>
          <p:nvPr/>
        </p:nvSpPr>
        <p:spPr>
          <a:xfrm>
            <a:off x="1537250" y="2059875"/>
            <a:ext cx="1760100" cy="4044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i="1" lang="en-GB"/>
              <a:t>CreateManipulator()</a:t>
            </a:r>
            <a:endParaRPr i="1"/>
          </a:p>
        </p:txBody>
      </p:sp>
      <p:sp>
        <p:nvSpPr>
          <p:cNvPr id="686" name="Google Shape;686;p39"/>
          <p:cNvSpPr/>
          <p:nvPr/>
        </p:nvSpPr>
        <p:spPr>
          <a:xfrm>
            <a:off x="4356673" y="1737650"/>
            <a:ext cx="12213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a:solidFill>
                  <a:schemeClr val="dk1"/>
                </a:solidFill>
              </a:rPr>
              <a:t>Client</a:t>
            </a:r>
            <a:endParaRPr/>
          </a:p>
        </p:txBody>
      </p:sp>
      <p:sp>
        <p:nvSpPr>
          <p:cNvPr id="687" name="Google Shape;687;p39"/>
          <p:cNvSpPr/>
          <p:nvPr/>
        </p:nvSpPr>
        <p:spPr>
          <a:xfrm>
            <a:off x="6566466" y="1737650"/>
            <a:ext cx="13725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i="1" lang="en-GB">
                <a:solidFill>
                  <a:schemeClr val="dk1"/>
                </a:solidFill>
              </a:rPr>
              <a:t>Manipulator</a:t>
            </a:r>
            <a:endParaRPr i="1"/>
          </a:p>
        </p:txBody>
      </p:sp>
      <p:sp>
        <p:nvSpPr>
          <p:cNvPr id="688" name="Google Shape;688;p39"/>
          <p:cNvSpPr/>
          <p:nvPr/>
        </p:nvSpPr>
        <p:spPr>
          <a:xfrm>
            <a:off x="6566450" y="2059875"/>
            <a:ext cx="1372500" cy="7635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i="1" lang="en-GB"/>
              <a:t>DownClick</a:t>
            </a:r>
            <a:r>
              <a:rPr i="1" lang="en-GB"/>
              <a:t>()</a:t>
            </a:r>
            <a:endParaRPr i="1"/>
          </a:p>
          <a:p>
            <a:pPr indent="0" lvl="0" marL="0" rtl="0" algn="l">
              <a:spcBef>
                <a:spcPts val="0"/>
              </a:spcBef>
              <a:spcAft>
                <a:spcPts val="0"/>
              </a:spcAft>
              <a:buNone/>
            </a:pPr>
            <a:r>
              <a:rPr i="1" lang="en-GB"/>
              <a:t>Drag()</a:t>
            </a:r>
            <a:endParaRPr i="1"/>
          </a:p>
          <a:p>
            <a:pPr indent="0" lvl="0" marL="0" rtl="0" algn="l">
              <a:spcBef>
                <a:spcPts val="0"/>
              </a:spcBef>
              <a:spcAft>
                <a:spcPts val="0"/>
              </a:spcAft>
              <a:buNone/>
            </a:pPr>
            <a:r>
              <a:rPr i="1" lang="en-GB"/>
              <a:t>UpClick()</a:t>
            </a:r>
            <a:endParaRPr i="1"/>
          </a:p>
        </p:txBody>
      </p:sp>
      <p:sp>
        <p:nvSpPr>
          <p:cNvPr id="689" name="Google Shape;689;p39"/>
          <p:cNvSpPr/>
          <p:nvPr/>
        </p:nvSpPr>
        <p:spPr>
          <a:xfrm>
            <a:off x="546670" y="3185450"/>
            <a:ext cx="17601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a:solidFill>
                  <a:schemeClr val="dk1"/>
                </a:solidFill>
              </a:rPr>
              <a:t>LineFigure</a:t>
            </a:r>
            <a:endParaRPr/>
          </a:p>
        </p:txBody>
      </p:sp>
      <p:sp>
        <p:nvSpPr>
          <p:cNvPr id="690" name="Google Shape;690;p39"/>
          <p:cNvSpPr/>
          <p:nvPr/>
        </p:nvSpPr>
        <p:spPr>
          <a:xfrm>
            <a:off x="546650" y="3507675"/>
            <a:ext cx="1760100" cy="4044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lang="en-GB"/>
              <a:t>CreateManipulator()</a:t>
            </a:r>
            <a:endParaRPr/>
          </a:p>
        </p:txBody>
      </p:sp>
      <p:sp>
        <p:nvSpPr>
          <p:cNvPr id="691" name="Google Shape;691;p39"/>
          <p:cNvSpPr/>
          <p:nvPr/>
        </p:nvSpPr>
        <p:spPr>
          <a:xfrm>
            <a:off x="2680270" y="3185450"/>
            <a:ext cx="17601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a:solidFill>
                  <a:schemeClr val="dk1"/>
                </a:solidFill>
              </a:rPr>
              <a:t>Text</a:t>
            </a:r>
            <a:r>
              <a:rPr lang="en-GB">
                <a:solidFill>
                  <a:schemeClr val="dk1"/>
                </a:solidFill>
              </a:rPr>
              <a:t>Figure</a:t>
            </a:r>
            <a:endParaRPr/>
          </a:p>
        </p:txBody>
      </p:sp>
      <p:sp>
        <p:nvSpPr>
          <p:cNvPr id="692" name="Google Shape;692;p39"/>
          <p:cNvSpPr/>
          <p:nvPr/>
        </p:nvSpPr>
        <p:spPr>
          <a:xfrm>
            <a:off x="2680250" y="3507675"/>
            <a:ext cx="1760100" cy="4044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lang="en-GB"/>
              <a:t>CreateManipulator()</a:t>
            </a:r>
            <a:endParaRPr/>
          </a:p>
        </p:txBody>
      </p:sp>
      <p:sp>
        <p:nvSpPr>
          <p:cNvPr id="693" name="Google Shape;693;p39"/>
          <p:cNvSpPr/>
          <p:nvPr/>
        </p:nvSpPr>
        <p:spPr>
          <a:xfrm>
            <a:off x="4966269" y="3490250"/>
            <a:ext cx="16812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a:solidFill>
                  <a:schemeClr val="dk1"/>
                </a:solidFill>
              </a:rPr>
              <a:t>Line</a:t>
            </a:r>
            <a:r>
              <a:rPr lang="en-GB">
                <a:solidFill>
                  <a:schemeClr val="dk1"/>
                </a:solidFill>
              </a:rPr>
              <a:t>Manipulator</a:t>
            </a:r>
            <a:endParaRPr/>
          </a:p>
        </p:txBody>
      </p:sp>
      <p:sp>
        <p:nvSpPr>
          <p:cNvPr id="694" name="Google Shape;694;p39"/>
          <p:cNvSpPr/>
          <p:nvPr/>
        </p:nvSpPr>
        <p:spPr>
          <a:xfrm>
            <a:off x="4966250" y="3812475"/>
            <a:ext cx="1681200" cy="7635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lang="en-GB"/>
              <a:t>DownClick()</a:t>
            </a:r>
            <a:endParaRPr/>
          </a:p>
          <a:p>
            <a:pPr indent="0" lvl="0" marL="0" rtl="0" algn="l">
              <a:spcBef>
                <a:spcPts val="0"/>
              </a:spcBef>
              <a:spcAft>
                <a:spcPts val="0"/>
              </a:spcAft>
              <a:buNone/>
            </a:pPr>
            <a:r>
              <a:rPr lang="en-GB"/>
              <a:t>Drag()</a:t>
            </a:r>
            <a:endParaRPr/>
          </a:p>
          <a:p>
            <a:pPr indent="0" lvl="0" marL="0" rtl="0" algn="l">
              <a:spcBef>
                <a:spcPts val="0"/>
              </a:spcBef>
              <a:spcAft>
                <a:spcPts val="0"/>
              </a:spcAft>
              <a:buNone/>
            </a:pPr>
            <a:r>
              <a:rPr lang="en-GB"/>
              <a:t>UpClick()</a:t>
            </a:r>
            <a:endParaRPr/>
          </a:p>
        </p:txBody>
      </p:sp>
      <p:sp>
        <p:nvSpPr>
          <p:cNvPr id="695" name="Google Shape;695;p39"/>
          <p:cNvSpPr/>
          <p:nvPr/>
        </p:nvSpPr>
        <p:spPr>
          <a:xfrm>
            <a:off x="7099869" y="3490250"/>
            <a:ext cx="16812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a:solidFill>
                  <a:schemeClr val="dk1"/>
                </a:solidFill>
              </a:rPr>
              <a:t>Text</a:t>
            </a:r>
            <a:r>
              <a:rPr lang="en-GB">
                <a:solidFill>
                  <a:schemeClr val="dk1"/>
                </a:solidFill>
              </a:rPr>
              <a:t>Manipulator</a:t>
            </a:r>
            <a:endParaRPr/>
          </a:p>
        </p:txBody>
      </p:sp>
      <p:sp>
        <p:nvSpPr>
          <p:cNvPr id="696" name="Google Shape;696;p39"/>
          <p:cNvSpPr/>
          <p:nvPr/>
        </p:nvSpPr>
        <p:spPr>
          <a:xfrm>
            <a:off x="7099850" y="3812475"/>
            <a:ext cx="1681200" cy="7635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lang="en-GB"/>
              <a:t>DownClick()</a:t>
            </a:r>
            <a:endParaRPr/>
          </a:p>
          <a:p>
            <a:pPr indent="0" lvl="0" marL="0" rtl="0" algn="l">
              <a:spcBef>
                <a:spcPts val="0"/>
              </a:spcBef>
              <a:spcAft>
                <a:spcPts val="0"/>
              </a:spcAft>
              <a:buNone/>
            </a:pPr>
            <a:r>
              <a:rPr lang="en-GB"/>
              <a:t>Drag()</a:t>
            </a:r>
            <a:endParaRPr/>
          </a:p>
          <a:p>
            <a:pPr indent="0" lvl="0" marL="0" rtl="0" algn="l">
              <a:spcBef>
                <a:spcPts val="0"/>
              </a:spcBef>
              <a:spcAft>
                <a:spcPts val="0"/>
              </a:spcAft>
              <a:buNone/>
            </a:pPr>
            <a:r>
              <a:rPr lang="en-GB"/>
              <a:t>UpClick()</a:t>
            </a:r>
            <a:endParaRPr/>
          </a:p>
        </p:txBody>
      </p:sp>
      <p:sp>
        <p:nvSpPr>
          <p:cNvPr id="697" name="Google Shape;697;p39"/>
          <p:cNvSpPr/>
          <p:nvPr/>
        </p:nvSpPr>
        <p:spPr>
          <a:xfrm>
            <a:off x="2012475" y="2475975"/>
            <a:ext cx="189300" cy="1656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98" name="Google Shape;698;p39"/>
          <p:cNvSpPr/>
          <p:nvPr/>
        </p:nvSpPr>
        <p:spPr>
          <a:xfrm>
            <a:off x="2698275" y="2475975"/>
            <a:ext cx="189300" cy="1656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99" name="Google Shape;699;p39"/>
          <p:cNvSpPr/>
          <p:nvPr/>
        </p:nvSpPr>
        <p:spPr>
          <a:xfrm>
            <a:off x="6848547" y="2845151"/>
            <a:ext cx="189300" cy="1656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00" name="Google Shape;700;p39"/>
          <p:cNvSpPr/>
          <p:nvPr/>
        </p:nvSpPr>
        <p:spPr>
          <a:xfrm>
            <a:off x="7534347" y="2845151"/>
            <a:ext cx="189300" cy="1656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701" name="Google Shape;701;p39"/>
          <p:cNvCxnSpPr>
            <a:stCxn id="689" idx="0"/>
            <a:endCxn id="697" idx="3"/>
          </p:cNvCxnSpPr>
          <p:nvPr/>
        </p:nvCxnSpPr>
        <p:spPr>
          <a:xfrm rot="-5400000">
            <a:off x="1494970" y="2573300"/>
            <a:ext cx="543900" cy="680400"/>
          </a:xfrm>
          <a:prstGeom prst="bentConnector3">
            <a:avLst>
              <a:gd fmla="val 49998" name="adj1"/>
            </a:avLst>
          </a:prstGeom>
          <a:noFill/>
          <a:ln cap="flat" cmpd="sng" w="9525">
            <a:solidFill>
              <a:schemeClr val="dk2"/>
            </a:solidFill>
            <a:prstDash val="solid"/>
            <a:round/>
            <a:headEnd len="med" w="med" type="none"/>
            <a:tailEnd len="med" w="med" type="none"/>
          </a:ln>
        </p:spPr>
      </p:cxnSp>
      <p:cxnSp>
        <p:nvCxnSpPr>
          <p:cNvPr id="702" name="Google Shape;702;p39"/>
          <p:cNvCxnSpPr>
            <a:stCxn id="691" idx="0"/>
            <a:endCxn id="698" idx="3"/>
          </p:cNvCxnSpPr>
          <p:nvPr/>
        </p:nvCxnSpPr>
        <p:spPr>
          <a:xfrm flipH="1" rot="5400000">
            <a:off x="2904670" y="2529800"/>
            <a:ext cx="543900" cy="767400"/>
          </a:xfrm>
          <a:prstGeom prst="bentConnector3">
            <a:avLst>
              <a:gd fmla="val 49998" name="adj1"/>
            </a:avLst>
          </a:prstGeom>
          <a:noFill/>
          <a:ln cap="flat" cmpd="sng" w="9525">
            <a:solidFill>
              <a:schemeClr val="dk2"/>
            </a:solidFill>
            <a:prstDash val="solid"/>
            <a:round/>
            <a:headEnd len="med" w="med" type="none"/>
            <a:tailEnd len="med" w="med" type="none"/>
          </a:ln>
        </p:spPr>
      </p:cxnSp>
      <p:cxnSp>
        <p:nvCxnSpPr>
          <p:cNvPr id="703" name="Google Shape;703;p39"/>
          <p:cNvCxnSpPr>
            <a:stCxn id="693" idx="0"/>
            <a:endCxn id="699" idx="3"/>
          </p:cNvCxnSpPr>
          <p:nvPr/>
        </p:nvCxnSpPr>
        <p:spPr>
          <a:xfrm rot="-5400000">
            <a:off x="6135369" y="2682350"/>
            <a:ext cx="479400" cy="1136400"/>
          </a:xfrm>
          <a:prstGeom prst="bentConnector3">
            <a:avLst>
              <a:gd fmla="val 50010" name="adj1"/>
            </a:avLst>
          </a:prstGeom>
          <a:noFill/>
          <a:ln cap="flat" cmpd="sng" w="9525">
            <a:solidFill>
              <a:schemeClr val="dk2"/>
            </a:solidFill>
            <a:prstDash val="solid"/>
            <a:round/>
            <a:headEnd len="med" w="med" type="none"/>
            <a:tailEnd len="med" w="med" type="none"/>
          </a:ln>
        </p:spPr>
      </p:cxnSp>
      <p:cxnSp>
        <p:nvCxnSpPr>
          <p:cNvPr id="704" name="Google Shape;704;p39"/>
          <p:cNvCxnSpPr>
            <a:stCxn id="695" idx="0"/>
            <a:endCxn id="700" idx="3"/>
          </p:cNvCxnSpPr>
          <p:nvPr/>
        </p:nvCxnSpPr>
        <p:spPr>
          <a:xfrm flipH="1" rot="5400000">
            <a:off x="7545069" y="3094850"/>
            <a:ext cx="479400" cy="311400"/>
          </a:xfrm>
          <a:prstGeom prst="bentConnector3">
            <a:avLst>
              <a:gd fmla="val 50010" name="adj1"/>
            </a:avLst>
          </a:prstGeom>
          <a:noFill/>
          <a:ln cap="flat" cmpd="sng" w="9525">
            <a:solidFill>
              <a:schemeClr val="dk2"/>
            </a:solidFill>
            <a:prstDash val="solid"/>
            <a:round/>
            <a:headEnd len="med" w="med" type="none"/>
            <a:tailEnd len="med" w="med" type="none"/>
          </a:ln>
        </p:spPr>
      </p:cxnSp>
      <p:cxnSp>
        <p:nvCxnSpPr>
          <p:cNvPr id="705" name="Google Shape;705;p39"/>
          <p:cNvCxnSpPr>
            <a:stCxn id="686" idx="3"/>
            <a:endCxn id="687" idx="1"/>
          </p:cNvCxnSpPr>
          <p:nvPr/>
        </p:nvCxnSpPr>
        <p:spPr>
          <a:xfrm>
            <a:off x="5577973" y="1898900"/>
            <a:ext cx="988500" cy="0"/>
          </a:xfrm>
          <a:prstGeom prst="straightConnector1">
            <a:avLst/>
          </a:prstGeom>
          <a:noFill/>
          <a:ln cap="flat" cmpd="sng" w="9525">
            <a:solidFill>
              <a:schemeClr val="dk2"/>
            </a:solidFill>
            <a:prstDash val="dash"/>
            <a:round/>
            <a:headEnd len="med" w="med" type="none"/>
            <a:tailEnd len="med" w="med" type="stealth"/>
          </a:ln>
        </p:spPr>
      </p:cxnSp>
      <p:cxnSp>
        <p:nvCxnSpPr>
          <p:cNvPr id="706" name="Google Shape;706;p39"/>
          <p:cNvCxnSpPr>
            <a:stCxn id="686" idx="1"/>
            <a:endCxn id="684" idx="3"/>
          </p:cNvCxnSpPr>
          <p:nvPr/>
        </p:nvCxnSpPr>
        <p:spPr>
          <a:xfrm rot="10800000">
            <a:off x="3297373" y="1898900"/>
            <a:ext cx="1059300" cy="0"/>
          </a:xfrm>
          <a:prstGeom prst="straightConnector1">
            <a:avLst/>
          </a:prstGeom>
          <a:noFill/>
          <a:ln cap="flat" cmpd="sng" w="9525">
            <a:solidFill>
              <a:schemeClr val="dk2"/>
            </a:solidFill>
            <a:prstDash val="dash"/>
            <a:round/>
            <a:headEnd len="med" w="med" type="none"/>
            <a:tailEnd len="med" w="med" type="stealth"/>
          </a:ln>
        </p:spPr>
      </p:cxnSp>
      <p:cxnSp>
        <p:nvCxnSpPr>
          <p:cNvPr id="707" name="Google Shape;707;p39"/>
          <p:cNvCxnSpPr>
            <a:stCxn id="690" idx="2"/>
            <a:endCxn id="694" idx="1"/>
          </p:cNvCxnSpPr>
          <p:nvPr/>
        </p:nvCxnSpPr>
        <p:spPr>
          <a:xfrm flipH="1" rot="-5400000">
            <a:off x="3055400" y="2283375"/>
            <a:ext cx="282300" cy="3539700"/>
          </a:xfrm>
          <a:prstGeom prst="bentConnector2">
            <a:avLst/>
          </a:prstGeom>
          <a:noFill/>
          <a:ln cap="flat" cmpd="sng" w="9525">
            <a:solidFill>
              <a:schemeClr val="dk2"/>
            </a:solidFill>
            <a:prstDash val="dash"/>
            <a:round/>
            <a:headEnd len="med" w="med" type="none"/>
            <a:tailEnd len="med" w="med" type="stealth"/>
          </a:ln>
        </p:spPr>
      </p:cxnSp>
      <p:cxnSp>
        <p:nvCxnSpPr>
          <p:cNvPr id="708" name="Google Shape;708;p39"/>
          <p:cNvCxnSpPr>
            <a:stCxn id="692" idx="2"/>
            <a:endCxn id="696" idx="2"/>
          </p:cNvCxnSpPr>
          <p:nvPr/>
        </p:nvCxnSpPr>
        <p:spPr>
          <a:xfrm flipH="1" rot="-5400000">
            <a:off x="5418500" y="2053875"/>
            <a:ext cx="663900" cy="4380300"/>
          </a:xfrm>
          <a:prstGeom prst="bentConnector3">
            <a:avLst>
              <a:gd fmla="val 135868" name="adj1"/>
            </a:avLst>
          </a:prstGeom>
          <a:noFill/>
          <a:ln cap="flat" cmpd="sng" w="9525">
            <a:solidFill>
              <a:schemeClr val="dk2"/>
            </a:solidFill>
            <a:prstDash val="dash"/>
            <a:round/>
            <a:headEnd len="med" w="med" type="none"/>
            <a:tailEnd len="med" w="med" type="stealth"/>
          </a:ln>
        </p:spPr>
      </p:cxnSp>
      <p:sp>
        <p:nvSpPr>
          <p:cNvPr id="709" name="Google Shape;709;p39"/>
          <p:cNvSpPr txBox="1"/>
          <p:nvPr/>
        </p:nvSpPr>
        <p:spPr>
          <a:xfrm>
            <a:off x="2080324" y="3857175"/>
            <a:ext cx="1228800" cy="37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&lt;&lt;create&gt;&gt;</a:t>
            </a:r>
            <a:endParaRPr>
              <a:solidFill>
                <a:schemeClr val="dk2"/>
              </a:solidFill>
            </a:endParaRPr>
          </a:p>
        </p:txBody>
      </p:sp>
      <p:sp>
        <p:nvSpPr>
          <p:cNvPr id="710" name="Google Shape;710;p39"/>
          <p:cNvSpPr txBox="1"/>
          <p:nvPr/>
        </p:nvSpPr>
        <p:spPr>
          <a:xfrm>
            <a:off x="3909124" y="4466775"/>
            <a:ext cx="1228800" cy="37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&lt;&lt;create&gt;&gt;</a:t>
            </a:r>
            <a:endParaRPr>
              <a:solidFill>
                <a:schemeClr val="dk2"/>
              </a:solidFill>
            </a:endParaRPr>
          </a:p>
        </p:txBody>
      </p:sp>
      <p:sp>
        <p:nvSpPr>
          <p:cNvPr id="711" name="Google Shape;711;p39"/>
          <p:cNvSpPr txBox="1"/>
          <p:nvPr/>
        </p:nvSpPr>
        <p:spPr>
          <a:xfrm>
            <a:off x="3375725" y="1571175"/>
            <a:ext cx="988500" cy="37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&lt;&lt;</a:t>
            </a:r>
            <a:r>
              <a:rPr lang="en-GB">
                <a:solidFill>
                  <a:schemeClr val="dk2"/>
                </a:solidFill>
              </a:rPr>
              <a:t>use</a:t>
            </a:r>
            <a:r>
              <a:rPr lang="en-GB">
                <a:solidFill>
                  <a:schemeClr val="dk2"/>
                </a:solidFill>
              </a:rPr>
              <a:t>&gt;&gt;</a:t>
            </a:r>
            <a:endParaRPr>
              <a:solidFill>
                <a:schemeClr val="dk2"/>
              </a:solidFill>
            </a:endParaRPr>
          </a:p>
        </p:txBody>
      </p:sp>
      <p:sp>
        <p:nvSpPr>
          <p:cNvPr id="712" name="Google Shape;712;p39"/>
          <p:cNvSpPr txBox="1"/>
          <p:nvPr/>
        </p:nvSpPr>
        <p:spPr>
          <a:xfrm>
            <a:off x="5585525" y="1571175"/>
            <a:ext cx="988500" cy="37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&lt;&lt;use&gt;&gt;</a:t>
            </a:r>
            <a:endParaRPr>
              <a:solidFill>
                <a:schemeClr val="dk2"/>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6" name="Shape 716"/>
        <p:cNvGrpSpPr/>
        <p:nvPr/>
      </p:nvGrpSpPr>
      <p:grpSpPr>
        <a:xfrm>
          <a:off x="0" y="0"/>
          <a:ext cx="0" cy="0"/>
          <a:chOff x="0" y="0"/>
          <a:chExt cx="0" cy="0"/>
        </a:xfrm>
      </p:grpSpPr>
      <p:sp>
        <p:nvSpPr>
          <p:cNvPr id="717" name="Google Shape;717;p40"/>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Nguyên mẫu</a:t>
            </a:r>
            <a:endParaRPr/>
          </a:p>
        </p:txBody>
      </p:sp>
      <p:sp>
        <p:nvSpPr>
          <p:cNvPr id="718" name="Google Shape;718;p40"/>
          <p:cNvSpPr txBox="1"/>
          <p:nvPr>
            <p:ph idx="1" type="body"/>
          </p:nvPr>
        </p:nvSpPr>
        <p:spPr>
          <a:xfrm>
            <a:off x="311700" y="950475"/>
            <a:ext cx="8520600" cy="54183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i="1" lang="en-GB"/>
              <a:t>Prototype</a:t>
            </a:r>
            <a:endParaRPr i="1"/>
          </a:p>
          <a:p>
            <a:pPr indent="0" lvl="0" marL="0" rtl="0" algn="l">
              <a:spcBef>
                <a:spcPts val="0"/>
              </a:spcBef>
              <a:spcAft>
                <a:spcPts val="0"/>
              </a:spcAft>
              <a:buNone/>
            </a:pPr>
            <a:r>
              <a:rPr lang="en-GB"/>
              <a:t>Tạo một đối tượng làm bản mẫu, rồi tiếp tục tạo các đối tượng mới bằng cách sao chép nó.</a:t>
            </a:r>
            <a:endParaRPr/>
          </a:p>
        </p:txBody>
      </p:sp>
      <p:sp>
        <p:nvSpPr>
          <p:cNvPr id="719" name="Google Shape;719;p4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3" name="Shape 723"/>
        <p:cNvGrpSpPr/>
        <p:nvPr/>
      </p:nvGrpSpPr>
      <p:grpSpPr>
        <a:xfrm>
          <a:off x="0" y="0"/>
          <a:ext cx="0" cy="0"/>
          <a:chOff x="0" y="0"/>
          <a:chExt cx="0" cy="0"/>
        </a:xfrm>
      </p:grpSpPr>
      <p:sp>
        <p:nvSpPr>
          <p:cNvPr id="724" name="Google Shape;724;p41"/>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Nguyên mẫu: Cấu trúc</a:t>
            </a:r>
            <a:endParaRPr/>
          </a:p>
        </p:txBody>
      </p:sp>
      <p:sp>
        <p:nvSpPr>
          <p:cNvPr id="725" name="Google Shape;725;p4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726" name="Google Shape;726;p41"/>
          <p:cNvSpPr/>
          <p:nvPr/>
        </p:nvSpPr>
        <p:spPr>
          <a:xfrm>
            <a:off x="1152286" y="1522350"/>
            <a:ext cx="12915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Ứng dụng</a:t>
            </a:r>
            <a:endParaRPr sz="1600"/>
          </a:p>
        </p:txBody>
      </p:sp>
      <p:sp>
        <p:nvSpPr>
          <p:cNvPr id="727" name="Google Shape;727;p41"/>
          <p:cNvSpPr/>
          <p:nvPr/>
        </p:nvSpPr>
        <p:spPr>
          <a:xfrm>
            <a:off x="1152286" y="1844574"/>
            <a:ext cx="1291500" cy="3621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lang="en-GB" sz="1600"/>
              <a:t>Thao tác</a:t>
            </a:r>
            <a:r>
              <a:rPr lang="en-GB" sz="1600"/>
              <a:t>()</a:t>
            </a:r>
            <a:endParaRPr sz="1600"/>
          </a:p>
        </p:txBody>
      </p:sp>
      <p:sp>
        <p:nvSpPr>
          <p:cNvPr id="728" name="Google Shape;728;p41"/>
          <p:cNvSpPr/>
          <p:nvPr/>
        </p:nvSpPr>
        <p:spPr>
          <a:xfrm>
            <a:off x="4982625" y="1522350"/>
            <a:ext cx="1596900" cy="3288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i="1" lang="en-GB" sz="1600"/>
              <a:t>Lớp trừu tượng</a:t>
            </a:r>
            <a:endParaRPr i="1" sz="1600"/>
          </a:p>
        </p:txBody>
      </p:sp>
      <p:sp>
        <p:nvSpPr>
          <p:cNvPr id="729" name="Google Shape;729;p41"/>
          <p:cNvSpPr/>
          <p:nvPr/>
        </p:nvSpPr>
        <p:spPr>
          <a:xfrm>
            <a:off x="4982625" y="1850795"/>
            <a:ext cx="1596900" cy="3690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i="1" lang="en-GB" sz="1600"/>
              <a:t>Nhân bản</a:t>
            </a:r>
            <a:r>
              <a:rPr i="1" lang="en-GB" sz="1600"/>
              <a:t>()</a:t>
            </a:r>
            <a:endParaRPr i="1" sz="1600"/>
          </a:p>
        </p:txBody>
      </p:sp>
      <p:sp>
        <p:nvSpPr>
          <p:cNvPr id="730" name="Google Shape;730;p41"/>
          <p:cNvSpPr/>
          <p:nvPr/>
        </p:nvSpPr>
        <p:spPr>
          <a:xfrm>
            <a:off x="5539354" y="2207174"/>
            <a:ext cx="130800" cy="1116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 name="Google Shape;731;p41"/>
          <p:cNvSpPr/>
          <p:nvPr/>
        </p:nvSpPr>
        <p:spPr>
          <a:xfrm>
            <a:off x="3852901" y="2998076"/>
            <a:ext cx="1845900" cy="3288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Lớp cụ thể 1</a:t>
            </a:r>
            <a:endParaRPr sz="1600"/>
          </a:p>
        </p:txBody>
      </p:sp>
      <p:sp>
        <p:nvSpPr>
          <p:cNvPr id="732" name="Google Shape;732;p41"/>
          <p:cNvSpPr/>
          <p:nvPr/>
        </p:nvSpPr>
        <p:spPr>
          <a:xfrm>
            <a:off x="3852900" y="3326516"/>
            <a:ext cx="1845900" cy="3690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lang="en-GB" sz="1600"/>
              <a:t>Nhân bản</a:t>
            </a:r>
            <a:r>
              <a:rPr lang="en-GB" sz="1600"/>
              <a:t>()</a:t>
            </a:r>
            <a:endParaRPr sz="1600"/>
          </a:p>
        </p:txBody>
      </p:sp>
      <p:sp>
        <p:nvSpPr>
          <p:cNvPr id="733" name="Google Shape;733;p41"/>
          <p:cNvSpPr/>
          <p:nvPr/>
        </p:nvSpPr>
        <p:spPr>
          <a:xfrm>
            <a:off x="6156417" y="2998076"/>
            <a:ext cx="1845900" cy="3288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Lớp cụ thể 2</a:t>
            </a:r>
            <a:endParaRPr sz="1600"/>
          </a:p>
        </p:txBody>
      </p:sp>
      <p:sp>
        <p:nvSpPr>
          <p:cNvPr id="734" name="Google Shape;734;p41"/>
          <p:cNvSpPr/>
          <p:nvPr/>
        </p:nvSpPr>
        <p:spPr>
          <a:xfrm>
            <a:off x="6156416" y="3326516"/>
            <a:ext cx="1845900" cy="3690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lang="en-GB" sz="1600"/>
              <a:t>Nhân bản</a:t>
            </a:r>
            <a:r>
              <a:rPr lang="en-GB" sz="1600"/>
              <a:t>()</a:t>
            </a:r>
            <a:endParaRPr sz="1600"/>
          </a:p>
        </p:txBody>
      </p:sp>
      <p:sp>
        <p:nvSpPr>
          <p:cNvPr id="735" name="Google Shape;735;p41"/>
          <p:cNvSpPr/>
          <p:nvPr/>
        </p:nvSpPr>
        <p:spPr>
          <a:xfrm>
            <a:off x="5996554" y="2207174"/>
            <a:ext cx="130800" cy="1116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36" name="Google Shape;736;p41"/>
          <p:cNvCxnSpPr>
            <a:stCxn id="731" idx="0"/>
            <a:endCxn id="730" idx="3"/>
          </p:cNvCxnSpPr>
          <p:nvPr/>
        </p:nvCxnSpPr>
        <p:spPr>
          <a:xfrm rot="-5400000">
            <a:off x="4850701" y="2244026"/>
            <a:ext cx="679200" cy="828900"/>
          </a:xfrm>
          <a:prstGeom prst="bentConnector3">
            <a:avLst>
              <a:gd fmla="val 50007" name="adj1"/>
            </a:avLst>
          </a:prstGeom>
          <a:noFill/>
          <a:ln cap="flat" cmpd="sng" w="9525">
            <a:solidFill>
              <a:schemeClr val="dk2"/>
            </a:solidFill>
            <a:prstDash val="solid"/>
            <a:round/>
            <a:headEnd len="med" w="med" type="none"/>
            <a:tailEnd len="med" w="med" type="none"/>
          </a:ln>
        </p:spPr>
      </p:cxnSp>
      <p:cxnSp>
        <p:nvCxnSpPr>
          <p:cNvPr id="737" name="Google Shape;737;p41"/>
          <p:cNvCxnSpPr>
            <a:stCxn id="733" idx="0"/>
            <a:endCxn id="735" idx="3"/>
          </p:cNvCxnSpPr>
          <p:nvPr/>
        </p:nvCxnSpPr>
        <p:spPr>
          <a:xfrm flipH="1" rot="5400000">
            <a:off x="6231117" y="2149826"/>
            <a:ext cx="679200" cy="1017300"/>
          </a:xfrm>
          <a:prstGeom prst="bentConnector3">
            <a:avLst>
              <a:gd fmla="val 50007" name="adj1"/>
            </a:avLst>
          </a:prstGeom>
          <a:noFill/>
          <a:ln cap="flat" cmpd="sng" w="9525">
            <a:solidFill>
              <a:schemeClr val="dk2"/>
            </a:solidFill>
            <a:prstDash val="solid"/>
            <a:round/>
            <a:headEnd len="med" w="med" type="none"/>
            <a:tailEnd len="med" w="med" type="none"/>
          </a:ln>
        </p:spPr>
      </p:cxnSp>
      <p:cxnSp>
        <p:nvCxnSpPr>
          <p:cNvPr id="738" name="Google Shape;738;p41"/>
          <p:cNvCxnSpPr>
            <a:stCxn id="726" idx="3"/>
            <a:endCxn id="728" idx="1"/>
          </p:cNvCxnSpPr>
          <p:nvPr/>
        </p:nvCxnSpPr>
        <p:spPr>
          <a:xfrm>
            <a:off x="2443786" y="1683600"/>
            <a:ext cx="2538900" cy="3300"/>
          </a:xfrm>
          <a:prstGeom prst="straightConnector1">
            <a:avLst/>
          </a:prstGeom>
          <a:noFill/>
          <a:ln cap="flat" cmpd="sng" w="9525">
            <a:solidFill>
              <a:schemeClr val="dk2"/>
            </a:solidFill>
            <a:prstDash val="dash"/>
            <a:round/>
            <a:headEnd len="med" w="med" type="none"/>
            <a:tailEnd len="med" w="med" type="triangle"/>
          </a:ln>
        </p:spPr>
      </p:cxnSp>
      <p:sp>
        <p:nvSpPr>
          <p:cNvPr id="739" name="Google Shape;739;p41"/>
          <p:cNvSpPr txBox="1"/>
          <p:nvPr/>
        </p:nvSpPr>
        <p:spPr>
          <a:xfrm>
            <a:off x="4115850" y="1617395"/>
            <a:ext cx="897000" cy="36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bản mẫu</a:t>
            </a:r>
            <a:endParaRPr/>
          </a:p>
        </p:txBody>
      </p:sp>
      <p:sp>
        <p:nvSpPr>
          <p:cNvPr id="740" name="Google Shape;740;p41"/>
          <p:cNvSpPr txBox="1"/>
          <p:nvPr/>
        </p:nvSpPr>
        <p:spPr>
          <a:xfrm>
            <a:off x="2998875" y="1335100"/>
            <a:ext cx="1291500" cy="43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&lt;&lt;</a:t>
            </a:r>
            <a:r>
              <a:rPr lang="en-GB"/>
              <a:t>sử dụng&gt;&gt;</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4" name="Shape 744"/>
        <p:cNvGrpSpPr/>
        <p:nvPr/>
      </p:nvGrpSpPr>
      <p:grpSpPr>
        <a:xfrm>
          <a:off x="0" y="0"/>
          <a:ext cx="0" cy="0"/>
          <a:chOff x="0" y="0"/>
          <a:chExt cx="0" cy="0"/>
        </a:xfrm>
      </p:grpSpPr>
      <p:sp>
        <p:nvSpPr>
          <p:cNvPr id="745" name="Google Shape;745;p42"/>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Nguyên mẫu: </a:t>
            </a:r>
            <a:r>
              <a:rPr lang="en-GB"/>
              <a:t>Hành vi</a:t>
            </a:r>
            <a:endParaRPr/>
          </a:p>
        </p:txBody>
      </p:sp>
      <p:sp>
        <p:nvSpPr>
          <p:cNvPr id="746" name="Google Shape;746;p4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747" name="Google Shape;747;p42"/>
          <p:cNvSpPr/>
          <p:nvPr/>
        </p:nvSpPr>
        <p:spPr>
          <a:xfrm>
            <a:off x="1385711" y="1409352"/>
            <a:ext cx="12915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u="sng"/>
              <a:t>:Ứng dụng</a:t>
            </a:r>
            <a:endParaRPr sz="1600" u="sng"/>
          </a:p>
        </p:txBody>
      </p:sp>
      <p:cxnSp>
        <p:nvCxnSpPr>
          <p:cNvPr id="748" name="Google Shape;748;p42"/>
          <p:cNvCxnSpPr/>
          <p:nvPr/>
        </p:nvCxnSpPr>
        <p:spPr>
          <a:xfrm>
            <a:off x="2031450" y="1731851"/>
            <a:ext cx="0" cy="3371400"/>
          </a:xfrm>
          <a:prstGeom prst="straightConnector1">
            <a:avLst/>
          </a:prstGeom>
          <a:noFill/>
          <a:ln cap="flat" cmpd="sng" w="9525">
            <a:solidFill>
              <a:schemeClr val="dk2"/>
            </a:solidFill>
            <a:prstDash val="dash"/>
            <a:round/>
            <a:headEnd len="med" w="med" type="none"/>
            <a:tailEnd len="med" w="med" type="none"/>
          </a:ln>
        </p:spPr>
      </p:cxnSp>
      <p:sp>
        <p:nvSpPr>
          <p:cNvPr id="749" name="Google Shape;749;p42"/>
          <p:cNvSpPr/>
          <p:nvPr/>
        </p:nvSpPr>
        <p:spPr>
          <a:xfrm>
            <a:off x="412225" y="2070125"/>
            <a:ext cx="129900" cy="1299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50" name="Google Shape;750;p42"/>
          <p:cNvSpPr/>
          <p:nvPr/>
        </p:nvSpPr>
        <p:spPr>
          <a:xfrm>
            <a:off x="1950975" y="2013600"/>
            <a:ext cx="130800" cy="2201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51" name="Google Shape;751;p42"/>
          <p:cNvCxnSpPr>
            <a:stCxn id="749" idx="6"/>
          </p:cNvCxnSpPr>
          <p:nvPr/>
        </p:nvCxnSpPr>
        <p:spPr>
          <a:xfrm>
            <a:off x="542125" y="2135075"/>
            <a:ext cx="1387500" cy="0"/>
          </a:xfrm>
          <a:prstGeom prst="straightConnector1">
            <a:avLst/>
          </a:prstGeom>
          <a:noFill/>
          <a:ln cap="flat" cmpd="sng" w="9525">
            <a:solidFill>
              <a:schemeClr val="dk2"/>
            </a:solidFill>
            <a:prstDash val="solid"/>
            <a:round/>
            <a:headEnd len="med" w="med" type="none"/>
            <a:tailEnd len="med" w="med" type="triangle"/>
          </a:ln>
        </p:spPr>
      </p:cxnSp>
      <p:sp>
        <p:nvSpPr>
          <p:cNvPr id="752" name="Google Shape;752;p42"/>
          <p:cNvSpPr/>
          <p:nvPr/>
        </p:nvSpPr>
        <p:spPr>
          <a:xfrm>
            <a:off x="2833497" y="1409350"/>
            <a:ext cx="16026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u="sng"/>
              <a:t>o1</a:t>
            </a:r>
            <a:r>
              <a:rPr lang="en-GB" sz="1600" u="sng"/>
              <a:t>:Lớp cụ thể </a:t>
            </a:r>
            <a:r>
              <a:rPr lang="en-GB" sz="1600" u="sng"/>
              <a:t>1</a:t>
            </a:r>
            <a:endParaRPr sz="1600" u="sng"/>
          </a:p>
        </p:txBody>
      </p:sp>
      <p:cxnSp>
        <p:nvCxnSpPr>
          <p:cNvPr id="753" name="Google Shape;753;p42"/>
          <p:cNvCxnSpPr/>
          <p:nvPr/>
        </p:nvCxnSpPr>
        <p:spPr>
          <a:xfrm>
            <a:off x="3634791" y="1731850"/>
            <a:ext cx="0" cy="3371400"/>
          </a:xfrm>
          <a:prstGeom prst="straightConnector1">
            <a:avLst/>
          </a:prstGeom>
          <a:noFill/>
          <a:ln cap="flat" cmpd="sng" w="9525">
            <a:solidFill>
              <a:schemeClr val="dk2"/>
            </a:solidFill>
            <a:prstDash val="dash"/>
            <a:round/>
            <a:headEnd len="med" w="med" type="none"/>
            <a:tailEnd len="med" w="med" type="none"/>
          </a:ln>
        </p:spPr>
      </p:cxnSp>
      <p:sp>
        <p:nvSpPr>
          <p:cNvPr id="754" name="Google Shape;754;p42"/>
          <p:cNvSpPr txBox="1"/>
          <p:nvPr/>
        </p:nvSpPr>
        <p:spPr>
          <a:xfrm>
            <a:off x="533000" y="1790600"/>
            <a:ext cx="1548900" cy="40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Thao tác</a:t>
            </a:r>
            <a:r>
              <a:rPr lang="en-GB">
                <a:solidFill>
                  <a:schemeClr val="dk2"/>
                </a:solidFill>
              </a:rPr>
              <a:t>()</a:t>
            </a:r>
            <a:endParaRPr>
              <a:solidFill>
                <a:schemeClr val="dk2"/>
              </a:solidFill>
            </a:endParaRPr>
          </a:p>
        </p:txBody>
      </p:sp>
      <p:sp>
        <p:nvSpPr>
          <p:cNvPr id="755" name="Google Shape;755;p42"/>
          <p:cNvSpPr/>
          <p:nvPr/>
        </p:nvSpPr>
        <p:spPr>
          <a:xfrm>
            <a:off x="3571140" y="2166032"/>
            <a:ext cx="130800" cy="475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56" name="Google Shape;756;p42"/>
          <p:cNvCxnSpPr/>
          <p:nvPr/>
        </p:nvCxnSpPr>
        <p:spPr>
          <a:xfrm>
            <a:off x="2079300" y="2349625"/>
            <a:ext cx="1494600" cy="0"/>
          </a:xfrm>
          <a:prstGeom prst="straightConnector1">
            <a:avLst/>
          </a:prstGeom>
          <a:noFill/>
          <a:ln cap="flat" cmpd="sng" w="9525">
            <a:solidFill>
              <a:schemeClr val="dk2"/>
            </a:solidFill>
            <a:prstDash val="solid"/>
            <a:round/>
            <a:headEnd len="med" w="med" type="none"/>
            <a:tailEnd len="med" w="med" type="triangle"/>
          </a:ln>
        </p:spPr>
      </p:cxnSp>
      <p:sp>
        <p:nvSpPr>
          <p:cNvPr id="757" name="Google Shape;757;p42"/>
          <p:cNvSpPr txBox="1"/>
          <p:nvPr/>
        </p:nvSpPr>
        <p:spPr>
          <a:xfrm>
            <a:off x="2285600" y="2019200"/>
            <a:ext cx="1291500" cy="32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Nhân bản</a:t>
            </a:r>
            <a:r>
              <a:rPr lang="en-GB">
                <a:solidFill>
                  <a:schemeClr val="dk2"/>
                </a:solidFill>
              </a:rPr>
              <a:t>()</a:t>
            </a:r>
            <a:endParaRPr>
              <a:solidFill>
                <a:schemeClr val="dk2"/>
              </a:solidFill>
            </a:endParaRPr>
          </a:p>
        </p:txBody>
      </p:sp>
      <p:cxnSp>
        <p:nvCxnSpPr>
          <p:cNvPr id="758" name="Google Shape;758;p42"/>
          <p:cNvCxnSpPr>
            <a:stCxn id="755" idx="3"/>
          </p:cNvCxnSpPr>
          <p:nvPr/>
        </p:nvCxnSpPr>
        <p:spPr>
          <a:xfrm>
            <a:off x="3701940" y="2403932"/>
            <a:ext cx="881100" cy="0"/>
          </a:xfrm>
          <a:prstGeom prst="straightConnector1">
            <a:avLst/>
          </a:prstGeom>
          <a:noFill/>
          <a:ln cap="flat" cmpd="sng" w="9525">
            <a:solidFill>
              <a:schemeClr val="dk2"/>
            </a:solidFill>
            <a:prstDash val="solid"/>
            <a:round/>
            <a:headEnd len="med" w="med" type="none"/>
            <a:tailEnd len="med" w="med" type="triangle"/>
          </a:ln>
        </p:spPr>
      </p:cxnSp>
      <p:sp>
        <p:nvSpPr>
          <p:cNvPr id="759" name="Google Shape;759;p42"/>
          <p:cNvSpPr txBox="1"/>
          <p:nvPr/>
        </p:nvSpPr>
        <p:spPr>
          <a:xfrm>
            <a:off x="3683268" y="2075435"/>
            <a:ext cx="960300" cy="40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&lt;&lt;tạo&gt;&gt;</a:t>
            </a:r>
            <a:endParaRPr>
              <a:solidFill>
                <a:schemeClr val="dk2"/>
              </a:solidFill>
            </a:endParaRPr>
          </a:p>
        </p:txBody>
      </p:sp>
      <p:cxnSp>
        <p:nvCxnSpPr>
          <p:cNvPr id="760" name="Google Shape;760;p42"/>
          <p:cNvCxnSpPr/>
          <p:nvPr/>
        </p:nvCxnSpPr>
        <p:spPr>
          <a:xfrm>
            <a:off x="5400150" y="2497700"/>
            <a:ext cx="2400" cy="2616900"/>
          </a:xfrm>
          <a:prstGeom prst="straightConnector1">
            <a:avLst/>
          </a:prstGeom>
          <a:noFill/>
          <a:ln cap="flat" cmpd="sng" w="9525">
            <a:solidFill>
              <a:schemeClr val="dk2"/>
            </a:solidFill>
            <a:prstDash val="dash"/>
            <a:round/>
            <a:headEnd len="med" w="med" type="none"/>
            <a:tailEnd len="med" w="med" type="none"/>
          </a:ln>
        </p:spPr>
      </p:cxnSp>
      <p:sp>
        <p:nvSpPr>
          <p:cNvPr id="761" name="Google Shape;761;p42"/>
          <p:cNvSpPr/>
          <p:nvPr/>
        </p:nvSpPr>
        <p:spPr>
          <a:xfrm>
            <a:off x="4509900" y="2181325"/>
            <a:ext cx="17157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u="sng"/>
              <a:t>o</a:t>
            </a:r>
            <a:r>
              <a:rPr lang="en-GB" sz="1600" u="sng"/>
              <a:t>11</a:t>
            </a:r>
            <a:r>
              <a:rPr lang="en-GB" sz="1600" u="sng"/>
              <a:t>:Lớp cụ thể 1</a:t>
            </a:r>
            <a:endParaRPr sz="1600" u="sng"/>
          </a:p>
        </p:txBody>
      </p:sp>
      <p:sp>
        <p:nvSpPr>
          <p:cNvPr id="762" name="Google Shape;762;p42"/>
          <p:cNvSpPr/>
          <p:nvPr/>
        </p:nvSpPr>
        <p:spPr>
          <a:xfrm>
            <a:off x="5500497" y="1409350"/>
            <a:ext cx="16026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u="sng"/>
              <a:t>o</a:t>
            </a:r>
            <a:r>
              <a:rPr lang="en-GB" sz="1600" u="sng"/>
              <a:t>2</a:t>
            </a:r>
            <a:r>
              <a:rPr lang="en-GB" sz="1600" u="sng"/>
              <a:t>:Lớp cụ thể 2</a:t>
            </a:r>
            <a:endParaRPr sz="1600" u="sng"/>
          </a:p>
        </p:txBody>
      </p:sp>
      <p:cxnSp>
        <p:nvCxnSpPr>
          <p:cNvPr id="763" name="Google Shape;763;p42"/>
          <p:cNvCxnSpPr/>
          <p:nvPr/>
        </p:nvCxnSpPr>
        <p:spPr>
          <a:xfrm>
            <a:off x="6301791" y="1731850"/>
            <a:ext cx="0" cy="3371400"/>
          </a:xfrm>
          <a:prstGeom prst="straightConnector1">
            <a:avLst/>
          </a:prstGeom>
          <a:noFill/>
          <a:ln cap="flat" cmpd="sng" w="9525">
            <a:solidFill>
              <a:schemeClr val="dk2"/>
            </a:solidFill>
            <a:prstDash val="dash"/>
            <a:round/>
            <a:headEnd len="med" w="med" type="none"/>
            <a:tailEnd len="med" w="med" type="none"/>
          </a:ln>
        </p:spPr>
      </p:cxnSp>
      <p:sp>
        <p:nvSpPr>
          <p:cNvPr id="764" name="Google Shape;764;p42"/>
          <p:cNvSpPr/>
          <p:nvPr/>
        </p:nvSpPr>
        <p:spPr>
          <a:xfrm>
            <a:off x="6238140" y="3004232"/>
            <a:ext cx="130800" cy="475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65" name="Google Shape;765;p42"/>
          <p:cNvCxnSpPr>
            <a:stCxn id="764" idx="3"/>
          </p:cNvCxnSpPr>
          <p:nvPr/>
        </p:nvCxnSpPr>
        <p:spPr>
          <a:xfrm>
            <a:off x="6368940" y="3242132"/>
            <a:ext cx="849300" cy="0"/>
          </a:xfrm>
          <a:prstGeom prst="straightConnector1">
            <a:avLst/>
          </a:prstGeom>
          <a:noFill/>
          <a:ln cap="flat" cmpd="sng" w="9525">
            <a:solidFill>
              <a:schemeClr val="dk2"/>
            </a:solidFill>
            <a:prstDash val="solid"/>
            <a:round/>
            <a:headEnd len="med" w="med" type="none"/>
            <a:tailEnd len="med" w="med" type="triangle"/>
          </a:ln>
        </p:spPr>
      </p:cxnSp>
      <p:sp>
        <p:nvSpPr>
          <p:cNvPr id="766" name="Google Shape;766;p42"/>
          <p:cNvSpPr txBox="1"/>
          <p:nvPr/>
        </p:nvSpPr>
        <p:spPr>
          <a:xfrm>
            <a:off x="6324200" y="2913635"/>
            <a:ext cx="960300" cy="40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&lt;&lt;tạo&gt;&gt;</a:t>
            </a:r>
            <a:endParaRPr>
              <a:solidFill>
                <a:schemeClr val="dk2"/>
              </a:solidFill>
            </a:endParaRPr>
          </a:p>
        </p:txBody>
      </p:sp>
      <p:cxnSp>
        <p:nvCxnSpPr>
          <p:cNvPr id="767" name="Google Shape;767;p42"/>
          <p:cNvCxnSpPr/>
          <p:nvPr/>
        </p:nvCxnSpPr>
        <p:spPr>
          <a:xfrm>
            <a:off x="8067150" y="3412100"/>
            <a:ext cx="0" cy="1740900"/>
          </a:xfrm>
          <a:prstGeom prst="straightConnector1">
            <a:avLst/>
          </a:prstGeom>
          <a:noFill/>
          <a:ln cap="flat" cmpd="sng" w="9525">
            <a:solidFill>
              <a:schemeClr val="dk2"/>
            </a:solidFill>
            <a:prstDash val="dash"/>
            <a:round/>
            <a:headEnd len="med" w="med" type="none"/>
            <a:tailEnd len="med" w="med" type="none"/>
          </a:ln>
        </p:spPr>
      </p:cxnSp>
      <p:sp>
        <p:nvSpPr>
          <p:cNvPr id="768" name="Google Shape;768;p42"/>
          <p:cNvSpPr/>
          <p:nvPr/>
        </p:nvSpPr>
        <p:spPr>
          <a:xfrm>
            <a:off x="7253100" y="3095725"/>
            <a:ext cx="17157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u="sng"/>
              <a:t>o</a:t>
            </a:r>
            <a:r>
              <a:rPr lang="en-GB" sz="1600" u="sng"/>
              <a:t>2</a:t>
            </a:r>
            <a:r>
              <a:rPr lang="en-GB" sz="1600" u="sng"/>
              <a:t>1:Lớp cụ thể 2</a:t>
            </a:r>
            <a:endParaRPr sz="1600" u="sng"/>
          </a:p>
        </p:txBody>
      </p:sp>
      <p:cxnSp>
        <p:nvCxnSpPr>
          <p:cNvPr id="769" name="Google Shape;769;p42"/>
          <p:cNvCxnSpPr/>
          <p:nvPr/>
        </p:nvCxnSpPr>
        <p:spPr>
          <a:xfrm>
            <a:off x="2079300" y="3111625"/>
            <a:ext cx="4160700" cy="0"/>
          </a:xfrm>
          <a:prstGeom prst="straightConnector1">
            <a:avLst/>
          </a:prstGeom>
          <a:noFill/>
          <a:ln cap="flat" cmpd="sng" w="9525">
            <a:solidFill>
              <a:schemeClr val="dk2"/>
            </a:solidFill>
            <a:prstDash val="solid"/>
            <a:round/>
            <a:headEnd len="med" w="med" type="none"/>
            <a:tailEnd len="med" w="med" type="triangle"/>
          </a:ln>
        </p:spPr>
      </p:cxnSp>
      <p:sp>
        <p:nvSpPr>
          <p:cNvPr id="770" name="Google Shape;770;p42"/>
          <p:cNvSpPr txBox="1"/>
          <p:nvPr/>
        </p:nvSpPr>
        <p:spPr>
          <a:xfrm>
            <a:off x="3733400" y="2705000"/>
            <a:ext cx="1291500" cy="32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Nhân bản()</a:t>
            </a:r>
            <a:endParaRPr>
              <a:solidFill>
                <a:schemeClr val="dk2"/>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4" name="Shape 774"/>
        <p:cNvGrpSpPr/>
        <p:nvPr/>
      </p:nvGrpSpPr>
      <p:grpSpPr>
        <a:xfrm>
          <a:off x="0" y="0"/>
          <a:ext cx="0" cy="0"/>
          <a:chOff x="0" y="0"/>
          <a:chExt cx="0" cy="0"/>
        </a:xfrm>
      </p:grpSpPr>
      <p:sp>
        <p:nvSpPr>
          <p:cNvPr id="775" name="Google Shape;775;p43"/>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Nguyên mẫu: Các hệ quả</a:t>
            </a:r>
            <a:endParaRPr/>
          </a:p>
        </p:txBody>
      </p:sp>
      <p:sp>
        <p:nvSpPr>
          <p:cNvPr id="776" name="Google Shape;776;p4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777" name="Google Shape;777;p43"/>
          <p:cNvSpPr txBox="1"/>
          <p:nvPr>
            <p:ph idx="1" type="body"/>
          </p:nvPr>
        </p:nvSpPr>
        <p:spPr>
          <a:xfrm>
            <a:off x="311700" y="950475"/>
            <a:ext cx="8520600" cy="54183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Ứng dụng có thể đăng ký hoặc hủy bản mẫu ở thời gian thực thi.</a:t>
            </a:r>
            <a:endParaRPr/>
          </a:p>
          <a:p>
            <a:pPr indent="-381000" lvl="0" marL="457200" rtl="0" algn="l">
              <a:spcBef>
                <a:spcPts val="0"/>
              </a:spcBef>
              <a:spcAft>
                <a:spcPts val="0"/>
              </a:spcAft>
              <a:buSzPts val="2400"/>
              <a:buChar char="●"/>
            </a:pPr>
            <a:r>
              <a:rPr lang="en-GB"/>
              <a:t>Hỗ trợ tạo đối tượng bằng cách thay đổi các giá trị.</a:t>
            </a:r>
            <a:endParaRPr/>
          </a:p>
          <a:p>
            <a:pPr indent="-381000" lvl="0" marL="457200" rtl="0" algn="l">
              <a:spcBef>
                <a:spcPts val="0"/>
              </a:spcBef>
              <a:spcAft>
                <a:spcPts val="0"/>
              </a:spcAft>
              <a:buSzPts val="2400"/>
              <a:buChar char="●"/>
            </a:pPr>
            <a:r>
              <a:rPr lang="en-GB"/>
              <a:t>Hỗ trợ tạo đối tượng mới bằng cách thay đổi cấu trúc, kết hợp các đối tượng thành phần.</a:t>
            </a:r>
            <a:endParaRPr/>
          </a:p>
          <a:p>
            <a:pPr indent="-381000" lvl="0" marL="457200" rtl="0" algn="l">
              <a:spcBef>
                <a:spcPts val="0"/>
              </a:spcBef>
              <a:spcAft>
                <a:spcPts val="0"/>
              </a:spcAft>
              <a:buSzPts val="2400"/>
              <a:buChar char="●"/>
            </a:pPr>
            <a:r>
              <a:rPr lang="en-GB"/>
              <a:t>Giảm sử dụng kế thừa, như phương thức xưởng để tạo đối tượng.</a:t>
            </a:r>
            <a:endParaRPr/>
          </a:p>
          <a:p>
            <a:pPr indent="-381000" lvl="0" marL="457200" rtl="0" algn="l">
              <a:spcBef>
                <a:spcPts val="0"/>
              </a:spcBef>
              <a:spcAft>
                <a:spcPts val="0"/>
              </a:spcAft>
              <a:buSzPts val="2400"/>
              <a:buChar char="●"/>
            </a:pPr>
            <a:r>
              <a:rPr lang="en-GB"/>
              <a:t>Tùy chỉnh ứng </a:t>
            </a:r>
            <a:r>
              <a:rPr lang="en-GB"/>
              <a:t>dụng</a:t>
            </a:r>
            <a:r>
              <a:rPr lang="en-GB"/>
              <a:t> với các lớp động, hỗ trợ tạo đối tượng của các lớp được nạp ở thời gian thực thi.</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1" name="Shape 781"/>
        <p:cNvGrpSpPr/>
        <p:nvPr/>
      </p:nvGrpSpPr>
      <p:grpSpPr>
        <a:xfrm>
          <a:off x="0" y="0"/>
          <a:ext cx="0" cy="0"/>
          <a:chOff x="0" y="0"/>
          <a:chExt cx="0" cy="0"/>
        </a:xfrm>
      </p:grpSpPr>
      <p:sp>
        <p:nvSpPr>
          <p:cNvPr id="782" name="Google Shape;782;p44"/>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5. Ứng dụng soạn nhạc</a:t>
            </a:r>
            <a:endParaRPr/>
          </a:p>
        </p:txBody>
      </p:sp>
      <p:sp>
        <p:nvSpPr>
          <p:cNvPr id="783" name="Google Shape;783;p4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784" name="Google Shape;784;p44"/>
          <p:cNvSpPr/>
          <p:nvPr/>
        </p:nvSpPr>
        <p:spPr>
          <a:xfrm>
            <a:off x="1111559" y="1369950"/>
            <a:ext cx="12915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i="1" lang="en-GB"/>
              <a:t>Tool</a:t>
            </a:r>
            <a:endParaRPr i="1"/>
          </a:p>
        </p:txBody>
      </p:sp>
      <p:sp>
        <p:nvSpPr>
          <p:cNvPr id="785" name="Google Shape;785;p44"/>
          <p:cNvSpPr/>
          <p:nvPr/>
        </p:nvSpPr>
        <p:spPr>
          <a:xfrm>
            <a:off x="1111558" y="1692174"/>
            <a:ext cx="1291500" cy="3621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i="1" lang="en-GB"/>
              <a:t>Manipulate</a:t>
            </a:r>
            <a:r>
              <a:rPr i="1" lang="en-GB"/>
              <a:t>()</a:t>
            </a:r>
            <a:endParaRPr i="1"/>
          </a:p>
        </p:txBody>
      </p:sp>
      <p:sp>
        <p:nvSpPr>
          <p:cNvPr id="786" name="Google Shape;786;p44"/>
          <p:cNvSpPr/>
          <p:nvPr/>
        </p:nvSpPr>
        <p:spPr>
          <a:xfrm>
            <a:off x="314086" y="2589150"/>
            <a:ext cx="12915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a:t>Rotate</a:t>
            </a:r>
            <a:r>
              <a:rPr lang="en-GB"/>
              <a:t>Tool</a:t>
            </a:r>
            <a:endParaRPr/>
          </a:p>
        </p:txBody>
      </p:sp>
      <p:sp>
        <p:nvSpPr>
          <p:cNvPr id="787" name="Google Shape;787;p44"/>
          <p:cNvSpPr/>
          <p:nvPr/>
        </p:nvSpPr>
        <p:spPr>
          <a:xfrm>
            <a:off x="314086" y="2911374"/>
            <a:ext cx="1291500" cy="3621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lang="en-GB"/>
              <a:t>Manipulate()</a:t>
            </a:r>
            <a:endParaRPr/>
          </a:p>
        </p:txBody>
      </p:sp>
      <p:sp>
        <p:nvSpPr>
          <p:cNvPr id="788" name="Google Shape;788;p44"/>
          <p:cNvSpPr/>
          <p:nvPr/>
        </p:nvSpPr>
        <p:spPr>
          <a:xfrm>
            <a:off x="1914286" y="2589150"/>
            <a:ext cx="12915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a:t>Graphic</a:t>
            </a:r>
            <a:r>
              <a:rPr lang="en-GB"/>
              <a:t>Tool</a:t>
            </a:r>
            <a:endParaRPr/>
          </a:p>
        </p:txBody>
      </p:sp>
      <p:sp>
        <p:nvSpPr>
          <p:cNvPr id="789" name="Google Shape;789;p44"/>
          <p:cNvSpPr/>
          <p:nvPr/>
        </p:nvSpPr>
        <p:spPr>
          <a:xfrm>
            <a:off x="1914286" y="2911374"/>
            <a:ext cx="1291500" cy="3621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lang="en-GB"/>
              <a:t>Manipulate()</a:t>
            </a:r>
            <a:endParaRPr/>
          </a:p>
        </p:txBody>
      </p:sp>
      <p:sp>
        <p:nvSpPr>
          <p:cNvPr id="790" name="Google Shape;790;p44"/>
          <p:cNvSpPr/>
          <p:nvPr/>
        </p:nvSpPr>
        <p:spPr>
          <a:xfrm>
            <a:off x="5432636" y="1207978"/>
            <a:ext cx="12915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i="1" lang="en-GB"/>
              <a:t>Graphic</a:t>
            </a:r>
            <a:endParaRPr i="1"/>
          </a:p>
        </p:txBody>
      </p:sp>
      <p:sp>
        <p:nvSpPr>
          <p:cNvPr id="791" name="Google Shape;791;p44"/>
          <p:cNvSpPr/>
          <p:nvPr/>
        </p:nvSpPr>
        <p:spPr>
          <a:xfrm>
            <a:off x="5432625" y="1530204"/>
            <a:ext cx="1291500" cy="5247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i="1" lang="en-GB"/>
              <a:t>Draw</a:t>
            </a:r>
            <a:r>
              <a:rPr i="1" lang="en-GB"/>
              <a:t>(</a:t>
            </a:r>
            <a:r>
              <a:rPr i="1" lang="en-GB"/>
              <a:t>Position</a:t>
            </a:r>
            <a:r>
              <a:rPr i="1" lang="en-GB"/>
              <a:t>)</a:t>
            </a:r>
            <a:endParaRPr i="1"/>
          </a:p>
          <a:p>
            <a:pPr indent="0" lvl="0" marL="0" rtl="0" algn="l">
              <a:spcBef>
                <a:spcPts val="0"/>
              </a:spcBef>
              <a:spcAft>
                <a:spcPts val="0"/>
              </a:spcAft>
              <a:buNone/>
            </a:pPr>
            <a:r>
              <a:rPr i="1" lang="en-GB"/>
              <a:t>Clone()</a:t>
            </a:r>
            <a:endParaRPr i="1"/>
          </a:p>
        </p:txBody>
      </p:sp>
      <p:sp>
        <p:nvSpPr>
          <p:cNvPr id="792" name="Google Shape;792;p44"/>
          <p:cNvSpPr/>
          <p:nvPr/>
        </p:nvSpPr>
        <p:spPr>
          <a:xfrm>
            <a:off x="3984836" y="2626875"/>
            <a:ext cx="12915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a:t>Staff</a:t>
            </a:r>
            <a:endParaRPr/>
          </a:p>
        </p:txBody>
      </p:sp>
      <p:sp>
        <p:nvSpPr>
          <p:cNvPr id="793" name="Google Shape;793;p44"/>
          <p:cNvSpPr/>
          <p:nvPr/>
        </p:nvSpPr>
        <p:spPr>
          <a:xfrm>
            <a:off x="3984825" y="2949100"/>
            <a:ext cx="1291500" cy="5247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lang="en-GB"/>
              <a:t>Draw(Position)</a:t>
            </a:r>
            <a:endParaRPr/>
          </a:p>
          <a:p>
            <a:pPr indent="0" lvl="0" marL="0" rtl="0" algn="l">
              <a:spcBef>
                <a:spcPts val="0"/>
              </a:spcBef>
              <a:spcAft>
                <a:spcPts val="0"/>
              </a:spcAft>
              <a:buNone/>
            </a:pPr>
            <a:r>
              <a:rPr lang="en-GB"/>
              <a:t>Clone()</a:t>
            </a:r>
            <a:endParaRPr/>
          </a:p>
        </p:txBody>
      </p:sp>
      <p:sp>
        <p:nvSpPr>
          <p:cNvPr id="794" name="Google Shape;794;p44"/>
          <p:cNvSpPr/>
          <p:nvPr/>
        </p:nvSpPr>
        <p:spPr>
          <a:xfrm>
            <a:off x="6575636" y="2626875"/>
            <a:ext cx="12915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a:t>MusicalNote</a:t>
            </a:r>
            <a:endParaRPr/>
          </a:p>
        </p:txBody>
      </p:sp>
      <p:sp>
        <p:nvSpPr>
          <p:cNvPr id="795" name="Google Shape;795;p44"/>
          <p:cNvSpPr/>
          <p:nvPr/>
        </p:nvSpPr>
        <p:spPr>
          <a:xfrm>
            <a:off x="5862261" y="3588572"/>
            <a:ext cx="12915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a:t>WholeNote</a:t>
            </a:r>
            <a:endParaRPr/>
          </a:p>
        </p:txBody>
      </p:sp>
      <p:sp>
        <p:nvSpPr>
          <p:cNvPr id="796" name="Google Shape;796;p44"/>
          <p:cNvSpPr/>
          <p:nvPr/>
        </p:nvSpPr>
        <p:spPr>
          <a:xfrm>
            <a:off x="5862250" y="3910798"/>
            <a:ext cx="1291500" cy="5247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lang="en-GB"/>
              <a:t>Draw(Position)</a:t>
            </a:r>
            <a:endParaRPr/>
          </a:p>
          <a:p>
            <a:pPr indent="0" lvl="0" marL="0" rtl="0" algn="l">
              <a:spcBef>
                <a:spcPts val="0"/>
              </a:spcBef>
              <a:spcAft>
                <a:spcPts val="0"/>
              </a:spcAft>
              <a:buNone/>
            </a:pPr>
            <a:r>
              <a:rPr lang="en-GB"/>
              <a:t>Clone()</a:t>
            </a:r>
            <a:endParaRPr/>
          </a:p>
        </p:txBody>
      </p:sp>
      <p:sp>
        <p:nvSpPr>
          <p:cNvPr id="797" name="Google Shape;797;p44"/>
          <p:cNvSpPr/>
          <p:nvPr/>
        </p:nvSpPr>
        <p:spPr>
          <a:xfrm>
            <a:off x="7386261" y="3588572"/>
            <a:ext cx="12915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a:t>Half</a:t>
            </a:r>
            <a:r>
              <a:rPr lang="en-GB"/>
              <a:t>Note</a:t>
            </a:r>
            <a:endParaRPr/>
          </a:p>
        </p:txBody>
      </p:sp>
      <p:sp>
        <p:nvSpPr>
          <p:cNvPr id="798" name="Google Shape;798;p44"/>
          <p:cNvSpPr/>
          <p:nvPr/>
        </p:nvSpPr>
        <p:spPr>
          <a:xfrm>
            <a:off x="7386250" y="3910798"/>
            <a:ext cx="1291500" cy="5247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lang="en-GB"/>
              <a:t>Draw(Position)</a:t>
            </a:r>
            <a:endParaRPr/>
          </a:p>
          <a:p>
            <a:pPr indent="0" lvl="0" marL="0" rtl="0" algn="l">
              <a:spcBef>
                <a:spcPts val="0"/>
              </a:spcBef>
              <a:spcAft>
                <a:spcPts val="0"/>
              </a:spcAft>
              <a:buNone/>
            </a:pPr>
            <a:r>
              <a:rPr lang="en-GB"/>
              <a:t>Clone()</a:t>
            </a:r>
            <a:endParaRPr/>
          </a:p>
        </p:txBody>
      </p:sp>
      <p:sp>
        <p:nvSpPr>
          <p:cNvPr id="799" name="Google Shape;799;p44"/>
          <p:cNvSpPr/>
          <p:nvPr/>
        </p:nvSpPr>
        <p:spPr>
          <a:xfrm>
            <a:off x="1559200" y="4530750"/>
            <a:ext cx="2932500" cy="1241400"/>
          </a:xfrm>
          <a:prstGeom prst="foldedCorner">
            <a:avLst>
              <a:gd fmla="val 16667" name="adj"/>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t>p = prototype-&gt;Clone();</a:t>
            </a:r>
            <a:endParaRPr/>
          </a:p>
          <a:p>
            <a:pPr indent="0" lvl="0" marL="0" rtl="0" algn="l">
              <a:spcBef>
                <a:spcPts val="0"/>
              </a:spcBef>
              <a:spcAft>
                <a:spcPts val="0"/>
              </a:spcAft>
              <a:buNone/>
            </a:pPr>
            <a:r>
              <a:rPr lang="en-GB"/>
              <a:t>while (pointer is moving) {</a:t>
            </a:r>
            <a:endParaRPr/>
          </a:p>
          <a:p>
            <a:pPr indent="0" lvl="0" marL="0" rtl="0" algn="l">
              <a:spcBef>
                <a:spcPts val="0"/>
              </a:spcBef>
              <a:spcAft>
                <a:spcPts val="0"/>
              </a:spcAft>
              <a:buNone/>
            </a:pPr>
            <a:r>
              <a:rPr lang="en-GB"/>
              <a:t>  p-&gt;Draw(the new position);</a:t>
            </a:r>
            <a:endParaRPr/>
          </a:p>
          <a:p>
            <a:pPr indent="0" lvl="0" marL="0" rtl="0" algn="l">
              <a:spcBef>
                <a:spcPts val="0"/>
              </a:spcBef>
              <a:spcAft>
                <a:spcPts val="0"/>
              </a:spcAft>
              <a:buNone/>
            </a:pPr>
            <a:r>
              <a:rPr lang="en-GB"/>
              <a:t>}</a:t>
            </a:r>
            <a:endParaRPr/>
          </a:p>
          <a:p>
            <a:pPr indent="0" lvl="0" marL="0" rtl="0" algn="l">
              <a:spcBef>
                <a:spcPts val="0"/>
              </a:spcBef>
              <a:spcAft>
                <a:spcPts val="0"/>
              </a:spcAft>
              <a:buNone/>
            </a:pPr>
            <a:r>
              <a:rPr lang="en-GB"/>
              <a:t>thêm p vào bản vẽ</a:t>
            </a:r>
            <a:endParaRPr/>
          </a:p>
        </p:txBody>
      </p:sp>
      <p:cxnSp>
        <p:nvCxnSpPr>
          <p:cNvPr id="800" name="Google Shape;800;p44"/>
          <p:cNvCxnSpPr/>
          <p:nvPr/>
        </p:nvCxnSpPr>
        <p:spPr>
          <a:xfrm>
            <a:off x="2777100" y="3159150"/>
            <a:ext cx="0" cy="1359900"/>
          </a:xfrm>
          <a:prstGeom prst="straightConnector1">
            <a:avLst/>
          </a:prstGeom>
          <a:noFill/>
          <a:ln cap="flat" cmpd="sng" w="9525">
            <a:solidFill>
              <a:schemeClr val="dk2"/>
            </a:solidFill>
            <a:prstDash val="dash"/>
            <a:round/>
            <a:headEnd len="med" w="med" type="oval"/>
            <a:tailEnd len="med" w="med" type="none"/>
          </a:ln>
        </p:spPr>
      </p:cxnSp>
      <p:sp>
        <p:nvSpPr>
          <p:cNvPr id="801" name="Google Shape;801;p44"/>
          <p:cNvSpPr/>
          <p:nvPr/>
        </p:nvSpPr>
        <p:spPr>
          <a:xfrm>
            <a:off x="5115650" y="4987950"/>
            <a:ext cx="1612500" cy="582000"/>
          </a:xfrm>
          <a:prstGeom prst="foldedCorner">
            <a:avLst>
              <a:gd fmla="val 16667" name="adj"/>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t>Tạo bản sao của chính nó</a:t>
            </a:r>
            <a:endParaRPr/>
          </a:p>
        </p:txBody>
      </p:sp>
      <p:sp>
        <p:nvSpPr>
          <p:cNvPr id="802" name="Google Shape;802;p44"/>
          <p:cNvSpPr/>
          <p:nvPr/>
        </p:nvSpPr>
        <p:spPr>
          <a:xfrm>
            <a:off x="7173050" y="4987950"/>
            <a:ext cx="1612500" cy="582000"/>
          </a:xfrm>
          <a:prstGeom prst="foldedCorner">
            <a:avLst>
              <a:gd fmla="val 16667" name="adj"/>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t>Tạo bản sao của chính nó</a:t>
            </a:r>
            <a:endParaRPr/>
          </a:p>
        </p:txBody>
      </p:sp>
      <p:cxnSp>
        <p:nvCxnSpPr>
          <p:cNvPr id="803" name="Google Shape;803;p44"/>
          <p:cNvCxnSpPr/>
          <p:nvPr/>
        </p:nvCxnSpPr>
        <p:spPr>
          <a:xfrm>
            <a:off x="6570025" y="4317924"/>
            <a:ext cx="0" cy="674100"/>
          </a:xfrm>
          <a:prstGeom prst="straightConnector1">
            <a:avLst/>
          </a:prstGeom>
          <a:noFill/>
          <a:ln cap="flat" cmpd="sng" w="9525">
            <a:solidFill>
              <a:schemeClr val="dk2"/>
            </a:solidFill>
            <a:prstDash val="dot"/>
            <a:round/>
            <a:headEnd len="med" w="med" type="oval"/>
            <a:tailEnd len="med" w="med" type="none"/>
          </a:ln>
        </p:spPr>
      </p:cxnSp>
      <p:cxnSp>
        <p:nvCxnSpPr>
          <p:cNvPr id="804" name="Google Shape;804;p44"/>
          <p:cNvCxnSpPr/>
          <p:nvPr/>
        </p:nvCxnSpPr>
        <p:spPr>
          <a:xfrm>
            <a:off x="8170225" y="4317924"/>
            <a:ext cx="0" cy="674100"/>
          </a:xfrm>
          <a:prstGeom prst="straightConnector1">
            <a:avLst/>
          </a:prstGeom>
          <a:noFill/>
          <a:ln cap="flat" cmpd="sng" w="9525">
            <a:solidFill>
              <a:schemeClr val="dk2"/>
            </a:solidFill>
            <a:prstDash val="dot"/>
            <a:round/>
            <a:headEnd len="med" w="med" type="oval"/>
            <a:tailEnd len="med" w="med" type="none"/>
          </a:ln>
        </p:spPr>
      </p:cxnSp>
      <p:sp>
        <p:nvSpPr>
          <p:cNvPr id="805" name="Google Shape;805;p44"/>
          <p:cNvSpPr/>
          <p:nvPr/>
        </p:nvSpPr>
        <p:spPr>
          <a:xfrm>
            <a:off x="1299075" y="2059499"/>
            <a:ext cx="153600" cy="1581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06" name="Google Shape;806;p44"/>
          <p:cNvSpPr/>
          <p:nvPr/>
        </p:nvSpPr>
        <p:spPr>
          <a:xfrm>
            <a:off x="1984875" y="2059499"/>
            <a:ext cx="153600" cy="1581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07" name="Google Shape;807;p44"/>
          <p:cNvSpPr/>
          <p:nvPr/>
        </p:nvSpPr>
        <p:spPr>
          <a:xfrm>
            <a:off x="5642475" y="2064754"/>
            <a:ext cx="153600" cy="1581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08" name="Google Shape;808;p44"/>
          <p:cNvSpPr/>
          <p:nvPr/>
        </p:nvSpPr>
        <p:spPr>
          <a:xfrm>
            <a:off x="6328275" y="2064754"/>
            <a:ext cx="153600" cy="1581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09" name="Google Shape;809;p44"/>
          <p:cNvSpPr/>
          <p:nvPr/>
        </p:nvSpPr>
        <p:spPr>
          <a:xfrm>
            <a:off x="6785475" y="2962075"/>
            <a:ext cx="153600" cy="1581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10" name="Google Shape;810;p44"/>
          <p:cNvSpPr/>
          <p:nvPr/>
        </p:nvSpPr>
        <p:spPr>
          <a:xfrm>
            <a:off x="7471275" y="2962075"/>
            <a:ext cx="153600" cy="1581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811" name="Google Shape;811;p44"/>
          <p:cNvCxnSpPr>
            <a:stCxn id="805" idx="3"/>
            <a:endCxn id="786" idx="0"/>
          </p:cNvCxnSpPr>
          <p:nvPr/>
        </p:nvCxnSpPr>
        <p:spPr>
          <a:xfrm rot="5400000">
            <a:off x="981975" y="2195399"/>
            <a:ext cx="371700" cy="416100"/>
          </a:xfrm>
          <a:prstGeom prst="bentConnector3">
            <a:avLst>
              <a:gd fmla="val 49980" name="adj1"/>
            </a:avLst>
          </a:prstGeom>
          <a:noFill/>
          <a:ln cap="flat" cmpd="sng" w="9525">
            <a:solidFill>
              <a:schemeClr val="dk2"/>
            </a:solidFill>
            <a:prstDash val="solid"/>
            <a:round/>
            <a:headEnd len="med" w="med" type="none"/>
            <a:tailEnd len="med" w="med" type="none"/>
          </a:ln>
        </p:spPr>
      </p:cxnSp>
      <p:cxnSp>
        <p:nvCxnSpPr>
          <p:cNvPr id="812" name="Google Shape;812;p44"/>
          <p:cNvCxnSpPr>
            <a:stCxn id="806" idx="3"/>
            <a:endCxn id="788" idx="0"/>
          </p:cNvCxnSpPr>
          <p:nvPr/>
        </p:nvCxnSpPr>
        <p:spPr>
          <a:xfrm flipH="1" rot="-5400000">
            <a:off x="2124975" y="2154299"/>
            <a:ext cx="371700" cy="498300"/>
          </a:xfrm>
          <a:prstGeom prst="bentConnector3">
            <a:avLst>
              <a:gd fmla="val 49980" name="adj1"/>
            </a:avLst>
          </a:prstGeom>
          <a:noFill/>
          <a:ln cap="flat" cmpd="sng" w="9525">
            <a:solidFill>
              <a:schemeClr val="dk2"/>
            </a:solidFill>
            <a:prstDash val="solid"/>
            <a:round/>
            <a:headEnd len="med" w="med" type="none"/>
            <a:tailEnd len="med" w="med" type="none"/>
          </a:ln>
        </p:spPr>
      </p:cxnSp>
      <p:cxnSp>
        <p:nvCxnSpPr>
          <p:cNvPr id="813" name="Google Shape;813;p44"/>
          <p:cNvCxnSpPr>
            <a:stCxn id="792" idx="0"/>
            <a:endCxn id="807" idx="3"/>
          </p:cNvCxnSpPr>
          <p:nvPr/>
        </p:nvCxnSpPr>
        <p:spPr>
          <a:xfrm rot="-5400000">
            <a:off x="4972886" y="1880475"/>
            <a:ext cx="404100" cy="1088700"/>
          </a:xfrm>
          <a:prstGeom prst="bentConnector3">
            <a:avLst>
              <a:gd fmla="val 49990" name="adj1"/>
            </a:avLst>
          </a:prstGeom>
          <a:noFill/>
          <a:ln cap="flat" cmpd="sng" w="9525">
            <a:solidFill>
              <a:schemeClr val="dk2"/>
            </a:solidFill>
            <a:prstDash val="solid"/>
            <a:round/>
            <a:headEnd len="med" w="med" type="none"/>
            <a:tailEnd len="med" w="med" type="none"/>
          </a:ln>
        </p:spPr>
      </p:cxnSp>
      <p:cxnSp>
        <p:nvCxnSpPr>
          <p:cNvPr id="814" name="Google Shape;814;p44"/>
          <p:cNvCxnSpPr>
            <a:stCxn id="794" idx="0"/>
            <a:endCxn id="808" idx="3"/>
          </p:cNvCxnSpPr>
          <p:nvPr/>
        </p:nvCxnSpPr>
        <p:spPr>
          <a:xfrm flipH="1" rot="5400000">
            <a:off x="6611186" y="2016675"/>
            <a:ext cx="404100" cy="816300"/>
          </a:xfrm>
          <a:prstGeom prst="bentConnector3">
            <a:avLst>
              <a:gd fmla="val 49990" name="adj1"/>
            </a:avLst>
          </a:prstGeom>
          <a:noFill/>
          <a:ln cap="flat" cmpd="sng" w="9525">
            <a:solidFill>
              <a:schemeClr val="dk2"/>
            </a:solidFill>
            <a:prstDash val="solid"/>
            <a:round/>
            <a:headEnd len="med" w="med" type="none"/>
            <a:tailEnd len="med" w="med" type="none"/>
          </a:ln>
        </p:spPr>
      </p:cxnSp>
      <p:cxnSp>
        <p:nvCxnSpPr>
          <p:cNvPr id="815" name="Google Shape;815;p44"/>
          <p:cNvCxnSpPr>
            <a:stCxn id="795" idx="0"/>
            <a:endCxn id="809" idx="3"/>
          </p:cNvCxnSpPr>
          <p:nvPr/>
        </p:nvCxnSpPr>
        <p:spPr>
          <a:xfrm rot="-5400000">
            <a:off x="6451011" y="3177272"/>
            <a:ext cx="468300" cy="354300"/>
          </a:xfrm>
          <a:prstGeom prst="bentConnector3">
            <a:avLst>
              <a:gd fmla="val 50010" name="adj1"/>
            </a:avLst>
          </a:prstGeom>
          <a:noFill/>
          <a:ln cap="flat" cmpd="sng" w="9525">
            <a:solidFill>
              <a:schemeClr val="dk2"/>
            </a:solidFill>
            <a:prstDash val="solid"/>
            <a:round/>
            <a:headEnd len="med" w="med" type="none"/>
            <a:tailEnd len="med" w="med" type="none"/>
          </a:ln>
        </p:spPr>
      </p:cxnSp>
      <p:cxnSp>
        <p:nvCxnSpPr>
          <p:cNvPr id="816" name="Google Shape;816;p44"/>
          <p:cNvCxnSpPr>
            <a:stCxn id="797" idx="0"/>
            <a:endCxn id="810" idx="3"/>
          </p:cNvCxnSpPr>
          <p:nvPr/>
        </p:nvCxnSpPr>
        <p:spPr>
          <a:xfrm flipH="1" rot="5400000">
            <a:off x="7555911" y="3112472"/>
            <a:ext cx="468300" cy="483900"/>
          </a:xfrm>
          <a:prstGeom prst="bentConnector3">
            <a:avLst>
              <a:gd fmla="val 50010" name="adj1"/>
            </a:avLst>
          </a:prstGeom>
          <a:noFill/>
          <a:ln cap="flat" cmpd="sng" w="9525">
            <a:solidFill>
              <a:schemeClr val="dk2"/>
            </a:solidFill>
            <a:prstDash val="solid"/>
            <a:round/>
            <a:headEnd len="med" w="med" type="none"/>
            <a:tailEnd len="med" w="med" type="none"/>
          </a:ln>
        </p:spPr>
      </p:cxnSp>
      <p:sp>
        <p:nvSpPr>
          <p:cNvPr id="817" name="Google Shape;817;p44"/>
          <p:cNvSpPr/>
          <p:nvPr/>
        </p:nvSpPr>
        <p:spPr>
          <a:xfrm>
            <a:off x="3202775" y="2674350"/>
            <a:ext cx="153600" cy="130200"/>
          </a:xfrm>
          <a:prstGeom prst="diamond">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818" name="Google Shape;818;p44"/>
          <p:cNvCxnSpPr>
            <a:stCxn id="817" idx="3"/>
            <a:endCxn id="790" idx="1"/>
          </p:cNvCxnSpPr>
          <p:nvPr/>
        </p:nvCxnSpPr>
        <p:spPr>
          <a:xfrm flipH="1" rot="10800000">
            <a:off x="3356375" y="1369350"/>
            <a:ext cx="2076300" cy="1370100"/>
          </a:xfrm>
          <a:prstGeom prst="bentConnector3">
            <a:avLst>
              <a:gd fmla="val 24493" name="adj1"/>
            </a:avLst>
          </a:prstGeom>
          <a:noFill/>
          <a:ln cap="flat" cmpd="sng" w="9525">
            <a:solidFill>
              <a:schemeClr val="dk2"/>
            </a:solidFill>
            <a:prstDash val="solid"/>
            <a:round/>
            <a:headEnd len="med" w="med" type="none"/>
            <a:tailEnd len="med" w="med" type="none"/>
          </a:ln>
        </p:spPr>
      </p:cxnSp>
      <p:sp>
        <p:nvSpPr>
          <p:cNvPr id="819" name="Google Shape;819;p44"/>
          <p:cNvSpPr txBox="1"/>
          <p:nvPr/>
        </p:nvSpPr>
        <p:spPr>
          <a:xfrm>
            <a:off x="4567900" y="1039925"/>
            <a:ext cx="943500" cy="32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200">
                <a:solidFill>
                  <a:schemeClr val="dk2"/>
                </a:solidFill>
              </a:rPr>
              <a:t>prototype</a:t>
            </a:r>
            <a:endParaRPr sz="1200">
              <a:solidFill>
                <a:schemeClr val="dk2"/>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3" name="Shape 823"/>
        <p:cNvGrpSpPr/>
        <p:nvPr/>
      </p:nvGrpSpPr>
      <p:grpSpPr>
        <a:xfrm>
          <a:off x="0" y="0"/>
          <a:ext cx="0" cy="0"/>
          <a:chOff x="0" y="0"/>
          <a:chExt cx="0" cy="0"/>
        </a:xfrm>
      </p:grpSpPr>
      <p:sp>
        <p:nvSpPr>
          <p:cNvPr id="824" name="Google Shape;824;p45"/>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Lớp độc bản</a:t>
            </a:r>
            <a:endParaRPr/>
          </a:p>
        </p:txBody>
      </p:sp>
      <p:sp>
        <p:nvSpPr>
          <p:cNvPr id="825" name="Google Shape;825;p45"/>
          <p:cNvSpPr txBox="1"/>
          <p:nvPr>
            <p:ph idx="1" type="body"/>
          </p:nvPr>
        </p:nvSpPr>
        <p:spPr>
          <a:xfrm>
            <a:off x="311700" y="950475"/>
            <a:ext cx="8520600" cy="54183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i="1" lang="en-GB"/>
              <a:t>Singleton</a:t>
            </a:r>
            <a:endParaRPr i="1"/>
          </a:p>
          <a:p>
            <a:pPr indent="0" lvl="0" marL="0" rtl="0" algn="l">
              <a:spcBef>
                <a:spcPts val="0"/>
              </a:spcBef>
              <a:spcAft>
                <a:spcPts val="0"/>
              </a:spcAft>
              <a:buNone/>
            </a:pPr>
            <a:r>
              <a:rPr lang="en-GB"/>
              <a:t>Đảm bảo một lớp chỉ có đúng một bản thực và cung cấp khả năng truy cập toàn cục tới bản thực đó.</a:t>
            </a:r>
            <a:endParaRPr/>
          </a:p>
        </p:txBody>
      </p:sp>
      <p:sp>
        <p:nvSpPr>
          <p:cNvPr id="826" name="Google Shape;826;p4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0" name="Shape 830"/>
        <p:cNvGrpSpPr/>
        <p:nvPr/>
      </p:nvGrpSpPr>
      <p:grpSpPr>
        <a:xfrm>
          <a:off x="0" y="0"/>
          <a:ext cx="0" cy="0"/>
          <a:chOff x="0" y="0"/>
          <a:chExt cx="0" cy="0"/>
        </a:xfrm>
      </p:grpSpPr>
      <p:sp>
        <p:nvSpPr>
          <p:cNvPr id="831" name="Google Shape;831;p46"/>
          <p:cNvSpPr txBox="1"/>
          <p:nvPr/>
        </p:nvSpPr>
        <p:spPr>
          <a:xfrm>
            <a:off x="5144650" y="2284350"/>
            <a:ext cx="3101700" cy="93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Trả về tham chiếu tới 1 đối tượng duy nhất. Có thể tạo mới ở lần gọi đầu tiên.</a:t>
            </a:r>
            <a:endParaRPr/>
          </a:p>
        </p:txBody>
      </p:sp>
      <p:sp>
        <p:nvSpPr>
          <p:cNvPr id="832" name="Google Shape;832;p46"/>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Lớp độc bản: Cấu trúc</a:t>
            </a:r>
            <a:endParaRPr/>
          </a:p>
        </p:txBody>
      </p:sp>
      <p:sp>
        <p:nvSpPr>
          <p:cNvPr id="833" name="Google Shape;833;p4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834" name="Google Shape;834;p46"/>
          <p:cNvSpPr/>
          <p:nvPr/>
        </p:nvSpPr>
        <p:spPr>
          <a:xfrm>
            <a:off x="1977476" y="2264385"/>
            <a:ext cx="19047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i="1" lang="en-GB" sz="1600"/>
              <a:t>Lớp độc bản</a:t>
            </a:r>
            <a:endParaRPr i="1" sz="1600"/>
          </a:p>
        </p:txBody>
      </p:sp>
      <p:sp>
        <p:nvSpPr>
          <p:cNvPr id="835" name="Google Shape;835;p46"/>
          <p:cNvSpPr/>
          <p:nvPr/>
        </p:nvSpPr>
        <p:spPr>
          <a:xfrm>
            <a:off x="1977475" y="2586610"/>
            <a:ext cx="1904700" cy="3621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lang="en-GB" sz="1600"/>
              <a:t>+ </a:t>
            </a:r>
            <a:r>
              <a:rPr lang="en-GB" sz="1600"/>
              <a:t>Lấy tham chiếu</a:t>
            </a:r>
            <a:r>
              <a:rPr lang="en-GB" sz="1600"/>
              <a:t>()</a:t>
            </a:r>
            <a:endParaRPr sz="1600"/>
          </a:p>
        </p:txBody>
      </p:sp>
      <p:sp>
        <p:nvSpPr>
          <p:cNvPr id="836" name="Google Shape;836;p46"/>
          <p:cNvSpPr/>
          <p:nvPr/>
        </p:nvSpPr>
        <p:spPr>
          <a:xfrm flipH="1" rot="10800000">
            <a:off x="5173850" y="2357825"/>
            <a:ext cx="2932800" cy="692100"/>
          </a:xfrm>
          <a:prstGeom prst="foldedCorner">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37" name="Google Shape;837;p46"/>
          <p:cNvCxnSpPr>
            <a:endCxn id="831" idx="1"/>
          </p:cNvCxnSpPr>
          <p:nvPr/>
        </p:nvCxnSpPr>
        <p:spPr>
          <a:xfrm>
            <a:off x="3720850" y="2753700"/>
            <a:ext cx="1423800" cy="0"/>
          </a:xfrm>
          <a:prstGeom prst="straightConnector1">
            <a:avLst/>
          </a:prstGeom>
          <a:noFill/>
          <a:ln cap="flat" cmpd="sng" w="9525">
            <a:solidFill>
              <a:schemeClr val="dk2"/>
            </a:solidFill>
            <a:prstDash val="dot"/>
            <a:round/>
            <a:headEnd len="med" w="med" type="oval"/>
            <a:tailEnd len="med" w="med" type="none"/>
          </a:ln>
        </p:spPr>
      </p:cxn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1" name="Shape 841"/>
        <p:cNvGrpSpPr/>
        <p:nvPr/>
      </p:nvGrpSpPr>
      <p:grpSpPr>
        <a:xfrm>
          <a:off x="0" y="0"/>
          <a:ext cx="0" cy="0"/>
          <a:chOff x="0" y="0"/>
          <a:chExt cx="0" cy="0"/>
        </a:xfrm>
      </p:grpSpPr>
      <p:cxnSp>
        <p:nvCxnSpPr>
          <p:cNvPr id="842" name="Google Shape;842;p47"/>
          <p:cNvCxnSpPr/>
          <p:nvPr/>
        </p:nvCxnSpPr>
        <p:spPr>
          <a:xfrm>
            <a:off x="5058834" y="1482277"/>
            <a:ext cx="0" cy="3361200"/>
          </a:xfrm>
          <a:prstGeom prst="straightConnector1">
            <a:avLst/>
          </a:prstGeom>
          <a:noFill/>
          <a:ln cap="flat" cmpd="sng" w="9525">
            <a:solidFill>
              <a:schemeClr val="dk2"/>
            </a:solidFill>
            <a:prstDash val="dash"/>
            <a:round/>
            <a:headEnd len="med" w="med" type="none"/>
            <a:tailEnd len="med" w="med" type="none"/>
          </a:ln>
        </p:spPr>
      </p:cxnSp>
      <p:sp>
        <p:nvSpPr>
          <p:cNvPr id="843" name="Google Shape;843;p47"/>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Lớp độc bản: Hành vi</a:t>
            </a:r>
            <a:endParaRPr/>
          </a:p>
        </p:txBody>
      </p:sp>
      <p:sp>
        <p:nvSpPr>
          <p:cNvPr id="844" name="Google Shape;844;p4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845" name="Google Shape;845;p47"/>
          <p:cNvSpPr/>
          <p:nvPr/>
        </p:nvSpPr>
        <p:spPr>
          <a:xfrm>
            <a:off x="4260673" y="1159775"/>
            <a:ext cx="15933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u="sng"/>
              <a:t>o</a:t>
            </a:r>
            <a:r>
              <a:rPr lang="en-GB" sz="1600" u="sng"/>
              <a:t>:</a:t>
            </a:r>
            <a:r>
              <a:rPr lang="en-GB" sz="1600" u="sng"/>
              <a:t>Lớp độc bản</a:t>
            </a:r>
            <a:endParaRPr sz="1600" u="sng"/>
          </a:p>
        </p:txBody>
      </p:sp>
      <p:sp>
        <p:nvSpPr>
          <p:cNvPr id="846" name="Google Shape;846;p47"/>
          <p:cNvSpPr/>
          <p:nvPr/>
        </p:nvSpPr>
        <p:spPr>
          <a:xfrm>
            <a:off x="3333450" y="1257202"/>
            <a:ext cx="129900" cy="1299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47" name="Google Shape;847;p47"/>
          <p:cNvSpPr/>
          <p:nvPr/>
        </p:nvSpPr>
        <p:spPr>
          <a:xfrm>
            <a:off x="4978350" y="2068825"/>
            <a:ext cx="130800" cy="873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48" name="Google Shape;848;p47"/>
          <p:cNvCxnSpPr>
            <a:stCxn id="846" idx="6"/>
          </p:cNvCxnSpPr>
          <p:nvPr/>
        </p:nvCxnSpPr>
        <p:spPr>
          <a:xfrm>
            <a:off x="3463350" y="1322152"/>
            <a:ext cx="786600" cy="0"/>
          </a:xfrm>
          <a:prstGeom prst="straightConnector1">
            <a:avLst/>
          </a:prstGeom>
          <a:noFill/>
          <a:ln cap="flat" cmpd="sng" w="9525">
            <a:solidFill>
              <a:schemeClr val="dk2"/>
            </a:solidFill>
            <a:prstDash val="solid"/>
            <a:round/>
            <a:headEnd len="med" w="med" type="none"/>
            <a:tailEnd len="med" w="med" type="triangle"/>
          </a:ln>
        </p:spPr>
      </p:cxnSp>
      <p:sp>
        <p:nvSpPr>
          <p:cNvPr id="849" name="Google Shape;849;p47"/>
          <p:cNvSpPr txBox="1"/>
          <p:nvPr/>
        </p:nvSpPr>
        <p:spPr>
          <a:xfrm>
            <a:off x="3454225" y="977677"/>
            <a:ext cx="765600" cy="40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Tạo</a:t>
            </a:r>
            <a:r>
              <a:rPr lang="en-GB">
                <a:solidFill>
                  <a:schemeClr val="dk2"/>
                </a:solidFill>
              </a:rPr>
              <a:t>()</a:t>
            </a:r>
            <a:endParaRPr>
              <a:solidFill>
                <a:schemeClr val="dk2"/>
              </a:solidFill>
            </a:endParaRPr>
          </a:p>
        </p:txBody>
      </p:sp>
      <p:sp>
        <p:nvSpPr>
          <p:cNvPr id="850" name="Google Shape;850;p47"/>
          <p:cNvSpPr/>
          <p:nvPr/>
        </p:nvSpPr>
        <p:spPr>
          <a:xfrm>
            <a:off x="3363398" y="2095402"/>
            <a:ext cx="129900" cy="1299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851" name="Google Shape;851;p47"/>
          <p:cNvCxnSpPr>
            <a:stCxn id="850" idx="6"/>
          </p:cNvCxnSpPr>
          <p:nvPr/>
        </p:nvCxnSpPr>
        <p:spPr>
          <a:xfrm>
            <a:off x="3493298" y="2160352"/>
            <a:ext cx="1451700" cy="0"/>
          </a:xfrm>
          <a:prstGeom prst="straightConnector1">
            <a:avLst/>
          </a:prstGeom>
          <a:noFill/>
          <a:ln cap="flat" cmpd="sng" w="9525">
            <a:solidFill>
              <a:schemeClr val="dk2"/>
            </a:solidFill>
            <a:prstDash val="solid"/>
            <a:round/>
            <a:headEnd len="med" w="med" type="none"/>
            <a:tailEnd len="med" w="med" type="triangle"/>
          </a:ln>
        </p:spPr>
      </p:cxnSp>
      <p:sp>
        <p:nvSpPr>
          <p:cNvPr id="852" name="Google Shape;852;p47"/>
          <p:cNvSpPr txBox="1"/>
          <p:nvPr/>
        </p:nvSpPr>
        <p:spPr>
          <a:xfrm>
            <a:off x="3439600" y="1815875"/>
            <a:ext cx="1593300" cy="32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Lấy tham chiếu</a:t>
            </a:r>
            <a:r>
              <a:rPr lang="en-GB">
                <a:solidFill>
                  <a:schemeClr val="dk2"/>
                </a:solidFill>
              </a:rPr>
              <a:t>()</a:t>
            </a:r>
            <a:endParaRPr>
              <a:solidFill>
                <a:schemeClr val="dk2"/>
              </a:solidFill>
            </a:endParaRPr>
          </a:p>
        </p:txBody>
      </p:sp>
      <p:sp>
        <p:nvSpPr>
          <p:cNvPr id="853" name="Google Shape;853;p47"/>
          <p:cNvSpPr/>
          <p:nvPr/>
        </p:nvSpPr>
        <p:spPr>
          <a:xfrm>
            <a:off x="3363398" y="2705002"/>
            <a:ext cx="129900" cy="1299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54" name="Google Shape;854;p47"/>
          <p:cNvSpPr txBox="1"/>
          <p:nvPr/>
        </p:nvSpPr>
        <p:spPr>
          <a:xfrm>
            <a:off x="4046525" y="2425475"/>
            <a:ext cx="414000" cy="32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o</a:t>
            </a:r>
            <a:endParaRPr>
              <a:solidFill>
                <a:schemeClr val="dk2"/>
              </a:solidFill>
            </a:endParaRPr>
          </a:p>
        </p:txBody>
      </p:sp>
      <p:cxnSp>
        <p:nvCxnSpPr>
          <p:cNvPr id="855" name="Google Shape;855;p47"/>
          <p:cNvCxnSpPr/>
          <p:nvPr/>
        </p:nvCxnSpPr>
        <p:spPr>
          <a:xfrm rot="10800000">
            <a:off x="3467475" y="2765225"/>
            <a:ext cx="1517400" cy="0"/>
          </a:xfrm>
          <a:prstGeom prst="straightConnector1">
            <a:avLst/>
          </a:prstGeom>
          <a:noFill/>
          <a:ln cap="flat" cmpd="sng" w="9525">
            <a:solidFill>
              <a:schemeClr val="dk2"/>
            </a:solidFill>
            <a:prstDash val="dash"/>
            <a:round/>
            <a:headEnd len="med" w="med" type="none"/>
            <a:tailEnd len="med" w="med" type="triangle"/>
          </a:ln>
        </p:spPr>
      </p:cxn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9" name="Shape 859"/>
        <p:cNvGrpSpPr/>
        <p:nvPr/>
      </p:nvGrpSpPr>
      <p:grpSpPr>
        <a:xfrm>
          <a:off x="0" y="0"/>
          <a:ext cx="0" cy="0"/>
          <a:chOff x="0" y="0"/>
          <a:chExt cx="0" cy="0"/>
        </a:xfrm>
      </p:grpSpPr>
      <p:sp>
        <p:nvSpPr>
          <p:cNvPr id="860" name="Google Shape;860;p48"/>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Lớp độc bản: Các hệ quả</a:t>
            </a:r>
            <a:endParaRPr/>
          </a:p>
        </p:txBody>
      </p:sp>
      <p:sp>
        <p:nvSpPr>
          <p:cNvPr id="861" name="Google Shape;861;p4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862" name="Google Shape;862;p48"/>
          <p:cNvSpPr txBox="1"/>
          <p:nvPr>
            <p:ph idx="1" type="body"/>
          </p:nvPr>
        </p:nvSpPr>
        <p:spPr>
          <a:xfrm>
            <a:off x="311700" y="950475"/>
            <a:ext cx="8520600" cy="5418300"/>
          </a:xfrm>
          <a:prstGeom prst="rect">
            <a:avLst/>
          </a:prstGeom>
        </p:spPr>
        <p:txBody>
          <a:bodyPr anchorCtr="0" anchor="t" bIns="91425" lIns="91425" spcFirstLastPara="1" rIns="91425" wrap="square" tIns="91425">
            <a:noAutofit/>
          </a:bodyPr>
          <a:lstStyle/>
          <a:p>
            <a:pPr indent="-381000" lvl="0" marL="457200" rtl="0" algn="just">
              <a:spcBef>
                <a:spcPts val="0"/>
              </a:spcBef>
              <a:spcAft>
                <a:spcPts val="0"/>
              </a:spcAft>
              <a:buSzPts val="2400"/>
              <a:buChar char="●"/>
            </a:pPr>
            <a:r>
              <a:rPr lang="en-GB"/>
              <a:t>Có thể thiết lập quyền truy cập tới bản thực duy nhất.</a:t>
            </a:r>
            <a:endParaRPr/>
          </a:p>
          <a:p>
            <a:pPr indent="-381000" lvl="0" marL="457200" rtl="0" algn="just">
              <a:spcBef>
                <a:spcPts val="0"/>
              </a:spcBef>
              <a:spcAft>
                <a:spcPts val="0"/>
              </a:spcAft>
              <a:buSzPts val="2400"/>
              <a:buChar char="●"/>
            </a:pPr>
            <a:r>
              <a:rPr lang="en-GB"/>
              <a:t>Giản lược không gian tên, hạn chế biến toàn cục.</a:t>
            </a:r>
            <a:endParaRPr/>
          </a:p>
          <a:p>
            <a:pPr indent="-381000" lvl="0" marL="457200" rtl="0" algn="just">
              <a:spcBef>
                <a:spcPts val="0"/>
              </a:spcBef>
              <a:spcAft>
                <a:spcPts val="0"/>
              </a:spcAft>
              <a:buSzPts val="2400"/>
              <a:buChar char="●"/>
            </a:pPr>
            <a:r>
              <a:rPr lang="en-GB"/>
              <a:t>Có thể kế thừa lớp độc bản và tùy chỉnh lớp mở rộng.</a:t>
            </a:r>
            <a:endParaRPr/>
          </a:p>
          <a:p>
            <a:pPr indent="-381000" lvl="0" marL="457200" rtl="0" algn="just">
              <a:spcBef>
                <a:spcPts val="0"/>
              </a:spcBef>
              <a:spcAft>
                <a:spcPts val="0"/>
              </a:spcAft>
              <a:buSzPts val="2400"/>
              <a:buChar char="●"/>
            </a:pPr>
            <a:r>
              <a:rPr lang="en-GB"/>
              <a:t>Có thể thay đổi số lượng thực bản, điều chỉnh để cho phép nhiều hơn 1 thực bản.</a:t>
            </a:r>
            <a:endParaRPr/>
          </a:p>
          <a:p>
            <a:pPr indent="-381000" lvl="0" marL="457200" rtl="0" algn="just">
              <a:spcBef>
                <a:spcPts val="0"/>
              </a:spcBef>
              <a:spcAft>
                <a:spcPts val="0"/>
              </a:spcAft>
              <a:buSzPts val="2400"/>
              <a:buChar char="●"/>
            </a:pPr>
            <a:r>
              <a:rPr lang="en-GB"/>
              <a:t>Có hạn chế đối với phương thức tĩnh. Ví dụ phương thức static trong C++ không thể là virtual, và không thể áp dụng đa hình.</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6" name="Shape 866"/>
        <p:cNvGrpSpPr/>
        <p:nvPr/>
      </p:nvGrpSpPr>
      <p:grpSpPr>
        <a:xfrm>
          <a:off x="0" y="0"/>
          <a:ext cx="0" cy="0"/>
          <a:chOff x="0" y="0"/>
          <a:chExt cx="0" cy="0"/>
        </a:xfrm>
      </p:grpSpPr>
      <p:sp>
        <p:nvSpPr>
          <p:cNvPr id="867" name="Google Shape;867;p49"/>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a:t>
            </a:r>
            <a:r>
              <a:rPr lang="en-GB"/>
              <a:t>6</a:t>
            </a:r>
            <a:r>
              <a:rPr lang="en-GB"/>
              <a:t>. </a:t>
            </a:r>
            <a:r>
              <a:rPr lang="en-GB"/>
              <a:t>Tùy chỉnh toàn cục</a:t>
            </a:r>
            <a:endParaRPr/>
          </a:p>
        </p:txBody>
      </p:sp>
      <p:sp>
        <p:nvSpPr>
          <p:cNvPr id="868" name="Google Shape;868;p4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869" name="Google Shape;869;p49"/>
          <p:cNvSpPr/>
          <p:nvPr/>
        </p:nvSpPr>
        <p:spPr>
          <a:xfrm>
            <a:off x="1485611" y="1839947"/>
            <a:ext cx="12915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Client</a:t>
            </a:r>
            <a:endParaRPr sz="1600"/>
          </a:p>
        </p:txBody>
      </p:sp>
      <p:sp>
        <p:nvSpPr>
          <p:cNvPr id="870" name="Google Shape;870;p49"/>
          <p:cNvSpPr/>
          <p:nvPr/>
        </p:nvSpPr>
        <p:spPr>
          <a:xfrm>
            <a:off x="4111975" y="1734000"/>
            <a:ext cx="1614000" cy="5247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&lt;&lt;singleton&gt;&gt;</a:t>
            </a:r>
            <a:endParaRPr sz="1600"/>
          </a:p>
          <a:p>
            <a:pPr indent="0" lvl="0" marL="0" rtl="0" algn="ctr">
              <a:spcBef>
                <a:spcPts val="0"/>
              </a:spcBef>
              <a:spcAft>
                <a:spcPts val="0"/>
              </a:spcAft>
              <a:buNone/>
            </a:pPr>
            <a:r>
              <a:rPr lang="en-GB" sz="1600"/>
              <a:t>Config</a:t>
            </a:r>
            <a:endParaRPr sz="1600"/>
          </a:p>
        </p:txBody>
      </p:sp>
      <p:sp>
        <p:nvSpPr>
          <p:cNvPr id="871" name="Google Shape;871;p49"/>
          <p:cNvSpPr/>
          <p:nvPr/>
        </p:nvSpPr>
        <p:spPr>
          <a:xfrm>
            <a:off x="3159400" y="3387750"/>
            <a:ext cx="3010800" cy="827100"/>
          </a:xfrm>
          <a:prstGeom prst="foldedCorner">
            <a:avLst>
              <a:gd fmla="val 16667" name="adj"/>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rgbClr val="434343"/>
                </a:solidFill>
              </a:rPr>
              <a:t>Lớp độc bản, đảm bảo nhất quán cấu hình trên toàn bộ chương trình ứng dụng.</a:t>
            </a:r>
            <a:endParaRPr>
              <a:solidFill>
                <a:srgbClr val="434343"/>
              </a:solidFill>
            </a:endParaRPr>
          </a:p>
        </p:txBody>
      </p:sp>
      <p:cxnSp>
        <p:nvCxnSpPr>
          <p:cNvPr id="872" name="Google Shape;872;p49"/>
          <p:cNvCxnSpPr/>
          <p:nvPr/>
        </p:nvCxnSpPr>
        <p:spPr>
          <a:xfrm>
            <a:off x="4377300" y="2016150"/>
            <a:ext cx="0" cy="1359900"/>
          </a:xfrm>
          <a:prstGeom prst="straightConnector1">
            <a:avLst/>
          </a:prstGeom>
          <a:noFill/>
          <a:ln cap="flat" cmpd="sng" w="9525">
            <a:solidFill>
              <a:schemeClr val="dk2"/>
            </a:solidFill>
            <a:prstDash val="dash"/>
            <a:round/>
            <a:headEnd len="med" w="med" type="oval"/>
            <a:tailEnd len="med" w="med" type="none"/>
          </a:ln>
        </p:spPr>
      </p:cxnSp>
      <p:cxnSp>
        <p:nvCxnSpPr>
          <p:cNvPr id="873" name="Google Shape;873;p49"/>
          <p:cNvCxnSpPr>
            <a:stCxn id="869" idx="3"/>
            <a:endCxn id="870" idx="1"/>
          </p:cNvCxnSpPr>
          <p:nvPr/>
        </p:nvCxnSpPr>
        <p:spPr>
          <a:xfrm flipH="1" rot="10800000">
            <a:off x="2777111" y="1996397"/>
            <a:ext cx="1335000" cy="4800"/>
          </a:xfrm>
          <a:prstGeom prst="straightConnector1">
            <a:avLst/>
          </a:prstGeom>
          <a:noFill/>
          <a:ln cap="flat" cmpd="sng" w="9525">
            <a:solidFill>
              <a:schemeClr val="dk2"/>
            </a:solidFill>
            <a:prstDash val="dash"/>
            <a:round/>
            <a:headEnd len="med" w="med" type="none"/>
            <a:tailEnd len="med" w="med" type="triangle"/>
          </a:ln>
        </p:spPr>
      </p:cxn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7" name="Shape 877"/>
        <p:cNvGrpSpPr/>
        <p:nvPr/>
      </p:nvGrpSpPr>
      <p:grpSpPr>
        <a:xfrm>
          <a:off x="0" y="0"/>
          <a:ext cx="0" cy="0"/>
          <a:chOff x="0" y="0"/>
          <a:chExt cx="0" cy="0"/>
        </a:xfrm>
      </p:grpSpPr>
      <p:sp>
        <p:nvSpPr>
          <p:cNvPr id="878" name="Google Shape;878;p50"/>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Tổng kết về các mẫu tạo</a:t>
            </a:r>
            <a:endParaRPr/>
          </a:p>
        </p:txBody>
      </p:sp>
      <p:sp>
        <p:nvSpPr>
          <p:cNvPr id="879" name="Google Shape;879;p50"/>
          <p:cNvSpPr txBox="1"/>
          <p:nvPr>
            <p:ph idx="1" type="body"/>
          </p:nvPr>
        </p:nvSpPr>
        <p:spPr>
          <a:xfrm>
            <a:off x="311700" y="950475"/>
            <a:ext cx="8520600" cy="5418300"/>
          </a:xfrm>
          <a:prstGeom prst="rect">
            <a:avLst/>
          </a:prstGeom>
        </p:spPr>
        <p:txBody>
          <a:bodyPr anchorCtr="0" anchor="t" bIns="91425" lIns="91425" spcFirstLastPara="1" rIns="91425" wrap="square" tIns="91425">
            <a:noAutofit/>
          </a:bodyPr>
          <a:lstStyle/>
          <a:p>
            <a:pPr indent="-381000" lvl="0" marL="457200" rtl="0" algn="just">
              <a:spcBef>
                <a:spcPts val="0"/>
              </a:spcBef>
              <a:spcAft>
                <a:spcPts val="0"/>
              </a:spcAft>
              <a:buSzPts val="2400"/>
              <a:buChar char="●"/>
            </a:pPr>
            <a:r>
              <a:rPr lang="en-GB"/>
              <a:t>C</a:t>
            </a:r>
            <a:r>
              <a:rPr lang="en-GB"/>
              <a:t>ác lớp tạo đảm nhận trách nhiệm tạo đối tượng thông qua đó có thể tham số hóa việc tạo đối tượng bằng cách thay đổi lớp tạo.</a:t>
            </a:r>
            <a:endParaRPr/>
          </a:p>
          <a:p>
            <a:pPr indent="-381000" lvl="0" marL="457200" rtl="0" algn="just">
              <a:spcBef>
                <a:spcPts val="0"/>
              </a:spcBef>
              <a:spcAft>
                <a:spcPts val="0"/>
              </a:spcAft>
              <a:buSzPts val="2400"/>
              <a:buChar char="●"/>
            </a:pPr>
            <a:r>
              <a:rPr lang="en-GB"/>
              <a:t>Phương thức xưởng thay đổi đối tượng được tạo thông qua kế thừa lớp tạo, nguyên lý đơn giản nhất.</a:t>
            </a:r>
            <a:endParaRPr/>
          </a:p>
          <a:p>
            <a:pPr indent="-381000" lvl="0" marL="457200" rtl="0" algn="just">
              <a:spcBef>
                <a:spcPts val="0"/>
              </a:spcBef>
              <a:spcAft>
                <a:spcPts val="0"/>
              </a:spcAft>
              <a:buSzPts val="2400"/>
              <a:buChar char="●"/>
            </a:pPr>
            <a:r>
              <a:rPr lang="en-GB"/>
              <a:t>Nhà máy trừu tượng làm việc với 1 nhóm đối tượng.</a:t>
            </a:r>
            <a:endParaRPr/>
          </a:p>
          <a:p>
            <a:pPr indent="-381000" lvl="0" marL="457200" rtl="0" algn="just">
              <a:spcBef>
                <a:spcPts val="0"/>
              </a:spcBef>
              <a:spcAft>
                <a:spcPts val="0"/>
              </a:spcAft>
              <a:buSzPts val="2400"/>
              <a:buChar char="●"/>
            </a:pPr>
            <a:r>
              <a:rPr lang="en-GB"/>
              <a:t>Thợ xây cho phép quản lý sâu tiến trình tạo đối tượng phức tạp.</a:t>
            </a:r>
            <a:endParaRPr/>
          </a:p>
          <a:p>
            <a:pPr indent="-381000" lvl="0" marL="457200" rtl="0" algn="just">
              <a:spcBef>
                <a:spcPts val="0"/>
              </a:spcBef>
              <a:spcAft>
                <a:spcPts val="0"/>
              </a:spcAft>
              <a:buSzPts val="2400"/>
              <a:buChar char="●"/>
            </a:pPr>
            <a:r>
              <a:rPr lang="en-GB"/>
              <a:t>Nguyên mẫu cho phép sao chép đối tượng, lớp được tạo chính là lớp tạo.</a:t>
            </a:r>
            <a:endParaRPr/>
          </a:p>
          <a:p>
            <a:pPr indent="-381000" lvl="0" marL="457200" rtl="0" algn="just">
              <a:spcBef>
                <a:spcPts val="0"/>
              </a:spcBef>
              <a:spcAft>
                <a:spcPts val="0"/>
              </a:spcAft>
              <a:buSzPts val="2400"/>
              <a:buChar char="●"/>
            </a:pPr>
            <a:r>
              <a:rPr lang="en-GB"/>
              <a:t>Lớp độc bản giới hạn số lượng bản thực của lớp.</a:t>
            </a:r>
            <a:endParaRPr/>
          </a:p>
        </p:txBody>
      </p:sp>
      <p:sp>
        <p:nvSpPr>
          <p:cNvPr id="880" name="Google Shape;880;p5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4" name="Shape 884"/>
        <p:cNvGrpSpPr/>
        <p:nvPr/>
      </p:nvGrpSpPr>
      <p:grpSpPr>
        <a:xfrm>
          <a:off x="0" y="0"/>
          <a:ext cx="0" cy="0"/>
          <a:chOff x="0" y="0"/>
          <a:chExt cx="0" cy="0"/>
        </a:xfrm>
      </p:grpSpPr>
      <p:sp>
        <p:nvSpPr>
          <p:cNvPr id="885" name="Google Shape;885;p51"/>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Nội dung</a:t>
            </a:r>
            <a:endParaRPr/>
          </a:p>
        </p:txBody>
      </p:sp>
      <p:sp>
        <p:nvSpPr>
          <p:cNvPr id="886" name="Google Shape;886;p5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887" name="Google Shape;887;p51"/>
          <p:cNvSpPr txBox="1"/>
          <p:nvPr>
            <p:ph idx="1" type="body"/>
          </p:nvPr>
        </p:nvSpPr>
        <p:spPr>
          <a:xfrm>
            <a:off x="311700" y="950475"/>
            <a:ext cx="8520600" cy="54183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Mẫu tạo</a:t>
            </a:r>
            <a:endParaRPr/>
          </a:p>
          <a:p>
            <a:pPr indent="-381000" lvl="0" marL="457200" rtl="0" algn="l">
              <a:spcBef>
                <a:spcPts val="0"/>
              </a:spcBef>
              <a:spcAft>
                <a:spcPts val="0"/>
              </a:spcAft>
              <a:buSzPts val="2400"/>
              <a:buChar char="●"/>
            </a:pPr>
            <a:r>
              <a:rPr lang="en-GB"/>
              <a:t>Mẫu kết cấu</a:t>
            </a:r>
            <a:endParaRPr/>
          </a:p>
          <a:p>
            <a:pPr indent="-381000" lvl="0" marL="457200" rtl="0" algn="l">
              <a:spcBef>
                <a:spcPts val="0"/>
              </a:spcBef>
              <a:spcAft>
                <a:spcPts val="0"/>
              </a:spcAft>
              <a:buSzPts val="2400"/>
              <a:buChar char="●"/>
            </a:pPr>
            <a:r>
              <a:rPr lang="en-GB"/>
              <a:t>Mẫu hành vi</a:t>
            </a:r>
            <a:endParaRPr/>
          </a:p>
        </p:txBody>
      </p:sp>
      <p:sp>
        <p:nvSpPr>
          <p:cNvPr id="888" name="Google Shape;888;p51"/>
          <p:cNvSpPr/>
          <p:nvPr/>
        </p:nvSpPr>
        <p:spPr>
          <a:xfrm>
            <a:off x="357900" y="1209128"/>
            <a:ext cx="6629700" cy="831900"/>
          </a:xfrm>
          <a:prstGeom prst="rightArrow">
            <a:avLst>
              <a:gd fmla="val 50000" name="adj1"/>
              <a:gd fmla="val 50000" name="adj2"/>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2" name="Shape 892"/>
        <p:cNvGrpSpPr/>
        <p:nvPr/>
      </p:nvGrpSpPr>
      <p:grpSpPr>
        <a:xfrm>
          <a:off x="0" y="0"/>
          <a:ext cx="0" cy="0"/>
          <a:chOff x="0" y="0"/>
          <a:chExt cx="0" cy="0"/>
        </a:xfrm>
      </p:grpSpPr>
      <p:sp>
        <p:nvSpPr>
          <p:cNvPr id="893" name="Google Shape;893;p52"/>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Lớp chuyển</a:t>
            </a:r>
            <a:endParaRPr/>
          </a:p>
        </p:txBody>
      </p:sp>
      <p:sp>
        <p:nvSpPr>
          <p:cNvPr id="894" name="Google Shape;894;p52"/>
          <p:cNvSpPr txBox="1"/>
          <p:nvPr>
            <p:ph idx="1" type="body"/>
          </p:nvPr>
        </p:nvSpPr>
        <p:spPr>
          <a:xfrm>
            <a:off x="311700" y="950475"/>
            <a:ext cx="8520600" cy="54183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i="1" lang="en-GB"/>
              <a:t>Adapter</a:t>
            </a:r>
            <a:endParaRPr i="1"/>
          </a:p>
          <a:p>
            <a:pPr indent="0" lvl="0" marL="0" rtl="0" algn="just">
              <a:spcBef>
                <a:spcPts val="0"/>
              </a:spcBef>
              <a:spcAft>
                <a:spcPts val="0"/>
              </a:spcAft>
              <a:buNone/>
            </a:pPr>
            <a:r>
              <a:rPr lang="en-GB"/>
              <a:t>Chuyển đổi giao diện của một lớp đã có thành giao diện được yêu cầu từ phía khách, chuyển đổi một lớp với giao diện không tương thích thành một lớp với giao diện tương thích mà không thay đổi lớp đó. </a:t>
            </a:r>
            <a:endParaRPr/>
          </a:p>
        </p:txBody>
      </p:sp>
      <p:sp>
        <p:nvSpPr>
          <p:cNvPr id="895" name="Google Shape;895;p5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9" name="Shape 899"/>
        <p:cNvGrpSpPr/>
        <p:nvPr/>
      </p:nvGrpSpPr>
      <p:grpSpPr>
        <a:xfrm>
          <a:off x="0" y="0"/>
          <a:ext cx="0" cy="0"/>
          <a:chOff x="0" y="0"/>
          <a:chExt cx="0" cy="0"/>
        </a:xfrm>
      </p:grpSpPr>
      <p:sp>
        <p:nvSpPr>
          <p:cNvPr id="900" name="Google Shape;900;p53"/>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Lớp chuyển: Cấu trúc</a:t>
            </a:r>
            <a:endParaRPr/>
          </a:p>
        </p:txBody>
      </p:sp>
      <p:sp>
        <p:nvSpPr>
          <p:cNvPr id="901" name="Google Shape;901;p5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902" name="Google Shape;902;p53"/>
          <p:cNvSpPr/>
          <p:nvPr/>
        </p:nvSpPr>
        <p:spPr>
          <a:xfrm>
            <a:off x="771286" y="1369950"/>
            <a:ext cx="12915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Khách</a:t>
            </a:r>
            <a:endParaRPr sz="1600"/>
          </a:p>
        </p:txBody>
      </p:sp>
      <p:sp>
        <p:nvSpPr>
          <p:cNvPr id="903" name="Google Shape;903;p53"/>
          <p:cNvSpPr/>
          <p:nvPr/>
        </p:nvSpPr>
        <p:spPr>
          <a:xfrm>
            <a:off x="3209686" y="1369950"/>
            <a:ext cx="12915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i="1" lang="en-GB" sz="1600"/>
              <a:t>Đích</a:t>
            </a:r>
            <a:endParaRPr i="1" sz="1600"/>
          </a:p>
        </p:txBody>
      </p:sp>
      <p:sp>
        <p:nvSpPr>
          <p:cNvPr id="904" name="Google Shape;904;p53"/>
          <p:cNvSpPr/>
          <p:nvPr/>
        </p:nvSpPr>
        <p:spPr>
          <a:xfrm>
            <a:off x="3209686" y="1692178"/>
            <a:ext cx="12915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i="1" lang="en-GB" sz="1600"/>
              <a:t>Yêu cầu()</a:t>
            </a:r>
            <a:endParaRPr i="1" sz="1600"/>
          </a:p>
        </p:txBody>
      </p:sp>
      <p:sp>
        <p:nvSpPr>
          <p:cNvPr id="905" name="Google Shape;905;p53"/>
          <p:cNvSpPr/>
          <p:nvPr/>
        </p:nvSpPr>
        <p:spPr>
          <a:xfrm>
            <a:off x="5190886" y="1369950"/>
            <a:ext cx="12915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Nguồn</a:t>
            </a:r>
            <a:endParaRPr sz="1600"/>
          </a:p>
        </p:txBody>
      </p:sp>
      <p:sp>
        <p:nvSpPr>
          <p:cNvPr id="906" name="Google Shape;906;p53"/>
          <p:cNvSpPr/>
          <p:nvPr/>
        </p:nvSpPr>
        <p:spPr>
          <a:xfrm>
            <a:off x="5190886" y="1692178"/>
            <a:ext cx="12915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Thao tác</a:t>
            </a:r>
            <a:r>
              <a:rPr lang="en-GB" sz="1600"/>
              <a:t>()</a:t>
            </a:r>
            <a:endParaRPr sz="1600"/>
          </a:p>
        </p:txBody>
      </p:sp>
      <p:sp>
        <p:nvSpPr>
          <p:cNvPr id="907" name="Google Shape;907;p53"/>
          <p:cNvSpPr/>
          <p:nvPr/>
        </p:nvSpPr>
        <p:spPr>
          <a:xfrm>
            <a:off x="4200286" y="2360550"/>
            <a:ext cx="12915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Lớp chuyển</a:t>
            </a:r>
            <a:endParaRPr sz="1600"/>
          </a:p>
        </p:txBody>
      </p:sp>
      <p:sp>
        <p:nvSpPr>
          <p:cNvPr id="908" name="Google Shape;908;p53"/>
          <p:cNvSpPr/>
          <p:nvPr/>
        </p:nvSpPr>
        <p:spPr>
          <a:xfrm>
            <a:off x="4200286" y="2682778"/>
            <a:ext cx="12915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Yêu cầu</a:t>
            </a:r>
            <a:r>
              <a:rPr lang="en-GB" sz="1600"/>
              <a:t>()</a:t>
            </a:r>
            <a:endParaRPr sz="1600"/>
          </a:p>
        </p:txBody>
      </p:sp>
      <p:sp>
        <p:nvSpPr>
          <p:cNvPr id="909" name="Google Shape;909;p53"/>
          <p:cNvSpPr/>
          <p:nvPr/>
        </p:nvSpPr>
        <p:spPr>
          <a:xfrm>
            <a:off x="3764500" y="2017400"/>
            <a:ext cx="191700" cy="1047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 name="Google Shape;910;p53"/>
          <p:cNvSpPr/>
          <p:nvPr/>
        </p:nvSpPr>
        <p:spPr>
          <a:xfrm>
            <a:off x="5745700" y="2017400"/>
            <a:ext cx="191700" cy="1047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11" name="Google Shape;911;p53"/>
          <p:cNvCxnSpPr>
            <a:stCxn id="907" idx="1"/>
            <a:endCxn id="909" idx="3"/>
          </p:cNvCxnSpPr>
          <p:nvPr/>
        </p:nvCxnSpPr>
        <p:spPr>
          <a:xfrm rot="10800000">
            <a:off x="3860386" y="2122200"/>
            <a:ext cx="339900" cy="399600"/>
          </a:xfrm>
          <a:prstGeom prst="bentConnector2">
            <a:avLst/>
          </a:prstGeom>
          <a:noFill/>
          <a:ln cap="flat" cmpd="sng" w="9525">
            <a:solidFill>
              <a:schemeClr val="dk2"/>
            </a:solidFill>
            <a:prstDash val="solid"/>
            <a:round/>
            <a:headEnd len="med" w="med" type="none"/>
            <a:tailEnd len="med" w="med" type="none"/>
          </a:ln>
        </p:spPr>
      </p:cxnSp>
      <p:cxnSp>
        <p:nvCxnSpPr>
          <p:cNvPr id="912" name="Google Shape;912;p53"/>
          <p:cNvCxnSpPr>
            <a:stCxn id="907" idx="3"/>
            <a:endCxn id="910" idx="3"/>
          </p:cNvCxnSpPr>
          <p:nvPr/>
        </p:nvCxnSpPr>
        <p:spPr>
          <a:xfrm flipH="1" rot="10800000">
            <a:off x="5491786" y="2122200"/>
            <a:ext cx="349800" cy="399600"/>
          </a:xfrm>
          <a:prstGeom prst="bentConnector2">
            <a:avLst/>
          </a:prstGeom>
          <a:noFill/>
          <a:ln cap="flat" cmpd="sng" w="9525">
            <a:solidFill>
              <a:schemeClr val="dk2"/>
            </a:solidFill>
            <a:prstDash val="solid"/>
            <a:round/>
            <a:headEnd len="med" w="med" type="none"/>
            <a:tailEnd len="med" w="med" type="none"/>
          </a:ln>
        </p:spPr>
      </p:cxnSp>
      <p:sp>
        <p:nvSpPr>
          <p:cNvPr id="913" name="Google Shape;913;p53"/>
          <p:cNvSpPr/>
          <p:nvPr/>
        </p:nvSpPr>
        <p:spPr>
          <a:xfrm flipH="1" rot="10800000">
            <a:off x="6587875" y="2596989"/>
            <a:ext cx="1655700" cy="488100"/>
          </a:xfrm>
          <a:prstGeom prst="foldedCorner">
            <a:avLst>
              <a:gd fmla="val 25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14" name="Google Shape;914;p53"/>
          <p:cNvCxnSpPr>
            <a:stCxn id="908" idx="3"/>
            <a:endCxn id="913" idx="1"/>
          </p:cNvCxnSpPr>
          <p:nvPr/>
        </p:nvCxnSpPr>
        <p:spPr>
          <a:xfrm flipH="1" rot="10800000">
            <a:off x="5491786" y="2841028"/>
            <a:ext cx="1096200" cy="3000"/>
          </a:xfrm>
          <a:prstGeom prst="straightConnector1">
            <a:avLst/>
          </a:prstGeom>
          <a:noFill/>
          <a:ln cap="flat" cmpd="sng" w="9525">
            <a:solidFill>
              <a:schemeClr val="dk2"/>
            </a:solidFill>
            <a:prstDash val="dot"/>
            <a:round/>
            <a:headEnd len="med" w="med" type="none"/>
            <a:tailEnd len="med" w="med" type="none"/>
          </a:ln>
        </p:spPr>
      </p:cxnSp>
      <p:sp>
        <p:nvSpPr>
          <p:cNvPr id="915" name="Google Shape;915;p53"/>
          <p:cNvSpPr txBox="1"/>
          <p:nvPr/>
        </p:nvSpPr>
        <p:spPr>
          <a:xfrm>
            <a:off x="6622725" y="2671175"/>
            <a:ext cx="1620900" cy="41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Thao tác()</a:t>
            </a:r>
            <a:endParaRPr/>
          </a:p>
        </p:txBody>
      </p:sp>
      <p:cxnSp>
        <p:nvCxnSpPr>
          <p:cNvPr id="916" name="Google Shape;916;p53"/>
          <p:cNvCxnSpPr>
            <a:endCxn id="903" idx="1"/>
          </p:cNvCxnSpPr>
          <p:nvPr/>
        </p:nvCxnSpPr>
        <p:spPr>
          <a:xfrm>
            <a:off x="2062786" y="1531200"/>
            <a:ext cx="1146900" cy="0"/>
          </a:xfrm>
          <a:prstGeom prst="straightConnector1">
            <a:avLst/>
          </a:prstGeom>
          <a:noFill/>
          <a:ln cap="flat" cmpd="sng" w="9525">
            <a:solidFill>
              <a:schemeClr val="dk2"/>
            </a:solidFill>
            <a:prstDash val="solid"/>
            <a:round/>
            <a:headEnd len="med" w="med" type="none"/>
            <a:tailEnd len="med" w="med" type="triangle"/>
          </a:ln>
        </p:spPr>
      </p:cxnSp>
      <p:sp>
        <p:nvSpPr>
          <p:cNvPr id="917" name="Google Shape;917;p53"/>
          <p:cNvSpPr/>
          <p:nvPr/>
        </p:nvSpPr>
        <p:spPr>
          <a:xfrm>
            <a:off x="695086" y="4113150"/>
            <a:ext cx="12915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Khách</a:t>
            </a:r>
            <a:endParaRPr sz="1600"/>
          </a:p>
        </p:txBody>
      </p:sp>
      <p:sp>
        <p:nvSpPr>
          <p:cNvPr id="918" name="Google Shape;918;p53"/>
          <p:cNvSpPr/>
          <p:nvPr/>
        </p:nvSpPr>
        <p:spPr>
          <a:xfrm>
            <a:off x="3057286" y="4113150"/>
            <a:ext cx="12915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Đích</a:t>
            </a:r>
            <a:endParaRPr sz="1600"/>
          </a:p>
        </p:txBody>
      </p:sp>
      <p:sp>
        <p:nvSpPr>
          <p:cNvPr id="919" name="Google Shape;919;p53"/>
          <p:cNvSpPr/>
          <p:nvPr/>
        </p:nvSpPr>
        <p:spPr>
          <a:xfrm>
            <a:off x="3057286" y="4435378"/>
            <a:ext cx="12915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i="1" lang="en-GB" sz="1600"/>
              <a:t>Yêu cầu</a:t>
            </a:r>
            <a:r>
              <a:rPr i="1" lang="en-GB" sz="1600"/>
              <a:t>()</a:t>
            </a:r>
            <a:endParaRPr i="1" sz="1600"/>
          </a:p>
        </p:txBody>
      </p:sp>
      <p:sp>
        <p:nvSpPr>
          <p:cNvPr id="920" name="Google Shape;920;p53"/>
          <p:cNvSpPr/>
          <p:nvPr/>
        </p:nvSpPr>
        <p:spPr>
          <a:xfrm>
            <a:off x="5267086" y="4113150"/>
            <a:ext cx="12915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Nguồn</a:t>
            </a:r>
            <a:endParaRPr sz="1600"/>
          </a:p>
        </p:txBody>
      </p:sp>
      <p:sp>
        <p:nvSpPr>
          <p:cNvPr id="921" name="Google Shape;921;p53"/>
          <p:cNvSpPr/>
          <p:nvPr/>
        </p:nvSpPr>
        <p:spPr>
          <a:xfrm>
            <a:off x="5267086" y="4435378"/>
            <a:ext cx="12915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Thao tác</a:t>
            </a:r>
            <a:r>
              <a:rPr lang="en-GB" sz="1600"/>
              <a:t>()</a:t>
            </a:r>
            <a:endParaRPr sz="1600"/>
          </a:p>
        </p:txBody>
      </p:sp>
      <p:sp>
        <p:nvSpPr>
          <p:cNvPr id="922" name="Google Shape;922;p53"/>
          <p:cNvSpPr/>
          <p:nvPr/>
        </p:nvSpPr>
        <p:spPr>
          <a:xfrm>
            <a:off x="4047886" y="5103750"/>
            <a:ext cx="12915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Lớp chuyển</a:t>
            </a:r>
            <a:endParaRPr sz="1600"/>
          </a:p>
        </p:txBody>
      </p:sp>
      <p:sp>
        <p:nvSpPr>
          <p:cNvPr id="923" name="Google Shape;923;p53"/>
          <p:cNvSpPr/>
          <p:nvPr/>
        </p:nvSpPr>
        <p:spPr>
          <a:xfrm>
            <a:off x="4047886" y="5425978"/>
            <a:ext cx="12915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Yêu cầu</a:t>
            </a:r>
            <a:r>
              <a:rPr lang="en-GB" sz="1600"/>
              <a:t>()</a:t>
            </a:r>
            <a:endParaRPr sz="1600"/>
          </a:p>
        </p:txBody>
      </p:sp>
      <p:sp>
        <p:nvSpPr>
          <p:cNvPr id="924" name="Google Shape;924;p53"/>
          <p:cNvSpPr/>
          <p:nvPr/>
        </p:nvSpPr>
        <p:spPr>
          <a:xfrm>
            <a:off x="3612100" y="4760600"/>
            <a:ext cx="191700" cy="1047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25" name="Google Shape;925;p53"/>
          <p:cNvCxnSpPr>
            <a:stCxn id="922" idx="1"/>
            <a:endCxn id="924" idx="3"/>
          </p:cNvCxnSpPr>
          <p:nvPr/>
        </p:nvCxnSpPr>
        <p:spPr>
          <a:xfrm rot="10800000">
            <a:off x="3707986" y="4865400"/>
            <a:ext cx="339900" cy="399600"/>
          </a:xfrm>
          <a:prstGeom prst="bentConnector2">
            <a:avLst/>
          </a:prstGeom>
          <a:noFill/>
          <a:ln cap="flat" cmpd="sng" w="9525">
            <a:solidFill>
              <a:schemeClr val="dk2"/>
            </a:solidFill>
            <a:prstDash val="solid"/>
            <a:round/>
            <a:headEnd len="med" w="med" type="none"/>
            <a:tailEnd len="med" w="med" type="none"/>
          </a:ln>
        </p:spPr>
      </p:cxnSp>
      <p:sp>
        <p:nvSpPr>
          <p:cNvPr id="926" name="Google Shape;926;p53"/>
          <p:cNvSpPr/>
          <p:nvPr/>
        </p:nvSpPr>
        <p:spPr>
          <a:xfrm flipH="1" rot="10800000">
            <a:off x="6435475" y="5340189"/>
            <a:ext cx="2037000" cy="488100"/>
          </a:xfrm>
          <a:prstGeom prst="foldedCorner">
            <a:avLst>
              <a:gd fmla="val 25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7" name="Google Shape;927;p53"/>
          <p:cNvSpPr txBox="1"/>
          <p:nvPr/>
        </p:nvSpPr>
        <p:spPr>
          <a:xfrm>
            <a:off x="6478349" y="5414384"/>
            <a:ext cx="1994100" cy="41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nguồn-&gt;Thao tác</a:t>
            </a:r>
            <a:r>
              <a:rPr lang="en-GB"/>
              <a:t>()</a:t>
            </a:r>
            <a:endParaRPr/>
          </a:p>
        </p:txBody>
      </p:sp>
      <p:cxnSp>
        <p:nvCxnSpPr>
          <p:cNvPr id="928" name="Google Shape;928;p53"/>
          <p:cNvCxnSpPr>
            <a:stCxn id="917" idx="3"/>
            <a:endCxn id="918" idx="1"/>
          </p:cNvCxnSpPr>
          <p:nvPr/>
        </p:nvCxnSpPr>
        <p:spPr>
          <a:xfrm>
            <a:off x="1986586" y="4274400"/>
            <a:ext cx="1070700" cy="0"/>
          </a:xfrm>
          <a:prstGeom prst="straightConnector1">
            <a:avLst/>
          </a:prstGeom>
          <a:noFill/>
          <a:ln cap="flat" cmpd="sng" w="9525">
            <a:solidFill>
              <a:schemeClr val="dk2"/>
            </a:solidFill>
            <a:prstDash val="solid"/>
            <a:round/>
            <a:headEnd len="med" w="med" type="none"/>
            <a:tailEnd len="med" w="med" type="triangle"/>
          </a:ln>
        </p:spPr>
      </p:cxnSp>
      <p:sp>
        <p:nvSpPr>
          <p:cNvPr id="929" name="Google Shape;929;p53"/>
          <p:cNvSpPr/>
          <p:nvPr/>
        </p:nvSpPr>
        <p:spPr>
          <a:xfrm>
            <a:off x="5341739" y="5167275"/>
            <a:ext cx="244000" cy="162675"/>
          </a:xfrm>
          <a:prstGeom prst="flowChartDecision">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30" name="Google Shape;930;p53"/>
          <p:cNvCxnSpPr>
            <a:stCxn id="921" idx="2"/>
            <a:endCxn id="929" idx="3"/>
          </p:cNvCxnSpPr>
          <p:nvPr/>
        </p:nvCxnSpPr>
        <p:spPr>
          <a:xfrm rot="5400000">
            <a:off x="5503936" y="4839778"/>
            <a:ext cx="490800" cy="327000"/>
          </a:xfrm>
          <a:prstGeom prst="bentConnector2">
            <a:avLst/>
          </a:prstGeom>
          <a:noFill/>
          <a:ln cap="flat" cmpd="sng" w="9525">
            <a:solidFill>
              <a:schemeClr val="dk2"/>
            </a:solidFill>
            <a:prstDash val="solid"/>
            <a:round/>
            <a:headEnd len="med" w="med" type="none"/>
            <a:tailEnd len="med" w="med" type="none"/>
          </a:ln>
        </p:spPr>
      </p:cxnSp>
      <p:sp>
        <p:nvSpPr>
          <p:cNvPr id="931" name="Google Shape;931;p53"/>
          <p:cNvSpPr txBox="1"/>
          <p:nvPr/>
        </p:nvSpPr>
        <p:spPr>
          <a:xfrm>
            <a:off x="5925600" y="4740275"/>
            <a:ext cx="1341900" cy="32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nguồn</a:t>
            </a:r>
            <a:endParaRPr/>
          </a:p>
        </p:txBody>
      </p:sp>
      <p:cxnSp>
        <p:nvCxnSpPr>
          <p:cNvPr id="932" name="Google Shape;932;p53"/>
          <p:cNvCxnSpPr>
            <a:stCxn id="923" idx="3"/>
            <a:endCxn id="927" idx="1"/>
          </p:cNvCxnSpPr>
          <p:nvPr/>
        </p:nvCxnSpPr>
        <p:spPr>
          <a:xfrm>
            <a:off x="5339386" y="5587228"/>
            <a:ext cx="1139100" cy="34200"/>
          </a:xfrm>
          <a:prstGeom prst="straightConnector1">
            <a:avLst/>
          </a:prstGeom>
          <a:noFill/>
          <a:ln cap="flat" cmpd="sng" w="9525">
            <a:solidFill>
              <a:schemeClr val="dk2"/>
            </a:solidFill>
            <a:prstDash val="dot"/>
            <a:round/>
            <a:headEnd len="med" w="med" type="none"/>
            <a:tailEnd len="med" w="med" type="none"/>
          </a:ln>
        </p:spPr>
      </p:cxnSp>
      <p:sp>
        <p:nvSpPr>
          <p:cNvPr id="933" name="Google Shape;933;p53"/>
          <p:cNvSpPr txBox="1"/>
          <p:nvPr/>
        </p:nvSpPr>
        <p:spPr>
          <a:xfrm>
            <a:off x="643475" y="894348"/>
            <a:ext cx="3480600" cy="49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1800">
                <a:solidFill>
                  <a:schemeClr val="dk2"/>
                </a:solidFill>
              </a:rPr>
              <a:t>Chuyển đổi dựa trên đa kế thừa</a:t>
            </a:r>
            <a:endParaRPr i="1" sz="1800">
              <a:solidFill>
                <a:schemeClr val="dk2"/>
              </a:solidFill>
            </a:endParaRPr>
          </a:p>
        </p:txBody>
      </p:sp>
      <p:cxnSp>
        <p:nvCxnSpPr>
          <p:cNvPr id="934" name="Google Shape;934;p53"/>
          <p:cNvCxnSpPr/>
          <p:nvPr/>
        </p:nvCxnSpPr>
        <p:spPr>
          <a:xfrm>
            <a:off x="400225" y="3446050"/>
            <a:ext cx="8365500" cy="0"/>
          </a:xfrm>
          <a:prstGeom prst="straightConnector1">
            <a:avLst/>
          </a:prstGeom>
          <a:noFill/>
          <a:ln cap="flat" cmpd="sng" w="19050">
            <a:solidFill>
              <a:schemeClr val="dk2"/>
            </a:solidFill>
            <a:prstDash val="dash"/>
            <a:round/>
            <a:headEnd len="med" w="med" type="none"/>
            <a:tailEnd len="med" w="med" type="none"/>
          </a:ln>
        </p:spPr>
      </p:cxnSp>
      <p:sp>
        <p:nvSpPr>
          <p:cNvPr id="935" name="Google Shape;935;p53"/>
          <p:cNvSpPr txBox="1"/>
          <p:nvPr/>
        </p:nvSpPr>
        <p:spPr>
          <a:xfrm>
            <a:off x="643475" y="3637550"/>
            <a:ext cx="7353600" cy="49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1800">
                <a:solidFill>
                  <a:schemeClr val="dk2"/>
                </a:solidFill>
              </a:rPr>
              <a:t>Chuyển </a:t>
            </a:r>
            <a:r>
              <a:rPr i="1" lang="en-GB" sz="1800">
                <a:solidFill>
                  <a:schemeClr val="dk2"/>
                </a:solidFill>
              </a:rPr>
              <a:t>đổi bằng cách bọc đối tượng nguồn</a:t>
            </a:r>
            <a:endParaRPr i="1" sz="1800">
              <a:solidFill>
                <a:schemeClr val="dk2"/>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9" name="Shape 939"/>
        <p:cNvGrpSpPr/>
        <p:nvPr/>
      </p:nvGrpSpPr>
      <p:grpSpPr>
        <a:xfrm>
          <a:off x="0" y="0"/>
          <a:ext cx="0" cy="0"/>
          <a:chOff x="0" y="0"/>
          <a:chExt cx="0" cy="0"/>
        </a:xfrm>
      </p:grpSpPr>
      <p:sp>
        <p:nvSpPr>
          <p:cNvPr id="940" name="Google Shape;940;p54"/>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Lớp</a:t>
            </a:r>
            <a:r>
              <a:rPr lang="en-GB"/>
              <a:t> chuyển: </a:t>
            </a:r>
            <a:r>
              <a:rPr lang="en-GB"/>
              <a:t>Hành vi</a:t>
            </a:r>
            <a:endParaRPr/>
          </a:p>
        </p:txBody>
      </p:sp>
      <p:sp>
        <p:nvSpPr>
          <p:cNvPr id="941" name="Google Shape;941;p5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942" name="Google Shape;942;p54"/>
          <p:cNvSpPr/>
          <p:nvPr/>
        </p:nvSpPr>
        <p:spPr>
          <a:xfrm>
            <a:off x="1914286" y="3655950"/>
            <a:ext cx="12915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u="sng"/>
              <a:t>:Khách</a:t>
            </a:r>
            <a:endParaRPr sz="1600" u="sng"/>
          </a:p>
        </p:txBody>
      </p:sp>
      <p:sp>
        <p:nvSpPr>
          <p:cNvPr id="943" name="Google Shape;943;p54"/>
          <p:cNvSpPr/>
          <p:nvPr/>
        </p:nvSpPr>
        <p:spPr>
          <a:xfrm>
            <a:off x="3819286" y="3655950"/>
            <a:ext cx="12915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u="sng"/>
              <a:t>:</a:t>
            </a:r>
            <a:r>
              <a:rPr lang="en-GB" sz="1600" u="sng"/>
              <a:t>Lớp</a:t>
            </a:r>
            <a:r>
              <a:rPr lang="en-GB" sz="1600" u="sng"/>
              <a:t> chuyển</a:t>
            </a:r>
            <a:endParaRPr sz="1600" u="sng"/>
          </a:p>
        </p:txBody>
      </p:sp>
      <p:sp>
        <p:nvSpPr>
          <p:cNvPr id="944" name="Google Shape;944;p54"/>
          <p:cNvSpPr/>
          <p:nvPr/>
        </p:nvSpPr>
        <p:spPr>
          <a:xfrm>
            <a:off x="5724286" y="3655950"/>
            <a:ext cx="12915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u="sng"/>
              <a:t>:Nguồn</a:t>
            </a:r>
            <a:endParaRPr sz="1600" u="sng"/>
          </a:p>
        </p:txBody>
      </p:sp>
      <p:cxnSp>
        <p:nvCxnSpPr>
          <p:cNvPr id="945" name="Google Shape;945;p54"/>
          <p:cNvCxnSpPr>
            <a:stCxn id="942" idx="2"/>
          </p:cNvCxnSpPr>
          <p:nvPr/>
        </p:nvCxnSpPr>
        <p:spPr>
          <a:xfrm>
            <a:off x="2560036" y="3978450"/>
            <a:ext cx="0" cy="1611900"/>
          </a:xfrm>
          <a:prstGeom prst="straightConnector1">
            <a:avLst/>
          </a:prstGeom>
          <a:noFill/>
          <a:ln cap="flat" cmpd="sng" w="9525">
            <a:solidFill>
              <a:schemeClr val="dk2"/>
            </a:solidFill>
            <a:prstDash val="dash"/>
            <a:round/>
            <a:headEnd len="med" w="med" type="none"/>
            <a:tailEnd len="med" w="med" type="none"/>
          </a:ln>
        </p:spPr>
      </p:cxnSp>
      <p:cxnSp>
        <p:nvCxnSpPr>
          <p:cNvPr id="946" name="Google Shape;946;p54"/>
          <p:cNvCxnSpPr>
            <a:stCxn id="943" idx="2"/>
          </p:cNvCxnSpPr>
          <p:nvPr/>
        </p:nvCxnSpPr>
        <p:spPr>
          <a:xfrm>
            <a:off x="4465036" y="3978450"/>
            <a:ext cx="0" cy="1671600"/>
          </a:xfrm>
          <a:prstGeom prst="straightConnector1">
            <a:avLst/>
          </a:prstGeom>
          <a:noFill/>
          <a:ln cap="flat" cmpd="sng" w="9525">
            <a:solidFill>
              <a:schemeClr val="dk2"/>
            </a:solidFill>
            <a:prstDash val="dash"/>
            <a:round/>
            <a:headEnd len="med" w="med" type="none"/>
            <a:tailEnd len="med" w="med" type="none"/>
          </a:ln>
        </p:spPr>
      </p:cxnSp>
      <p:cxnSp>
        <p:nvCxnSpPr>
          <p:cNvPr id="947" name="Google Shape;947;p54"/>
          <p:cNvCxnSpPr>
            <a:stCxn id="944" idx="2"/>
          </p:cNvCxnSpPr>
          <p:nvPr/>
        </p:nvCxnSpPr>
        <p:spPr>
          <a:xfrm>
            <a:off x="6370036" y="3978450"/>
            <a:ext cx="0" cy="1691700"/>
          </a:xfrm>
          <a:prstGeom prst="straightConnector1">
            <a:avLst/>
          </a:prstGeom>
          <a:noFill/>
          <a:ln cap="flat" cmpd="sng" w="9525">
            <a:solidFill>
              <a:schemeClr val="dk2"/>
            </a:solidFill>
            <a:prstDash val="dash"/>
            <a:round/>
            <a:headEnd len="med" w="med" type="none"/>
            <a:tailEnd len="med" w="med" type="none"/>
          </a:ln>
        </p:spPr>
      </p:cxnSp>
      <p:sp>
        <p:nvSpPr>
          <p:cNvPr id="948" name="Google Shape;948;p54"/>
          <p:cNvSpPr/>
          <p:nvPr/>
        </p:nvSpPr>
        <p:spPr>
          <a:xfrm>
            <a:off x="4387258" y="4355125"/>
            <a:ext cx="152700" cy="3225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49" name="Google Shape;949;p54"/>
          <p:cNvSpPr/>
          <p:nvPr/>
        </p:nvSpPr>
        <p:spPr>
          <a:xfrm>
            <a:off x="6292258" y="4431325"/>
            <a:ext cx="152700" cy="3225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950" name="Google Shape;950;p54"/>
          <p:cNvCxnSpPr/>
          <p:nvPr/>
        </p:nvCxnSpPr>
        <p:spPr>
          <a:xfrm>
            <a:off x="2570450" y="4444975"/>
            <a:ext cx="1797000" cy="0"/>
          </a:xfrm>
          <a:prstGeom prst="straightConnector1">
            <a:avLst/>
          </a:prstGeom>
          <a:noFill/>
          <a:ln cap="flat" cmpd="sng" w="19050">
            <a:solidFill>
              <a:schemeClr val="dk2"/>
            </a:solidFill>
            <a:prstDash val="solid"/>
            <a:round/>
            <a:headEnd len="med" w="med" type="none"/>
            <a:tailEnd len="med" w="med" type="triangle"/>
          </a:ln>
        </p:spPr>
      </p:cxnSp>
      <p:cxnSp>
        <p:nvCxnSpPr>
          <p:cNvPr id="951" name="Google Shape;951;p54"/>
          <p:cNvCxnSpPr/>
          <p:nvPr/>
        </p:nvCxnSpPr>
        <p:spPr>
          <a:xfrm>
            <a:off x="4546975" y="4597375"/>
            <a:ext cx="1735500" cy="0"/>
          </a:xfrm>
          <a:prstGeom prst="straightConnector1">
            <a:avLst/>
          </a:prstGeom>
          <a:noFill/>
          <a:ln cap="flat" cmpd="sng" w="19050">
            <a:solidFill>
              <a:schemeClr val="dk2"/>
            </a:solidFill>
            <a:prstDash val="solid"/>
            <a:round/>
            <a:headEnd len="med" w="med" type="none"/>
            <a:tailEnd len="med" w="med" type="triangle"/>
          </a:ln>
        </p:spPr>
      </p:cxnSp>
      <p:sp>
        <p:nvSpPr>
          <p:cNvPr id="952" name="Google Shape;952;p54"/>
          <p:cNvSpPr txBox="1"/>
          <p:nvPr/>
        </p:nvSpPr>
        <p:spPr>
          <a:xfrm>
            <a:off x="2740150" y="4062965"/>
            <a:ext cx="1442400" cy="41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rPr>
              <a:t>Yêu cầu()</a:t>
            </a:r>
            <a:endParaRPr sz="1600">
              <a:solidFill>
                <a:schemeClr val="dk2"/>
              </a:solidFill>
            </a:endParaRPr>
          </a:p>
        </p:txBody>
      </p:sp>
      <p:sp>
        <p:nvSpPr>
          <p:cNvPr id="953" name="Google Shape;953;p54"/>
          <p:cNvSpPr txBox="1"/>
          <p:nvPr/>
        </p:nvSpPr>
        <p:spPr>
          <a:xfrm>
            <a:off x="4645150" y="4215365"/>
            <a:ext cx="1442400" cy="41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rPr>
              <a:t>Thao tác</a:t>
            </a:r>
            <a:r>
              <a:rPr lang="en-GB" sz="1600">
                <a:solidFill>
                  <a:schemeClr val="dk2"/>
                </a:solidFill>
              </a:rPr>
              <a:t>()</a:t>
            </a:r>
            <a:endParaRPr sz="1600">
              <a:solidFill>
                <a:schemeClr val="dk2"/>
              </a:solidFill>
            </a:endParaRPr>
          </a:p>
        </p:txBody>
      </p:sp>
      <p:sp>
        <p:nvSpPr>
          <p:cNvPr id="954" name="Google Shape;954;p54"/>
          <p:cNvSpPr/>
          <p:nvPr/>
        </p:nvSpPr>
        <p:spPr>
          <a:xfrm>
            <a:off x="1914286" y="1293750"/>
            <a:ext cx="12915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u="sng"/>
              <a:t>:Khách</a:t>
            </a:r>
            <a:endParaRPr sz="1600" u="sng"/>
          </a:p>
        </p:txBody>
      </p:sp>
      <p:sp>
        <p:nvSpPr>
          <p:cNvPr id="955" name="Google Shape;955;p54"/>
          <p:cNvSpPr/>
          <p:nvPr/>
        </p:nvSpPr>
        <p:spPr>
          <a:xfrm>
            <a:off x="3819286" y="1293750"/>
            <a:ext cx="12915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u="sng"/>
              <a:t>:</a:t>
            </a:r>
            <a:r>
              <a:rPr lang="en-GB" sz="1600" u="sng"/>
              <a:t>Lớp</a:t>
            </a:r>
            <a:r>
              <a:rPr lang="en-GB" sz="1600" u="sng"/>
              <a:t> chuyển</a:t>
            </a:r>
            <a:endParaRPr sz="1600" u="sng"/>
          </a:p>
        </p:txBody>
      </p:sp>
      <p:cxnSp>
        <p:nvCxnSpPr>
          <p:cNvPr id="956" name="Google Shape;956;p54"/>
          <p:cNvCxnSpPr>
            <a:stCxn id="954" idx="2"/>
          </p:cNvCxnSpPr>
          <p:nvPr/>
        </p:nvCxnSpPr>
        <p:spPr>
          <a:xfrm>
            <a:off x="2560036" y="1616250"/>
            <a:ext cx="2700" cy="1687500"/>
          </a:xfrm>
          <a:prstGeom prst="straightConnector1">
            <a:avLst/>
          </a:prstGeom>
          <a:noFill/>
          <a:ln cap="flat" cmpd="sng" w="9525">
            <a:solidFill>
              <a:schemeClr val="dk2"/>
            </a:solidFill>
            <a:prstDash val="dash"/>
            <a:round/>
            <a:headEnd len="med" w="med" type="none"/>
            <a:tailEnd len="med" w="med" type="none"/>
          </a:ln>
        </p:spPr>
      </p:cxnSp>
      <p:cxnSp>
        <p:nvCxnSpPr>
          <p:cNvPr id="957" name="Google Shape;957;p54"/>
          <p:cNvCxnSpPr>
            <a:stCxn id="955" idx="2"/>
          </p:cNvCxnSpPr>
          <p:nvPr/>
        </p:nvCxnSpPr>
        <p:spPr>
          <a:xfrm>
            <a:off x="4465036" y="1616250"/>
            <a:ext cx="0" cy="1671600"/>
          </a:xfrm>
          <a:prstGeom prst="straightConnector1">
            <a:avLst/>
          </a:prstGeom>
          <a:noFill/>
          <a:ln cap="flat" cmpd="sng" w="9525">
            <a:solidFill>
              <a:schemeClr val="dk2"/>
            </a:solidFill>
            <a:prstDash val="dash"/>
            <a:round/>
            <a:headEnd len="med" w="med" type="none"/>
            <a:tailEnd len="med" w="med" type="none"/>
          </a:ln>
        </p:spPr>
      </p:cxnSp>
      <p:sp>
        <p:nvSpPr>
          <p:cNvPr id="958" name="Google Shape;958;p54"/>
          <p:cNvSpPr/>
          <p:nvPr/>
        </p:nvSpPr>
        <p:spPr>
          <a:xfrm>
            <a:off x="4387250" y="1992925"/>
            <a:ext cx="152700" cy="8316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59" name="Google Shape;959;p54"/>
          <p:cNvSpPr/>
          <p:nvPr/>
        </p:nvSpPr>
        <p:spPr>
          <a:xfrm>
            <a:off x="4539958" y="2453450"/>
            <a:ext cx="152700" cy="3225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960" name="Google Shape;960;p54"/>
          <p:cNvCxnSpPr/>
          <p:nvPr/>
        </p:nvCxnSpPr>
        <p:spPr>
          <a:xfrm>
            <a:off x="2570450" y="2082775"/>
            <a:ext cx="1797000" cy="0"/>
          </a:xfrm>
          <a:prstGeom prst="straightConnector1">
            <a:avLst/>
          </a:prstGeom>
          <a:noFill/>
          <a:ln cap="flat" cmpd="sng" w="19050">
            <a:solidFill>
              <a:schemeClr val="dk2"/>
            </a:solidFill>
            <a:prstDash val="solid"/>
            <a:round/>
            <a:headEnd len="med" w="med" type="none"/>
            <a:tailEnd len="med" w="med" type="triangle"/>
          </a:ln>
        </p:spPr>
      </p:cxnSp>
      <p:sp>
        <p:nvSpPr>
          <p:cNvPr id="961" name="Google Shape;961;p54"/>
          <p:cNvSpPr txBox="1"/>
          <p:nvPr/>
        </p:nvSpPr>
        <p:spPr>
          <a:xfrm>
            <a:off x="2740150" y="1700765"/>
            <a:ext cx="1442400" cy="41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rPr>
              <a:t>Yêu cầu()</a:t>
            </a:r>
            <a:endParaRPr sz="1600">
              <a:solidFill>
                <a:schemeClr val="dk2"/>
              </a:solidFill>
            </a:endParaRPr>
          </a:p>
        </p:txBody>
      </p:sp>
      <p:sp>
        <p:nvSpPr>
          <p:cNvPr id="962" name="Google Shape;962;p54"/>
          <p:cNvSpPr txBox="1"/>
          <p:nvPr/>
        </p:nvSpPr>
        <p:spPr>
          <a:xfrm>
            <a:off x="4645150" y="1853173"/>
            <a:ext cx="1442400" cy="32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rPr>
              <a:t>Thao tác()</a:t>
            </a:r>
            <a:endParaRPr sz="1600">
              <a:solidFill>
                <a:schemeClr val="dk2"/>
              </a:solidFill>
            </a:endParaRPr>
          </a:p>
        </p:txBody>
      </p:sp>
      <p:cxnSp>
        <p:nvCxnSpPr>
          <p:cNvPr id="963" name="Google Shape;963;p54"/>
          <p:cNvCxnSpPr>
            <a:endCxn id="959" idx="3"/>
          </p:cNvCxnSpPr>
          <p:nvPr/>
        </p:nvCxnSpPr>
        <p:spPr>
          <a:xfrm flipH="1" rot="-5400000">
            <a:off x="4406308" y="2328350"/>
            <a:ext cx="419400" cy="153300"/>
          </a:xfrm>
          <a:prstGeom prst="bentConnector4">
            <a:avLst>
              <a:gd fmla="val 2444" name="adj1"/>
              <a:gd fmla="val 255333" name="adj2"/>
            </a:avLst>
          </a:prstGeom>
          <a:noFill/>
          <a:ln cap="flat" cmpd="sng" w="19050">
            <a:solidFill>
              <a:schemeClr val="dk2"/>
            </a:solidFill>
            <a:prstDash val="solid"/>
            <a:round/>
            <a:headEnd len="med" w="med" type="none"/>
            <a:tailEnd len="med" w="med" type="triangle"/>
          </a:ln>
        </p:spPr>
      </p:cxnSp>
      <p:cxnSp>
        <p:nvCxnSpPr>
          <p:cNvPr id="964" name="Google Shape;964;p54"/>
          <p:cNvCxnSpPr/>
          <p:nvPr/>
        </p:nvCxnSpPr>
        <p:spPr>
          <a:xfrm>
            <a:off x="400225" y="3446050"/>
            <a:ext cx="8365500" cy="0"/>
          </a:xfrm>
          <a:prstGeom prst="straightConnector1">
            <a:avLst/>
          </a:prstGeom>
          <a:noFill/>
          <a:ln cap="flat" cmpd="sng" w="19050">
            <a:solidFill>
              <a:schemeClr val="dk2"/>
            </a:solidFill>
            <a:prstDash val="dash"/>
            <a:round/>
            <a:headEnd len="med" w="med" type="none"/>
            <a:tailEnd len="med" w="med" type="none"/>
          </a:ln>
        </p:spPr>
      </p:cxn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8" name="Shape 968"/>
        <p:cNvGrpSpPr/>
        <p:nvPr/>
      </p:nvGrpSpPr>
      <p:grpSpPr>
        <a:xfrm>
          <a:off x="0" y="0"/>
          <a:ext cx="0" cy="0"/>
          <a:chOff x="0" y="0"/>
          <a:chExt cx="0" cy="0"/>
        </a:xfrm>
      </p:grpSpPr>
      <p:sp>
        <p:nvSpPr>
          <p:cNvPr id="969" name="Google Shape;969;p55"/>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Lớp chuyển: Các hệ quả</a:t>
            </a:r>
            <a:endParaRPr/>
          </a:p>
        </p:txBody>
      </p:sp>
      <p:sp>
        <p:nvSpPr>
          <p:cNvPr id="970" name="Google Shape;970;p5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971" name="Google Shape;971;p55"/>
          <p:cNvSpPr txBox="1"/>
          <p:nvPr>
            <p:ph idx="1" type="body"/>
          </p:nvPr>
        </p:nvSpPr>
        <p:spPr>
          <a:xfrm>
            <a:off x="311700" y="950475"/>
            <a:ext cx="8520600" cy="54183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Chuyển đổi dựa trên đa kế thừa:</a:t>
            </a:r>
            <a:endParaRPr/>
          </a:p>
          <a:p>
            <a:pPr indent="-368300" lvl="1" marL="914400" rtl="0" algn="l">
              <a:spcBef>
                <a:spcPts val="0"/>
              </a:spcBef>
              <a:spcAft>
                <a:spcPts val="0"/>
              </a:spcAft>
              <a:buSzPts val="2200"/>
              <a:buChar char="○"/>
            </a:pPr>
            <a:r>
              <a:rPr lang="en-GB"/>
              <a:t>Giới hạn phạm vi triển khai, trong điều kiện cho phép đa kế thừa.</a:t>
            </a:r>
            <a:endParaRPr/>
          </a:p>
          <a:p>
            <a:pPr indent="-368300" lvl="1" marL="914400" rtl="0" algn="l">
              <a:spcBef>
                <a:spcPts val="0"/>
              </a:spcBef>
              <a:spcAft>
                <a:spcPts val="0"/>
              </a:spcAft>
              <a:buSzPts val="2200"/>
              <a:buChar char="○"/>
            </a:pPr>
            <a:r>
              <a:rPr lang="en-GB"/>
              <a:t>Cho phép nạp chồng một số hành vi của lớp </a:t>
            </a:r>
            <a:r>
              <a:rPr lang="en-GB"/>
              <a:t>nguồn</a:t>
            </a:r>
            <a:r>
              <a:rPr lang="en-GB"/>
              <a:t>, bởi vì lớp chuyển kế thừa lớp được chuyển đổi.</a:t>
            </a:r>
            <a:endParaRPr/>
          </a:p>
          <a:p>
            <a:pPr indent="-368300" lvl="1" marL="914400" rtl="0" algn="l">
              <a:spcBef>
                <a:spcPts val="0"/>
              </a:spcBef>
              <a:spcAft>
                <a:spcPts val="0"/>
              </a:spcAft>
              <a:buSzPts val="2200"/>
              <a:buChar char="○"/>
            </a:pPr>
            <a:r>
              <a:rPr lang="en-GB"/>
              <a:t>Chỉ sử dụng một đối tượng, không liên kết với đối tượng được chuyển đổi.</a:t>
            </a:r>
            <a:endParaRPr/>
          </a:p>
          <a:p>
            <a:pPr indent="-381000" lvl="0" marL="457200" rtl="0" algn="l">
              <a:spcBef>
                <a:spcPts val="0"/>
              </a:spcBef>
              <a:spcAft>
                <a:spcPts val="0"/>
              </a:spcAft>
              <a:buSzPts val="2400"/>
              <a:buChar char="●"/>
            </a:pPr>
            <a:r>
              <a:rPr lang="en-GB"/>
              <a:t>Chuyển đổi dựa trên đóng gói:</a:t>
            </a:r>
            <a:endParaRPr/>
          </a:p>
          <a:p>
            <a:pPr indent="-368300" lvl="1" marL="914400" rtl="0" algn="l">
              <a:spcBef>
                <a:spcPts val="0"/>
              </a:spcBef>
              <a:spcAft>
                <a:spcPts val="0"/>
              </a:spcAft>
              <a:buSzPts val="2200"/>
              <a:buChar char="○"/>
            </a:pPr>
            <a:r>
              <a:rPr lang="en-GB"/>
              <a:t>Cho phép một đối tượng chuyển hoạt động với nhiều đối tượng được chuyển đổi.</a:t>
            </a:r>
            <a:endParaRPr/>
          </a:p>
          <a:p>
            <a:pPr indent="-368300" lvl="1" marL="914400" rtl="0" algn="l">
              <a:spcBef>
                <a:spcPts val="0"/>
              </a:spcBef>
              <a:spcAft>
                <a:spcPts val="0"/>
              </a:spcAft>
              <a:buSzPts val="2200"/>
              <a:buChar char="○"/>
            </a:pPr>
            <a:r>
              <a:rPr lang="en-GB"/>
              <a:t>Không nạp chồng được hành vi của cái được chuyển đổi trong lớp chuyển.</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5" name="Shape 975"/>
        <p:cNvGrpSpPr/>
        <p:nvPr/>
      </p:nvGrpSpPr>
      <p:grpSpPr>
        <a:xfrm>
          <a:off x="0" y="0"/>
          <a:ext cx="0" cy="0"/>
          <a:chOff x="0" y="0"/>
          <a:chExt cx="0" cy="0"/>
        </a:xfrm>
      </p:grpSpPr>
      <p:sp>
        <p:nvSpPr>
          <p:cNvPr id="976" name="Google Shape;976;p56"/>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7. Ứng dụng vẽ</a:t>
            </a:r>
            <a:endParaRPr/>
          </a:p>
        </p:txBody>
      </p:sp>
      <p:sp>
        <p:nvSpPr>
          <p:cNvPr id="977" name="Google Shape;977;p5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978" name="Google Shape;978;p56"/>
          <p:cNvSpPr/>
          <p:nvPr/>
        </p:nvSpPr>
        <p:spPr>
          <a:xfrm>
            <a:off x="470125" y="1528400"/>
            <a:ext cx="1537200" cy="524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t>DrawingEditor</a:t>
            </a:r>
            <a:endParaRPr sz="1600"/>
          </a:p>
        </p:txBody>
      </p:sp>
      <p:sp>
        <p:nvSpPr>
          <p:cNvPr id="979" name="Google Shape;979;p56"/>
          <p:cNvSpPr/>
          <p:nvPr/>
        </p:nvSpPr>
        <p:spPr>
          <a:xfrm>
            <a:off x="2908525" y="1588295"/>
            <a:ext cx="1897800" cy="405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i="1" lang="en-GB" sz="1600"/>
              <a:t>Shape</a:t>
            </a:r>
            <a:endParaRPr i="1" sz="1600"/>
          </a:p>
        </p:txBody>
      </p:sp>
      <p:sp>
        <p:nvSpPr>
          <p:cNvPr id="980" name="Google Shape;980;p56"/>
          <p:cNvSpPr/>
          <p:nvPr/>
        </p:nvSpPr>
        <p:spPr>
          <a:xfrm>
            <a:off x="2908525" y="2001899"/>
            <a:ext cx="1897800" cy="4050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i="1" lang="en-GB" sz="1600"/>
              <a:t>BoudingBox()</a:t>
            </a:r>
            <a:endParaRPr i="1" sz="1600"/>
          </a:p>
        </p:txBody>
      </p:sp>
      <p:sp>
        <p:nvSpPr>
          <p:cNvPr id="981" name="Google Shape;981;p56"/>
          <p:cNvSpPr/>
          <p:nvPr/>
        </p:nvSpPr>
        <p:spPr>
          <a:xfrm>
            <a:off x="3258900" y="2420502"/>
            <a:ext cx="189600" cy="1896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82" name="Google Shape;982;p56"/>
          <p:cNvSpPr/>
          <p:nvPr/>
        </p:nvSpPr>
        <p:spPr>
          <a:xfrm>
            <a:off x="4173300" y="2420502"/>
            <a:ext cx="189600" cy="1896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83" name="Google Shape;983;p56"/>
          <p:cNvSpPr/>
          <p:nvPr/>
        </p:nvSpPr>
        <p:spPr>
          <a:xfrm>
            <a:off x="1765525" y="3493295"/>
            <a:ext cx="1897800" cy="405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t>Line</a:t>
            </a:r>
            <a:endParaRPr sz="1600"/>
          </a:p>
        </p:txBody>
      </p:sp>
      <p:sp>
        <p:nvSpPr>
          <p:cNvPr id="984" name="Google Shape;984;p56"/>
          <p:cNvSpPr/>
          <p:nvPr/>
        </p:nvSpPr>
        <p:spPr>
          <a:xfrm>
            <a:off x="1765525" y="3906899"/>
            <a:ext cx="1897800" cy="4050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1600"/>
              <a:t>BoudingBox()</a:t>
            </a:r>
            <a:endParaRPr sz="1600"/>
          </a:p>
        </p:txBody>
      </p:sp>
      <p:sp>
        <p:nvSpPr>
          <p:cNvPr id="985" name="Google Shape;985;p56"/>
          <p:cNvSpPr/>
          <p:nvPr/>
        </p:nvSpPr>
        <p:spPr>
          <a:xfrm>
            <a:off x="3899125" y="3493295"/>
            <a:ext cx="1897800" cy="405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t>TextShape</a:t>
            </a:r>
            <a:endParaRPr sz="1600"/>
          </a:p>
        </p:txBody>
      </p:sp>
      <p:sp>
        <p:nvSpPr>
          <p:cNvPr id="986" name="Google Shape;986;p56"/>
          <p:cNvSpPr/>
          <p:nvPr/>
        </p:nvSpPr>
        <p:spPr>
          <a:xfrm>
            <a:off x="3899125" y="3906899"/>
            <a:ext cx="1897800" cy="4050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1600"/>
              <a:t>BoudingBox()</a:t>
            </a:r>
            <a:endParaRPr sz="1600"/>
          </a:p>
        </p:txBody>
      </p:sp>
      <p:sp>
        <p:nvSpPr>
          <p:cNvPr id="987" name="Google Shape;987;p56"/>
          <p:cNvSpPr/>
          <p:nvPr/>
        </p:nvSpPr>
        <p:spPr>
          <a:xfrm>
            <a:off x="6824675" y="1584625"/>
            <a:ext cx="1487400" cy="405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t>Text</a:t>
            </a:r>
            <a:r>
              <a:rPr lang="en-GB" sz="1600"/>
              <a:t>View</a:t>
            </a:r>
            <a:endParaRPr sz="1600"/>
          </a:p>
        </p:txBody>
      </p:sp>
      <p:sp>
        <p:nvSpPr>
          <p:cNvPr id="988" name="Google Shape;988;p56"/>
          <p:cNvSpPr/>
          <p:nvPr/>
        </p:nvSpPr>
        <p:spPr>
          <a:xfrm>
            <a:off x="6824675" y="1998227"/>
            <a:ext cx="1487400" cy="4050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1600"/>
              <a:t>GetExtent</a:t>
            </a:r>
            <a:r>
              <a:rPr lang="en-GB" sz="1600"/>
              <a:t>()</a:t>
            </a:r>
            <a:endParaRPr sz="1600"/>
          </a:p>
        </p:txBody>
      </p:sp>
      <p:cxnSp>
        <p:nvCxnSpPr>
          <p:cNvPr id="989" name="Google Shape;989;p56"/>
          <p:cNvCxnSpPr>
            <a:stCxn id="983" idx="0"/>
            <a:endCxn id="981" idx="3"/>
          </p:cNvCxnSpPr>
          <p:nvPr/>
        </p:nvCxnSpPr>
        <p:spPr>
          <a:xfrm rot="-5400000">
            <a:off x="2592475" y="2732045"/>
            <a:ext cx="883200" cy="639300"/>
          </a:xfrm>
          <a:prstGeom prst="bentConnector3">
            <a:avLst>
              <a:gd fmla="val 50000" name="adj1"/>
            </a:avLst>
          </a:prstGeom>
          <a:noFill/>
          <a:ln cap="flat" cmpd="sng" w="9525">
            <a:solidFill>
              <a:schemeClr val="dk2"/>
            </a:solidFill>
            <a:prstDash val="solid"/>
            <a:round/>
            <a:headEnd len="med" w="med" type="none"/>
            <a:tailEnd len="med" w="med" type="none"/>
          </a:ln>
        </p:spPr>
      </p:cxnSp>
      <p:cxnSp>
        <p:nvCxnSpPr>
          <p:cNvPr id="990" name="Google Shape;990;p56"/>
          <p:cNvCxnSpPr>
            <a:stCxn id="985" idx="0"/>
            <a:endCxn id="982" idx="3"/>
          </p:cNvCxnSpPr>
          <p:nvPr/>
        </p:nvCxnSpPr>
        <p:spPr>
          <a:xfrm flipH="1" rot="5400000">
            <a:off x="4116475" y="2761745"/>
            <a:ext cx="883200" cy="579900"/>
          </a:xfrm>
          <a:prstGeom prst="bentConnector3">
            <a:avLst>
              <a:gd fmla="val 50000" name="adj1"/>
            </a:avLst>
          </a:prstGeom>
          <a:noFill/>
          <a:ln cap="flat" cmpd="sng" w="9525">
            <a:solidFill>
              <a:schemeClr val="dk2"/>
            </a:solidFill>
            <a:prstDash val="solid"/>
            <a:round/>
            <a:headEnd len="med" w="med" type="none"/>
            <a:tailEnd len="med" w="med" type="none"/>
          </a:ln>
        </p:spPr>
      </p:cxnSp>
      <p:sp>
        <p:nvSpPr>
          <p:cNvPr id="991" name="Google Shape;991;p56"/>
          <p:cNvSpPr/>
          <p:nvPr/>
        </p:nvSpPr>
        <p:spPr>
          <a:xfrm>
            <a:off x="5810775" y="3631050"/>
            <a:ext cx="218775" cy="149750"/>
          </a:xfrm>
          <a:prstGeom prst="flowChartDecision">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992" name="Google Shape;992;p56"/>
          <p:cNvCxnSpPr>
            <a:stCxn id="991" idx="3"/>
            <a:endCxn id="987" idx="1"/>
          </p:cNvCxnSpPr>
          <p:nvPr/>
        </p:nvCxnSpPr>
        <p:spPr>
          <a:xfrm flipH="1" rot="10800000">
            <a:off x="6029550" y="1787125"/>
            <a:ext cx="795000" cy="1918800"/>
          </a:xfrm>
          <a:prstGeom prst="bentConnector3">
            <a:avLst>
              <a:gd fmla="val 50008" name="adj1"/>
            </a:avLst>
          </a:prstGeom>
          <a:noFill/>
          <a:ln cap="flat" cmpd="sng" w="9525">
            <a:solidFill>
              <a:schemeClr val="dk2"/>
            </a:solidFill>
            <a:prstDash val="solid"/>
            <a:round/>
            <a:headEnd len="med" w="med" type="none"/>
            <a:tailEnd len="med" w="med" type="none"/>
          </a:ln>
        </p:spPr>
      </p:cxnSp>
      <p:cxnSp>
        <p:nvCxnSpPr>
          <p:cNvPr id="993" name="Google Shape;993;p56"/>
          <p:cNvCxnSpPr>
            <a:stCxn id="978" idx="3"/>
            <a:endCxn id="979" idx="1"/>
          </p:cNvCxnSpPr>
          <p:nvPr/>
        </p:nvCxnSpPr>
        <p:spPr>
          <a:xfrm>
            <a:off x="2007325" y="1790750"/>
            <a:ext cx="901200" cy="0"/>
          </a:xfrm>
          <a:prstGeom prst="straightConnector1">
            <a:avLst/>
          </a:prstGeom>
          <a:noFill/>
          <a:ln cap="flat" cmpd="sng" w="9525">
            <a:solidFill>
              <a:schemeClr val="dk2"/>
            </a:solidFill>
            <a:prstDash val="solid"/>
            <a:round/>
            <a:headEnd len="med" w="med" type="none"/>
            <a:tailEnd len="med" w="med" type="none"/>
          </a:ln>
        </p:spPr>
      </p:cxnSp>
      <p:sp>
        <p:nvSpPr>
          <p:cNvPr id="994" name="Google Shape;994;p56"/>
          <p:cNvSpPr txBox="1"/>
          <p:nvPr/>
        </p:nvSpPr>
        <p:spPr>
          <a:xfrm>
            <a:off x="6299925" y="1451210"/>
            <a:ext cx="548700" cy="40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text</a:t>
            </a:r>
            <a:endParaRPr>
              <a:solidFill>
                <a:schemeClr val="dk2"/>
              </a:solidFill>
            </a:endParaRPr>
          </a:p>
        </p:txBody>
      </p:sp>
      <p:sp>
        <p:nvSpPr>
          <p:cNvPr id="995" name="Google Shape;995;p56"/>
          <p:cNvSpPr/>
          <p:nvPr/>
        </p:nvSpPr>
        <p:spPr>
          <a:xfrm>
            <a:off x="6692900" y="3800750"/>
            <a:ext cx="2063100" cy="524700"/>
          </a:xfrm>
          <a:prstGeom prst="foldedCorner">
            <a:avLst>
              <a:gd fmla="val 22478"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text-&gt;GetExtent()</a:t>
            </a:r>
            <a:endParaRPr/>
          </a:p>
        </p:txBody>
      </p:sp>
      <p:cxnSp>
        <p:nvCxnSpPr>
          <p:cNvPr id="996" name="Google Shape;996;p56"/>
          <p:cNvCxnSpPr/>
          <p:nvPr/>
        </p:nvCxnSpPr>
        <p:spPr>
          <a:xfrm>
            <a:off x="5361550" y="4090250"/>
            <a:ext cx="1337700" cy="0"/>
          </a:xfrm>
          <a:prstGeom prst="straightConnector1">
            <a:avLst/>
          </a:prstGeom>
          <a:noFill/>
          <a:ln cap="flat" cmpd="sng" w="19050">
            <a:solidFill>
              <a:schemeClr val="dk2"/>
            </a:solidFill>
            <a:prstDash val="dash"/>
            <a:round/>
            <a:headEnd len="med" w="med" type="oval"/>
            <a:tailEnd len="med" w="med" type="none"/>
          </a:ln>
        </p:spPr>
      </p:cxnSp>
      <p:sp>
        <p:nvSpPr>
          <p:cNvPr id="997" name="Google Shape;997;p56"/>
          <p:cNvSpPr txBox="1"/>
          <p:nvPr/>
        </p:nvSpPr>
        <p:spPr>
          <a:xfrm>
            <a:off x="2119901" y="1464825"/>
            <a:ext cx="921300" cy="37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use</a:t>
            </a:r>
            <a:endParaRPr>
              <a:solidFill>
                <a:schemeClr val="dk2"/>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1" name="Shape 1001"/>
        <p:cNvGrpSpPr/>
        <p:nvPr/>
      </p:nvGrpSpPr>
      <p:grpSpPr>
        <a:xfrm>
          <a:off x="0" y="0"/>
          <a:ext cx="0" cy="0"/>
          <a:chOff x="0" y="0"/>
          <a:chExt cx="0" cy="0"/>
        </a:xfrm>
      </p:grpSpPr>
      <p:sp>
        <p:nvSpPr>
          <p:cNvPr id="1002" name="Google Shape;1002;p57"/>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Bắc cầu</a:t>
            </a:r>
            <a:endParaRPr/>
          </a:p>
        </p:txBody>
      </p:sp>
      <p:sp>
        <p:nvSpPr>
          <p:cNvPr id="1003" name="Google Shape;1003;p57"/>
          <p:cNvSpPr txBox="1"/>
          <p:nvPr>
            <p:ph idx="1" type="body"/>
          </p:nvPr>
        </p:nvSpPr>
        <p:spPr>
          <a:xfrm>
            <a:off x="311700" y="950475"/>
            <a:ext cx="8520600" cy="54183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i="1" lang="en-GB"/>
              <a:t>Bridge</a:t>
            </a:r>
            <a:endParaRPr i="1"/>
          </a:p>
          <a:p>
            <a:pPr indent="0" lvl="0" marL="0" rtl="0" algn="just">
              <a:spcBef>
                <a:spcPts val="0"/>
              </a:spcBef>
              <a:spcAft>
                <a:spcPts val="0"/>
              </a:spcAft>
              <a:buNone/>
            </a:pPr>
            <a:r>
              <a:rPr lang="en-GB"/>
              <a:t>Tách riêng khái niệm và triển khai để cả hai có thể thay đổi độc lập với nhau.</a:t>
            </a:r>
            <a:endParaRPr/>
          </a:p>
        </p:txBody>
      </p:sp>
      <p:sp>
        <p:nvSpPr>
          <p:cNvPr id="1004" name="Google Shape;1004;p5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8" name="Shape 1008"/>
        <p:cNvGrpSpPr/>
        <p:nvPr/>
      </p:nvGrpSpPr>
      <p:grpSpPr>
        <a:xfrm>
          <a:off x="0" y="0"/>
          <a:ext cx="0" cy="0"/>
          <a:chOff x="0" y="0"/>
          <a:chExt cx="0" cy="0"/>
        </a:xfrm>
      </p:grpSpPr>
      <p:sp>
        <p:nvSpPr>
          <p:cNvPr id="1009" name="Google Shape;1009;p58"/>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Bắc cầu: Cấu trúc</a:t>
            </a:r>
            <a:endParaRPr/>
          </a:p>
        </p:txBody>
      </p:sp>
      <p:sp>
        <p:nvSpPr>
          <p:cNvPr id="1010" name="Google Shape;1010;p5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011" name="Google Shape;1011;p58"/>
          <p:cNvSpPr/>
          <p:nvPr/>
        </p:nvSpPr>
        <p:spPr>
          <a:xfrm>
            <a:off x="390250" y="1158375"/>
            <a:ext cx="1364100" cy="3624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Khách</a:t>
            </a:r>
            <a:endParaRPr sz="1600"/>
          </a:p>
        </p:txBody>
      </p:sp>
      <p:sp>
        <p:nvSpPr>
          <p:cNvPr id="1012" name="Google Shape;1012;p58"/>
          <p:cNvSpPr/>
          <p:nvPr/>
        </p:nvSpPr>
        <p:spPr>
          <a:xfrm>
            <a:off x="1843005" y="1863339"/>
            <a:ext cx="1364100" cy="3624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Khái niệm</a:t>
            </a:r>
            <a:endParaRPr sz="1600"/>
          </a:p>
        </p:txBody>
      </p:sp>
      <p:sp>
        <p:nvSpPr>
          <p:cNvPr id="1013" name="Google Shape;1013;p58"/>
          <p:cNvSpPr/>
          <p:nvPr/>
        </p:nvSpPr>
        <p:spPr>
          <a:xfrm>
            <a:off x="1843000" y="2225397"/>
            <a:ext cx="1364100" cy="6213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l">
              <a:spcBef>
                <a:spcPts val="0"/>
              </a:spcBef>
              <a:spcAft>
                <a:spcPts val="0"/>
              </a:spcAft>
              <a:buNone/>
            </a:pPr>
            <a:r>
              <a:rPr lang="en-GB" sz="1600"/>
              <a:t>Kết nối()</a:t>
            </a:r>
            <a:endParaRPr sz="1600"/>
          </a:p>
          <a:p>
            <a:pPr indent="0" lvl="0" marL="0" rtl="0" algn="l">
              <a:spcBef>
                <a:spcPts val="0"/>
              </a:spcBef>
              <a:spcAft>
                <a:spcPts val="0"/>
              </a:spcAft>
              <a:buNone/>
            </a:pPr>
            <a:r>
              <a:rPr lang="en-GB" sz="1600"/>
              <a:t>Thao tác</a:t>
            </a:r>
            <a:r>
              <a:rPr lang="en-GB" sz="1600"/>
              <a:t>()</a:t>
            </a:r>
            <a:endParaRPr sz="1600"/>
          </a:p>
        </p:txBody>
      </p:sp>
      <p:cxnSp>
        <p:nvCxnSpPr>
          <p:cNvPr id="1014" name="Google Shape;1014;p58"/>
          <p:cNvCxnSpPr>
            <a:stCxn id="1011" idx="2"/>
            <a:endCxn id="1012" idx="1"/>
          </p:cNvCxnSpPr>
          <p:nvPr/>
        </p:nvCxnSpPr>
        <p:spPr>
          <a:xfrm flipH="1" rot="-5400000">
            <a:off x="1195750" y="1397325"/>
            <a:ext cx="523800" cy="770700"/>
          </a:xfrm>
          <a:prstGeom prst="bentConnector2">
            <a:avLst/>
          </a:prstGeom>
          <a:noFill/>
          <a:ln cap="flat" cmpd="sng" w="9525">
            <a:solidFill>
              <a:schemeClr val="dk2"/>
            </a:solidFill>
            <a:prstDash val="dash"/>
            <a:round/>
            <a:headEnd len="med" w="med" type="none"/>
            <a:tailEnd len="med" w="med" type="stealth"/>
          </a:ln>
        </p:spPr>
      </p:cxnSp>
      <p:sp>
        <p:nvSpPr>
          <p:cNvPr id="1015" name="Google Shape;1015;p58"/>
          <p:cNvSpPr/>
          <p:nvPr/>
        </p:nvSpPr>
        <p:spPr>
          <a:xfrm>
            <a:off x="5945675" y="1882925"/>
            <a:ext cx="1721700" cy="3624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Triển khai</a:t>
            </a:r>
            <a:endParaRPr sz="1600"/>
          </a:p>
        </p:txBody>
      </p:sp>
      <p:sp>
        <p:nvSpPr>
          <p:cNvPr id="1016" name="Google Shape;1016;p58"/>
          <p:cNvSpPr/>
          <p:nvPr/>
        </p:nvSpPr>
        <p:spPr>
          <a:xfrm>
            <a:off x="5945675" y="2244981"/>
            <a:ext cx="1721700" cy="3624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Thao tác thực</a:t>
            </a:r>
            <a:r>
              <a:rPr lang="en-GB" sz="1600"/>
              <a:t>()</a:t>
            </a:r>
            <a:endParaRPr sz="1600"/>
          </a:p>
        </p:txBody>
      </p:sp>
      <p:sp>
        <p:nvSpPr>
          <p:cNvPr id="1017" name="Google Shape;1017;p58"/>
          <p:cNvSpPr/>
          <p:nvPr/>
        </p:nvSpPr>
        <p:spPr>
          <a:xfrm>
            <a:off x="1592075" y="3699887"/>
            <a:ext cx="1800900" cy="5238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Khái niệm được Tinh chỉnh</a:t>
            </a:r>
            <a:endParaRPr sz="1600"/>
          </a:p>
        </p:txBody>
      </p:sp>
      <p:sp>
        <p:nvSpPr>
          <p:cNvPr id="1018" name="Google Shape;1018;p58"/>
          <p:cNvSpPr/>
          <p:nvPr/>
        </p:nvSpPr>
        <p:spPr>
          <a:xfrm>
            <a:off x="2401614" y="2864314"/>
            <a:ext cx="191700" cy="1047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19" name="Google Shape;1019;p58"/>
          <p:cNvCxnSpPr>
            <a:stCxn id="1017" idx="0"/>
            <a:endCxn id="1018" idx="3"/>
          </p:cNvCxnSpPr>
          <p:nvPr/>
        </p:nvCxnSpPr>
        <p:spPr>
          <a:xfrm flipH="1" rot="10800000">
            <a:off x="2492525" y="2969087"/>
            <a:ext cx="4800" cy="730800"/>
          </a:xfrm>
          <a:prstGeom prst="straightConnector1">
            <a:avLst/>
          </a:prstGeom>
          <a:noFill/>
          <a:ln cap="flat" cmpd="sng" w="9525">
            <a:solidFill>
              <a:schemeClr val="dk2"/>
            </a:solidFill>
            <a:prstDash val="solid"/>
            <a:round/>
            <a:headEnd len="med" w="med" type="none"/>
            <a:tailEnd len="med" w="med" type="none"/>
          </a:ln>
        </p:spPr>
      </p:cxnSp>
      <p:sp>
        <p:nvSpPr>
          <p:cNvPr id="1020" name="Google Shape;1020;p58"/>
          <p:cNvSpPr/>
          <p:nvPr/>
        </p:nvSpPr>
        <p:spPr>
          <a:xfrm>
            <a:off x="3201826" y="1990339"/>
            <a:ext cx="191700" cy="117050"/>
          </a:xfrm>
          <a:prstGeom prst="flowChartDecision">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21" name="Google Shape;1021;p58"/>
          <p:cNvCxnSpPr>
            <a:stCxn id="1020" idx="3"/>
            <a:endCxn id="1015" idx="1"/>
          </p:cNvCxnSpPr>
          <p:nvPr/>
        </p:nvCxnSpPr>
        <p:spPr>
          <a:xfrm>
            <a:off x="3393526" y="2048864"/>
            <a:ext cx="2552100" cy="15300"/>
          </a:xfrm>
          <a:prstGeom prst="straightConnector1">
            <a:avLst/>
          </a:prstGeom>
          <a:noFill/>
          <a:ln cap="flat" cmpd="sng" w="9525">
            <a:solidFill>
              <a:schemeClr val="dk2"/>
            </a:solidFill>
            <a:prstDash val="solid"/>
            <a:round/>
            <a:headEnd len="med" w="med" type="none"/>
            <a:tailEnd len="med" w="med" type="none"/>
          </a:ln>
        </p:spPr>
      </p:cxnSp>
      <p:sp>
        <p:nvSpPr>
          <p:cNvPr id="1022" name="Google Shape;1022;p58"/>
          <p:cNvSpPr/>
          <p:nvPr/>
        </p:nvSpPr>
        <p:spPr>
          <a:xfrm>
            <a:off x="4760387" y="3699887"/>
            <a:ext cx="1800900" cy="3624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Triển khai Thực A</a:t>
            </a:r>
            <a:endParaRPr sz="1600"/>
          </a:p>
        </p:txBody>
      </p:sp>
      <p:sp>
        <p:nvSpPr>
          <p:cNvPr id="1023" name="Google Shape;1023;p58"/>
          <p:cNvSpPr/>
          <p:nvPr/>
        </p:nvSpPr>
        <p:spPr>
          <a:xfrm>
            <a:off x="4760387" y="4061949"/>
            <a:ext cx="1800900" cy="3624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Thao tác thực</a:t>
            </a:r>
            <a:r>
              <a:rPr lang="en-GB" sz="1600"/>
              <a:t>()</a:t>
            </a:r>
            <a:endParaRPr sz="1600"/>
          </a:p>
        </p:txBody>
      </p:sp>
      <p:sp>
        <p:nvSpPr>
          <p:cNvPr id="1024" name="Google Shape;1024;p58"/>
          <p:cNvSpPr/>
          <p:nvPr/>
        </p:nvSpPr>
        <p:spPr>
          <a:xfrm>
            <a:off x="7031361" y="3699887"/>
            <a:ext cx="1800900" cy="3624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Triển khai Thực B</a:t>
            </a:r>
            <a:endParaRPr sz="1600"/>
          </a:p>
        </p:txBody>
      </p:sp>
      <p:sp>
        <p:nvSpPr>
          <p:cNvPr id="1025" name="Google Shape;1025;p58"/>
          <p:cNvSpPr/>
          <p:nvPr/>
        </p:nvSpPr>
        <p:spPr>
          <a:xfrm>
            <a:off x="7031361" y="4061949"/>
            <a:ext cx="1800900" cy="3624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Thao tác thực</a:t>
            </a:r>
            <a:r>
              <a:rPr lang="en-GB" sz="1600"/>
              <a:t>()</a:t>
            </a:r>
            <a:endParaRPr sz="1600"/>
          </a:p>
        </p:txBody>
      </p:sp>
      <p:sp>
        <p:nvSpPr>
          <p:cNvPr id="1026" name="Google Shape;1026;p58"/>
          <p:cNvSpPr/>
          <p:nvPr/>
        </p:nvSpPr>
        <p:spPr>
          <a:xfrm>
            <a:off x="6516414" y="2605621"/>
            <a:ext cx="191700" cy="1047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7" name="Google Shape;1027;p58"/>
          <p:cNvSpPr/>
          <p:nvPr/>
        </p:nvSpPr>
        <p:spPr>
          <a:xfrm>
            <a:off x="6897414" y="2605621"/>
            <a:ext cx="191700" cy="1047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28" name="Google Shape;1028;p58"/>
          <p:cNvCxnSpPr>
            <a:stCxn id="1022" idx="0"/>
            <a:endCxn id="1026" idx="3"/>
          </p:cNvCxnSpPr>
          <p:nvPr/>
        </p:nvCxnSpPr>
        <p:spPr>
          <a:xfrm rot="-5400000">
            <a:off x="5641637" y="2729387"/>
            <a:ext cx="989700" cy="951300"/>
          </a:xfrm>
          <a:prstGeom prst="bentConnector3">
            <a:avLst>
              <a:gd fmla="val 49993" name="adj1"/>
            </a:avLst>
          </a:prstGeom>
          <a:noFill/>
          <a:ln cap="flat" cmpd="sng" w="9525">
            <a:solidFill>
              <a:schemeClr val="dk2"/>
            </a:solidFill>
            <a:prstDash val="solid"/>
            <a:round/>
            <a:headEnd len="med" w="med" type="none"/>
            <a:tailEnd len="med" w="med" type="none"/>
          </a:ln>
        </p:spPr>
      </p:cxnSp>
      <p:cxnSp>
        <p:nvCxnSpPr>
          <p:cNvPr id="1029" name="Google Shape;1029;p58"/>
          <p:cNvCxnSpPr>
            <a:stCxn id="1024" idx="0"/>
            <a:endCxn id="1027" idx="3"/>
          </p:cNvCxnSpPr>
          <p:nvPr/>
        </p:nvCxnSpPr>
        <p:spPr>
          <a:xfrm flipH="1" rot="5400000">
            <a:off x="6967761" y="2735837"/>
            <a:ext cx="989700" cy="938400"/>
          </a:xfrm>
          <a:prstGeom prst="bentConnector3">
            <a:avLst>
              <a:gd fmla="val 49993" name="adj1"/>
            </a:avLst>
          </a:prstGeom>
          <a:noFill/>
          <a:ln cap="flat" cmpd="sng" w="9525">
            <a:solidFill>
              <a:schemeClr val="dk2"/>
            </a:solidFill>
            <a:prstDash val="solid"/>
            <a:round/>
            <a:headEnd len="med" w="med" type="none"/>
            <a:tailEnd len="med" w="med" type="none"/>
          </a:ln>
        </p:spPr>
      </p:cxnSp>
      <p:sp>
        <p:nvSpPr>
          <p:cNvPr id="1030" name="Google Shape;1030;p58"/>
          <p:cNvSpPr/>
          <p:nvPr/>
        </p:nvSpPr>
        <p:spPr>
          <a:xfrm flipH="1" rot="10800000">
            <a:off x="3168050" y="3037125"/>
            <a:ext cx="2325900" cy="369000"/>
          </a:xfrm>
          <a:prstGeom prst="foldedCorner">
            <a:avLst>
              <a:gd fmla="val 25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1" name="Google Shape;1031;p58"/>
          <p:cNvSpPr txBox="1"/>
          <p:nvPr/>
        </p:nvSpPr>
        <p:spPr>
          <a:xfrm>
            <a:off x="3172175" y="2992575"/>
            <a:ext cx="2416200" cy="39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triển khai-&gt;Thao tác thực</a:t>
            </a:r>
            <a:r>
              <a:rPr lang="en-GB"/>
              <a:t>()</a:t>
            </a:r>
            <a:endParaRPr/>
          </a:p>
        </p:txBody>
      </p:sp>
      <p:sp>
        <p:nvSpPr>
          <p:cNvPr id="1032" name="Google Shape;1032;p58"/>
          <p:cNvSpPr/>
          <p:nvPr/>
        </p:nvSpPr>
        <p:spPr>
          <a:xfrm>
            <a:off x="2845250" y="2651062"/>
            <a:ext cx="52200" cy="696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33" name="Google Shape;1033;p58"/>
          <p:cNvCxnSpPr>
            <a:stCxn id="1032" idx="4"/>
            <a:endCxn id="1031" idx="1"/>
          </p:cNvCxnSpPr>
          <p:nvPr/>
        </p:nvCxnSpPr>
        <p:spPr>
          <a:xfrm flipH="1" rot="-5400000">
            <a:off x="2787650" y="2804362"/>
            <a:ext cx="468300" cy="300900"/>
          </a:xfrm>
          <a:prstGeom prst="bentConnector2">
            <a:avLst/>
          </a:prstGeom>
          <a:noFill/>
          <a:ln cap="flat" cmpd="sng" w="9525">
            <a:solidFill>
              <a:schemeClr val="dk2"/>
            </a:solidFill>
            <a:prstDash val="dot"/>
            <a:round/>
            <a:headEnd len="med" w="med" type="none"/>
            <a:tailEnd len="med" w="med" type="none"/>
          </a:ln>
        </p:spPr>
      </p:cxnSp>
      <p:sp>
        <p:nvSpPr>
          <p:cNvPr id="1034" name="Google Shape;1034;p58"/>
          <p:cNvSpPr txBox="1"/>
          <p:nvPr/>
        </p:nvSpPr>
        <p:spPr>
          <a:xfrm>
            <a:off x="4934750" y="1687772"/>
            <a:ext cx="1024200" cy="36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t>triển khai</a:t>
            </a:r>
            <a:endParaRPr sz="1600"/>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8" name="Shape 1038"/>
        <p:cNvGrpSpPr/>
        <p:nvPr/>
      </p:nvGrpSpPr>
      <p:grpSpPr>
        <a:xfrm>
          <a:off x="0" y="0"/>
          <a:ext cx="0" cy="0"/>
          <a:chOff x="0" y="0"/>
          <a:chExt cx="0" cy="0"/>
        </a:xfrm>
      </p:grpSpPr>
      <p:sp>
        <p:nvSpPr>
          <p:cNvPr id="1039" name="Google Shape;1039;p59"/>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Bắc cầu: Hành vi</a:t>
            </a:r>
            <a:endParaRPr/>
          </a:p>
        </p:txBody>
      </p:sp>
      <p:sp>
        <p:nvSpPr>
          <p:cNvPr id="1040" name="Google Shape;1040;p5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041" name="Google Shape;1041;p59"/>
          <p:cNvSpPr/>
          <p:nvPr/>
        </p:nvSpPr>
        <p:spPr>
          <a:xfrm>
            <a:off x="775961" y="1293100"/>
            <a:ext cx="12915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u="sng"/>
              <a:t>:Khách</a:t>
            </a:r>
            <a:endParaRPr u="sng"/>
          </a:p>
        </p:txBody>
      </p:sp>
      <p:sp>
        <p:nvSpPr>
          <p:cNvPr id="1042" name="Google Shape;1042;p59"/>
          <p:cNvSpPr/>
          <p:nvPr/>
        </p:nvSpPr>
        <p:spPr>
          <a:xfrm>
            <a:off x="2680961" y="1293100"/>
            <a:ext cx="12915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u="sng"/>
              <a:t>:</a:t>
            </a:r>
            <a:r>
              <a:rPr lang="en-GB" u="sng"/>
              <a:t>Khái Niệm</a:t>
            </a:r>
            <a:endParaRPr u="sng"/>
          </a:p>
        </p:txBody>
      </p:sp>
      <p:cxnSp>
        <p:nvCxnSpPr>
          <p:cNvPr id="1043" name="Google Shape;1043;p59"/>
          <p:cNvCxnSpPr/>
          <p:nvPr/>
        </p:nvCxnSpPr>
        <p:spPr>
          <a:xfrm>
            <a:off x="1421700" y="1615600"/>
            <a:ext cx="2700" cy="4115400"/>
          </a:xfrm>
          <a:prstGeom prst="straightConnector1">
            <a:avLst/>
          </a:prstGeom>
          <a:noFill/>
          <a:ln cap="flat" cmpd="sng" w="9525">
            <a:solidFill>
              <a:schemeClr val="dk2"/>
            </a:solidFill>
            <a:prstDash val="dash"/>
            <a:round/>
            <a:headEnd len="med" w="med" type="none"/>
            <a:tailEnd len="med" w="med" type="none"/>
          </a:ln>
        </p:spPr>
      </p:cxnSp>
      <p:cxnSp>
        <p:nvCxnSpPr>
          <p:cNvPr id="1044" name="Google Shape;1044;p59"/>
          <p:cNvCxnSpPr/>
          <p:nvPr/>
        </p:nvCxnSpPr>
        <p:spPr>
          <a:xfrm>
            <a:off x="3326700" y="1615600"/>
            <a:ext cx="0" cy="4077000"/>
          </a:xfrm>
          <a:prstGeom prst="straightConnector1">
            <a:avLst/>
          </a:prstGeom>
          <a:noFill/>
          <a:ln cap="flat" cmpd="sng" w="9525">
            <a:solidFill>
              <a:schemeClr val="dk2"/>
            </a:solidFill>
            <a:prstDash val="dash"/>
            <a:round/>
            <a:headEnd len="med" w="med" type="none"/>
            <a:tailEnd len="med" w="med" type="none"/>
          </a:ln>
        </p:spPr>
      </p:cxnSp>
      <p:sp>
        <p:nvSpPr>
          <p:cNvPr id="1045" name="Google Shape;1045;p59"/>
          <p:cNvSpPr/>
          <p:nvPr/>
        </p:nvSpPr>
        <p:spPr>
          <a:xfrm>
            <a:off x="3248925" y="2373275"/>
            <a:ext cx="152700" cy="8316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046" name="Google Shape;1046;p59"/>
          <p:cNvCxnSpPr/>
          <p:nvPr/>
        </p:nvCxnSpPr>
        <p:spPr>
          <a:xfrm>
            <a:off x="1432125" y="2463125"/>
            <a:ext cx="1797000" cy="0"/>
          </a:xfrm>
          <a:prstGeom prst="straightConnector1">
            <a:avLst/>
          </a:prstGeom>
          <a:noFill/>
          <a:ln cap="flat" cmpd="sng" w="19050">
            <a:solidFill>
              <a:schemeClr val="dk2"/>
            </a:solidFill>
            <a:prstDash val="solid"/>
            <a:round/>
            <a:headEnd len="med" w="med" type="none"/>
            <a:tailEnd len="med" w="med" type="triangle"/>
          </a:ln>
        </p:spPr>
      </p:cxnSp>
      <p:sp>
        <p:nvSpPr>
          <p:cNvPr id="1047" name="Google Shape;1047;p59"/>
          <p:cNvSpPr txBox="1"/>
          <p:nvPr/>
        </p:nvSpPr>
        <p:spPr>
          <a:xfrm>
            <a:off x="1601825" y="2081115"/>
            <a:ext cx="1442400" cy="41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rPr>
              <a:t>Thao tác</a:t>
            </a:r>
            <a:r>
              <a:rPr lang="en-GB" sz="1600">
                <a:solidFill>
                  <a:schemeClr val="dk2"/>
                </a:solidFill>
              </a:rPr>
              <a:t>()</a:t>
            </a:r>
            <a:endParaRPr sz="1600">
              <a:solidFill>
                <a:schemeClr val="dk2"/>
              </a:solidFill>
            </a:endParaRPr>
          </a:p>
        </p:txBody>
      </p:sp>
      <p:sp>
        <p:nvSpPr>
          <p:cNvPr id="1048" name="Google Shape;1048;p59"/>
          <p:cNvSpPr txBox="1"/>
          <p:nvPr/>
        </p:nvSpPr>
        <p:spPr>
          <a:xfrm>
            <a:off x="3487808" y="2309725"/>
            <a:ext cx="1736100" cy="32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rPr>
              <a:t>Thao tác t</a:t>
            </a:r>
            <a:r>
              <a:rPr lang="en-GB" sz="1600">
                <a:solidFill>
                  <a:schemeClr val="dk2"/>
                </a:solidFill>
              </a:rPr>
              <a:t>hực</a:t>
            </a:r>
            <a:r>
              <a:rPr lang="en-GB" sz="1600">
                <a:solidFill>
                  <a:schemeClr val="dk2"/>
                </a:solidFill>
              </a:rPr>
              <a:t>()</a:t>
            </a:r>
            <a:endParaRPr sz="1600">
              <a:solidFill>
                <a:schemeClr val="dk2"/>
              </a:solidFill>
            </a:endParaRPr>
          </a:p>
        </p:txBody>
      </p:sp>
      <p:sp>
        <p:nvSpPr>
          <p:cNvPr id="1049" name="Google Shape;1049;p59"/>
          <p:cNvSpPr/>
          <p:nvPr/>
        </p:nvSpPr>
        <p:spPr>
          <a:xfrm>
            <a:off x="4357345" y="1293100"/>
            <a:ext cx="18741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u="sng"/>
              <a:t>a</a:t>
            </a:r>
            <a:r>
              <a:rPr lang="en-GB" u="sng"/>
              <a:t>:</a:t>
            </a:r>
            <a:r>
              <a:rPr lang="en-GB" u="sng"/>
              <a:t>Triển Khai Thực A</a:t>
            </a:r>
            <a:endParaRPr u="sng"/>
          </a:p>
        </p:txBody>
      </p:sp>
      <p:cxnSp>
        <p:nvCxnSpPr>
          <p:cNvPr id="1050" name="Google Shape;1050;p59"/>
          <p:cNvCxnSpPr/>
          <p:nvPr/>
        </p:nvCxnSpPr>
        <p:spPr>
          <a:xfrm>
            <a:off x="5307900" y="1615600"/>
            <a:ext cx="0" cy="4077000"/>
          </a:xfrm>
          <a:prstGeom prst="straightConnector1">
            <a:avLst/>
          </a:prstGeom>
          <a:noFill/>
          <a:ln cap="flat" cmpd="sng" w="9525">
            <a:solidFill>
              <a:schemeClr val="dk2"/>
            </a:solidFill>
            <a:prstDash val="dash"/>
            <a:round/>
            <a:headEnd len="med" w="med" type="none"/>
            <a:tailEnd len="med" w="med" type="none"/>
          </a:ln>
        </p:spPr>
      </p:cxnSp>
      <p:sp>
        <p:nvSpPr>
          <p:cNvPr id="1051" name="Google Shape;1051;p59"/>
          <p:cNvSpPr/>
          <p:nvPr/>
        </p:nvSpPr>
        <p:spPr>
          <a:xfrm>
            <a:off x="5230125" y="2515090"/>
            <a:ext cx="152700" cy="7098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052" name="Google Shape;1052;p59"/>
          <p:cNvCxnSpPr/>
          <p:nvPr/>
        </p:nvCxnSpPr>
        <p:spPr>
          <a:xfrm>
            <a:off x="3413325" y="2691725"/>
            <a:ext cx="1797000" cy="0"/>
          </a:xfrm>
          <a:prstGeom prst="straightConnector1">
            <a:avLst/>
          </a:prstGeom>
          <a:noFill/>
          <a:ln cap="flat" cmpd="sng" w="19050">
            <a:solidFill>
              <a:schemeClr val="dk2"/>
            </a:solidFill>
            <a:prstDash val="solid"/>
            <a:round/>
            <a:headEnd len="med" w="med" type="none"/>
            <a:tailEnd len="med" w="med" type="triangle"/>
          </a:ln>
        </p:spPr>
      </p:cxnSp>
      <p:sp>
        <p:nvSpPr>
          <p:cNvPr id="1053" name="Google Shape;1053;p59"/>
          <p:cNvSpPr/>
          <p:nvPr/>
        </p:nvSpPr>
        <p:spPr>
          <a:xfrm>
            <a:off x="3248925" y="1809850"/>
            <a:ext cx="152700" cy="3573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054" name="Google Shape;1054;p59"/>
          <p:cNvCxnSpPr/>
          <p:nvPr/>
        </p:nvCxnSpPr>
        <p:spPr>
          <a:xfrm>
            <a:off x="1432125" y="2005925"/>
            <a:ext cx="1797000" cy="0"/>
          </a:xfrm>
          <a:prstGeom prst="straightConnector1">
            <a:avLst/>
          </a:prstGeom>
          <a:noFill/>
          <a:ln cap="flat" cmpd="sng" w="19050">
            <a:solidFill>
              <a:schemeClr val="dk2"/>
            </a:solidFill>
            <a:prstDash val="solid"/>
            <a:round/>
            <a:headEnd len="med" w="med" type="none"/>
            <a:tailEnd len="med" w="med" type="triangle"/>
          </a:ln>
        </p:spPr>
      </p:cxnSp>
      <p:sp>
        <p:nvSpPr>
          <p:cNvPr id="1055" name="Google Shape;1055;p59"/>
          <p:cNvSpPr txBox="1"/>
          <p:nvPr/>
        </p:nvSpPr>
        <p:spPr>
          <a:xfrm>
            <a:off x="1601825" y="1623915"/>
            <a:ext cx="1442400" cy="41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rPr>
              <a:t>Kết nối</a:t>
            </a:r>
            <a:r>
              <a:rPr lang="en-GB" sz="1600">
                <a:solidFill>
                  <a:schemeClr val="dk2"/>
                </a:solidFill>
              </a:rPr>
              <a:t>(a)</a:t>
            </a:r>
            <a:endParaRPr sz="1600">
              <a:solidFill>
                <a:schemeClr val="dk2"/>
              </a:solidFill>
            </a:endParaRPr>
          </a:p>
        </p:txBody>
      </p:sp>
      <p:sp>
        <p:nvSpPr>
          <p:cNvPr id="1056" name="Google Shape;1056;p59"/>
          <p:cNvSpPr/>
          <p:nvPr/>
        </p:nvSpPr>
        <p:spPr>
          <a:xfrm>
            <a:off x="6567145" y="1293100"/>
            <a:ext cx="18741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u="sng"/>
              <a:t>b</a:t>
            </a:r>
            <a:r>
              <a:rPr lang="en-GB" u="sng"/>
              <a:t>:Triển Khai Thực B</a:t>
            </a:r>
            <a:endParaRPr u="sng"/>
          </a:p>
        </p:txBody>
      </p:sp>
      <p:cxnSp>
        <p:nvCxnSpPr>
          <p:cNvPr id="1057" name="Google Shape;1057;p59"/>
          <p:cNvCxnSpPr/>
          <p:nvPr/>
        </p:nvCxnSpPr>
        <p:spPr>
          <a:xfrm>
            <a:off x="7517700" y="1615600"/>
            <a:ext cx="0" cy="4077000"/>
          </a:xfrm>
          <a:prstGeom prst="straightConnector1">
            <a:avLst/>
          </a:prstGeom>
          <a:noFill/>
          <a:ln cap="flat" cmpd="sng" w="9525">
            <a:solidFill>
              <a:schemeClr val="dk2"/>
            </a:solidFill>
            <a:prstDash val="dash"/>
            <a:round/>
            <a:headEnd len="med" w="med" type="none"/>
            <a:tailEnd len="med" w="med" type="none"/>
          </a:ln>
        </p:spPr>
      </p:cxnSp>
      <p:sp>
        <p:nvSpPr>
          <p:cNvPr id="1058" name="Google Shape;1058;p59"/>
          <p:cNvSpPr/>
          <p:nvPr/>
        </p:nvSpPr>
        <p:spPr>
          <a:xfrm>
            <a:off x="3248925" y="3410050"/>
            <a:ext cx="152700" cy="3573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059" name="Google Shape;1059;p59"/>
          <p:cNvCxnSpPr/>
          <p:nvPr/>
        </p:nvCxnSpPr>
        <p:spPr>
          <a:xfrm>
            <a:off x="1432125" y="3606125"/>
            <a:ext cx="1797000" cy="0"/>
          </a:xfrm>
          <a:prstGeom prst="straightConnector1">
            <a:avLst/>
          </a:prstGeom>
          <a:noFill/>
          <a:ln cap="flat" cmpd="sng" w="19050">
            <a:solidFill>
              <a:schemeClr val="dk2"/>
            </a:solidFill>
            <a:prstDash val="solid"/>
            <a:round/>
            <a:headEnd len="med" w="med" type="none"/>
            <a:tailEnd len="med" w="med" type="triangle"/>
          </a:ln>
        </p:spPr>
      </p:cxnSp>
      <p:sp>
        <p:nvSpPr>
          <p:cNvPr id="1060" name="Google Shape;1060;p59"/>
          <p:cNvSpPr txBox="1"/>
          <p:nvPr/>
        </p:nvSpPr>
        <p:spPr>
          <a:xfrm>
            <a:off x="1601825" y="3224115"/>
            <a:ext cx="1442400" cy="41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rPr>
              <a:t>Kết nối(b)</a:t>
            </a:r>
            <a:endParaRPr sz="1600">
              <a:solidFill>
                <a:schemeClr val="dk2"/>
              </a:solidFill>
            </a:endParaRPr>
          </a:p>
        </p:txBody>
      </p:sp>
      <p:sp>
        <p:nvSpPr>
          <p:cNvPr id="1061" name="Google Shape;1061;p59"/>
          <p:cNvSpPr/>
          <p:nvPr/>
        </p:nvSpPr>
        <p:spPr>
          <a:xfrm>
            <a:off x="3248925" y="4202075"/>
            <a:ext cx="152700" cy="8316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062" name="Google Shape;1062;p59"/>
          <p:cNvCxnSpPr/>
          <p:nvPr/>
        </p:nvCxnSpPr>
        <p:spPr>
          <a:xfrm>
            <a:off x="1432125" y="4291925"/>
            <a:ext cx="1797000" cy="0"/>
          </a:xfrm>
          <a:prstGeom prst="straightConnector1">
            <a:avLst/>
          </a:prstGeom>
          <a:noFill/>
          <a:ln cap="flat" cmpd="sng" w="19050">
            <a:solidFill>
              <a:schemeClr val="dk2"/>
            </a:solidFill>
            <a:prstDash val="solid"/>
            <a:round/>
            <a:headEnd len="med" w="med" type="none"/>
            <a:tailEnd len="med" w="med" type="triangle"/>
          </a:ln>
        </p:spPr>
      </p:cxnSp>
      <p:sp>
        <p:nvSpPr>
          <p:cNvPr id="1063" name="Google Shape;1063;p59"/>
          <p:cNvSpPr txBox="1"/>
          <p:nvPr/>
        </p:nvSpPr>
        <p:spPr>
          <a:xfrm>
            <a:off x="1601825" y="3909915"/>
            <a:ext cx="1442400" cy="41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rPr>
              <a:t>Thao tác()</a:t>
            </a:r>
            <a:endParaRPr sz="1600">
              <a:solidFill>
                <a:schemeClr val="dk2"/>
              </a:solidFill>
            </a:endParaRPr>
          </a:p>
        </p:txBody>
      </p:sp>
      <p:sp>
        <p:nvSpPr>
          <p:cNvPr id="1064" name="Google Shape;1064;p59"/>
          <p:cNvSpPr txBox="1"/>
          <p:nvPr/>
        </p:nvSpPr>
        <p:spPr>
          <a:xfrm>
            <a:off x="3487808" y="4138525"/>
            <a:ext cx="1736100" cy="32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rPr>
              <a:t>Thao tác thực()</a:t>
            </a:r>
            <a:endParaRPr sz="1600">
              <a:solidFill>
                <a:schemeClr val="dk2"/>
              </a:solidFill>
            </a:endParaRPr>
          </a:p>
        </p:txBody>
      </p:sp>
      <p:sp>
        <p:nvSpPr>
          <p:cNvPr id="1065" name="Google Shape;1065;p59"/>
          <p:cNvSpPr/>
          <p:nvPr/>
        </p:nvSpPr>
        <p:spPr>
          <a:xfrm>
            <a:off x="7439925" y="4343890"/>
            <a:ext cx="152700" cy="7098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066" name="Google Shape;1066;p59"/>
          <p:cNvCxnSpPr/>
          <p:nvPr/>
        </p:nvCxnSpPr>
        <p:spPr>
          <a:xfrm>
            <a:off x="3413325" y="4520525"/>
            <a:ext cx="4003500" cy="0"/>
          </a:xfrm>
          <a:prstGeom prst="straightConnector1">
            <a:avLst/>
          </a:prstGeom>
          <a:noFill/>
          <a:ln cap="flat" cmpd="sng" w="19050">
            <a:solidFill>
              <a:schemeClr val="dk2"/>
            </a:solidFill>
            <a:prstDash val="solid"/>
            <a:round/>
            <a:headEnd len="med" w="med" type="none"/>
            <a:tailEnd len="med" w="med" type="triangle"/>
          </a:ln>
        </p:spPr>
      </p:cxn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0" name="Shape 1070"/>
        <p:cNvGrpSpPr/>
        <p:nvPr/>
      </p:nvGrpSpPr>
      <p:grpSpPr>
        <a:xfrm>
          <a:off x="0" y="0"/>
          <a:ext cx="0" cy="0"/>
          <a:chOff x="0" y="0"/>
          <a:chExt cx="0" cy="0"/>
        </a:xfrm>
      </p:grpSpPr>
      <p:sp>
        <p:nvSpPr>
          <p:cNvPr id="1071" name="Google Shape;1071;p60"/>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8. Cửa sổ trong giao diện đồ họa</a:t>
            </a:r>
            <a:endParaRPr/>
          </a:p>
        </p:txBody>
      </p:sp>
      <p:sp>
        <p:nvSpPr>
          <p:cNvPr id="1072" name="Google Shape;1072;p6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073" name="Google Shape;1073;p60"/>
          <p:cNvSpPr/>
          <p:nvPr/>
        </p:nvSpPr>
        <p:spPr>
          <a:xfrm>
            <a:off x="1640111" y="1391075"/>
            <a:ext cx="12915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i="1" lang="en-GB"/>
              <a:t>Window</a:t>
            </a:r>
            <a:endParaRPr i="1"/>
          </a:p>
        </p:txBody>
      </p:sp>
      <p:sp>
        <p:nvSpPr>
          <p:cNvPr id="1074" name="Google Shape;1074;p60"/>
          <p:cNvSpPr/>
          <p:nvPr/>
        </p:nvSpPr>
        <p:spPr>
          <a:xfrm>
            <a:off x="1640100" y="1713298"/>
            <a:ext cx="1291500" cy="5247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l">
              <a:spcBef>
                <a:spcPts val="0"/>
              </a:spcBef>
              <a:spcAft>
                <a:spcPts val="0"/>
              </a:spcAft>
              <a:buNone/>
            </a:pPr>
            <a:r>
              <a:rPr lang="en-GB"/>
              <a:t>DrawText()</a:t>
            </a:r>
            <a:endParaRPr/>
          </a:p>
          <a:p>
            <a:pPr indent="0" lvl="0" marL="0" rtl="0" algn="l">
              <a:spcBef>
                <a:spcPts val="0"/>
              </a:spcBef>
              <a:spcAft>
                <a:spcPts val="0"/>
              </a:spcAft>
              <a:buNone/>
            </a:pPr>
            <a:r>
              <a:rPr lang="en-GB"/>
              <a:t>DrawRect()</a:t>
            </a:r>
            <a:endParaRPr/>
          </a:p>
        </p:txBody>
      </p:sp>
      <p:sp>
        <p:nvSpPr>
          <p:cNvPr id="1075" name="Google Shape;1075;p60"/>
          <p:cNvSpPr/>
          <p:nvPr/>
        </p:nvSpPr>
        <p:spPr>
          <a:xfrm>
            <a:off x="5907313" y="1391075"/>
            <a:ext cx="14469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i="1" lang="en-GB"/>
              <a:t>WindowImp</a:t>
            </a:r>
            <a:endParaRPr i="1"/>
          </a:p>
        </p:txBody>
      </p:sp>
      <p:sp>
        <p:nvSpPr>
          <p:cNvPr id="1076" name="Google Shape;1076;p60"/>
          <p:cNvSpPr/>
          <p:nvPr/>
        </p:nvSpPr>
        <p:spPr>
          <a:xfrm>
            <a:off x="5907300" y="1713299"/>
            <a:ext cx="1446900" cy="5247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l">
              <a:spcBef>
                <a:spcPts val="0"/>
              </a:spcBef>
              <a:spcAft>
                <a:spcPts val="0"/>
              </a:spcAft>
              <a:buNone/>
            </a:pPr>
            <a:r>
              <a:rPr i="1" lang="en-GB"/>
              <a:t>DevDrawText()</a:t>
            </a:r>
            <a:endParaRPr i="1"/>
          </a:p>
          <a:p>
            <a:pPr indent="0" lvl="0" marL="0" rtl="0" algn="l">
              <a:spcBef>
                <a:spcPts val="0"/>
              </a:spcBef>
              <a:spcAft>
                <a:spcPts val="0"/>
              </a:spcAft>
              <a:buNone/>
            </a:pPr>
            <a:r>
              <a:rPr i="1" lang="en-GB"/>
              <a:t>DevDrawLine()</a:t>
            </a:r>
            <a:endParaRPr i="1"/>
          </a:p>
        </p:txBody>
      </p:sp>
      <p:sp>
        <p:nvSpPr>
          <p:cNvPr id="1077" name="Google Shape;1077;p60"/>
          <p:cNvSpPr/>
          <p:nvPr/>
        </p:nvSpPr>
        <p:spPr>
          <a:xfrm>
            <a:off x="2939619" y="1503192"/>
            <a:ext cx="191700" cy="117050"/>
          </a:xfrm>
          <a:prstGeom prst="flowChartDecision">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78" name="Google Shape;1078;p60"/>
          <p:cNvCxnSpPr>
            <a:stCxn id="1077" idx="3"/>
            <a:endCxn id="1075" idx="1"/>
          </p:cNvCxnSpPr>
          <p:nvPr/>
        </p:nvCxnSpPr>
        <p:spPr>
          <a:xfrm flipH="1" rot="10800000">
            <a:off x="3131319" y="1552417"/>
            <a:ext cx="2775900" cy="9300"/>
          </a:xfrm>
          <a:prstGeom prst="straightConnector1">
            <a:avLst/>
          </a:prstGeom>
          <a:noFill/>
          <a:ln cap="flat" cmpd="sng" w="9525">
            <a:solidFill>
              <a:schemeClr val="dk2"/>
            </a:solidFill>
            <a:prstDash val="solid"/>
            <a:round/>
            <a:headEnd len="med" w="med" type="none"/>
            <a:tailEnd len="med" w="med" type="none"/>
          </a:ln>
        </p:spPr>
      </p:cxnSp>
      <p:sp>
        <p:nvSpPr>
          <p:cNvPr id="1079" name="Google Shape;1079;p60"/>
          <p:cNvSpPr/>
          <p:nvPr/>
        </p:nvSpPr>
        <p:spPr>
          <a:xfrm>
            <a:off x="4992913" y="3600875"/>
            <a:ext cx="14469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a:t>XWindowImp</a:t>
            </a:r>
            <a:endParaRPr/>
          </a:p>
        </p:txBody>
      </p:sp>
      <p:sp>
        <p:nvSpPr>
          <p:cNvPr id="1080" name="Google Shape;1080;p60"/>
          <p:cNvSpPr/>
          <p:nvPr/>
        </p:nvSpPr>
        <p:spPr>
          <a:xfrm>
            <a:off x="4992900" y="3923099"/>
            <a:ext cx="1446900" cy="5247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l">
              <a:spcBef>
                <a:spcPts val="0"/>
              </a:spcBef>
              <a:spcAft>
                <a:spcPts val="0"/>
              </a:spcAft>
              <a:buNone/>
            </a:pPr>
            <a:r>
              <a:rPr lang="en-GB"/>
              <a:t>DevDrawText()</a:t>
            </a:r>
            <a:endParaRPr/>
          </a:p>
          <a:p>
            <a:pPr indent="0" lvl="0" marL="0" rtl="0" algn="l">
              <a:spcBef>
                <a:spcPts val="0"/>
              </a:spcBef>
              <a:spcAft>
                <a:spcPts val="0"/>
              </a:spcAft>
              <a:buNone/>
            </a:pPr>
            <a:r>
              <a:rPr lang="en-GB"/>
              <a:t>DevDrawLine()</a:t>
            </a:r>
            <a:endParaRPr/>
          </a:p>
        </p:txBody>
      </p:sp>
      <p:sp>
        <p:nvSpPr>
          <p:cNvPr id="1081" name="Google Shape;1081;p60"/>
          <p:cNvSpPr/>
          <p:nvPr/>
        </p:nvSpPr>
        <p:spPr>
          <a:xfrm>
            <a:off x="6821713" y="3600875"/>
            <a:ext cx="14469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a:t>PMWindowImp</a:t>
            </a:r>
            <a:endParaRPr/>
          </a:p>
        </p:txBody>
      </p:sp>
      <p:sp>
        <p:nvSpPr>
          <p:cNvPr id="1082" name="Google Shape;1082;p60"/>
          <p:cNvSpPr/>
          <p:nvPr/>
        </p:nvSpPr>
        <p:spPr>
          <a:xfrm>
            <a:off x="6821700" y="3923099"/>
            <a:ext cx="1446900" cy="5247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l">
              <a:spcBef>
                <a:spcPts val="0"/>
              </a:spcBef>
              <a:spcAft>
                <a:spcPts val="0"/>
              </a:spcAft>
              <a:buNone/>
            </a:pPr>
            <a:r>
              <a:rPr lang="en-GB"/>
              <a:t>DevDrawText()</a:t>
            </a:r>
            <a:endParaRPr/>
          </a:p>
          <a:p>
            <a:pPr indent="0" lvl="0" marL="0" rtl="0" algn="l">
              <a:spcBef>
                <a:spcPts val="0"/>
              </a:spcBef>
              <a:spcAft>
                <a:spcPts val="0"/>
              </a:spcAft>
              <a:buNone/>
            </a:pPr>
            <a:r>
              <a:rPr lang="en-GB"/>
              <a:t>DevDrawLine()</a:t>
            </a:r>
            <a:endParaRPr/>
          </a:p>
        </p:txBody>
      </p:sp>
      <p:sp>
        <p:nvSpPr>
          <p:cNvPr id="1083" name="Google Shape;1083;p60"/>
          <p:cNvSpPr/>
          <p:nvPr/>
        </p:nvSpPr>
        <p:spPr>
          <a:xfrm>
            <a:off x="573312" y="3600875"/>
            <a:ext cx="13941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i="1" lang="en-GB"/>
              <a:t>Icon</a:t>
            </a:r>
            <a:r>
              <a:rPr i="1" lang="en-GB"/>
              <a:t>Window</a:t>
            </a:r>
            <a:endParaRPr i="1"/>
          </a:p>
        </p:txBody>
      </p:sp>
      <p:sp>
        <p:nvSpPr>
          <p:cNvPr id="1084" name="Google Shape;1084;p60"/>
          <p:cNvSpPr/>
          <p:nvPr/>
        </p:nvSpPr>
        <p:spPr>
          <a:xfrm>
            <a:off x="573300" y="3923100"/>
            <a:ext cx="1394100" cy="3738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l">
              <a:spcBef>
                <a:spcPts val="0"/>
              </a:spcBef>
              <a:spcAft>
                <a:spcPts val="0"/>
              </a:spcAft>
              <a:buNone/>
            </a:pPr>
            <a:r>
              <a:rPr lang="en-GB"/>
              <a:t>DrawBorder()</a:t>
            </a:r>
            <a:endParaRPr/>
          </a:p>
        </p:txBody>
      </p:sp>
      <p:sp>
        <p:nvSpPr>
          <p:cNvPr id="1085" name="Google Shape;1085;p60"/>
          <p:cNvSpPr/>
          <p:nvPr/>
        </p:nvSpPr>
        <p:spPr>
          <a:xfrm>
            <a:off x="2478314" y="3600875"/>
            <a:ext cx="16191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i="1" lang="en-GB"/>
              <a:t>Transient</a:t>
            </a:r>
            <a:r>
              <a:rPr i="1" lang="en-GB"/>
              <a:t>Window</a:t>
            </a:r>
            <a:endParaRPr i="1"/>
          </a:p>
        </p:txBody>
      </p:sp>
      <p:sp>
        <p:nvSpPr>
          <p:cNvPr id="1086" name="Google Shape;1086;p60"/>
          <p:cNvSpPr/>
          <p:nvPr/>
        </p:nvSpPr>
        <p:spPr>
          <a:xfrm>
            <a:off x="2478300" y="3923100"/>
            <a:ext cx="1619100" cy="3738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l">
              <a:spcBef>
                <a:spcPts val="0"/>
              </a:spcBef>
              <a:spcAft>
                <a:spcPts val="0"/>
              </a:spcAft>
              <a:buNone/>
            </a:pPr>
            <a:r>
              <a:rPr lang="en-GB"/>
              <a:t>DrawCloseBox()</a:t>
            </a:r>
            <a:endParaRPr/>
          </a:p>
        </p:txBody>
      </p:sp>
      <p:sp>
        <p:nvSpPr>
          <p:cNvPr id="1087" name="Google Shape;1087;p60"/>
          <p:cNvSpPr/>
          <p:nvPr/>
        </p:nvSpPr>
        <p:spPr>
          <a:xfrm>
            <a:off x="1940200" y="2247133"/>
            <a:ext cx="159600" cy="1497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88" name="Google Shape;1088;p60"/>
          <p:cNvSpPr/>
          <p:nvPr/>
        </p:nvSpPr>
        <p:spPr>
          <a:xfrm>
            <a:off x="2473600" y="2247133"/>
            <a:ext cx="159600" cy="1497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89" name="Google Shape;1089;p60"/>
          <p:cNvSpPr/>
          <p:nvPr/>
        </p:nvSpPr>
        <p:spPr>
          <a:xfrm>
            <a:off x="6283600" y="2247133"/>
            <a:ext cx="159600" cy="1497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90" name="Google Shape;1090;p60"/>
          <p:cNvSpPr/>
          <p:nvPr/>
        </p:nvSpPr>
        <p:spPr>
          <a:xfrm>
            <a:off x="6817000" y="2247133"/>
            <a:ext cx="159600" cy="1497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091" name="Google Shape;1091;p60"/>
          <p:cNvCxnSpPr>
            <a:stCxn id="1083" idx="0"/>
            <a:endCxn id="1087" idx="3"/>
          </p:cNvCxnSpPr>
          <p:nvPr/>
        </p:nvCxnSpPr>
        <p:spPr>
          <a:xfrm rot="-5400000">
            <a:off x="1043262" y="2624075"/>
            <a:ext cx="1203900" cy="749700"/>
          </a:xfrm>
          <a:prstGeom prst="bentConnector3">
            <a:avLst>
              <a:gd fmla="val 50006" name="adj1"/>
            </a:avLst>
          </a:prstGeom>
          <a:noFill/>
          <a:ln cap="flat" cmpd="sng" w="9525">
            <a:solidFill>
              <a:schemeClr val="dk2"/>
            </a:solidFill>
            <a:prstDash val="solid"/>
            <a:round/>
            <a:headEnd len="med" w="med" type="none"/>
            <a:tailEnd len="med" w="med" type="none"/>
          </a:ln>
        </p:spPr>
      </p:cxnSp>
      <p:cxnSp>
        <p:nvCxnSpPr>
          <p:cNvPr id="1092" name="Google Shape;1092;p60"/>
          <p:cNvCxnSpPr>
            <a:stCxn id="1085" idx="0"/>
            <a:endCxn id="1088" idx="3"/>
          </p:cNvCxnSpPr>
          <p:nvPr/>
        </p:nvCxnSpPr>
        <p:spPr>
          <a:xfrm flipH="1" rot="5400000">
            <a:off x="2318714" y="2631725"/>
            <a:ext cx="1203900" cy="734400"/>
          </a:xfrm>
          <a:prstGeom prst="bentConnector3">
            <a:avLst>
              <a:gd fmla="val 50006" name="adj1"/>
            </a:avLst>
          </a:prstGeom>
          <a:noFill/>
          <a:ln cap="flat" cmpd="sng" w="9525">
            <a:solidFill>
              <a:schemeClr val="dk2"/>
            </a:solidFill>
            <a:prstDash val="solid"/>
            <a:round/>
            <a:headEnd len="med" w="med" type="none"/>
            <a:tailEnd len="med" w="med" type="none"/>
          </a:ln>
        </p:spPr>
      </p:cxnSp>
      <p:cxnSp>
        <p:nvCxnSpPr>
          <p:cNvPr id="1093" name="Google Shape;1093;p60"/>
          <p:cNvCxnSpPr>
            <a:stCxn id="1079" idx="0"/>
            <a:endCxn id="1089" idx="3"/>
          </p:cNvCxnSpPr>
          <p:nvPr/>
        </p:nvCxnSpPr>
        <p:spPr>
          <a:xfrm rot="-5400000">
            <a:off x="5437963" y="2675375"/>
            <a:ext cx="1203900" cy="647100"/>
          </a:xfrm>
          <a:prstGeom prst="bentConnector3">
            <a:avLst>
              <a:gd fmla="val 50006" name="adj1"/>
            </a:avLst>
          </a:prstGeom>
          <a:noFill/>
          <a:ln cap="flat" cmpd="sng" w="9525">
            <a:solidFill>
              <a:schemeClr val="dk2"/>
            </a:solidFill>
            <a:prstDash val="solid"/>
            <a:round/>
            <a:headEnd len="med" w="med" type="none"/>
            <a:tailEnd len="med" w="med" type="none"/>
          </a:ln>
        </p:spPr>
      </p:cxnSp>
      <p:cxnSp>
        <p:nvCxnSpPr>
          <p:cNvPr id="1094" name="Google Shape;1094;p60"/>
          <p:cNvCxnSpPr>
            <a:stCxn id="1081" idx="0"/>
            <a:endCxn id="1090" idx="3"/>
          </p:cNvCxnSpPr>
          <p:nvPr/>
        </p:nvCxnSpPr>
        <p:spPr>
          <a:xfrm flipH="1" rot="5400000">
            <a:off x="6619063" y="2674775"/>
            <a:ext cx="1203900" cy="648300"/>
          </a:xfrm>
          <a:prstGeom prst="bentConnector3">
            <a:avLst>
              <a:gd fmla="val 50006" name="adj1"/>
            </a:avLst>
          </a:prstGeom>
          <a:noFill/>
          <a:ln cap="flat" cmpd="sng" w="9525">
            <a:solidFill>
              <a:schemeClr val="dk2"/>
            </a:solidFill>
            <a:prstDash val="solid"/>
            <a:round/>
            <a:headEnd len="med" w="med" type="none"/>
            <a:tailEnd len="med" w="med" type="none"/>
          </a:ln>
        </p:spPr>
      </p:cxnSp>
      <p:sp>
        <p:nvSpPr>
          <p:cNvPr id="1095" name="Google Shape;1095;p60"/>
          <p:cNvSpPr txBox="1"/>
          <p:nvPr/>
        </p:nvSpPr>
        <p:spPr>
          <a:xfrm>
            <a:off x="5450400" y="1214600"/>
            <a:ext cx="597300" cy="35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imp</a:t>
            </a:r>
            <a:endParaRPr>
              <a:solidFill>
                <a:schemeClr val="dk2"/>
              </a:solidFill>
            </a:endParaRPr>
          </a:p>
        </p:txBody>
      </p:sp>
      <p:sp>
        <p:nvSpPr>
          <p:cNvPr id="1096" name="Google Shape;1096;p60"/>
          <p:cNvSpPr/>
          <p:nvPr/>
        </p:nvSpPr>
        <p:spPr>
          <a:xfrm>
            <a:off x="3597300" y="2079425"/>
            <a:ext cx="1853100" cy="1069200"/>
          </a:xfrm>
          <a:prstGeom prst="foldedCorner">
            <a:avLst>
              <a:gd fmla="val 16667" name="adj"/>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t>imp-&gt;DevDrawLine()</a:t>
            </a:r>
            <a:endParaRPr/>
          </a:p>
          <a:p>
            <a:pPr indent="0" lvl="0" marL="0" rtl="0" algn="l">
              <a:spcBef>
                <a:spcPts val="0"/>
              </a:spcBef>
              <a:spcAft>
                <a:spcPts val="0"/>
              </a:spcAft>
              <a:buClr>
                <a:schemeClr val="dk1"/>
              </a:buClr>
              <a:buSzPts val="1100"/>
              <a:buFont typeface="Arial"/>
              <a:buNone/>
            </a:pPr>
            <a:r>
              <a:rPr lang="en-GB">
                <a:solidFill>
                  <a:schemeClr val="dk1"/>
                </a:solidFill>
              </a:rPr>
              <a:t>imp-&gt;DevDrawLine()</a:t>
            </a:r>
            <a:endParaRPr>
              <a:solidFill>
                <a:schemeClr val="dk1"/>
              </a:solidFill>
            </a:endParaRPr>
          </a:p>
          <a:p>
            <a:pPr indent="0" lvl="0" marL="0" rtl="0" algn="l">
              <a:spcBef>
                <a:spcPts val="0"/>
              </a:spcBef>
              <a:spcAft>
                <a:spcPts val="0"/>
              </a:spcAft>
              <a:buNone/>
            </a:pPr>
            <a:r>
              <a:rPr lang="en-GB">
                <a:solidFill>
                  <a:schemeClr val="dk1"/>
                </a:solidFill>
              </a:rPr>
              <a:t>imp-&gt;DevDrawLine()</a:t>
            </a:r>
            <a:endParaRPr/>
          </a:p>
          <a:p>
            <a:pPr indent="0" lvl="0" marL="0" rtl="0" algn="l">
              <a:spcBef>
                <a:spcPts val="0"/>
              </a:spcBef>
              <a:spcAft>
                <a:spcPts val="0"/>
              </a:spcAft>
              <a:buClr>
                <a:schemeClr val="dk1"/>
              </a:buClr>
              <a:buSzPts val="1100"/>
              <a:buFont typeface="Arial"/>
              <a:buNone/>
            </a:pPr>
            <a:r>
              <a:rPr lang="en-GB">
                <a:solidFill>
                  <a:schemeClr val="dk1"/>
                </a:solidFill>
              </a:rPr>
              <a:t>imp-&gt;DevDrawLine()</a:t>
            </a:r>
            <a:endParaRPr>
              <a:solidFill>
                <a:schemeClr val="dk1"/>
              </a:solidFill>
            </a:endParaRPr>
          </a:p>
          <a:p>
            <a:pPr indent="0" lvl="0" marL="0" rtl="0" algn="l">
              <a:spcBef>
                <a:spcPts val="0"/>
              </a:spcBef>
              <a:spcAft>
                <a:spcPts val="0"/>
              </a:spcAft>
              <a:buNone/>
            </a:pPr>
            <a:r>
              <a:t/>
            </a:r>
            <a:endParaRPr/>
          </a:p>
        </p:txBody>
      </p:sp>
      <p:cxnSp>
        <p:nvCxnSpPr>
          <p:cNvPr id="1097" name="Google Shape;1097;p60"/>
          <p:cNvCxnSpPr>
            <a:endCxn id="1096" idx="1"/>
          </p:cNvCxnSpPr>
          <p:nvPr/>
        </p:nvCxnSpPr>
        <p:spPr>
          <a:xfrm>
            <a:off x="2679000" y="2089325"/>
            <a:ext cx="918300" cy="524700"/>
          </a:xfrm>
          <a:prstGeom prst="bentConnector3">
            <a:avLst>
              <a:gd fmla="val 50000" name="adj1"/>
            </a:avLst>
          </a:prstGeom>
          <a:noFill/>
          <a:ln cap="flat" cmpd="sng" w="19050">
            <a:solidFill>
              <a:schemeClr val="dk2"/>
            </a:solidFill>
            <a:prstDash val="dash"/>
            <a:round/>
            <a:headEnd len="med" w="med" type="oval"/>
            <a:tailEnd len="med" w="med" type="none"/>
          </a:ln>
        </p:spPr>
      </p:cxnSp>
      <p:sp>
        <p:nvSpPr>
          <p:cNvPr id="1098" name="Google Shape;1098;p60"/>
          <p:cNvSpPr/>
          <p:nvPr/>
        </p:nvSpPr>
        <p:spPr>
          <a:xfrm>
            <a:off x="1311300" y="4757525"/>
            <a:ext cx="1446900" cy="613500"/>
          </a:xfrm>
          <a:prstGeom prst="foldedCorner">
            <a:avLst>
              <a:gd fmla="val 16667" name="adj"/>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t>DrawRect()</a:t>
            </a:r>
            <a:endParaRPr/>
          </a:p>
          <a:p>
            <a:pPr indent="0" lvl="0" marL="0" rtl="0" algn="l">
              <a:spcBef>
                <a:spcPts val="0"/>
              </a:spcBef>
              <a:spcAft>
                <a:spcPts val="0"/>
              </a:spcAft>
              <a:buNone/>
            </a:pPr>
            <a:r>
              <a:rPr lang="en-GB"/>
              <a:t>DrawText(title)</a:t>
            </a:r>
            <a:endParaRPr/>
          </a:p>
        </p:txBody>
      </p:sp>
      <p:sp>
        <p:nvSpPr>
          <p:cNvPr id="1099" name="Google Shape;1099;p60"/>
          <p:cNvSpPr/>
          <p:nvPr/>
        </p:nvSpPr>
        <p:spPr>
          <a:xfrm>
            <a:off x="3292500" y="4757525"/>
            <a:ext cx="1446900" cy="613500"/>
          </a:xfrm>
          <a:prstGeom prst="foldedCorner">
            <a:avLst>
              <a:gd fmla="val 16667" name="adj"/>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t>DrawRect()</a:t>
            </a:r>
            <a:endParaRPr/>
          </a:p>
          <a:p>
            <a:pPr indent="0" lvl="0" marL="0" rtl="0" algn="l">
              <a:spcBef>
                <a:spcPts val="0"/>
              </a:spcBef>
              <a:spcAft>
                <a:spcPts val="0"/>
              </a:spcAft>
              <a:buNone/>
            </a:pPr>
            <a:r>
              <a:rPr lang="en-GB"/>
              <a:t>DrawText(title)</a:t>
            </a:r>
            <a:endParaRPr/>
          </a:p>
        </p:txBody>
      </p:sp>
      <p:sp>
        <p:nvSpPr>
          <p:cNvPr id="1100" name="Google Shape;1100;p60"/>
          <p:cNvSpPr/>
          <p:nvPr/>
        </p:nvSpPr>
        <p:spPr>
          <a:xfrm>
            <a:off x="5121300" y="4833725"/>
            <a:ext cx="1291500" cy="426600"/>
          </a:xfrm>
          <a:prstGeom prst="foldedCorner">
            <a:avLst>
              <a:gd fmla="val 16667" name="adj"/>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t>XDrawLine()</a:t>
            </a:r>
            <a:endParaRPr/>
          </a:p>
        </p:txBody>
      </p:sp>
      <p:sp>
        <p:nvSpPr>
          <p:cNvPr id="1101" name="Google Shape;1101;p60"/>
          <p:cNvSpPr/>
          <p:nvPr/>
        </p:nvSpPr>
        <p:spPr>
          <a:xfrm>
            <a:off x="6592075" y="4833725"/>
            <a:ext cx="1394100" cy="426600"/>
          </a:xfrm>
          <a:prstGeom prst="foldedCorner">
            <a:avLst>
              <a:gd fmla="val 16667" name="adj"/>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t>XDrawString()</a:t>
            </a:r>
            <a:endParaRPr/>
          </a:p>
        </p:txBody>
      </p:sp>
      <p:cxnSp>
        <p:nvCxnSpPr>
          <p:cNvPr id="1102" name="Google Shape;1102;p60"/>
          <p:cNvCxnSpPr/>
          <p:nvPr/>
        </p:nvCxnSpPr>
        <p:spPr>
          <a:xfrm>
            <a:off x="1780500" y="4145825"/>
            <a:ext cx="0" cy="628800"/>
          </a:xfrm>
          <a:prstGeom prst="straightConnector1">
            <a:avLst/>
          </a:prstGeom>
          <a:noFill/>
          <a:ln cap="flat" cmpd="sng" w="19050">
            <a:solidFill>
              <a:schemeClr val="dk2"/>
            </a:solidFill>
            <a:prstDash val="dash"/>
            <a:round/>
            <a:headEnd len="med" w="med" type="oval"/>
            <a:tailEnd len="med" w="med" type="none"/>
          </a:ln>
        </p:spPr>
      </p:cxnSp>
      <p:cxnSp>
        <p:nvCxnSpPr>
          <p:cNvPr id="1103" name="Google Shape;1103;p60"/>
          <p:cNvCxnSpPr/>
          <p:nvPr/>
        </p:nvCxnSpPr>
        <p:spPr>
          <a:xfrm>
            <a:off x="3896775" y="4115875"/>
            <a:ext cx="0" cy="648900"/>
          </a:xfrm>
          <a:prstGeom prst="straightConnector1">
            <a:avLst/>
          </a:prstGeom>
          <a:noFill/>
          <a:ln cap="flat" cmpd="sng" w="19050">
            <a:solidFill>
              <a:schemeClr val="dk2"/>
            </a:solidFill>
            <a:prstDash val="dash"/>
            <a:round/>
            <a:headEnd len="med" w="med" type="oval"/>
            <a:tailEnd len="med" w="med" type="none"/>
          </a:ln>
        </p:spPr>
      </p:cxnSp>
      <p:cxnSp>
        <p:nvCxnSpPr>
          <p:cNvPr id="1104" name="Google Shape;1104;p60"/>
          <p:cNvCxnSpPr/>
          <p:nvPr/>
        </p:nvCxnSpPr>
        <p:spPr>
          <a:xfrm>
            <a:off x="6262650" y="4285575"/>
            <a:ext cx="0" cy="549000"/>
          </a:xfrm>
          <a:prstGeom prst="straightConnector1">
            <a:avLst/>
          </a:prstGeom>
          <a:noFill/>
          <a:ln cap="flat" cmpd="sng" w="19050">
            <a:solidFill>
              <a:schemeClr val="dk2"/>
            </a:solidFill>
            <a:prstDash val="dash"/>
            <a:round/>
            <a:headEnd len="med" w="med" type="oval"/>
            <a:tailEnd len="med" w="med" type="none"/>
          </a:ln>
        </p:spPr>
      </p:cxnSp>
      <p:cxnSp>
        <p:nvCxnSpPr>
          <p:cNvPr id="1105" name="Google Shape;1105;p60"/>
          <p:cNvCxnSpPr/>
          <p:nvPr/>
        </p:nvCxnSpPr>
        <p:spPr>
          <a:xfrm flipH="1" rot="-5400000">
            <a:off x="6102925" y="4245725"/>
            <a:ext cx="758700" cy="419100"/>
          </a:xfrm>
          <a:prstGeom prst="bentConnector3">
            <a:avLst>
              <a:gd fmla="val 3" name="adj1"/>
            </a:avLst>
          </a:prstGeom>
          <a:noFill/>
          <a:ln cap="flat" cmpd="sng" w="19050">
            <a:solidFill>
              <a:schemeClr val="dk2"/>
            </a:solidFill>
            <a:prstDash val="dash"/>
            <a:round/>
            <a:headEnd len="med" w="med" type="oval"/>
            <a:tailEnd len="med" w="med" type="none"/>
          </a:ln>
        </p:spPr>
      </p:cxn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9" name="Shape 1109"/>
        <p:cNvGrpSpPr/>
        <p:nvPr/>
      </p:nvGrpSpPr>
      <p:grpSpPr>
        <a:xfrm>
          <a:off x="0" y="0"/>
          <a:ext cx="0" cy="0"/>
          <a:chOff x="0" y="0"/>
          <a:chExt cx="0" cy="0"/>
        </a:xfrm>
      </p:grpSpPr>
      <p:sp>
        <p:nvSpPr>
          <p:cNvPr id="1110" name="Google Shape;1110;p61"/>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Bắc cầu: Các hệ quả</a:t>
            </a:r>
            <a:endParaRPr/>
          </a:p>
        </p:txBody>
      </p:sp>
      <p:sp>
        <p:nvSpPr>
          <p:cNvPr id="1111" name="Google Shape;1111;p6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112" name="Google Shape;1112;p61"/>
          <p:cNvSpPr txBox="1"/>
          <p:nvPr>
            <p:ph idx="1" type="body"/>
          </p:nvPr>
        </p:nvSpPr>
        <p:spPr>
          <a:xfrm>
            <a:off x="311700" y="950475"/>
            <a:ext cx="8520600" cy="54183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Tách riêng khái niệm và triển khai. Triển khai không bị gắn chặt với khái niệm, triển khai của khái niệm có thể thay đổi ở thời gian thực thi.</a:t>
            </a:r>
            <a:endParaRPr/>
          </a:p>
          <a:p>
            <a:pPr indent="-381000" lvl="0" marL="457200" rtl="0" algn="l">
              <a:spcBef>
                <a:spcPts val="0"/>
              </a:spcBef>
              <a:spcAft>
                <a:spcPts val="0"/>
              </a:spcAft>
              <a:buSzPts val="2400"/>
              <a:buChar char="●"/>
            </a:pPr>
            <a:r>
              <a:rPr lang="en-GB"/>
              <a:t>Tăng khả năng mở rộng. Có thể độc lập mở rộng cây khái niệm và cây triển khai.</a:t>
            </a:r>
            <a:endParaRPr/>
          </a:p>
          <a:p>
            <a:pPr indent="-381000" lvl="0" marL="457200" rtl="0" algn="l">
              <a:spcBef>
                <a:spcPts val="0"/>
              </a:spcBef>
              <a:spcAft>
                <a:spcPts val="0"/>
              </a:spcAft>
              <a:buSzPts val="2400"/>
              <a:buChar char="●"/>
            </a:pPr>
            <a:r>
              <a:rPr lang="en-GB"/>
              <a:t>Ẩn các chi tiết triển khai với khách. </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6" name="Shape 1116"/>
        <p:cNvGrpSpPr/>
        <p:nvPr/>
      </p:nvGrpSpPr>
      <p:grpSpPr>
        <a:xfrm>
          <a:off x="0" y="0"/>
          <a:ext cx="0" cy="0"/>
          <a:chOff x="0" y="0"/>
          <a:chExt cx="0" cy="0"/>
        </a:xfrm>
      </p:grpSpPr>
      <p:sp>
        <p:nvSpPr>
          <p:cNvPr id="1117" name="Google Shape;1117;p62"/>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Hợp chất</a:t>
            </a:r>
            <a:endParaRPr/>
          </a:p>
        </p:txBody>
      </p:sp>
      <p:sp>
        <p:nvSpPr>
          <p:cNvPr id="1118" name="Google Shape;1118;p62"/>
          <p:cNvSpPr txBox="1"/>
          <p:nvPr>
            <p:ph idx="1" type="body"/>
          </p:nvPr>
        </p:nvSpPr>
        <p:spPr>
          <a:xfrm>
            <a:off x="311700" y="950475"/>
            <a:ext cx="8520600" cy="54183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i="1" lang="en-GB"/>
              <a:t>Composite</a:t>
            </a:r>
            <a:endParaRPr i="1"/>
          </a:p>
          <a:p>
            <a:pPr indent="0" lvl="0" marL="0" rtl="0" algn="just">
              <a:spcBef>
                <a:spcPts val="0"/>
              </a:spcBef>
              <a:spcAft>
                <a:spcPts val="0"/>
              </a:spcAft>
              <a:buNone/>
            </a:pPr>
            <a:r>
              <a:rPr lang="en-GB"/>
              <a:t>Kết hợp các đối tượng theo cấu trúc cây phân cấp với quan hệ bộ phận-tổng thể. Hợp chất cho phép khách hành vi với tổ hợp đối tượng như với một đối tượng.</a:t>
            </a:r>
            <a:endParaRPr/>
          </a:p>
        </p:txBody>
      </p:sp>
      <p:sp>
        <p:nvSpPr>
          <p:cNvPr id="1119" name="Google Shape;1119;p6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120" name="Google Shape;1120;p62"/>
          <p:cNvSpPr/>
          <p:nvPr/>
        </p:nvSpPr>
        <p:spPr>
          <a:xfrm>
            <a:off x="3664600" y="2989575"/>
            <a:ext cx="174600" cy="1746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121" name="Google Shape;1121;p62"/>
          <p:cNvCxnSpPr/>
          <p:nvPr/>
        </p:nvCxnSpPr>
        <p:spPr>
          <a:xfrm>
            <a:off x="3751900" y="3316575"/>
            <a:ext cx="0" cy="588300"/>
          </a:xfrm>
          <a:prstGeom prst="straightConnector1">
            <a:avLst/>
          </a:prstGeom>
          <a:noFill/>
          <a:ln cap="flat" cmpd="sng" w="9525">
            <a:solidFill>
              <a:schemeClr val="dk2"/>
            </a:solidFill>
            <a:prstDash val="solid"/>
            <a:round/>
            <a:headEnd len="med" w="med" type="none"/>
            <a:tailEnd len="med" w="med" type="none"/>
          </a:ln>
        </p:spPr>
      </p:cxnSp>
      <p:cxnSp>
        <p:nvCxnSpPr>
          <p:cNvPr id="1122" name="Google Shape;1122;p62"/>
          <p:cNvCxnSpPr/>
          <p:nvPr/>
        </p:nvCxnSpPr>
        <p:spPr>
          <a:xfrm>
            <a:off x="3908925" y="4057379"/>
            <a:ext cx="239100" cy="239100"/>
          </a:xfrm>
          <a:prstGeom prst="straightConnector1">
            <a:avLst/>
          </a:prstGeom>
          <a:noFill/>
          <a:ln cap="flat" cmpd="sng" w="9525">
            <a:solidFill>
              <a:schemeClr val="dk2"/>
            </a:solidFill>
            <a:prstDash val="solid"/>
            <a:round/>
            <a:headEnd len="med" w="med" type="none"/>
            <a:tailEnd len="med" w="med" type="none"/>
          </a:ln>
        </p:spPr>
      </p:cxnSp>
      <p:cxnSp>
        <p:nvCxnSpPr>
          <p:cNvPr id="1123" name="Google Shape;1123;p62"/>
          <p:cNvCxnSpPr/>
          <p:nvPr/>
        </p:nvCxnSpPr>
        <p:spPr>
          <a:xfrm>
            <a:off x="3908925" y="3518875"/>
            <a:ext cx="248100" cy="248100"/>
          </a:xfrm>
          <a:prstGeom prst="straightConnector1">
            <a:avLst/>
          </a:prstGeom>
          <a:noFill/>
          <a:ln cap="flat" cmpd="sng" w="9525">
            <a:solidFill>
              <a:schemeClr val="dk2"/>
            </a:solidFill>
            <a:prstDash val="solid"/>
            <a:round/>
            <a:headEnd len="med" w="med" type="none"/>
            <a:tailEnd len="med" w="med" type="none"/>
          </a:ln>
        </p:spPr>
      </p:cxnSp>
      <p:cxnSp>
        <p:nvCxnSpPr>
          <p:cNvPr id="1124" name="Google Shape;1124;p62"/>
          <p:cNvCxnSpPr/>
          <p:nvPr/>
        </p:nvCxnSpPr>
        <p:spPr>
          <a:xfrm flipH="1" rot="10800000">
            <a:off x="3357139" y="3518875"/>
            <a:ext cx="239100" cy="239100"/>
          </a:xfrm>
          <a:prstGeom prst="straightConnector1">
            <a:avLst/>
          </a:prstGeom>
          <a:noFill/>
          <a:ln cap="flat" cmpd="sng" w="9525">
            <a:solidFill>
              <a:schemeClr val="dk2"/>
            </a:solidFill>
            <a:prstDash val="solid"/>
            <a:round/>
            <a:headEnd len="med" w="med" type="none"/>
            <a:tailEnd len="med" w="med" type="none"/>
          </a:ln>
        </p:spPr>
      </p:cxnSp>
      <p:cxnSp>
        <p:nvCxnSpPr>
          <p:cNvPr id="1125" name="Google Shape;1125;p62"/>
          <p:cNvCxnSpPr/>
          <p:nvPr/>
        </p:nvCxnSpPr>
        <p:spPr>
          <a:xfrm flipH="1" rot="10800000">
            <a:off x="3357139" y="4048379"/>
            <a:ext cx="248100" cy="248100"/>
          </a:xfrm>
          <a:prstGeom prst="straightConnector1">
            <a:avLst/>
          </a:prstGeom>
          <a:noFill/>
          <a:ln cap="flat" cmpd="sng" w="9525">
            <a:solidFill>
              <a:schemeClr val="dk2"/>
            </a:solidFill>
            <a:prstDash val="solid"/>
            <a:round/>
            <a:headEnd len="med" w="med" type="none"/>
            <a:tailEnd len="med" w="med" type="none"/>
          </a:ln>
        </p:spPr>
      </p:cxnSp>
      <p:sp>
        <p:nvSpPr>
          <p:cNvPr id="1126" name="Google Shape;1126;p62"/>
          <p:cNvSpPr/>
          <p:nvPr/>
        </p:nvSpPr>
        <p:spPr>
          <a:xfrm>
            <a:off x="5645800" y="3141975"/>
            <a:ext cx="174600" cy="1746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127" name="Google Shape;1127;p62"/>
          <p:cNvCxnSpPr>
            <a:stCxn id="1126" idx="4"/>
          </p:cNvCxnSpPr>
          <p:nvPr/>
        </p:nvCxnSpPr>
        <p:spPr>
          <a:xfrm>
            <a:off x="5733100" y="3316575"/>
            <a:ext cx="0" cy="588300"/>
          </a:xfrm>
          <a:prstGeom prst="straightConnector1">
            <a:avLst/>
          </a:prstGeom>
          <a:noFill/>
          <a:ln cap="flat" cmpd="sng" w="9525">
            <a:solidFill>
              <a:schemeClr val="dk2"/>
            </a:solidFill>
            <a:prstDash val="solid"/>
            <a:round/>
            <a:headEnd len="med" w="med" type="none"/>
            <a:tailEnd len="med" w="med" type="none"/>
          </a:ln>
        </p:spPr>
      </p:cxnSp>
      <p:cxnSp>
        <p:nvCxnSpPr>
          <p:cNvPr id="1128" name="Google Shape;1128;p62"/>
          <p:cNvCxnSpPr/>
          <p:nvPr/>
        </p:nvCxnSpPr>
        <p:spPr>
          <a:xfrm>
            <a:off x="5737725" y="3904979"/>
            <a:ext cx="239100" cy="239100"/>
          </a:xfrm>
          <a:prstGeom prst="straightConnector1">
            <a:avLst/>
          </a:prstGeom>
          <a:noFill/>
          <a:ln cap="flat" cmpd="sng" w="9525">
            <a:solidFill>
              <a:schemeClr val="dk2"/>
            </a:solidFill>
            <a:prstDash val="solid"/>
            <a:round/>
            <a:headEnd len="med" w="med" type="none"/>
            <a:tailEnd len="med" w="med" type="none"/>
          </a:ln>
        </p:spPr>
      </p:cxnSp>
      <p:cxnSp>
        <p:nvCxnSpPr>
          <p:cNvPr id="1129" name="Google Shape;1129;p62"/>
          <p:cNvCxnSpPr/>
          <p:nvPr/>
        </p:nvCxnSpPr>
        <p:spPr>
          <a:xfrm>
            <a:off x="5737725" y="3518875"/>
            <a:ext cx="248100" cy="248100"/>
          </a:xfrm>
          <a:prstGeom prst="straightConnector1">
            <a:avLst/>
          </a:prstGeom>
          <a:noFill/>
          <a:ln cap="flat" cmpd="sng" w="9525">
            <a:solidFill>
              <a:schemeClr val="dk2"/>
            </a:solidFill>
            <a:prstDash val="solid"/>
            <a:round/>
            <a:headEnd len="med" w="med" type="none"/>
            <a:tailEnd len="med" w="med" type="none"/>
          </a:ln>
        </p:spPr>
      </p:cxnSp>
      <p:cxnSp>
        <p:nvCxnSpPr>
          <p:cNvPr id="1130" name="Google Shape;1130;p62"/>
          <p:cNvCxnSpPr/>
          <p:nvPr/>
        </p:nvCxnSpPr>
        <p:spPr>
          <a:xfrm flipH="1" rot="10800000">
            <a:off x="5490739" y="3518875"/>
            <a:ext cx="239100" cy="239100"/>
          </a:xfrm>
          <a:prstGeom prst="straightConnector1">
            <a:avLst/>
          </a:prstGeom>
          <a:noFill/>
          <a:ln cap="flat" cmpd="sng" w="9525">
            <a:solidFill>
              <a:schemeClr val="dk2"/>
            </a:solidFill>
            <a:prstDash val="solid"/>
            <a:round/>
            <a:headEnd len="med" w="med" type="none"/>
            <a:tailEnd len="med" w="med" type="none"/>
          </a:ln>
        </p:spPr>
      </p:cxnSp>
      <p:cxnSp>
        <p:nvCxnSpPr>
          <p:cNvPr id="1131" name="Google Shape;1131;p62"/>
          <p:cNvCxnSpPr/>
          <p:nvPr/>
        </p:nvCxnSpPr>
        <p:spPr>
          <a:xfrm flipH="1" rot="10800000">
            <a:off x="5490739" y="3895979"/>
            <a:ext cx="248100" cy="248100"/>
          </a:xfrm>
          <a:prstGeom prst="straightConnector1">
            <a:avLst/>
          </a:prstGeom>
          <a:noFill/>
          <a:ln cap="flat" cmpd="sng" w="9525">
            <a:solidFill>
              <a:schemeClr val="dk2"/>
            </a:solidFill>
            <a:prstDash val="solid"/>
            <a:round/>
            <a:headEnd len="med" w="med" type="none"/>
            <a:tailEnd len="med" w="med" type="none"/>
          </a:ln>
        </p:spPr>
      </p:cxnSp>
      <p:sp>
        <p:nvSpPr>
          <p:cNvPr id="1132" name="Google Shape;1132;p62"/>
          <p:cNvSpPr/>
          <p:nvPr/>
        </p:nvSpPr>
        <p:spPr>
          <a:xfrm>
            <a:off x="4528725" y="3509675"/>
            <a:ext cx="478200" cy="2391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33" name="Google Shape;1133;p62"/>
          <p:cNvSpPr txBox="1"/>
          <p:nvPr/>
        </p:nvSpPr>
        <p:spPr>
          <a:xfrm>
            <a:off x="690350" y="4662700"/>
            <a:ext cx="7961100" cy="63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400">
                <a:solidFill>
                  <a:srgbClr val="666666"/>
                </a:solidFill>
              </a:rPr>
              <a:t>18 % Cr + 1 % Mn + 8 % Ni + 0.07 C + Fe =&gt; Inox 304 </a:t>
            </a:r>
            <a:endParaRPr sz="2400">
              <a:solidFill>
                <a:srgbClr val="666666"/>
              </a:solidFill>
            </a:endParaRPr>
          </a:p>
        </p:txBody>
      </p:sp>
      <p:sp>
        <p:nvSpPr>
          <p:cNvPr id="1134" name="Google Shape;1134;p62"/>
          <p:cNvSpPr txBox="1"/>
          <p:nvPr/>
        </p:nvSpPr>
        <p:spPr>
          <a:xfrm>
            <a:off x="3825150" y="5434900"/>
            <a:ext cx="1820700" cy="45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400">
                <a:solidFill>
                  <a:srgbClr val="666666"/>
                </a:solidFill>
              </a:rPr>
              <a:t>…</a:t>
            </a:r>
            <a:endParaRPr sz="2400">
              <a:solidFill>
                <a:srgbClr val="666666"/>
              </a:solidFill>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8" name="Shape 1138"/>
        <p:cNvGrpSpPr/>
        <p:nvPr/>
      </p:nvGrpSpPr>
      <p:grpSpPr>
        <a:xfrm>
          <a:off x="0" y="0"/>
          <a:ext cx="0" cy="0"/>
          <a:chOff x="0" y="0"/>
          <a:chExt cx="0" cy="0"/>
        </a:xfrm>
      </p:grpSpPr>
      <p:sp>
        <p:nvSpPr>
          <p:cNvPr id="1139" name="Google Shape;1139;p63"/>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Hợp chất: Cấu trúc</a:t>
            </a:r>
            <a:endParaRPr/>
          </a:p>
        </p:txBody>
      </p:sp>
      <p:sp>
        <p:nvSpPr>
          <p:cNvPr id="1140" name="Google Shape;1140;p6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141" name="Google Shape;1141;p63"/>
          <p:cNvSpPr/>
          <p:nvPr/>
        </p:nvSpPr>
        <p:spPr>
          <a:xfrm>
            <a:off x="637825" y="1617010"/>
            <a:ext cx="1377300" cy="3597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Khách</a:t>
            </a:r>
            <a:endParaRPr sz="1600"/>
          </a:p>
        </p:txBody>
      </p:sp>
      <p:sp>
        <p:nvSpPr>
          <p:cNvPr id="1142" name="Google Shape;1142;p63"/>
          <p:cNvSpPr/>
          <p:nvPr/>
        </p:nvSpPr>
        <p:spPr>
          <a:xfrm>
            <a:off x="2917164" y="1617425"/>
            <a:ext cx="2013300" cy="3597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i="1" lang="en-GB" sz="1600"/>
              <a:t>Thành phần</a:t>
            </a:r>
            <a:endParaRPr i="1" sz="1600"/>
          </a:p>
        </p:txBody>
      </p:sp>
      <p:sp>
        <p:nvSpPr>
          <p:cNvPr id="1143" name="Google Shape;1143;p63"/>
          <p:cNvSpPr/>
          <p:nvPr/>
        </p:nvSpPr>
        <p:spPr>
          <a:xfrm>
            <a:off x="2917150" y="1976675"/>
            <a:ext cx="2013300" cy="10875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i="1" lang="en-GB" sz="1600"/>
              <a:t>Thao tác</a:t>
            </a:r>
            <a:r>
              <a:rPr i="1" lang="en-GB" sz="1600"/>
              <a:t>()</a:t>
            </a:r>
            <a:endParaRPr i="1" sz="1600"/>
          </a:p>
          <a:p>
            <a:pPr indent="0" lvl="0" marL="0" rtl="0" algn="l">
              <a:spcBef>
                <a:spcPts val="0"/>
              </a:spcBef>
              <a:spcAft>
                <a:spcPts val="0"/>
              </a:spcAft>
              <a:buNone/>
            </a:pPr>
            <a:r>
              <a:rPr i="1" lang="en-GB" sz="1600"/>
              <a:t>Thêm(Thành phần)</a:t>
            </a:r>
            <a:endParaRPr i="1" sz="1600"/>
          </a:p>
          <a:p>
            <a:pPr indent="0" lvl="0" marL="0" rtl="0" algn="l">
              <a:spcBef>
                <a:spcPts val="0"/>
              </a:spcBef>
              <a:spcAft>
                <a:spcPts val="0"/>
              </a:spcAft>
              <a:buNone/>
            </a:pPr>
            <a:r>
              <a:rPr i="1" lang="en-GB" sz="1600"/>
              <a:t>Gỡ(Thành phần)</a:t>
            </a:r>
            <a:endParaRPr i="1" sz="1600"/>
          </a:p>
          <a:p>
            <a:pPr indent="0" lvl="0" marL="0" rtl="0" algn="l">
              <a:spcBef>
                <a:spcPts val="0"/>
              </a:spcBef>
              <a:spcAft>
                <a:spcPts val="0"/>
              </a:spcAft>
              <a:buNone/>
            </a:pPr>
            <a:r>
              <a:rPr i="1" lang="en-GB" sz="1600"/>
              <a:t>Lấy(số nguyên)</a:t>
            </a:r>
            <a:endParaRPr i="1" sz="1600"/>
          </a:p>
        </p:txBody>
      </p:sp>
      <p:sp>
        <p:nvSpPr>
          <p:cNvPr id="1144" name="Google Shape;1144;p63"/>
          <p:cNvSpPr/>
          <p:nvPr/>
        </p:nvSpPr>
        <p:spPr>
          <a:xfrm>
            <a:off x="3432958" y="3084458"/>
            <a:ext cx="204300" cy="1167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5" name="Google Shape;1145;p63"/>
          <p:cNvSpPr/>
          <p:nvPr/>
        </p:nvSpPr>
        <p:spPr>
          <a:xfrm>
            <a:off x="6036835" y="3785080"/>
            <a:ext cx="204442" cy="130500"/>
          </a:xfrm>
          <a:prstGeom prst="flowChartDecision">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46" name="Google Shape;1146;p63"/>
          <p:cNvCxnSpPr>
            <a:stCxn id="1141" idx="3"/>
            <a:endCxn id="1142" idx="1"/>
          </p:cNvCxnSpPr>
          <p:nvPr/>
        </p:nvCxnSpPr>
        <p:spPr>
          <a:xfrm>
            <a:off x="2015125" y="1796860"/>
            <a:ext cx="902100" cy="300"/>
          </a:xfrm>
          <a:prstGeom prst="straightConnector1">
            <a:avLst/>
          </a:prstGeom>
          <a:noFill/>
          <a:ln cap="flat" cmpd="sng" w="9525">
            <a:solidFill>
              <a:schemeClr val="dk2"/>
            </a:solidFill>
            <a:prstDash val="solid"/>
            <a:round/>
            <a:headEnd len="med" w="med" type="none"/>
            <a:tailEnd len="med" w="med" type="none"/>
          </a:ln>
        </p:spPr>
      </p:cxnSp>
      <p:sp>
        <p:nvSpPr>
          <p:cNvPr id="1147" name="Google Shape;1147;p63"/>
          <p:cNvSpPr/>
          <p:nvPr/>
        </p:nvSpPr>
        <p:spPr>
          <a:xfrm>
            <a:off x="4245606" y="3084458"/>
            <a:ext cx="204300" cy="1167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8" name="Google Shape;1148;p63"/>
          <p:cNvSpPr/>
          <p:nvPr/>
        </p:nvSpPr>
        <p:spPr>
          <a:xfrm>
            <a:off x="2348305" y="3656376"/>
            <a:ext cx="1377300" cy="3597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Đơn chất</a:t>
            </a:r>
            <a:endParaRPr sz="1600"/>
          </a:p>
        </p:txBody>
      </p:sp>
      <p:sp>
        <p:nvSpPr>
          <p:cNvPr id="1149" name="Google Shape;1149;p63"/>
          <p:cNvSpPr/>
          <p:nvPr/>
        </p:nvSpPr>
        <p:spPr>
          <a:xfrm>
            <a:off x="2348293" y="4015628"/>
            <a:ext cx="1377300" cy="4365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i="1" lang="en-GB" sz="1600"/>
              <a:t>Thao tác</a:t>
            </a:r>
            <a:r>
              <a:rPr i="1" lang="en-GB" sz="1600"/>
              <a:t>()</a:t>
            </a:r>
            <a:endParaRPr i="1" sz="1600"/>
          </a:p>
        </p:txBody>
      </p:sp>
      <p:sp>
        <p:nvSpPr>
          <p:cNvPr id="1150" name="Google Shape;1150;p63"/>
          <p:cNvSpPr/>
          <p:nvPr/>
        </p:nvSpPr>
        <p:spPr>
          <a:xfrm>
            <a:off x="4054871" y="3656376"/>
            <a:ext cx="1968300" cy="3597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Hợp chất</a:t>
            </a:r>
            <a:endParaRPr sz="1600"/>
          </a:p>
        </p:txBody>
      </p:sp>
      <p:sp>
        <p:nvSpPr>
          <p:cNvPr id="1151" name="Google Shape;1151;p63"/>
          <p:cNvSpPr/>
          <p:nvPr/>
        </p:nvSpPr>
        <p:spPr>
          <a:xfrm>
            <a:off x="4054854" y="4015628"/>
            <a:ext cx="1968300" cy="10875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Clr>
                <a:schemeClr val="dk1"/>
              </a:buClr>
              <a:buSzPts val="1100"/>
              <a:buFont typeface="Arial"/>
              <a:buNone/>
            </a:pPr>
            <a:r>
              <a:rPr lang="en-GB" sz="1600">
                <a:solidFill>
                  <a:schemeClr val="dk1"/>
                </a:solidFill>
              </a:rPr>
              <a:t>Thao tác</a:t>
            </a:r>
            <a:r>
              <a:rPr lang="en-GB" sz="1600">
                <a:solidFill>
                  <a:schemeClr val="dk1"/>
                </a:solidFill>
              </a:rPr>
              <a:t>()</a:t>
            </a:r>
            <a:endParaRPr sz="1600">
              <a:solidFill>
                <a:schemeClr val="dk1"/>
              </a:solidFill>
            </a:endParaRPr>
          </a:p>
          <a:p>
            <a:pPr indent="0" lvl="0" marL="0" rtl="0" algn="l">
              <a:spcBef>
                <a:spcPts val="0"/>
              </a:spcBef>
              <a:spcAft>
                <a:spcPts val="0"/>
              </a:spcAft>
              <a:buClr>
                <a:schemeClr val="dk1"/>
              </a:buClr>
              <a:buSzPts val="1100"/>
              <a:buFont typeface="Arial"/>
              <a:buNone/>
            </a:pPr>
            <a:r>
              <a:rPr lang="en-GB" sz="1600">
                <a:solidFill>
                  <a:schemeClr val="dk1"/>
                </a:solidFill>
              </a:rPr>
              <a:t>Thêm(Thành phần)</a:t>
            </a:r>
            <a:endParaRPr sz="1600">
              <a:solidFill>
                <a:schemeClr val="dk1"/>
              </a:solidFill>
            </a:endParaRPr>
          </a:p>
          <a:p>
            <a:pPr indent="0" lvl="0" marL="0" rtl="0" algn="l">
              <a:spcBef>
                <a:spcPts val="0"/>
              </a:spcBef>
              <a:spcAft>
                <a:spcPts val="0"/>
              </a:spcAft>
              <a:buClr>
                <a:schemeClr val="dk1"/>
              </a:buClr>
              <a:buSzPts val="1100"/>
              <a:buFont typeface="Arial"/>
              <a:buNone/>
            </a:pPr>
            <a:r>
              <a:rPr lang="en-GB" sz="1600">
                <a:solidFill>
                  <a:schemeClr val="dk1"/>
                </a:solidFill>
              </a:rPr>
              <a:t>Gỡ(Thành phần)</a:t>
            </a:r>
            <a:endParaRPr sz="1600">
              <a:solidFill>
                <a:schemeClr val="dk1"/>
              </a:solidFill>
            </a:endParaRPr>
          </a:p>
          <a:p>
            <a:pPr indent="0" lvl="0" marL="0" rtl="0" algn="l">
              <a:spcBef>
                <a:spcPts val="0"/>
              </a:spcBef>
              <a:spcAft>
                <a:spcPts val="0"/>
              </a:spcAft>
              <a:buNone/>
            </a:pPr>
            <a:r>
              <a:rPr lang="en-GB" sz="1600">
                <a:solidFill>
                  <a:schemeClr val="dk1"/>
                </a:solidFill>
              </a:rPr>
              <a:t>Lấy(số nguyên)</a:t>
            </a:r>
            <a:endParaRPr sz="1600"/>
          </a:p>
        </p:txBody>
      </p:sp>
      <p:cxnSp>
        <p:nvCxnSpPr>
          <p:cNvPr id="1152" name="Google Shape;1152;p63"/>
          <p:cNvCxnSpPr>
            <a:stCxn id="1148" idx="0"/>
            <a:endCxn id="1144" idx="3"/>
          </p:cNvCxnSpPr>
          <p:nvPr/>
        </p:nvCxnSpPr>
        <p:spPr>
          <a:xfrm rot="-5400000">
            <a:off x="3058555" y="3179676"/>
            <a:ext cx="455100" cy="498300"/>
          </a:xfrm>
          <a:prstGeom prst="bentConnector3">
            <a:avLst>
              <a:gd fmla="val 50013" name="adj1"/>
            </a:avLst>
          </a:prstGeom>
          <a:noFill/>
          <a:ln cap="flat" cmpd="sng" w="9525">
            <a:solidFill>
              <a:schemeClr val="dk2"/>
            </a:solidFill>
            <a:prstDash val="solid"/>
            <a:round/>
            <a:headEnd len="med" w="med" type="none"/>
            <a:tailEnd len="med" w="med" type="none"/>
          </a:ln>
        </p:spPr>
      </p:cxnSp>
      <p:cxnSp>
        <p:nvCxnSpPr>
          <p:cNvPr id="1153" name="Google Shape;1153;p63"/>
          <p:cNvCxnSpPr>
            <a:stCxn id="1150" idx="0"/>
            <a:endCxn id="1147" idx="3"/>
          </p:cNvCxnSpPr>
          <p:nvPr/>
        </p:nvCxnSpPr>
        <p:spPr>
          <a:xfrm flipH="1" rot="5400000">
            <a:off x="4465871" y="3083226"/>
            <a:ext cx="455100" cy="691200"/>
          </a:xfrm>
          <a:prstGeom prst="bentConnector3">
            <a:avLst>
              <a:gd fmla="val 50013" name="adj1"/>
            </a:avLst>
          </a:prstGeom>
          <a:noFill/>
          <a:ln cap="flat" cmpd="sng" w="9525">
            <a:solidFill>
              <a:schemeClr val="dk2"/>
            </a:solidFill>
            <a:prstDash val="solid"/>
            <a:round/>
            <a:headEnd len="med" w="med" type="none"/>
            <a:tailEnd len="med" w="med" type="none"/>
          </a:ln>
        </p:spPr>
      </p:cxnSp>
      <p:cxnSp>
        <p:nvCxnSpPr>
          <p:cNvPr id="1154" name="Google Shape;1154;p63"/>
          <p:cNvCxnSpPr>
            <a:stCxn id="1145" idx="3"/>
            <a:endCxn id="1142" idx="3"/>
          </p:cNvCxnSpPr>
          <p:nvPr/>
        </p:nvCxnSpPr>
        <p:spPr>
          <a:xfrm rot="10800000">
            <a:off x="4930577" y="1797130"/>
            <a:ext cx="1310700" cy="2053200"/>
          </a:xfrm>
          <a:prstGeom prst="bentConnector3">
            <a:avLst>
              <a:gd fmla="val -19374" name="adj1"/>
            </a:avLst>
          </a:prstGeom>
          <a:noFill/>
          <a:ln cap="flat" cmpd="sng" w="9525">
            <a:solidFill>
              <a:schemeClr val="dk2"/>
            </a:solidFill>
            <a:prstDash val="solid"/>
            <a:round/>
            <a:headEnd len="med" w="med" type="none"/>
            <a:tailEnd len="med" w="med" type="none"/>
          </a:ln>
        </p:spPr>
      </p:cxnSp>
      <p:sp>
        <p:nvSpPr>
          <p:cNvPr id="1155" name="Google Shape;1155;p63"/>
          <p:cNvSpPr txBox="1"/>
          <p:nvPr/>
        </p:nvSpPr>
        <p:spPr>
          <a:xfrm>
            <a:off x="5037893" y="1437825"/>
            <a:ext cx="1226700" cy="43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bộ phận</a:t>
            </a:r>
            <a:endParaRPr/>
          </a:p>
        </p:txBody>
      </p:sp>
      <p:sp>
        <p:nvSpPr>
          <p:cNvPr id="1156" name="Google Shape;1156;p63"/>
          <p:cNvSpPr/>
          <p:nvPr/>
        </p:nvSpPr>
        <p:spPr>
          <a:xfrm flipH="1" rot="10800000">
            <a:off x="6665909" y="3921898"/>
            <a:ext cx="1893300" cy="629700"/>
          </a:xfrm>
          <a:prstGeom prst="foldedCorner">
            <a:avLst>
              <a:gd fmla="val 25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7" name="Google Shape;1157;p63"/>
          <p:cNvSpPr txBox="1"/>
          <p:nvPr/>
        </p:nvSpPr>
        <p:spPr>
          <a:xfrm>
            <a:off x="6638048" y="3888180"/>
            <a:ext cx="2025900" cy="66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forall g in </a:t>
            </a:r>
            <a:r>
              <a:rPr lang="en-GB"/>
              <a:t>bộ phận</a:t>
            </a:r>
            <a:endParaRPr/>
          </a:p>
          <a:p>
            <a:pPr indent="0" lvl="0" marL="0" rtl="0" algn="l">
              <a:spcBef>
                <a:spcPts val="0"/>
              </a:spcBef>
              <a:spcAft>
                <a:spcPts val="0"/>
              </a:spcAft>
              <a:buNone/>
            </a:pPr>
            <a:r>
              <a:rPr lang="en-GB"/>
              <a:t>    g.</a:t>
            </a:r>
            <a:r>
              <a:rPr lang="en-GB"/>
              <a:t>Thao tác</a:t>
            </a:r>
            <a:r>
              <a:rPr lang="en-GB"/>
              <a:t>()</a:t>
            </a:r>
            <a:endParaRPr/>
          </a:p>
        </p:txBody>
      </p:sp>
      <p:sp>
        <p:nvSpPr>
          <p:cNvPr id="1158" name="Google Shape;1158;p63"/>
          <p:cNvSpPr/>
          <p:nvPr/>
        </p:nvSpPr>
        <p:spPr>
          <a:xfrm>
            <a:off x="5170177" y="4168836"/>
            <a:ext cx="80700" cy="843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59" name="Google Shape;1159;p63"/>
          <p:cNvCxnSpPr>
            <a:stCxn id="1158" idx="6"/>
            <a:endCxn id="1157" idx="1"/>
          </p:cNvCxnSpPr>
          <p:nvPr/>
        </p:nvCxnSpPr>
        <p:spPr>
          <a:xfrm>
            <a:off x="5250877" y="4210986"/>
            <a:ext cx="1387200" cy="9000"/>
          </a:xfrm>
          <a:prstGeom prst="straightConnector1">
            <a:avLst/>
          </a:prstGeom>
          <a:noFill/>
          <a:ln cap="flat" cmpd="sng" w="9525">
            <a:solidFill>
              <a:schemeClr val="dk2"/>
            </a:solidFill>
            <a:prstDash val="dash"/>
            <a:round/>
            <a:headEnd len="med" w="med" type="none"/>
            <a:tailEnd len="med" w="med" type="none"/>
          </a:ln>
        </p:spPr>
      </p:cxnSp>
      <p:sp>
        <p:nvSpPr>
          <p:cNvPr id="1160" name="Google Shape;1160;p63"/>
          <p:cNvSpPr txBox="1"/>
          <p:nvPr/>
        </p:nvSpPr>
        <p:spPr>
          <a:xfrm>
            <a:off x="4956628" y="1692693"/>
            <a:ext cx="1226700" cy="43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a:t>
            </a:r>
            <a:endParaRPr/>
          </a:p>
        </p:txBody>
      </p:sp>
      <p:sp>
        <p:nvSpPr>
          <p:cNvPr id="1161" name="Google Shape;1161;p63"/>
          <p:cNvSpPr txBox="1"/>
          <p:nvPr/>
        </p:nvSpPr>
        <p:spPr>
          <a:xfrm>
            <a:off x="2020449" y="1437825"/>
            <a:ext cx="1226700" cy="43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sử dụng</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5" name="Shape 1165"/>
        <p:cNvGrpSpPr/>
        <p:nvPr/>
      </p:nvGrpSpPr>
      <p:grpSpPr>
        <a:xfrm>
          <a:off x="0" y="0"/>
          <a:ext cx="0" cy="0"/>
          <a:chOff x="0" y="0"/>
          <a:chExt cx="0" cy="0"/>
        </a:xfrm>
      </p:grpSpPr>
      <p:sp>
        <p:nvSpPr>
          <p:cNvPr id="1166" name="Google Shape;1166;p64"/>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Hợp chất: Hành vi</a:t>
            </a:r>
            <a:endParaRPr/>
          </a:p>
        </p:txBody>
      </p:sp>
      <p:sp>
        <p:nvSpPr>
          <p:cNvPr id="1167" name="Google Shape;1167;p6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168" name="Google Shape;1168;p64"/>
          <p:cNvSpPr/>
          <p:nvPr/>
        </p:nvSpPr>
        <p:spPr>
          <a:xfrm>
            <a:off x="1309361" y="1064500"/>
            <a:ext cx="12915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u="sng"/>
              <a:t>:Khách</a:t>
            </a:r>
            <a:endParaRPr sz="1600" u="sng"/>
          </a:p>
        </p:txBody>
      </p:sp>
      <p:sp>
        <p:nvSpPr>
          <p:cNvPr id="1169" name="Google Shape;1169;p64"/>
          <p:cNvSpPr/>
          <p:nvPr/>
        </p:nvSpPr>
        <p:spPr>
          <a:xfrm>
            <a:off x="3214361" y="1064500"/>
            <a:ext cx="12915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u="sng"/>
              <a:t>:</a:t>
            </a:r>
            <a:r>
              <a:rPr lang="en-GB" sz="1600" u="sng"/>
              <a:t>Hợp chất</a:t>
            </a:r>
            <a:endParaRPr sz="1600" u="sng"/>
          </a:p>
        </p:txBody>
      </p:sp>
      <p:cxnSp>
        <p:nvCxnSpPr>
          <p:cNvPr id="1170" name="Google Shape;1170;p64"/>
          <p:cNvCxnSpPr/>
          <p:nvPr/>
        </p:nvCxnSpPr>
        <p:spPr>
          <a:xfrm>
            <a:off x="1955100" y="1387000"/>
            <a:ext cx="2700" cy="4634700"/>
          </a:xfrm>
          <a:prstGeom prst="straightConnector1">
            <a:avLst/>
          </a:prstGeom>
          <a:noFill/>
          <a:ln cap="flat" cmpd="sng" w="9525">
            <a:solidFill>
              <a:schemeClr val="dk2"/>
            </a:solidFill>
            <a:prstDash val="dash"/>
            <a:round/>
            <a:headEnd len="med" w="med" type="none"/>
            <a:tailEnd len="med" w="med" type="none"/>
          </a:ln>
        </p:spPr>
      </p:cxnSp>
      <p:cxnSp>
        <p:nvCxnSpPr>
          <p:cNvPr id="1171" name="Google Shape;1171;p64"/>
          <p:cNvCxnSpPr/>
          <p:nvPr/>
        </p:nvCxnSpPr>
        <p:spPr>
          <a:xfrm>
            <a:off x="3860100" y="1387000"/>
            <a:ext cx="0" cy="4590900"/>
          </a:xfrm>
          <a:prstGeom prst="straightConnector1">
            <a:avLst/>
          </a:prstGeom>
          <a:noFill/>
          <a:ln cap="flat" cmpd="sng" w="9525">
            <a:solidFill>
              <a:schemeClr val="dk2"/>
            </a:solidFill>
            <a:prstDash val="dash"/>
            <a:round/>
            <a:headEnd len="med" w="med" type="none"/>
            <a:tailEnd len="med" w="med" type="none"/>
          </a:ln>
        </p:spPr>
      </p:cxnSp>
      <p:sp>
        <p:nvSpPr>
          <p:cNvPr id="1172" name="Google Shape;1172;p64"/>
          <p:cNvSpPr/>
          <p:nvPr/>
        </p:nvSpPr>
        <p:spPr>
          <a:xfrm>
            <a:off x="3782325" y="1763675"/>
            <a:ext cx="152700" cy="4140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173" name="Google Shape;1173;p64"/>
          <p:cNvCxnSpPr/>
          <p:nvPr/>
        </p:nvCxnSpPr>
        <p:spPr>
          <a:xfrm>
            <a:off x="1965525" y="1853525"/>
            <a:ext cx="1797000" cy="0"/>
          </a:xfrm>
          <a:prstGeom prst="straightConnector1">
            <a:avLst/>
          </a:prstGeom>
          <a:noFill/>
          <a:ln cap="flat" cmpd="sng" w="19050">
            <a:solidFill>
              <a:schemeClr val="dk2"/>
            </a:solidFill>
            <a:prstDash val="solid"/>
            <a:round/>
            <a:headEnd len="med" w="med" type="none"/>
            <a:tailEnd len="med" w="med" type="triangle"/>
          </a:ln>
        </p:spPr>
      </p:cxnSp>
      <p:sp>
        <p:nvSpPr>
          <p:cNvPr id="1174" name="Google Shape;1174;p64"/>
          <p:cNvSpPr txBox="1"/>
          <p:nvPr/>
        </p:nvSpPr>
        <p:spPr>
          <a:xfrm>
            <a:off x="2135225" y="1471515"/>
            <a:ext cx="1442400" cy="41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rPr>
              <a:t>Thêm</a:t>
            </a:r>
            <a:r>
              <a:rPr lang="en-GB" sz="1600">
                <a:solidFill>
                  <a:schemeClr val="dk2"/>
                </a:solidFill>
              </a:rPr>
              <a:t>(h)</a:t>
            </a:r>
            <a:endParaRPr sz="1600">
              <a:solidFill>
                <a:schemeClr val="dk2"/>
              </a:solidFill>
            </a:endParaRPr>
          </a:p>
        </p:txBody>
      </p:sp>
      <p:sp>
        <p:nvSpPr>
          <p:cNvPr id="1175" name="Google Shape;1175;p64"/>
          <p:cNvSpPr/>
          <p:nvPr/>
        </p:nvSpPr>
        <p:spPr>
          <a:xfrm>
            <a:off x="5195561" y="1064500"/>
            <a:ext cx="12915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u="sng"/>
              <a:t>h</a:t>
            </a:r>
            <a:r>
              <a:rPr lang="en-GB" sz="1600" u="sng"/>
              <a:t>:</a:t>
            </a:r>
            <a:r>
              <a:rPr lang="en-GB" sz="1600" u="sng"/>
              <a:t>Hợp chất</a:t>
            </a:r>
            <a:endParaRPr sz="1600" u="sng"/>
          </a:p>
        </p:txBody>
      </p:sp>
      <p:cxnSp>
        <p:nvCxnSpPr>
          <p:cNvPr id="1176" name="Google Shape;1176;p64"/>
          <p:cNvCxnSpPr/>
          <p:nvPr/>
        </p:nvCxnSpPr>
        <p:spPr>
          <a:xfrm>
            <a:off x="5841300" y="1387000"/>
            <a:ext cx="0" cy="4590900"/>
          </a:xfrm>
          <a:prstGeom prst="straightConnector1">
            <a:avLst/>
          </a:prstGeom>
          <a:noFill/>
          <a:ln cap="flat" cmpd="sng" w="9525">
            <a:solidFill>
              <a:schemeClr val="dk2"/>
            </a:solidFill>
            <a:prstDash val="dash"/>
            <a:round/>
            <a:headEnd len="med" w="med" type="none"/>
            <a:tailEnd len="med" w="med" type="none"/>
          </a:ln>
        </p:spPr>
      </p:cxnSp>
      <p:sp>
        <p:nvSpPr>
          <p:cNvPr id="1177" name="Google Shape;1177;p64"/>
          <p:cNvSpPr/>
          <p:nvPr/>
        </p:nvSpPr>
        <p:spPr>
          <a:xfrm>
            <a:off x="5763525" y="3039496"/>
            <a:ext cx="152700" cy="4140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78" name="Google Shape;1178;p64"/>
          <p:cNvSpPr/>
          <p:nvPr/>
        </p:nvSpPr>
        <p:spPr>
          <a:xfrm>
            <a:off x="6719561" y="1064500"/>
            <a:ext cx="12915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u="sng"/>
              <a:t>l</a:t>
            </a:r>
            <a:r>
              <a:rPr lang="en-GB" sz="1600" u="sng"/>
              <a:t>:</a:t>
            </a:r>
            <a:r>
              <a:rPr lang="en-GB" sz="1600" u="sng"/>
              <a:t>Đơn chất</a:t>
            </a:r>
            <a:endParaRPr sz="1600" u="sng"/>
          </a:p>
        </p:txBody>
      </p:sp>
      <p:cxnSp>
        <p:nvCxnSpPr>
          <p:cNvPr id="1179" name="Google Shape;1179;p64"/>
          <p:cNvCxnSpPr/>
          <p:nvPr/>
        </p:nvCxnSpPr>
        <p:spPr>
          <a:xfrm>
            <a:off x="7365300" y="1387000"/>
            <a:ext cx="0" cy="4590900"/>
          </a:xfrm>
          <a:prstGeom prst="straightConnector1">
            <a:avLst/>
          </a:prstGeom>
          <a:noFill/>
          <a:ln cap="flat" cmpd="sng" w="9525">
            <a:solidFill>
              <a:schemeClr val="dk2"/>
            </a:solidFill>
            <a:prstDash val="dash"/>
            <a:round/>
            <a:headEnd len="med" w="med" type="none"/>
            <a:tailEnd len="med" w="med" type="none"/>
          </a:ln>
        </p:spPr>
      </p:cxnSp>
      <p:sp>
        <p:nvSpPr>
          <p:cNvPr id="1180" name="Google Shape;1180;p64"/>
          <p:cNvSpPr/>
          <p:nvPr/>
        </p:nvSpPr>
        <p:spPr>
          <a:xfrm>
            <a:off x="7287525" y="3496696"/>
            <a:ext cx="152700" cy="4140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81" name="Google Shape;1181;p64"/>
          <p:cNvSpPr/>
          <p:nvPr/>
        </p:nvSpPr>
        <p:spPr>
          <a:xfrm>
            <a:off x="3782325" y="2373275"/>
            <a:ext cx="152700" cy="4140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182" name="Google Shape;1182;p64"/>
          <p:cNvCxnSpPr/>
          <p:nvPr/>
        </p:nvCxnSpPr>
        <p:spPr>
          <a:xfrm>
            <a:off x="1965525" y="2463125"/>
            <a:ext cx="1797000" cy="0"/>
          </a:xfrm>
          <a:prstGeom prst="straightConnector1">
            <a:avLst/>
          </a:prstGeom>
          <a:noFill/>
          <a:ln cap="flat" cmpd="sng" w="19050">
            <a:solidFill>
              <a:schemeClr val="dk2"/>
            </a:solidFill>
            <a:prstDash val="solid"/>
            <a:round/>
            <a:headEnd len="med" w="med" type="none"/>
            <a:tailEnd len="med" w="med" type="triangle"/>
          </a:ln>
        </p:spPr>
      </p:cxnSp>
      <p:sp>
        <p:nvSpPr>
          <p:cNvPr id="1183" name="Google Shape;1183;p64"/>
          <p:cNvSpPr txBox="1"/>
          <p:nvPr/>
        </p:nvSpPr>
        <p:spPr>
          <a:xfrm>
            <a:off x="2135225" y="2081115"/>
            <a:ext cx="1442400" cy="41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rPr>
              <a:t>Thêm(l)</a:t>
            </a:r>
            <a:endParaRPr sz="1600">
              <a:solidFill>
                <a:schemeClr val="dk2"/>
              </a:solidFill>
            </a:endParaRPr>
          </a:p>
        </p:txBody>
      </p:sp>
      <p:sp>
        <p:nvSpPr>
          <p:cNvPr id="1184" name="Google Shape;1184;p64"/>
          <p:cNvSpPr/>
          <p:nvPr/>
        </p:nvSpPr>
        <p:spPr>
          <a:xfrm>
            <a:off x="3782325" y="2982875"/>
            <a:ext cx="152700" cy="9879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185" name="Google Shape;1185;p64"/>
          <p:cNvCxnSpPr/>
          <p:nvPr/>
        </p:nvCxnSpPr>
        <p:spPr>
          <a:xfrm>
            <a:off x="1965525" y="3072725"/>
            <a:ext cx="1797000" cy="0"/>
          </a:xfrm>
          <a:prstGeom prst="straightConnector1">
            <a:avLst/>
          </a:prstGeom>
          <a:noFill/>
          <a:ln cap="flat" cmpd="sng" w="19050">
            <a:solidFill>
              <a:schemeClr val="dk2"/>
            </a:solidFill>
            <a:prstDash val="solid"/>
            <a:round/>
            <a:headEnd len="med" w="med" type="none"/>
            <a:tailEnd len="med" w="med" type="triangle"/>
          </a:ln>
        </p:spPr>
      </p:cxnSp>
      <p:sp>
        <p:nvSpPr>
          <p:cNvPr id="1186" name="Google Shape;1186;p64"/>
          <p:cNvSpPr txBox="1"/>
          <p:nvPr/>
        </p:nvSpPr>
        <p:spPr>
          <a:xfrm>
            <a:off x="2135225" y="2690715"/>
            <a:ext cx="1442400" cy="41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rPr>
              <a:t>Thao tác()</a:t>
            </a:r>
            <a:endParaRPr sz="1600">
              <a:solidFill>
                <a:schemeClr val="dk2"/>
              </a:solidFill>
            </a:endParaRPr>
          </a:p>
        </p:txBody>
      </p:sp>
      <p:cxnSp>
        <p:nvCxnSpPr>
          <p:cNvPr id="1187" name="Google Shape;1187;p64"/>
          <p:cNvCxnSpPr/>
          <p:nvPr/>
        </p:nvCxnSpPr>
        <p:spPr>
          <a:xfrm>
            <a:off x="3934050" y="3301325"/>
            <a:ext cx="1829700" cy="0"/>
          </a:xfrm>
          <a:prstGeom prst="straightConnector1">
            <a:avLst/>
          </a:prstGeom>
          <a:noFill/>
          <a:ln cap="flat" cmpd="sng" w="19050">
            <a:solidFill>
              <a:schemeClr val="dk2"/>
            </a:solidFill>
            <a:prstDash val="solid"/>
            <a:round/>
            <a:headEnd len="med" w="med" type="none"/>
            <a:tailEnd len="med" w="med" type="triangle"/>
          </a:ln>
        </p:spPr>
      </p:cxnSp>
      <p:sp>
        <p:nvSpPr>
          <p:cNvPr id="1188" name="Google Shape;1188;p64"/>
          <p:cNvSpPr txBox="1"/>
          <p:nvPr/>
        </p:nvSpPr>
        <p:spPr>
          <a:xfrm>
            <a:off x="4136390" y="2919315"/>
            <a:ext cx="1442400" cy="41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rPr>
              <a:t>Thao tác()</a:t>
            </a:r>
            <a:endParaRPr sz="1600">
              <a:solidFill>
                <a:schemeClr val="dk2"/>
              </a:solidFill>
            </a:endParaRPr>
          </a:p>
        </p:txBody>
      </p:sp>
      <p:cxnSp>
        <p:nvCxnSpPr>
          <p:cNvPr id="1189" name="Google Shape;1189;p64"/>
          <p:cNvCxnSpPr/>
          <p:nvPr/>
        </p:nvCxnSpPr>
        <p:spPr>
          <a:xfrm>
            <a:off x="3936742" y="3682325"/>
            <a:ext cx="3351300" cy="0"/>
          </a:xfrm>
          <a:prstGeom prst="straightConnector1">
            <a:avLst/>
          </a:prstGeom>
          <a:noFill/>
          <a:ln cap="flat" cmpd="sng" w="19050">
            <a:solidFill>
              <a:schemeClr val="dk2"/>
            </a:solidFill>
            <a:prstDash val="solid"/>
            <a:round/>
            <a:headEnd len="med" w="med" type="none"/>
            <a:tailEnd len="med" w="med" type="triangle"/>
          </a:ln>
        </p:spPr>
      </p:cxnSp>
      <p:sp>
        <p:nvSpPr>
          <p:cNvPr id="1190" name="Google Shape;1190;p64"/>
          <p:cNvSpPr/>
          <p:nvPr/>
        </p:nvSpPr>
        <p:spPr>
          <a:xfrm>
            <a:off x="3785985" y="4095927"/>
            <a:ext cx="152700" cy="4140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191" name="Google Shape;1191;p64"/>
          <p:cNvCxnSpPr/>
          <p:nvPr/>
        </p:nvCxnSpPr>
        <p:spPr>
          <a:xfrm>
            <a:off x="1969185" y="4185777"/>
            <a:ext cx="1797000" cy="0"/>
          </a:xfrm>
          <a:prstGeom prst="straightConnector1">
            <a:avLst/>
          </a:prstGeom>
          <a:noFill/>
          <a:ln cap="flat" cmpd="sng" w="19050">
            <a:solidFill>
              <a:schemeClr val="dk2"/>
            </a:solidFill>
            <a:prstDash val="solid"/>
            <a:round/>
            <a:headEnd len="med" w="med" type="none"/>
            <a:tailEnd len="med" w="med" type="triangle"/>
          </a:ln>
        </p:spPr>
      </p:cxnSp>
      <p:sp>
        <p:nvSpPr>
          <p:cNvPr id="1192" name="Google Shape;1192;p64"/>
          <p:cNvSpPr txBox="1"/>
          <p:nvPr/>
        </p:nvSpPr>
        <p:spPr>
          <a:xfrm>
            <a:off x="2138885" y="3803767"/>
            <a:ext cx="1442400" cy="41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rPr>
              <a:t>Gỡ</a:t>
            </a:r>
            <a:r>
              <a:rPr lang="en-GB" sz="1600">
                <a:solidFill>
                  <a:schemeClr val="dk2"/>
                </a:solidFill>
              </a:rPr>
              <a:t>(h)</a:t>
            </a:r>
            <a:endParaRPr sz="1600">
              <a:solidFill>
                <a:schemeClr val="dk2"/>
              </a:solidFill>
            </a:endParaRPr>
          </a:p>
        </p:txBody>
      </p:sp>
      <p:sp>
        <p:nvSpPr>
          <p:cNvPr id="1193" name="Google Shape;1193;p64"/>
          <p:cNvSpPr txBox="1"/>
          <p:nvPr/>
        </p:nvSpPr>
        <p:spPr>
          <a:xfrm>
            <a:off x="4335049" y="3300325"/>
            <a:ext cx="1291500" cy="41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rPr>
              <a:t>Thao tác()</a:t>
            </a:r>
            <a:endParaRPr sz="1600">
              <a:solidFill>
                <a:schemeClr val="dk2"/>
              </a:solidFill>
            </a:endParaRPr>
          </a:p>
        </p:txBody>
      </p:sp>
      <p:sp>
        <p:nvSpPr>
          <p:cNvPr id="1194" name="Google Shape;1194;p64"/>
          <p:cNvSpPr/>
          <p:nvPr/>
        </p:nvSpPr>
        <p:spPr>
          <a:xfrm>
            <a:off x="7287525" y="4918209"/>
            <a:ext cx="152700" cy="4140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95" name="Google Shape;1195;p64"/>
          <p:cNvSpPr/>
          <p:nvPr/>
        </p:nvSpPr>
        <p:spPr>
          <a:xfrm>
            <a:off x="3782325" y="4735475"/>
            <a:ext cx="152700" cy="6771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196" name="Google Shape;1196;p64"/>
          <p:cNvCxnSpPr/>
          <p:nvPr/>
        </p:nvCxnSpPr>
        <p:spPr>
          <a:xfrm>
            <a:off x="1965525" y="4825325"/>
            <a:ext cx="1797000" cy="0"/>
          </a:xfrm>
          <a:prstGeom prst="straightConnector1">
            <a:avLst/>
          </a:prstGeom>
          <a:noFill/>
          <a:ln cap="flat" cmpd="sng" w="19050">
            <a:solidFill>
              <a:schemeClr val="dk2"/>
            </a:solidFill>
            <a:prstDash val="solid"/>
            <a:round/>
            <a:headEnd len="med" w="med" type="none"/>
            <a:tailEnd len="med" w="med" type="triangle"/>
          </a:ln>
        </p:spPr>
      </p:cxnSp>
      <p:sp>
        <p:nvSpPr>
          <p:cNvPr id="1197" name="Google Shape;1197;p64"/>
          <p:cNvSpPr txBox="1"/>
          <p:nvPr/>
        </p:nvSpPr>
        <p:spPr>
          <a:xfrm>
            <a:off x="2135225" y="4443315"/>
            <a:ext cx="1442400" cy="41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rPr>
              <a:t>Thao tác()</a:t>
            </a:r>
            <a:endParaRPr sz="1600">
              <a:solidFill>
                <a:schemeClr val="dk2"/>
              </a:solidFill>
            </a:endParaRPr>
          </a:p>
        </p:txBody>
      </p:sp>
      <p:sp>
        <p:nvSpPr>
          <p:cNvPr id="1198" name="Google Shape;1198;p64"/>
          <p:cNvSpPr txBox="1"/>
          <p:nvPr/>
        </p:nvSpPr>
        <p:spPr>
          <a:xfrm>
            <a:off x="4136390" y="4671915"/>
            <a:ext cx="1442400" cy="41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rPr>
              <a:t>Thao tác()</a:t>
            </a:r>
            <a:endParaRPr sz="1600">
              <a:solidFill>
                <a:schemeClr val="dk2"/>
              </a:solidFill>
            </a:endParaRPr>
          </a:p>
        </p:txBody>
      </p:sp>
      <p:cxnSp>
        <p:nvCxnSpPr>
          <p:cNvPr id="1199" name="Google Shape;1199;p64"/>
          <p:cNvCxnSpPr/>
          <p:nvPr/>
        </p:nvCxnSpPr>
        <p:spPr>
          <a:xfrm>
            <a:off x="3934050" y="5053925"/>
            <a:ext cx="3344100" cy="0"/>
          </a:xfrm>
          <a:prstGeom prst="straightConnector1">
            <a:avLst/>
          </a:prstGeom>
          <a:noFill/>
          <a:ln cap="flat" cmpd="sng" w="19050">
            <a:solidFill>
              <a:schemeClr val="dk2"/>
            </a:solidFill>
            <a:prstDash val="solid"/>
            <a:round/>
            <a:headEnd len="med" w="med" type="none"/>
            <a:tailEnd len="med" w="med" type="triangle"/>
          </a:ln>
        </p:spPr>
      </p:cxn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3" name="Shape 1203"/>
        <p:cNvGrpSpPr/>
        <p:nvPr/>
      </p:nvGrpSpPr>
      <p:grpSpPr>
        <a:xfrm>
          <a:off x="0" y="0"/>
          <a:ext cx="0" cy="0"/>
          <a:chOff x="0" y="0"/>
          <a:chExt cx="0" cy="0"/>
        </a:xfrm>
      </p:grpSpPr>
      <p:sp>
        <p:nvSpPr>
          <p:cNvPr id="1204" name="Google Shape;1204;p65"/>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Hợp chất: Kết hợp đối tượng</a:t>
            </a:r>
            <a:endParaRPr/>
          </a:p>
        </p:txBody>
      </p:sp>
      <p:sp>
        <p:nvSpPr>
          <p:cNvPr id="1205" name="Google Shape;1205;p6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206" name="Google Shape;1206;p65"/>
          <p:cNvSpPr/>
          <p:nvPr/>
        </p:nvSpPr>
        <p:spPr>
          <a:xfrm>
            <a:off x="3290561" y="1369300"/>
            <a:ext cx="12915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u="sng"/>
              <a:t>:Hợp chất</a:t>
            </a:r>
            <a:endParaRPr sz="1600" u="sng"/>
          </a:p>
        </p:txBody>
      </p:sp>
      <p:sp>
        <p:nvSpPr>
          <p:cNvPr id="1207" name="Google Shape;1207;p65"/>
          <p:cNvSpPr/>
          <p:nvPr/>
        </p:nvSpPr>
        <p:spPr>
          <a:xfrm>
            <a:off x="2897000" y="2359900"/>
            <a:ext cx="10566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u="sng"/>
              <a:t>:Đơn chất</a:t>
            </a:r>
            <a:endParaRPr sz="1600" u="sng"/>
          </a:p>
        </p:txBody>
      </p:sp>
      <p:sp>
        <p:nvSpPr>
          <p:cNvPr id="1208" name="Google Shape;1208;p65"/>
          <p:cNvSpPr/>
          <p:nvPr/>
        </p:nvSpPr>
        <p:spPr>
          <a:xfrm>
            <a:off x="4204961" y="2359900"/>
            <a:ext cx="12915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u="sng"/>
              <a:t>:Hợp chất</a:t>
            </a:r>
            <a:endParaRPr sz="1600" u="sng"/>
          </a:p>
        </p:txBody>
      </p:sp>
      <p:sp>
        <p:nvSpPr>
          <p:cNvPr id="1209" name="Google Shape;1209;p65"/>
          <p:cNvSpPr/>
          <p:nvPr/>
        </p:nvSpPr>
        <p:spPr>
          <a:xfrm>
            <a:off x="328650" y="2359900"/>
            <a:ext cx="11811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u="sng"/>
              <a:t>:Đơn chất</a:t>
            </a:r>
            <a:endParaRPr sz="1600" u="sng"/>
          </a:p>
        </p:txBody>
      </p:sp>
      <p:sp>
        <p:nvSpPr>
          <p:cNvPr id="1210" name="Google Shape;1210;p65"/>
          <p:cNvSpPr/>
          <p:nvPr/>
        </p:nvSpPr>
        <p:spPr>
          <a:xfrm>
            <a:off x="1687975" y="2359900"/>
            <a:ext cx="10566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u="sng"/>
              <a:t>:Đơn chất</a:t>
            </a:r>
            <a:endParaRPr sz="1600" u="sng"/>
          </a:p>
        </p:txBody>
      </p:sp>
      <p:sp>
        <p:nvSpPr>
          <p:cNvPr id="1211" name="Google Shape;1211;p65"/>
          <p:cNvSpPr/>
          <p:nvPr/>
        </p:nvSpPr>
        <p:spPr>
          <a:xfrm>
            <a:off x="5805161" y="2359900"/>
            <a:ext cx="12915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u="sng"/>
              <a:t>:Hợp chất</a:t>
            </a:r>
            <a:endParaRPr sz="1600" u="sng"/>
          </a:p>
        </p:txBody>
      </p:sp>
      <p:sp>
        <p:nvSpPr>
          <p:cNvPr id="1212" name="Google Shape;1212;p65"/>
          <p:cNvSpPr/>
          <p:nvPr/>
        </p:nvSpPr>
        <p:spPr>
          <a:xfrm>
            <a:off x="3265233" y="1704383"/>
            <a:ext cx="149725" cy="136150"/>
          </a:xfrm>
          <a:prstGeom prst="flowChartDecision">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3" name="Google Shape;1213;p65"/>
          <p:cNvSpPr/>
          <p:nvPr/>
        </p:nvSpPr>
        <p:spPr>
          <a:xfrm>
            <a:off x="3493833" y="1704383"/>
            <a:ext cx="149725" cy="136150"/>
          </a:xfrm>
          <a:prstGeom prst="flowChartDecision">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4" name="Google Shape;1214;p65"/>
          <p:cNvSpPr/>
          <p:nvPr/>
        </p:nvSpPr>
        <p:spPr>
          <a:xfrm>
            <a:off x="3722433" y="1704383"/>
            <a:ext cx="149725" cy="136150"/>
          </a:xfrm>
          <a:prstGeom prst="flowChartDecision">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5" name="Google Shape;1215;p65"/>
          <p:cNvSpPr/>
          <p:nvPr/>
        </p:nvSpPr>
        <p:spPr>
          <a:xfrm>
            <a:off x="4103433" y="1704383"/>
            <a:ext cx="149725" cy="136150"/>
          </a:xfrm>
          <a:prstGeom prst="flowChartDecision">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6" name="Google Shape;1216;p65"/>
          <p:cNvSpPr/>
          <p:nvPr/>
        </p:nvSpPr>
        <p:spPr>
          <a:xfrm>
            <a:off x="4332033" y="1704383"/>
            <a:ext cx="149725" cy="136150"/>
          </a:xfrm>
          <a:prstGeom prst="flowChartDecision">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217" name="Google Shape;1217;p65"/>
          <p:cNvCxnSpPr>
            <a:stCxn id="1209" idx="0"/>
            <a:endCxn id="1212" idx="2"/>
          </p:cNvCxnSpPr>
          <p:nvPr/>
        </p:nvCxnSpPr>
        <p:spPr>
          <a:xfrm rot="-5400000">
            <a:off x="1870050" y="889750"/>
            <a:ext cx="519300" cy="2421000"/>
          </a:xfrm>
          <a:prstGeom prst="bentConnector3">
            <a:avLst>
              <a:gd fmla="val 50006" name="adj1"/>
            </a:avLst>
          </a:prstGeom>
          <a:noFill/>
          <a:ln cap="flat" cmpd="sng" w="9525">
            <a:solidFill>
              <a:schemeClr val="dk2"/>
            </a:solidFill>
            <a:prstDash val="solid"/>
            <a:round/>
            <a:headEnd len="med" w="med" type="none"/>
            <a:tailEnd len="med" w="med" type="none"/>
          </a:ln>
        </p:spPr>
      </p:cxnSp>
      <p:cxnSp>
        <p:nvCxnSpPr>
          <p:cNvPr id="1218" name="Google Shape;1218;p65"/>
          <p:cNvCxnSpPr>
            <a:stCxn id="1210" idx="0"/>
            <a:endCxn id="1213" idx="2"/>
          </p:cNvCxnSpPr>
          <p:nvPr/>
        </p:nvCxnSpPr>
        <p:spPr>
          <a:xfrm rot="-5400000">
            <a:off x="2632825" y="1424050"/>
            <a:ext cx="519300" cy="1352400"/>
          </a:xfrm>
          <a:prstGeom prst="bentConnector3">
            <a:avLst>
              <a:gd fmla="val 50006" name="adj1"/>
            </a:avLst>
          </a:prstGeom>
          <a:noFill/>
          <a:ln cap="flat" cmpd="sng" w="9525">
            <a:solidFill>
              <a:schemeClr val="dk2"/>
            </a:solidFill>
            <a:prstDash val="solid"/>
            <a:round/>
            <a:headEnd len="med" w="med" type="none"/>
            <a:tailEnd len="med" w="med" type="none"/>
          </a:ln>
        </p:spPr>
      </p:cxnSp>
      <p:cxnSp>
        <p:nvCxnSpPr>
          <p:cNvPr id="1219" name="Google Shape;1219;p65"/>
          <p:cNvCxnSpPr>
            <a:stCxn id="1207" idx="0"/>
            <a:endCxn id="1214" idx="2"/>
          </p:cNvCxnSpPr>
          <p:nvPr/>
        </p:nvCxnSpPr>
        <p:spPr>
          <a:xfrm rot="-5400000">
            <a:off x="3351650" y="1914250"/>
            <a:ext cx="519300" cy="372000"/>
          </a:xfrm>
          <a:prstGeom prst="bentConnector3">
            <a:avLst>
              <a:gd fmla="val 50006" name="adj1"/>
            </a:avLst>
          </a:prstGeom>
          <a:noFill/>
          <a:ln cap="flat" cmpd="sng" w="9525">
            <a:solidFill>
              <a:schemeClr val="dk2"/>
            </a:solidFill>
            <a:prstDash val="solid"/>
            <a:round/>
            <a:headEnd len="med" w="med" type="none"/>
            <a:tailEnd len="med" w="med" type="none"/>
          </a:ln>
        </p:spPr>
      </p:cxnSp>
      <p:cxnSp>
        <p:nvCxnSpPr>
          <p:cNvPr id="1220" name="Google Shape;1220;p65"/>
          <p:cNvCxnSpPr>
            <a:stCxn id="1208" idx="0"/>
            <a:endCxn id="1215" idx="2"/>
          </p:cNvCxnSpPr>
          <p:nvPr/>
        </p:nvCxnSpPr>
        <p:spPr>
          <a:xfrm flipH="1" rot="5400000">
            <a:off x="4254911" y="1764100"/>
            <a:ext cx="519300" cy="672300"/>
          </a:xfrm>
          <a:prstGeom prst="bentConnector3">
            <a:avLst>
              <a:gd fmla="val 36578" name="adj1"/>
            </a:avLst>
          </a:prstGeom>
          <a:noFill/>
          <a:ln cap="flat" cmpd="sng" w="9525">
            <a:solidFill>
              <a:schemeClr val="dk2"/>
            </a:solidFill>
            <a:prstDash val="solid"/>
            <a:round/>
            <a:headEnd len="med" w="med" type="none"/>
            <a:tailEnd len="med" w="med" type="none"/>
          </a:ln>
        </p:spPr>
      </p:cxnSp>
      <p:cxnSp>
        <p:nvCxnSpPr>
          <p:cNvPr id="1221" name="Google Shape;1221;p65"/>
          <p:cNvCxnSpPr>
            <a:stCxn id="1211" idx="0"/>
            <a:endCxn id="1216" idx="2"/>
          </p:cNvCxnSpPr>
          <p:nvPr/>
        </p:nvCxnSpPr>
        <p:spPr>
          <a:xfrm flipH="1" rot="5400000">
            <a:off x="5169311" y="1078300"/>
            <a:ext cx="519300" cy="2043900"/>
          </a:xfrm>
          <a:prstGeom prst="bentConnector3">
            <a:avLst>
              <a:gd fmla="val 50006" name="adj1"/>
            </a:avLst>
          </a:prstGeom>
          <a:noFill/>
          <a:ln cap="flat" cmpd="sng" w="9525">
            <a:solidFill>
              <a:schemeClr val="dk2"/>
            </a:solidFill>
            <a:prstDash val="solid"/>
            <a:round/>
            <a:headEnd len="med" w="med" type="none"/>
            <a:tailEnd len="med" w="med" type="none"/>
          </a:ln>
        </p:spPr>
      </p:cxnSp>
      <p:sp>
        <p:nvSpPr>
          <p:cNvPr id="1222" name="Google Shape;1222;p65"/>
          <p:cNvSpPr/>
          <p:nvPr/>
        </p:nvSpPr>
        <p:spPr>
          <a:xfrm>
            <a:off x="2806025" y="3274300"/>
            <a:ext cx="11475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u="sng"/>
              <a:t>:Đơn chất</a:t>
            </a:r>
            <a:endParaRPr sz="1600" u="sng"/>
          </a:p>
        </p:txBody>
      </p:sp>
      <p:sp>
        <p:nvSpPr>
          <p:cNvPr id="1223" name="Google Shape;1223;p65"/>
          <p:cNvSpPr/>
          <p:nvPr/>
        </p:nvSpPr>
        <p:spPr>
          <a:xfrm>
            <a:off x="4214944" y="3274300"/>
            <a:ext cx="12915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u="sng"/>
              <a:t>:Hợp chất</a:t>
            </a:r>
            <a:endParaRPr sz="1600" u="sng"/>
          </a:p>
        </p:txBody>
      </p:sp>
      <p:sp>
        <p:nvSpPr>
          <p:cNvPr id="1224" name="Google Shape;1224;p65"/>
          <p:cNvSpPr/>
          <p:nvPr/>
        </p:nvSpPr>
        <p:spPr>
          <a:xfrm>
            <a:off x="5805161" y="3274300"/>
            <a:ext cx="12915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u="sng"/>
              <a:t>:Hợp chất</a:t>
            </a:r>
            <a:endParaRPr sz="1600" u="sng"/>
          </a:p>
        </p:txBody>
      </p:sp>
      <p:sp>
        <p:nvSpPr>
          <p:cNvPr id="1225" name="Google Shape;1225;p65"/>
          <p:cNvSpPr/>
          <p:nvPr/>
        </p:nvSpPr>
        <p:spPr>
          <a:xfrm>
            <a:off x="4408233" y="2694983"/>
            <a:ext cx="149725" cy="136150"/>
          </a:xfrm>
          <a:prstGeom prst="flowChartDecision">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6" name="Google Shape;1226;p65"/>
          <p:cNvSpPr/>
          <p:nvPr/>
        </p:nvSpPr>
        <p:spPr>
          <a:xfrm>
            <a:off x="4789233" y="2694983"/>
            <a:ext cx="149725" cy="136150"/>
          </a:xfrm>
          <a:prstGeom prst="flowChartDecision">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7" name="Google Shape;1227;p65"/>
          <p:cNvSpPr/>
          <p:nvPr/>
        </p:nvSpPr>
        <p:spPr>
          <a:xfrm>
            <a:off x="5170233" y="2694983"/>
            <a:ext cx="149725" cy="136150"/>
          </a:xfrm>
          <a:prstGeom prst="flowChartDecision">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228" name="Google Shape;1228;p65"/>
          <p:cNvCxnSpPr>
            <a:stCxn id="1222" idx="0"/>
            <a:endCxn id="1225" idx="2"/>
          </p:cNvCxnSpPr>
          <p:nvPr/>
        </p:nvCxnSpPr>
        <p:spPr>
          <a:xfrm rot="-5400000">
            <a:off x="3709925" y="2501050"/>
            <a:ext cx="443100" cy="1103400"/>
          </a:xfrm>
          <a:prstGeom prst="bentConnector3">
            <a:avLst>
              <a:gd fmla="val 50008" name="adj1"/>
            </a:avLst>
          </a:prstGeom>
          <a:noFill/>
          <a:ln cap="flat" cmpd="sng" w="9525">
            <a:solidFill>
              <a:schemeClr val="dk2"/>
            </a:solidFill>
            <a:prstDash val="solid"/>
            <a:round/>
            <a:headEnd len="med" w="med" type="none"/>
            <a:tailEnd len="med" w="med" type="none"/>
          </a:ln>
        </p:spPr>
      </p:cxnSp>
      <p:cxnSp>
        <p:nvCxnSpPr>
          <p:cNvPr id="1229" name="Google Shape;1229;p65"/>
          <p:cNvCxnSpPr>
            <a:stCxn id="1223" idx="0"/>
            <a:endCxn id="1226" idx="2"/>
          </p:cNvCxnSpPr>
          <p:nvPr/>
        </p:nvCxnSpPr>
        <p:spPr>
          <a:xfrm rot="-5400000">
            <a:off x="4640794" y="3051100"/>
            <a:ext cx="443100" cy="3300"/>
          </a:xfrm>
          <a:prstGeom prst="bentConnector3">
            <a:avLst>
              <a:gd fmla="val 50008" name="adj1"/>
            </a:avLst>
          </a:prstGeom>
          <a:noFill/>
          <a:ln cap="flat" cmpd="sng" w="9525">
            <a:solidFill>
              <a:schemeClr val="dk2"/>
            </a:solidFill>
            <a:prstDash val="solid"/>
            <a:round/>
            <a:headEnd len="med" w="med" type="none"/>
            <a:tailEnd len="med" w="med" type="none"/>
          </a:ln>
        </p:spPr>
      </p:cxnSp>
      <p:cxnSp>
        <p:nvCxnSpPr>
          <p:cNvPr id="1230" name="Google Shape;1230;p65"/>
          <p:cNvCxnSpPr>
            <a:stCxn id="1224" idx="0"/>
            <a:endCxn id="1227" idx="2"/>
          </p:cNvCxnSpPr>
          <p:nvPr/>
        </p:nvCxnSpPr>
        <p:spPr>
          <a:xfrm flipH="1" rot="5400000">
            <a:off x="5626511" y="2449900"/>
            <a:ext cx="443100" cy="1205700"/>
          </a:xfrm>
          <a:prstGeom prst="bentConnector3">
            <a:avLst>
              <a:gd fmla="val 50008" name="adj1"/>
            </a:avLst>
          </a:prstGeom>
          <a:noFill/>
          <a:ln cap="flat" cmpd="sng" w="9525">
            <a:solidFill>
              <a:schemeClr val="dk2"/>
            </a:solidFill>
            <a:prstDash val="solid"/>
            <a:round/>
            <a:headEnd len="med" w="med" type="none"/>
            <a:tailEnd len="med" w="med" type="none"/>
          </a:ln>
        </p:spPr>
      </p:cxnSp>
      <p:sp>
        <p:nvSpPr>
          <p:cNvPr id="1231" name="Google Shape;1231;p65"/>
          <p:cNvSpPr txBox="1"/>
          <p:nvPr/>
        </p:nvSpPr>
        <p:spPr>
          <a:xfrm>
            <a:off x="858125" y="3881375"/>
            <a:ext cx="778500" cy="44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600">
                <a:solidFill>
                  <a:schemeClr val="dk2"/>
                </a:solidFill>
              </a:rPr>
              <a:t>. . .</a:t>
            </a:r>
            <a:endParaRPr sz="2600">
              <a:solidFill>
                <a:schemeClr val="dk2"/>
              </a:solidFill>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5" name="Shape 1235"/>
        <p:cNvGrpSpPr/>
        <p:nvPr/>
      </p:nvGrpSpPr>
      <p:grpSpPr>
        <a:xfrm>
          <a:off x="0" y="0"/>
          <a:ext cx="0" cy="0"/>
          <a:chOff x="0" y="0"/>
          <a:chExt cx="0" cy="0"/>
        </a:xfrm>
      </p:grpSpPr>
      <p:sp>
        <p:nvSpPr>
          <p:cNvPr id="1236" name="Google Shape;1236;p66"/>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Hợp chất: Các hệ quả</a:t>
            </a:r>
            <a:endParaRPr/>
          </a:p>
        </p:txBody>
      </p:sp>
      <p:sp>
        <p:nvSpPr>
          <p:cNvPr id="1237" name="Google Shape;1237;p6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238" name="Google Shape;1238;p66"/>
          <p:cNvSpPr txBox="1"/>
          <p:nvPr>
            <p:ph idx="1" type="body"/>
          </p:nvPr>
        </p:nvSpPr>
        <p:spPr>
          <a:xfrm>
            <a:off x="311700" y="950475"/>
            <a:ext cx="8520600" cy="5418300"/>
          </a:xfrm>
          <a:prstGeom prst="rect">
            <a:avLst/>
          </a:prstGeom>
        </p:spPr>
        <p:txBody>
          <a:bodyPr anchorCtr="0" anchor="t" bIns="91425" lIns="91425" spcFirstLastPara="1" rIns="91425" wrap="square" tIns="91425">
            <a:noAutofit/>
          </a:bodyPr>
          <a:lstStyle/>
          <a:p>
            <a:pPr indent="-381000" lvl="0" marL="457200" rtl="0" algn="just">
              <a:spcBef>
                <a:spcPts val="0"/>
              </a:spcBef>
              <a:spcAft>
                <a:spcPts val="0"/>
              </a:spcAft>
              <a:buSzPts val="2400"/>
              <a:buChar char="●"/>
            </a:pPr>
            <a:r>
              <a:rPr lang="en-GB"/>
              <a:t>Các đối tượng cơ bản có thể được sát nhập vào hợp chất. Các hợp chất cũng có thể tiếp tục sát nhập vào hợp chất khác tạo thành cây phân cấp.</a:t>
            </a:r>
            <a:endParaRPr/>
          </a:p>
          <a:p>
            <a:pPr indent="-381000" lvl="0" marL="457200" rtl="0" algn="just">
              <a:spcBef>
                <a:spcPts val="0"/>
              </a:spcBef>
              <a:spcAft>
                <a:spcPts val="0"/>
              </a:spcAft>
              <a:buSzPts val="2400"/>
              <a:buChar char="●"/>
            </a:pPr>
            <a:r>
              <a:rPr lang="en-GB"/>
              <a:t>Khách </a:t>
            </a:r>
            <a:r>
              <a:rPr lang="en-GB"/>
              <a:t>hành vi</a:t>
            </a:r>
            <a:r>
              <a:rPr lang="en-GB"/>
              <a:t> với các đối tượng riêng và hợp chất theo cùng một cách.</a:t>
            </a:r>
            <a:endParaRPr/>
          </a:p>
          <a:p>
            <a:pPr indent="-381000" lvl="0" marL="457200" rtl="0" algn="just">
              <a:spcBef>
                <a:spcPts val="0"/>
              </a:spcBef>
              <a:spcAft>
                <a:spcPts val="0"/>
              </a:spcAft>
              <a:buSzPts val="2400"/>
              <a:buChar char="●"/>
            </a:pPr>
            <a:r>
              <a:rPr lang="en-GB"/>
              <a:t>Dễ thêm các thành phần mới.</a:t>
            </a:r>
            <a:endParaRPr/>
          </a:p>
          <a:p>
            <a:pPr indent="-381000" lvl="0" marL="457200" rtl="0" algn="l">
              <a:spcBef>
                <a:spcPts val="0"/>
              </a:spcBef>
              <a:spcAft>
                <a:spcPts val="0"/>
              </a:spcAft>
              <a:buSzPts val="2400"/>
              <a:buChar char="●"/>
            </a:pPr>
            <a:r>
              <a:rPr lang="en-GB"/>
              <a:t>Khó giới hạn thành phần của hợp chất.</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2" name="Shape 1242"/>
        <p:cNvGrpSpPr/>
        <p:nvPr/>
      </p:nvGrpSpPr>
      <p:grpSpPr>
        <a:xfrm>
          <a:off x="0" y="0"/>
          <a:ext cx="0" cy="0"/>
          <a:chOff x="0" y="0"/>
          <a:chExt cx="0" cy="0"/>
        </a:xfrm>
      </p:grpSpPr>
      <p:sp>
        <p:nvSpPr>
          <p:cNvPr id="1243" name="Google Shape;1243;p67"/>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9. Các thành phần hình vẽ</a:t>
            </a:r>
            <a:endParaRPr/>
          </a:p>
        </p:txBody>
      </p:sp>
      <p:sp>
        <p:nvSpPr>
          <p:cNvPr id="1244" name="Google Shape;1244;p6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245" name="Google Shape;1245;p67"/>
          <p:cNvSpPr/>
          <p:nvPr/>
        </p:nvSpPr>
        <p:spPr>
          <a:xfrm>
            <a:off x="2087295" y="1193660"/>
            <a:ext cx="2099700" cy="3432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i="1" lang="en-GB" sz="1600"/>
              <a:t>Graphic</a:t>
            </a:r>
            <a:endParaRPr i="1" sz="1600"/>
          </a:p>
        </p:txBody>
      </p:sp>
      <p:sp>
        <p:nvSpPr>
          <p:cNvPr id="1246" name="Google Shape;1246;p67"/>
          <p:cNvSpPr/>
          <p:nvPr/>
        </p:nvSpPr>
        <p:spPr>
          <a:xfrm>
            <a:off x="2087275" y="1536585"/>
            <a:ext cx="2099700" cy="10935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i="1" lang="en-GB" sz="1600"/>
              <a:t>Draw()</a:t>
            </a:r>
            <a:endParaRPr i="1" sz="1600"/>
          </a:p>
          <a:p>
            <a:pPr indent="0" lvl="0" marL="0" rtl="0" algn="l">
              <a:spcBef>
                <a:spcPts val="0"/>
              </a:spcBef>
              <a:spcAft>
                <a:spcPts val="0"/>
              </a:spcAft>
              <a:buNone/>
            </a:pPr>
            <a:r>
              <a:rPr i="1" lang="en-GB" sz="1600"/>
              <a:t>Add(Graphic)</a:t>
            </a:r>
            <a:endParaRPr i="1" sz="1600"/>
          </a:p>
          <a:p>
            <a:pPr indent="0" lvl="0" marL="0" rtl="0" algn="l">
              <a:spcBef>
                <a:spcPts val="0"/>
              </a:spcBef>
              <a:spcAft>
                <a:spcPts val="0"/>
              </a:spcAft>
              <a:buNone/>
            </a:pPr>
            <a:r>
              <a:rPr i="1" lang="en-GB" sz="1600"/>
              <a:t>Remove(Graphic)</a:t>
            </a:r>
            <a:endParaRPr i="1" sz="1600"/>
          </a:p>
          <a:p>
            <a:pPr indent="0" lvl="0" marL="0" rtl="0" algn="l">
              <a:spcBef>
                <a:spcPts val="0"/>
              </a:spcBef>
              <a:spcAft>
                <a:spcPts val="0"/>
              </a:spcAft>
              <a:buNone/>
            </a:pPr>
            <a:r>
              <a:rPr i="1" lang="en-GB" sz="1600"/>
              <a:t>GetChild(int)</a:t>
            </a:r>
            <a:endParaRPr i="1" sz="1600"/>
          </a:p>
        </p:txBody>
      </p:sp>
      <p:sp>
        <p:nvSpPr>
          <p:cNvPr id="1247" name="Google Shape;1247;p67"/>
          <p:cNvSpPr/>
          <p:nvPr/>
        </p:nvSpPr>
        <p:spPr>
          <a:xfrm>
            <a:off x="470158" y="3427725"/>
            <a:ext cx="8715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b="1" lang="en-GB" sz="1600"/>
              <a:t>Line</a:t>
            </a:r>
            <a:endParaRPr b="1" sz="1600"/>
          </a:p>
        </p:txBody>
      </p:sp>
      <p:sp>
        <p:nvSpPr>
          <p:cNvPr id="1248" name="Google Shape;1248;p67"/>
          <p:cNvSpPr/>
          <p:nvPr/>
        </p:nvSpPr>
        <p:spPr>
          <a:xfrm>
            <a:off x="470150" y="3749950"/>
            <a:ext cx="871500" cy="3225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lang="en-GB" sz="1600"/>
              <a:t>Draw()</a:t>
            </a:r>
            <a:endParaRPr sz="1600"/>
          </a:p>
        </p:txBody>
      </p:sp>
      <p:sp>
        <p:nvSpPr>
          <p:cNvPr id="1249" name="Google Shape;1249;p67"/>
          <p:cNvSpPr/>
          <p:nvPr/>
        </p:nvSpPr>
        <p:spPr>
          <a:xfrm>
            <a:off x="1516259" y="3427725"/>
            <a:ext cx="12057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b="1" lang="en-GB" sz="1600"/>
              <a:t>Rectangle</a:t>
            </a:r>
            <a:endParaRPr b="1" sz="1600"/>
          </a:p>
        </p:txBody>
      </p:sp>
      <p:sp>
        <p:nvSpPr>
          <p:cNvPr id="1250" name="Google Shape;1250;p67"/>
          <p:cNvSpPr/>
          <p:nvPr/>
        </p:nvSpPr>
        <p:spPr>
          <a:xfrm>
            <a:off x="1516248" y="3749950"/>
            <a:ext cx="1205700" cy="3225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lang="en-GB" sz="1600"/>
              <a:t>Draw()</a:t>
            </a:r>
            <a:endParaRPr sz="1600"/>
          </a:p>
        </p:txBody>
      </p:sp>
      <p:sp>
        <p:nvSpPr>
          <p:cNvPr id="1251" name="Google Shape;1251;p67"/>
          <p:cNvSpPr/>
          <p:nvPr/>
        </p:nvSpPr>
        <p:spPr>
          <a:xfrm>
            <a:off x="2968453" y="3427725"/>
            <a:ext cx="8715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b="1" lang="en-GB" sz="1600"/>
              <a:t>Text</a:t>
            </a:r>
            <a:endParaRPr b="1" sz="1600"/>
          </a:p>
        </p:txBody>
      </p:sp>
      <p:sp>
        <p:nvSpPr>
          <p:cNvPr id="1252" name="Google Shape;1252;p67"/>
          <p:cNvSpPr/>
          <p:nvPr/>
        </p:nvSpPr>
        <p:spPr>
          <a:xfrm>
            <a:off x="2968445" y="3749950"/>
            <a:ext cx="871500" cy="3225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lang="en-GB" sz="1600"/>
              <a:t>Draw()</a:t>
            </a:r>
            <a:endParaRPr sz="1600"/>
          </a:p>
        </p:txBody>
      </p:sp>
      <p:sp>
        <p:nvSpPr>
          <p:cNvPr id="1253" name="Google Shape;1253;p67"/>
          <p:cNvSpPr/>
          <p:nvPr/>
        </p:nvSpPr>
        <p:spPr>
          <a:xfrm>
            <a:off x="4051567" y="3427722"/>
            <a:ext cx="18879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b="1" lang="en-GB" sz="1600"/>
              <a:t>Picture</a:t>
            </a:r>
            <a:endParaRPr b="1" sz="1600"/>
          </a:p>
        </p:txBody>
      </p:sp>
      <p:sp>
        <p:nvSpPr>
          <p:cNvPr id="1254" name="Google Shape;1254;p67"/>
          <p:cNvSpPr/>
          <p:nvPr/>
        </p:nvSpPr>
        <p:spPr>
          <a:xfrm>
            <a:off x="4051550" y="3749951"/>
            <a:ext cx="1887900" cy="10935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lang="en-GB" sz="1600"/>
              <a:t>Draw()</a:t>
            </a:r>
            <a:endParaRPr sz="1600"/>
          </a:p>
          <a:p>
            <a:pPr indent="0" lvl="0" marL="0" rtl="0" algn="l">
              <a:spcBef>
                <a:spcPts val="0"/>
              </a:spcBef>
              <a:spcAft>
                <a:spcPts val="0"/>
              </a:spcAft>
              <a:buNone/>
            </a:pPr>
            <a:r>
              <a:rPr lang="en-GB" sz="1600"/>
              <a:t>Add(Graphic)</a:t>
            </a:r>
            <a:endParaRPr sz="1600"/>
          </a:p>
          <a:p>
            <a:pPr indent="0" lvl="0" marL="0" rtl="0" algn="l">
              <a:spcBef>
                <a:spcPts val="0"/>
              </a:spcBef>
              <a:spcAft>
                <a:spcPts val="0"/>
              </a:spcAft>
              <a:buNone/>
            </a:pPr>
            <a:r>
              <a:rPr lang="en-GB" sz="1600"/>
              <a:t>Remove(Graphic)</a:t>
            </a:r>
            <a:endParaRPr sz="1600"/>
          </a:p>
          <a:p>
            <a:pPr indent="0" lvl="0" marL="0" rtl="0" algn="l">
              <a:spcBef>
                <a:spcPts val="0"/>
              </a:spcBef>
              <a:spcAft>
                <a:spcPts val="0"/>
              </a:spcAft>
              <a:buNone/>
            </a:pPr>
            <a:r>
              <a:rPr lang="en-GB" sz="1600"/>
              <a:t>GetChild(int)</a:t>
            </a:r>
            <a:endParaRPr sz="1600"/>
          </a:p>
        </p:txBody>
      </p:sp>
      <p:sp>
        <p:nvSpPr>
          <p:cNvPr id="1255" name="Google Shape;1255;p67"/>
          <p:cNvSpPr/>
          <p:nvPr/>
        </p:nvSpPr>
        <p:spPr>
          <a:xfrm>
            <a:off x="5956175" y="3531225"/>
            <a:ext cx="219625" cy="159725"/>
          </a:xfrm>
          <a:prstGeom prst="flowChartDecision">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256" name="Google Shape;1256;p67"/>
          <p:cNvCxnSpPr>
            <a:stCxn id="1245" idx="3"/>
            <a:endCxn id="1255" idx="3"/>
          </p:cNvCxnSpPr>
          <p:nvPr/>
        </p:nvCxnSpPr>
        <p:spPr>
          <a:xfrm>
            <a:off x="4186995" y="1365260"/>
            <a:ext cx="1988700" cy="2245800"/>
          </a:xfrm>
          <a:prstGeom prst="bentConnector3">
            <a:avLst>
              <a:gd fmla="val 111979" name="adj1"/>
            </a:avLst>
          </a:prstGeom>
          <a:noFill/>
          <a:ln cap="flat" cmpd="sng" w="9525">
            <a:solidFill>
              <a:schemeClr val="dk2"/>
            </a:solidFill>
            <a:prstDash val="solid"/>
            <a:round/>
            <a:headEnd len="med" w="med" type="none"/>
            <a:tailEnd len="med" w="med" type="none"/>
          </a:ln>
        </p:spPr>
      </p:cxnSp>
      <p:sp>
        <p:nvSpPr>
          <p:cNvPr id="1257" name="Google Shape;1257;p67"/>
          <p:cNvSpPr txBox="1"/>
          <p:nvPr/>
        </p:nvSpPr>
        <p:spPr>
          <a:xfrm>
            <a:off x="4192937" y="1036710"/>
            <a:ext cx="871500" cy="32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graphics</a:t>
            </a:r>
            <a:endParaRPr>
              <a:solidFill>
                <a:schemeClr val="dk2"/>
              </a:solidFill>
            </a:endParaRPr>
          </a:p>
        </p:txBody>
      </p:sp>
      <p:sp>
        <p:nvSpPr>
          <p:cNvPr id="1258" name="Google Shape;1258;p67"/>
          <p:cNvSpPr/>
          <p:nvPr/>
        </p:nvSpPr>
        <p:spPr>
          <a:xfrm>
            <a:off x="6602050" y="3744525"/>
            <a:ext cx="2226900" cy="524700"/>
          </a:xfrm>
          <a:prstGeom prst="foldedCorner">
            <a:avLst>
              <a:gd fmla="val 16667" name="adj"/>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t>forall g in graphics:</a:t>
            </a:r>
            <a:endParaRPr/>
          </a:p>
          <a:p>
            <a:pPr indent="0" lvl="0" marL="0" rtl="0" algn="l">
              <a:spcBef>
                <a:spcPts val="0"/>
              </a:spcBef>
              <a:spcAft>
                <a:spcPts val="0"/>
              </a:spcAft>
              <a:buNone/>
            </a:pPr>
            <a:r>
              <a:rPr lang="en-GB"/>
              <a:t>  g.Draw()</a:t>
            </a:r>
            <a:endParaRPr/>
          </a:p>
        </p:txBody>
      </p:sp>
      <p:cxnSp>
        <p:nvCxnSpPr>
          <p:cNvPr id="1259" name="Google Shape;1259;p67"/>
          <p:cNvCxnSpPr/>
          <p:nvPr/>
        </p:nvCxnSpPr>
        <p:spPr>
          <a:xfrm>
            <a:off x="4785225" y="3914380"/>
            <a:ext cx="1797000" cy="0"/>
          </a:xfrm>
          <a:prstGeom prst="straightConnector1">
            <a:avLst/>
          </a:prstGeom>
          <a:noFill/>
          <a:ln cap="flat" cmpd="sng" w="9525">
            <a:solidFill>
              <a:schemeClr val="dk2"/>
            </a:solidFill>
            <a:prstDash val="dash"/>
            <a:round/>
            <a:headEnd len="med" w="med" type="oval"/>
            <a:tailEnd len="med" w="med" type="none"/>
          </a:ln>
        </p:spPr>
      </p:cxnSp>
      <p:sp>
        <p:nvSpPr>
          <p:cNvPr id="1260" name="Google Shape;1260;p67"/>
          <p:cNvSpPr/>
          <p:nvPr/>
        </p:nvSpPr>
        <p:spPr>
          <a:xfrm>
            <a:off x="2257000" y="2626490"/>
            <a:ext cx="169800" cy="1596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61" name="Google Shape;1261;p67"/>
          <p:cNvSpPr/>
          <p:nvPr/>
        </p:nvSpPr>
        <p:spPr>
          <a:xfrm>
            <a:off x="2866600" y="2626490"/>
            <a:ext cx="169800" cy="1596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62" name="Google Shape;1262;p67"/>
          <p:cNvSpPr/>
          <p:nvPr/>
        </p:nvSpPr>
        <p:spPr>
          <a:xfrm>
            <a:off x="3323800" y="2626490"/>
            <a:ext cx="169800" cy="1596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63" name="Google Shape;1263;p67"/>
          <p:cNvSpPr/>
          <p:nvPr/>
        </p:nvSpPr>
        <p:spPr>
          <a:xfrm>
            <a:off x="3704800" y="2626490"/>
            <a:ext cx="169800" cy="1596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264" name="Google Shape;1264;p67"/>
          <p:cNvCxnSpPr>
            <a:stCxn id="1247" idx="0"/>
            <a:endCxn id="1260" idx="3"/>
          </p:cNvCxnSpPr>
          <p:nvPr/>
        </p:nvCxnSpPr>
        <p:spPr>
          <a:xfrm rot="-5400000">
            <a:off x="1303108" y="2388825"/>
            <a:ext cx="641700" cy="1436100"/>
          </a:xfrm>
          <a:prstGeom prst="bentConnector3">
            <a:avLst>
              <a:gd fmla="val 49995" name="adj1"/>
            </a:avLst>
          </a:prstGeom>
          <a:noFill/>
          <a:ln cap="flat" cmpd="sng" w="9525">
            <a:solidFill>
              <a:schemeClr val="dk2"/>
            </a:solidFill>
            <a:prstDash val="solid"/>
            <a:round/>
            <a:headEnd len="med" w="med" type="none"/>
            <a:tailEnd len="med" w="med" type="none"/>
          </a:ln>
        </p:spPr>
      </p:cxnSp>
      <p:cxnSp>
        <p:nvCxnSpPr>
          <p:cNvPr id="1265" name="Google Shape;1265;p67"/>
          <p:cNvCxnSpPr>
            <a:stCxn id="1253" idx="0"/>
            <a:endCxn id="1263" idx="3"/>
          </p:cNvCxnSpPr>
          <p:nvPr/>
        </p:nvCxnSpPr>
        <p:spPr>
          <a:xfrm flipH="1" rot="5400000">
            <a:off x="4071817" y="2504022"/>
            <a:ext cx="641700" cy="1205700"/>
          </a:xfrm>
          <a:prstGeom prst="bentConnector3">
            <a:avLst>
              <a:gd fmla="val 49995" name="adj1"/>
            </a:avLst>
          </a:prstGeom>
          <a:noFill/>
          <a:ln cap="flat" cmpd="sng" w="9525">
            <a:solidFill>
              <a:schemeClr val="dk2"/>
            </a:solidFill>
            <a:prstDash val="solid"/>
            <a:round/>
            <a:headEnd len="med" w="med" type="none"/>
            <a:tailEnd len="med" w="med" type="none"/>
          </a:ln>
        </p:spPr>
      </p:cxnSp>
      <p:cxnSp>
        <p:nvCxnSpPr>
          <p:cNvPr id="1266" name="Google Shape;1266;p67"/>
          <p:cNvCxnSpPr>
            <a:stCxn id="1251" idx="0"/>
            <a:endCxn id="1262" idx="3"/>
          </p:cNvCxnSpPr>
          <p:nvPr/>
        </p:nvCxnSpPr>
        <p:spPr>
          <a:xfrm rot="-5400000">
            <a:off x="3085603" y="3104625"/>
            <a:ext cx="641700" cy="4500"/>
          </a:xfrm>
          <a:prstGeom prst="bentConnector3">
            <a:avLst>
              <a:gd fmla="val 49995" name="adj1"/>
            </a:avLst>
          </a:prstGeom>
          <a:noFill/>
          <a:ln cap="flat" cmpd="sng" w="9525">
            <a:solidFill>
              <a:schemeClr val="dk2"/>
            </a:solidFill>
            <a:prstDash val="solid"/>
            <a:round/>
            <a:headEnd len="med" w="med" type="none"/>
            <a:tailEnd len="med" w="med" type="none"/>
          </a:ln>
        </p:spPr>
      </p:cxnSp>
      <p:sp>
        <p:nvSpPr>
          <p:cNvPr id="1267" name="Google Shape;1267;p67"/>
          <p:cNvSpPr txBox="1"/>
          <p:nvPr/>
        </p:nvSpPr>
        <p:spPr>
          <a:xfrm>
            <a:off x="4192926" y="1437675"/>
            <a:ext cx="871500" cy="32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a:t>
            </a:r>
            <a:endParaRPr>
              <a:solidFill>
                <a:schemeClr val="dk2"/>
              </a:solidFill>
            </a:endParaRPr>
          </a:p>
        </p:txBody>
      </p:sp>
      <p:cxnSp>
        <p:nvCxnSpPr>
          <p:cNvPr id="1268" name="Google Shape;1268;p67"/>
          <p:cNvCxnSpPr>
            <a:stCxn id="1249" idx="0"/>
            <a:endCxn id="1261" idx="3"/>
          </p:cNvCxnSpPr>
          <p:nvPr/>
        </p:nvCxnSpPr>
        <p:spPr>
          <a:xfrm rot="-5400000">
            <a:off x="2214509" y="2690625"/>
            <a:ext cx="641700" cy="832500"/>
          </a:xfrm>
          <a:prstGeom prst="bentConnector3">
            <a:avLst>
              <a:gd fmla="val 37592" name="adj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2" name="Shape 1272"/>
        <p:cNvGrpSpPr/>
        <p:nvPr/>
      </p:nvGrpSpPr>
      <p:grpSpPr>
        <a:xfrm>
          <a:off x="0" y="0"/>
          <a:ext cx="0" cy="0"/>
          <a:chOff x="0" y="0"/>
          <a:chExt cx="0" cy="0"/>
        </a:xfrm>
      </p:grpSpPr>
      <p:sp>
        <p:nvSpPr>
          <p:cNvPr id="1273" name="Google Shape;1273;p68"/>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Hợp chất</a:t>
            </a:r>
            <a:endParaRPr/>
          </a:p>
        </p:txBody>
      </p:sp>
      <p:sp>
        <p:nvSpPr>
          <p:cNvPr id="1274" name="Google Shape;1274;p6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275" name="Google Shape;1275;p68"/>
          <p:cNvSpPr txBox="1"/>
          <p:nvPr/>
        </p:nvSpPr>
        <p:spPr>
          <a:xfrm>
            <a:off x="339325" y="1098350"/>
            <a:ext cx="8493000" cy="52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400">
                <a:solidFill>
                  <a:srgbClr val="666666"/>
                </a:solidFill>
              </a:rPr>
              <a:t>Vẽ sơ đồ đối tượng theo mẫu hợp chất cho bản vẽ như sau:</a:t>
            </a:r>
            <a:endParaRPr sz="2400">
              <a:solidFill>
                <a:srgbClr val="666666"/>
              </a:solidFill>
            </a:endParaRPr>
          </a:p>
        </p:txBody>
      </p:sp>
      <p:sp>
        <p:nvSpPr>
          <p:cNvPr id="1276" name="Google Shape;1276;p68"/>
          <p:cNvSpPr/>
          <p:nvPr/>
        </p:nvSpPr>
        <p:spPr>
          <a:xfrm>
            <a:off x="1366250" y="1946675"/>
            <a:ext cx="6179100" cy="1964400"/>
          </a:xfrm>
          <a:prstGeom prst="rect">
            <a:avLst/>
          </a:prstGeom>
          <a:solidFill>
            <a:srgbClr val="F3F3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77" name="Google Shape;1277;p68"/>
          <p:cNvSpPr txBox="1"/>
          <p:nvPr/>
        </p:nvSpPr>
        <p:spPr>
          <a:xfrm>
            <a:off x="1589201" y="1999100"/>
            <a:ext cx="585300" cy="43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solidFill>
                  <a:srgbClr val="666666"/>
                </a:solidFill>
              </a:rPr>
              <a:t>b</a:t>
            </a:r>
            <a:endParaRPr b="1" sz="1800">
              <a:solidFill>
                <a:srgbClr val="666666"/>
              </a:solidFill>
            </a:endParaRPr>
          </a:p>
        </p:txBody>
      </p:sp>
      <p:sp>
        <p:nvSpPr>
          <p:cNvPr id="1278" name="Google Shape;1278;p68"/>
          <p:cNvSpPr/>
          <p:nvPr/>
        </p:nvSpPr>
        <p:spPr>
          <a:xfrm>
            <a:off x="1794875" y="2436800"/>
            <a:ext cx="1464600" cy="7635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79" name="Google Shape;1279;p68"/>
          <p:cNvSpPr/>
          <p:nvPr/>
        </p:nvSpPr>
        <p:spPr>
          <a:xfrm>
            <a:off x="4170175" y="2445725"/>
            <a:ext cx="2687700" cy="1134000"/>
          </a:xfrm>
          <a:prstGeom prst="flowChartAlternateProcess">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80" name="Google Shape;1280;p68"/>
          <p:cNvSpPr/>
          <p:nvPr/>
        </p:nvSpPr>
        <p:spPr>
          <a:xfrm>
            <a:off x="4464850" y="2624325"/>
            <a:ext cx="759000" cy="633900"/>
          </a:xfrm>
          <a:prstGeom prst="triangl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81" name="Google Shape;1281;p68"/>
          <p:cNvSpPr/>
          <p:nvPr/>
        </p:nvSpPr>
        <p:spPr>
          <a:xfrm>
            <a:off x="5831100" y="2677900"/>
            <a:ext cx="705300" cy="562500"/>
          </a:xfrm>
          <a:prstGeom prst="triangl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82" name="Google Shape;1282;p68"/>
          <p:cNvSpPr txBox="1"/>
          <p:nvPr/>
        </p:nvSpPr>
        <p:spPr>
          <a:xfrm>
            <a:off x="2174501" y="2599700"/>
            <a:ext cx="548700" cy="43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solidFill>
                  <a:srgbClr val="666666"/>
                </a:solidFill>
              </a:rPr>
              <a:t>e</a:t>
            </a:r>
            <a:endParaRPr b="1" sz="1800">
              <a:solidFill>
                <a:srgbClr val="666666"/>
              </a:solidFill>
            </a:endParaRPr>
          </a:p>
        </p:txBody>
      </p:sp>
      <p:sp>
        <p:nvSpPr>
          <p:cNvPr id="1283" name="Google Shape;1283;p68"/>
          <p:cNvSpPr txBox="1"/>
          <p:nvPr/>
        </p:nvSpPr>
        <p:spPr>
          <a:xfrm>
            <a:off x="4228926" y="2484200"/>
            <a:ext cx="548700" cy="43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solidFill>
                  <a:srgbClr val="666666"/>
                </a:solidFill>
              </a:rPr>
              <a:t>g</a:t>
            </a:r>
            <a:endParaRPr b="1" sz="1800">
              <a:solidFill>
                <a:srgbClr val="666666"/>
              </a:solidFill>
            </a:endParaRPr>
          </a:p>
        </p:txBody>
      </p:sp>
      <p:sp>
        <p:nvSpPr>
          <p:cNvPr id="1284" name="Google Shape;1284;p68"/>
          <p:cNvSpPr txBox="1"/>
          <p:nvPr/>
        </p:nvSpPr>
        <p:spPr>
          <a:xfrm>
            <a:off x="4668226" y="2749225"/>
            <a:ext cx="403800" cy="43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solidFill>
                  <a:srgbClr val="666666"/>
                </a:solidFill>
              </a:rPr>
              <a:t>t1</a:t>
            </a:r>
            <a:endParaRPr b="1" sz="1800">
              <a:solidFill>
                <a:srgbClr val="666666"/>
              </a:solidFill>
            </a:endParaRPr>
          </a:p>
        </p:txBody>
      </p:sp>
      <p:sp>
        <p:nvSpPr>
          <p:cNvPr id="1285" name="Google Shape;1285;p68"/>
          <p:cNvSpPr txBox="1"/>
          <p:nvPr/>
        </p:nvSpPr>
        <p:spPr>
          <a:xfrm>
            <a:off x="5981851" y="2793875"/>
            <a:ext cx="403800" cy="43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solidFill>
                  <a:srgbClr val="666666"/>
                </a:solidFill>
              </a:rPr>
              <a:t>t2</a:t>
            </a:r>
            <a:endParaRPr b="1" sz="1800">
              <a:solidFill>
                <a:srgbClr val="666666"/>
              </a:solidFill>
            </a:endParaRPr>
          </a:p>
        </p:txBody>
      </p:sp>
      <p:sp>
        <p:nvSpPr>
          <p:cNvPr id="1286" name="Google Shape;1286;p68"/>
          <p:cNvSpPr txBox="1"/>
          <p:nvPr/>
        </p:nvSpPr>
        <p:spPr>
          <a:xfrm>
            <a:off x="2928928" y="1982392"/>
            <a:ext cx="1428600" cy="391800"/>
          </a:xfrm>
          <a:prstGeom prst="rect">
            <a:avLst/>
          </a:prstGeom>
          <a:noFill/>
          <a:ln cap="flat" cmpd="sng" w="9525">
            <a:solidFill>
              <a:srgbClr val="434343"/>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GB">
                <a:solidFill>
                  <a:srgbClr val="666666"/>
                </a:solidFill>
              </a:rPr>
              <a:t>nhãn văn bản</a:t>
            </a:r>
            <a:endParaRPr b="1">
              <a:solidFill>
                <a:srgbClr val="666666"/>
              </a:solidFill>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0" name="Shape 1290"/>
        <p:cNvGrpSpPr/>
        <p:nvPr/>
      </p:nvGrpSpPr>
      <p:grpSpPr>
        <a:xfrm>
          <a:off x="0" y="0"/>
          <a:ext cx="0" cy="0"/>
          <a:chOff x="0" y="0"/>
          <a:chExt cx="0" cy="0"/>
        </a:xfrm>
      </p:grpSpPr>
      <p:sp>
        <p:nvSpPr>
          <p:cNvPr id="1291" name="Google Shape;1291;p69"/>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Lớp tô điểm</a:t>
            </a:r>
            <a:endParaRPr/>
          </a:p>
        </p:txBody>
      </p:sp>
      <p:sp>
        <p:nvSpPr>
          <p:cNvPr id="1292" name="Google Shape;1292;p69"/>
          <p:cNvSpPr txBox="1"/>
          <p:nvPr>
            <p:ph idx="1" type="body"/>
          </p:nvPr>
        </p:nvSpPr>
        <p:spPr>
          <a:xfrm>
            <a:off x="311700" y="950475"/>
            <a:ext cx="8520600" cy="54183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i="1" lang="en-GB"/>
              <a:t>Decorator</a:t>
            </a:r>
            <a:endParaRPr i="1"/>
          </a:p>
          <a:p>
            <a:pPr indent="0" lvl="0" marL="0" rtl="0" algn="just">
              <a:spcBef>
                <a:spcPts val="0"/>
              </a:spcBef>
              <a:spcAft>
                <a:spcPts val="0"/>
              </a:spcAft>
              <a:buNone/>
            </a:pPr>
            <a:r>
              <a:rPr lang="en-GB"/>
              <a:t>Bổ xung linh động các trách nhiệm cho đối tượng trong thời gian thực thi. Lớp tô điểm là một lựa chọn khác mềm dẻo hơn so với kế thừa để mở rộng chức năng.</a:t>
            </a:r>
            <a:endParaRPr/>
          </a:p>
        </p:txBody>
      </p:sp>
      <p:sp>
        <p:nvSpPr>
          <p:cNvPr id="1293" name="Google Shape;1293;p6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294" name="Google Shape;1294;p69"/>
          <p:cNvSpPr txBox="1"/>
          <p:nvPr/>
        </p:nvSpPr>
        <p:spPr>
          <a:xfrm>
            <a:off x="1159175" y="3982400"/>
            <a:ext cx="6950100" cy="67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400">
                <a:solidFill>
                  <a:srgbClr val="666666"/>
                </a:solidFill>
              </a:rPr>
              <a:t>Tượng thạch cao + Mầu =&gt; Tượng được tô mầu</a:t>
            </a:r>
            <a:endParaRPr sz="2400">
              <a:solidFill>
                <a:srgbClr val="666666"/>
              </a:solidFill>
            </a:endParaRPr>
          </a:p>
        </p:txBody>
      </p:sp>
      <p:sp>
        <p:nvSpPr>
          <p:cNvPr id="1295" name="Google Shape;1295;p69"/>
          <p:cNvSpPr txBox="1"/>
          <p:nvPr/>
        </p:nvSpPr>
        <p:spPr>
          <a:xfrm>
            <a:off x="4059075" y="4846550"/>
            <a:ext cx="894000" cy="52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400">
                <a:solidFill>
                  <a:srgbClr val="666666"/>
                </a:solidFill>
              </a:rPr>
              <a:t>…</a:t>
            </a:r>
            <a:endParaRPr sz="2400">
              <a:solidFill>
                <a:srgbClr val="666666"/>
              </a:solidFill>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9" name="Shape 1299"/>
        <p:cNvGrpSpPr/>
        <p:nvPr/>
      </p:nvGrpSpPr>
      <p:grpSpPr>
        <a:xfrm>
          <a:off x="0" y="0"/>
          <a:ext cx="0" cy="0"/>
          <a:chOff x="0" y="0"/>
          <a:chExt cx="0" cy="0"/>
        </a:xfrm>
      </p:grpSpPr>
      <p:sp>
        <p:nvSpPr>
          <p:cNvPr id="1300" name="Google Shape;1300;p70"/>
          <p:cNvSpPr/>
          <p:nvPr/>
        </p:nvSpPr>
        <p:spPr>
          <a:xfrm>
            <a:off x="3710183" y="2606950"/>
            <a:ext cx="22611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Lớp tô điểm</a:t>
            </a:r>
            <a:endParaRPr sz="1600"/>
          </a:p>
        </p:txBody>
      </p:sp>
      <p:sp>
        <p:nvSpPr>
          <p:cNvPr id="1301" name="Google Shape;1301;p70"/>
          <p:cNvSpPr/>
          <p:nvPr/>
        </p:nvSpPr>
        <p:spPr>
          <a:xfrm flipH="1" rot="10800000">
            <a:off x="5881511" y="5035548"/>
            <a:ext cx="2154000" cy="604500"/>
          </a:xfrm>
          <a:prstGeom prst="foldedCorner">
            <a:avLst>
              <a:gd fmla="val 25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2" name="Google Shape;1302;p70"/>
          <p:cNvSpPr txBox="1"/>
          <p:nvPr/>
        </p:nvSpPr>
        <p:spPr>
          <a:xfrm>
            <a:off x="5849825" y="5014375"/>
            <a:ext cx="2304900" cy="66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thành phần-&gt;Thao tác</a:t>
            </a:r>
            <a:r>
              <a:rPr lang="en-GB"/>
              <a:t>()</a:t>
            </a:r>
            <a:endParaRPr/>
          </a:p>
          <a:p>
            <a:pPr indent="0" lvl="0" marL="0" rtl="0" algn="l">
              <a:spcBef>
                <a:spcPts val="0"/>
              </a:spcBef>
              <a:spcAft>
                <a:spcPts val="0"/>
              </a:spcAft>
              <a:buNone/>
            </a:pPr>
            <a:r>
              <a:rPr lang="en-GB"/>
              <a:t>Hành vi thêm vào()</a:t>
            </a:r>
            <a:endParaRPr/>
          </a:p>
        </p:txBody>
      </p:sp>
      <p:sp>
        <p:nvSpPr>
          <p:cNvPr id="1303" name="Google Shape;1303;p70"/>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Lớp tô điểm: Cấu trúc</a:t>
            </a:r>
            <a:endParaRPr/>
          </a:p>
        </p:txBody>
      </p:sp>
      <p:sp>
        <p:nvSpPr>
          <p:cNvPr id="1304" name="Google Shape;1304;p7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305" name="Google Shape;1305;p70"/>
          <p:cNvSpPr/>
          <p:nvPr/>
        </p:nvSpPr>
        <p:spPr>
          <a:xfrm>
            <a:off x="3187219" y="1311550"/>
            <a:ext cx="12915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i="1" lang="en-GB" sz="1600"/>
              <a:t>Thành phần</a:t>
            </a:r>
            <a:endParaRPr i="1" sz="1600"/>
          </a:p>
        </p:txBody>
      </p:sp>
      <p:sp>
        <p:nvSpPr>
          <p:cNvPr id="1306" name="Google Shape;1306;p70"/>
          <p:cNvSpPr/>
          <p:nvPr/>
        </p:nvSpPr>
        <p:spPr>
          <a:xfrm>
            <a:off x="3187219" y="1633778"/>
            <a:ext cx="12915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l">
              <a:spcBef>
                <a:spcPts val="0"/>
              </a:spcBef>
              <a:spcAft>
                <a:spcPts val="0"/>
              </a:spcAft>
              <a:buNone/>
            </a:pPr>
            <a:r>
              <a:rPr i="1" lang="en-GB" sz="1600"/>
              <a:t>Thao tác</a:t>
            </a:r>
            <a:r>
              <a:rPr i="1" lang="en-GB" sz="1600"/>
              <a:t>()</a:t>
            </a:r>
            <a:endParaRPr i="1" sz="1600"/>
          </a:p>
        </p:txBody>
      </p:sp>
      <p:sp>
        <p:nvSpPr>
          <p:cNvPr id="1307" name="Google Shape;1307;p70"/>
          <p:cNvSpPr/>
          <p:nvPr/>
        </p:nvSpPr>
        <p:spPr>
          <a:xfrm>
            <a:off x="1605699" y="2606950"/>
            <a:ext cx="18996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Thành phần Cụ thể</a:t>
            </a:r>
            <a:endParaRPr sz="1600"/>
          </a:p>
        </p:txBody>
      </p:sp>
      <p:sp>
        <p:nvSpPr>
          <p:cNvPr id="1308" name="Google Shape;1308;p70"/>
          <p:cNvSpPr/>
          <p:nvPr/>
        </p:nvSpPr>
        <p:spPr>
          <a:xfrm>
            <a:off x="3518472" y="1967342"/>
            <a:ext cx="191700" cy="1047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9" name="Google Shape;1309;p70"/>
          <p:cNvSpPr/>
          <p:nvPr/>
        </p:nvSpPr>
        <p:spPr>
          <a:xfrm>
            <a:off x="5957836" y="2713678"/>
            <a:ext cx="191700" cy="117050"/>
          </a:xfrm>
          <a:prstGeom prst="flowChartDecision">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0" name="Google Shape;1310;p70"/>
          <p:cNvSpPr/>
          <p:nvPr/>
        </p:nvSpPr>
        <p:spPr>
          <a:xfrm>
            <a:off x="3710175" y="2929175"/>
            <a:ext cx="2261100" cy="6606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lang="en-GB" sz="1600"/>
              <a:t>Tiếp nhận(Thành phần)</a:t>
            </a:r>
            <a:endParaRPr sz="1600"/>
          </a:p>
          <a:p>
            <a:pPr indent="0" lvl="0" marL="0" rtl="0" algn="l">
              <a:spcBef>
                <a:spcPts val="0"/>
              </a:spcBef>
              <a:spcAft>
                <a:spcPts val="0"/>
              </a:spcAft>
              <a:buNone/>
            </a:pPr>
            <a:r>
              <a:rPr lang="en-GB" sz="1600"/>
              <a:t>Thao tác()</a:t>
            </a:r>
            <a:endParaRPr sz="1600"/>
          </a:p>
        </p:txBody>
      </p:sp>
      <p:sp>
        <p:nvSpPr>
          <p:cNvPr id="1311" name="Google Shape;1311;p70"/>
          <p:cNvSpPr/>
          <p:nvPr/>
        </p:nvSpPr>
        <p:spPr>
          <a:xfrm>
            <a:off x="4459014" y="3596221"/>
            <a:ext cx="191700" cy="1047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2" name="Google Shape;1312;p70"/>
          <p:cNvSpPr/>
          <p:nvPr/>
        </p:nvSpPr>
        <p:spPr>
          <a:xfrm>
            <a:off x="5221014" y="3596221"/>
            <a:ext cx="191700" cy="1047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313" name="Google Shape;1313;p70"/>
          <p:cNvCxnSpPr>
            <a:stCxn id="1307" idx="0"/>
            <a:endCxn id="1308" idx="3"/>
          </p:cNvCxnSpPr>
          <p:nvPr/>
        </p:nvCxnSpPr>
        <p:spPr>
          <a:xfrm rot="-5400000">
            <a:off x="2817399" y="1810150"/>
            <a:ext cx="534900" cy="1058700"/>
          </a:xfrm>
          <a:prstGeom prst="bentConnector3">
            <a:avLst>
              <a:gd fmla="val 50001" name="adj1"/>
            </a:avLst>
          </a:prstGeom>
          <a:noFill/>
          <a:ln cap="flat" cmpd="sng" w="9525">
            <a:solidFill>
              <a:schemeClr val="dk2"/>
            </a:solidFill>
            <a:prstDash val="solid"/>
            <a:round/>
            <a:headEnd len="med" w="med" type="none"/>
            <a:tailEnd len="med" w="med" type="none"/>
          </a:ln>
        </p:spPr>
      </p:cxnSp>
      <p:sp>
        <p:nvSpPr>
          <p:cNvPr id="1314" name="Google Shape;1314;p70"/>
          <p:cNvSpPr/>
          <p:nvPr/>
        </p:nvSpPr>
        <p:spPr>
          <a:xfrm>
            <a:off x="3899472" y="1967342"/>
            <a:ext cx="191700" cy="1047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5" name="Google Shape;1315;p70"/>
          <p:cNvSpPr/>
          <p:nvPr/>
        </p:nvSpPr>
        <p:spPr>
          <a:xfrm>
            <a:off x="1605699" y="2929178"/>
            <a:ext cx="18996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l">
              <a:spcBef>
                <a:spcPts val="0"/>
              </a:spcBef>
              <a:spcAft>
                <a:spcPts val="0"/>
              </a:spcAft>
              <a:buNone/>
            </a:pPr>
            <a:r>
              <a:rPr lang="en-GB" sz="1600"/>
              <a:t>Thao tác()</a:t>
            </a:r>
            <a:endParaRPr sz="1600"/>
          </a:p>
        </p:txBody>
      </p:sp>
      <p:cxnSp>
        <p:nvCxnSpPr>
          <p:cNvPr id="1316" name="Google Shape;1316;p70"/>
          <p:cNvCxnSpPr>
            <a:stCxn id="1300" idx="0"/>
            <a:endCxn id="1314" idx="3"/>
          </p:cNvCxnSpPr>
          <p:nvPr/>
        </p:nvCxnSpPr>
        <p:spPr>
          <a:xfrm flipH="1" rot="5400000">
            <a:off x="4150583" y="1916800"/>
            <a:ext cx="534900" cy="845400"/>
          </a:xfrm>
          <a:prstGeom prst="bentConnector3">
            <a:avLst>
              <a:gd fmla="val 50001" name="adj1"/>
            </a:avLst>
          </a:prstGeom>
          <a:noFill/>
          <a:ln cap="flat" cmpd="sng" w="9525">
            <a:solidFill>
              <a:schemeClr val="dk2"/>
            </a:solidFill>
            <a:prstDash val="solid"/>
            <a:round/>
            <a:headEnd len="med" w="med" type="none"/>
            <a:tailEnd len="med" w="med" type="none"/>
          </a:ln>
        </p:spPr>
      </p:cxnSp>
      <p:sp>
        <p:nvSpPr>
          <p:cNvPr id="1317" name="Google Shape;1317;p70"/>
          <p:cNvSpPr/>
          <p:nvPr/>
        </p:nvSpPr>
        <p:spPr>
          <a:xfrm>
            <a:off x="2364800" y="4054750"/>
            <a:ext cx="21138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Lớp tô điểm A</a:t>
            </a:r>
            <a:endParaRPr sz="1600"/>
          </a:p>
        </p:txBody>
      </p:sp>
      <p:sp>
        <p:nvSpPr>
          <p:cNvPr id="1318" name="Google Shape;1318;p70"/>
          <p:cNvSpPr/>
          <p:nvPr/>
        </p:nvSpPr>
        <p:spPr>
          <a:xfrm>
            <a:off x="2364800" y="4376975"/>
            <a:ext cx="21138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l">
              <a:spcBef>
                <a:spcPts val="0"/>
              </a:spcBef>
              <a:spcAft>
                <a:spcPts val="0"/>
              </a:spcAft>
              <a:buNone/>
            </a:pPr>
            <a:r>
              <a:rPr lang="en-GB" sz="1600"/>
              <a:t>Thao tác</a:t>
            </a:r>
            <a:r>
              <a:rPr lang="en-GB" sz="1600"/>
              <a:t>()</a:t>
            </a:r>
            <a:endParaRPr sz="1600"/>
          </a:p>
        </p:txBody>
      </p:sp>
      <p:sp>
        <p:nvSpPr>
          <p:cNvPr id="1319" name="Google Shape;1319;p70"/>
          <p:cNvSpPr/>
          <p:nvPr/>
        </p:nvSpPr>
        <p:spPr>
          <a:xfrm>
            <a:off x="5380300" y="4054750"/>
            <a:ext cx="21138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Lớp tô điểm B</a:t>
            </a:r>
            <a:endParaRPr sz="1600"/>
          </a:p>
        </p:txBody>
      </p:sp>
      <p:sp>
        <p:nvSpPr>
          <p:cNvPr id="1320" name="Google Shape;1320;p70"/>
          <p:cNvSpPr/>
          <p:nvPr/>
        </p:nvSpPr>
        <p:spPr>
          <a:xfrm>
            <a:off x="5380300" y="4376975"/>
            <a:ext cx="21138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l">
              <a:spcBef>
                <a:spcPts val="0"/>
              </a:spcBef>
              <a:spcAft>
                <a:spcPts val="0"/>
              </a:spcAft>
              <a:buNone/>
            </a:pPr>
            <a:r>
              <a:rPr lang="en-GB" sz="1600"/>
              <a:t>Thao tác</a:t>
            </a:r>
            <a:r>
              <a:rPr lang="en-GB" sz="1600"/>
              <a:t>()</a:t>
            </a:r>
            <a:endParaRPr sz="1600"/>
          </a:p>
        </p:txBody>
      </p:sp>
      <p:cxnSp>
        <p:nvCxnSpPr>
          <p:cNvPr id="1321" name="Google Shape;1321;p70"/>
          <p:cNvCxnSpPr>
            <a:stCxn id="1309" idx="3"/>
            <a:endCxn id="1305" idx="3"/>
          </p:cNvCxnSpPr>
          <p:nvPr/>
        </p:nvCxnSpPr>
        <p:spPr>
          <a:xfrm rot="10800000">
            <a:off x="4478836" y="1472903"/>
            <a:ext cx="1670700" cy="1299300"/>
          </a:xfrm>
          <a:prstGeom prst="bentConnector3">
            <a:avLst>
              <a:gd fmla="val -14253" name="adj1"/>
            </a:avLst>
          </a:prstGeom>
          <a:noFill/>
          <a:ln cap="flat" cmpd="sng" w="9525">
            <a:solidFill>
              <a:schemeClr val="dk2"/>
            </a:solidFill>
            <a:prstDash val="solid"/>
            <a:round/>
            <a:headEnd len="med" w="med" type="none"/>
            <a:tailEnd len="med" w="med" type="none"/>
          </a:ln>
        </p:spPr>
      </p:cxnSp>
      <p:cxnSp>
        <p:nvCxnSpPr>
          <p:cNvPr id="1322" name="Google Shape;1322;p70"/>
          <p:cNvCxnSpPr>
            <a:stCxn id="1317" idx="0"/>
            <a:endCxn id="1311" idx="3"/>
          </p:cNvCxnSpPr>
          <p:nvPr/>
        </p:nvCxnSpPr>
        <p:spPr>
          <a:xfrm rot="-5400000">
            <a:off x="3811400" y="3311350"/>
            <a:ext cx="353700" cy="1133100"/>
          </a:xfrm>
          <a:prstGeom prst="bentConnector3">
            <a:avLst>
              <a:gd fmla="val 50018" name="adj1"/>
            </a:avLst>
          </a:prstGeom>
          <a:noFill/>
          <a:ln cap="flat" cmpd="sng" w="9525">
            <a:solidFill>
              <a:schemeClr val="dk2"/>
            </a:solidFill>
            <a:prstDash val="solid"/>
            <a:round/>
            <a:headEnd len="med" w="med" type="none"/>
            <a:tailEnd len="med" w="med" type="none"/>
          </a:ln>
        </p:spPr>
      </p:cxnSp>
      <p:cxnSp>
        <p:nvCxnSpPr>
          <p:cNvPr id="1323" name="Google Shape;1323;p70"/>
          <p:cNvCxnSpPr>
            <a:stCxn id="1319" idx="0"/>
            <a:endCxn id="1312" idx="3"/>
          </p:cNvCxnSpPr>
          <p:nvPr/>
        </p:nvCxnSpPr>
        <p:spPr>
          <a:xfrm flipH="1" rot="5400000">
            <a:off x="5700250" y="3317800"/>
            <a:ext cx="353700" cy="1120200"/>
          </a:xfrm>
          <a:prstGeom prst="bentConnector3">
            <a:avLst>
              <a:gd fmla="val 50018" name="adj1"/>
            </a:avLst>
          </a:prstGeom>
          <a:noFill/>
          <a:ln cap="flat" cmpd="sng" w="9525">
            <a:solidFill>
              <a:schemeClr val="dk2"/>
            </a:solidFill>
            <a:prstDash val="solid"/>
            <a:round/>
            <a:headEnd len="med" w="med" type="none"/>
            <a:tailEnd len="med" w="med" type="none"/>
          </a:ln>
        </p:spPr>
      </p:cxnSp>
      <p:sp>
        <p:nvSpPr>
          <p:cNvPr id="1324" name="Google Shape;1324;p70"/>
          <p:cNvSpPr txBox="1"/>
          <p:nvPr/>
        </p:nvSpPr>
        <p:spPr>
          <a:xfrm>
            <a:off x="4437700" y="1111800"/>
            <a:ext cx="1201200" cy="37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thành phần</a:t>
            </a:r>
            <a:endParaRPr/>
          </a:p>
        </p:txBody>
      </p:sp>
      <p:cxnSp>
        <p:nvCxnSpPr>
          <p:cNvPr id="1325" name="Google Shape;1325;p70"/>
          <p:cNvCxnSpPr/>
          <p:nvPr/>
        </p:nvCxnSpPr>
        <p:spPr>
          <a:xfrm>
            <a:off x="6112650" y="4655375"/>
            <a:ext cx="0" cy="374700"/>
          </a:xfrm>
          <a:prstGeom prst="straightConnector1">
            <a:avLst/>
          </a:prstGeom>
          <a:noFill/>
          <a:ln cap="flat" cmpd="sng" w="9525">
            <a:solidFill>
              <a:schemeClr val="dk2"/>
            </a:solidFill>
            <a:prstDash val="dash"/>
            <a:round/>
            <a:headEnd len="med" w="med" type="none"/>
            <a:tailEnd len="med" w="med" type="none"/>
          </a:ln>
        </p:spPr>
      </p:cxnSp>
      <p:sp>
        <p:nvSpPr>
          <p:cNvPr id="1326" name="Google Shape;1326;p70"/>
          <p:cNvSpPr txBox="1"/>
          <p:nvPr/>
        </p:nvSpPr>
        <p:spPr>
          <a:xfrm>
            <a:off x="4439923" y="1361626"/>
            <a:ext cx="374400" cy="32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1</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0" name="Shape 1330"/>
        <p:cNvGrpSpPr/>
        <p:nvPr/>
      </p:nvGrpSpPr>
      <p:grpSpPr>
        <a:xfrm>
          <a:off x="0" y="0"/>
          <a:ext cx="0" cy="0"/>
          <a:chOff x="0" y="0"/>
          <a:chExt cx="0" cy="0"/>
        </a:xfrm>
      </p:grpSpPr>
      <p:sp>
        <p:nvSpPr>
          <p:cNvPr id="1331" name="Google Shape;1331;p71"/>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Lớp</a:t>
            </a:r>
            <a:r>
              <a:rPr lang="en-GB"/>
              <a:t> </a:t>
            </a:r>
            <a:r>
              <a:rPr lang="en-GB"/>
              <a:t>tô điểm</a:t>
            </a:r>
            <a:r>
              <a:rPr lang="en-GB"/>
              <a:t>: </a:t>
            </a:r>
            <a:r>
              <a:rPr lang="en-GB"/>
              <a:t>Hành vi</a:t>
            </a:r>
            <a:endParaRPr/>
          </a:p>
        </p:txBody>
      </p:sp>
      <p:sp>
        <p:nvSpPr>
          <p:cNvPr id="1332" name="Google Shape;1332;p7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333" name="Google Shape;1333;p71"/>
          <p:cNvSpPr/>
          <p:nvPr/>
        </p:nvSpPr>
        <p:spPr>
          <a:xfrm>
            <a:off x="1695351" y="1064500"/>
            <a:ext cx="22893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u="sng"/>
              <a:t>b</a:t>
            </a:r>
            <a:r>
              <a:rPr lang="en-GB" sz="1600" u="sng"/>
              <a:t>:</a:t>
            </a:r>
            <a:r>
              <a:rPr lang="en-GB" sz="1600" u="sng"/>
              <a:t>Lớp tô điểm B</a:t>
            </a:r>
            <a:endParaRPr sz="1600" u="sng"/>
          </a:p>
        </p:txBody>
      </p:sp>
      <p:sp>
        <p:nvSpPr>
          <p:cNvPr id="1334" name="Google Shape;1334;p71"/>
          <p:cNvSpPr/>
          <p:nvPr/>
        </p:nvSpPr>
        <p:spPr>
          <a:xfrm>
            <a:off x="4080700" y="1064500"/>
            <a:ext cx="22893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u="sng"/>
              <a:t>a:Lớp tô điểm A</a:t>
            </a:r>
            <a:endParaRPr sz="1600" u="sng"/>
          </a:p>
        </p:txBody>
      </p:sp>
      <p:cxnSp>
        <p:nvCxnSpPr>
          <p:cNvPr id="1335" name="Google Shape;1335;p71"/>
          <p:cNvCxnSpPr/>
          <p:nvPr/>
        </p:nvCxnSpPr>
        <p:spPr>
          <a:xfrm>
            <a:off x="2869500" y="1387000"/>
            <a:ext cx="2700" cy="4634700"/>
          </a:xfrm>
          <a:prstGeom prst="straightConnector1">
            <a:avLst/>
          </a:prstGeom>
          <a:noFill/>
          <a:ln cap="flat" cmpd="sng" w="9525">
            <a:solidFill>
              <a:schemeClr val="dk2"/>
            </a:solidFill>
            <a:prstDash val="dash"/>
            <a:round/>
            <a:headEnd len="med" w="med" type="none"/>
            <a:tailEnd len="med" w="med" type="none"/>
          </a:ln>
        </p:spPr>
      </p:cxnSp>
      <p:cxnSp>
        <p:nvCxnSpPr>
          <p:cNvPr id="1336" name="Google Shape;1336;p71"/>
          <p:cNvCxnSpPr/>
          <p:nvPr/>
        </p:nvCxnSpPr>
        <p:spPr>
          <a:xfrm>
            <a:off x="5384100" y="1387000"/>
            <a:ext cx="0" cy="4590900"/>
          </a:xfrm>
          <a:prstGeom prst="straightConnector1">
            <a:avLst/>
          </a:prstGeom>
          <a:noFill/>
          <a:ln cap="flat" cmpd="sng" w="9525">
            <a:solidFill>
              <a:schemeClr val="dk2"/>
            </a:solidFill>
            <a:prstDash val="dash"/>
            <a:round/>
            <a:headEnd len="med" w="med" type="none"/>
            <a:tailEnd len="med" w="med" type="none"/>
          </a:ln>
        </p:spPr>
      </p:cxnSp>
      <p:sp>
        <p:nvSpPr>
          <p:cNvPr id="1337" name="Google Shape;1337;p71"/>
          <p:cNvSpPr/>
          <p:nvPr/>
        </p:nvSpPr>
        <p:spPr>
          <a:xfrm>
            <a:off x="6508125" y="1064500"/>
            <a:ext cx="19644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u="sng"/>
              <a:t>c</a:t>
            </a:r>
            <a:r>
              <a:rPr lang="en-GB" sz="1600" u="sng"/>
              <a:t>:</a:t>
            </a:r>
            <a:r>
              <a:rPr lang="en-GB" sz="1600" u="sng"/>
              <a:t>Thành phần cụ thể</a:t>
            </a:r>
            <a:endParaRPr sz="1600" u="sng"/>
          </a:p>
        </p:txBody>
      </p:sp>
      <p:cxnSp>
        <p:nvCxnSpPr>
          <p:cNvPr id="1338" name="Google Shape;1338;p71"/>
          <p:cNvCxnSpPr/>
          <p:nvPr/>
        </p:nvCxnSpPr>
        <p:spPr>
          <a:xfrm>
            <a:off x="7517700" y="1387000"/>
            <a:ext cx="0" cy="4590900"/>
          </a:xfrm>
          <a:prstGeom prst="straightConnector1">
            <a:avLst/>
          </a:prstGeom>
          <a:noFill/>
          <a:ln cap="flat" cmpd="sng" w="9525">
            <a:solidFill>
              <a:schemeClr val="dk2"/>
            </a:solidFill>
            <a:prstDash val="dash"/>
            <a:round/>
            <a:headEnd len="med" w="med" type="none"/>
            <a:tailEnd len="med" w="med" type="none"/>
          </a:ln>
        </p:spPr>
      </p:cxnSp>
      <p:sp>
        <p:nvSpPr>
          <p:cNvPr id="1339" name="Google Shape;1339;p71"/>
          <p:cNvSpPr/>
          <p:nvPr/>
        </p:nvSpPr>
        <p:spPr>
          <a:xfrm>
            <a:off x="5313100" y="1782696"/>
            <a:ext cx="152700" cy="4140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40" name="Google Shape;1340;p71"/>
          <p:cNvSpPr txBox="1"/>
          <p:nvPr/>
        </p:nvSpPr>
        <p:spPr>
          <a:xfrm>
            <a:off x="2894015" y="1451890"/>
            <a:ext cx="1442400" cy="41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rPr>
              <a:t>Tiếp nhận</a:t>
            </a:r>
            <a:r>
              <a:rPr lang="en-GB" sz="1600">
                <a:solidFill>
                  <a:schemeClr val="dk2"/>
                </a:solidFill>
              </a:rPr>
              <a:t>(c)</a:t>
            </a:r>
            <a:endParaRPr sz="1600">
              <a:solidFill>
                <a:schemeClr val="dk2"/>
              </a:solidFill>
            </a:endParaRPr>
          </a:p>
        </p:txBody>
      </p:sp>
      <p:sp>
        <p:nvSpPr>
          <p:cNvPr id="1341" name="Google Shape;1341;p71"/>
          <p:cNvSpPr txBox="1"/>
          <p:nvPr/>
        </p:nvSpPr>
        <p:spPr>
          <a:xfrm>
            <a:off x="3420649" y="3833725"/>
            <a:ext cx="1291500" cy="41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rPr>
              <a:t>Thao tác()</a:t>
            </a:r>
            <a:endParaRPr sz="1600">
              <a:solidFill>
                <a:schemeClr val="dk2"/>
              </a:solidFill>
            </a:endParaRPr>
          </a:p>
        </p:txBody>
      </p:sp>
      <p:cxnSp>
        <p:nvCxnSpPr>
          <p:cNvPr id="1342" name="Google Shape;1342;p71"/>
          <p:cNvCxnSpPr>
            <a:stCxn id="1343" idx="6"/>
          </p:cNvCxnSpPr>
          <p:nvPr/>
        </p:nvCxnSpPr>
        <p:spPr>
          <a:xfrm flipH="1" rot="10800000">
            <a:off x="1462958" y="1861542"/>
            <a:ext cx="3829200" cy="10200"/>
          </a:xfrm>
          <a:prstGeom prst="straightConnector1">
            <a:avLst/>
          </a:prstGeom>
          <a:noFill/>
          <a:ln cap="flat" cmpd="sng" w="9525">
            <a:solidFill>
              <a:schemeClr val="dk2"/>
            </a:solidFill>
            <a:prstDash val="solid"/>
            <a:round/>
            <a:headEnd len="med" w="med" type="none"/>
            <a:tailEnd len="med" w="med" type="triangle"/>
          </a:ln>
        </p:spPr>
      </p:cxnSp>
      <p:sp>
        <p:nvSpPr>
          <p:cNvPr id="1344" name="Google Shape;1344;p71"/>
          <p:cNvSpPr/>
          <p:nvPr/>
        </p:nvSpPr>
        <p:spPr>
          <a:xfrm>
            <a:off x="2798500" y="2316096"/>
            <a:ext cx="152700" cy="4140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345" name="Google Shape;1345;p71"/>
          <p:cNvCxnSpPr>
            <a:stCxn id="1346" idx="6"/>
          </p:cNvCxnSpPr>
          <p:nvPr/>
        </p:nvCxnSpPr>
        <p:spPr>
          <a:xfrm flipH="1" rot="10800000">
            <a:off x="1462958" y="2471142"/>
            <a:ext cx="1339200" cy="10200"/>
          </a:xfrm>
          <a:prstGeom prst="straightConnector1">
            <a:avLst/>
          </a:prstGeom>
          <a:noFill/>
          <a:ln cap="flat" cmpd="sng" w="9525">
            <a:solidFill>
              <a:schemeClr val="dk2"/>
            </a:solidFill>
            <a:prstDash val="solid"/>
            <a:round/>
            <a:headEnd len="med" w="med" type="none"/>
            <a:tailEnd len="med" w="med" type="triangle"/>
          </a:ln>
        </p:spPr>
      </p:cxnSp>
      <p:sp>
        <p:nvSpPr>
          <p:cNvPr id="1347" name="Google Shape;1347;p71"/>
          <p:cNvSpPr txBox="1"/>
          <p:nvPr/>
        </p:nvSpPr>
        <p:spPr>
          <a:xfrm>
            <a:off x="1370015" y="2091569"/>
            <a:ext cx="1442400" cy="41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rPr>
              <a:t>Tiếp nhận</a:t>
            </a:r>
            <a:r>
              <a:rPr lang="en-GB" sz="1600">
                <a:solidFill>
                  <a:schemeClr val="dk2"/>
                </a:solidFill>
              </a:rPr>
              <a:t>(a)</a:t>
            </a:r>
            <a:endParaRPr sz="1600">
              <a:solidFill>
                <a:schemeClr val="dk2"/>
              </a:solidFill>
            </a:endParaRPr>
          </a:p>
        </p:txBody>
      </p:sp>
      <p:sp>
        <p:nvSpPr>
          <p:cNvPr id="1348" name="Google Shape;1348;p71"/>
          <p:cNvSpPr/>
          <p:nvPr/>
        </p:nvSpPr>
        <p:spPr>
          <a:xfrm>
            <a:off x="2798500" y="3078109"/>
            <a:ext cx="152700" cy="13563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349" name="Google Shape;1349;p71"/>
          <p:cNvCxnSpPr>
            <a:stCxn id="1350" idx="6"/>
          </p:cNvCxnSpPr>
          <p:nvPr/>
        </p:nvCxnSpPr>
        <p:spPr>
          <a:xfrm flipH="1" rot="10800000">
            <a:off x="1462958" y="3233016"/>
            <a:ext cx="1339200" cy="300"/>
          </a:xfrm>
          <a:prstGeom prst="straightConnector1">
            <a:avLst/>
          </a:prstGeom>
          <a:noFill/>
          <a:ln cap="flat" cmpd="sng" w="9525">
            <a:solidFill>
              <a:schemeClr val="dk2"/>
            </a:solidFill>
            <a:prstDash val="solid"/>
            <a:round/>
            <a:headEnd len="med" w="med" type="none"/>
            <a:tailEnd len="med" w="med" type="triangle"/>
          </a:ln>
        </p:spPr>
      </p:cxnSp>
      <p:sp>
        <p:nvSpPr>
          <p:cNvPr id="1351" name="Google Shape;1351;p71"/>
          <p:cNvSpPr txBox="1"/>
          <p:nvPr/>
        </p:nvSpPr>
        <p:spPr>
          <a:xfrm>
            <a:off x="1522415" y="2823490"/>
            <a:ext cx="1442400" cy="41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rPr>
              <a:t>Thao tác</a:t>
            </a:r>
            <a:r>
              <a:rPr lang="en-GB" sz="1600">
                <a:solidFill>
                  <a:schemeClr val="dk2"/>
                </a:solidFill>
              </a:rPr>
              <a:t>()</a:t>
            </a:r>
            <a:endParaRPr sz="1600">
              <a:solidFill>
                <a:schemeClr val="dk2"/>
              </a:solidFill>
            </a:endParaRPr>
          </a:p>
        </p:txBody>
      </p:sp>
      <p:sp>
        <p:nvSpPr>
          <p:cNvPr id="1352" name="Google Shape;1352;p71"/>
          <p:cNvSpPr/>
          <p:nvPr/>
        </p:nvSpPr>
        <p:spPr>
          <a:xfrm>
            <a:off x="2950900" y="3382896"/>
            <a:ext cx="152700" cy="4140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53" name="Google Shape;1353;p71"/>
          <p:cNvSpPr/>
          <p:nvPr/>
        </p:nvSpPr>
        <p:spPr>
          <a:xfrm>
            <a:off x="5313100" y="4068707"/>
            <a:ext cx="152700" cy="11643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354" name="Google Shape;1354;p71"/>
          <p:cNvCxnSpPr/>
          <p:nvPr/>
        </p:nvCxnSpPr>
        <p:spPr>
          <a:xfrm>
            <a:off x="2946450" y="4204725"/>
            <a:ext cx="2335800" cy="0"/>
          </a:xfrm>
          <a:prstGeom prst="straightConnector1">
            <a:avLst/>
          </a:prstGeom>
          <a:noFill/>
          <a:ln cap="flat" cmpd="sng" w="9525">
            <a:solidFill>
              <a:schemeClr val="dk2"/>
            </a:solidFill>
            <a:prstDash val="solid"/>
            <a:round/>
            <a:headEnd len="med" w="med" type="none"/>
            <a:tailEnd len="med" w="med" type="triangle"/>
          </a:ln>
        </p:spPr>
      </p:cxnSp>
      <p:sp>
        <p:nvSpPr>
          <p:cNvPr id="1355" name="Google Shape;1355;p71"/>
          <p:cNvSpPr/>
          <p:nvPr/>
        </p:nvSpPr>
        <p:spPr>
          <a:xfrm>
            <a:off x="5465500" y="4373496"/>
            <a:ext cx="152700" cy="4140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356" name="Google Shape;1356;p71"/>
          <p:cNvCxnSpPr/>
          <p:nvPr/>
        </p:nvCxnSpPr>
        <p:spPr>
          <a:xfrm>
            <a:off x="5479415" y="4137220"/>
            <a:ext cx="138900" cy="483300"/>
          </a:xfrm>
          <a:prstGeom prst="bentConnector3">
            <a:avLst>
              <a:gd fmla="val 271353" name="adj1"/>
            </a:avLst>
          </a:prstGeom>
          <a:noFill/>
          <a:ln cap="flat" cmpd="sng" w="9525">
            <a:solidFill>
              <a:schemeClr val="dk2"/>
            </a:solidFill>
            <a:prstDash val="solid"/>
            <a:round/>
            <a:headEnd len="med" w="med" type="none"/>
            <a:tailEnd len="med" w="med" type="triangle"/>
          </a:ln>
        </p:spPr>
      </p:cxnSp>
      <p:sp>
        <p:nvSpPr>
          <p:cNvPr id="1357" name="Google Shape;1357;p71"/>
          <p:cNvSpPr txBox="1"/>
          <p:nvPr/>
        </p:nvSpPr>
        <p:spPr>
          <a:xfrm>
            <a:off x="5782850" y="3797455"/>
            <a:ext cx="1225500" cy="61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rPr>
              <a:t>Hành vi thêm vào</a:t>
            </a:r>
            <a:endParaRPr sz="1600">
              <a:solidFill>
                <a:schemeClr val="dk2"/>
              </a:solidFill>
            </a:endParaRPr>
          </a:p>
        </p:txBody>
      </p:sp>
      <p:cxnSp>
        <p:nvCxnSpPr>
          <p:cNvPr id="1358" name="Google Shape;1358;p71"/>
          <p:cNvCxnSpPr/>
          <p:nvPr/>
        </p:nvCxnSpPr>
        <p:spPr>
          <a:xfrm>
            <a:off x="2964815" y="3182890"/>
            <a:ext cx="138900" cy="483300"/>
          </a:xfrm>
          <a:prstGeom prst="bentConnector3">
            <a:avLst>
              <a:gd fmla="val 271353" name="adj1"/>
            </a:avLst>
          </a:prstGeom>
          <a:noFill/>
          <a:ln cap="flat" cmpd="sng" w="9525">
            <a:solidFill>
              <a:schemeClr val="dk2"/>
            </a:solidFill>
            <a:prstDash val="solid"/>
            <a:round/>
            <a:headEnd len="med" w="med" type="none"/>
            <a:tailEnd len="med" w="med" type="triangle"/>
          </a:ln>
        </p:spPr>
      </p:cxnSp>
      <p:sp>
        <p:nvSpPr>
          <p:cNvPr id="1359" name="Google Shape;1359;p71"/>
          <p:cNvSpPr txBox="1"/>
          <p:nvPr/>
        </p:nvSpPr>
        <p:spPr>
          <a:xfrm>
            <a:off x="3268250" y="2843125"/>
            <a:ext cx="1225500" cy="61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rPr>
              <a:t>Hành vi thêm vào</a:t>
            </a:r>
            <a:endParaRPr sz="1600">
              <a:solidFill>
                <a:schemeClr val="dk2"/>
              </a:solidFill>
            </a:endParaRPr>
          </a:p>
        </p:txBody>
      </p:sp>
      <p:sp>
        <p:nvSpPr>
          <p:cNvPr id="1360" name="Google Shape;1360;p71"/>
          <p:cNvSpPr/>
          <p:nvPr/>
        </p:nvSpPr>
        <p:spPr>
          <a:xfrm>
            <a:off x="7446700" y="4830696"/>
            <a:ext cx="152700" cy="4140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361" name="Google Shape;1361;p71"/>
          <p:cNvCxnSpPr/>
          <p:nvPr/>
        </p:nvCxnSpPr>
        <p:spPr>
          <a:xfrm>
            <a:off x="5482125" y="4993346"/>
            <a:ext cx="1974600" cy="24300"/>
          </a:xfrm>
          <a:prstGeom prst="straightConnector1">
            <a:avLst/>
          </a:prstGeom>
          <a:noFill/>
          <a:ln cap="flat" cmpd="sng" w="9525">
            <a:solidFill>
              <a:schemeClr val="dk2"/>
            </a:solidFill>
            <a:prstDash val="solid"/>
            <a:round/>
            <a:headEnd len="med" w="med" type="none"/>
            <a:tailEnd len="med" w="med" type="triangle"/>
          </a:ln>
        </p:spPr>
      </p:cxnSp>
      <p:sp>
        <p:nvSpPr>
          <p:cNvPr id="1362" name="Google Shape;1362;p71"/>
          <p:cNvSpPr txBox="1"/>
          <p:nvPr/>
        </p:nvSpPr>
        <p:spPr>
          <a:xfrm>
            <a:off x="5782849" y="4595725"/>
            <a:ext cx="1291500" cy="41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rPr>
              <a:t>Thao tác()</a:t>
            </a:r>
            <a:endParaRPr sz="1600">
              <a:solidFill>
                <a:schemeClr val="dk2"/>
              </a:solidFill>
            </a:endParaRPr>
          </a:p>
        </p:txBody>
      </p:sp>
      <p:sp>
        <p:nvSpPr>
          <p:cNvPr id="1343" name="Google Shape;1343;p71"/>
          <p:cNvSpPr/>
          <p:nvPr/>
        </p:nvSpPr>
        <p:spPr>
          <a:xfrm>
            <a:off x="1343258" y="1811892"/>
            <a:ext cx="119700" cy="1197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46" name="Google Shape;1346;p71"/>
          <p:cNvSpPr/>
          <p:nvPr/>
        </p:nvSpPr>
        <p:spPr>
          <a:xfrm>
            <a:off x="1343258" y="2421492"/>
            <a:ext cx="119700" cy="1197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50" name="Google Shape;1350;p71"/>
          <p:cNvSpPr/>
          <p:nvPr/>
        </p:nvSpPr>
        <p:spPr>
          <a:xfrm>
            <a:off x="1343258" y="3173466"/>
            <a:ext cx="119700" cy="1197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6" name="Shape 1366"/>
        <p:cNvGrpSpPr/>
        <p:nvPr/>
      </p:nvGrpSpPr>
      <p:grpSpPr>
        <a:xfrm>
          <a:off x="0" y="0"/>
          <a:ext cx="0" cy="0"/>
          <a:chOff x="0" y="0"/>
          <a:chExt cx="0" cy="0"/>
        </a:xfrm>
      </p:grpSpPr>
      <p:sp>
        <p:nvSpPr>
          <p:cNvPr id="1367" name="Google Shape;1367;p72"/>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Lớp tô điểm: Kết hợp các đối tượng</a:t>
            </a:r>
            <a:endParaRPr/>
          </a:p>
        </p:txBody>
      </p:sp>
      <p:sp>
        <p:nvSpPr>
          <p:cNvPr id="1368" name="Google Shape;1368;p7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369" name="Google Shape;1369;p72"/>
          <p:cNvSpPr/>
          <p:nvPr/>
        </p:nvSpPr>
        <p:spPr>
          <a:xfrm>
            <a:off x="2090622" y="1369300"/>
            <a:ext cx="15771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u="sng"/>
              <a:t>d1</a:t>
            </a:r>
            <a:r>
              <a:rPr lang="en-GB" sz="1600" u="sng"/>
              <a:t>:</a:t>
            </a:r>
            <a:r>
              <a:rPr lang="en-GB" sz="1600" u="sng"/>
              <a:t>Lớp tô điểm</a:t>
            </a:r>
            <a:endParaRPr sz="1600" u="sng"/>
          </a:p>
        </p:txBody>
      </p:sp>
      <p:sp>
        <p:nvSpPr>
          <p:cNvPr id="1370" name="Google Shape;1370;p72"/>
          <p:cNvSpPr/>
          <p:nvPr/>
        </p:nvSpPr>
        <p:spPr>
          <a:xfrm>
            <a:off x="3667658" y="1462483"/>
            <a:ext cx="149725" cy="136150"/>
          </a:xfrm>
          <a:prstGeom prst="flowChartDecision">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1" name="Google Shape;1371;p72"/>
          <p:cNvSpPr/>
          <p:nvPr/>
        </p:nvSpPr>
        <p:spPr>
          <a:xfrm>
            <a:off x="3843148" y="2131300"/>
            <a:ext cx="15771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u="sng"/>
              <a:t>d2</a:t>
            </a:r>
            <a:r>
              <a:rPr lang="en-GB" sz="1600" u="sng"/>
              <a:t>:Lớp </a:t>
            </a:r>
            <a:r>
              <a:rPr lang="en-GB" sz="1600" u="sng"/>
              <a:t>tô điểm</a:t>
            </a:r>
            <a:endParaRPr sz="1600" u="sng"/>
          </a:p>
        </p:txBody>
      </p:sp>
      <p:sp>
        <p:nvSpPr>
          <p:cNvPr id="1372" name="Google Shape;1372;p72"/>
          <p:cNvSpPr/>
          <p:nvPr/>
        </p:nvSpPr>
        <p:spPr>
          <a:xfrm>
            <a:off x="5420258" y="2224483"/>
            <a:ext cx="149725" cy="136150"/>
          </a:xfrm>
          <a:prstGeom prst="flowChartDecision">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3" name="Google Shape;1373;p72"/>
          <p:cNvSpPr/>
          <p:nvPr/>
        </p:nvSpPr>
        <p:spPr>
          <a:xfrm>
            <a:off x="5664349" y="2893300"/>
            <a:ext cx="13560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u="sng"/>
              <a:t>c</a:t>
            </a:r>
            <a:r>
              <a:rPr lang="en-GB" sz="1600" u="sng"/>
              <a:t>:</a:t>
            </a:r>
            <a:r>
              <a:rPr lang="en-GB" sz="1600" u="sng"/>
              <a:t>Thành phần</a:t>
            </a:r>
            <a:endParaRPr sz="1600" u="sng"/>
          </a:p>
        </p:txBody>
      </p:sp>
      <p:cxnSp>
        <p:nvCxnSpPr>
          <p:cNvPr id="1374" name="Google Shape;1374;p72"/>
          <p:cNvCxnSpPr>
            <a:stCxn id="1371" idx="0"/>
            <a:endCxn id="1370" idx="3"/>
          </p:cNvCxnSpPr>
          <p:nvPr/>
        </p:nvCxnSpPr>
        <p:spPr>
          <a:xfrm flipH="1" rot="5400000">
            <a:off x="3924298" y="1423900"/>
            <a:ext cx="600600" cy="814200"/>
          </a:xfrm>
          <a:prstGeom prst="bentConnector2">
            <a:avLst/>
          </a:prstGeom>
          <a:noFill/>
          <a:ln cap="flat" cmpd="sng" w="9525">
            <a:solidFill>
              <a:schemeClr val="dk2"/>
            </a:solidFill>
            <a:prstDash val="solid"/>
            <a:round/>
            <a:headEnd len="med" w="med" type="none"/>
            <a:tailEnd len="med" w="med" type="none"/>
          </a:ln>
        </p:spPr>
      </p:cxnSp>
      <p:cxnSp>
        <p:nvCxnSpPr>
          <p:cNvPr id="1375" name="Google Shape;1375;p72"/>
          <p:cNvCxnSpPr>
            <a:stCxn id="1373" idx="0"/>
            <a:endCxn id="1372" idx="3"/>
          </p:cNvCxnSpPr>
          <p:nvPr/>
        </p:nvCxnSpPr>
        <p:spPr>
          <a:xfrm flipH="1" rot="5400000">
            <a:off x="5655799" y="2206750"/>
            <a:ext cx="600600" cy="772500"/>
          </a:xfrm>
          <a:prstGeom prst="bentConnector2">
            <a:avLst/>
          </a:prstGeom>
          <a:noFill/>
          <a:ln cap="flat" cmpd="sng" w="9525">
            <a:solidFill>
              <a:schemeClr val="dk2"/>
            </a:solidFill>
            <a:prstDash val="solid"/>
            <a:round/>
            <a:headEnd len="med" w="med" type="none"/>
            <a:tailEnd len="med" w="med" type="none"/>
          </a:ln>
        </p:spPr>
      </p:cxnSp>
      <p:sp>
        <p:nvSpPr>
          <p:cNvPr id="1376" name="Google Shape;1376;p72"/>
          <p:cNvSpPr txBox="1"/>
          <p:nvPr/>
        </p:nvSpPr>
        <p:spPr>
          <a:xfrm>
            <a:off x="633500" y="3605775"/>
            <a:ext cx="8076000" cy="60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2400">
                <a:solidFill>
                  <a:srgbClr val="666666"/>
                </a:solidFill>
              </a:rPr>
              <a:t>Thành phần được gói trong đối tượng thuộc lớp tô điểm.</a:t>
            </a:r>
            <a:endParaRPr i="1" sz="2400">
              <a:solidFill>
                <a:srgbClr val="666666"/>
              </a:solidFill>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0" name="Shape 1380"/>
        <p:cNvGrpSpPr/>
        <p:nvPr/>
      </p:nvGrpSpPr>
      <p:grpSpPr>
        <a:xfrm>
          <a:off x="0" y="0"/>
          <a:ext cx="0" cy="0"/>
          <a:chOff x="0" y="0"/>
          <a:chExt cx="0" cy="0"/>
        </a:xfrm>
      </p:grpSpPr>
      <p:sp>
        <p:nvSpPr>
          <p:cNvPr id="1381" name="Google Shape;1381;p73"/>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Lớp tô điểm: Các hệ quả</a:t>
            </a:r>
            <a:endParaRPr/>
          </a:p>
        </p:txBody>
      </p:sp>
      <p:sp>
        <p:nvSpPr>
          <p:cNvPr id="1382" name="Google Shape;1382;p7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383" name="Google Shape;1383;p73"/>
          <p:cNvSpPr txBox="1"/>
          <p:nvPr>
            <p:ph idx="1" type="body"/>
          </p:nvPr>
        </p:nvSpPr>
        <p:spPr>
          <a:xfrm>
            <a:off x="311700" y="950475"/>
            <a:ext cx="8520600" cy="5418300"/>
          </a:xfrm>
          <a:prstGeom prst="rect">
            <a:avLst/>
          </a:prstGeom>
        </p:spPr>
        <p:txBody>
          <a:bodyPr anchorCtr="0" anchor="t" bIns="91425" lIns="91425" spcFirstLastPara="1" rIns="91425" wrap="square" tIns="91425">
            <a:noAutofit/>
          </a:bodyPr>
          <a:lstStyle/>
          <a:p>
            <a:pPr indent="-381000" lvl="0" marL="457200" rtl="0" algn="just">
              <a:spcBef>
                <a:spcPts val="0"/>
              </a:spcBef>
              <a:spcAft>
                <a:spcPts val="0"/>
              </a:spcAft>
              <a:buSzPts val="2400"/>
              <a:buChar char="●"/>
            </a:pPr>
            <a:r>
              <a:rPr lang="en-GB"/>
              <a:t>Linh động hơn kế thừa, các trách nhiệm có thể được thêm vào hoặc gỡ bỏ trong thời gian thực thi.</a:t>
            </a:r>
            <a:endParaRPr/>
          </a:p>
          <a:p>
            <a:pPr indent="-381000" lvl="0" marL="457200" rtl="0" algn="just">
              <a:spcBef>
                <a:spcPts val="0"/>
              </a:spcBef>
              <a:spcAft>
                <a:spcPts val="0"/>
              </a:spcAft>
              <a:buSzPts val="2400"/>
              <a:buChar char="●"/>
            </a:pPr>
            <a:r>
              <a:rPr lang="en-GB"/>
              <a:t>Có thể tùy chỉnh, hỗ trợ hành vi phức tạp bằng các thêm dần chức năng vào lớp đơn giản.</a:t>
            </a:r>
            <a:endParaRPr/>
          </a:p>
          <a:p>
            <a:pPr indent="-381000" lvl="0" marL="457200" rtl="0" algn="just">
              <a:spcBef>
                <a:spcPts val="0"/>
              </a:spcBef>
              <a:spcAft>
                <a:spcPts val="0"/>
              </a:spcAft>
              <a:buSzPts val="2400"/>
              <a:buChar char="●"/>
            </a:pPr>
            <a:r>
              <a:rPr lang="en-GB"/>
              <a:t>Cái tô điểm và thành phần là các đối tượng khác nhau, thành phần được gói trong cái tô điểm.</a:t>
            </a:r>
            <a:endParaRPr/>
          </a:p>
          <a:p>
            <a:pPr indent="-381000" lvl="0" marL="457200" rtl="0" algn="just">
              <a:spcBef>
                <a:spcPts val="0"/>
              </a:spcBef>
              <a:spcAft>
                <a:spcPts val="0"/>
              </a:spcAft>
              <a:buSzPts val="2400"/>
              <a:buChar char="●"/>
            </a:pPr>
            <a:r>
              <a:rPr lang="en-GB"/>
              <a:t>Dễ tùy chỉnh đối tượng, tuy nhiên có thể khó kết hợp chúng và gỡ rối.</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7" name="Shape 1387"/>
        <p:cNvGrpSpPr/>
        <p:nvPr/>
      </p:nvGrpSpPr>
      <p:grpSpPr>
        <a:xfrm>
          <a:off x="0" y="0"/>
          <a:ext cx="0" cy="0"/>
          <a:chOff x="0" y="0"/>
          <a:chExt cx="0" cy="0"/>
        </a:xfrm>
      </p:grpSpPr>
      <p:sp>
        <p:nvSpPr>
          <p:cNvPr id="1388" name="Google Shape;1388;p74"/>
          <p:cNvSpPr/>
          <p:nvPr/>
        </p:nvSpPr>
        <p:spPr>
          <a:xfrm flipH="1" rot="10800000">
            <a:off x="6565575" y="5187946"/>
            <a:ext cx="2036100" cy="604500"/>
          </a:xfrm>
          <a:prstGeom prst="foldedCorner">
            <a:avLst>
              <a:gd fmla="val 25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9" name="Google Shape;1389;p74"/>
          <p:cNvSpPr txBox="1"/>
          <p:nvPr/>
        </p:nvSpPr>
        <p:spPr>
          <a:xfrm>
            <a:off x="6535625" y="5166773"/>
            <a:ext cx="2178600" cy="66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Decorator::Draw</a:t>
            </a:r>
            <a:r>
              <a:rPr lang="en-GB"/>
              <a:t>()</a:t>
            </a:r>
            <a:endParaRPr/>
          </a:p>
          <a:p>
            <a:pPr indent="0" lvl="0" marL="0" rtl="0" algn="l">
              <a:spcBef>
                <a:spcPts val="0"/>
              </a:spcBef>
              <a:spcAft>
                <a:spcPts val="0"/>
              </a:spcAft>
              <a:buNone/>
            </a:pPr>
            <a:r>
              <a:rPr lang="en-GB"/>
              <a:t>DrawBorder</a:t>
            </a:r>
            <a:r>
              <a:rPr lang="en-GB"/>
              <a:t>()</a:t>
            </a:r>
            <a:endParaRPr/>
          </a:p>
        </p:txBody>
      </p:sp>
      <p:sp>
        <p:nvSpPr>
          <p:cNvPr id="1390" name="Google Shape;1390;p74"/>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10. Cửa sổ văn bản</a:t>
            </a:r>
            <a:endParaRPr/>
          </a:p>
        </p:txBody>
      </p:sp>
      <p:sp>
        <p:nvSpPr>
          <p:cNvPr id="1391" name="Google Shape;1391;p7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392" name="Google Shape;1392;p74"/>
          <p:cNvSpPr/>
          <p:nvPr/>
        </p:nvSpPr>
        <p:spPr>
          <a:xfrm>
            <a:off x="2322450" y="1311550"/>
            <a:ext cx="17952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i="1" lang="en-GB" sz="1600"/>
              <a:t>VisualComponent</a:t>
            </a:r>
            <a:endParaRPr i="1" sz="1600"/>
          </a:p>
        </p:txBody>
      </p:sp>
      <p:sp>
        <p:nvSpPr>
          <p:cNvPr id="1393" name="Google Shape;1393;p74"/>
          <p:cNvSpPr/>
          <p:nvPr/>
        </p:nvSpPr>
        <p:spPr>
          <a:xfrm>
            <a:off x="2322450" y="1633775"/>
            <a:ext cx="17952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l">
              <a:spcBef>
                <a:spcPts val="0"/>
              </a:spcBef>
              <a:spcAft>
                <a:spcPts val="0"/>
              </a:spcAft>
              <a:buNone/>
            </a:pPr>
            <a:r>
              <a:rPr i="1" lang="en-GB" sz="1600"/>
              <a:t>Draw</a:t>
            </a:r>
            <a:r>
              <a:rPr i="1" lang="en-GB" sz="1600"/>
              <a:t>()</a:t>
            </a:r>
            <a:endParaRPr i="1" sz="1600"/>
          </a:p>
        </p:txBody>
      </p:sp>
      <p:sp>
        <p:nvSpPr>
          <p:cNvPr id="1394" name="Google Shape;1394;p74"/>
          <p:cNvSpPr/>
          <p:nvPr/>
        </p:nvSpPr>
        <p:spPr>
          <a:xfrm>
            <a:off x="1745500" y="2606950"/>
            <a:ext cx="11502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TextView</a:t>
            </a:r>
            <a:endParaRPr sz="1600"/>
          </a:p>
        </p:txBody>
      </p:sp>
      <p:sp>
        <p:nvSpPr>
          <p:cNvPr id="1395" name="Google Shape;1395;p74"/>
          <p:cNvSpPr/>
          <p:nvPr/>
        </p:nvSpPr>
        <p:spPr>
          <a:xfrm>
            <a:off x="3061272" y="1967342"/>
            <a:ext cx="191700" cy="1047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6" name="Google Shape;1396;p74"/>
          <p:cNvSpPr/>
          <p:nvPr/>
        </p:nvSpPr>
        <p:spPr>
          <a:xfrm>
            <a:off x="5043436" y="2713678"/>
            <a:ext cx="191700" cy="117050"/>
          </a:xfrm>
          <a:prstGeom prst="flowChartDecision">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7" name="Google Shape;1397;p74"/>
          <p:cNvSpPr/>
          <p:nvPr/>
        </p:nvSpPr>
        <p:spPr>
          <a:xfrm>
            <a:off x="3828102" y="2606950"/>
            <a:ext cx="12012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Decorator</a:t>
            </a:r>
            <a:endParaRPr sz="1600"/>
          </a:p>
        </p:txBody>
      </p:sp>
      <p:sp>
        <p:nvSpPr>
          <p:cNvPr id="1398" name="Google Shape;1398;p74"/>
          <p:cNvSpPr/>
          <p:nvPr/>
        </p:nvSpPr>
        <p:spPr>
          <a:xfrm>
            <a:off x="3828102" y="2929175"/>
            <a:ext cx="12012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l">
              <a:spcBef>
                <a:spcPts val="0"/>
              </a:spcBef>
              <a:spcAft>
                <a:spcPts val="0"/>
              </a:spcAft>
              <a:buNone/>
            </a:pPr>
            <a:r>
              <a:rPr lang="en-GB" sz="1600"/>
              <a:t>Draw</a:t>
            </a:r>
            <a:r>
              <a:rPr lang="en-GB" sz="1600"/>
              <a:t>()</a:t>
            </a:r>
            <a:endParaRPr sz="1600"/>
          </a:p>
        </p:txBody>
      </p:sp>
      <p:sp>
        <p:nvSpPr>
          <p:cNvPr id="1399" name="Google Shape;1399;p74"/>
          <p:cNvSpPr/>
          <p:nvPr/>
        </p:nvSpPr>
        <p:spPr>
          <a:xfrm>
            <a:off x="4001814" y="3271456"/>
            <a:ext cx="191700" cy="1047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0" name="Google Shape;1400;p74"/>
          <p:cNvSpPr/>
          <p:nvPr/>
        </p:nvSpPr>
        <p:spPr>
          <a:xfrm>
            <a:off x="4763814" y="3271456"/>
            <a:ext cx="191700" cy="1047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1" name="Google Shape;1401;p74"/>
          <p:cNvSpPr/>
          <p:nvPr/>
        </p:nvSpPr>
        <p:spPr>
          <a:xfrm flipH="1" rot="10800000">
            <a:off x="6317020" y="2921973"/>
            <a:ext cx="2036100" cy="392700"/>
          </a:xfrm>
          <a:prstGeom prst="foldedCorner">
            <a:avLst>
              <a:gd fmla="val 25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2" name="Google Shape;1402;p74"/>
          <p:cNvSpPr txBox="1"/>
          <p:nvPr/>
        </p:nvSpPr>
        <p:spPr>
          <a:xfrm>
            <a:off x="6287060" y="2900748"/>
            <a:ext cx="2178600" cy="41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component-&gt;Draw()</a:t>
            </a:r>
            <a:endParaRPr/>
          </a:p>
        </p:txBody>
      </p:sp>
      <p:cxnSp>
        <p:nvCxnSpPr>
          <p:cNvPr id="1403" name="Google Shape;1403;p74"/>
          <p:cNvCxnSpPr>
            <a:stCxn id="1394" idx="0"/>
            <a:endCxn id="1395" idx="3"/>
          </p:cNvCxnSpPr>
          <p:nvPr/>
        </p:nvCxnSpPr>
        <p:spPr>
          <a:xfrm rot="-5400000">
            <a:off x="2471350" y="1921300"/>
            <a:ext cx="534900" cy="836400"/>
          </a:xfrm>
          <a:prstGeom prst="bentConnector3">
            <a:avLst>
              <a:gd fmla="val 50001" name="adj1"/>
            </a:avLst>
          </a:prstGeom>
          <a:noFill/>
          <a:ln cap="flat" cmpd="sng" w="9525">
            <a:solidFill>
              <a:schemeClr val="dk2"/>
            </a:solidFill>
            <a:prstDash val="solid"/>
            <a:round/>
            <a:headEnd len="med" w="med" type="none"/>
            <a:tailEnd len="med" w="med" type="none"/>
          </a:ln>
        </p:spPr>
      </p:cxnSp>
      <p:sp>
        <p:nvSpPr>
          <p:cNvPr id="1404" name="Google Shape;1404;p74"/>
          <p:cNvSpPr/>
          <p:nvPr/>
        </p:nvSpPr>
        <p:spPr>
          <a:xfrm>
            <a:off x="3442272" y="1967342"/>
            <a:ext cx="191700" cy="1047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5" name="Google Shape;1405;p74"/>
          <p:cNvSpPr/>
          <p:nvPr/>
        </p:nvSpPr>
        <p:spPr>
          <a:xfrm>
            <a:off x="1745500" y="2929177"/>
            <a:ext cx="11502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l">
              <a:spcBef>
                <a:spcPts val="0"/>
              </a:spcBef>
              <a:spcAft>
                <a:spcPts val="0"/>
              </a:spcAft>
              <a:buNone/>
            </a:pPr>
            <a:r>
              <a:rPr lang="en-GB" sz="1600"/>
              <a:t>Draw</a:t>
            </a:r>
            <a:r>
              <a:rPr lang="en-GB" sz="1600"/>
              <a:t>()</a:t>
            </a:r>
            <a:endParaRPr sz="1600"/>
          </a:p>
        </p:txBody>
      </p:sp>
      <p:cxnSp>
        <p:nvCxnSpPr>
          <p:cNvPr id="1406" name="Google Shape;1406;p74"/>
          <p:cNvCxnSpPr>
            <a:stCxn id="1397" idx="0"/>
            <a:endCxn id="1404" idx="3"/>
          </p:cNvCxnSpPr>
          <p:nvPr/>
        </p:nvCxnSpPr>
        <p:spPr>
          <a:xfrm flipH="1" rot="5400000">
            <a:off x="3715902" y="1894150"/>
            <a:ext cx="534900" cy="890700"/>
          </a:xfrm>
          <a:prstGeom prst="bentConnector3">
            <a:avLst>
              <a:gd fmla="val 50001" name="adj1"/>
            </a:avLst>
          </a:prstGeom>
          <a:noFill/>
          <a:ln cap="flat" cmpd="sng" w="9525">
            <a:solidFill>
              <a:schemeClr val="dk2"/>
            </a:solidFill>
            <a:prstDash val="solid"/>
            <a:round/>
            <a:headEnd len="med" w="med" type="none"/>
            <a:tailEnd len="med" w="med" type="none"/>
          </a:ln>
        </p:spPr>
      </p:cxnSp>
      <p:sp>
        <p:nvSpPr>
          <p:cNvPr id="1407" name="Google Shape;1407;p74"/>
          <p:cNvSpPr/>
          <p:nvPr/>
        </p:nvSpPr>
        <p:spPr>
          <a:xfrm>
            <a:off x="2027400" y="3673750"/>
            <a:ext cx="19941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ScrollDecorator</a:t>
            </a:r>
            <a:endParaRPr sz="1600"/>
          </a:p>
        </p:txBody>
      </p:sp>
      <p:sp>
        <p:nvSpPr>
          <p:cNvPr id="1408" name="Google Shape;1408;p74"/>
          <p:cNvSpPr/>
          <p:nvPr/>
        </p:nvSpPr>
        <p:spPr>
          <a:xfrm>
            <a:off x="2027400" y="3995975"/>
            <a:ext cx="19941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l">
              <a:spcBef>
                <a:spcPts val="0"/>
              </a:spcBef>
              <a:spcAft>
                <a:spcPts val="0"/>
              </a:spcAft>
              <a:buNone/>
            </a:pPr>
            <a:r>
              <a:rPr lang="en-GB" sz="1600"/>
              <a:t>scroll_position</a:t>
            </a:r>
            <a:endParaRPr sz="1600"/>
          </a:p>
        </p:txBody>
      </p:sp>
      <p:sp>
        <p:nvSpPr>
          <p:cNvPr id="1409" name="Google Shape;1409;p74"/>
          <p:cNvSpPr/>
          <p:nvPr/>
        </p:nvSpPr>
        <p:spPr>
          <a:xfrm>
            <a:off x="4923100" y="3673750"/>
            <a:ext cx="19941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BorderDecorator</a:t>
            </a:r>
            <a:endParaRPr sz="1600"/>
          </a:p>
        </p:txBody>
      </p:sp>
      <p:cxnSp>
        <p:nvCxnSpPr>
          <p:cNvPr id="1410" name="Google Shape;1410;p74"/>
          <p:cNvCxnSpPr>
            <a:stCxn id="1396" idx="3"/>
            <a:endCxn id="1392" idx="3"/>
          </p:cNvCxnSpPr>
          <p:nvPr/>
        </p:nvCxnSpPr>
        <p:spPr>
          <a:xfrm rot="10800000">
            <a:off x="4117636" y="1472903"/>
            <a:ext cx="1117500" cy="1299300"/>
          </a:xfrm>
          <a:prstGeom prst="bentConnector3">
            <a:avLst>
              <a:gd fmla="val -21309" name="adj1"/>
            </a:avLst>
          </a:prstGeom>
          <a:noFill/>
          <a:ln cap="flat" cmpd="sng" w="9525">
            <a:solidFill>
              <a:schemeClr val="dk2"/>
            </a:solidFill>
            <a:prstDash val="solid"/>
            <a:round/>
            <a:headEnd len="med" w="med" type="none"/>
            <a:tailEnd len="med" w="med" type="none"/>
          </a:ln>
        </p:spPr>
      </p:cxnSp>
      <p:cxnSp>
        <p:nvCxnSpPr>
          <p:cNvPr id="1411" name="Google Shape;1411;p74"/>
          <p:cNvCxnSpPr>
            <a:stCxn id="1407" idx="0"/>
            <a:endCxn id="1399" idx="3"/>
          </p:cNvCxnSpPr>
          <p:nvPr/>
        </p:nvCxnSpPr>
        <p:spPr>
          <a:xfrm rot="-5400000">
            <a:off x="3412200" y="2988400"/>
            <a:ext cx="297600" cy="1073100"/>
          </a:xfrm>
          <a:prstGeom prst="bentConnector3">
            <a:avLst>
              <a:gd fmla="val 49999" name="adj1"/>
            </a:avLst>
          </a:prstGeom>
          <a:noFill/>
          <a:ln cap="flat" cmpd="sng" w="9525">
            <a:solidFill>
              <a:schemeClr val="dk2"/>
            </a:solidFill>
            <a:prstDash val="solid"/>
            <a:round/>
            <a:headEnd len="med" w="med" type="none"/>
            <a:tailEnd len="med" w="med" type="none"/>
          </a:ln>
        </p:spPr>
      </p:cxnSp>
      <p:cxnSp>
        <p:nvCxnSpPr>
          <p:cNvPr id="1412" name="Google Shape;1412;p74"/>
          <p:cNvCxnSpPr>
            <a:stCxn id="1409" idx="0"/>
            <a:endCxn id="1400" idx="3"/>
          </p:cNvCxnSpPr>
          <p:nvPr/>
        </p:nvCxnSpPr>
        <p:spPr>
          <a:xfrm flipH="1" rot="5400000">
            <a:off x="5241100" y="2994700"/>
            <a:ext cx="297600" cy="1060500"/>
          </a:xfrm>
          <a:prstGeom prst="bentConnector3">
            <a:avLst>
              <a:gd fmla="val 49999" name="adj1"/>
            </a:avLst>
          </a:prstGeom>
          <a:noFill/>
          <a:ln cap="flat" cmpd="sng" w="9525">
            <a:solidFill>
              <a:schemeClr val="dk2"/>
            </a:solidFill>
            <a:prstDash val="solid"/>
            <a:round/>
            <a:headEnd len="med" w="med" type="none"/>
            <a:tailEnd len="med" w="med" type="none"/>
          </a:ln>
        </p:spPr>
      </p:cxnSp>
      <p:sp>
        <p:nvSpPr>
          <p:cNvPr id="1413" name="Google Shape;1413;p74"/>
          <p:cNvSpPr txBox="1"/>
          <p:nvPr/>
        </p:nvSpPr>
        <p:spPr>
          <a:xfrm>
            <a:off x="4132900" y="1164000"/>
            <a:ext cx="1201200" cy="32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200"/>
              <a:t>component</a:t>
            </a:r>
            <a:endParaRPr sz="1200"/>
          </a:p>
        </p:txBody>
      </p:sp>
      <p:cxnSp>
        <p:nvCxnSpPr>
          <p:cNvPr id="1414" name="Google Shape;1414;p74"/>
          <p:cNvCxnSpPr/>
          <p:nvPr/>
        </p:nvCxnSpPr>
        <p:spPr>
          <a:xfrm>
            <a:off x="4509335" y="3109215"/>
            <a:ext cx="1795200" cy="0"/>
          </a:xfrm>
          <a:prstGeom prst="straightConnector1">
            <a:avLst/>
          </a:prstGeom>
          <a:noFill/>
          <a:ln cap="flat" cmpd="sng" w="9525">
            <a:solidFill>
              <a:schemeClr val="dk2"/>
            </a:solidFill>
            <a:prstDash val="dash"/>
            <a:round/>
            <a:headEnd len="med" w="med" type="oval"/>
            <a:tailEnd len="med" w="med" type="none"/>
          </a:ln>
        </p:spPr>
      </p:cxnSp>
      <p:sp>
        <p:nvSpPr>
          <p:cNvPr id="1415" name="Google Shape;1415;p74"/>
          <p:cNvSpPr txBox="1"/>
          <p:nvPr/>
        </p:nvSpPr>
        <p:spPr>
          <a:xfrm>
            <a:off x="4058922" y="1361633"/>
            <a:ext cx="1150200" cy="39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1</a:t>
            </a:r>
            <a:endParaRPr/>
          </a:p>
        </p:txBody>
      </p:sp>
      <p:sp>
        <p:nvSpPr>
          <p:cNvPr id="1416" name="Google Shape;1416;p74"/>
          <p:cNvSpPr/>
          <p:nvPr/>
        </p:nvSpPr>
        <p:spPr>
          <a:xfrm>
            <a:off x="2027400" y="4320751"/>
            <a:ext cx="1994100" cy="6045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lang="en-GB" sz="1600"/>
              <a:t>Draw()</a:t>
            </a:r>
            <a:endParaRPr sz="1600"/>
          </a:p>
          <a:p>
            <a:pPr indent="0" lvl="0" marL="0" rtl="0" algn="l">
              <a:spcBef>
                <a:spcPts val="0"/>
              </a:spcBef>
              <a:spcAft>
                <a:spcPts val="0"/>
              </a:spcAft>
              <a:buNone/>
            </a:pPr>
            <a:r>
              <a:rPr lang="en-GB" sz="1600"/>
              <a:t>ScrollTo()</a:t>
            </a:r>
            <a:endParaRPr sz="1600"/>
          </a:p>
        </p:txBody>
      </p:sp>
      <p:sp>
        <p:nvSpPr>
          <p:cNvPr id="1417" name="Google Shape;1417;p74"/>
          <p:cNvSpPr/>
          <p:nvPr/>
        </p:nvSpPr>
        <p:spPr>
          <a:xfrm>
            <a:off x="4923000" y="3995975"/>
            <a:ext cx="19941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l">
              <a:spcBef>
                <a:spcPts val="0"/>
              </a:spcBef>
              <a:spcAft>
                <a:spcPts val="0"/>
              </a:spcAft>
              <a:buNone/>
            </a:pPr>
            <a:r>
              <a:rPr lang="en-GB" sz="1600"/>
              <a:t>border_width</a:t>
            </a:r>
            <a:endParaRPr sz="1600"/>
          </a:p>
        </p:txBody>
      </p:sp>
      <p:sp>
        <p:nvSpPr>
          <p:cNvPr id="1418" name="Google Shape;1418;p74"/>
          <p:cNvSpPr/>
          <p:nvPr/>
        </p:nvSpPr>
        <p:spPr>
          <a:xfrm>
            <a:off x="4923000" y="4320751"/>
            <a:ext cx="1994100" cy="6045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lang="en-GB" sz="1600"/>
              <a:t>Draw()</a:t>
            </a:r>
            <a:endParaRPr sz="1600"/>
          </a:p>
          <a:p>
            <a:pPr indent="0" lvl="0" marL="0" rtl="0" algn="l">
              <a:spcBef>
                <a:spcPts val="0"/>
              </a:spcBef>
              <a:spcAft>
                <a:spcPts val="0"/>
              </a:spcAft>
              <a:buNone/>
            </a:pPr>
            <a:r>
              <a:rPr lang="en-GB" sz="1600"/>
              <a:t>DrawBorder</a:t>
            </a:r>
            <a:r>
              <a:rPr lang="en-GB" sz="1600"/>
              <a:t>()</a:t>
            </a:r>
            <a:endParaRPr sz="1600"/>
          </a:p>
        </p:txBody>
      </p:sp>
      <p:cxnSp>
        <p:nvCxnSpPr>
          <p:cNvPr id="1419" name="Google Shape;1419;p74"/>
          <p:cNvCxnSpPr/>
          <p:nvPr/>
        </p:nvCxnSpPr>
        <p:spPr>
          <a:xfrm>
            <a:off x="5661025" y="4514175"/>
            <a:ext cx="1155600" cy="652500"/>
          </a:xfrm>
          <a:prstGeom prst="bentConnector3">
            <a:avLst>
              <a:gd fmla="val 99342" name="adj1"/>
            </a:avLst>
          </a:prstGeom>
          <a:noFill/>
          <a:ln cap="flat" cmpd="sng" w="9525">
            <a:solidFill>
              <a:schemeClr val="dk2"/>
            </a:solidFill>
            <a:prstDash val="dash"/>
            <a:round/>
            <a:headEnd len="med" w="med" type="oval"/>
            <a:tailEnd len="med" w="med" type="none"/>
          </a:ln>
        </p:spPr>
      </p:cxn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3" name="Shape 1423"/>
        <p:cNvGrpSpPr/>
        <p:nvPr/>
      </p:nvGrpSpPr>
      <p:grpSpPr>
        <a:xfrm>
          <a:off x="0" y="0"/>
          <a:ext cx="0" cy="0"/>
          <a:chOff x="0" y="0"/>
          <a:chExt cx="0" cy="0"/>
        </a:xfrm>
      </p:grpSpPr>
      <p:sp>
        <p:nvSpPr>
          <p:cNvPr id="1424" name="Google Shape;1424;p75"/>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11. Xử lý luồng dữ liệu</a:t>
            </a:r>
            <a:endParaRPr/>
          </a:p>
        </p:txBody>
      </p:sp>
      <p:sp>
        <p:nvSpPr>
          <p:cNvPr id="1425" name="Google Shape;1425;p7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426" name="Google Shape;1426;p75"/>
          <p:cNvSpPr/>
          <p:nvPr/>
        </p:nvSpPr>
        <p:spPr>
          <a:xfrm flipH="1" rot="10800000">
            <a:off x="4922870" y="4730748"/>
            <a:ext cx="2960400" cy="604500"/>
          </a:xfrm>
          <a:prstGeom prst="foldedCorner">
            <a:avLst>
              <a:gd fmla="val 25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7" name="Google Shape;1427;p75"/>
          <p:cNvSpPr txBox="1"/>
          <p:nvPr/>
        </p:nvSpPr>
        <p:spPr>
          <a:xfrm>
            <a:off x="4879325" y="4709575"/>
            <a:ext cx="3167400" cy="66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Nén dữ liệu trong luồng</a:t>
            </a:r>
            <a:endParaRPr/>
          </a:p>
          <a:p>
            <a:pPr indent="0" lvl="0" marL="0" rtl="0" algn="l">
              <a:spcBef>
                <a:spcPts val="0"/>
              </a:spcBef>
              <a:spcAft>
                <a:spcPts val="0"/>
              </a:spcAft>
              <a:buNone/>
            </a:pPr>
            <a:r>
              <a:rPr lang="en-GB"/>
              <a:t>StreamDecorator::HandleBufferFull()</a:t>
            </a:r>
            <a:endParaRPr/>
          </a:p>
        </p:txBody>
      </p:sp>
      <p:sp>
        <p:nvSpPr>
          <p:cNvPr id="1428" name="Google Shape;1428;p75"/>
          <p:cNvSpPr/>
          <p:nvPr/>
        </p:nvSpPr>
        <p:spPr>
          <a:xfrm>
            <a:off x="1602801" y="1311550"/>
            <a:ext cx="16767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i="1" lang="en-GB"/>
              <a:t>Stream</a:t>
            </a:r>
            <a:endParaRPr i="1"/>
          </a:p>
        </p:txBody>
      </p:sp>
      <p:sp>
        <p:nvSpPr>
          <p:cNvPr id="1429" name="Google Shape;1429;p75"/>
          <p:cNvSpPr/>
          <p:nvPr/>
        </p:nvSpPr>
        <p:spPr>
          <a:xfrm>
            <a:off x="1602801" y="1633776"/>
            <a:ext cx="16767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l">
              <a:spcBef>
                <a:spcPts val="0"/>
              </a:spcBef>
              <a:spcAft>
                <a:spcPts val="0"/>
              </a:spcAft>
              <a:buNone/>
            </a:pPr>
            <a:r>
              <a:rPr i="1" lang="en-GB"/>
              <a:t>HandleBufferFull</a:t>
            </a:r>
            <a:r>
              <a:rPr i="1" lang="en-GB"/>
              <a:t>()</a:t>
            </a:r>
            <a:endParaRPr i="1"/>
          </a:p>
        </p:txBody>
      </p:sp>
      <p:sp>
        <p:nvSpPr>
          <p:cNvPr id="1430" name="Google Shape;1430;p75"/>
          <p:cNvSpPr/>
          <p:nvPr/>
        </p:nvSpPr>
        <p:spPr>
          <a:xfrm>
            <a:off x="335025" y="2606950"/>
            <a:ext cx="17226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a:t>MemoryStream</a:t>
            </a:r>
            <a:endParaRPr/>
          </a:p>
        </p:txBody>
      </p:sp>
      <p:sp>
        <p:nvSpPr>
          <p:cNvPr id="1431" name="Google Shape;1431;p75"/>
          <p:cNvSpPr/>
          <p:nvPr/>
        </p:nvSpPr>
        <p:spPr>
          <a:xfrm>
            <a:off x="1842072" y="1967342"/>
            <a:ext cx="191700" cy="1047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2" name="Google Shape;1432;p75"/>
          <p:cNvSpPr/>
          <p:nvPr/>
        </p:nvSpPr>
        <p:spPr>
          <a:xfrm>
            <a:off x="6100253" y="2713678"/>
            <a:ext cx="191700" cy="117050"/>
          </a:xfrm>
          <a:prstGeom prst="flowChartDecision">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3" name="Google Shape;1433;p75"/>
          <p:cNvSpPr/>
          <p:nvPr/>
        </p:nvSpPr>
        <p:spPr>
          <a:xfrm>
            <a:off x="2361999" y="2606950"/>
            <a:ext cx="16767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a:t>FileStream</a:t>
            </a:r>
            <a:endParaRPr/>
          </a:p>
        </p:txBody>
      </p:sp>
      <p:sp>
        <p:nvSpPr>
          <p:cNvPr id="1434" name="Google Shape;1434;p75"/>
          <p:cNvSpPr/>
          <p:nvPr/>
        </p:nvSpPr>
        <p:spPr>
          <a:xfrm>
            <a:off x="2361999" y="2929175"/>
            <a:ext cx="16767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l">
              <a:spcBef>
                <a:spcPts val="0"/>
              </a:spcBef>
              <a:spcAft>
                <a:spcPts val="0"/>
              </a:spcAft>
              <a:buNone/>
            </a:pPr>
            <a:r>
              <a:rPr lang="en-GB"/>
              <a:t>HandleBufferFull</a:t>
            </a:r>
            <a:r>
              <a:rPr lang="en-GB"/>
              <a:t>()</a:t>
            </a:r>
            <a:endParaRPr/>
          </a:p>
        </p:txBody>
      </p:sp>
      <p:sp>
        <p:nvSpPr>
          <p:cNvPr id="1435" name="Google Shape;1435;p75"/>
          <p:cNvSpPr/>
          <p:nvPr/>
        </p:nvSpPr>
        <p:spPr>
          <a:xfrm>
            <a:off x="4687614" y="3271456"/>
            <a:ext cx="191700" cy="1047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6" name="Google Shape;1436;p75"/>
          <p:cNvSpPr/>
          <p:nvPr/>
        </p:nvSpPr>
        <p:spPr>
          <a:xfrm>
            <a:off x="5449614" y="3271456"/>
            <a:ext cx="191700" cy="1047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7" name="Google Shape;1437;p75"/>
          <p:cNvSpPr/>
          <p:nvPr/>
        </p:nvSpPr>
        <p:spPr>
          <a:xfrm flipH="1" rot="10800000">
            <a:off x="6544805" y="2931840"/>
            <a:ext cx="1981500" cy="573300"/>
          </a:xfrm>
          <a:prstGeom prst="foldedCorner">
            <a:avLst>
              <a:gd fmla="val 25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8" name="Google Shape;1438;p75"/>
          <p:cNvSpPr txBox="1"/>
          <p:nvPr/>
        </p:nvSpPr>
        <p:spPr>
          <a:xfrm>
            <a:off x="6515650" y="2900750"/>
            <a:ext cx="2120100" cy="60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component-&gt;</a:t>
            </a:r>
            <a:endParaRPr/>
          </a:p>
          <a:p>
            <a:pPr indent="0" lvl="0" marL="0" rtl="0" algn="l">
              <a:spcBef>
                <a:spcPts val="0"/>
              </a:spcBef>
              <a:spcAft>
                <a:spcPts val="0"/>
              </a:spcAft>
              <a:buNone/>
            </a:pPr>
            <a:r>
              <a:rPr lang="en-GB"/>
              <a:t>     </a:t>
            </a:r>
            <a:r>
              <a:rPr lang="en-GB"/>
              <a:t>HandleBufferFull</a:t>
            </a:r>
            <a:r>
              <a:rPr lang="en-GB"/>
              <a:t>()</a:t>
            </a:r>
            <a:endParaRPr/>
          </a:p>
        </p:txBody>
      </p:sp>
      <p:cxnSp>
        <p:nvCxnSpPr>
          <p:cNvPr id="1439" name="Google Shape;1439;p75"/>
          <p:cNvCxnSpPr>
            <a:stCxn id="1430" idx="0"/>
            <a:endCxn id="1431" idx="3"/>
          </p:cNvCxnSpPr>
          <p:nvPr/>
        </p:nvCxnSpPr>
        <p:spPr>
          <a:xfrm rot="-5400000">
            <a:off x="1299675" y="1968700"/>
            <a:ext cx="534900" cy="741600"/>
          </a:xfrm>
          <a:prstGeom prst="bentConnector3">
            <a:avLst>
              <a:gd fmla="val 50001" name="adj1"/>
            </a:avLst>
          </a:prstGeom>
          <a:noFill/>
          <a:ln cap="flat" cmpd="sng" w="9525">
            <a:solidFill>
              <a:schemeClr val="dk2"/>
            </a:solidFill>
            <a:prstDash val="solid"/>
            <a:round/>
            <a:headEnd len="med" w="med" type="none"/>
            <a:tailEnd len="med" w="med" type="none"/>
          </a:ln>
        </p:spPr>
      </p:cxnSp>
      <p:sp>
        <p:nvSpPr>
          <p:cNvPr id="1440" name="Google Shape;1440;p75"/>
          <p:cNvSpPr/>
          <p:nvPr/>
        </p:nvSpPr>
        <p:spPr>
          <a:xfrm>
            <a:off x="2223072" y="1967342"/>
            <a:ext cx="191700" cy="1047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1" name="Google Shape;1441;p75"/>
          <p:cNvSpPr/>
          <p:nvPr/>
        </p:nvSpPr>
        <p:spPr>
          <a:xfrm>
            <a:off x="335025" y="2929176"/>
            <a:ext cx="17226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l">
              <a:spcBef>
                <a:spcPts val="0"/>
              </a:spcBef>
              <a:spcAft>
                <a:spcPts val="0"/>
              </a:spcAft>
              <a:buNone/>
            </a:pPr>
            <a:r>
              <a:rPr lang="en-GB"/>
              <a:t>HandleBufferFull</a:t>
            </a:r>
            <a:r>
              <a:rPr lang="en-GB"/>
              <a:t>()</a:t>
            </a:r>
            <a:endParaRPr/>
          </a:p>
        </p:txBody>
      </p:sp>
      <p:cxnSp>
        <p:nvCxnSpPr>
          <p:cNvPr id="1442" name="Google Shape;1442;p75"/>
          <p:cNvCxnSpPr>
            <a:endCxn id="1440" idx="3"/>
          </p:cNvCxnSpPr>
          <p:nvPr/>
        </p:nvCxnSpPr>
        <p:spPr>
          <a:xfrm flipH="1" rot="5400000">
            <a:off x="2167272" y="2223692"/>
            <a:ext cx="535500" cy="232200"/>
          </a:xfrm>
          <a:prstGeom prst="bentConnector3">
            <a:avLst>
              <a:gd fmla="val 50000" name="adj1"/>
            </a:avLst>
          </a:prstGeom>
          <a:noFill/>
          <a:ln cap="flat" cmpd="sng" w="9525">
            <a:solidFill>
              <a:schemeClr val="dk2"/>
            </a:solidFill>
            <a:prstDash val="solid"/>
            <a:round/>
            <a:headEnd len="med" w="med" type="none"/>
            <a:tailEnd len="med" w="med" type="none"/>
          </a:ln>
        </p:spPr>
      </p:cxnSp>
      <p:sp>
        <p:nvSpPr>
          <p:cNvPr id="1443" name="Google Shape;1443;p75"/>
          <p:cNvSpPr/>
          <p:nvPr/>
        </p:nvSpPr>
        <p:spPr>
          <a:xfrm>
            <a:off x="2713200" y="3673750"/>
            <a:ext cx="19941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a:t>ASCII7Stream</a:t>
            </a:r>
            <a:endParaRPr/>
          </a:p>
        </p:txBody>
      </p:sp>
      <p:sp>
        <p:nvSpPr>
          <p:cNvPr id="1444" name="Google Shape;1444;p75"/>
          <p:cNvSpPr/>
          <p:nvPr/>
        </p:nvSpPr>
        <p:spPr>
          <a:xfrm>
            <a:off x="2713200" y="3995975"/>
            <a:ext cx="19941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l">
              <a:spcBef>
                <a:spcPts val="0"/>
              </a:spcBef>
              <a:spcAft>
                <a:spcPts val="0"/>
              </a:spcAft>
              <a:buNone/>
            </a:pPr>
            <a:r>
              <a:rPr lang="en-GB">
                <a:solidFill>
                  <a:schemeClr val="dk1"/>
                </a:solidFill>
              </a:rPr>
              <a:t>HandleBufferFull()</a:t>
            </a:r>
            <a:endParaRPr/>
          </a:p>
        </p:txBody>
      </p:sp>
      <p:sp>
        <p:nvSpPr>
          <p:cNvPr id="1445" name="Google Shape;1445;p75"/>
          <p:cNvSpPr/>
          <p:nvPr/>
        </p:nvSpPr>
        <p:spPr>
          <a:xfrm>
            <a:off x="5075500" y="3673750"/>
            <a:ext cx="19941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a:t>CompressingStream</a:t>
            </a:r>
            <a:endParaRPr/>
          </a:p>
        </p:txBody>
      </p:sp>
      <p:cxnSp>
        <p:nvCxnSpPr>
          <p:cNvPr id="1446" name="Google Shape;1446;p75"/>
          <p:cNvCxnSpPr>
            <a:stCxn id="1432" idx="3"/>
            <a:endCxn id="1428" idx="3"/>
          </p:cNvCxnSpPr>
          <p:nvPr/>
        </p:nvCxnSpPr>
        <p:spPr>
          <a:xfrm rot="10800000">
            <a:off x="3279353" y="1472903"/>
            <a:ext cx="3012600" cy="1299300"/>
          </a:xfrm>
          <a:prstGeom prst="bentConnector3">
            <a:avLst>
              <a:gd fmla="val -7904" name="adj1"/>
            </a:avLst>
          </a:prstGeom>
          <a:noFill/>
          <a:ln cap="flat" cmpd="sng" w="9525">
            <a:solidFill>
              <a:schemeClr val="dk2"/>
            </a:solidFill>
            <a:prstDash val="solid"/>
            <a:round/>
            <a:headEnd len="med" w="med" type="none"/>
            <a:tailEnd len="med" w="med" type="none"/>
          </a:ln>
        </p:spPr>
      </p:cxnSp>
      <p:cxnSp>
        <p:nvCxnSpPr>
          <p:cNvPr id="1447" name="Google Shape;1447;p75"/>
          <p:cNvCxnSpPr>
            <a:stCxn id="1443" idx="0"/>
            <a:endCxn id="1435" idx="3"/>
          </p:cNvCxnSpPr>
          <p:nvPr/>
        </p:nvCxnSpPr>
        <p:spPr>
          <a:xfrm rot="-5400000">
            <a:off x="4098000" y="2988400"/>
            <a:ext cx="297600" cy="1073100"/>
          </a:xfrm>
          <a:prstGeom prst="bentConnector3">
            <a:avLst>
              <a:gd fmla="val 49999" name="adj1"/>
            </a:avLst>
          </a:prstGeom>
          <a:noFill/>
          <a:ln cap="flat" cmpd="sng" w="9525">
            <a:solidFill>
              <a:schemeClr val="dk2"/>
            </a:solidFill>
            <a:prstDash val="solid"/>
            <a:round/>
            <a:headEnd len="med" w="med" type="none"/>
            <a:tailEnd len="med" w="med" type="none"/>
          </a:ln>
        </p:spPr>
      </p:cxnSp>
      <p:cxnSp>
        <p:nvCxnSpPr>
          <p:cNvPr id="1448" name="Google Shape;1448;p75"/>
          <p:cNvCxnSpPr>
            <a:stCxn id="1445" idx="0"/>
            <a:endCxn id="1436" idx="3"/>
          </p:cNvCxnSpPr>
          <p:nvPr/>
        </p:nvCxnSpPr>
        <p:spPr>
          <a:xfrm flipH="1" rot="5400000">
            <a:off x="5660200" y="3261400"/>
            <a:ext cx="297600" cy="527100"/>
          </a:xfrm>
          <a:prstGeom prst="bentConnector3">
            <a:avLst>
              <a:gd fmla="val 49999" name="adj1"/>
            </a:avLst>
          </a:prstGeom>
          <a:noFill/>
          <a:ln cap="flat" cmpd="sng" w="9525">
            <a:solidFill>
              <a:schemeClr val="dk2"/>
            </a:solidFill>
            <a:prstDash val="solid"/>
            <a:round/>
            <a:headEnd len="med" w="med" type="none"/>
            <a:tailEnd len="med" w="med" type="none"/>
          </a:ln>
        </p:spPr>
      </p:cxnSp>
      <p:sp>
        <p:nvSpPr>
          <p:cNvPr id="1449" name="Google Shape;1449;p75"/>
          <p:cNvSpPr txBox="1"/>
          <p:nvPr/>
        </p:nvSpPr>
        <p:spPr>
          <a:xfrm>
            <a:off x="3294700" y="1164000"/>
            <a:ext cx="1201200" cy="32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200"/>
              <a:t>component</a:t>
            </a:r>
            <a:endParaRPr sz="1200"/>
          </a:p>
        </p:txBody>
      </p:sp>
      <p:cxnSp>
        <p:nvCxnSpPr>
          <p:cNvPr id="1450" name="Google Shape;1450;p75"/>
          <p:cNvCxnSpPr>
            <a:endCxn id="1438" idx="1"/>
          </p:cNvCxnSpPr>
          <p:nvPr/>
        </p:nvCxnSpPr>
        <p:spPr>
          <a:xfrm flipH="1" rot="10800000">
            <a:off x="5957050" y="3203000"/>
            <a:ext cx="558600" cy="1500"/>
          </a:xfrm>
          <a:prstGeom prst="straightConnector1">
            <a:avLst/>
          </a:prstGeom>
          <a:noFill/>
          <a:ln cap="flat" cmpd="sng" w="9525">
            <a:solidFill>
              <a:schemeClr val="dk2"/>
            </a:solidFill>
            <a:prstDash val="dash"/>
            <a:round/>
            <a:headEnd len="med" w="med" type="oval"/>
            <a:tailEnd len="med" w="med" type="none"/>
          </a:ln>
        </p:spPr>
      </p:cxnSp>
      <p:sp>
        <p:nvSpPr>
          <p:cNvPr id="1451" name="Google Shape;1451;p75"/>
          <p:cNvSpPr txBox="1"/>
          <p:nvPr/>
        </p:nvSpPr>
        <p:spPr>
          <a:xfrm>
            <a:off x="3220722" y="1361633"/>
            <a:ext cx="1150200" cy="39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1</a:t>
            </a:r>
            <a:endParaRPr/>
          </a:p>
        </p:txBody>
      </p:sp>
      <p:sp>
        <p:nvSpPr>
          <p:cNvPr id="1452" name="Google Shape;1452;p75"/>
          <p:cNvSpPr/>
          <p:nvPr/>
        </p:nvSpPr>
        <p:spPr>
          <a:xfrm>
            <a:off x="5075400" y="3995975"/>
            <a:ext cx="19941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l">
              <a:spcBef>
                <a:spcPts val="0"/>
              </a:spcBef>
              <a:spcAft>
                <a:spcPts val="0"/>
              </a:spcAft>
              <a:buNone/>
            </a:pPr>
            <a:r>
              <a:rPr lang="en-GB">
                <a:solidFill>
                  <a:schemeClr val="dk1"/>
                </a:solidFill>
              </a:rPr>
              <a:t>HandleBufferFull()</a:t>
            </a:r>
            <a:endParaRPr/>
          </a:p>
        </p:txBody>
      </p:sp>
      <p:cxnSp>
        <p:nvCxnSpPr>
          <p:cNvPr id="1453" name="Google Shape;1453;p75"/>
          <p:cNvCxnSpPr>
            <a:endCxn id="1427" idx="0"/>
          </p:cNvCxnSpPr>
          <p:nvPr/>
        </p:nvCxnSpPr>
        <p:spPr>
          <a:xfrm rot="5400000">
            <a:off x="6292475" y="4345225"/>
            <a:ext cx="534900" cy="193800"/>
          </a:xfrm>
          <a:prstGeom prst="bentConnector3">
            <a:avLst>
              <a:gd fmla="val 50000" name="adj1"/>
            </a:avLst>
          </a:prstGeom>
          <a:noFill/>
          <a:ln cap="flat" cmpd="sng" w="9525">
            <a:solidFill>
              <a:schemeClr val="dk2"/>
            </a:solidFill>
            <a:prstDash val="dash"/>
            <a:round/>
            <a:headEnd len="med" w="med" type="oval"/>
            <a:tailEnd len="med" w="med" type="none"/>
          </a:ln>
        </p:spPr>
      </p:cxnSp>
      <p:sp>
        <p:nvSpPr>
          <p:cNvPr id="1454" name="Google Shape;1454;p75"/>
          <p:cNvSpPr/>
          <p:nvPr/>
        </p:nvSpPr>
        <p:spPr>
          <a:xfrm>
            <a:off x="4419399" y="2606950"/>
            <a:ext cx="16767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a:t>Stream</a:t>
            </a:r>
            <a:r>
              <a:rPr lang="en-GB"/>
              <a:t>Decorator</a:t>
            </a:r>
            <a:endParaRPr/>
          </a:p>
        </p:txBody>
      </p:sp>
      <p:sp>
        <p:nvSpPr>
          <p:cNvPr id="1455" name="Google Shape;1455;p75"/>
          <p:cNvSpPr/>
          <p:nvPr/>
        </p:nvSpPr>
        <p:spPr>
          <a:xfrm>
            <a:off x="4419399" y="2929175"/>
            <a:ext cx="16767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l">
              <a:spcBef>
                <a:spcPts val="0"/>
              </a:spcBef>
              <a:spcAft>
                <a:spcPts val="0"/>
              </a:spcAft>
              <a:buNone/>
            </a:pPr>
            <a:r>
              <a:rPr lang="en-GB"/>
              <a:t>HandleBufferFull()</a:t>
            </a:r>
            <a:endParaRPr/>
          </a:p>
        </p:txBody>
      </p:sp>
      <p:sp>
        <p:nvSpPr>
          <p:cNvPr id="1456" name="Google Shape;1456;p75"/>
          <p:cNvSpPr/>
          <p:nvPr/>
        </p:nvSpPr>
        <p:spPr>
          <a:xfrm>
            <a:off x="2680272" y="1967342"/>
            <a:ext cx="191700" cy="1047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457" name="Google Shape;1457;p75"/>
          <p:cNvCxnSpPr>
            <a:stCxn id="1456" idx="3"/>
            <a:endCxn id="1454" idx="0"/>
          </p:cNvCxnSpPr>
          <p:nvPr/>
        </p:nvCxnSpPr>
        <p:spPr>
          <a:xfrm flipH="1" rot="-5400000">
            <a:off x="3749472" y="1098692"/>
            <a:ext cx="534900" cy="2481600"/>
          </a:xfrm>
          <a:prstGeom prst="bentConnector3">
            <a:avLst>
              <a:gd fmla="val 50001" name="adj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1" name="Shape 1461"/>
        <p:cNvGrpSpPr/>
        <p:nvPr/>
      </p:nvGrpSpPr>
      <p:grpSpPr>
        <a:xfrm>
          <a:off x="0" y="0"/>
          <a:ext cx="0" cy="0"/>
          <a:chOff x="0" y="0"/>
          <a:chExt cx="0" cy="0"/>
        </a:xfrm>
      </p:grpSpPr>
      <p:sp>
        <p:nvSpPr>
          <p:cNvPr id="1462" name="Google Shape;1462;p76"/>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Mặt tiền</a:t>
            </a:r>
            <a:endParaRPr/>
          </a:p>
        </p:txBody>
      </p:sp>
      <p:sp>
        <p:nvSpPr>
          <p:cNvPr id="1463" name="Google Shape;1463;p76"/>
          <p:cNvSpPr txBox="1"/>
          <p:nvPr>
            <p:ph idx="1" type="body"/>
          </p:nvPr>
        </p:nvSpPr>
        <p:spPr>
          <a:xfrm>
            <a:off x="311700" y="950475"/>
            <a:ext cx="8520600" cy="54183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i="1" lang="en-GB"/>
              <a:t>Facade</a:t>
            </a:r>
            <a:endParaRPr i="1"/>
          </a:p>
          <a:p>
            <a:pPr indent="0" lvl="0" marL="0" rtl="0" algn="just">
              <a:spcBef>
                <a:spcPts val="0"/>
              </a:spcBef>
              <a:spcAft>
                <a:spcPts val="0"/>
              </a:spcAft>
              <a:buNone/>
            </a:pPr>
            <a:r>
              <a:rPr lang="en-GB"/>
              <a:t>Cung cấp một giao diện hợp nhất cho một tập giao diện trong một phân hệ. Mặt tiền định nghĩa một giao diện bậc cao hơn để có thể sử dụng toàn phân hệ dễ dàng hơn.</a:t>
            </a:r>
            <a:endParaRPr/>
          </a:p>
          <a:p>
            <a:pPr indent="0" lvl="0" marL="0" rtl="0" algn="just">
              <a:spcBef>
                <a:spcPts val="0"/>
              </a:spcBef>
              <a:spcAft>
                <a:spcPts val="0"/>
              </a:spcAft>
              <a:buNone/>
            </a:pPr>
            <a:r>
              <a:rPr lang="en-GB"/>
              <a:t>Cung cấp các giá trị cụ thể hơn so với các tính năng nhỏ lẻ của các thành phần.</a:t>
            </a:r>
            <a:endParaRPr/>
          </a:p>
        </p:txBody>
      </p:sp>
      <p:sp>
        <p:nvSpPr>
          <p:cNvPr id="1464" name="Google Shape;1464;p7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8" name="Shape 1468"/>
        <p:cNvGrpSpPr/>
        <p:nvPr/>
      </p:nvGrpSpPr>
      <p:grpSpPr>
        <a:xfrm>
          <a:off x="0" y="0"/>
          <a:ext cx="0" cy="0"/>
          <a:chOff x="0" y="0"/>
          <a:chExt cx="0" cy="0"/>
        </a:xfrm>
      </p:grpSpPr>
      <p:sp>
        <p:nvSpPr>
          <p:cNvPr id="1469" name="Google Shape;1469;p77"/>
          <p:cNvSpPr/>
          <p:nvPr/>
        </p:nvSpPr>
        <p:spPr>
          <a:xfrm>
            <a:off x="739650" y="1542050"/>
            <a:ext cx="7846200" cy="2335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70" name="Google Shape;1470;p77"/>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Mặt tiền: Cấu trúc</a:t>
            </a:r>
            <a:endParaRPr/>
          </a:p>
        </p:txBody>
      </p:sp>
      <p:sp>
        <p:nvSpPr>
          <p:cNvPr id="1471" name="Google Shape;1471;p7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472" name="Google Shape;1472;p77"/>
          <p:cNvSpPr/>
          <p:nvPr/>
        </p:nvSpPr>
        <p:spPr>
          <a:xfrm>
            <a:off x="3928023" y="1370325"/>
            <a:ext cx="1401900" cy="3225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Mặt tiền</a:t>
            </a:r>
            <a:endParaRPr sz="1600"/>
          </a:p>
        </p:txBody>
      </p:sp>
      <p:sp>
        <p:nvSpPr>
          <p:cNvPr id="1473" name="Google Shape;1473;p77"/>
          <p:cNvSpPr/>
          <p:nvPr/>
        </p:nvSpPr>
        <p:spPr>
          <a:xfrm>
            <a:off x="956223" y="2284725"/>
            <a:ext cx="14019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t/>
            </a:r>
            <a:endParaRPr/>
          </a:p>
        </p:txBody>
      </p:sp>
      <p:sp>
        <p:nvSpPr>
          <p:cNvPr id="1474" name="Google Shape;1474;p77"/>
          <p:cNvSpPr/>
          <p:nvPr/>
        </p:nvSpPr>
        <p:spPr>
          <a:xfrm>
            <a:off x="2708823" y="2284725"/>
            <a:ext cx="14019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t/>
            </a:r>
            <a:endParaRPr/>
          </a:p>
        </p:txBody>
      </p:sp>
      <p:sp>
        <p:nvSpPr>
          <p:cNvPr id="1475" name="Google Shape;1475;p77"/>
          <p:cNvSpPr/>
          <p:nvPr/>
        </p:nvSpPr>
        <p:spPr>
          <a:xfrm>
            <a:off x="956223" y="3275325"/>
            <a:ext cx="14019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t/>
            </a:r>
            <a:endParaRPr/>
          </a:p>
        </p:txBody>
      </p:sp>
      <p:sp>
        <p:nvSpPr>
          <p:cNvPr id="1476" name="Google Shape;1476;p77"/>
          <p:cNvSpPr/>
          <p:nvPr/>
        </p:nvSpPr>
        <p:spPr>
          <a:xfrm>
            <a:off x="3013623" y="2894325"/>
            <a:ext cx="14019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t/>
            </a:r>
            <a:endParaRPr/>
          </a:p>
        </p:txBody>
      </p:sp>
      <p:sp>
        <p:nvSpPr>
          <p:cNvPr id="1477" name="Google Shape;1477;p77"/>
          <p:cNvSpPr/>
          <p:nvPr/>
        </p:nvSpPr>
        <p:spPr>
          <a:xfrm>
            <a:off x="6061623" y="2284725"/>
            <a:ext cx="14019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t/>
            </a:r>
            <a:endParaRPr/>
          </a:p>
        </p:txBody>
      </p:sp>
      <p:sp>
        <p:nvSpPr>
          <p:cNvPr id="1478" name="Google Shape;1478;p77"/>
          <p:cNvSpPr/>
          <p:nvPr/>
        </p:nvSpPr>
        <p:spPr>
          <a:xfrm>
            <a:off x="5147223" y="3275325"/>
            <a:ext cx="14019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t/>
            </a:r>
            <a:endParaRPr/>
          </a:p>
        </p:txBody>
      </p:sp>
      <p:sp>
        <p:nvSpPr>
          <p:cNvPr id="1479" name="Google Shape;1479;p77"/>
          <p:cNvSpPr/>
          <p:nvPr/>
        </p:nvSpPr>
        <p:spPr>
          <a:xfrm>
            <a:off x="7052223" y="3275325"/>
            <a:ext cx="14019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t/>
            </a:r>
            <a:endParaRPr/>
          </a:p>
        </p:txBody>
      </p:sp>
      <p:cxnSp>
        <p:nvCxnSpPr>
          <p:cNvPr id="1480" name="Google Shape;1480;p77"/>
          <p:cNvCxnSpPr>
            <a:endCxn id="1474" idx="0"/>
          </p:cNvCxnSpPr>
          <p:nvPr/>
        </p:nvCxnSpPr>
        <p:spPr>
          <a:xfrm flipH="1">
            <a:off x="3409773" y="1683525"/>
            <a:ext cx="773100" cy="601200"/>
          </a:xfrm>
          <a:prstGeom prst="straightConnector1">
            <a:avLst/>
          </a:prstGeom>
          <a:noFill/>
          <a:ln cap="flat" cmpd="sng" w="9525">
            <a:solidFill>
              <a:schemeClr val="dk2"/>
            </a:solidFill>
            <a:prstDash val="dash"/>
            <a:round/>
            <a:headEnd len="med" w="med" type="none"/>
            <a:tailEnd len="med" w="med" type="stealth"/>
          </a:ln>
        </p:spPr>
      </p:cxnSp>
      <p:cxnSp>
        <p:nvCxnSpPr>
          <p:cNvPr id="1481" name="Google Shape;1481;p77"/>
          <p:cNvCxnSpPr/>
          <p:nvPr/>
        </p:nvCxnSpPr>
        <p:spPr>
          <a:xfrm flipH="1">
            <a:off x="4115373" y="1692825"/>
            <a:ext cx="437400" cy="1167300"/>
          </a:xfrm>
          <a:prstGeom prst="straightConnector1">
            <a:avLst/>
          </a:prstGeom>
          <a:noFill/>
          <a:ln cap="flat" cmpd="sng" w="9525">
            <a:solidFill>
              <a:schemeClr val="dk2"/>
            </a:solidFill>
            <a:prstDash val="dash"/>
            <a:round/>
            <a:headEnd len="med" w="med" type="none"/>
            <a:tailEnd len="med" w="med" type="stealth"/>
          </a:ln>
        </p:spPr>
      </p:cxnSp>
      <p:cxnSp>
        <p:nvCxnSpPr>
          <p:cNvPr id="1482" name="Google Shape;1482;p77"/>
          <p:cNvCxnSpPr>
            <a:stCxn id="1472" idx="2"/>
            <a:endCxn id="1475" idx="3"/>
          </p:cNvCxnSpPr>
          <p:nvPr/>
        </p:nvCxnSpPr>
        <p:spPr>
          <a:xfrm rot="5400000">
            <a:off x="2621673" y="1429425"/>
            <a:ext cx="1743900" cy="2270700"/>
          </a:xfrm>
          <a:prstGeom prst="bentConnector2">
            <a:avLst/>
          </a:prstGeom>
          <a:noFill/>
          <a:ln cap="flat" cmpd="sng" w="9525">
            <a:solidFill>
              <a:schemeClr val="dk2"/>
            </a:solidFill>
            <a:prstDash val="dash"/>
            <a:round/>
            <a:headEnd len="med" w="med" type="none"/>
            <a:tailEnd len="med" w="med" type="stealth"/>
          </a:ln>
        </p:spPr>
      </p:cxnSp>
      <p:cxnSp>
        <p:nvCxnSpPr>
          <p:cNvPr id="1483" name="Google Shape;1483;p77"/>
          <p:cNvCxnSpPr/>
          <p:nvPr/>
        </p:nvCxnSpPr>
        <p:spPr>
          <a:xfrm>
            <a:off x="4871073" y="1683525"/>
            <a:ext cx="714600" cy="1577400"/>
          </a:xfrm>
          <a:prstGeom prst="straightConnector1">
            <a:avLst/>
          </a:prstGeom>
          <a:noFill/>
          <a:ln cap="flat" cmpd="sng" w="9525">
            <a:solidFill>
              <a:schemeClr val="dk2"/>
            </a:solidFill>
            <a:prstDash val="dash"/>
            <a:round/>
            <a:headEnd len="med" w="med" type="none"/>
            <a:tailEnd len="med" w="med" type="stealth"/>
          </a:ln>
        </p:spPr>
      </p:cxnSp>
      <p:sp>
        <p:nvSpPr>
          <p:cNvPr id="1484" name="Google Shape;1484;p77"/>
          <p:cNvSpPr/>
          <p:nvPr/>
        </p:nvSpPr>
        <p:spPr>
          <a:xfrm>
            <a:off x="1563414" y="2618286"/>
            <a:ext cx="191700" cy="1047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485" name="Google Shape;1485;p77"/>
          <p:cNvCxnSpPr>
            <a:stCxn id="1475" idx="0"/>
            <a:endCxn id="1484" idx="3"/>
          </p:cNvCxnSpPr>
          <p:nvPr/>
        </p:nvCxnSpPr>
        <p:spPr>
          <a:xfrm flipH="1" rot="10800000">
            <a:off x="1657173" y="2723025"/>
            <a:ext cx="2100" cy="552300"/>
          </a:xfrm>
          <a:prstGeom prst="straightConnector1">
            <a:avLst/>
          </a:prstGeom>
          <a:noFill/>
          <a:ln cap="flat" cmpd="sng" w="9525">
            <a:solidFill>
              <a:schemeClr val="dk2"/>
            </a:solidFill>
            <a:prstDash val="solid"/>
            <a:round/>
            <a:headEnd len="med" w="med" type="none"/>
            <a:tailEnd len="med" w="med" type="none"/>
          </a:ln>
        </p:spPr>
      </p:cxnSp>
      <p:sp>
        <p:nvSpPr>
          <p:cNvPr id="1486" name="Google Shape;1486;p77"/>
          <p:cNvSpPr/>
          <p:nvPr/>
        </p:nvSpPr>
        <p:spPr>
          <a:xfrm>
            <a:off x="6364014" y="2618286"/>
            <a:ext cx="191700" cy="1047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7" name="Google Shape;1487;p77"/>
          <p:cNvSpPr/>
          <p:nvPr/>
        </p:nvSpPr>
        <p:spPr>
          <a:xfrm>
            <a:off x="6973614" y="2618286"/>
            <a:ext cx="191700" cy="1047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488" name="Google Shape;1488;p77"/>
          <p:cNvCxnSpPr>
            <a:stCxn id="1478" idx="0"/>
            <a:endCxn id="1486" idx="3"/>
          </p:cNvCxnSpPr>
          <p:nvPr/>
        </p:nvCxnSpPr>
        <p:spPr>
          <a:xfrm rot="-5400000">
            <a:off x="5877873" y="2693325"/>
            <a:ext cx="552300" cy="611700"/>
          </a:xfrm>
          <a:prstGeom prst="bentConnector3">
            <a:avLst>
              <a:gd fmla="val 50004" name="adj1"/>
            </a:avLst>
          </a:prstGeom>
          <a:noFill/>
          <a:ln cap="flat" cmpd="sng" w="9525">
            <a:solidFill>
              <a:schemeClr val="dk2"/>
            </a:solidFill>
            <a:prstDash val="solid"/>
            <a:round/>
            <a:headEnd len="med" w="med" type="none"/>
            <a:tailEnd len="med" w="med" type="none"/>
          </a:ln>
        </p:spPr>
      </p:cxnSp>
      <p:cxnSp>
        <p:nvCxnSpPr>
          <p:cNvPr id="1489" name="Google Shape;1489;p77"/>
          <p:cNvCxnSpPr>
            <a:stCxn id="1479" idx="0"/>
            <a:endCxn id="1487" idx="3"/>
          </p:cNvCxnSpPr>
          <p:nvPr/>
        </p:nvCxnSpPr>
        <p:spPr>
          <a:xfrm flipH="1" rot="5400000">
            <a:off x="7135173" y="2657325"/>
            <a:ext cx="552300" cy="683700"/>
          </a:xfrm>
          <a:prstGeom prst="bentConnector3">
            <a:avLst>
              <a:gd fmla="val 50004" name="adj1"/>
            </a:avLst>
          </a:prstGeom>
          <a:noFill/>
          <a:ln cap="flat" cmpd="sng" w="9525">
            <a:solidFill>
              <a:schemeClr val="dk2"/>
            </a:solidFill>
            <a:prstDash val="solid"/>
            <a:round/>
            <a:headEnd len="med" w="med" type="none"/>
            <a:tailEnd len="med" w="med" type="none"/>
          </a:ln>
        </p:spPr>
      </p:cxnSp>
      <p:sp>
        <p:nvSpPr>
          <p:cNvPr id="1490" name="Google Shape;1490;p77"/>
          <p:cNvSpPr txBox="1"/>
          <p:nvPr/>
        </p:nvSpPr>
        <p:spPr>
          <a:xfrm>
            <a:off x="7163860" y="1549360"/>
            <a:ext cx="1401900" cy="43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1800">
                <a:solidFill>
                  <a:schemeClr val="dk2"/>
                </a:solidFill>
              </a:rPr>
              <a:t>Phân hệ</a:t>
            </a:r>
            <a:endParaRPr i="1" sz="1800">
              <a:solidFill>
                <a:schemeClr val="dk2"/>
              </a:solidFill>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4" name="Shape 1494"/>
        <p:cNvGrpSpPr/>
        <p:nvPr/>
      </p:nvGrpSpPr>
      <p:grpSpPr>
        <a:xfrm>
          <a:off x="0" y="0"/>
          <a:ext cx="0" cy="0"/>
          <a:chOff x="0" y="0"/>
          <a:chExt cx="0" cy="0"/>
        </a:xfrm>
      </p:grpSpPr>
      <p:sp>
        <p:nvSpPr>
          <p:cNvPr id="1495" name="Google Shape;1495;p78"/>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Mặt tiền: </a:t>
            </a:r>
            <a:r>
              <a:rPr lang="en-GB"/>
              <a:t>Hành vi</a:t>
            </a:r>
            <a:endParaRPr/>
          </a:p>
        </p:txBody>
      </p:sp>
      <p:sp>
        <p:nvSpPr>
          <p:cNvPr id="1496" name="Google Shape;1496;p7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497" name="Google Shape;1497;p78"/>
          <p:cNvSpPr/>
          <p:nvPr/>
        </p:nvSpPr>
        <p:spPr>
          <a:xfrm>
            <a:off x="1186895" y="1293100"/>
            <a:ext cx="13830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u="sng"/>
              <a:t>b:</a:t>
            </a:r>
            <a:r>
              <a:rPr lang="en-GB" sz="1600" u="sng"/>
              <a:t>Mặt tiền</a:t>
            </a:r>
            <a:endParaRPr sz="1600" u="sng"/>
          </a:p>
        </p:txBody>
      </p:sp>
      <p:sp>
        <p:nvSpPr>
          <p:cNvPr id="1498" name="Google Shape;1498;p78"/>
          <p:cNvSpPr/>
          <p:nvPr/>
        </p:nvSpPr>
        <p:spPr>
          <a:xfrm>
            <a:off x="3409765" y="1293100"/>
            <a:ext cx="16428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u="sng"/>
              <a:t>:Thành phần A</a:t>
            </a:r>
            <a:endParaRPr sz="1600" u="sng"/>
          </a:p>
        </p:txBody>
      </p:sp>
      <p:cxnSp>
        <p:nvCxnSpPr>
          <p:cNvPr id="1499" name="Google Shape;1499;p78"/>
          <p:cNvCxnSpPr/>
          <p:nvPr/>
        </p:nvCxnSpPr>
        <p:spPr>
          <a:xfrm>
            <a:off x="1878900" y="1615600"/>
            <a:ext cx="2700" cy="2957400"/>
          </a:xfrm>
          <a:prstGeom prst="straightConnector1">
            <a:avLst/>
          </a:prstGeom>
          <a:noFill/>
          <a:ln cap="flat" cmpd="sng" w="9525">
            <a:solidFill>
              <a:schemeClr val="dk2"/>
            </a:solidFill>
            <a:prstDash val="dash"/>
            <a:round/>
            <a:headEnd len="med" w="med" type="none"/>
            <a:tailEnd len="med" w="med" type="none"/>
          </a:ln>
        </p:spPr>
      </p:cxnSp>
      <p:cxnSp>
        <p:nvCxnSpPr>
          <p:cNvPr id="1500" name="Google Shape;1500;p78"/>
          <p:cNvCxnSpPr/>
          <p:nvPr/>
        </p:nvCxnSpPr>
        <p:spPr>
          <a:xfrm>
            <a:off x="4241100" y="1615600"/>
            <a:ext cx="0" cy="2929500"/>
          </a:xfrm>
          <a:prstGeom prst="straightConnector1">
            <a:avLst/>
          </a:prstGeom>
          <a:noFill/>
          <a:ln cap="flat" cmpd="sng" w="9525">
            <a:solidFill>
              <a:schemeClr val="dk2"/>
            </a:solidFill>
            <a:prstDash val="dash"/>
            <a:round/>
            <a:headEnd len="med" w="med" type="none"/>
            <a:tailEnd len="med" w="med" type="none"/>
          </a:ln>
        </p:spPr>
      </p:cxnSp>
      <p:sp>
        <p:nvSpPr>
          <p:cNvPr id="1501" name="Google Shape;1501;p78"/>
          <p:cNvSpPr/>
          <p:nvPr/>
        </p:nvSpPr>
        <p:spPr>
          <a:xfrm>
            <a:off x="5471273" y="1293100"/>
            <a:ext cx="14988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u="sng"/>
              <a:t>:Thành phần B</a:t>
            </a:r>
            <a:endParaRPr sz="1600" u="sng"/>
          </a:p>
        </p:txBody>
      </p:sp>
      <p:cxnSp>
        <p:nvCxnSpPr>
          <p:cNvPr id="1502" name="Google Shape;1502;p78"/>
          <p:cNvCxnSpPr/>
          <p:nvPr/>
        </p:nvCxnSpPr>
        <p:spPr>
          <a:xfrm>
            <a:off x="6222300" y="1615600"/>
            <a:ext cx="0" cy="2929500"/>
          </a:xfrm>
          <a:prstGeom prst="straightConnector1">
            <a:avLst/>
          </a:prstGeom>
          <a:noFill/>
          <a:ln cap="flat" cmpd="sng" w="9525">
            <a:solidFill>
              <a:schemeClr val="dk2"/>
            </a:solidFill>
            <a:prstDash val="dash"/>
            <a:round/>
            <a:headEnd len="med" w="med" type="none"/>
            <a:tailEnd len="med" w="med" type="none"/>
          </a:ln>
        </p:spPr>
      </p:cxnSp>
      <p:sp>
        <p:nvSpPr>
          <p:cNvPr id="1503" name="Google Shape;1503;p78"/>
          <p:cNvSpPr/>
          <p:nvPr/>
        </p:nvSpPr>
        <p:spPr>
          <a:xfrm>
            <a:off x="4170100" y="2163703"/>
            <a:ext cx="152700" cy="7266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04" name="Google Shape;1504;p78"/>
          <p:cNvSpPr/>
          <p:nvPr/>
        </p:nvSpPr>
        <p:spPr>
          <a:xfrm>
            <a:off x="1807900" y="1935117"/>
            <a:ext cx="152700" cy="23184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505" name="Google Shape;1505;p78"/>
          <p:cNvCxnSpPr/>
          <p:nvPr/>
        </p:nvCxnSpPr>
        <p:spPr>
          <a:xfrm>
            <a:off x="428525" y="2090075"/>
            <a:ext cx="1383000" cy="0"/>
          </a:xfrm>
          <a:prstGeom prst="straightConnector1">
            <a:avLst/>
          </a:prstGeom>
          <a:noFill/>
          <a:ln cap="flat" cmpd="sng" w="9525">
            <a:solidFill>
              <a:schemeClr val="dk2"/>
            </a:solidFill>
            <a:prstDash val="solid"/>
            <a:round/>
            <a:headEnd len="med" w="med" type="oval"/>
            <a:tailEnd len="med" w="med" type="triangle"/>
          </a:ln>
        </p:spPr>
      </p:cxnSp>
      <p:sp>
        <p:nvSpPr>
          <p:cNvPr id="1506" name="Google Shape;1506;p78"/>
          <p:cNvSpPr txBox="1"/>
          <p:nvPr/>
        </p:nvSpPr>
        <p:spPr>
          <a:xfrm>
            <a:off x="531824" y="1680500"/>
            <a:ext cx="1291500" cy="41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rPr>
              <a:t>Dịch vụ()</a:t>
            </a:r>
            <a:endParaRPr sz="1600">
              <a:solidFill>
                <a:schemeClr val="dk2"/>
              </a:solidFill>
            </a:endParaRPr>
          </a:p>
        </p:txBody>
      </p:sp>
      <p:sp>
        <p:nvSpPr>
          <p:cNvPr id="1507" name="Google Shape;1507;p78"/>
          <p:cNvSpPr/>
          <p:nvPr/>
        </p:nvSpPr>
        <p:spPr>
          <a:xfrm>
            <a:off x="6151300" y="3078096"/>
            <a:ext cx="152700" cy="4140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08" name="Google Shape;1508;p78"/>
          <p:cNvSpPr/>
          <p:nvPr/>
        </p:nvSpPr>
        <p:spPr>
          <a:xfrm>
            <a:off x="7223873" y="1293100"/>
            <a:ext cx="14988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u="sng"/>
              <a:t>:Thành phần </a:t>
            </a:r>
            <a:r>
              <a:rPr lang="en-GB" sz="1600" u="sng"/>
              <a:t>C</a:t>
            </a:r>
            <a:endParaRPr sz="1600" u="sng"/>
          </a:p>
        </p:txBody>
      </p:sp>
      <p:cxnSp>
        <p:nvCxnSpPr>
          <p:cNvPr id="1509" name="Google Shape;1509;p78"/>
          <p:cNvCxnSpPr/>
          <p:nvPr/>
        </p:nvCxnSpPr>
        <p:spPr>
          <a:xfrm>
            <a:off x="7974900" y="1615600"/>
            <a:ext cx="0" cy="2929500"/>
          </a:xfrm>
          <a:prstGeom prst="straightConnector1">
            <a:avLst/>
          </a:prstGeom>
          <a:noFill/>
          <a:ln cap="flat" cmpd="sng" w="9525">
            <a:solidFill>
              <a:schemeClr val="dk2"/>
            </a:solidFill>
            <a:prstDash val="dash"/>
            <a:round/>
            <a:headEnd len="med" w="med" type="none"/>
            <a:tailEnd len="med" w="med" type="none"/>
          </a:ln>
        </p:spPr>
      </p:cxnSp>
      <p:cxnSp>
        <p:nvCxnSpPr>
          <p:cNvPr id="1510" name="Google Shape;1510;p78"/>
          <p:cNvCxnSpPr/>
          <p:nvPr/>
        </p:nvCxnSpPr>
        <p:spPr>
          <a:xfrm>
            <a:off x="1952525" y="2318675"/>
            <a:ext cx="2211000" cy="0"/>
          </a:xfrm>
          <a:prstGeom prst="straightConnector1">
            <a:avLst/>
          </a:prstGeom>
          <a:noFill/>
          <a:ln cap="flat" cmpd="sng" w="9525">
            <a:solidFill>
              <a:schemeClr val="dk2"/>
            </a:solidFill>
            <a:prstDash val="solid"/>
            <a:round/>
            <a:headEnd len="med" w="med" type="none"/>
            <a:tailEnd len="med" w="med" type="triangle"/>
          </a:ln>
        </p:spPr>
      </p:cxnSp>
      <p:sp>
        <p:nvSpPr>
          <p:cNvPr id="1511" name="Google Shape;1511;p78"/>
          <p:cNvSpPr txBox="1"/>
          <p:nvPr/>
        </p:nvSpPr>
        <p:spPr>
          <a:xfrm>
            <a:off x="2055824" y="1909100"/>
            <a:ext cx="1291500" cy="41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rPr>
              <a:t>Xử lý 1</a:t>
            </a:r>
            <a:r>
              <a:rPr lang="en-GB" sz="1600">
                <a:solidFill>
                  <a:schemeClr val="dk2"/>
                </a:solidFill>
              </a:rPr>
              <a:t>()</a:t>
            </a:r>
            <a:endParaRPr sz="1600">
              <a:solidFill>
                <a:schemeClr val="dk2"/>
              </a:solidFill>
            </a:endParaRPr>
          </a:p>
        </p:txBody>
      </p:sp>
      <p:cxnSp>
        <p:nvCxnSpPr>
          <p:cNvPr id="1512" name="Google Shape;1512;p78"/>
          <p:cNvCxnSpPr/>
          <p:nvPr/>
        </p:nvCxnSpPr>
        <p:spPr>
          <a:xfrm>
            <a:off x="4314725" y="2623475"/>
            <a:ext cx="3572400" cy="0"/>
          </a:xfrm>
          <a:prstGeom prst="straightConnector1">
            <a:avLst/>
          </a:prstGeom>
          <a:noFill/>
          <a:ln cap="flat" cmpd="sng" w="9525">
            <a:solidFill>
              <a:schemeClr val="dk2"/>
            </a:solidFill>
            <a:prstDash val="solid"/>
            <a:round/>
            <a:headEnd len="med" w="med" type="none"/>
            <a:tailEnd len="med" w="med" type="triangle"/>
          </a:ln>
        </p:spPr>
      </p:cxnSp>
      <p:sp>
        <p:nvSpPr>
          <p:cNvPr id="1513" name="Google Shape;1513;p78"/>
          <p:cNvSpPr txBox="1"/>
          <p:nvPr/>
        </p:nvSpPr>
        <p:spPr>
          <a:xfrm>
            <a:off x="4418024" y="2213900"/>
            <a:ext cx="1291500" cy="41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rPr>
              <a:t>Xử lý </a:t>
            </a:r>
            <a:r>
              <a:rPr lang="en-GB" sz="1600">
                <a:solidFill>
                  <a:schemeClr val="dk2"/>
                </a:solidFill>
              </a:rPr>
              <a:t>11</a:t>
            </a:r>
            <a:r>
              <a:rPr lang="en-GB" sz="1600">
                <a:solidFill>
                  <a:schemeClr val="dk2"/>
                </a:solidFill>
              </a:rPr>
              <a:t>()</a:t>
            </a:r>
            <a:endParaRPr sz="1600">
              <a:solidFill>
                <a:schemeClr val="dk2"/>
              </a:solidFill>
            </a:endParaRPr>
          </a:p>
        </p:txBody>
      </p:sp>
      <p:sp>
        <p:nvSpPr>
          <p:cNvPr id="1514" name="Google Shape;1514;p78"/>
          <p:cNvSpPr/>
          <p:nvPr/>
        </p:nvSpPr>
        <p:spPr>
          <a:xfrm>
            <a:off x="7898550" y="2476371"/>
            <a:ext cx="152700" cy="4140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515" name="Google Shape;1515;p78"/>
          <p:cNvCxnSpPr/>
          <p:nvPr/>
        </p:nvCxnSpPr>
        <p:spPr>
          <a:xfrm>
            <a:off x="1952525" y="3156875"/>
            <a:ext cx="4177800" cy="0"/>
          </a:xfrm>
          <a:prstGeom prst="straightConnector1">
            <a:avLst/>
          </a:prstGeom>
          <a:noFill/>
          <a:ln cap="flat" cmpd="sng" w="9525">
            <a:solidFill>
              <a:schemeClr val="dk2"/>
            </a:solidFill>
            <a:prstDash val="solid"/>
            <a:round/>
            <a:headEnd len="med" w="med" type="none"/>
            <a:tailEnd len="med" w="med" type="triangle"/>
          </a:ln>
        </p:spPr>
      </p:cxnSp>
      <p:sp>
        <p:nvSpPr>
          <p:cNvPr id="1516" name="Google Shape;1516;p78"/>
          <p:cNvSpPr txBox="1"/>
          <p:nvPr/>
        </p:nvSpPr>
        <p:spPr>
          <a:xfrm>
            <a:off x="3023224" y="2742875"/>
            <a:ext cx="1291500" cy="41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rPr>
              <a:t>Xử lý 2()</a:t>
            </a:r>
            <a:endParaRPr sz="1600">
              <a:solidFill>
                <a:schemeClr val="dk2"/>
              </a:solidFill>
            </a:endParaRPr>
          </a:p>
        </p:txBody>
      </p:sp>
      <p:sp>
        <p:nvSpPr>
          <p:cNvPr id="1517" name="Google Shape;1517;p78"/>
          <p:cNvSpPr/>
          <p:nvPr/>
        </p:nvSpPr>
        <p:spPr>
          <a:xfrm>
            <a:off x="7898550" y="3771771"/>
            <a:ext cx="152700" cy="4140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518" name="Google Shape;1518;p78"/>
          <p:cNvCxnSpPr/>
          <p:nvPr/>
        </p:nvCxnSpPr>
        <p:spPr>
          <a:xfrm>
            <a:off x="1952525" y="3918875"/>
            <a:ext cx="5934600" cy="0"/>
          </a:xfrm>
          <a:prstGeom prst="straightConnector1">
            <a:avLst/>
          </a:prstGeom>
          <a:noFill/>
          <a:ln cap="flat" cmpd="sng" w="9525">
            <a:solidFill>
              <a:schemeClr val="dk2"/>
            </a:solidFill>
            <a:prstDash val="solid"/>
            <a:round/>
            <a:headEnd len="med" w="med" type="none"/>
            <a:tailEnd len="med" w="med" type="triangle"/>
          </a:ln>
        </p:spPr>
      </p:cxnSp>
      <p:sp>
        <p:nvSpPr>
          <p:cNvPr id="1519" name="Google Shape;1519;p78"/>
          <p:cNvSpPr txBox="1"/>
          <p:nvPr/>
        </p:nvSpPr>
        <p:spPr>
          <a:xfrm>
            <a:off x="4494224" y="3509300"/>
            <a:ext cx="1291500" cy="41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rPr>
              <a:t>Xử lý 3()</a:t>
            </a:r>
            <a:endParaRPr sz="1600">
              <a:solidFill>
                <a:schemeClr val="dk2"/>
              </a:solidFill>
            </a:endParaRPr>
          </a:p>
        </p:txBody>
      </p:sp>
      <p:sp>
        <p:nvSpPr>
          <p:cNvPr id="1520" name="Google Shape;1520;p78"/>
          <p:cNvSpPr txBox="1"/>
          <p:nvPr/>
        </p:nvSpPr>
        <p:spPr>
          <a:xfrm>
            <a:off x="4677750" y="4422675"/>
            <a:ext cx="635400" cy="72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3200">
                <a:solidFill>
                  <a:srgbClr val="666666"/>
                </a:solidFill>
              </a:rPr>
              <a:t>…</a:t>
            </a:r>
            <a:endParaRPr b="1" sz="3200">
              <a:solidFill>
                <a:srgbClr val="666666"/>
              </a:solidFill>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4" name="Shape 1524"/>
        <p:cNvGrpSpPr/>
        <p:nvPr/>
      </p:nvGrpSpPr>
      <p:grpSpPr>
        <a:xfrm>
          <a:off x="0" y="0"/>
          <a:ext cx="0" cy="0"/>
          <a:chOff x="0" y="0"/>
          <a:chExt cx="0" cy="0"/>
        </a:xfrm>
      </p:grpSpPr>
      <p:sp>
        <p:nvSpPr>
          <p:cNvPr id="1525" name="Google Shape;1525;p79"/>
          <p:cNvSpPr/>
          <p:nvPr/>
        </p:nvSpPr>
        <p:spPr>
          <a:xfrm>
            <a:off x="429175" y="1319775"/>
            <a:ext cx="8403000" cy="4532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26" name="Google Shape;1526;p79"/>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12. trình biên dịch</a:t>
            </a:r>
            <a:endParaRPr/>
          </a:p>
        </p:txBody>
      </p:sp>
      <p:sp>
        <p:nvSpPr>
          <p:cNvPr id="1527" name="Google Shape;1527;p7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528" name="Google Shape;1528;p79"/>
          <p:cNvSpPr/>
          <p:nvPr/>
        </p:nvSpPr>
        <p:spPr>
          <a:xfrm>
            <a:off x="3736400" y="970480"/>
            <a:ext cx="13146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Compiler</a:t>
            </a:r>
            <a:endParaRPr sz="1600"/>
          </a:p>
        </p:txBody>
      </p:sp>
      <p:sp>
        <p:nvSpPr>
          <p:cNvPr id="1529" name="Google Shape;1529;p79"/>
          <p:cNvSpPr/>
          <p:nvPr/>
        </p:nvSpPr>
        <p:spPr>
          <a:xfrm>
            <a:off x="3736400" y="1292706"/>
            <a:ext cx="1314600" cy="3225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l">
              <a:spcBef>
                <a:spcPts val="0"/>
              </a:spcBef>
              <a:spcAft>
                <a:spcPts val="0"/>
              </a:spcAft>
              <a:buNone/>
            </a:pPr>
            <a:r>
              <a:rPr lang="en-GB" sz="1600"/>
              <a:t>Compile</a:t>
            </a:r>
            <a:r>
              <a:rPr lang="en-GB" sz="1600"/>
              <a:t>()</a:t>
            </a:r>
            <a:endParaRPr sz="1600"/>
          </a:p>
        </p:txBody>
      </p:sp>
      <p:sp>
        <p:nvSpPr>
          <p:cNvPr id="1530" name="Google Shape;1530;p79"/>
          <p:cNvSpPr/>
          <p:nvPr/>
        </p:nvSpPr>
        <p:spPr>
          <a:xfrm>
            <a:off x="5184200" y="2225950"/>
            <a:ext cx="13146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Scanner</a:t>
            </a:r>
            <a:endParaRPr sz="1600"/>
          </a:p>
        </p:txBody>
      </p:sp>
      <p:sp>
        <p:nvSpPr>
          <p:cNvPr id="1531" name="Google Shape;1531;p79"/>
          <p:cNvSpPr/>
          <p:nvPr/>
        </p:nvSpPr>
        <p:spPr>
          <a:xfrm>
            <a:off x="6936800" y="2225950"/>
            <a:ext cx="14394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Token</a:t>
            </a:r>
            <a:endParaRPr sz="1600"/>
          </a:p>
        </p:txBody>
      </p:sp>
      <p:sp>
        <p:nvSpPr>
          <p:cNvPr id="1532" name="Google Shape;1532;p79"/>
          <p:cNvSpPr/>
          <p:nvPr/>
        </p:nvSpPr>
        <p:spPr>
          <a:xfrm>
            <a:off x="5184200" y="2759350"/>
            <a:ext cx="13146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Parser</a:t>
            </a:r>
            <a:endParaRPr sz="1600"/>
          </a:p>
        </p:txBody>
      </p:sp>
      <p:sp>
        <p:nvSpPr>
          <p:cNvPr id="1533" name="Google Shape;1533;p79"/>
          <p:cNvSpPr/>
          <p:nvPr/>
        </p:nvSpPr>
        <p:spPr>
          <a:xfrm>
            <a:off x="6936800" y="2759350"/>
            <a:ext cx="14394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Symbol</a:t>
            </a:r>
            <a:endParaRPr sz="1600"/>
          </a:p>
        </p:txBody>
      </p:sp>
      <p:sp>
        <p:nvSpPr>
          <p:cNvPr id="1534" name="Google Shape;1534;p79"/>
          <p:cNvSpPr/>
          <p:nvPr/>
        </p:nvSpPr>
        <p:spPr>
          <a:xfrm>
            <a:off x="4542000" y="3292750"/>
            <a:ext cx="20760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ProgramNodeBuilder</a:t>
            </a:r>
            <a:endParaRPr sz="1600"/>
          </a:p>
        </p:txBody>
      </p:sp>
      <p:sp>
        <p:nvSpPr>
          <p:cNvPr id="1535" name="Google Shape;1535;p79"/>
          <p:cNvSpPr/>
          <p:nvPr/>
        </p:nvSpPr>
        <p:spPr>
          <a:xfrm>
            <a:off x="6936800" y="3292750"/>
            <a:ext cx="14394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ProgramNode</a:t>
            </a:r>
            <a:endParaRPr sz="1600"/>
          </a:p>
        </p:txBody>
      </p:sp>
      <p:sp>
        <p:nvSpPr>
          <p:cNvPr id="1536" name="Google Shape;1536;p79"/>
          <p:cNvSpPr/>
          <p:nvPr/>
        </p:nvSpPr>
        <p:spPr>
          <a:xfrm>
            <a:off x="4803200" y="4054750"/>
            <a:ext cx="17175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StatementNode</a:t>
            </a:r>
            <a:endParaRPr sz="1600"/>
          </a:p>
        </p:txBody>
      </p:sp>
      <p:sp>
        <p:nvSpPr>
          <p:cNvPr id="1537" name="Google Shape;1537;p79"/>
          <p:cNvSpPr/>
          <p:nvPr/>
        </p:nvSpPr>
        <p:spPr>
          <a:xfrm>
            <a:off x="5238346" y="4664350"/>
            <a:ext cx="17175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Expression</a:t>
            </a:r>
            <a:r>
              <a:rPr lang="en-GB" sz="1600"/>
              <a:t>Node</a:t>
            </a:r>
            <a:endParaRPr sz="1600"/>
          </a:p>
        </p:txBody>
      </p:sp>
      <p:sp>
        <p:nvSpPr>
          <p:cNvPr id="1538" name="Google Shape;1538;p79"/>
          <p:cNvSpPr/>
          <p:nvPr/>
        </p:nvSpPr>
        <p:spPr>
          <a:xfrm>
            <a:off x="5909275" y="5273950"/>
            <a:ext cx="15039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Variable</a:t>
            </a:r>
            <a:r>
              <a:rPr lang="en-GB" sz="1600"/>
              <a:t>Node</a:t>
            </a:r>
            <a:endParaRPr sz="1600"/>
          </a:p>
        </p:txBody>
      </p:sp>
      <p:sp>
        <p:nvSpPr>
          <p:cNvPr id="1539" name="Google Shape;1539;p79"/>
          <p:cNvSpPr/>
          <p:nvPr/>
        </p:nvSpPr>
        <p:spPr>
          <a:xfrm>
            <a:off x="1374200" y="2225950"/>
            <a:ext cx="13146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Stream</a:t>
            </a:r>
            <a:endParaRPr sz="1600"/>
          </a:p>
        </p:txBody>
      </p:sp>
      <p:sp>
        <p:nvSpPr>
          <p:cNvPr id="1540" name="Google Shape;1540;p79"/>
          <p:cNvSpPr/>
          <p:nvPr/>
        </p:nvSpPr>
        <p:spPr>
          <a:xfrm>
            <a:off x="1108700" y="2987950"/>
            <a:ext cx="18288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BytecodeStream</a:t>
            </a:r>
            <a:endParaRPr sz="1600"/>
          </a:p>
        </p:txBody>
      </p:sp>
      <p:sp>
        <p:nvSpPr>
          <p:cNvPr id="1541" name="Google Shape;1541;p79"/>
          <p:cNvSpPr/>
          <p:nvPr/>
        </p:nvSpPr>
        <p:spPr>
          <a:xfrm>
            <a:off x="1108700" y="3673750"/>
            <a:ext cx="18288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CodeGenerator</a:t>
            </a:r>
            <a:endParaRPr sz="1600"/>
          </a:p>
        </p:txBody>
      </p:sp>
      <p:sp>
        <p:nvSpPr>
          <p:cNvPr id="1542" name="Google Shape;1542;p79"/>
          <p:cNvSpPr/>
          <p:nvPr/>
        </p:nvSpPr>
        <p:spPr>
          <a:xfrm>
            <a:off x="499100" y="4664350"/>
            <a:ext cx="29958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StackMachineCodeGenerator</a:t>
            </a:r>
            <a:endParaRPr sz="1600"/>
          </a:p>
        </p:txBody>
      </p:sp>
      <p:sp>
        <p:nvSpPr>
          <p:cNvPr id="1543" name="Google Shape;1543;p79"/>
          <p:cNvSpPr/>
          <p:nvPr/>
        </p:nvSpPr>
        <p:spPr>
          <a:xfrm>
            <a:off x="2708900" y="5121550"/>
            <a:ext cx="20943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RISC</a:t>
            </a:r>
            <a:r>
              <a:rPr lang="en-GB" sz="1600"/>
              <a:t>CodeGenerator</a:t>
            </a:r>
            <a:endParaRPr sz="1600"/>
          </a:p>
        </p:txBody>
      </p:sp>
      <p:sp>
        <p:nvSpPr>
          <p:cNvPr id="1544" name="Google Shape;1544;p79"/>
          <p:cNvSpPr/>
          <p:nvPr/>
        </p:nvSpPr>
        <p:spPr>
          <a:xfrm>
            <a:off x="7176072" y="3643742"/>
            <a:ext cx="191700" cy="1047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5" name="Google Shape;1545;p79"/>
          <p:cNvSpPr/>
          <p:nvPr/>
        </p:nvSpPr>
        <p:spPr>
          <a:xfrm>
            <a:off x="7480872" y="3643742"/>
            <a:ext cx="191700" cy="1047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6" name="Google Shape;1546;p79"/>
          <p:cNvSpPr/>
          <p:nvPr/>
        </p:nvSpPr>
        <p:spPr>
          <a:xfrm>
            <a:off x="7785672" y="3643742"/>
            <a:ext cx="191700" cy="1047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7" name="Google Shape;1547;p79"/>
          <p:cNvSpPr/>
          <p:nvPr/>
        </p:nvSpPr>
        <p:spPr>
          <a:xfrm>
            <a:off x="1918272" y="2576942"/>
            <a:ext cx="191700" cy="1047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8" name="Google Shape;1548;p79"/>
          <p:cNvSpPr/>
          <p:nvPr/>
        </p:nvSpPr>
        <p:spPr>
          <a:xfrm>
            <a:off x="1461072" y="4024742"/>
            <a:ext cx="191700" cy="1047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9" name="Google Shape;1549;p79"/>
          <p:cNvSpPr/>
          <p:nvPr/>
        </p:nvSpPr>
        <p:spPr>
          <a:xfrm>
            <a:off x="2070672" y="4024742"/>
            <a:ext cx="191700" cy="1047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550" name="Google Shape;1550;p79"/>
          <p:cNvCxnSpPr>
            <a:stCxn id="1540" idx="0"/>
            <a:endCxn id="1547" idx="3"/>
          </p:cNvCxnSpPr>
          <p:nvPr/>
        </p:nvCxnSpPr>
        <p:spPr>
          <a:xfrm rot="10800000">
            <a:off x="2014100" y="2681650"/>
            <a:ext cx="9000" cy="306300"/>
          </a:xfrm>
          <a:prstGeom prst="straightConnector1">
            <a:avLst/>
          </a:prstGeom>
          <a:noFill/>
          <a:ln cap="flat" cmpd="sng" w="9525">
            <a:solidFill>
              <a:schemeClr val="dk2"/>
            </a:solidFill>
            <a:prstDash val="solid"/>
            <a:round/>
            <a:headEnd len="med" w="med" type="none"/>
            <a:tailEnd len="med" w="med" type="none"/>
          </a:ln>
        </p:spPr>
      </p:cxnSp>
      <p:cxnSp>
        <p:nvCxnSpPr>
          <p:cNvPr id="1551" name="Google Shape;1551;p79"/>
          <p:cNvCxnSpPr>
            <a:stCxn id="1542" idx="0"/>
            <a:endCxn id="1548" idx="3"/>
          </p:cNvCxnSpPr>
          <p:nvPr/>
        </p:nvCxnSpPr>
        <p:spPr>
          <a:xfrm flipH="1" rot="5400000">
            <a:off x="1509500" y="4176850"/>
            <a:ext cx="534900" cy="440100"/>
          </a:xfrm>
          <a:prstGeom prst="bentConnector3">
            <a:avLst>
              <a:gd fmla="val 50001" name="adj1"/>
            </a:avLst>
          </a:prstGeom>
          <a:noFill/>
          <a:ln cap="flat" cmpd="sng" w="9525">
            <a:solidFill>
              <a:schemeClr val="dk2"/>
            </a:solidFill>
            <a:prstDash val="solid"/>
            <a:round/>
            <a:headEnd len="med" w="med" type="none"/>
            <a:tailEnd len="med" w="med" type="none"/>
          </a:ln>
        </p:spPr>
      </p:cxnSp>
      <p:cxnSp>
        <p:nvCxnSpPr>
          <p:cNvPr id="1552" name="Google Shape;1552;p79"/>
          <p:cNvCxnSpPr>
            <a:stCxn id="1543" idx="0"/>
            <a:endCxn id="1549" idx="3"/>
          </p:cNvCxnSpPr>
          <p:nvPr/>
        </p:nvCxnSpPr>
        <p:spPr>
          <a:xfrm flipH="1" rot="5400000">
            <a:off x="2465300" y="3830800"/>
            <a:ext cx="992100" cy="1589400"/>
          </a:xfrm>
          <a:prstGeom prst="bentConnector3">
            <a:avLst>
              <a:gd fmla="val 75307" name="adj1"/>
            </a:avLst>
          </a:prstGeom>
          <a:noFill/>
          <a:ln cap="flat" cmpd="sng" w="9525">
            <a:solidFill>
              <a:schemeClr val="dk2"/>
            </a:solidFill>
            <a:prstDash val="solid"/>
            <a:round/>
            <a:headEnd len="med" w="med" type="none"/>
            <a:tailEnd len="med" w="med" type="none"/>
          </a:ln>
        </p:spPr>
      </p:cxnSp>
      <p:cxnSp>
        <p:nvCxnSpPr>
          <p:cNvPr id="1553" name="Google Shape;1553;p79"/>
          <p:cNvCxnSpPr>
            <a:stCxn id="1536" idx="3"/>
            <a:endCxn id="1544" idx="3"/>
          </p:cNvCxnSpPr>
          <p:nvPr/>
        </p:nvCxnSpPr>
        <p:spPr>
          <a:xfrm flipH="1" rot="10800000">
            <a:off x="6520700" y="3748300"/>
            <a:ext cx="751200" cy="467700"/>
          </a:xfrm>
          <a:prstGeom prst="bentConnector2">
            <a:avLst/>
          </a:prstGeom>
          <a:noFill/>
          <a:ln cap="flat" cmpd="sng" w="9525">
            <a:solidFill>
              <a:schemeClr val="dk2"/>
            </a:solidFill>
            <a:prstDash val="solid"/>
            <a:round/>
            <a:headEnd len="med" w="med" type="none"/>
            <a:tailEnd len="med" w="med" type="none"/>
          </a:ln>
        </p:spPr>
      </p:cxnSp>
      <p:cxnSp>
        <p:nvCxnSpPr>
          <p:cNvPr id="1554" name="Google Shape;1554;p79"/>
          <p:cNvCxnSpPr>
            <a:stCxn id="1537" idx="3"/>
            <a:endCxn id="1545" idx="3"/>
          </p:cNvCxnSpPr>
          <p:nvPr/>
        </p:nvCxnSpPr>
        <p:spPr>
          <a:xfrm flipH="1" rot="10800000">
            <a:off x="6955846" y="3748300"/>
            <a:ext cx="621000" cy="1077300"/>
          </a:xfrm>
          <a:prstGeom prst="bentConnector2">
            <a:avLst/>
          </a:prstGeom>
          <a:noFill/>
          <a:ln cap="flat" cmpd="sng" w="9525">
            <a:solidFill>
              <a:schemeClr val="dk2"/>
            </a:solidFill>
            <a:prstDash val="solid"/>
            <a:round/>
            <a:headEnd len="med" w="med" type="none"/>
            <a:tailEnd len="med" w="med" type="none"/>
          </a:ln>
        </p:spPr>
      </p:cxnSp>
      <p:cxnSp>
        <p:nvCxnSpPr>
          <p:cNvPr id="1555" name="Google Shape;1555;p79"/>
          <p:cNvCxnSpPr>
            <a:stCxn id="1538" idx="3"/>
            <a:endCxn id="1546" idx="3"/>
          </p:cNvCxnSpPr>
          <p:nvPr/>
        </p:nvCxnSpPr>
        <p:spPr>
          <a:xfrm flipH="1" rot="10800000">
            <a:off x="7413175" y="3748300"/>
            <a:ext cx="468300" cy="1686900"/>
          </a:xfrm>
          <a:prstGeom prst="bentConnector2">
            <a:avLst/>
          </a:prstGeom>
          <a:noFill/>
          <a:ln cap="flat" cmpd="sng" w="9525">
            <a:solidFill>
              <a:schemeClr val="dk2"/>
            </a:solidFill>
            <a:prstDash val="solid"/>
            <a:round/>
            <a:headEnd len="med" w="med" type="none"/>
            <a:tailEnd len="med" w="med" type="none"/>
          </a:ln>
        </p:spPr>
      </p:cxnSp>
      <p:cxnSp>
        <p:nvCxnSpPr>
          <p:cNvPr id="1556" name="Google Shape;1556;p79"/>
          <p:cNvCxnSpPr>
            <a:stCxn id="1535" idx="3"/>
            <a:endCxn id="1533" idx="3"/>
          </p:cNvCxnSpPr>
          <p:nvPr/>
        </p:nvCxnSpPr>
        <p:spPr>
          <a:xfrm flipH="1" rot="10800000">
            <a:off x="8376200" y="2920600"/>
            <a:ext cx="600" cy="533400"/>
          </a:xfrm>
          <a:prstGeom prst="bentConnector3">
            <a:avLst>
              <a:gd fmla="val 39687500" name="adj1"/>
            </a:avLst>
          </a:prstGeom>
          <a:noFill/>
          <a:ln cap="flat" cmpd="sng" w="9525">
            <a:solidFill>
              <a:schemeClr val="dk2"/>
            </a:solidFill>
            <a:prstDash val="solid"/>
            <a:round/>
            <a:headEnd len="med" w="med" type="none"/>
            <a:tailEnd len="med" w="med" type="none"/>
          </a:ln>
        </p:spPr>
      </p:cxnSp>
      <p:cxnSp>
        <p:nvCxnSpPr>
          <p:cNvPr id="1557" name="Google Shape;1557;p79"/>
          <p:cNvCxnSpPr>
            <a:stCxn id="1535" idx="3"/>
            <a:endCxn id="1531" idx="3"/>
          </p:cNvCxnSpPr>
          <p:nvPr/>
        </p:nvCxnSpPr>
        <p:spPr>
          <a:xfrm flipH="1" rot="10800000">
            <a:off x="8376200" y="2387200"/>
            <a:ext cx="600" cy="1066800"/>
          </a:xfrm>
          <a:prstGeom prst="bentConnector3">
            <a:avLst>
              <a:gd fmla="val 39687500" name="adj1"/>
            </a:avLst>
          </a:prstGeom>
          <a:noFill/>
          <a:ln cap="flat" cmpd="sng" w="9525">
            <a:solidFill>
              <a:schemeClr val="dk2"/>
            </a:solidFill>
            <a:prstDash val="solid"/>
            <a:round/>
            <a:headEnd len="med" w="med" type="none"/>
            <a:tailEnd len="med" w="med" type="none"/>
          </a:ln>
        </p:spPr>
      </p:cxnSp>
      <p:cxnSp>
        <p:nvCxnSpPr>
          <p:cNvPr id="1558" name="Google Shape;1558;p79"/>
          <p:cNvCxnSpPr>
            <a:stCxn id="1541" idx="1"/>
            <a:endCxn id="1540" idx="1"/>
          </p:cNvCxnSpPr>
          <p:nvPr/>
        </p:nvCxnSpPr>
        <p:spPr>
          <a:xfrm flipH="1" rot="10800000">
            <a:off x="1108700" y="3149200"/>
            <a:ext cx="600" cy="685800"/>
          </a:xfrm>
          <a:prstGeom prst="bentConnector3">
            <a:avLst>
              <a:gd fmla="val -39687500" name="adj1"/>
            </a:avLst>
          </a:prstGeom>
          <a:noFill/>
          <a:ln cap="flat" cmpd="sng" w="9525">
            <a:solidFill>
              <a:schemeClr val="dk2"/>
            </a:solidFill>
            <a:prstDash val="solid"/>
            <a:round/>
            <a:headEnd len="med" w="med" type="none"/>
            <a:tailEnd len="med" w="med" type="none"/>
          </a:ln>
        </p:spPr>
      </p:cxnSp>
      <p:cxnSp>
        <p:nvCxnSpPr>
          <p:cNvPr id="1559" name="Google Shape;1559;p79"/>
          <p:cNvCxnSpPr>
            <a:endCxn id="1541" idx="3"/>
          </p:cNvCxnSpPr>
          <p:nvPr/>
        </p:nvCxnSpPr>
        <p:spPr>
          <a:xfrm rot="5400000">
            <a:off x="2402750" y="2153950"/>
            <a:ext cx="2215800" cy="1146300"/>
          </a:xfrm>
          <a:prstGeom prst="bentConnector2">
            <a:avLst/>
          </a:prstGeom>
          <a:noFill/>
          <a:ln cap="flat" cmpd="sng" w="9525">
            <a:solidFill>
              <a:schemeClr val="dk2"/>
            </a:solidFill>
            <a:prstDash val="dash"/>
            <a:round/>
            <a:headEnd len="med" w="med" type="none"/>
            <a:tailEnd len="med" w="med" type="triangle"/>
          </a:ln>
        </p:spPr>
      </p:cxnSp>
      <p:cxnSp>
        <p:nvCxnSpPr>
          <p:cNvPr id="1560" name="Google Shape;1560;p79"/>
          <p:cNvCxnSpPr>
            <a:endCxn id="1534" idx="1"/>
          </p:cNvCxnSpPr>
          <p:nvPr/>
        </p:nvCxnSpPr>
        <p:spPr>
          <a:xfrm flipH="1" rot="-5400000">
            <a:off x="3469800" y="2381800"/>
            <a:ext cx="1864800" cy="279600"/>
          </a:xfrm>
          <a:prstGeom prst="bentConnector2">
            <a:avLst/>
          </a:prstGeom>
          <a:noFill/>
          <a:ln cap="flat" cmpd="sng" w="9525">
            <a:solidFill>
              <a:schemeClr val="dk2"/>
            </a:solidFill>
            <a:prstDash val="dash"/>
            <a:round/>
            <a:headEnd len="med" w="med" type="none"/>
            <a:tailEnd len="med" w="med" type="triangle"/>
          </a:ln>
        </p:spPr>
      </p:cxnSp>
      <p:cxnSp>
        <p:nvCxnSpPr>
          <p:cNvPr id="1561" name="Google Shape;1561;p79"/>
          <p:cNvCxnSpPr>
            <a:endCxn id="1530" idx="1"/>
          </p:cNvCxnSpPr>
          <p:nvPr/>
        </p:nvCxnSpPr>
        <p:spPr>
          <a:xfrm flipH="1" rot="-5400000">
            <a:off x="4593950" y="1796950"/>
            <a:ext cx="817800" cy="362700"/>
          </a:xfrm>
          <a:prstGeom prst="bentConnector2">
            <a:avLst/>
          </a:prstGeom>
          <a:noFill/>
          <a:ln cap="flat" cmpd="sng" w="9525">
            <a:solidFill>
              <a:schemeClr val="dk2"/>
            </a:solidFill>
            <a:prstDash val="solid"/>
            <a:round/>
            <a:headEnd len="med" w="med" type="none"/>
            <a:tailEnd len="med" w="med" type="none"/>
          </a:ln>
        </p:spPr>
      </p:cxnSp>
      <p:cxnSp>
        <p:nvCxnSpPr>
          <p:cNvPr id="1562" name="Google Shape;1562;p79"/>
          <p:cNvCxnSpPr>
            <a:stCxn id="1530" idx="3"/>
            <a:endCxn id="1531" idx="1"/>
          </p:cNvCxnSpPr>
          <p:nvPr/>
        </p:nvCxnSpPr>
        <p:spPr>
          <a:xfrm>
            <a:off x="6498800" y="2387200"/>
            <a:ext cx="438000" cy="0"/>
          </a:xfrm>
          <a:prstGeom prst="straightConnector1">
            <a:avLst/>
          </a:prstGeom>
          <a:noFill/>
          <a:ln cap="flat" cmpd="sng" w="9525">
            <a:solidFill>
              <a:schemeClr val="dk2"/>
            </a:solidFill>
            <a:prstDash val="dash"/>
            <a:round/>
            <a:headEnd len="med" w="med" type="none"/>
            <a:tailEnd len="med" w="med" type="triangle"/>
          </a:ln>
        </p:spPr>
      </p:cxnSp>
      <p:cxnSp>
        <p:nvCxnSpPr>
          <p:cNvPr id="1563" name="Google Shape;1563;p79"/>
          <p:cNvCxnSpPr>
            <a:stCxn id="1534" idx="3"/>
            <a:endCxn id="1535" idx="1"/>
          </p:cNvCxnSpPr>
          <p:nvPr/>
        </p:nvCxnSpPr>
        <p:spPr>
          <a:xfrm>
            <a:off x="6618000" y="3454000"/>
            <a:ext cx="318900" cy="0"/>
          </a:xfrm>
          <a:prstGeom prst="straightConnector1">
            <a:avLst/>
          </a:prstGeom>
          <a:noFill/>
          <a:ln cap="flat" cmpd="sng" w="9525">
            <a:solidFill>
              <a:schemeClr val="dk2"/>
            </a:solidFill>
            <a:prstDash val="dash"/>
            <a:round/>
            <a:headEnd len="med" w="med" type="none"/>
            <a:tailEnd len="med" w="med" type="triangle"/>
          </a:ln>
        </p:spPr>
      </p:cxnSp>
      <p:cxnSp>
        <p:nvCxnSpPr>
          <p:cNvPr id="1564" name="Google Shape;1564;p79"/>
          <p:cNvCxnSpPr/>
          <p:nvPr/>
        </p:nvCxnSpPr>
        <p:spPr>
          <a:xfrm flipH="1" rot="-5400000">
            <a:off x="4192550" y="1928825"/>
            <a:ext cx="1345200" cy="638100"/>
          </a:xfrm>
          <a:prstGeom prst="bentConnector2">
            <a:avLst/>
          </a:prstGeom>
          <a:noFill/>
          <a:ln cap="flat" cmpd="sng" w="9525">
            <a:solidFill>
              <a:schemeClr val="dk2"/>
            </a:solidFill>
            <a:prstDash val="dash"/>
            <a:round/>
            <a:headEnd len="med" w="med" type="none"/>
            <a:tailEnd len="med" w="med" type="triangle"/>
          </a:ln>
        </p:spPr>
      </p:cxn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8" name="Shape 1568"/>
        <p:cNvGrpSpPr/>
        <p:nvPr/>
      </p:nvGrpSpPr>
      <p:grpSpPr>
        <a:xfrm>
          <a:off x="0" y="0"/>
          <a:ext cx="0" cy="0"/>
          <a:chOff x="0" y="0"/>
          <a:chExt cx="0" cy="0"/>
        </a:xfrm>
      </p:grpSpPr>
      <p:sp>
        <p:nvSpPr>
          <p:cNvPr id="1569" name="Google Shape;1569;p80"/>
          <p:cNvSpPr/>
          <p:nvPr/>
        </p:nvSpPr>
        <p:spPr>
          <a:xfrm>
            <a:off x="410225" y="1862375"/>
            <a:ext cx="8265600" cy="41712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t/>
            </a:r>
            <a:endParaRPr/>
          </a:p>
        </p:txBody>
      </p:sp>
      <p:sp>
        <p:nvSpPr>
          <p:cNvPr id="1570" name="Google Shape;1570;p80"/>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a:t>
            </a:r>
            <a:r>
              <a:rPr lang="en-GB"/>
              <a:t>í dụ 13. Quản lý bộ nhớ</a:t>
            </a:r>
            <a:endParaRPr/>
          </a:p>
        </p:txBody>
      </p:sp>
      <p:sp>
        <p:nvSpPr>
          <p:cNvPr id="1571" name="Google Shape;1571;p8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572" name="Google Shape;1572;p80"/>
          <p:cNvSpPr/>
          <p:nvPr/>
        </p:nvSpPr>
        <p:spPr>
          <a:xfrm>
            <a:off x="3431600" y="1387750"/>
            <a:ext cx="28047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Domain</a:t>
            </a:r>
            <a:endParaRPr sz="1600"/>
          </a:p>
        </p:txBody>
      </p:sp>
      <p:sp>
        <p:nvSpPr>
          <p:cNvPr id="1573" name="Google Shape;1573;p80"/>
          <p:cNvSpPr/>
          <p:nvPr/>
        </p:nvSpPr>
        <p:spPr>
          <a:xfrm>
            <a:off x="3431600" y="1709975"/>
            <a:ext cx="2804700" cy="1107300"/>
          </a:xfrm>
          <a:prstGeom prst="rect">
            <a:avLst/>
          </a:prstGeom>
          <a:solidFill>
            <a:srgbClr val="FFFFFF"/>
          </a:solid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lang="en-GB" sz="1600"/>
              <a:t>Add</a:t>
            </a:r>
            <a:r>
              <a:rPr lang="en-GB" sz="1600"/>
              <a:t>(</a:t>
            </a:r>
            <a:r>
              <a:rPr lang="en-GB" sz="1600"/>
              <a:t>Memory, Address</a:t>
            </a:r>
            <a:r>
              <a:rPr lang="en-GB" sz="1600"/>
              <a:t>)</a:t>
            </a:r>
            <a:endParaRPr sz="1600"/>
          </a:p>
          <a:p>
            <a:pPr indent="0" lvl="0" marL="0" rtl="0" algn="l">
              <a:spcBef>
                <a:spcPts val="0"/>
              </a:spcBef>
              <a:spcAft>
                <a:spcPts val="0"/>
              </a:spcAft>
              <a:buNone/>
            </a:pPr>
            <a:r>
              <a:rPr lang="en-GB" sz="1600"/>
              <a:t>Remove(Memory)</a:t>
            </a:r>
            <a:endParaRPr sz="1600"/>
          </a:p>
          <a:p>
            <a:pPr indent="0" lvl="0" marL="0" rtl="0" algn="l">
              <a:spcBef>
                <a:spcPts val="0"/>
              </a:spcBef>
              <a:spcAft>
                <a:spcPts val="0"/>
              </a:spcAft>
              <a:buNone/>
            </a:pPr>
            <a:r>
              <a:rPr lang="en-GB" sz="1600"/>
              <a:t>Protect(Memory, Protection)</a:t>
            </a:r>
            <a:endParaRPr sz="1600"/>
          </a:p>
          <a:p>
            <a:pPr indent="0" lvl="0" marL="0" rtl="0" algn="l">
              <a:spcBef>
                <a:spcPts val="0"/>
              </a:spcBef>
              <a:spcAft>
                <a:spcPts val="0"/>
              </a:spcAft>
              <a:buNone/>
            </a:pPr>
            <a:r>
              <a:rPr lang="en-GB" sz="1600"/>
              <a:t>RepairFault()</a:t>
            </a:r>
            <a:endParaRPr sz="1600"/>
          </a:p>
        </p:txBody>
      </p:sp>
      <p:sp>
        <p:nvSpPr>
          <p:cNvPr id="1574" name="Google Shape;1574;p80"/>
          <p:cNvSpPr/>
          <p:nvPr/>
        </p:nvSpPr>
        <p:spPr>
          <a:xfrm>
            <a:off x="612200" y="3064150"/>
            <a:ext cx="21438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AddressTranslation</a:t>
            </a:r>
            <a:endParaRPr sz="1600"/>
          </a:p>
        </p:txBody>
      </p:sp>
      <p:sp>
        <p:nvSpPr>
          <p:cNvPr id="1575" name="Google Shape;1575;p80"/>
          <p:cNvSpPr/>
          <p:nvPr/>
        </p:nvSpPr>
        <p:spPr>
          <a:xfrm>
            <a:off x="612200" y="3386375"/>
            <a:ext cx="2143800" cy="447000"/>
          </a:xfrm>
          <a:prstGeom prst="rect">
            <a:avLst/>
          </a:prstGeom>
          <a:solidFill>
            <a:srgbClr val="FFFFFF"/>
          </a:solid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lang="en-GB" sz="1600"/>
              <a:t>FindMemory(Address)</a:t>
            </a:r>
            <a:endParaRPr sz="1600"/>
          </a:p>
        </p:txBody>
      </p:sp>
      <p:sp>
        <p:nvSpPr>
          <p:cNvPr id="1576" name="Google Shape;1576;p80"/>
          <p:cNvSpPr/>
          <p:nvPr/>
        </p:nvSpPr>
        <p:spPr>
          <a:xfrm>
            <a:off x="668435" y="4453175"/>
            <a:ext cx="1986300" cy="368400"/>
          </a:xfrm>
          <a:prstGeom prst="rect">
            <a:avLst/>
          </a:prstGeom>
          <a:solidFill>
            <a:srgbClr val="FFFFFF"/>
          </a:solid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ctr">
              <a:spcBef>
                <a:spcPts val="0"/>
              </a:spcBef>
              <a:spcAft>
                <a:spcPts val="0"/>
              </a:spcAft>
              <a:buNone/>
            </a:pPr>
            <a:r>
              <a:rPr lang="en-GB" sz="1600"/>
              <a:t>TwoLevelPageTable</a:t>
            </a:r>
            <a:endParaRPr sz="1600"/>
          </a:p>
        </p:txBody>
      </p:sp>
      <p:sp>
        <p:nvSpPr>
          <p:cNvPr id="1577" name="Google Shape;1577;p80"/>
          <p:cNvSpPr/>
          <p:nvPr/>
        </p:nvSpPr>
        <p:spPr>
          <a:xfrm>
            <a:off x="3584000" y="3064150"/>
            <a:ext cx="16125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MemoryObject</a:t>
            </a:r>
            <a:endParaRPr sz="1600"/>
          </a:p>
        </p:txBody>
      </p:sp>
      <p:sp>
        <p:nvSpPr>
          <p:cNvPr id="1578" name="Google Shape;1578;p80"/>
          <p:cNvSpPr/>
          <p:nvPr/>
        </p:nvSpPr>
        <p:spPr>
          <a:xfrm>
            <a:off x="3584000" y="3386375"/>
            <a:ext cx="1612500" cy="447000"/>
          </a:xfrm>
          <a:prstGeom prst="rect">
            <a:avLst/>
          </a:prstGeom>
          <a:solidFill>
            <a:srgbClr val="FFFFFF"/>
          </a:solid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lang="en-GB" sz="1600"/>
              <a:t>BuildCache()</a:t>
            </a:r>
            <a:endParaRPr sz="1600"/>
          </a:p>
        </p:txBody>
      </p:sp>
      <p:sp>
        <p:nvSpPr>
          <p:cNvPr id="1579" name="Google Shape;1579;p80"/>
          <p:cNvSpPr/>
          <p:nvPr/>
        </p:nvSpPr>
        <p:spPr>
          <a:xfrm>
            <a:off x="3584000" y="4453175"/>
            <a:ext cx="1612500" cy="368400"/>
          </a:xfrm>
          <a:prstGeom prst="rect">
            <a:avLst/>
          </a:prstGeom>
          <a:solidFill>
            <a:srgbClr val="FFFFFF"/>
          </a:solid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ctr">
              <a:spcBef>
                <a:spcPts val="0"/>
              </a:spcBef>
              <a:spcAft>
                <a:spcPts val="0"/>
              </a:spcAft>
              <a:buNone/>
            </a:pPr>
            <a:r>
              <a:rPr lang="en-GB" sz="1600"/>
              <a:t>PersistentStore</a:t>
            </a:r>
            <a:endParaRPr sz="1600"/>
          </a:p>
        </p:txBody>
      </p:sp>
      <p:sp>
        <p:nvSpPr>
          <p:cNvPr id="1580" name="Google Shape;1580;p80"/>
          <p:cNvSpPr/>
          <p:nvPr/>
        </p:nvSpPr>
        <p:spPr>
          <a:xfrm>
            <a:off x="6371800" y="3041200"/>
            <a:ext cx="2100600" cy="368400"/>
          </a:xfrm>
          <a:prstGeom prst="rect">
            <a:avLst/>
          </a:prstGeom>
          <a:solidFill>
            <a:srgbClr val="FFFFFF"/>
          </a:solid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ctr">
              <a:spcBef>
                <a:spcPts val="0"/>
              </a:spcBef>
              <a:spcAft>
                <a:spcPts val="0"/>
              </a:spcAft>
              <a:buNone/>
            </a:pPr>
            <a:r>
              <a:rPr lang="en-GB" sz="1600"/>
              <a:t>MemoryObjectCache</a:t>
            </a:r>
            <a:endParaRPr sz="1600"/>
          </a:p>
        </p:txBody>
      </p:sp>
      <p:sp>
        <p:nvSpPr>
          <p:cNvPr id="1581" name="Google Shape;1581;p80"/>
          <p:cNvSpPr/>
          <p:nvPr/>
        </p:nvSpPr>
        <p:spPr>
          <a:xfrm>
            <a:off x="5905400" y="4108000"/>
            <a:ext cx="2622300" cy="368400"/>
          </a:xfrm>
          <a:prstGeom prst="rect">
            <a:avLst/>
          </a:prstGeom>
          <a:solidFill>
            <a:srgbClr val="FFFFFF"/>
          </a:solid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ctr">
              <a:spcBef>
                <a:spcPts val="0"/>
              </a:spcBef>
              <a:spcAft>
                <a:spcPts val="0"/>
              </a:spcAft>
              <a:buNone/>
            </a:pPr>
            <a:r>
              <a:rPr lang="en-GB" sz="1600"/>
              <a:t>PagedMemoryObjectCache</a:t>
            </a:r>
            <a:endParaRPr sz="1600"/>
          </a:p>
        </p:txBody>
      </p:sp>
      <p:sp>
        <p:nvSpPr>
          <p:cNvPr id="1582" name="Google Shape;1582;p80"/>
          <p:cNvSpPr/>
          <p:nvPr/>
        </p:nvSpPr>
        <p:spPr>
          <a:xfrm>
            <a:off x="3584000" y="5443775"/>
            <a:ext cx="683100" cy="368400"/>
          </a:xfrm>
          <a:prstGeom prst="rect">
            <a:avLst/>
          </a:prstGeom>
          <a:solidFill>
            <a:srgbClr val="FFFFFF"/>
          </a:solid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ctr">
              <a:spcBef>
                <a:spcPts val="0"/>
              </a:spcBef>
              <a:spcAft>
                <a:spcPts val="0"/>
              </a:spcAft>
              <a:buNone/>
            </a:pPr>
            <a:r>
              <a:rPr lang="en-GB" sz="1600"/>
              <a:t>File</a:t>
            </a:r>
            <a:endParaRPr sz="1600"/>
          </a:p>
        </p:txBody>
      </p:sp>
      <p:sp>
        <p:nvSpPr>
          <p:cNvPr id="1583" name="Google Shape;1583;p80"/>
          <p:cNvSpPr/>
          <p:nvPr/>
        </p:nvSpPr>
        <p:spPr>
          <a:xfrm>
            <a:off x="4518365" y="5443775"/>
            <a:ext cx="683100" cy="368400"/>
          </a:xfrm>
          <a:prstGeom prst="rect">
            <a:avLst/>
          </a:prstGeom>
          <a:solidFill>
            <a:srgbClr val="FFFFFF"/>
          </a:solid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ctr">
              <a:spcBef>
                <a:spcPts val="0"/>
              </a:spcBef>
              <a:spcAft>
                <a:spcPts val="0"/>
              </a:spcAft>
              <a:buNone/>
            </a:pPr>
            <a:r>
              <a:rPr lang="en-GB" sz="1600"/>
              <a:t>Disk</a:t>
            </a:r>
            <a:endParaRPr sz="1600"/>
          </a:p>
        </p:txBody>
      </p:sp>
      <p:sp>
        <p:nvSpPr>
          <p:cNvPr id="1584" name="Google Shape;1584;p80"/>
          <p:cNvSpPr/>
          <p:nvPr/>
        </p:nvSpPr>
        <p:spPr>
          <a:xfrm>
            <a:off x="3180037" y="2099060"/>
            <a:ext cx="259550" cy="149750"/>
          </a:xfrm>
          <a:prstGeom prst="flowChartDecision">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sp>
        <p:nvSpPr>
          <p:cNvPr id="1585" name="Google Shape;1585;p80"/>
          <p:cNvSpPr/>
          <p:nvPr/>
        </p:nvSpPr>
        <p:spPr>
          <a:xfrm>
            <a:off x="3180037" y="2271425"/>
            <a:ext cx="259550" cy="149750"/>
          </a:xfrm>
          <a:prstGeom prst="flowChartDecision">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cxnSp>
        <p:nvCxnSpPr>
          <p:cNvPr id="1586" name="Google Shape;1586;p80"/>
          <p:cNvCxnSpPr>
            <a:stCxn id="1577" idx="1"/>
            <a:endCxn id="1585" idx="1"/>
          </p:cNvCxnSpPr>
          <p:nvPr/>
        </p:nvCxnSpPr>
        <p:spPr>
          <a:xfrm rot="10800000">
            <a:off x="3179900" y="2346400"/>
            <a:ext cx="404100" cy="879000"/>
          </a:xfrm>
          <a:prstGeom prst="bentConnector3">
            <a:avLst>
              <a:gd fmla="val 158893" name="adj1"/>
            </a:avLst>
          </a:prstGeom>
          <a:noFill/>
          <a:ln cap="flat" cmpd="sng" w="9525">
            <a:solidFill>
              <a:schemeClr val="dk2"/>
            </a:solidFill>
            <a:prstDash val="solid"/>
            <a:round/>
            <a:headEnd len="med" w="med" type="none"/>
            <a:tailEnd len="med" w="med" type="none"/>
          </a:ln>
        </p:spPr>
      </p:cxnSp>
      <p:cxnSp>
        <p:nvCxnSpPr>
          <p:cNvPr id="1587" name="Google Shape;1587;p80"/>
          <p:cNvCxnSpPr>
            <a:stCxn id="1574" idx="0"/>
            <a:endCxn id="1584" idx="1"/>
          </p:cNvCxnSpPr>
          <p:nvPr/>
        </p:nvCxnSpPr>
        <p:spPr>
          <a:xfrm rot="-5400000">
            <a:off x="1986950" y="1871200"/>
            <a:ext cx="890100" cy="1495800"/>
          </a:xfrm>
          <a:prstGeom prst="bentConnector2">
            <a:avLst/>
          </a:prstGeom>
          <a:noFill/>
          <a:ln cap="flat" cmpd="sng" w="9525">
            <a:solidFill>
              <a:schemeClr val="dk2"/>
            </a:solidFill>
            <a:prstDash val="solid"/>
            <a:round/>
            <a:headEnd len="med" w="med" type="none"/>
            <a:tailEnd len="med" w="med" type="none"/>
          </a:ln>
        </p:spPr>
      </p:cxnSp>
      <p:sp>
        <p:nvSpPr>
          <p:cNvPr id="1588" name="Google Shape;1588;p80"/>
          <p:cNvSpPr/>
          <p:nvPr/>
        </p:nvSpPr>
        <p:spPr>
          <a:xfrm>
            <a:off x="1539245" y="3833375"/>
            <a:ext cx="233400" cy="1497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cxnSp>
        <p:nvCxnSpPr>
          <p:cNvPr id="1589" name="Google Shape;1589;p80"/>
          <p:cNvCxnSpPr>
            <a:stCxn id="1588" idx="3"/>
            <a:endCxn id="1576" idx="0"/>
          </p:cNvCxnSpPr>
          <p:nvPr/>
        </p:nvCxnSpPr>
        <p:spPr>
          <a:xfrm>
            <a:off x="1655945" y="3983075"/>
            <a:ext cx="5700" cy="470100"/>
          </a:xfrm>
          <a:prstGeom prst="straightConnector1">
            <a:avLst/>
          </a:prstGeom>
          <a:noFill/>
          <a:ln cap="flat" cmpd="sng" w="9525">
            <a:solidFill>
              <a:schemeClr val="dk2"/>
            </a:solidFill>
            <a:prstDash val="solid"/>
            <a:round/>
            <a:headEnd len="med" w="med" type="none"/>
            <a:tailEnd len="med" w="med" type="none"/>
          </a:ln>
        </p:spPr>
      </p:cxnSp>
      <p:sp>
        <p:nvSpPr>
          <p:cNvPr id="1590" name="Google Shape;1590;p80"/>
          <p:cNvSpPr/>
          <p:nvPr/>
        </p:nvSpPr>
        <p:spPr>
          <a:xfrm>
            <a:off x="4282445" y="3833375"/>
            <a:ext cx="233400" cy="1497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sp>
        <p:nvSpPr>
          <p:cNvPr id="1591" name="Google Shape;1591;p80"/>
          <p:cNvSpPr/>
          <p:nvPr/>
        </p:nvSpPr>
        <p:spPr>
          <a:xfrm>
            <a:off x="3825245" y="4823975"/>
            <a:ext cx="233400" cy="1497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sp>
        <p:nvSpPr>
          <p:cNvPr id="1592" name="Google Shape;1592;p80"/>
          <p:cNvSpPr/>
          <p:nvPr/>
        </p:nvSpPr>
        <p:spPr>
          <a:xfrm>
            <a:off x="4739645" y="4823975"/>
            <a:ext cx="233400" cy="1497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sp>
        <p:nvSpPr>
          <p:cNvPr id="1593" name="Google Shape;1593;p80"/>
          <p:cNvSpPr/>
          <p:nvPr/>
        </p:nvSpPr>
        <p:spPr>
          <a:xfrm>
            <a:off x="7101845" y="3432410"/>
            <a:ext cx="233400" cy="1497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cxnSp>
        <p:nvCxnSpPr>
          <p:cNvPr id="1594" name="Google Shape;1594;p80"/>
          <p:cNvCxnSpPr>
            <a:stCxn id="1590" idx="3"/>
            <a:endCxn id="1579" idx="0"/>
          </p:cNvCxnSpPr>
          <p:nvPr/>
        </p:nvCxnSpPr>
        <p:spPr>
          <a:xfrm flipH="1">
            <a:off x="4390145" y="3983075"/>
            <a:ext cx="9000" cy="470100"/>
          </a:xfrm>
          <a:prstGeom prst="straightConnector1">
            <a:avLst/>
          </a:prstGeom>
          <a:noFill/>
          <a:ln cap="flat" cmpd="sng" w="9525">
            <a:solidFill>
              <a:schemeClr val="dk2"/>
            </a:solidFill>
            <a:prstDash val="solid"/>
            <a:round/>
            <a:headEnd len="med" w="med" type="none"/>
            <a:tailEnd len="med" w="med" type="none"/>
          </a:ln>
        </p:spPr>
      </p:cxnSp>
      <p:cxnSp>
        <p:nvCxnSpPr>
          <p:cNvPr id="1595" name="Google Shape;1595;p80"/>
          <p:cNvCxnSpPr>
            <a:stCxn id="1591" idx="3"/>
            <a:endCxn id="1582" idx="0"/>
          </p:cNvCxnSpPr>
          <p:nvPr/>
        </p:nvCxnSpPr>
        <p:spPr>
          <a:xfrm flipH="1">
            <a:off x="3925445" y="4973675"/>
            <a:ext cx="16500" cy="470100"/>
          </a:xfrm>
          <a:prstGeom prst="straightConnector1">
            <a:avLst/>
          </a:prstGeom>
          <a:noFill/>
          <a:ln cap="flat" cmpd="sng" w="9525">
            <a:solidFill>
              <a:schemeClr val="dk2"/>
            </a:solidFill>
            <a:prstDash val="solid"/>
            <a:round/>
            <a:headEnd len="med" w="med" type="none"/>
            <a:tailEnd len="med" w="med" type="none"/>
          </a:ln>
        </p:spPr>
      </p:cxnSp>
      <p:cxnSp>
        <p:nvCxnSpPr>
          <p:cNvPr id="1596" name="Google Shape;1596;p80"/>
          <p:cNvCxnSpPr>
            <a:stCxn id="1592" idx="3"/>
            <a:endCxn id="1583" idx="0"/>
          </p:cNvCxnSpPr>
          <p:nvPr/>
        </p:nvCxnSpPr>
        <p:spPr>
          <a:xfrm>
            <a:off x="4856345" y="4973675"/>
            <a:ext cx="3600" cy="470100"/>
          </a:xfrm>
          <a:prstGeom prst="straightConnector1">
            <a:avLst/>
          </a:prstGeom>
          <a:noFill/>
          <a:ln cap="flat" cmpd="sng" w="9525">
            <a:solidFill>
              <a:schemeClr val="dk2"/>
            </a:solidFill>
            <a:prstDash val="solid"/>
            <a:round/>
            <a:headEnd len="med" w="med" type="none"/>
            <a:tailEnd len="med" w="med" type="none"/>
          </a:ln>
        </p:spPr>
      </p:cxnSp>
      <p:cxnSp>
        <p:nvCxnSpPr>
          <p:cNvPr id="1597" name="Google Shape;1597;p80"/>
          <p:cNvCxnSpPr>
            <a:stCxn id="1593" idx="3"/>
            <a:endCxn id="1581" idx="0"/>
          </p:cNvCxnSpPr>
          <p:nvPr/>
        </p:nvCxnSpPr>
        <p:spPr>
          <a:xfrm flipH="1">
            <a:off x="7216445" y="3582110"/>
            <a:ext cx="2100" cy="525900"/>
          </a:xfrm>
          <a:prstGeom prst="straightConnector1">
            <a:avLst/>
          </a:prstGeom>
          <a:noFill/>
          <a:ln cap="flat" cmpd="sng" w="9525">
            <a:solidFill>
              <a:schemeClr val="dk2"/>
            </a:solidFill>
            <a:prstDash val="solid"/>
            <a:round/>
            <a:headEnd len="med" w="med" type="none"/>
            <a:tailEnd len="med" w="med" type="none"/>
          </a:ln>
        </p:spPr>
      </p:cxnSp>
      <p:cxnSp>
        <p:nvCxnSpPr>
          <p:cNvPr id="1598" name="Google Shape;1598;p80"/>
          <p:cNvCxnSpPr>
            <a:stCxn id="1577" idx="3"/>
            <a:endCxn id="1580" idx="1"/>
          </p:cNvCxnSpPr>
          <p:nvPr/>
        </p:nvCxnSpPr>
        <p:spPr>
          <a:xfrm>
            <a:off x="5196500" y="3225400"/>
            <a:ext cx="1175400" cy="0"/>
          </a:xfrm>
          <a:prstGeom prst="straightConnector1">
            <a:avLst/>
          </a:prstGeom>
          <a:noFill/>
          <a:ln cap="flat" cmpd="sng" w="9525">
            <a:solidFill>
              <a:schemeClr val="dk2"/>
            </a:solidFill>
            <a:prstDash val="solid"/>
            <a:round/>
            <a:headEnd len="med" w="med" type="none"/>
            <a:tailEnd len="med" w="med" type="none"/>
          </a:ln>
        </p:spPr>
      </p:cxnSp>
      <p:sp>
        <p:nvSpPr>
          <p:cNvPr id="1599" name="Google Shape;1599;p80"/>
          <p:cNvSpPr txBox="1"/>
          <p:nvPr/>
        </p:nvSpPr>
        <p:spPr>
          <a:xfrm>
            <a:off x="6236350" y="1852500"/>
            <a:ext cx="2425800" cy="44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a:solidFill>
                  <a:schemeClr val="dk2"/>
                </a:solidFill>
              </a:rPr>
              <a:t>virtual memory framework</a:t>
            </a:r>
            <a:endParaRPr i="1">
              <a:solidFill>
                <a:schemeClr val="dk2"/>
              </a:solidFill>
            </a:endParaRPr>
          </a:p>
        </p:txBody>
      </p:sp>
      <p:sp>
        <p:nvSpPr>
          <p:cNvPr id="1600" name="Google Shape;1600;p80"/>
          <p:cNvSpPr/>
          <p:nvPr/>
        </p:nvSpPr>
        <p:spPr>
          <a:xfrm>
            <a:off x="1509250" y="1387750"/>
            <a:ext cx="11517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Process</a:t>
            </a:r>
            <a:endParaRPr sz="1600"/>
          </a:p>
        </p:txBody>
      </p:sp>
      <p:cxnSp>
        <p:nvCxnSpPr>
          <p:cNvPr id="1601" name="Google Shape;1601;p80"/>
          <p:cNvCxnSpPr>
            <a:stCxn id="1600" idx="3"/>
            <a:endCxn id="1572" idx="1"/>
          </p:cNvCxnSpPr>
          <p:nvPr/>
        </p:nvCxnSpPr>
        <p:spPr>
          <a:xfrm>
            <a:off x="2660950" y="1549000"/>
            <a:ext cx="770700" cy="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5" name="Shape 1605"/>
        <p:cNvGrpSpPr/>
        <p:nvPr/>
      </p:nvGrpSpPr>
      <p:grpSpPr>
        <a:xfrm>
          <a:off x="0" y="0"/>
          <a:ext cx="0" cy="0"/>
          <a:chOff x="0" y="0"/>
          <a:chExt cx="0" cy="0"/>
        </a:xfrm>
      </p:grpSpPr>
      <p:sp>
        <p:nvSpPr>
          <p:cNvPr id="1606" name="Google Shape;1606;p81"/>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M</a:t>
            </a:r>
            <a:r>
              <a:rPr lang="en-GB"/>
              <a:t>ặt tiền: Các hệ quả</a:t>
            </a:r>
            <a:endParaRPr/>
          </a:p>
        </p:txBody>
      </p:sp>
      <p:sp>
        <p:nvSpPr>
          <p:cNvPr id="1607" name="Google Shape;1607;p8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608" name="Google Shape;1608;p81"/>
          <p:cNvSpPr txBox="1"/>
          <p:nvPr>
            <p:ph idx="1" type="body"/>
          </p:nvPr>
        </p:nvSpPr>
        <p:spPr>
          <a:xfrm>
            <a:off x="311700" y="950475"/>
            <a:ext cx="8520600" cy="5418300"/>
          </a:xfrm>
          <a:prstGeom prst="rect">
            <a:avLst/>
          </a:prstGeom>
        </p:spPr>
        <p:txBody>
          <a:bodyPr anchorCtr="0" anchor="t" bIns="91425" lIns="91425" spcFirstLastPara="1" rIns="91425" wrap="square" tIns="91425">
            <a:noAutofit/>
          </a:bodyPr>
          <a:lstStyle/>
          <a:p>
            <a:pPr indent="-381000" lvl="0" marL="457200" rtl="0" algn="just">
              <a:spcBef>
                <a:spcPts val="0"/>
              </a:spcBef>
              <a:spcAft>
                <a:spcPts val="0"/>
              </a:spcAft>
              <a:buSzPts val="2400"/>
              <a:buChar char="●"/>
            </a:pPr>
            <a:r>
              <a:rPr lang="en-GB"/>
              <a:t>Phân tách phạm vi sử dụng với các thành phần của phân hệ, qua đó giảm số lượng đối tượng </a:t>
            </a:r>
            <a:r>
              <a:rPr lang="en-GB"/>
              <a:t>hành vi</a:t>
            </a:r>
            <a:r>
              <a:rPr lang="en-GB"/>
              <a:t> và làm hệ thống dễ sử dụng hơn.</a:t>
            </a:r>
            <a:endParaRPr/>
          </a:p>
          <a:p>
            <a:pPr indent="-381000" lvl="0" marL="457200" rtl="0" algn="just">
              <a:spcBef>
                <a:spcPts val="0"/>
              </a:spcBef>
              <a:spcAft>
                <a:spcPts val="0"/>
              </a:spcAft>
              <a:buSzPts val="2400"/>
              <a:buChar char="●"/>
            </a:pPr>
            <a:r>
              <a:rPr lang="en-GB"/>
              <a:t>Nới lỏng phụ thuộc giữa phân hệ và phía khách.</a:t>
            </a:r>
            <a:endParaRPr/>
          </a:p>
          <a:p>
            <a:pPr indent="-381000" lvl="0" marL="457200" rtl="0" algn="just">
              <a:spcBef>
                <a:spcPts val="0"/>
              </a:spcBef>
              <a:spcAft>
                <a:spcPts val="0"/>
              </a:spcAft>
              <a:buSzPts val="2400"/>
              <a:buChar char="●"/>
            </a:pPr>
            <a:r>
              <a:rPr lang="en-GB"/>
              <a:t>Ứng dụng vẫn có thể sử dụng các lớp trong phân hệ nếu cần. </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2" name="Shape 1612"/>
        <p:cNvGrpSpPr/>
        <p:nvPr/>
      </p:nvGrpSpPr>
      <p:grpSpPr>
        <a:xfrm>
          <a:off x="0" y="0"/>
          <a:ext cx="0" cy="0"/>
          <a:chOff x="0" y="0"/>
          <a:chExt cx="0" cy="0"/>
        </a:xfrm>
      </p:grpSpPr>
      <p:sp>
        <p:nvSpPr>
          <p:cNvPr id="1613" name="Google Shape;1613;p82"/>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Hạng ruồi</a:t>
            </a:r>
            <a:endParaRPr/>
          </a:p>
        </p:txBody>
      </p:sp>
      <p:sp>
        <p:nvSpPr>
          <p:cNvPr id="1614" name="Google Shape;1614;p82"/>
          <p:cNvSpPr txBox="1"/>
          <p:nvPr>
            <p:ph idx="1" type="body"/>
          </p:nvPr>
        </p:nvSpPr>
        <p:spPr>
          <a:xfrm>
            <a:off x="311700" y="950475"/>
            <a:ext cx="8520600" cy="54183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i="1" lang="en-GB"/>
              <a:t>Flyweight</a:t>
            </a:r>
            <a:endParaRPr i="1"/>
          </a:p>
          <a:p>
            <a:pPr indent="0" lvl="0" marL="0" rtl="0" algn="just">
              <a:spcBef>
                <a:spcPts val="0"/>
              </a:spcBef>
              <a:spcAft>
                <a:spcPts val="0"/>
              </a:spcAft>
              <a:buNone/>
            </a:pPr>
            <a:r>
              <a:rPr lang="en-GB"/>
              <a:t>C</a:t>
            </a:r>
            <a:r>
              <a:rPr lang="en-GB"/>
              <a:t>hia sẻ để sử dụng hiệu quả các đối tượng nhỏ với số lượng lớn.</a:t>
            </a:r>
            <a:endParaRPr/>
          </a:p>
        </p:txBody>
      </p:sp>
      <p:sp>
        <p:nvSpPr>
          <p:cNvPr id="1615" name="Google Shape;1615;p8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9" name="Shape 1619"/>
        <p:cNvGrpSpPr/>
        <p:nvPr/>
      </p:nvGrpSpPr>
      <p:grpSpPr>
        <a:xfrm>
          <a:off x="0" y="0"/>
          <a:ext cx="0" cy="0"/>
          <a:chOff x="0" y="0"/>
          <a:chExt cx="0" cy="0"/>
        </a:xfrm>
      </p:grpSpPr>
      <p:sp>
        <p:nvSpPr>
          <p:cNvPr id="1620" name="Google Shape;1620;p83"/>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Hạng ruồi: Cấu trúc</a:t>
            </a:r>
            <a:endParaRPr/>
          </a:p>
        </p:txBody>
      </p:sp>
      <p:sp>
        <p:nvSpPr>
          <p:cNvPr id="1621" name="Google Shape;1621;p8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622" name="Google Shape;1622;p83"/>
          <p:cNvSpPr/>
          <p:nvPr/>
        </p:nvSpPr>
        <p:spPr>
          <a:xfrm>
            <a:off x="430196" y="1334125"/>
            <a:ext cx="24231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Nhà máy Hạng ruồi</a:t>
            </a:r>
            <a:endParaRPr sz="1600"/>
          </a:p>
        </p:txBody>
      </p:sp>
      <p:sp>
        <p:nvSpPr>
          <p:cNvPr id="1623" name="Google Shape;1623;p83"/>
          <p:cNvSpPr/>
          <p:nvPr/>
        </p:nvSpPr>
        <p:spPr>
          <a:xfrm>
            <a:off x="430175" y="1656350"/>
            <a:ext cx="2423100" cy="3915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lang="en-GB" sz="1600"/>
              <a:t>Lấy đối tượng (khóa)</a:t>
            </a:r>
            <a:endParaRPr sz="1600"/>
          </a:p>
        </p:txBody>
      </p:sp>
      <p:sp>
        <p:nvSpPr>
          <p:cNvPr id="1624" name="Google Shape;1624;p83"/>
          <p:cNvSpPr/>
          <p:nvPr/>
        </p:nvSpPr>
        <p:spPr>
          <a:xfrm>
            <a:off x="4652823" y="1334125"/>
            <a:ext cx="26355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i="1" lang="en-GB" sz="1600"/>
              <a:t>Lớp hạng ruồi</a:t>
            </a:r>
            <a:endParaRPr i="1" sz="1600"/>
          </a:p>
        </p:txBody>
      </p:sp>
      <p:sp>
        <p:nvSpPr>
          <p:cNvPr id="1625" name="Google Shape;1625;p83"/>
          <p:cNvSpPr/>
          <p:nvPr/>
        </p:nvSpPr>
        <p:spPr>
          <a:xfrm>
            <a:off x="4652800" y="1656350"/>
            <a:ext cx="2635500" cy="3915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lang="en-GB" sz="1600"/>
              <a:t>Thao tác</a:t>
            </a:r>
            <a:r>
              <a:rPr lang="en-GB" sz="1600"/>
              <a:t>(</a:t>
            </a:r>
            <a:r>
              <a:rPr lang="en-GB" sz="1600"/>
              <a:t>trạng thái ngoại</a:t>
            </a:r>
            <a:r>
              <a:rPr lang="en-GB" sz="1600"/>
              <a:t>)</a:t>
            </a:r>
            <a:endParaRPr sz="1600"/>
          </a:p>
        </p:txBody>
      </p:sp>
      <p:sp>
        <p:nvSpPr>
          <p:cNvPr id="1626" name="Google Shape;1626;p83"/>
          <p:cNvSpPr/>
          <p:nvPr/>
        </p:nvSpPr>
        <p:spPr>
          <a:xfrm>
            <a:off x="750500" y="4382125"/>
            <a:ext cx="1008000" cy="4380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Khách</a:t>
            </a:r>
            <a:endParaRPr sz="1600"/>
          </a:p>
        </p:txBody>
      </p:sp>
      <p:sp>
        <p:nvSpPr>
          <p:cNvPr id="1627" name="Google Shape;1627;p83"/>
          <p:cNvSpPr/>
          <p:nvPr/>
        </p:nvSpPr>
        <p:spPr>
          <a:xfrm>
            <a:off x="2656324" y="4077325"/>
            <a:ext cx="28128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Lớp hạng ruồi dùng chung</a:t>
            </a:r>
            <a:endParaRPr sz="1600"/>
          </a:p>
        </p:txBody>
      </p:sp>
      <p:sp>
        <p:nvSpPr>
          <p:cNvPr id="1628" name="Google Shape;1628;p83"/>
          <p:cNvSpPr/>
          <p:nvPr/>
        </p:nvSpPr>
        <p:spPr>
          <a:xfrm>
            <a:off x="2656299" y="4789275"/>
            <a:ext cx="2812800" cy="3915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lang="en-GB" sz="1600"/>
              <a:t>Thao tác</a:t>
            </a:r>
            <a:r>
              <a:rPr lang="en-GB" sz="1600"/>
              <a:t>(</a:t>
            </a:r>
            <a:r>
              <a:rPr lang="en-GB" sz="1600"/>
              <a:t>trạng thái ngoại</a:t>
            </a:r>
            <a:r>
              <a:rPr lang="en-GB" sz="1600"/>
              <a:t>)</a:t>
            </a:r>
            <a:endParaRPr sz="1600"/>
          </a:p>
        </p:txBody>
      </p:sp>
      <p:sp>
        <p:nvSpPr>
          <p:cNvPr id="1629" name="Google Shape;1629;p83"/>
          <p:cNvSpPr/>
          <p:nvPr/>
        </p:nvSpPr>
        <p:spPr>
          <a:xfrm>
            <a:off x="2656299" y="4399555"/>
            <a:ext cx="2812800" cy="3915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lang="en-GB" sz="1600"/>
              <a:t>trạng thái nội</a:t>
            </a:r>
            <a:endParaRPr sz="1600"/>
          </a:p>
        </p:txBody>
      </p:sp>
      <p:sp>
        <p:nvSpPr>
          <p:cNvPr id="1630" name="Google Shape;1630;p83"/>
          <p:cNvSpPr/>
          <p:nvPr/>
        </p:nvSpPr>
        <p:spPr>
          <a:xfrm>
            <a:off x="5970525" y="4077325"/>
            <a:ext cx="27675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Lớp hạng ruồi Không chia sẻ</a:t>
            </a:r>
            <a:endParaRPr sz="1600"/>
          </a:p>
        </p:txBody>
      </p:sp>
      <p:sp>
        <p:nvSpPr>
          <p:cNvPr id="1631" name="Google Shape;1631;p83"/>
          <p:cNvSpPr/>
          <p:nvPr/>
        </p:nvSpPr>
        <p:spPr>
          <a:xfrm>
            <a:off x="5970500" y="4789274"/>
            <a:ext cx="2767500" cy="3915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lang="en-GB" sz="1600"/>
              <a:t>Thao tác</a:t>
            </a:r>
            <a:r>
              <a:rPr lang="en-GB" sz="1600"/>
              <a:t>(</a:t>
            </a:r>
            <a:r>
              <a:rPr lang="en-GB" sz="1600"/>
              <a:t>trạng thái ngoại</a:t>
            </a:r>
            <a:r>
              <a:rPr lang="en-GB" sz="1600"/>
              <a:t>)</a:t>
            </a:r>
            <a:endParaRPr sz="1600"/>
          </a:p>
        </p:txBody>
      </p:sp>
      <p:sp>
        <p:nvSpPr>
          <p:cNvPr id="1632" name="Google Shape;1632;p83"/>
          <p:cNvSpPr/>
          <p:nvPr/>
        </p:nvSpPr>
        <p:spPr>
          <a:xfrm>
            <a:off x="5970500" y="4399554"/>
            <a:ext cx="2767500" cy="3915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lang="en-GB" sz="1600"/>
              <a:t>tất cả trạng thái</a:t>
            </a:r>
            <a:endParaRPr sz="1600"/>
          </a:p>
        </p:txBody>
      </p:sp>
      <p:sp>
        <p:nvSpPr>
          <p:cNvPr id="1633" name="Google Shape;1633;p83"/>
          <p:cNvSpPr/>
          <p:nvPr/>
        </p:nvSpPr>
        <p:spPr>
          <a:xfrm>
            <a:off x="2853291" y="1444420"/>
            <a:ext cx="191700" cy="117050"/>
          </a:xfrm>
          <a:prstGeom prst="flowChartDecision">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634" name="Google Shape;1634;p83"/>
          <p:cNvCxnSpPr>
            <a:stCxn id="1624" idx="1"/>
            <a:endCxn id="1633" idx="3"/>
          </p:cNvCxnSpPr>
          <p:nvPr/>
        </p:nvCxnSpPr>
        <p:spPr>
          <a:xfrm flipH="1">
            <a:off x="3045123" y="1495375"/>
            <a:ext cx="1607700" cy="7500"/>
          </a:xfrm>
          <a:prstGeom prst="straightConnector1">
            <a:avLst/>
          </a:prstGeom>
          <a:noFill/>
          <a:ln cap="flat" cmpd="sng" w="9525">
            <a:solidFill>
              <a:schemeClr val="dk2"/>
            </a:solidFill>
            <a:prstDash val="solid"/>
            <a:round/>
            <a:headEnd len="med" w="med" type="none"/>
            <a:tailEnd len="med" w="med" type="none"/>
          </a:ln>
        </p:spPr>
      </p:cxnSp>
      <p:sp>
        <p:nvSpPr>
          <p:cNvPr id="1635" name="Google Shape;1635;p83"/>
          <p:cNvSpPr/>
          <p:nvPr/>
        </p:nvSpPr>
        <p:spPr>
          <a:xfrm>
            <a:off x="5373414" y="2052256"/>
            <a:ext cx="191700" cy="1047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6" name="Google Shape;1636;p83"/>
          <p:cNvSpPr/>
          <p:nvPr/>
        </p:nvSpPr>
        <p:spPr>
          <a:xfrm>
            <a:off x="6135414" y="2052256"/>
            <a:ext cx="191700" cy="1047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637" name="Google Shape;1637;p83"/>
          <p:cNvCxnSpPr>
            <a:endCxn id="1635" idx="3"/>
          </p:cNvCxnSpPr>
          <p:nvPr/>
        </p:nvCxnSpPr>
        <p:spPr>
          <a:xfrm rot="-5400000">
            <a:off x="4047114" y="2632906"/>
            <a:ext cx="1898100" cy="946200"/>
          </a:xfrm>
          <a:prstGeom prst="bentConnector3">
            <a:avLst>
              <a:gd fmla="val 50000" name="adj1"/>
            </a:avLst>
          </a:prstGeom>
          <a:noFill/>
          <a:ln cap="flat" cmpd="sng" w="9525">
            <a:solidFill>
              <a:schemeClr val="dk2"/>
            </a:solidFill>
            <a:prstDash val="solid"/>
            <a:round/>
            <a:headEnd len="med" w="med" type="none"/>
            <a:tailEnd len="med" w="med" type="none"/>
          </a:ln>
        </p:spPr>
      </p:cxnSp>
      <p:cxnSp>
        <p:nvCxnSpPr>
          <p:cNvPr id="1638" name="Google Shape;1638;p83"/>
          <p:cNvCxnSpPr>
            <a:stCxn id="1630" idx="0"/>
            <a:endCxn id="1636" idx="3"/>
          </p:cNvCxnSpPr>
          <p:nvPr/>
        </p:nvCxnSpPr>
        <p:spPr>
          <a:xfrm flipH="1" rot="5400000">
            <a:off x="5832675" y="2555725"/>
            <a:ext cx="1920300" cy="1122900"/>
          </a:xfrm>
          <a:prstGeom prst="bentConnector3">
            <a:avLst>
              <a:gd fmla="val 50002" name="adj1"/>
            </a:avLst>
          </a:prstGeom>
          <a:noFill/>
          <a:ln cap="flat" cmpd="sng" w="9525">
            <a:solidFill>
              <a:schemeClr val="dk2"/>
            </a:solidFill>
            <a:prstDash val="solid"/>
            <a:round/>
            <a:headEnd len="med" w="med" type="none"/>
            <a:tailEnd len="med" w="med" type="none"/>
          </a:ln>
        </p:spPr>
      </p:cxnSp>
      <p:cxnSp>
        <p:nvCxnSpPr>
          <p:cNvPr id="1639" name="Google Shape;1639;p83"/>
          <p:cNvCxnSpPr>
            <a:stCxn id="1626" idx="0"/>
          </p:cNvCxnSpPr>
          <p:nvPr/>
        </p:nvCxnSpPr>
        <p:spPr>
          <a:xfrm rot="10800000">
            <a:off x="1254500" y="2047825"/>
            <a:ext cx="0" cy="2334300"/>
          </a:xfrm>
          <a:prstGeom prst="straightConnector1">
            <a:avLst/>
          </a:prstGeom>
          <a:noFill/>
          <a:ln cap="flat" cmpd="sng" w="9525">
            <a:solidFill>
              <a:schemeClr val="dk2"/>
            </a:solidFill>
            <a:prstDash val="dash"/>
            <a:round/>
            <a:headEnd len="med" w="med" type="none"/>
            <a:tailEnd len="med" w="med" type="triangle"/>
          </a:ln>
        </p:spPr>
      </p:cxnSp>
      <p:cxnSp>
        <p:nvCxnSpPr>
          <p:cNvPr id="1640" name="Google Shape;1640;p83"/>
          <p:cNvCxnSpPr>
            <a:stCxn id="1626" idx="3"/>
            <a:endCxn id="1629" idx="1"/>
          </p:cNvCxnSpPr>
          <p:nvPr/>
        </p:nvCxnSpPr>
        <p:spPr>
          <a:xfrm flipH="1" rot="10800000">
            <a:off x="1758500" y="4595425"/>
            <a:ext cx="897900" cy="5700"/>
          </a:xfrm>
          <a:prstGeom prst="straightConnector1">
            <a:avLst/>
          </a:prstGeom>
          <a:noFill/>
          <a:ln cap="flat" cmpd="sng" w="9525">
            <a:solidFill>
              <a:schemeClr val="dk2"/>
            </a:solidFill>
            <a:prstDash val="dash"/>
            <a:round/>
            <a:headEnd len="med" w="med" type="none"/>
            <a:tailEnd len="med" w="med" type="triangle"/>
          </a:ln>
        </p:spPr>
      </p:cxnSp>
      <p:sp>
        <p:nvSpPr>
          <p:cNvPr id="1641" name="Google Shape;1641;p83"/>
          <p:cNvSpPr/>
          <p:nvPr/>
        </p:nvSpPr>
        <p:spPr>
          <a:xfrm>
            <a:off x="1303050" y="4595425"/>
            <a:ext cx="4667646" cy="930639"/>
          </a:xfrm>
          <a:custGeom>
            <a:rect b="b" l="l" r="r" t="t"/>
            <a:pathLst>
              <a:path extrusionOk="0" h="37993" w="168705">
                <a:moveTo>
                  <a:pt x="0" y="9759"/>
                </a:moveTo>
                <a:lnTo>
                  <a:pt x="0" y="37993"/>
                </a:lnTo>
                <a:lnTo>
                  <a:pt x="155808" y="37993"/>
                </a:lnTo>
                <a:lnTo>
                  <a:pt x="155808" y="0"/>
                </a:lnTo>
                <a:lnTo>
                  <a:pt x="168705" y="0"/>
                </a:lnTo>
              </a:path>
            </a:pathLst>
          </a:custGeom>
          <a:noFill/>
          <a:ln cap="flat" cmpd="sng" w="9525">
            <a:solidFill>
              <a:schemeClr val="dk2"/>
            </a:solidFill>
            <a:prstDash val="dash"/>
            <a:round/>
            <a:headEnd len="med" w="med" type="none"/>
            <a:tailEnd len="med" w="med" type="triangle"/>
          </a:ln>
        </p:spPr>
      </p:sp>
      <p:sp>
        <p:nvSpPr>
          <p:cNvPr id="1642" name="Google Shape;1642;p83"/>
          <p:cNvSpPr/>
          <p:nvPr/>
        </p:nvSpPr>
        <p:spPr>
          <a:xfrm>
            <a:off x="1368625" y="2374375"/>
            <a:ext cx="2550600" cy="1442400"/>
          </a:xfrm>
          <a:prstGeom prst="foldedCorner">
            <a:avLst>
              <a:gd fmla="val 14899" name="adj"/>
            </a:avLst>
          </a:prstGeom>
          <a:noFill/>
          <a:ln cap="flat" cmpd="sng" w="9525">
            <a:solidFill>
              <a:schemeClr val="dk2"/>
            </a:solidFill>
            <a:prstDash val="solid"/>
            <a:round/>
            <a:headEnd len="sm" w="sm" type="none"/>
            <a:tailEnd len="sm" w="sm" type="none"/>
          </a:ln>
        </p:spPr>
        <p:txBody>
          <a:bodyPr anchorCtr="0" anchor="t" bIns="91425" lIns="126000" spcFirstLastPara="1" rIns="91425" wrap="square" tIns="91425">
            <a:noAutofit/>
          </a:bodyPr>
          <a:lstStyle/>
          <a:p>
            <a:pPr indent="0" lvl="0" marL="0" rtl="0" algn="l">
              <a:spcBef>
                <a:spcPts val="0"/>
              </a:spcBef>
              <a:spcAft>
                <a:spcPts val="0"/>
              </a:spcAft>
              <a:buNone/>
            </a:pPr>
            <a:r>
              <a:rPr lang="en-GB" sz="1200"/>
              <a:t>Nếu (đối tượng[khóa]</a:t>
            </a:r>
            <a:r>
              <a:rPr lang="en-GB" sz="1200"/>
              <a:t> tồn tại</a:t>
            </a:r>
            <a:r>
              <a:rPr lang="en-GB" sz="1200"/>
              <a:t>) {</a:t>
            </a:r>
            <a:endParaRPr sz="1200"/>
          </a:p>
          <a:p>
            <a:pPr indent="0" lvl="0" marL="0" rtl="0" algn="l">
              <a:spcBef>
                <a:spcPts val="0"/>
              </a:spcBef>
              <a:spcAft>
                <a:spcPts val="0"/>
              </a:spcAft>
              <a:buNone/>
            </a:pPr>
            <a:r>
              <a:rPr lang="en-GB" sz="1200"/>
              <a:t>  trả về đối tượng đang tồn tại;</a:t>
            </a:r>
            <a:endParaRPr sz="1200"/>
          </a:p>
          <a:p>
            <a:pPr indent="0" lvl="0" marL="0" rtl="0" algn="l">
              <a:spcBef>
                <a:spcPts val="0"/>
              </a:spcBef>
              <a:spcAft>
                <a:spcPts val="0"/>
              </a:spcAft>
              <a:buNone/>
            </a:pPr>
            <a:r>
              <a:rPr lang="en-GB" sz="1200"/>
              <a:t>} ngược lại {</a:t>
            </a:r>
            <a:endParaRPr sz="1200"/>
          </a:p>
          <a:p>
            <a:pPr indent="0" lvl="0" marL="0" rtl="0" algn="l">
              <a:spcBef>
                <a:spcPts val="0"/>
              </a:spcBef>
              <a:spcAft>
                <a:spcPts val="0"/>
              </a:spcAft>
              <a:buNone/>
            </a:pPr>
            <a:r>
              <a:rPr lang="en-GB" sz="1200"/>
              <a:t>  tạo đối tượng hạng ruồi mới và;</a:t>
            </a:r>
            <a:endParaRPr sz="1200"/>
          </a:p>
          <a:p>
            <a:pPr indent="0" lvl="0" marL="0" rtl="0" algn="l">
              <a:spcBef>
                <a:spcPts val="0"/>
              </a:spcBef>
              <a:spcAft>
                <a:spcPts val="0"/>
              </a:spcAft>
              <a:buNone/>
            </a:pPr>
            <a:r>
              <a:rPr lang="en-GB" sz="1200"/>
              <a:t>  thêm nó vào kho đối tượng;</a:t>
            </a:r>
            <a:endParaRPr sz="1200"/>
          </a:p>
          <a:p>
            <a:pPr indent="0" lvl="0" marL="0" rtl="0" algn="l">
              <a:spcBef>
                <a:spcPts val="0"/>
              </a:spcBef>
              <a:spcAft>
                <a:spcPts val="0"/>
              </a:spcAft>
              <a:buNone/>
            </a:pPr>
            <a:r>
              <a:rPr lang="en-GB" sz="1200"/>
              <a:t>  trả về đối tượng mới.</a:t>
            </a:r>
            <a:endParaRPr sz="1200"/>
          </a:p>
          <a:p>
            <a:pPr indent="0" lvl="0" marL="0" rtl="0" algn="l">
              <a:spcBef>
                <a:spcPts val="0"/>
              </a:spcBef>
              <a:spcAft>
                <a:spcPts val="0"/>
              </a:spcAft>
              <a:buNone/>
            </a:pPr>
            <a:r>
              <a:rPr lang="en-GB" sz="1200"/>
              <a:t>}</a:t>
            </a:r>
            <a:endParaRPr sz="1200"/>
          </a:p>
        </p:txBody>
      </p:sp>
      <p:sp>
        <p:nvSpPr>
          <p:cNvPr id="1643" name="Google Shape;1643;p83"/>
          <p:cNvSpPr txBox="1"/>
          <p:nvPr/>
        </p:nvSpPr>
        <p:spPr>
          <a:xfrm>
            <a:off x="3703500" y="1158975"/>
            <a:ext cx="1164600" cy="32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đối tượng</a:t>
            </a:r>
            <a:endParaRPr/>
          </a:p>
        </p:txBody>
      </p:sp>
      <p:cxnSp>
        <p:nvCxnSpPr>
          <p:cNvPr id="1644" name="Google Shape;1644;p83"/>
          <p:cNvCxnSpPr/>
          <p:nvPr/>
        </p:nvCxnSpPr>
        <p:spPr>
          <a:xfrm>
            <a:off x="2039100" y="1993300"/>
            <a:ext cx="0" cy="381000"/>
          </a:xfrm>
          <a:prstGeom prst="straightConnector1">
            <a:avLst/>
          </a:prstGeom>
          <a:noFill/>
          <a:ln cap="flat" cmpd="sng" w="9525">
            <a:solidFill>
              <a:schemeClr val="dk2"/>
            </a:solidFill>
            <a:prstDash val="dash"/>
            <a:round/>
            <a:headEnd len="med" w="med" type="none"/>
            <a:tailEnd len="med" w="med" type="none"/>
          </a:ln>
        </p:spPr>
      </p:cxn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8" name="Shape 1648"/>
        <p:cNvGrpSpPr/>
        <p:nvPr/>
      </p:nvGrpSpPr>
      <p:grpSpPr>
        <a:xfrm>
          <a:off x="0" y="0"/>
          <a:ext cx="0" cy="0"/>
          <a:chOff x="0" y="0"/>
          <a:chExt cx="0" cy="0"/>
        </a:xfrm>
      </p:grpSpPr>
      <p:sp>
        <p:nvSpPr>
          <p:cNvPr id="1649" name="Google Shape;1649;p84"/>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Hạng ruồi: </a:t>
            </a:r>
            <a:r>
              <a:rPr lang="en-GB"/>
              <a:t>Hành vi</a:t>
            </a:r>
            <a:endParaRPr/>
          </a:p>
        </p:txBody>
      </p:sp>
      <p:sp>
        <p:nvSpPr>
          <p:cNvPr id="1650" name="Google Shape;1650;p8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651" name="Google Shape;1651;p84"/>
          <p:cNvSpPr/>
          <p:nvPr/>
        </p:nvSpPr>
        <p:spPr>
          <a:xfrm>
            <a:off x="272499" y="1064500"/>
            <a:ext cx="11895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u="sng"/>
              <a:t>:Khách 1</a:t>
            </a:r>
            <a:endParaRPr sz="1600" u="sng"/>
          </a:p>
        </p:txBody>
      </p:sp>
      <p:sp>
        <p:nvSpPr>
          <p:cNvPr id="1652" name="Google Shape;1652;p84"/>
          <p:cNvSpPr/>
          <p:nvPr/>
        </p:nvSpPr>
        <p:spPr>
          <a:xfrm>
            <a:off x="3028775" y="1064500"/>
            <a:ext cx="19593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u="sng"/>
              <a:t>:</a:t>
            </a:r>
            <a:r>
              <a:rPr lang="en-GB" sz="1600" u="sng"/>
              <a:t>Nhà máy hạng ruồi</a:t>
            </a:r>
            <a:endParaRPr sz="1600" u="sng"/>
          </a:p>
        </p:txBody>
      </p:sp>
      <p:cxnSp>
        <p:nvCxnSpPr>
          <p:cNvPr id="1653" name="Google Shape;1653;p84"/>
          <p:cNvCxnSpPr/>
          <p:nvPr/>
        </p:nvCxnSpPr>
        <p:spPr>
          <a:xfrm>
            <a:off x="964500" y="1387000"/>
            <a:ext cx="2700" cy="4682700"/>
          </a:xfrm>
          <a:prstGeom prst="straightConnector1">
            <a:avLst/>
          </a:prstGeom>
          <a:noFill/>
          <a:ln cap="flat" cmpd="sng" w="9525">
            <a:solidFill>
              <a:schemeClr val="dk2"/>
            </a:solidFill>
            <a:prstDash val="dash"/>
            <a:round/>
            <a:headEnd len="med" w="med" type="none"/>
            <a:tailEnd len="med" w="med" type="none"/>
          </a:ln>
        </p:spPr>
      </p:cxnSp>
      <p:cxnSp>
        <p:nvCxnSpPr>
          <p:cNvPr id="1654" name="Google Shape;1654;p84"/>
          <p:cNvCxnSpPr/>
          <p:nvPr/>
        </p:nvCxnSpPr>
        <p:spPr>
          <a:xfrm>
            <a:off x="3936300" y="1387000"/>
            <a:ext cx="0" cy="4638600"/>
          </a:xfrm>
          <a:prstGeom prst="straightConnector1">
            <a:avLst/>
          </a:prstGeom>
          <a:noFill/>
          <a:ln cap="flat" cmpd="sng" w="9525">
            <a:solidFill>
              <a:schemeClr val="dk2"/>
            </a:solidFill>
            <a:prstDash val="dash"/>
            <a:round/>
            <a:headEnd len="med" w="med" type="none"/>
            <a:tailEnd len="med" w="med" type="none"/>
          </a:ln>
        </p:spPr>
      </p:cxnSp>
      <p:sp>
        <p:nvSpPr>
          <p:cNvPr id="1655" name="Google Shape;1655;p84"/>
          <p:cNvSpPr/>
          <p:nvPr/>
        </p:nvSpPr>
        <p:spPr>
          <a:xfrm>
            <a:off x="5014075" y="1521700"/>
            <a:ext cx="1882500" cy="5247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u="sng"/>
              <a:t>a</a:t>
            </a:r>
            <a:r>
              <a:rPr lang="en-GB" sz="1600" u="sng"/>
              <a:t>:</a:t>
            </a:r>
            <a:r>
              <a:rPr lang="en-GB" sz="1600" u="sng"/>
              <a:t>Đối tượng hạng ruồi dùng chung</a:t>
            </a:r>
            <a:endParaRPr sz="1600" u="sng"/>
          </a:p>
        </p:txBody>
      </p:sp>
      <p:cxnSp>
        <p:nvCxnSpPr>
          <p:cNvPr id="1656" name="Google Shape;1656;p84"/>
          <p:cNvCxnSpPr/>
          <p:nvPr/>
        </p:nvCxnSpPr>
        <p:spPr>
          <a:xfrm>
            <a:off x="5955325" y="2431057"/>
            <a:ext cx="0" cy="3771300"/>
          </a:xfrm>
          <a:prstGeom prst="straightConnector1">
            <a:avLst/>
          </a:prstGeom>
          <a:noFill/>
          <a:ln cap="flat" cmpd="sng" w="9525">
            <a:solidFill>
              <a:schemeClr val="dk2"/>
            </a:solidFill>
            <a:prstDash val="dash"/>
            <a:round/>
            <a:headEnd len="med" w="med" type="none"/>
            <a:tailEnd len="med" w="med" type="none"/>
          </a:ln>
        </p:spPr>
      </p:cxnSp>
      <p:sp>
        <p:nvSpPr>
          <p:cNvPr id="1657" name="Google Shape;1657;p84"/>
          <p:cNvSpPr/>
          <p:nvPr/>
        </p:nvSpPr>
        <p:spPr>
          <a:xfrm>
            <a:off x="3865300" y="1630303"/>
            <a:ext cx="152700" cy="7266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58" name="Google Shape;1658;p84"/>
          <p:cNvSpPr/>
          <p:nvPr/>
        </p:nvSpPr>
        <p:spPr>
          <a:xfrm>
            <a:off x="7101175" y="1064500"/>
            <a:ext cx="1773900" cy="5658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u="sng"/>
              <a:t>c</a:t>
            </a:r>
            <a:r>
              <a:rPr lang="en-GB" sz="1600" u="sng"/>
              <a:t>:</a:t>
            </a:r>
            <a:r>
              <a:rPr lang="en-GB" sz="1600" u="sng"/>
              <a:t>Đối tượng không chia sẻ</a:t>
            </a:r>
            <a:endParaRPr sz="1600" u="sng"/>
          </a:p>
        </p:txBody>
      </p:sp>
      <p:cxnSp>
        <p:nvCxnSpPr>
          <p:cNvPr id="1659" name="Google Shape;1659;p84"/>
          <p:cNvCxnSpPr/>
          <p:nvPr/>
        </p:nvCxnSpPr>
        <p:spPr>
          <a:xfrm>
            <a:off x="8127300" y="1387000"/>
            <a:ext cx="0" cy="4783200"/>
          </a:xfrm>
          <a:prstGeom prst="straightConnector1">
            <a:avLst/>
          </a:prstGeom>
          <a:noFill/>
          <a:ln cap="flat" cmpd="sng" w="9525">
            <a:solidFill>
              <a:schemeClr val="dk2"/>
            </a:solidFill>
            <a:prstDash val="dash"/>
            <a:round/>
            <a:headEnd len="med" w="med" type="none"/>
            <a:tailEnd len="med" w="med" type="none"/>
          </a:ln>
        </p:spPr>
      </p:cxnSp>
      <p:sp>
        <p:nvSpPr>
          <p:cNvPr id="1660" name="Google Shape;1660;p84"/>
          <p:cNvSpPr txBox="1"/>
          <p:nvPr/>
        </p:nvSpPr>
        <p:spPr>
          <a:xfrm>
            <a:off x="4013825" y="1523675"/>
            <a:ext cx="948300" cy="41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&lt;&lt;tạo&gt;&gt;</a:t>
            </a:r>
            <a:endParaRPr>
              <a:solidFill>
                <a:schemeClr val="dk2"/>
              </a:solidFill>
            </a:endParaRPr>
          </a:p>
        </p:txBody>
      </p:sp>
      <p:sp>
        <p:nvSpPr>
          <p:cNvPr id="1661" name="Google Shape;1661;p84"/>
          <p:cNvSpPr txBox="1"/>
          <p:nvPr/>
        </p:nvSpPr>
        <p:spPr>
          <a:xfrm>
            <a:off x="4724400" y="5651525"/>
            <a:ext cx="635400" cy="72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3200">
                <a:solidFill>
                  <a:srgbClr val="666666"/>
                </a:solidFill>
              </a:rPr>
              <a:t>…</a:t>
            </a:r>
            <a:endParaRPr b="1" sz="3200">
              <a:solidFill>
                <a:srgbClr val="666666"/>
              </a:solidFill>
            </a:endParaRPr>
          </a:p>
        </p:txBody>
      </p:sp>
      <p:sp>
        <p:nvSpPr>
          <p:cNvPr id="1662" name="Google Shape;1662;p84"/>
          <p:cNvSpPr/>
          <p:nvPr/>
        </p:nvSpPr>
        <p:spPr>
          <a:xfrm>
            <a:off x="1760675" y="1064500"/>
            <a:ext cx="11379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u="sng"/>
              <a:t>:Khách </a:t>
            </a:r>
            <a:r>
              <a:rPr lang="en-GB" sz="1600" u="sng"/>
              <a:t>2</a:t>
            </a:r>
            <a:endParaRPr sz="1600" u="sng"/>
          </a:p>
        </p:txBody>
      </p:sp>
      <p:cxnSp>
        <p:nvCxnSpPr>
          <p:cNvPr id="1663" name="Google Shape;1663;p84"/>
          <p:cNvCxnSpPr/>
          <p:nvPr/>
        </p:nvCxnSpPr>
        <p:spPr>
          <a:xfrm>
            <a:off x="2336100" y="1387000"/>
            <a:ext cx="2700" cy="4682700"/>
          </a:xfrm>
          <a:prstGeom prst="straightConnector1">
            <a:avLst/>
          </a:prstGeom>
          <a:noFill/>
          <a:ln cap="flat" cmpd="sng" w="9525">
            <a:solidFill>
              <a:schemeClr val="dk2"/>
            </a:solidFill>
            <a:prstDash val="dash"/>
            <a:round/>
            <a:headEnd len="med" w="med" type="none"/>
            <a:tailEnd len="med" w="med" type="none"/>
          </a:ln>
        </p:spPr>
      </p:cxnSp>
      <p:cxnSp>
        <p:nvCxnSpPr>
          <p:cNvPr id="1664" name="Google Shape;1664;p84"/>
          <p:cNvCxnSpPr/>
          <p:nvPr/>
        </p:nvCxnSpPr>
        <p:spPr>
          <a:xfrm>
            <a:off x="942950" y="1765310"/>
            <a:ext cx="2894100" cy="0"/>
          </a:xfrm>
          <a:prstGeom prst="straightConnector1">
            <a:avLst/>
          </a:prstGeom>
          <a:noFill/>
          <a:ln cap="flat" cmpd="sng" w="9525">
            <a:solidFill>
              <a:schemeClr val="dk2"/>
            </a:solidFill>
            <a:prstDash val="solid"/>
            <a:round/>
            <a:headEnd len="med" w="med" type="none"/>
            <a:tailEnd len="med" w="med" type="triangle"/>
          </a:ln>
        </p:spPr>
      </p:cxnSp>
      <p:sp>
        <p:nvSpPr>
          <p:cNvPr id="1665" name="Google Shape;1665;p84"/>
          <p:cNvSpPr txBox="1"/>
          <p:nvPr/>
        </p:nvSpPr>
        <p:spPr>
          <a:xfrm>
            <a:off x="912825" y="1375700"/>
            <a:ext cx="3009600" cy="41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rPr>
              <a:t>Lấy đối tượng dùn</a:t>
            </a:r>
            <a:r>
              <a:rPr lang="en-GB" sz="1600">
                <a:solidFill>
                  <a:schemeClr val="dk2"/>
                </a:solidFill>
              </a:rPr>
              <a:t>g chung</a:t>
            </a:r>
            <a:r>
              <a:rPr lang="en-GB" sz="1600">
                <a:solidFill>
                  <a:schemeClr val="dk2"/>
                </a:solidFill>
              </a:rPr>
              <a:t>(“a")</a:t>
            </a:r>
            <a:endParaRPr sz="1600">
              <a:solidFill>
                <a:schemeClr val="dk2"/>
              </a:solidFill>
            </a:endParaRPr>
          </a:p>
        </p:txBody>
      </p:sp>
      <p:cxnSp>
        <p:nvCxnSpPr>
          <p:cNvPr id="1666" name="Google Shape;1666;p84"/>
          <p:cNvCxnSpPr/>
          <p:nvPr/>
        </p:nvCxnSpPr>
        <p:spPr>
          <a:xfrm>
            <a:off x="986900" y="3966450"/>
            <a:ext cx="2880000" cy="0"/>
          </a:xfrm>
          <a:prstGeom prst="straightConnector1">
            <a:avLst/>
          </a:prstGeom>
          <a:noFill/>
          <a:ln cap="flat" cmpd="sng" w="9525">
            <a:solidFill>
              <a:schemeClr val="dk2"/>
            </a:solidFill>
            <a:prstDash val="solid"/>
            <a:round/>
            <a:headEnd len="med" w="med" type="none"/>
            <a:tailEnd len="med" w="med" type="triangle"/>
          </a:ln>
        </p:spPr>
      </p:cxnSp>
      <p:cxnSp>
        <p:nvCxnSpPr>
          <p:cNvPr id="1667" name="Google Shape;1667;p84"/>
          <p:cNvCxnSpPr/>
          <p:nvPr/>
        </p:nvCxnSpPr>
        <p:spPr>
          <a:xfrm>
            <a:off x="4036550" y="1859825"/>
            <a:ext cx="948300" cy="0"/>
          </a:xfrm>
          <a:prstGeom prst="straightConnector1">
            <a:avLst/>
          </a:prstGeom>
          <a:noFill/>
          <a:ln cap="flat" cmpd="sng" w="9525">
            <a:solidFill>
              <a:schemeClr val="dk2"/>
            </a:solidFill>
            <a:prstDash val="solid"/>
            <a:round/>
            <a:headEnd len="med" w="med" type="none"/>
            <a:tailEnd len="med" w="med" type="triangle"/>
          </a:ln>
        </p:spPr>
      </p:cxnSp>
      <p:cxnSp>
        <p:nvCxnSpPr>
          <p:cNvPr id="1668" name="Google Shape;1668;p84"/>
          <p:cNvCxnSpPr/>
          <p:nvPr/>
        </p:nvCxnSpPr>
        <p:spPr>
          <a:xfrm rot="10800000">
            <a:off x="961900" y="2222203"/>
            <a:ext cx="2903400" cy="0"/>
          </a:xfrm>
          <a:prstGeom prst="straightConnector1">
            <a:avLst/>
          </a:prstGeom>
          <a:noFill/>
          <a:ln cap="flat" cmpd="sng" w="9525">
            <a:solidFill>
              <a:schemeClr val="dk2"/>
            </a:solidFill>
            <a:prstDash val="dash"/>
            <a:round/>
            <a:headEnd len="med" w="med" type="none"/>
            <a:tailEnd len="med" w="med" type="triangle"/>
          </a:ln>
        </p:spPr>
      </p:cxnSp>
      <p:sp>
        <p:nvSpPr>
          <p:cNvPr id="1669" name="Google Shape;1669;p84"/>
          <p:cNvSpPr/>
          <p:nvPr/>
        </p:nvSpPr>
        <p:spPr>
          <a:xfrm>
            <a:off x="3865300" y="2849503"/>
            <a:ext cx="152700" cy="7266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670" name="Google Shape;1670;p84"/>
          <p:cNvCxnSpPr/>
          <p:nvPr/>
        </p:nvCxnSpPr>
        <p:spPr>
          <a:xfrm>
            <a:off x="2314550" y="2984510"/>
            <a:ext cx="1522500" cy="0"/>
          </a:xfrm>
          <a:prstGeom prst="straightConnector1">
            <a:avLst/>
          </a:prstGeom>
          <a:noFill/>
          <a:ln cap="flat" cmpd="sng" w="9525">
            <a:solidFill>
              <a:schemeClr val="dk2"/>
            </a:solidFill>
            <a:prstDash val="solid"/>
            <a:round/>
            <a:headEnd len="med" w="med" type="none"/>
            <a:tailEnd len="med" w="med" type="triangle"/>
          </a:ln>
        </p:spPr>
      </p:cxnSp>
      <p:sp>
        <p:nvSpPr>
          <p:cNvPr id="1671" name="Google Shape;1671;p84"/>
          <p:cNvSpPr txBox="1"/>
          <p:nvPr/>
        </p:nvSpPr>
        <p:spPr>
          <a:xfrm>
            <a:off x="2284425" y="2290100"/>
            <a:ext cx="1651800" cy="56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rPr>
              <a:t>Lấy đối tượng dùng chung(“a")</a:t>
            </a:r>
            <a:endParaRPr sz="1600">
              <a:solidFill>
                <a:schemeClr val="dk2"/>
              </a:solidFill>
            </a:endParaRPr>
          </a:p>
        </p:txBody>
      </p:sp>
      <p:sp>
        <p:nvSpPr>
          <p:cNvPr id="1672" name="Google Shape;1672;p84"/>
          <p:cNvSpPr txBox="1"/>
          <p:nvPr/>
        </p:nvSpPr>
        <p:spPr>
          <a:xfrm>
            <a:off x="2407400" y="1909725"/>
            <a:ext cx="548700" cy="32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rgbClr val="666666"/>
                </a:solidFill>
              </a:rPr>
              <a:t>a</a:t>
            </a:r>
            <a:endParaRPr>
              <a:solidFill>
                <a:srgbClr val="666666"/>
              </a:solidFill>
            </a:endParaRPr>
          </a:p>
        </p:txBody>
      </p:sp>
      <p:sp>
        <p:nvSpPr>
          <p:cNvPr id="1673" name="Google Shape;1673;p84"/>
          <p:cNvSpPr/>
          <p:nvPr/>
        </p:nvSpPr>
        <p:spPr>
          <a:xfrm>
            <a:off x="3865300" y="3763903"/>
            <a:ext cx="152700" cy="7266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74" name="Google Shape;1674;p84"/>
          <p:cNvSpPr txBox="1"/>
          <p:nvPr/>
        </p:nvSpPr>
        <p:spPr>
          <a:xfrm>
            <a:off x="989025" y="3356300"/>
            <a:ext cx="2454900" cy="72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rPr>
              <a:t>Lấy đối tượng </a:t>
            </a:r>
            <a:r>
              <a:rPr lang="en-GB" sz="1600">
                <a:solidFill>
                  <a:schemeClr val="dk2"/>
                </a:solidFill>
              </a:rPr>
              <a:t>không chia sẻ</a:t>
            </a:r>
            <a:r>
              <a:rPr lang="en-GB" sz="1600">
                <a:solidFill>
                  <a:schemeClr val="dk2"/>
                </a:solidFill>
              </a:rPr>
              <a:t>(“</a:t>
            </a:r>
            <a:r>
              <a:rPr lang="en-GB" sz="1600">
                <a:solidFill>
                  <a:schemeClr val="dk2"/>
                </a:solidFill>
              </a:rPr>
              <a:t>c</a:t>
            </a:r>
            <a:r>
              <a:rPr lang="en-GB" sz="1600">
                <a:solidFill>
                  <a:schemeClr val="dk2"/>
                </a:solidFill>
              </a:rPr>
              <a:t>")</a:t>
            </a:r>
            <a:endParaRPr sz="1600">
              <a:solidFill>
                <a:schemeClr val="dk2"/>
              </a:solidFill>
            </a:endParaRPr>
          </a:p>
        </p:txBody>
      </p:sp>
      <p:cxnSp>
        <p:nvCxnSpPr>
          <p:cNvPr id="1675" name="Google Shape;1675;p84"/>
          <p:cNvCxnSpPr/>
          <p:nvPr/>
        </p:nvCxnSpPr>
        <p:spPr>
          <a:xfrm rot="10800000">
            <a:off x="2329600" y="3365203"/>
            <a:ext cx="1535700" cy="0"/>
          </a:xfrm>
          <a:prstGeom prst="straightConnector1">
            <a:avLst/>
          </a:prstGeom>
          <a:noFill/>
          <a:ln cap="flat" cmpd="sng" w="9525">
            <a:solidFill>
              <a:schemeClr val="dk2"/>
            </a:solidFill>
            <a:prstDash val="dash"/>
            <a:round/>
            <a:headEnd len="med" w="med" type="none"/>
            <a:tailEnd len="med" w="med" type="triangle"/>
          </a:ln>
        </p:spPr>
      </p:cxnSp>
      <p:sp>
        <p:nvSpPr>
          <p:cNvPr id="1676" name="Google Shape;1676;p84"/>
          <p:cNvSpPr txBox="1"/>
          <p:nvPr/>
        </p:nvSpPr>
        <p:spPr>
          <a:xfrm>
            <a:off x="2940800" y="3052725"/>
            <a:ext cx="548700" cy="32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rgbClr val="666666"/>
                </a:solidFill>
              </a:rPr>
              <a:t>a</a:t>
            </a:r>
            <a:endParaRPr>
              <a:solidFill>
                <a:srgbClr val="666666"/>
              </a:solidFill>
            </a:endParaRPr>
          </a:p>
        </p:txBody>
      </p:sp>
      <p:cxnSp>
        <p:nvCxnSpPr>
          <p:cNvPr id="1677" name="Google Shape;1677;p84"/>
          <p:cNvCxnSpPr/>
          <p:nvPr/>
        </p:nvCxnSpPr>
        <p:spPr>
          <a:xfrm rot="10800000">
            <a:off x="961900" y="4355803"/>
            <a:ext cx="2903400" cy="0"/>
          </a:xfrm>
          <a:prstGeom prst="straightConnector1">
            <a:avLst/>
          </a:prstGeom>
          <a:noFill/>
          <a:ln cap="flat" cmpd="sng" w="9525">
            <a:solidFill>
              <a:schemeClr val="dk2"/>
            </a:solidFill>
            <a:prstDash val="dash"/>
            <a:round/>
            <a:headEnd len="med" w="med" type="none"/>
            <a:tailEnd len="med" w="med" type="triangle"/>
          </a:ln>
        </p:spPr>
      </p:cxnSp>
      <p:cxnSp>
        <p:nvCxnSpPr>
          <p:cNvPr id="1678" name="Google Shape;1678;p84"/>
          <p:cNvCxnSpPr/>
          <p:nvPr/>
        </p:nvCxnSpPr>
        <p:spPr>
          <a:xfrm>
            <a:off x="981875" y="4813300"/>
            <a:ext cx="4871400" cy="0"/>
          </a:xfrm>
          <a:prstGeom prst="straightConnector1">
            <a:avLst/>
          </a:prstGeom>
          <a:noFill/>
          <a:ln cap="flat" cmpd="sng" w="9525">
            <a:solidFill>
              <a:schemeClr val="dk2"/>
            </a:solidFill>
            <a:prstDash val="solid"/>
            <a:round/>
            <a:headEnd len="med" w="med" type="none"/>
            <a:tailEnd len="med" w="med" type="triangle"/>
          </a:ln>
        </p:spPr>
      </p:cxnSp>
      <p:sp>
        <p:nvSpPr>
          <p:cNvPr id="1679" name="Google Shape;1679;p84"/>
          <p:cNvSpPr txBox="1"/>
          <p:nvPr/>
        </p:nvSpPr>
        <p:spPr>
          <a:xfrm>
            <a:off x="2055825" y="4423700"/>
            <a:ext cx="2115900" cy="41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rPr>
              <a:t>Thao tác(ngữ cảnh)</a:t>
            </a:r>
            <a:endParaRPr sz="1600">
              <a:solidFill>
                <a:schemeClr val="dk2"/>
              </a:solidFill>
            </a:endParaRPr>
          </a:p>
        </p:txBody>
      </p:sp>
      <p:sp>
        <p:nvSpPr>
          <p:cNvPr id="1680" name="Google Shape;1680;p84"/>
          <p:cNvSpPr txBox="1"/>
          <p:nvPr/>
        </p:nvSpPr>
        <p:spPr>
          <a:xfrm>
            <a:off x="2407400" y="4043325"/>
            <a:ext cx="548700" cy="32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rgbClr val="666666"/>
                </a:solidFill>
              </a:rPr>
              <a:t>c</a:t>
            </a:r>
            <a:endParaRPr>
              <a:solidFill>
                <a:srgbClr val="666666"/>
              </a:solidFill>
            </a:endParaRPr>
          </a:p>
        </p:txBody>
      </p:sp>
      <p:sp>
        <p:nvSpPr>
          <p:cNvPr id="1681" name="Google Shape;1681;p84"/>
          <p:cNvSpPr/>
          <p:nvPr/>
        </p:nvSpPr>
        <p:spPr>
          <a:xfrm>
            <a:off x="5846500" y="4754501"/>
            <a:ext cx="152700" cy="3225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682" name="Google Shape;1682;p84"/>
          <p:cNvCxnSpPr/>
          <p:nvPr/>
        </p:nvCxnSpPr>
        <p:spPr>
          <a:xfrm>
            <a:off x="2339500" y="5270500"/>
            <a:ext cx="3513900" cy="0"/>
          </a:xfrm>
          <a:prstGeom prst="straightConnector1">
            <a:avLst/>
          </a:prstGeom>
          <a:noFill/>
          <a:ln cap="flat" cmpd="sng" w="9525">
            <a:solidFill>
              <a:schemeClr val="dk2"/>
            </a:solidFill>
            <a:prstDash val="solid"/>
            <a:round/>
            <a:headEnd len="med" w="med" type="none"/>
            <a:tailEnd len="med" w="med" type="triangle"/>
          </a:ln>
        </p:spPr>
      </p:cxnSp>
      <p:sp>
        <p:nvSpPr>
          <p:cNvPr id="1683" name="Google Shape;1683;p84"/>
          <p:cNvSpPr txBox="1"/>
          <p:nvPr/>
        </p:nvSpPr>
        <p:spPr>
          <a:xfrm>
            <a:off x="3046425" y="4880900"/>
            <a:ext cx="2115900" cy="41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rPr>
              <a:t>Th</a:t>
            </a:r>
            <a:r>
              <a:rPr lang="en-GB" sz="1600">
                <a:solidFill>
                  <a:schemeClr val="dk2"/>
                </a:solidFill>
              </a:rPr>
              <a:t>a</a:t>
            </a:r>
            <a:r>
              <a:rPr lang="en-GB" sz="1600">
                <a:solidFill>
                  <a:schemeClr val="dk2"/>
                </a:solidFill>
              </a:rPr>
              <a:t>o tác(ngữ cảnh)</a:t>
            </a:r>
            <a:endParaRPr sz="1600">
              <a:solidFill>
                <a:schemeClr val="dk2"/>
              </a:solidFill>
            </a:endParaRPr>
          </a:p>
        </p:txBody>
      </p:sp>
      <p:sp>
        <p:nvSpPr>
          <p:cNvPr id="1684" name="Google Shape;1684;p84"/>
          <p:cNvSpPr/>
          <p:nvPr/>
        </p:nvSpPr>
        <p:spPr>
          <a:xfrm>
            <a:off x="5846500" y="5211701"/>
            <a:ext cx="152700" cy="3225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685" name="Google Shape;1685;p84"/>
          <p:cNvCxnSpPr/>
          <p:nvPr/>
        </p:nvCxnSpPr>
        <p:spPr>
          <a:xfrm>
            <a:off x="971900" y="5803900"/>
            <a:ext cx="7091400" cy="0"/>
          </a:xfrm>
          <a:prstGeom prst="straightConnector1">
            <a:avLst/>
          </a:prstGeom>
          <a:noFill/>
          <a:ln cap="flat" cmpd="sng" w="9525">
            <a:solidFill>
              <a:schemeClr val="dk2"/>
            </a:solidFill>
            <a:prstDash val="solid"/>
            <a:round/>
            <a:headEnd len="med" w="med" type="none"/>
            <a:tailEnd len="med" w="med" type="triangle"/>
          </a:ln>
        </p:spPr>
      </p:cxnSp>
      <p:sp>
        <p:nvSpPr>
          <p:cNvPr id="1686" name="Google Shape;1686;p84"/>
          <p:cNvSpPr txBox="1"/>
          <p:nvPr/>
        </p:nvSpPr>
        <p:spPr>
          <a:xfrm>
            <a:off x="3656025" y="5414300"/>
            <a:ext cx="2115900" cy="41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rPr>
              <a:t>Thao tác(ngữ cảnh)</a:t>
            </a:r>
            <a:endParaRPr sz="1600">
              <a:solidFill>
                <a:schemeClr val="dk2"/>
              </a:solidFill>
            </a:endParaRPr>
          </a:p>
        </p:txBody>
      </p:sp>
      <p:sp>
        <p:nvSpPr>
          <p:cNvPr id="1687" name="Google Shape;1687;p84"/>
          <p:cNvSpPr/>
          <p:nvPr/>
        </p:nvSpPr>
        <p:spPr>
          <a:xfrm>
            <a:off x="8056300" y="5745101"/>
            <a:ext cx="152700" cy="3225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1" name="Shape 1691"/>
        <p:cNvGrpSpPr/>
        <p:nvPr/>
      </p:nvGrpSpPr>
      <p:grpSpPr>
        <a:xfrm>
          <a:off x="0" y="0"/>
          <a:ext cx="0" cy="0"/>
          <a:chOff x="0" y="0"/>
          <a:chExt cx="0" cy="0"/>
        </a:xfrm>
      </p:grpSpPr>
      <p:sp>
        <p:nvSpPr>
          <p:cNvPr id="1692" name="Google Shape;1692;p85"/>
          <p:cNvSpPr/>
          <p:nvPr/>
        </p:nvSpPr>
        <p:spPr>
          <a:xfrm>
            <a:off x="3215300" y="2203275"/>
            <a:ext cx="5194800" cy="16719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t/>
            </a:r>
            <a:endParaRPr/>
          </a:p>
        </p:txBody>
      </p:sp>
      <p:sp>
        <p:nvSpPr>
          <p:cNvPr id="1693" name="Google Shape;1693;p85"/>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Hạng ruồi: Kết hợp đối tượng</a:t>
            </a:r>
            <a:endParaRPr/>
          </a:p>
        </p:txBody>
      </p:sp>
      <p:sp>
        <p:nvSpPr>
          <p:cNvPr id="1694" name="Google Shape;1694;p8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695" name="Google Shape;1695;p85"/>
          <p:cNvSpPr/>
          <p:nvPr/>
        </p:nvSpPr>
        <p:spPr>
          <a:xfrm>
            <a:off x="4310073" y="1441275"/>
            <a:ext cx="15120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u="sng"/>
              <a:t>:</a:t>
            </a:r>
            <a:r>
              <a:rPr lang="en-GB" sz="1600" u="sng"/>
              <a:t>Khách 1</a:t>
            </a:r>
            <a:endParaRPr sz="1600" u="sng"/>
          </a:p>
        </p:txBody>
      </p:sp>
      <p:sp>
        <p:nvSpPr>
          <p:cNvPr id="1696" name="Google Shape;1696;p85"/>
          <p:cNvSpPr/>
          <p:nvPr/>
        </p:nvSpPr>
        <p:spPr>
          <a:xfrm>
            <a:off x="6519873" y="1441275"/>
            <a:ext cx="15120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u="sng"/>
              <a:t>:</a:t>
            </a:r>
            <a:r>
              <a:rPr lang="en-GB" sz="1600" u="sng"/>
              <a:t>K</a:t>
            </a:r>
            <a:r>
              <a:rPr lang="en-GB" sz="1600" u="sng"/>
              <a:t>hách </a:t>
            </a:r>
            <a:r>
              <a:rPr lang="en-GB" sz="1600" u="sng"/>
              <a:t>2</a:t>
            </a:r>
            <a:endParaRPr sz="1600" u="sng"/>
          </a:p>
        </p:txBody>
      </p:sp>
      <p:sp>
        <p:nvSpPr>
          <p:cNvPr id="1697" name="Google Shape;1697;p85"/>
          <p:cNvSpPr/>
          <p:nvPr/>
        </p:nvSpPr>
        <p:spPr>
          <a:xfrm>
            <a:off x="4157675" y="2584275"/>
            <a:ext cx="1846800" cy="5247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u="sng"/>
              <a:t>:</a:t>
            </a:r>
            <a:r>
              <a:rPr lang="en-GB" sz="1600" u="sng"/>
              <a:t>Đối tượng Hạng </a:t>
            </a:r>
            <a:r>
              <a:rPr lang="en-GB" sz="1600" u="sng"/>
              <a:t>ruồi</a:t>
            </a:r>
            <a:r>
              <a:rPr lang="en-GB" sz="1600" u="sng"/>
              <a:t> dùng chung</a:t>
            </a:r>
            <a:endParaRPr sz="1600" u="sng"/>
          </a:p>
        </p:txBody>
      </p:sp>
      <p:sp>
        <p:nvSpPr>
          <p:cNvPr id="1698" name="Google Shape;1698;p85"/>
          <p:cNvSpPr/>
          <p:nvPr/>
        </p:nvSpPr>
        <p:spPr>
          <a:xfrm>
            <a:off x="6291275" y="2584275"/>
            <a:ext cx="1846800" cy="5247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u="sng"/>
              <a:t>:Đối tượng Hạng ruồi </a:t>
            </a:r>
            <a:r>
              <a:rPr lang="en-GB" sz="1600" u="sng"/>
              <a:t>không chia sẻ</a:t>
            </a:r>
            <a:endParaRPr sz="1600" u="sng"/>
          </a:p>
        </p:txBody>
      </p:sp>
      <p:sp>
        <p:nvSpPr>
          <p:cNvPr id="1699" name="Google Shape;1699;p85"/>
          <p:cNvSpPr/>
          <p:nvPr/>
        </p:nvSpPr>
        <p:spPr>
          <a:xfrm>
            <a:off x="361850" y="2584275"/>
            <a:ext cx="2191800" cy="4026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u="sng"/>
              <a:t>:</a:t>
            </a:r>
            <a:r>
              <a:rPr lang="en-GB" sz="1600" u="sng"/>
              <a:t>Nhà máy Hạng ruồi</a:t>
            </a:r>
            <a:endParaRPr sz="1600" u="sng"/>
          </a:p>
        </p:txBody>
      </p:sp>
      <p:cxnSp>
        <p:nvCxnSpPr>
          <p:cNvPr id="1700" name="Google Shape;1700;p85"/>
          <p:cNvCxnSpPr>
            <a:stCxn id="1701" idx="3"/>
          </p:cNvCxnSpPr>
          <p:nvPr/>
        </p:nvCxnSpPr>
        <p:spPr>
          <a:xfrm>
            <a:off x="2785975" y="2782185"/>
            <a:ext cx="1357800" cy="3300"/>
          </a:xfrm>
          <a:prstGeom prst="straightConnector1">
            <a:avLst/>
          </a:prstGeom>
          <a:noFill/>
          <a:ln cap="flat" cmpd="sng" w="9525">
            <a:solidFill>
              <a:schemeClr val="dk2"/>
            </a:solidFill>
            <a:prstDash val="solid"/>
            <a:round/>
            <a:headEnd len="med" w="med" type="none"/>
            <a:tailEnd len="med" w="med" type="none"/>
          </a:ln>
        </p:spPr>
      </p:cxnSp>
      <p:cxnSp>
        <p:nvCxnSpPr>
          <p:cNvPr id="1702" name="Google Shape;1702;p85"/>
          <p:cNvCxnSpPr>
            <a:stCxn id="1703" idx="2"/>
            <a:endCxn id="1698" idx="2"/>
          </p:cNvCxnSpPr>
          <p:nvPr/>
        </p:nvCxnSpPr>
        <p:spPr>
          <a:xfrm rot="-5400000">
            <a:off x="4396983" y="358775"/>
            <a:ext cx="67500" cy="5568000"/>
          </a:xfrm>
          <a:prstGeom prst="bentConnector3">
            <a:avLst>
              <a:gd fmla="val -352778" name="adj1"/>
            </a:avLst>
          </a:prstGeom>
          <a:noFill/>
          <a:ln cap="flat" cmpd="sng" w="9525">
            <a:solidFill>
              <a:schemeClr val="dk2"/>
            </a:solidFill>
            <a:prstDash val="solid"/>
            <a:round/>
            <a:headEnd len="med" w="med" type="none"/>
            <a:tailEnd len="med" w="med" type="none"/>
          </a:ln>
        </p:spPr>
      </p:cxnSp>
      <p:cxnSp>
        <p:nvCxnSpPr>
          <p:cNvPr id="1704" name="Google Shape;1704;p85"/>
          <p:cNvCxnSpPr>
            <a:stCxn id="1695" idx="2"/>
            <a:endCxn id="1697" idx="0"/>
          </p:cNvCxnSpPr>
          <p:nvPr/>
        </p:nvCxnSpPr>
        <p:spPr>
          <a:xfrm>
            <a:off x="5066073" y="1763775"/>
            <a:ext cx="15000" cy="820500"/>
          </a:xfrm>
          <a:prstGeom prst="straightConnector1">
            <a:avLst/>
          </a:prstGeom>
          <a:noFill/>
          <a:ln cap="flat" cmpd="sng" w="9525">
            <a:solidFill>
              <a:schemeClr val="dk2"/>
            </a:solidFill>
            <a:prstDash val="solid"/>
            <a:round/>
            <a:headEnd len="med" w="med" type="none"/>
            <a:tailEnd len="med" w="med" type="triangle"/>
          </a:ln>
        </p:spPr>
      </p:cxnSp>
      <p:cxnSp>
        <p:nvCxnSpPr>
          <p:cNvPr id="1705" name="Google Shape;1705;p85"/>
          <p:cNvCxnSpPr>
            <a:stCxn id="1696" idx="2"/>
          </p:cNvCxnSpPr>
          <p:nvPr/>
        </p:nvCxnSpPr>
        <p:spPr>
          <a:xfrm>
            <a:off x="7275873" y="1763775"/>
            <a:ext cx="0" cy="793800"/>
          </a:xfrm>
          <a:prstGeom prst="straightConnector1">
            <a:avLst/>
          </a:prstGeom>
          <a:noFill/>
          <a:ln cap="flat" cmpd="sng" w="9525">
            <a:solidFill>
              <a:schemeClr val="dk2"/>
            </a:solidFill>
            <a:prstDash val="solid"/>
            <a:round/>
            <a:headEnd len="med" w="med" type="none"/>
            <a:tailEnd len="med" w="med" type="triangle"/>
          </a:ln>
        </p:spPr>
      </p:cxnSp>
      <p:cxnSp>
        <p:nvCxnSpPr>
          <p:cNvPr id="1706" name="Google Shape;1706;p85"/>
          <p:cNvCxnSpPr>
            <a:stCxn id="1696" idx="1"/>
          </p:cNvCxnSpPr>
          <p:nvPr/>
        </p:nvCxnSpPr>
        <p:spPr>
          <a:xfrm flipH="1">
            <a:off x="5883873" y="1602525"/>
            <a:ext cx="636000" cy="995100"/>
          </a:xfrm>
          <a:prstGeom prst="bentConnector2">
            <a:avLst/>
          </a:prstGeom>
          <a:noFill/>
          <a:ln cap="flat" cmpd="sng" w="9525">
            <a:solidFill>
              <a:schemeClr val="dk2"/>
            </a:solidFill>
            <a:prstDash val="solid"/>
            <a:round/>
            <a:headEnd len="med" w="med" type="none"/>
            <a:tailEnd len="med" w="med" type="triangle"/>
          </a:ln>
        </p:spPr>
      </p:cxnSp>
      <p:sp>
        <p:nvSpPr>
          <p:cNvPr id="1707" name="Google Shape;1707;p85"/>
          <p:cNvSpPr txBox="1"/>
          <p:nvPr/>
        </p:nvSpPr>
        <p:spPr>
          <a:xfrm>
            <a:off x="3273425" y="2218200"/>
            <a:ext cx="1718700" cy="52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a:solidFill>
                  <a:schemeClr val="dk2"/>
                </a:solidFill>
              </a:rPr>
              <a:t>kho đối tượng hạng ruồi</a:t>
            </a:r>
            <a:endParaRPr i="1">
              <a:solidFill>
                <a:schemeClr val="dk2"/>
              </a:solidFill>
            </a:endParaRPr>
          </a:p>
        </p:txBody>
      </p:sp>
      <p:sp>
        <p:nvSpPr>
          <p:cNvPr id="1701" name="Google Shape;1701;p85"/>
          <p:cNvSpPr/>
          <p:nvPr/>
        </p:nvSpPr>
        <p:spPr>
          <a:xfrm>
            <a:off x="2556475" y="2707335"/>
            <a:ext cx="229500" cy="149700"/>
          </a:xfrm>
          <a:prstGeom prst="diamond">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03" name="Google Shape;1703;p85"/>
          <p:cNvSpPr/>
          <p:nvPr/>
        </p:nvSpPr>
        <p:spPr>
          <a:xfrm>
            <a:off x="1561883" y="2986850"/>
            <a:ext cx="169700" cy="189675"/>
          </a:xfrm>
          <a:prstGeom prst="flowChartDecision">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1" name="Shape 1711"/>
        <p:cNvGrpSpPr/>
        <p:nvPr/>
      </p:nvGrpSpPr>
      <p:grpSpPr>
        <a:xfrm>
          <a:off x="0" y="0"/>
          <a:ext cx="0" cy="0"/>
          <a:chOff x="0" y="0"/>
          <a:chExt cx="0" cy="0"/>
        </a:xfrm>
      </p:grpSpPr>
      <p:sp>
        <p:nvSpPr>
          <p:cNvPr id="1712" name="Google Shape;1712;p86"/>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Hạng ruồi: Các hệ quả</a:t>
            </a:r>
            <a:endParaRPr/>
          </a:p>
        </p:txBody>
      </p:sp>
      <p:sp>
        <p:nvSpPr>
          <p:cNvPr id="1713" name="Google Shape;1713;p8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714" name="Google Shape;1714;p86"/>
          <p:cNvSpPr txBox="1"/>
          <p:nvPr>
            <p:ph idx="1" type="body"/>
          </p:nvPr>
        </p:nvSpPr>
        <p:spPr>
          <a:xfrm>
            <a:off x="311700" y="950475"/>
            <a:ext cx="8520600" cy="5418300"/>
          </a:xfrm>
          <a:prstGeom prst="rect">
            <a:avLst/>
          </a:prstGeom>
        </p:spPr>
        <p:txBody>
          <a:bodyPr anchorCtr="0" anchor="t" bIns="91425" lIns="91425" spcFirstLastPara="1" rIns="91425" wrap="square" tIns="91425">
            <a:noAutofit/>
          </a:bodyPr>
          <a:lstStyle/>
          <a:p>
            <a:pPr indent="-381000" lvl="0" marL="457200" rtl="0" algn="just">
              <a:spcBef>
                <a:spcPts val="0"/>
              </a:spcBef>
              <a:spcAft>
                <a:spcPts val="0"/>
              </a:spcAft>
              <a:buSzPts val="2400"/>
              <a:buChar char="●"/>
            </a:pPr>
            <a:r>
              <a:rPr lang="en-GB"/>
              <a:t>Mức giảm dung lượng lưu trữ phụ thuộc vào tổng số lượng đối tượng được chia sẻ, dung lượng trạng thái nội của đối tượng, khả năng tính trạng thái ngoại.</a:t>
            </a:r>
            <a:endParaRPr/>
          </a:p>
          <a:p>
            <a:pPr indent="-381000" lvl="0" marL="457200" rtl="0" algn="just">
              <a:spcBef>
                <a:spcPts val="0"/>
              </a:spcBef>
              <a:spcAft>
                <a:spcPts val="0"/>
              </a:spcAft>
              <a:buSzPts val="2400"/>
              <a:buChar char="●"/>
            </a:pPr>
            <a:r>
              <a:rPr lang="en-GB"/>
              <a:t>Đối tượng được chia sẻ càng nhiều thì dung lượng lưu trữ tiết kiệm được càng lớn.</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8" name="Shape 1718"/>
        <p:cNvGrpSpPr/>
        <p:nvPr/>
      </p:nvGrpSpPr>
      <p:grpSpPr>
        <a:xfrm>
          <a:off x="0" y="0"/>
          <a:ext cx="0" cy="0"/>
          <a:chOff x="0" y="0"/>
          <a:chExt cx="0" cy="0"/>
        </a:xfrm>
      </p:grpSpPr>
      <p:sp>
        <p:nvSpPr>
          <p:cNvPr id="1719" name="Google Shape;1719;p87"/>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14. Hiển thị văn bản</a:t>
            </a:r>
            <a:endParaRPr/>
          </a:p>
        </p:txBody>
      </p:sp>
      <p:sp>
        <p:nvSpPr>
          <p:cNvPr id="1720" name="Google Shape;1720;p8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721" name="Google Shape;1721;p87"/>
          <p:cNvSpPr/>
          <p:nvPr/>
        </p:nvSpPr>
        <p:spPr>
          <a:xfrm>
            <a:off x="3261499" y="1715125"/>
            <a:ext cx="26763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i="1" lang="en-GB" sz="1600"/>
              <a:t>Glyph</a:t>
            </a:r>
            <a:endParaRPr i="1" sz="1600"/>
          </a:p>
        </p:txBody>
      </p:sp>
      <p:sp>
        <p:nvSpPr>
          <p:cNvPr id="1722" name="Google Shape;1722;p87"/>
          <p:cNvSpPr/>
          <p:nvPr/>
        </p:nvSpPr>
        <p:spPr>
          <a:xfrm>
            <a:off x="3261475" y="2037350"/>
            <a:ext cx="2676300" cy="6000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i="1" lang="en-GB" sz="1600"/>
              <a:t>Draw(Context)</a:t>
            </a:r>
            <a:endParaRPr i="1" sz="1600"/>
          </a:p>
          <a:p>
            <a:pPr indent="0" lvl="0" marL="0" rtl="0" algn="l">
              <a:spcBef>
                <a:spcPts val="0"/>
              </a:spcBef>
              <a:spcAft>
                <a:spcPts val="0"/>
              </a:spcAft>
              <a:buNone/>
            </a:pPr>
            <a:r>
              <a:rPr i="1" lang="en-GB" sz="1600"/>
              <a:t>Intersects(Point, Context)</a:t>
            </a:r>
            <a:endParaRPr i="1" sz="1600"/>
          </a:p>
        </p:txBody>
      </p:sp>
      <p:sp>
        <p:nvSpPr>
          <p:cNvPr id="1723" name="Google Shape;1723;p87"/>
          <p:cNvSpPr/>
          <p:nvPr/>
        </p:nvSpPr>
        <p:spPr>
          <a:xfrm>
            <a:off x="907146" y="3467725"/>
            <a:ext cx="24126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Row</a:t>
            </a:r>
            <a:endParaRPr sz="1600"/>
          </a:p>
        </p:txBody>
      </p:sp>
      <p:sp>
        <p:nvSpPr>
          <p:cNvPr id="1724" name="Google Shape;1724;p87"/>
          <p:cNvSpPr/>
          <p:nvPr/>
        </p:nvSpPr>
        <p:spPr>
          <a:xfrm>
            <a:off x="907125" y="3789950"/>
            <a:ext cx="2412600" cy="6906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lang="en-GB" sz="1600"/>
              <a:t>Draw(Context)</a:t>
            </a:r>
            <a:endParaRPr sz="1600"/>
          </a:p>
          <a:p>
            <a:pPr indent="0" lvl="0" marL="0" rtl="0" algn="l">
              <a:spcBef>
                <a:spcPts val="0"/>
              </a:spcBef>
              <a:spcAft>
                <a:spcPts val="0"/>
              </a:spcAft>
              <a:buNone/>
            </a:pPr>
            <a:r>
              <a:rPr lang="en-GB" sz="1600"/>
              <a:t>Intersects(Point, Context)</a:t>
            </a:r>
            <a:endParaRPr sz="1600"/>
          </a:p>
        </p:txBody>
      </p:sp>
      <p:sp>
        <p:nvSpPr>
          <p:cNvPr id="1725" name="Google Shape;1725;p87"/>
          <p:cNvSpPr/>
          <p:nvPr/>
        </p:nvSpPr>
        <p:spPr>
          <a:xfrm>
            <a:off x="3401858" y="5085353"/>
            <a:ext cx="2412600" cy="3225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lang="en-GB" sz="1600"/>
              <a:t>char c</a:t>
            </a:r>
            <a:endParaRPr sz="1600"/>
          </a:p>
        </p:txBody>
      </p:sp>
      <p:sp>
        <p:nvSpPr>
          <p:cNvPr id="1726" name="Google Shape;1726;p87"/>
          <p:cNvSpPr/>
          <p:nvPr/>
        </p:nvSpPr>
        <p:spPr>
          <a:xfrm>
            <a:off x="3401874" y="4763125"/>
            <a:ext cx="24126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Character</a:t>
            </a:r>
            <a:endParaRPr sz="1600"/>
          </a:p>
        </p:txBody>
      </p:sp>
      <p:sp>
        <p:nvSpPr>
          <p:cNvPr id="1727" name="Google Shape;1727;p87"/>
          <p:cNvSpPr/>
          <p:nvPr/>
        </p:nvSpPr>
        <p:spPr>
          <a:xfrm>
            <a:off x="5685848" y="3467725"/>
            <a:ext cx="26196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Column</a:t>
            </a:r>
            <a:endParaRPr sz="1600"/>
          </a:p>
        </p:txBody>
      </p:sp>
      <p:sp>
        <p:nvSpPr>
          <p:cNvPr id="1728" name="Google Shape;1728;p87"/>
          <p:cNvSpPr/>
          <p:nvPr/>
        </p:nvSpPr>
        <p:spPr>
          <a:xfrm>
            <a:off x="5685825" y="3789950"/>
            <a:ext cx="2619600" cy="6000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lang="en-GB" sz="1600"/>
              <a:t>Draw(Context)</a:t>
            </a:r>
            <a:endParaRPr sz="1600"/>
          </a:p>
          <a:p>
            <a:pPr indent="0" lvl="0" marL="0" rtl="0" algn="l">
              <a:spcBef>
                <a:spcPts val="0"/>
              </a:spcBef>
              <a:spcAft>
                <a:spcPts val="0"/>
              </a:spcAft>
              <a:buNone/>
            </a:pPr>
            <a:r>
              <a:rPr lang="en-GB" sz="1600"/>
              <a:t>Intersects(Point, Context)</a:t>
            </a:r>
            <a:endParaRPr sz="1600"/>
          </a:p>
        </p:txBody>
      </p:sp>
      <p:sp>
        <p:nvSpPr>
          <p:cNvPr id="1729" name="Google Shape;1729;p87"/>
          <p:cNvSpPr/>
          <p:nvPr/>
        </p:nvSpPr>
        <p:spPr>
          <a:xfrm>
            <a:off x="686075" y="3535875"/>
            <a:ext cx="219600" cy="139775"/>
          </a:xfrm>
          <a:prstGeom prst="flowChartDecision">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30" name="Google Shape;1730;p87"/>
          <p:cNvSpPr/>
          <p:nvPr/>
        </p:nvSpPr>
        <p:spPr>
          <a:xfrm>
            <a:off x="8306075" y="3535875"/>
            <a:ext cx="219600" cy="139775"/>
          </a:xfrm>
          <a:prstGeom prst="flowChartDecision">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31" name="Google Shape;1731;p87"/>
          <p:cNvSpPr/>
          <p:nvPr/>
        </p:nvSpPr>
        <p:spPr>
          <a:xfrm>
            <a:off x="3990300" y="2637450"/>
            <a:ext cx="159600" cy="1398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32" name="Google Shape;1732;p87"/>
          <p:cNvSpPr/>
          <p:nvPr/>
        </p:nvSpPr>
        <p:spPr>
          <a:xfrm>
            <a:off x="4523700" y="2637450"/>
            <a:ext cx="159600" cy="1398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33" name="Google Shape;1733;p87"/>
          <p:cNvSpPr/>
          <p:nvPr/>
        </p:nvSpPr>
        <p:spPr>
          <a:xfrm>
            <a:off x="4980900" y="2637450"/>
            <a:ext cx="159600" cy="1398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734" name="Google Shape;1734;p87"/>
          <p:cNvCxnSpPr>
            <a:stCxn id="1723" idx="0"/>
            <a:endCxn id="1731" idx="3"/>
          </p:cNvCxnSpPr>
          <p:nvPr/>
        </p:nvCxnSpPr>
        <p:spPr>
          <a:xfrm rot="-5400000">
            <a:off x="2746446" y="2144125"/>
            <a:ext cx="690600" cy="1956600"/>
          </a:xfrm>
          <a:prstGeom prst="bentConnector3">
            <a:avLst>
              <a:gd fmla="val 49991" name="adj1"/>
            </a:avLst>
          </a:prstGeom>
          <a:noFill/>
          <a:ln cap="flat" cmpd="sng" w="9525">
            <a:solidFill>
              <a:schemeClr val="dk2"/>
            </a:solidFill>
            <a:prstDash val="solid"/>
            <a:round/>
            <a:headEnd len="med" w="med" type="none"/>
            <a:tailEnd len="med" w="med" type="none"/>
          </a:ln>
        </p:spPr>
      </p:cxnSp>
      <p:cxnSp>
        <p:nvCxnSpPr>
          <p:cNvPr id="1735" name="Google Shape;1735;p87"/>
          <p:cNvCxnSpPr>
            <a:stCxn id="1726" idx="0"/>
            <a:endCxn id="1732" idx="3"/>
          </p:cNvCxnSpPr>
          <p:nvPr/>
        </p:nvCxnSpPr>
        <p:spPr>
          <a:xfrm flipH="1" rot="5400000">
            <a:off x="3612774" y="3767725"/>
            <a:ext cx="1986000" cy="4800"/>
          </a:xfrm>
          <a:prstGeom prst="bentConnector3">
            <a:avLst>
              <a:gd fmla="val 49997" name="adj1"/>
            </a:avLst>
          </a:prstGeom>
          <a:noFill/>
          <a:ln cap="flat" cmpd="sng" w="9525">
            <a:solidFill>
              <a:schemeClr val="dk2"/>
            </a:solidFill>
            <a:prstDash val="solid"/>
            <a:round/>
            <a:headEnd len="med" w="med" type="none"/>
            <a:tailEnd len="med" w="med" type="none"/>
          </a:ln>
        </p:spPr>
      </p:cxnSp>
      <p:cxnSp>
        <p:nvCxnSpPr>
          <p:cNvPr id="1736" name="Google Shape;1736;p87"/>
          <p:cNvCxnSpPr>
            <a:stCxn id="1727" idx="0"/>
            <a:endCxn id="1733" idx="3"/>
          </p:cNvCxnSpPr>
          <p:nvPr/>
        </p:nvCxnSpPr>
        <p:spPr>
          <a:xfrm flipH="1" rot="5400000">
            <a:off x="5682848" y="2154925"/>
            <a:ext cx="690600" cy="1935000"/>
          </a:xfrm>
          <a:prstGeom prst="bentConnector3">
            <a:avLst>
              <a:gd fmla="val 49991" name="adj1"/>
            </a:avLst>
          </a:prstGeom>
          <a:noFill/>
          <a:ln cap="flat" cmpd="sng" w="9525">
            <a:solidFill>
              <a:schemeClr val="dk2"/>
            </a:solidFill>
            <a:prstDash val="solid"/>
            <a:round/>
            <a:headEnd len="med" w="med" type="none"/>
            <a:tailEnd len="med" w="med" type="none"/>
          </a:ln>
        </p:spPr>
      </p:cxnSp>
      <p:cxnSp>
        <p:nvCxnSpPr>
          <p:cNvPr id="1737" name="Google Shape;1737;p87"/>
          <p:cNvCxnSpPr>
            <a:stCxn id="1729" idx="1"/>
            <a:endCxn id="1721" idx="1"/>
          </p:cNvCxnSpPr>
          <p:nvPr/>
        </p:nvCxnSpPr>
        <p:spPr>
          <a:xfrm flipH="1" rot="10800000">
            <a:off x="686075" y="1876263"/>
            <a:ext cx="2575500" cy="1729500"/>
          </a:xfrm>
          <a:prstGeom prst="bentConnector3">
            <a:avLst>
              <a:gd fmla="val -9246" name="adj1"/>
            </a:avLst>
          </a:prstGeom>
          <a:noFill/>
          <a:ln cap="flat" cmpd="sng" w="9525">
            <a:solidFill>
              <a:schemeClr val="dk2"/>
            </a:solidFill>
            <a:prstDash val="solid"/>
            <a:round/>
            <a:headEnd len="med" w="med" type="none"/>
            <a:tailEnd len="med" w="med" type="none"/>
          </a:ln>
        </p:spPr>
      </p:cxnSp>
      <p:cxnSp>
        <p:nvCxnSpPr>
          <p:cNvPr id="1738" name="Google Shape;1738;p87"/>
          <p:cNvCxnSpPr>
            <a:stCxn id="1730" idx="3"/>
            <a:endCxn id="1721" idx="3"/>
          </p:cNvCxnSpPr>
          <p:nvPr/>
        </p:nvCxnSpPr>
        <p:spPr>
          <a:xfrm rot="10800000">
            <a:off x="5937875" y="1876263"/>
            <a:ext cx="2587800" cy="1729500"/>
          </a:xfrm>
          <a:prstGeom prst="bentConnector3">
            <a:avLst>
              <a:gd fmla="val -9202" name="adj1"/>
            </a:avLst>
          </a:prstGeom>
          <a:noFill/>
          <a:ln cap="flat" cmpd="sng" w="9525">
            <a:solidFill>
              <a:schemeClr val="dk2"/>
            </a:solidFill>
            <a:prstDash val="solid"/>
            <a:round/>
            <a:headEnd len="med" w="med" type="none"/>
            <a:tailEnd len="med" w="med" type="none"/>
          </a:ln>
        </p:spPr>
      </p:cxnSp>
      <p:sp>
        <p:nvSpPr>
          <p:cNvPr id="1739" name="Google Shape;1739;p87"/>
          <p:cNvSpPr txBox="1"/>
          <p:nvPr/>
        </p:nvSpPr>
        <p:spPr>
          <a:xfrm>
            <a:off x="2506550" y="1556675"/>
            <a:ext cx="1048200" cy="32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children</a:t>
            </a:r>
            <a:endParaRPr>
              <a:solidFill>
                <a:schemeClr val="dk2"/>
              </a:solidFill>
            </a:endParaRPr>
          </a:p>
        </p:txBody>
      </p:sp>
      <p:sp>
        <p:nvSpPr>
          <p:cNvPr id="1740" name="Google Shape;1740;p87"/>
          <p:cNvSpPr txBox="1"/>
          <p:nvPr/>
        </p:nvSpPr>
        <p:spPr>
          <a:xfrm>
            <a:off x="5935550" y="1556675"/>
            <a:ext cx="1048200" cy="32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children</a:t>
            </a:r>
            <a:endParaRPr>
              <a:solidFill>
                <a:schemeClr val="dk2"/>
              </a:solidFill>
            </a:endParaRPr>
          </a:p>
        </p:txBody>
      </p:sp>
      <p:sp>
        <p:nvSpPr>
          <p:cNvPr id="1741" name="Google Shape;1741;p87"/>
          <p:cNvSpPr txBox="1"/>
          <p:nvPr/>
        </p:nvSpPr>
        <p:spPr>
          <a:xfrm>
            <a:off x="5935550" y="1861475"/>
            <a:ext cx="357000" cy="32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a:t>
            </a:r>
            <a:endParaRPr>
              <a:solidFill>
                <a:schemeClr val="dk2"/>
              </a:solidFill>
            </a:endParaRPr>
          </a:p>
        </p:txBody>
      </p:sp>
      <p:sp>
        <p:nvSpPr>
          <p:cNvPr id="1742" name="Google Shape;1742;p87"/>
          <p:cNvSpPr txBox="1"/>
          <p:nvPr/>
        </p:nvSpPr>
        <p:spPr>
          <a:xfrm>
            <a:off x="3039950" y="1861475"/>
            <a:ext cx="357000" cy="32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a:t>
            </a:r>
            <a:endParaRPr>
              <a:solidFill>
                <a:schemeClr val="dk2"/>
              </a:solidFill>
            </a:endParaRPr>
          </a:p>
        </p:txBody>
      </p:sp>
      <p:sp>
        <p:nvSpPr>
          <p:cNvPr id="1743" name="Google Shape;1743;p87"/>
          <p:cNvSpPr/>
          <p:nvPr/>
        </p:nvSpPr>
        <p:spPr>
          <a:xfrm>
            <a:off x="3401853" y="5410126"/>
            <a:ext cx="2412600" cy="6000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lang="en-GB" sz="1600"/>
              <a:t>Draw(Context)</a:t>
            </a:r>
            <a:endParaRPr sz="1600"/>
          </a:p>
          <a:p>
            <a:pPr indent="0" lvl="0" marL="0" rtl="0" algn="l">
              <a:spcBef>
                <a:spcPts val="0"/>
              </a:spcBef>
              <a:spcAft>
                <a:spcPts val="0"/>
              </a:spcAft>
              <a:buNone/>
            </a:pPr>
            <a:r>
              <a:rPr lang="en-GB" sz="1600"/>
              <a:t>Intersects(Point, Context)</a:t>
            </a:r>
            <a:endParaRPr sz="1600"/>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7" name="Shape 1747"/>
        <p:cNvGrpSpPr/>
        <p:nvPr/>
      </p:nvGrpSpPr>
      <p:grpSpPr>
        <a:xfrm>
          <a:off x="0" y="0"/>
          <a:ext cx="0" cy="0"/>
          <a:chOff x="0" y="0"/>
          <a:chExt cx="0" cy="0"/>
        </a:xfrm>
      </p:grpSpPr>
      <p:sp>
        <p:nvSpPr>
          <p:cNvPr id="1748" name="Google Shape;1748;p88"/>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Lớp đại diện</a:t>
            </a:r>
            <a:endParaRPr/>
          </a:p>
        </p:txBody>
      </p:sp>
      <p:sp>
        <p:nvSpPr>
          <p:cNvPr id="1749" name="Google Shape;1749;p88"/>
          <p:cNvSpPr txBox="1"/>
          <p:nvPr>
            <p:ph idx="1" type="body"/>
          </p:nvPr>
        </p:nvSpPr>
        <p:spPr>
          <a:xfrm>
            <a:off x="311700" y="950475"/>
            <a:ext cx="8520600" cy="54183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i="1" lang="en-GB"/>
              <a:t>Proxy</a:t>
            </a:r>
            <a:endParaRPr i="1"/>
          </a:p>
          <a:p>
            <a:pPr indent="0" lvl="0" marL="0" rtl="0" algn="just">
              <a:spcBef>
                <a:spcPts val="0"/>
              </a:spcBef>
              <a:spcAft>
                <a:spcPts val="0"/>
              </a:spcAft>
              <a:buNone/>
            </a:pPr>
            <a:r>
              <a:rPr lang="en-GB"/>
              <a:t>Thiết lập một đối tượng đại diện cho một đối tượng khác để kiểm soát truy cập tới đối tượng đó.</a:t>
            </a:r>
            <a:endParaRPr/>
          </a:p>
        </p:txBody>
      </p:sp>
      <p:sp>
        <p:nvSpPr>
          <p:cNvPr id="1750" name="Google Shape;1750;p8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4" name="Shape 1754"/>
        <p:cNvGrpSpPr/>
        <p:nvPr/>
      </p:nvGrpSpPr>
      <p:grpSpPr>
        <a:xfrm>
          <a:off x="0" y="0"/>
          <a:ext cx="0" cy="0"/>
          <a:chOff x="0" y="0"/>
          <a:chExt cx="0" cy="0"/>
        </a:xfrm>
      </p:grpSpPr>
      <p:sp>
        <p:nvSpPr>
          <p:cNvPr id="1755" name="Google Shape;1755;p89"/>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Lớp đại diện: Cấu trúc</a:t>
            </a:r>
            <a:endParaRPr/>
          </a:p>
        </p:txBody>
      </p:sp>
      <p:sp>
        <p:nvSpPr>
          <p:cNvPr id="1756" name="Google Shape;1756;p8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757" name="Google Shape;1757;p89"/>
          <p:cNvSpPr/>
          <p:nvPr/>
        </p:nvSpPr>
        <p:spPr>
          <a:xfrm>
            <a:off x="4524633" y="1334125"/>
            <a:ext cx="12174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i="1" lang="en-GB" sz="1600"/>
              <a:t>Đối tượng</a:t>
            </a:r>
            <a:endParaRPr i="1" sz="1600"/>
          </a:p>
        </p:txBody>
      </p:sp>
      <p:sp>
        <p:nvSpPr>
          <p:cNvPr id="1758" name="Google Shape;1758;p89"/>
          <p:cNvSpPr/>
          <p:nvPr/>
        </p:nvSpPr>
        <p:spPr>
          <a:xfrm>
            <a:off x="4524622" y="1656350"/>
            <a:ext cx="1217400" cy="3915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i="1" lang="en-GB" sz="1600"/>
              <a:t>Yêu cầu()</a:t>
            </a:r>
            <a:endParaRPr i="1" sz="1600"/>
          </a:p>
        </p:txBody>
      </p:sp>
      <p:sp>
        <p:nvSpPr>
          <p:cNvPr id="1759" name="Google Shape;1759;p89"/>
          <p:cNvSpPr/>
          <p:nvPr/>
        </p:nvSpPr>
        <p:spPr>
          <a:xfrm>
            <a:off x="1600308" y="1285794"/>
            <a:ext cx="1008000" cy="4380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Kh</a:t>
            </a:r>
            <a:r>
              <a:rPr lang="en-GB" sz="1600"/>
              <a:t>ách</a:t>
            </a:r>
            <a:endParaRPr sz="1600"/>
          </a:p>
        </p:txBody>
      </p:sp>
      <p:cxnSp>
        <p:nvCxnSpPr>
          <p:cNvPr id="1760" name="Google Shape;1760;p89"/>
          <p:cNvCxnSpPr>
            <a:stCxn id="1759" idx="3"/>
            <a:endCxn id="1757" idx="1"/>
          </p:cNvCxnSpPr>
          <p:nvPr/>
        </p:nvCxnSpPr>
        <p:spPr>
          <a:xfrm flipH="1" rot="10800000">
            <a:off x="2608308" y="1495494"/>
            <a:ext cx="1916400" cy="9300"/>
          </a:xfrm>
          <a:prstGeom prst="straightConnector1">
            <a:avLst/>
          </a:prstGeom>
          <a:noFill/>
          <a:ln cap="flat" cmpd="sng" w="9525">
            <a:solidFill>
              <a:schemeClr val="dk2"/>
            </a:solidFill>
            <a:prstDash val="solid"/>
            <a:round/>
            <a:headEnd len="med" w="med" type="none"/>
            <a:tailEnd len="med" w="med" type="triangle"/>
          </a:ln>
        </p:spPr>
      </p:cxnSp>
      <p:sp>
        <p:nvSpPr>
          <p:cNvPr id="1761" name="Google Shape;1761;p89"/>
          <p:cNvSpPr/>
          <p:nvPr/>
        </p:nvSpPr>
        <p:spPr>
          <a:xfrm>
            <a:off x="1217163" y="2934325"/>
            <a:ext cx="18579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Lớp Thực</a:t>
            </a:r>
            <a:endParaRPr sz="1600"/>
          </a:p>
        </p:txBody>
      </p:sp>
      <p:sp>
        <p:nvSpPr>
          <p:cNvPr id="1762" name="Google Shape;1762;p89"/>
          <p:cNvSpPr/>
          <p:nvPr/>
        </p:nvSpPr>
        <p:spPr>
          <a:xfrm>
            <a:off x="1217146" y="3256550"/>
            <a:ext cx="1857900" cy="3915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lang="en-GB" sz="1600"/>
              <a:t>Yêu cầu</a:t>
            </a:r>
            <a:r>
              <a:rPr lang="en-GB" sz="1600"/>
              <a:t>()</a:t>
            </a:r>
            <a:endParaRPr sz="1600"/>
          </a:p>
        </p:txBody>
      </p:sp>
      <p:sp>
        <p:nvSpPr>
          <p:cNvPr id="1763" name="Google Shape;1763;p89"/>
          <p:cNvSpPr/>
          <p:nvPr/>
        </p:nvSpPr>
        <p:spPr>
          <a:xfrm>
            <a:off x="5058042" y="2962325"/>
            <a:ext cx="19407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Lớp Đại diện</a:t>
            </a:r>
            <a:endParaRPr sz="1600"/>
          </a:p>
        </p:txBody>
      </p:sp>
      <p:sp>
        <p:nvSpPr>
          <p:cNvPr id="1764" name="Google Shape;1764;p89"/>
          <p:cNvSpPr/>
          <p:nvPr/>
        </p:nvSpPr>
        <p:spPr>
          <a:xfrm>
            <a:off x="5058025" y="3284550"/>
            <a:ext cx="1940700" cy="3915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lang="en-GB" sz="1600"/>
              <a:t>Yêu cầu</a:t>
            </a:r>
            <a:r>
              <a:rPr lang="en-GB" sz="1600"/>
              <a:t>()</a:t>
            </a:r>
            <a:endParaRPr sz="1600"/>
          </a:p>
        </p:txBody>
      </p:sp>
      <p:sp>
        <p:nvSpPr>
          <p:cNvPr id="1765" name="Google Shape;1765;p89"/>
          <p:cNvSpPr/>
          <p:nvPr/>
        </p:nvSpPr>
        <p:spPr>
          <a:xfrm>
            <a:off x="4848494" y="3038435"/>
            <a:ext cx="191700" cy="117050"/>
          </a:xfrm>
          <a:prstGeom prst="flowChartDecision">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6" name="Google Shape;1766;p89"/>
          <p:cNvSpPr/>
          <p:nvPr/>
        </p:nvSpPr>
        <p:spPr>
          <a:xfrm>
            <a:off x="4840014" y="2052256"/>
            <a:ext cx="191700" cy="1047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7" name="Google Shape;1767;p89"/>
          <p:cNvSpPr/>
          <p:nvPr/>
        </p:nvSpPr>
        <p:spPr>
          <a:xfrm>
            <a:off x="5221014" y="2052256"/>
            <a:ext cx="191700" cy="1047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768" name="Google Shape;1768;p89"/>
          <p:cNvCxnSpPr>
            <a:stCxn id="1761" idx="0"/>
            <a:endCxn id="1766" idx="3"/>
          </p:cNvCxnSpPr>
          <p:nvPr/>
        </p:nvCxnSpPr>
        <p:spPr>
          <a:xfrm rot="-5400000">
            <a:off x="3152313" y="1150825"/>
            <a:ext cx="777300" cy="2789700"/>
          </a:xfrm>
          <a:prstGeom prst="bentConnector3">
            <a:avLst>
              <a:gd fmla="val 50004" name="adj1"/>
            </a:avLst>
          </a:prstGeom>
          <a:noFill/>
          <a:ln cap="flat" cmpd="sng" w="9525">
            <a:solidFill>
              <a:schemeClr val="dk2"/>
            </a:solidFill>
            <a:prstDash val="solid"/>
            <a:round/>
            <a:headEnd len="med" w="med" type="none"/>
            <a:tailEnd len="med" w="med" type="none"/>
          </a:ln>
        </p:spPr>
      </p:cxnSp>
      <p:cxnSp>
        <p:nvCxnSpPr>
          <p:cNvPr id="1769" name="Google Shape;1769;p89"/>
          <p:cNvCxnSpPr>
            <a:stCxn id="1763" idx="0"/>
            <a:endCxn id="1767" idx="3"/>
          </p:cNvCxnSpPr>
          <p:nvPr/>
        </p:nvCxnSpPr>
        <p:spPr>
          <a:xfrm flipH="1" rot="5400000">
            <a:off x="5269842" y="2203775"/>
            <a:ext cx="805500" cy="711600"/>
          </a:xfrm>
          <a:prstGeom prst="bentConnector3">
            <a:avLst>
              <a:gd fmla="val 49992" name="adj1"/>
            </a:avLst>
          </a:prstGeom>
          <a:noFill/>
          <a:ln cap="flat" cmpd="sng" w="9525">
            <a:solidFill>
              <a:schemeClr val="dk2"/>
            </a:solidFill>
            <a:prstDash val="solid"/>
            <a:round/>
            <a:headEnd len="med" w="med" type="none"/>
            <a:tailEnd len="med" w="med" type="none"/>
          </a:ln>
        </p:spPr>
      </p:cxnSp>
      <p:cxnSp>
        <p:nvCxnSpPr>
          <p:cNvPr id="1770" name="Google Shape;1770;p89"/>
          <p:cNvCxnSpPr>
            <a:stCxn id="1761" idx="3"/>
            <a:endCxn id="1765" idx="1"/>
          </p:cNvCxnSpPr>
          <p:nvPr/>
        </p:nvCxnSpPr>
        <p:spPr>
          <a:xfrm>
            <a:off x="3075063" y="3095575"/>
            <a:ext cx="1773300" cy="1500"/>
          </a:xfrm>
          <a:prstGeom prst="straightConnector1">
            <a:avLst/>
          </a:prstGeom>
          <a:noFill/>
          <a:ln cap="flat" cmpd="sng" w="9525">
            <a:solidFill>
              <a:schemeClr val="dk2"/>
            </a:solidFill>
            <a:prstDash val="solid"/>
            <a:round/>
            <a:headEnd len="med" w="med" type="none"/>
            <a:tailEnd len="med" w="med" type="none"/>
          </a:ln>
        </p:spPr>
      </p:cxnSp>
      <p:sp>
        <p:nvSpPr>
          <p:cNvPr id="1771" name="Google Shape;1771;p89"/>
          <p:cNvSpPr txBox="1"/>
          <p:nvPr/>
        </p:nvSpPr>
        <p:spPr>
          <a:xfrm>
            <a:off x="3031501" y="2805175"/>
            <a:ext cx="1523400" cy="39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đối tượng thực</a:t>
            </a:r>
            <a:endParaRPr/>
          </a:p>
        </p:txBody>
      </p:sp>
      <p:sp>
        <p:nvSpPr>
          <p:cNvPr id="1772" name="Google Shape;1772;p89"/>
          <p:cNvSpPr/>
          <p:nvPr/>
        </p:nvSpPr>
        <p:spPr>
          <a:xfrm>
            <a:off x="5661025" y="4034025"/>
            <a:ext cx="2382000" cy="438000"/>
          </a:xfrm>
          <a:prstGeom prst="foldedCorner">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t>đối tượng thực-&gt;Yêu cầu()</a:t>
            </a:r>
            <a:endParaRPr/>
          </a:p>
        </p:txBody>
      </p:sp>
      <p:cxnSp>
        <p:nvCxnSpPr>
          <p:cNvPr id="1773" name="Google Shape;1773;p89"/>
          <p:cNvCxnSpPr/>
          <p:nvPr/>
        </p:nvCxnSpPr>
        <p:spPr>
          <a:xfrm>
            <a:off x="6076650" y="3425075"/>
            <a:ext cx="0" cy="588900"/>
          </a:xfrm>
          <a:prstGeom prst="straightConnector1">
            <a:avLst/>
          </a:prstGeom>
          <a:noFill/>
          <a:ln cap="flat" cmpd="sng" w="9525">
            <a:solidFill>
              <a:schemeClr val="dk2"/>
            </a:solidFill>
            <a:prstDash val="dash"/>
            <a:round/>
            <a:headEnd len="med" w="med" type="oval"/>
            <a:tailEnd len="med" w="med" type="none"/>
          </a:ln>
        </p:spPr>
      </p:cxnSp>
      <p:sp>
        <p:nvSpPr>
          <p:cNvPr id="1774" name="Google Shape;1774;p89"/>
          <p:cNvSpPr txBox="1"/>
          <p:nvPr/>
        </p:nvSpPr>
        <p:spPr>
          <a:xfrm>
            <a:off x="3031501" y="3033775"/>
            <a:ext cx="1523400" cy="39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1</a:t>
            </a:r>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8" name="Shape 1778"/>
        <p:cNvGrpSpPr/>
        <p:nvPr/>
      </p:nvGrpSpPr>
      <p:grpSpPr>
        <a:xfrm>
          <a:off x="0" y="0"/>
          <a:ext cx="0" cy="0"/>
          <a:chOff x="0" y="0"/>
          <a:chExt cx="0" cy="0"/>
        </a:xfrm>
      </p:grpSpPr>
      <p:sp>
        <p:nvSpPr>
          <p:cNvPr id="1779" name="Google Shape;1779;p90"/>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Đại diện: Hành vi</a:t>
            </a:r>
            <a:endParaRPr/>
          </a:p>
        </p:txBody>
      </p:sp>
      <p:sp>
        <p:nvSpPr>
          <p:cNvPr id="1780" name="Google Shape;1780;p9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781" name="Google Shape;1781;p90"/>
          <p:cNvSpPr/>
          <p:nvPr/>
        </p:nvSpPr>
        <p:spPr>
          <a:xfrm>
            <a:off x="4092480" y="1445500"/>
            <a:ext cx="18168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u="sng"/>
              <a:t>p:Lớp Đại diện</a:t>
            </a:r>
            <a:endParaRPr sz="1600" u="sng"/>
          </a:p>
        </p:txBody>
      </p:sp>
      <p:cxnSp>
        <p:nvCxnSpPr>
          <p:cNvPr id="1782" name="Google Shape;1782;p90"/>
          <p:cNvCxnSpPr/>
          <p:nvPr/>
        </p:nvCxnSpPr>
        <p:spPr>
          <a:xfrm>
            <a:off x="5000881" y="1768000"/>
            <a:ext cx="2100" cy="2690700"/>
          </a:xfrm>
          <a:prstGeom prst="straightConnector1">
            <a:avLst/>
          </a:prstGeom>
          <a:noFill/>
          <a:ln cap="flat" cmpd="sng" w="9525">
            <a:solidFill>
              <a:schemeClr val="dk2"/>
            </a:solidFill>
            <a:prstDash val="dash"/>
            <a:round/>
            <a:headEnd len="med" w="med" type="none"/>
            <a:tailEnd len="med" w="med" type="none"/>
          </a:ln>
        </p:spPr>
      </p:cxnSp>
      <p:sp>
        <p:nvSpPr>
          <p:cNvPr id="1783" name="Google Shape;1783;p90"/>
          <p:cNvSpPr/>
          <p:nvPr/>
        </p:nvSpPr>
        <p:spPr>
          <a:xfrm>
            <a:off x="6073675" y="1445500"/>
            <a:ext cx="16578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u="sng"/>
              <a:t>s</a:t>
            </a:r>
            <a:r>
              <a:rPr lang="en-GB" sz="1600" u="sng"/>
              <a:t>:</a:t>
            </a:r>
            <a:r>
              <a:rPr lang="en-GB" sz="1600" u="sng"/>
              <a:t>Lớp thực</a:t>
            </a:r>
            <a:endParaRPr sz="1600" u="sng"/>
          </a:p>
        </p:txBody>
      </p:sp>
      <p:cxnSp>
        <p:nvCxnSpPr>
          <p:cNvPr id="1784" name="Google Shape;1784;p90"/>
          <p:cNvCxnSpPr/>
          <p:nvPr/>
        </p:nvCxnSpPr>
        <p:spPr>
          <a:xfrm>
            <a:off x="6902575" y="1768000"/>
            <a:ext cx="2100" cy="2690700"/>
          </a:xfrm>
          <a:prstGeom prst="straightConnector1">
            <a:avLst/>
          </a:prstGeom>
          <a:noFill/>
          <a:ln cap="flat" cmpd="sng" w="9525">
            <a:solidFill>
              <a:schemeClr val="dk2"/>
            </a:solidFill>
            <a:prstDash val="dash"/>
            <a:round/>
            <a:headEnd len="med" w="med" type="none"/>
            <a:tailEnd len="med" w="med" type="none"/>
          </a:ln>
        </p:spPr>
      </p:cxnSp>
      <p:sp>
        <p:nvSpPr>
          <p:cNvPr id="1785" name="Google Shape;1785;p90"/>
          <p:cNvSpPr/>
          <p:nvPr/>
        </p:nvSpPr>
        <p:spPr>
          <a:xfrm>
            <a:off x="4932100" y="2011296"/>
            <a:ext cx="152700" cy="4140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786" name="Google Shape;1786;p90"/>
          <p:cNvCxnSpPr>
            <a:stCxn id="1787" idx="6"/>
          </p:cNvCxnSpPr>
          <p:nvPr/>
        </p:nvCxnSpPr>
        <p:spPr>
          <a:xfrm flipH="1" rot="10800000">
            <a:off x="2356733" y="2166138"/>
            <a:ext cx="2579400" cy="2100"/>
          </a:xfrm>
          <a:prstGeom prst="straightConnector1">
            <a:avLst/>
          </a:prstGeom>
          <a:noFill/>
          <a:ln cap="flat" cmpd="sng" w="9525">
            <a:solidFill>
              <a:schemeClr val="dk2"/>
            </a:solidFill>
            <a:prstDash val="solid"/>
            <a:round/>
            <a:headEnd len="med" w="med" type="none"/>
            <a:tailEnd len="med" w="med" type="triangle"/>
          </a:ln>
        </p:spPr>
      </p:cxnSp>
      <p:sp>
        <p:nvSpPr>
          <p:cNvPr id="1788" name="Google Shape;1788;p90"/>
          <p:cNvSpPr txBox="1"/>
          <p:nvPr/>
        </p:nvSpPr>
        <p:spPr>
          <a:xfrm>
            <a:off x="2817356" y="1756700"/>
            <a:ext cx="2281200" cy="41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rPr>
              <a:t>Thiết lập đối tượng</a:t>
            </a:r>
            <a:r>
              <a:rPr lang="en-GB" sz="1600">
                <a:solidFill>
                  <a:schemeClr val="dk2"/>
                </a:solidFill>
              </a:rPr>
              <a:t>(s)</a:t>
            </a:r>
            <a:endParaRPr sz="1600">
              <a:solidFill>
                <a:schemeClr val="dk2"/>
              </a:solidFill>
            </a:endParaRPr>
          </a:p>
        </p:txBody>
      </p:sp>
      <p:sp>
        <p:nvSpPr>
          <p:cNvPr id="1789" name="Google Shape;1789;p90"/>
          <p:cNvSpPr/>
          <p:nvPr/>
        </p:nvSpPr>
        <p:spPr>
          <a:xfrm>
            <a:off x="4932100" y="2773296"/>
            <a:ext cx="152700" cy="4140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790" name="Google Shape;1790;p90"/>
          <p:cNvCxnSpPr/>
          <p:nvPr/>
        </p:nvCxnSpPr>
        <p:spPr>
          <a:xfrm>
            <a:off x="2683575" y="2928275"/>
            <a:ext cx="2252400" cy="0"/>
          </a:xfrm>
          <a:prstGeom prst="straightConnector1">
            <a:avLst/>
          </a:prstGeom>
          <a:noFill/>
          <a:ln cap="flat" cmpd="sng" w="9525">
            <a:solidFill>
              <a:schemeClr val="dk2"/>
            </a:solidFill>
            <a:prstDash val="solid"/>
            <a:round/>
            <a:headEnd len="med" w="med" type="none"/>
            <a:tailEnd len="med" w="med" type="triangle"/>
          </a:ln>
        </p:spPr>
      </p:cxnSp>
      <p:sp>
        <p:nvSpPr>
          <p:cNvPr id="1791" name="Google Shape;1791;p90"/>
          <p:cNvSpPr txBox="1"/>
          <p:nvPr/>
        </p:nvSpPr>
        <p:spPr>
          <a:xfrm>
            <a:off x="2817352" y="2518700"/>
            <a:ext cx="1602300" cy="41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rPr>
              <a:t>Yêu cầu</a:t>
            </a:r>
            <a:r>
              <a:rPr lang="en-GB" sz="1600">
                <a:solidFill>
                  <a:schemeClr val="dk2"/>
                </a:solidFill>
              </a:rPr>
              <a:t>()</a:t>
            </a:r>
            <a:endParaRPr sz="1600">
              <a:solidFill>
                <a:schemeClr val="dk2"/>
              </a:solidFill>
            </a:endParaRPr>
          </a:p>
        </p:txBody>
      </p:sp>
      <p:sp>
        <p:nvSpPr>
          <p:cNvPr id="1792" name="Google Shape;1792;p90"/>
          <p:cNvSpPr/>
          <p:nvPr/>
        </p:nvSpPr>
        <p:spPr>
          <a:xfrm>
            <a:off x="6837100" y="3001896"/>
            <a:ext cx="152700" cy="4140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793" name="Google Shape;1793;p90"/>
          <p:cNvCxnSpPr/>
          <p:nvPr/>
        </p:nvCxnSpPr>
        <p:spPr>
          <a:xfrm>
            <a:off x="5076058" y="3100985"/>
            <a:ext cx="1727100" cy="0"/>
          </a:xfrm>
          <a:prstGeom prst="straightConnector1">
            <a:avLst/>
          </a:prstGeom>
          <a:noFill/>
          <a:ln cap="flat" cmpd="sng" w="9525">
            <a:solidFill>
              <a:schemeClr val="dk2"/>
            </a:solidFill>
            <a:prstDash val="solid"/>
            <a:round/>
            <a:headEnd len="med" w="med" type="none"/>
            <a:tailEnd len="med" w="med" type="triangle"/>
          </a:ln>
        </p:spPr>
      </p:cxnSp>
      <p:sp>
        <p:nvSpPr>
          <p:cNvPr id="1794" name="Google Shape;1794;p90"/>
          <p:cNvSpPr txBox="1"/>
          <p:nvPr/>
        </p:nvSpPr>
        <p:spPr>
          <a:xfrm>
            <a:off x="5103352" y="2747300"/>
            <a:ext cx="1480200" cy="41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rPr>
              <a:t>Yêu cầu()</a:t>
            </a:r>
            <a:endParaRPr sz="1600">
              <a:solidFill>
                <a:schemeClr val="dk2"/>
              </a:solidFill>
            </a:endParaRPr>
          </a:p>
        </p:txBody>
      </p:sp>
      <p:sp>
        <p:nvSpPr>
          <p:cNvPr id="1795" name="Google Shape;1795;p90"/>
          <p:cNvSpPr/>
          <p:nvPr/>
        </p:nvSpPr>
        <p:spPr>
          <a:xfrm>
            <a:off x="2035075" y="1445500"/>
            <a:ext cx="12900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u="sng"/>
              <a:t>:</a:t>
            </a:r>
            <a:r>
              <a:rPr lang="en-GB" sz="1600" u="sng"/>
              <a:t>Khách</a:t>
            </a:r>
            <a:endParaRPr sz="1600" u="sng"/>
          </a:p>
        </p:txBody>
      </p:sp>
      <p:cxnSp>
        <p:nvCxnSpPr>
          <p:cNvPr id="1796" name="Google Shape;1796;p90"/>
          <p:cNvCxnSpPr/>
          <p:nvPr/>
        </p:nvCxnSpPr>
        <p:spPr>
          <a:xfrm>
            <a:off x="2680075" y="1768000"/>
            <a:ext cx="2100" cy="2690700"/>
          </a:xfrm>
          <a:prstGeom prst="straightConnector1">
            <a:avLst/>
          </a:prstGeom>
          <a:noFill/>
          <a:ln cap="flat" cmpd="sng" w="9525">
            <a:solidFill>
              <a:schemeClr val="dk2"/>
            </a:solidFill>
            <a:prstDash val="dash"/>
            <a:round/>
            <a:headEnd len="med" w="med" type="none"/>
            <a:tailEnd len="med" w="med" type="none"/>
          </a:ln>
        </p:spPr>
      </p:cxnSp>
      <p:sp>
        <p:nvSpPr>
          <p:cNvPr id="1787" name="Google Shape;1787;p90"/>
          <p:cNvSpPr/>
          <p:nvPr/>
        </p:nvSpPr>
        <p:spPr>
          <a:xfrm>
            <a:off x="2237033" y="2108388"/>
            <a:ext cx="119700" cy="1197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0" name="Shape 1800"/>
        <p:cNvGrpSpPr/>
        <p:nvPr/>
      </p:nvGrpSpPr>
      <p:grpSpPr>
        <a:xfrm>
          <a:off x="0" y="0"/>
          <a:ext cx="0" cy="0"/>
          <a:chOff x="0" y="0"/>
          <a:chExt cx="0" cy="0"/>
        </a:xfrm>
      </p:grpSpPr>
      <p:sp>
        <p:nvSpPr>
          <p:cNvPr id="1801" name="Google Shape;1801;p91"/>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Đại diện: Các hệ quả</a:t>
            </a:r>
            <a:endParaRPr/>
          </a:p>
        </p:txBody>
      </p:sp>
      <p:sp>
        <p:nvSpPr>
          <p:cNvPr id="1802" name="Google Shape;1802;p9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803" name="Google Shape;1803;p91"/>
          <p:cNvSpPr txBox="1"/>
          <p:nvPr>
            <p:ph idx="1" type="body"/>
          </p:nvPr>
        </p:nvSpPr>
        <p:spPr>
          <a:xfrm>
            <a:off x="311700" y="950475"/>
            <a:ext cx="8520600" cy="54183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Đối tượng đại diện truy cập từ xa có thể ẩn đi sự thật rằng nó nằm trong 1 không gian tên khác.</a:t>
            </a:r>
            <a:endParaRPr/>
          </a:p>
          <a:p>
            <a:pPr indent="-381000" lvl="0" marL="457200" rtl="0" algn="l">
              <a:spcBef>
                <a:spcPts val="0"/>
              </a:spcBef>
              <a:spcAft>
                <a:spcPts val="0"/>
              </a:spcAft>
              <a:buSzPts val="2400"/>
              <a:buChar char="●"/>
            </a:pPr>
            <a:r>
              <a:rPr lang="en-GB"/>
              <a:t>Đối tượng đại diện ảo có thể thực hiện tối ưu hóa như tạo đối tượng khi cần.</a:t>
            </a:r>
            <a:endParaRPr/>
          </a:p>
          <a:p>
            <a:pPr indent="-381000" lvl="0" marL="457200" rtl="0" algn="l">
              <a:spcBef>
                <a:spcPts val="0"/>
              </a:spcBef>
              <a:spcAft>
                <a:spcPts val="0"/>
              </a:spcAft>
              <a:buSzPts val="2400"/>
              <a:buChar char="●"/>
            </a:pPr>
            <a:r>
              <a:rPr lang="en-GB"/>
              <a:t>Các đối tượng đại diện cho phép thực hiện các công việc bổ </a:t>
            </a:r>
            <a:r>
              <a:rPr lang="en-GB"/>
              <a:t>trợ</a:t>
            </a:r>
            <a:r>
              <a:rPr lang="en-GB"/>
              <a:t> khi truy cập đối tượng được đại diện.</a:t>
            </a:r>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7" name="Shape 1807"/>
        <p:cNvGrpSpPr/>
        <p:nvPr/>
      </p:nvGrpSpPr>
      <p:grpSpPr>
        <a:xfrm>
          <a:off x="0" y="0"/>
          <a:ext cx="0" cy="0"/>
          <a:chOff x="0" y="0"/>
          <a:chExt cx="0" cy="0"/>
        </a:xfrm>
      </p:grpSpPr>
      <p:sp>
        <p:nvSpPr>
          <p:cNvPr id="1808" name="Google Shape;1808;p92"/>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15. Trình </a:t>
            </a:r>
            <a:r>
              <a:rPr lang="en-GB"/>
              <a:t>soạn thảo tài liệu</a:t>
            </a:r>
            <a:endParaRPr/>
          </a:p>
        </p:txBody>
      </p:sp>
      <p:sp>
        <p:nvSpPr>
          <p:cNvPr id="1809" name="Google Shape;1809;p9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810" name="Google Shape;1810;p92"/>
          <p:cNvSpPr/>
          <p:nvPr/>
        </p:nvSpPr>
        <p:spPr>
          <a:xfrm>
            <a:off x="2772034" y="1181725"/>
            <a:ext cx="13257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i="1" lang="en-GB" sz="1600"/>
              <a:t>Graphic</a:t>
            </a:r>
            <a:endParaRPr i="1" sz="1600"/>
          </a:p>
        </p:txBody>
      </p:sp>
      <p:sp>
        <p:nvSpPr>
          <p:cNvPr id="1811" name="Google Shape;1811;p92"/>
          <p:cNvSpPr/>
          <p:nvPr/>
        </p:nvSpPr>
        <p:spPr>
          <a:xfrm>
            <a:off x="2772025" y="1503950"/>
            <a:ext cx="1325700" cy="10818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i="1" lang="en-GB" sz="1600"/>
              <a:t>Draw</a:t>
            </a:r>
            <a:r>
              <a:rPr i="1" lang="en-GB" sz="1600"/>
              <a:t>()</a:t>
            </a:r>
            <a:endParaRPr i="1" sz="1600"/>
          </a:p>
          <a:p>
            <a:pPr indent="0" lvl="0" marL="0" rtl="0" algn="l">
              <a:spcBef>
                <a:spcPts val="0"/>
              </a:spcBef>
              <a:spcAft>
                <a:spcPts val="0"/>
              </a:spcAft>
              <a:buNone/>
            </a:pPr>
            <a:r>
              <a:rPr i="1" lang="en-GB" sz="1600"/>
              <a:t>GetExtent()</a:t>
            </a:r>
            <a:endParaRPr i="1" sz="1600"/>
          </a:p>
          <a:p>
            <a:pPr indent="0" lvl="0" marL="0" rtl="0" algn="l">
              <a:spcBef>
                <a:spcPts val="0"/>
              </a:spcBef>
              <a:spcAft>
                <a:spcPts val="0"/>
              </a:spcAft>
              <a:buNone/>
            </a:pPr>
            <a:r>
              <a:rPr i="1" lang="en-GB" sz="1600"/>
              <a:t>Store()</a:t>
            </a:r>
            <a:endParaRPr i="1" sz="1600"/>
          </a:p>
          <a:p>
            <a:pPr indent="0" lvl="0" marL="0" rtl="0" algn="l">
              <a:spcBef>
                <a:spcPts val="0"/>
              </a:spcBef>
              <a:spcAft>
                <a:spcPts val="0"/>
              </a:spcAft>
              <a:buNone/>
            </a:pPr>
            <a:r>
              <a:rPr i="1" lang="en-GB" sz="1600"/>
              <a:t>Load()</a:t>
            </a:r>
            <a:endParaRPr i="1" sz="1600"/>
          </a:p>
        </p:txBody>
      </p:sp>
      <p:sp>
        <p:nvSpPr>
          <p:cNvPr id="1812" name="Google Shape;1812;p92"/>
          <p:cNvSpPr/>
          <p:nvPr/>
        </p:nvSpPr>
        <p:spPr>
          <a:xfrm>
            <a:off x="659775" y="1129750"/>
            <a:ext cx="1621200" cy="4380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DocumentEditor</a:t>
            </a:r>
            <a:endParaRPr sz="1600"/>
          </a:p>
        </p:txBody>
      </p:sp>
      <p:cxnSp>
        <p:nvCxnSpPr>
          <p:cNvPr id="1813" name="Google Shape;1813;p92"/>
          <p:cNvCxnSpPr>
            <a:stCxn id="1812" idx="3"/>
            <a:endCxn id="1810" idx="1"/>
          </p:cNvCxnSpPr>
          <p:nvPr/>
        </p:nvCxnSpPr>
        <p:spPr>
          <a:xfrm flipH="1" rot="10800000">
            <a:off x="2280975" y="1343050"/>
            <a:ext cx="491100" cy="5700"/>
          </a:xfrm>
          <a:prstGeom prst="straightConnector1">
            <a:avLst/>
          </a:prstGeom>
          <a:noFill/>
          <a:ln cap="flat" cmpd="sng" w="9525">
            <a:solidFill>
              <a:schemeClr val="dk2"/>
            </a:solidFill>
            <a:prstDash val="solid"/>
            <a:round/>
            <a:headEnd len="med" w="med" type="none"/>
            <a:tailEnd len="med" w="med" type="triangle"/>
          </a:ln>
        </p:spPr>
      </p:cxnSp>
      <p:sp>
        <p:nvSpPr>
          <p:cNvPr id="1814" name="Google Shape;1814;p92"/>
          <p:cNvSpPr/>
          <p:nvPr/>
        </p:nvSpPr>
        <p:spPr>
          <a:xfrm>
            <a:off x="4010294" y="3495635"/>
            <a:ext cx="191700" cy="117050"/>
          </a:xfrm>
          <a:prstGeom prst="flowChartDecision">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5" name="Google Shape;1815;p92"/>
          <p:cNvSpPr/>
          <p:nvPr/>
        </p:nvSpPr>
        <p:spPr>
          <a:xfrm>
            <a:off x="3087414" y="2585656"/>
            <a:ext cx="191700" cy="1047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6" name="Google Shape;1816;p92"/>
          <p:cNvSpPr/>
          <p:nvPr/>
        </p:nvSpPr>
        <p:spPr>
          <a:xfrm>
            <a:off x="3468414" y="2585656"/>
            <a:ext cx="191700" cy="1047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817" name="Google Shape;1817;p92"/>
          <p:cNvCxnSpPr>
            <a:stCxn id="1818" idx="0"/>
            <a:endCxn id="1815" idx="3"/>
          </p:cNvCxnSpPr>
          <p:nvPr/>
        </p:nvCxnSpPr>
        <p:spPr>
          <a:xfrm rot="-5400000">
            <a:off x="2131383" y="2339575"/>
            <a:ext cx="701100" cy="1402800"/>
          </a:xfrm>
          <a:prstGeom prst="bentConnector3">
            <a:avLst>
              <a:gd fmla="val 50005" name="adj1"/>
            </a:avLst>
          </a:prstGeom>
          <a:noFill/>
          <a:ln cap="flat" cmpd="sng" w="9525">
            <a:solidFill>
              <a:schemeClr val="dk2"/>
            </a:solidFill>
            <a:prstDash val="solid"/>
            <a:round/>
            <a:headEnd len="med" w="med" type="none"/>
            <a:tailEnd len="med" w="med" type="none"/>
          </a:ln>
        </p:spPr>
      </p:cxnSp>
      <p:cxnSp>
        <p:nvCxnSpPr>
          <p:cNvPr id="1819" name="Google Shape;1819;p92"/>
          <p:cNvCxnSpPr>
            <a:stCxn id="1820" idx="0"/>
            <a:endCxn id="1816" idx="3"/>
          </p:cNvCxnSpPr>
          <p:nvPr/>
        </p:nvCxnSpPr>
        <p:spPr>
          <a:xfrm flipH="1" rot="5400000">
            <a:off x="3845883" y="2408875"/>
            <a:ext cx="701100" cy="1264200"/>
          </a:xfrm>
          <a:prstGeom prst="bentConnector3">
            <a:avLst>
              <a:gd fmla="val 50005" name="adj1"/>
            </a:avLst>
          </a:prstGeom>
          <a:noFill/>
          <a:ln cap="flat" cmpd="sng" w="9525">
            <a:solidFill>
              <a:schemeClr val="dk2"/>
            </a:solidFill>
            <a:prstDash val="solid"/>
            <a:round/>
            <a:headEnd len="med" w="med" type="none"/>
            <a:tailEnd len="med" w="med" type="none"/>
          </a:ln>
        </p:spPr>
      </p:cxnSp>
      <p:cxnSp>
        <p:nvCxnSpPr>
          <p:cNvPr id="1821" name="Google Shape;1821;p92"/>
          <p:cNvCxnSpPr>
            <a:stCxn id="1818" idx="3"/>
            <a:endCxn id="1814" idx="1"/>
          </p:cNvCxnSpPr>
          <p:nvPr/>
        </p:nvCxnSpPr>
        <p:spPr>
          <a:xfrm>
            <a:off x="2389233" y="3552775"/>
            <a:ext cx="1621200" cy="1500"/>
          </a:xfrm>
          <a:prstGeom prst="straightConnector1">
            <a:avLst/>
          </a:prstGeom>
          <a:noFill/>
          <a:ln cap="flat" cmpd="sng" w="9525">
            <a:solidFill>
              <a:schemeClr val="dk2"/>
            </a:solidFill>
            <a:prstDash val="solid"/>
            <a:round/>
            <a:headEnd len="med" w="med" type="none"/>
            <a:tailEnd len="med" w="med" type="none"/>
          </a:ln>
        </p:spPr>
      </p:cxnSp>
      <p:sp>
        <p:nvSpPr>
          <p:cNvPr id="1822" name="Google Shape;1822;p92"/>
          <p:cNvSpPr txBox="1"/>
          <p:nvPr/>
        </p:nvSpPr>
        <p:spPr>
          <a:xfrm>
            <a:off x="2334663" y="3262375"/>
            <a:ext cx="772500" cy="35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image</a:t>
            </a:r>
            <a:endParaRPr/>
          </a:p>
        </p:txBody>
      </p:sp>
      <p:sp>
        <p:nvSpPr>
          <p:cNvPr id="1823" name="Google Shape;1823;p92"/>
          <p:cNvSpPr/>
          <p:nvPr/>
        </p:nvSpPr>
        <p:spPr>
          <a:xfrm>
            <a:off x="5950525" y="3716300"/>
            <a:ext cx="2795100" cy="984300"/>
          </a:xfrm>
          <a:prstGeom prst="foldedCorner">
            <a:avLst>
              <a:gd fmla="val 16667" name="adj"/>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t>if (image == 0) {</a:t>
            </a:r>
            <a:endParaRPr/>
          </a:p>
          <a:p>
            <a:pPr indent="0" lvl="0" marL="0" rtl="0" algn="l">
              <a:spcBef>
                <a:spcPts val="0"/>
              </a:spcBef>
              <a:spcAft>
                <a:spcPts val="0"/>
              </a:spcAft>
              <a:buNone/>
            </a:pPr>
            <a:r>
              <a:rPr lang="en-GB"/>
              <a:t>  image = LoadImage(filename);</a:t>
            </a:r>
            <a:endParaRPr/>
          </a:p>
          <a:p>
            <a:pPr indent="0" lvl="0" marL="0" rtl="0" algn="l">
              <a:spcBef>
                <a:spcPts val="0"/>
              </a:spcBef>
              <a:spcAft>
                <a:spcPts val="0"/>
              </a:spcAft>
              <a:buNone/>
            </a:pPr>
            <a:r>
              <a:rPr lang="en-GB"/>
              <a:t>}</a:t>
            </a:r>
            <a:endParaRPr/>
          </a:p>
          <a:p>
            <a:pPr indent="0" lvl="0" marL="0" rtl="0" algn="l">
              <a:spcBef>
                <a:spcPts val="0"/>
              </a:spcBef>
              <a:spcAft>
                <a:spcPts val="0"/>
              </a:spcAft>
              <a:buNone/>
            </a:pPr>
            <a:r>
              <a:rPr lang="en-GB"/>
              <a:t>image-&gt;Draw()</a:t>
            </a:r>
            <a:endParaRPr/>
          </a:p>
        </p:txBody>
      </p:sp>
      <p:sp>
        <p:nvSpPr>
          <p:cNvPr id="1818" name="Google Shape;1818;p92"/>
          <p:cNvSpPr/>
          <p:nvPr/>
        </p:nvSpPr>
        <p:spPr>
          <a:xfrm>
            <a:off x="1171833" y="3391525"/>
            <a:ext cx="12174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Image</a:t>
            </a:r>
            <a:endParaRPr sz="1600"/>
          </a:p>
        </p:txBody>
      </p:sp>
      <p:sp>
        <p:nvSpPr>
          <p:cNvPr id="1824" name="Google Shape;1824;p92"/>
          <p:cNvSpPr/>
          <p:nvPr/>
        </p:nvSpPr>
        <p:spPr>
          <a:xfrm>
            <a:off x="1171825" y="4267127"/>
            <a:ext cx="1217400" cy="11166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lang="en-GB" sz="1600"/>
              <a:t>Draw()</a:t>
            </a:r>
            <a:endParaRPr sz="1600"/>
          </a:p>
          <a:p>
            <a:pPr indent="0" lvl="0" marL="0" rtl="0" algn="l">
              <a:spcBef>
                <a:spcPts val="0"/>
              </a:spcBef>
              <a:spcAft>
                <a:spcPts val="0"/>
              </a:spcAft>
              <a:buNone/>
            </a:pPr>
            <a:r>
              <a:rPr lang="en-GB" sz="1600"/>
              <a:t>GetExtent()</a:t>
            </a:r>
            <a:endParaRPr sz="1600"/>
          </a:p>
          <a:p>
            <a:pPr indent="0" lvl="0" marL="0" rtl="0" algn="l">
              <a:spcBef>
                <a:spcPts val="0"/>
              </a:spcBef>
              <a:spcAft>
                <a:spcPts val="0"/>
              </a:spcAft>
              <a:buNone/>
            </a:pPr>
            <a:r>
              <a:rPr lang="en-GB" sz="1600"/>
              <a:t>Store()</a:t>
            </a:r>
            <a:endParaRPr sz="1600"/>
          </a:p>
          <a:p>
            <a:pPr indent="0" lvl="0" marL="0" rtl="0" algn="l">
              <a:spcBef>
                <a:spcPts val="0"/>
              </a:spcBef>
              <a:spcAft>
                <a:spcPts val="0"/>
              </a:spcAft>
              <a:buNone/>
            </a:pPr>
            <a:r>
              <a:rPr lang="en-GB" sz="1600"/>
              <a:t>Load()</a:t>
            </a:r>
            <a:endParaRPr sz="1600"/>
          </a:p>
        </p:txBody>
      </p:sp>
      <p:sp>
        <p:nvSpPr>
          <p:cNvPr id="1825" name="Google Shape;1825;p92"/>
          <p:cNvSpPr/>
          <p:nvPr/>
        </p:nvSpPr>
        <p:spPr>
          <a:xfrm>
            <a:off x="1171825" y="3716307"/>
            <a:ext cx="1217400" cy="5487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lang="en-GB" sz="1600"/>
              <a:t>imageImpl</a:t>
            </a:r>
            <a:endParaRPr sz="1600"/>
          </a:p>
          <a:p>
            <a:pPr indent="0" lvl="0" marL="0" rtl="0" algn="l">
              <a:spcBef>
                <a:spcPts val="0"/>
              </a:spcBef>
              <a:spcAft>
                <a:spcPts val="0"/>
              </a:spcAft>
              <a:buNone/>
            </a:pPr>
            <a:r>
              <a:rPr lang="en-GB" sz="1600"/>
              <a:t>extent</a:t>
            </a:r>
            <a:endParaRPr sz="1600"/>
          </a:p>
        </p:txBody>
      </p:sp>
      <p:sp>
        <p:nvSpPr>
          <p:cNvPr id="1820" name="Google Shape;1820;p92"/>
          <p:cNvSpPr/>
          <p:nvPr/>
        </p:nvSpPr>
        <p:spPr>
          <a:xfrm>
            <a:off x="4219833" y="3391525"/>
            <a:ext cx="12174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Image</a:t>
            </a:r>
            <a:r>
              <a:rPr lang="en-GB" sz="1600"/>
              <a:t>Proxy</a:t>
            </a:r>
            <a:endParaRPr sz="1600"/>
          </a:p>
        </p:txBody>
      </p:sp>
      <p:sp>
        <p:nvSpPr>
          <p:cNvPr id="1826" name="Google Shape;1826;p92"/>
          <p:cNvSpPr/>
          <p:nvPr/>
        </p:nvSpPr>
        <p:spPr>
          <a:xfrm>
            <a:off x="4219825" y="4267127"/>
            <a:ext cx="1217400" cy="11166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lang="en-GB" sz="1600"/>
              <a:t>Draw()</a:t>
            </a:r>
            <a:endParaRPr sz="1600"/>
          </a:p>
          <a:p>
            <a:pPr indent="0" lvl="0" marL="0" rtl="0" algn="l">
              <a:spcBef>
                <a:spcPts val="0"/>
              </a:spcBef>
              <a:spcAft>
                <a:spcPts val="0"/>
              </a:spcAft>
              <a:buNone/>
            </a:pPr>
            <a:r>
              <a:rPr lang="en-GB" sz="1600"/>
              <a:t>GetExtent()</a:t>
            </a:r>
            <a:endParaRPr sz="1600"/>
          </a:p>
          <a:p>
            <a:pPr indent="0" lvl="0" marL="0" rtl="0" algn="l">
              <a:spcBef>
                <a:spcPts val="0"/>
              </a:spcBef>
              <a:spcAft>
                <a:spcPts val="0"/>
              </a:spcAft>
              <a:buNone/>
            </a:pPr>
            <a:r>
              <a:rPr lang="en-GB" sz="1600"/>
              <a:t>Store()</a:t>
            </a:r>
            <a:endParaRPr sz="1600"/>
          </a:p>
          <a:p>
            <a:pPr indent="0" lvl="0" marL="0" rtl="0" algn="l">
              <a:spcBef>
                <a:spcPts val="0"/>
              </a:spcBef>
              <a:spcAft>
                <a:spcPts val="0"/>
              </a:spcAft>
              <a:buNone/>
            </a:pPr>
            <a:r>
              <a:rPr lang="en-GB" sz="1600"/>
              <a:t>Load()</a:t>
            </a:r>
            <a:endParaRPr sz="1600"/>
          </a:p>
        </p:txBody>
      </p:sp>
      <p:sp>
        <p:nvSpPr>
          <p:cNvPr id="1827" name="Google Shape;1827;p92"/>
          <p:cNvSpPr/>
          <p:nvPr/>
        </p:nvSpPr>
        <p:spPr>
          <a:xfrm>
            <a:off x="4219825" y="3716307"/>
            <a:ext cx="1217400" cy="5487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lang="en-GB" sz="1600"/>
              <a:t>filename</a:t>
            </a:r>
            <a:endParaRPr sz="1600"/>
          </a:p>
          <a:p>
            <a:pPr indent="0" lvl="0" marL="0" rtl="0" algn="l">
              <a:spcBef>
                <a:spcPts val="0"/>
              </a:spcBef>
              <a:spcAft>
                <a:spcPts val="0"/>
              </a:spcAft>
              <a:buNone/>
            </a:pPr>
            <a:r>
              <a:rPr lang="en-GB" sz="1600"/>
              <a:t>extent</a:t>
            </a:r>
            <a:endParaRPr sz="1600"/>
          </a:p>
        </p:txBody>
      </p:sp>
      <p:sp>
        <p:nvSpPr>
          <p:cNvPr id="1828" name="Google Shape;1828;p92"/>
          <p:cNvSpPr/>
          <p:nvPr/>
        </p:nvSpPr>
        <p:spPr>
          <a:xfrm>
            <a:off x="5900625" y="4793675"/>
            <a:ext cx="2845200" cy="1205100"/>
          </a:xfrm>
          <a:prstGeom prst="foldedCorner">
            <a:avLst>
              <a:gd fmla="val 16667" name="adj"/>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t>if (image == 0) {</a:t>
            </a:r>
            <a:endParaRPr/>
          </a:p>
          <a:p>
            <a:pPr indent="0" lvl="0" marL="0" rtl="0" algn="l">
              <a:spcBef>
                <a:spcPts val="0"/>
              </a:spcBef>
              <a:spcAft>
                <a:spcPts val="0"/>
              </a:spcAft>
              <a:buNone/>
            </a:pPr>
            <a:r>
              <a:rPr lang="en-GB"/>
              <a:t>  </a:t>
            </a:r>
            <a:r>
              <a:rPr lang="en-GB"/>
              <a:t>return extent;</a:t>
            </a:r>
            <a:endParaRPr/>
          </a:p>
          <a:p>
            <a:pPr indent="0" lvl="0" marL="0" rtl="0" algn="l">
              <a:spcBef>
                <a:spcPts val="0"/>
              </a:spcBef>
              <a:spcAft>
                <a:spcPts val="0"/>
              </a:spcAft>
              <a:buNone/>
            </a:pPr>
            <a:r>
              <a:rPr lang="en-GB"/>
              <a:t>} </a:t>
            </a:r>
            <a:r>
              <a:rPr lang="en-GB"/>
              <a:t>else {</a:t>
            </a:r>
            <a:endParaRPr/>
          </a:p>
          <a:p>
            <a:pPr indent="0" lvl="0" marL="0" rtl="0" algn="l">
              <a:spcBef>
                <a:spcPts val="0"/>
              </a:spcBef>
              <a:spcAft>
                <a:spcPts val="0"/>
              </a:spcAft>
              <a:buNone/>
            </a:pPr>
            <a:r>
              <a:rPr lang="en-GB"/>
              <a:t>  return image-&gt;GetExtent();</a:t>
            </a:r>
            <a:endParaRPr/>
          </a:p>
          <a:p>
            <a:pPr indent="0" lvl="0" marL="0" rtl="0" algn="l">
              <a:spcBef>
                <a:spcPts val="0"/>
              </a:spcBef>
              <a:spcAft>
                <a:spcPts val="0"/>
              </a:spcAft>
              <a:buNone/>
            </a:pPr>
            <a:r>
              <a:rPr lang="en-GB"/>
              <a:t>}</a:t>
            </a:r>
            <a:endParaRPr/>
          </a:p>
        </p:txBody>
      </p:sp>
      <p:cxnSp>
        <p:nvCxnSpPr>
          <p:cNvPr id="1829" name="Google Shape;1829;p92"/>
          <p:cNvCxnSpPr/>
          <p:nvPr/>
        </p:nvCxnSpPr>
        <p:spPr>
          <a:xfrm flipH="1" rot="10800000">
            <a:off x="5082050" y="3990625"/>
            <a:ext cx="998400" cy="373800"/>
          </a:xfrm>
          <a:prstGeom prst="straightConnector1">
            <a:avLst/>
          </a:prstGeom>
          <a:noFill/>
          <a:ln cap="flat" cmpd="sng" w="9525">
            <a:solidFill>
              <a:schemeClr val="dk2"/>
            </a:solidFill>
            <a:prstDash val="dash"/>
            <a:round/>
            <a:headEnd len="med" w="med" type="oval"/>
            <a:tailEnd len="med" w="med" type="none"/>
          </a:ln>
        </p:spPr>
      </p:cxnSp>
      <p:cxnSp>
        <p:nvCxnSpPr>
          <p:cNvPr id="1830" name="Google Shape;1830;p92"/>
          <p:cNvCxnSpPr/>
          <p:nvPr/>
        </p:nvCxnSpPr>
        <p:spPr>
          <a:xfrm>
            <a:off x="5211825" y="4643950"/>
            <a:ext cx="858600" cy="459300"/>
          </a:xfrm>
          <a:prstGeom prst="straightConnector1">
            <a:avLst/>
          </a:prstGeom>
          <a:noFill/>
          <a:ln cap="flat" cmpd="sng" w="9525">
            <a:solidFill>
              <a:schemeClr val="dk2"/>
            </a:solidFill>
            <a:prstDash val="dash"/>
            <a:round/>
            <a:headEnd len="med" w="med" type="oval"/>
            <a:tailEnd len="med" w="med" type="none"/>
          </a:ln>
        </p:spPr>
      </p:cxn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4" name="Shape 1834"/>
        <p:cNvGrpSpPr/>
        <p:nvPr/>
      </p:nvGrpSpPr>
      <p:grpSpPr>
        <a:xfrm>
          <a:off x="0" y="0"/>
          <a:ext cx="0" cy="0"/>
          <a:chOff x="0" y="0"/>
          <a:chExt cx="0" cy="0"/>
        </a:xfrm>
      </p:grpSpPr>
      <p:sp>
        <p:nvSpPr>
          <p:cNvPr id="1835" name="Google Shape;1835;p93"/>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Tổng kết về các mẫu kết cấu</a:t>
            </a:r>
            <a:endParaRPr/>
          </a:p>
        </p:txBody>
      </p:sp>
      <p:sp>
        <p:nvSpPr>
          <p:cNvPr id="1836" name="Google Shape;1836;p93"/>
          <p:cNvSpPr txBox="1"/>
          <p:nvPr>
            <p:ph idx="1" type="body"/>
          </p:nvPr>
        </p:nvSpPr>
        <p:spPr>
          <a:xfrm>
            <a:off x="311700" y="950475"/>
            <a:ext cx="8520600" cy="5418300"/>
          </a:xfrm>
          <a:prstGeom prst="rect">
            <a:avLst/>
          </a:prstGeom>
        </p:spPr>
        <p:txBody>
          <a:bodyPr anchorCtr="0" anchor="t" bIns="91425" lIns="91425" spcFirstLastPara="1" rIns="91425" wrap="square" tIns="91425">
            <a:noAutofit/>
          </a:bodyPr>
          <a:lstStyle/>
          <a:p>
            <a:pPr indent="-381000" lvl="0" marL="457200" rtl="0" algn="just">
              <a:spcBef>
                <a:spcPts val="0"/>
              </a:spcBef>
              <a:spcAft>
                <a:spcPts val="0"/>
              </a:spcAft>
              <a:buSzPts val="2400"/>
              <a:buChar char="●"/>
            </a:pPr>
            <a:r>
              <a:rPr lang="en-GB"/>
              <a:t>Các mẫu cấu trúc chia sẻ nhiều thành phần dựa trên kế thừa và kết hợp tuy nhiên mục đích sử dụng cho các trường hợp khác nhau.</a:t>
            </a:r>
            <a:endParaRPr/>
          </a:p>
          <a:p>
            <a:pPr indent="-381000" lvl="0" marL="457200" rtl="0" algn="just">
              <a:spcBef>
                <a:spcPts val="0"/>
              </a:spcBef>
              <a:spcAft>
                <a:spcPts val="0"/>
              </a:spcAft>
              <a:buSzPts val="2400"/>
              <a:buChar char="●"/>
            </a:pPr>
            <a:r>
              <a:rPr lang="en-GB"/>
              <a:t>Tuy có cách kết hợp giống nhau nhưng Lớp chuyển hướng tới giải quyết vấn đề tương thích giao diện còn Bắc cầu hỗ trợ phân tách khái niệm và triển khai.</a:t>
            </a:r>
            <a:endParaRPr/>
          </a:p>
          <a:p>
            <a:pPr indent="-381000" lvl="0" marL="457200" rtl="0" algn="just">
              <a:spcBef>
                <a:spcPts val="0"/>
              </a:spcBef>
              <a:spcAft>
                <a:spcPts val="0"/>
              </a:spcAft>
              <a:buSzPts val="2400"/>
              <a:buChar char="●"/>
            </a:pPr>
            <a:r>
              <a:rPr lang="en-GB"/>
              <a:t>Mặt tiền có vẻ giống lớp chuyển cho một tập đối tượng, tuy nhiên mặt tiền định nghĩa giao diện mới còn lớp chuyển sử dụng giao diện đang có.</a:t>
            </a:r>
            <a:endParaRPr/>
          </a:p>
        </p:txBody>
      </p:sp>
      <p:sp>
        <p:nvSpPr>
          <p:cNvPr id="1837" name="Google Shape;1837;p9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1" name="Shape 1841"/>
        <p:cNvGrpSpPr/>
        <p:nvPr/>
      </p:nvGrpSpPr>
      <p:grpSpPr>
        <a:xfrm>
          <a:off x="0" y="0"/>
          <a:ext cx="0" cy="0"/>
          <a:chOff x="0" y="0"/>
          <a:chExt cx="0" cy="0"/>
        </a:xfrm>
      </p:grpSpPr>
      <p:sp>
        <p:nvSpPr>
          <p:cNvPr id="1842" name="Google Shape;1842;p94"/>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Nội dung</a:t>
            </a:r>
            <a:endParaRPr/>
          </a:p>
        </p:txBody>
      </p:sp>
      <p:sp>
        <p:nvSpPr>
          <p:cNvPr id="1843" name="Google Shape;1843;p9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844" name="Google Shape;1844;p94"/>
          <p:cNvSpPr txBox="1"/>
          <p:nvPr>
            <p:ph idx="1" type="body"/>
          </p:nvPr>
        </p:nvSpPr>
        <p:spPr>
          <a:xfrm>
            <a:off x="311700" y="950475"/>
            <a:ext cx="8520600" cy="54183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Mẫu tạo</a:t>
            </a:r>
            <a:endParaRPr/>
          </a:p>
          <a:p>
            <a:pPr indent="-381000" lvl="0" marL="457200" rtl="0" algn="l">
              <a:spcBef>
                <a:spcPts val="0"/>
              </a:spcBef>
              <a:spcAft>
                <a:spcPts val="0"/>
              </a:spcAft>
              <a:buSzPts val="2400"/>
              <a:buChar char="●"/>
            </a:pPr>
            <a:r>
              <a:rPr lang="en-GB"/>
              <a:t>Mẫu kết cấu</a:t>
            </a:r>
            <a:endParaRPr/>
          </a:p>
          <a:p>
            <a:pPr indent="-381000" lvl="0" marL="457200" rtl="0" algn="l">
              <a:spcBef>
                <a:spcPts val="0"/>
              </a:spcBef>
              <a:spcAft>
                <a:spcPts val="0"/>
              </a:spcAft>
              <a:buSzPts val="2400"/>
              <a:buChar char="●"/>
            </a:pPr>
            <a:r>
              <a:rPr lang="en-GB"/>
              <a:t>Mẫu hành vi</a:t>
            </a:r>
            <a:endParaRPr/>
          </a:p>
        </p:txBody>
      </p:sp>
      <p:sp>
        <p:nvSpPr>
          <p:cNvPr id="1845" name="Google Shape;1845;p94"/>
          <p:cNvSpPr/>
          <p:nvPr/>
        </p:nvSpPr>
        <p:spPr>
          <a:xfrm>
            <a:off x="357900" y="1590128"/>
            <a:ext cx="6629700" cy="831900"/>
          </a:xfrm>
          <a:prstGeom prst="rightArrow">
            <a:avLst>
              <a:gd fmla="val 50000" name="adj1"/>
              <a:gd fmla="val 50000" name="adj2"/>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9" name="Shape 1849"/>
        <p:cNvGrpSpPr/>
        <p:nvPr/>
      </p:nvGrpSpPr>
      <p:grpSpPr>
        <a:xfrm>
          <a:off x="0" y="0"/>
          <a:ext cx="0" cy="0"/>
          <a:chOff x="0" y="0"/>
          <a:chExt cx="0" cy="0"/>
        </a:xfrm>
      </p:grpSpPr>
      <p:sp>
        <p:nvSpPr>
          <p:cNvPr id="1850" name="Google Shape;1850;p95"/>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Chu</a:t>
            </a:r>
            <a:r>
              <a:rPr lang="en-GB"/>
              <a:t>ỗi trách nhiệm</a:t>
            </a:r>
            <a:endParaRPr/>
          </a:p>
        </p:txBody>
      </p:sp>
      <p:sp>
        <p:nvSpPr>
          <p:cNvPr id="1851" name="Google Shape;1851;p95"/>
          <p:cNvSpPr txBox="1"/>
          <p:nvPr>
            <p:ph idx="1" type="body"/>
          </p:nvPr>
        </p:nvSpPr>
        <p:spPr>
          <a:xfrm>
            <a:off x="311700" y="950475"/>
            <a:ext cx="8520600" cy="54183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i="1" lang="en-GB"/>
              <a:t>Chain of Responsibility</a:t>
            </a:r>
            <a:endParaRPr i="1"/>
          </a:p>
          <a:p>
            <a:pPr indent="0" lvl="0" marL="0" rtl="0" algn="just">
              <a:spcBef>
                <a:spcPts val="0"/>
              </a:spcBef>
              <a:spcAft>
                <a:spcPts val="0"/>
              </a:spcAft>
              <a:buNone/>
            </a:pPr>
            <a:r>
              <a:rPr lang="en-GB"/>
              <a:t>Tr</a:t>
            </a:r>
            <a:r>
              <a:rPr lang="en-GB"/>
              <a:t>ánh kết dính đối tượng gửi yêu cầu và đối tượng tiếp nhận nó bằng cách cho nhiều đối tượng có cơ hội xử lý yêu cầu. Xâu chuỗi các đối tượng tiếp nhận và truyền yêu cầu theo chuỗi cho tới khi có đối tượng xử lý nó.</a:t>
            </a:r>
            <a:endParaRPr/>
          </a:p>
        </p:txBody>
      </p:sp>
      <p:sp>
        <p:nvSpPr>
          <p:cNvPr id="1852" name="Google Shape;1852;p9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6" name="Shape 1856"/>
        <p:cNvGrpSpPr/>
        <p:nvPr/>
      </p:nvGrpSpPr>
      <p:grpSpPr>
        <a:xfrm>
          <a:off x="0" y="0"/>
          <a:ext cx="0" cy="0"/>
          <a:chOff x="0" y="0"/>
          <a:chExt cx="0" cy="0"/>
        </a:xfrm>
      </p:grpSpPr>
      <p:sp>
        <p:nvSpPr>
          <p:cNvPr id="1857" name="Google Shape;1857;p96"/>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Chuỗi trách nhiệm: Cấu trúc</a:t>
            </a:r>
            <a:endParaRPr/>
          </a:p>
        </p:txBody>
      </p:sp>
      <p:sp>
        <p:nvSpPr>
          <p:cNvPr id="1858" name="Google Shape;1858;p9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859" name="Google Shape;1859;p96"/>
          <p:cNvSpPr/>
          <p:nvPr/>
        </p:nvSpPr>
        <p:spPr>
          <a:xfrm>
            <a:off x="3762641" y="1486525"/>
            <a:ext cx="17040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Lớp tiếp nhận</a:t>
            </a:r>
            <a:endParaRPr sz="1600"/>
          </a:p>
        </p:txBody>
      </p:sp>
      <p:sp>
        <p:nvSpPr>
          <p:cNvPr id="1860" name="Google Shape;1860;p96"/>
          <p:cNvSpPr/>
          <p:nvPr/>
        </p:nvSpPr>
        <p:spPr>
          <a:xfrm>
            <a:off x="3762626" y="1808750"/>
            <a:ext cx="1704000" cy="3915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lang="en-GB" sz="1600"/>
              <a:t>Xử lý Yêu cầu</a:t>
            </a:r>
            <a:r>
              <a:rPr lang="en-GB" sz="1600"/>
              <a:t>()</a:t>
            </a:r>
            <a:endParaRPr sz="1600"/>
          </a:p>
        </p:txBody>
      </p:sp>
      <p:sp>
        <p:nvSpPr>
          <p:cNvPr id="1861" name="Google Shape;1861;p96"/>
          <p:cNvSpPr/>
          <p:nvPr/>
        </p:nvSpPr>
        <p:spPr>
          <a:xfrm>
            <a:off x="1590325" y="1444516"/>
            <a:ext cx="1008000" cy="4380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Khách</a:t>
            </a:r>
            <a:endParaRPr sz="1600"/>
          </a:p>
        </p:txBody>
      </p:sp>
      <p:cxnSp>
        <p:nvCxnSpPr>
          <p:cNvPr id="1862" name="Google Shape;1862;p96"/>
          <p:cNvCxnSpPr>
            <a:stCxn id="1861" idx="3"/>
          </p:cNvCxnSpPr>
          <p:nvPr/>
        </p:nvCxnSpPr>
        <p:spPr>
          <a:xfrm>
            <a:off x="2598325" y="1663516"/>
            <a:ext cx="1182300" cy="10800"/>
          </a:xfrm>
          <a:prstGeom prst="straightConnector1">
            <a:avLst/>
          </a:prstGeom>
          <a:noFill/>
          <a:ln cap="flat" cmpd="sng" w="9525">
            <a:solidFill>
              <a:schemeClr val="dk2"/>
            </a:solidFill>
            <a:prstDash val="dash"/>
            <a:round/>
            <a:headEnd len="med" w="med" type="none"/>
            <a:tailEnd len="med" w="med" type="triangle"/>
          </a:ln>
        </p:spPr>
      </p:cxnSp>
      <p:sp>
        <p:nvSpPr>
          <p:cNvPr id="1863" name="Google Shape;1863;p96"/>
          <p:cNvSpPr/>
          <p:nvPr/>
        </p:nvSpPr>
        <p:spPr>
          <a:xfrm>
            <a:off x="1917596" y="2858125"/>
            <a:ext cx="2259900" cy="4326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Lớp tiếp nhận Cụ thể 1</a:t>
            </a:r>
            <a:endParaRPr sz="1600"/>
          </a:p>
        </p:txBody>
      </p:sp>
      <p:sp>
        <p:nvSpPr>
          <p:cNvPr id="1864" name="Google Shape;1864;p96"/>
          <p:cNvSpPr/>
          <p:nvPr/>
        </p:nvSpPr>
        <p:spPr>
          <a:xfrm>
            <a:off x="1917576" y="3290301"/>
            <a:ext cx="2259900" cy="5250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lang="en-GB" sz="1600"/>
              <a:t>Xử lý Yêu cầu</a:t>
            </a:r>
            <a:r>
              <a:rPr lang="en-GB" sz="1600"/>
              <a:t>()</a:t>
            </a:r>
            <a:endParaRPr sz="1600"/>
          </a:p>
        </p:txBody>
      </p:sp>
      <p:sp>
        <p:nvSpPr>
          <p:cNvPr id="1865" name="Google Shape;1865;p96"/>
          <p:cNvSpPr/>
          <p:nvPr/>
        </p:nvSpPr>
        <p:spPr>
          <a:xfrm>
            <a:off x="4610796" y="2886125"/>
            <a:ext cx="2418000" cy="4200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Lớp tiếp nhận Cụ thể 2</a:t>
            </a:r>
            <a:endParaRPr sz="1600"/>
          </a:p>
        </p:txBody>
      </p:sp>
      <p:sp>
        <p:nvSpPr>
          <p:cNvPr id="1866" name="Google Shape;1866;p96"/>
          <p:cNvSpPr/>
          <p:nvPr/>
        </p:nvSpPr>
        <p:spPr>
          <a:xfrm>
            <a:off x="4610775" y="3305620"/>
            <a:ext cx="2418000" cy="5097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lang="en-GB" sz="1600"/>
              <a:t>Xử lý Yêu cầu</a:t>
            </a:r>
            <a:r>
              <a:rPr lang="en-GB" sz="1600"/>
              <a:t>()</a:t>
            </a:r>
            <a:endParaRPr sz="1600"/>
          </a:p>
        </p:txBody>
      </p:sp>
      <p:sp>
        <p:nvSpPr>
          <p:cNvPr id="1867" name="Google Shape;1867;p96"/>
          <p:cNvSpPr/>
          <p:nvPr/>
        </p:nvSpPr>
        <p:spPr>
          <a:xfrm>
            <a:off x="4230414" y="2204656"/>
            <a:ext cx="191700" cy="1047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8" name="Google Shape;1868;p96"/>
          <p:cNvSpPr/>
          <p:nvPr/>
        </p:nvSpPr>
        <p:spPr>
          <a:xfrm>
            <a:off x="4611414" y="2204656"/>
            <a:ext cx="191700" cy="1047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869" name="Google Shape;1869;p96"/>
          <p:cNvCxnSpPr>
            <a:stCxn id="1863" idx="0"/>
            <a:endCxn id="1867" idx="3"/>
          </p:cNvCxnSpPr>
          <p:nvPr/>
        </p:nvCxnSpPr>
        <p:spPr>
          <a:xfrm rot="-5400000">
            <a:off x="3412496" y="1944475"/>
            <a:ext cx="548700" cy="1278600"/>
          </a:xfrm>
          <a:prstGeom prst="bentConnector3">
            <a:avLst>
              <a:gd fmla="val 50006" name="adj1"/>
            </a:avLst>
          </a:prstGeom>
          <a:noFill/>
          <a:ln cap="flat" cmpd="sng" w="9525">
            <a:solidFill>
              <a:schemeClr val="dk2"/>
            </a:solidFill>
            <a:prstDash val="solid"/>
            <a:round/>
            <a:headEnd len="med" w="med" type="none"/>
            <a:tailEnd len="med" w="med" type="none"/>
          </a:ln>
        </p:spPr>
      </p:cxnSp>
      <p:cxnSp>
        <p:nvCxnSpPr>
          <p:cNvPr id="1870" name="Google Shape;1870;p96"/>
          <p:cNvCxnSpPr>
            <a:stCxn id="1865" idx="0"/>
            <a:endCxn id="1868" idx="3"/>
          </p:cNvCxnSpPr>
          <p:nvPr/>
        </p:nvCxnSpPr>
        <p:spPr>
          <a:xfrm flipH="1" rot="5400000">
            <a:off x="4975146" y="2041475"/>
            <a:ext cx="576900" cy="1112400"/>
          </a:xfrm>
          <a:prstGeom prst="bentConnector3">
            <a:avLst>
              <a:gd fmla="val 49989" name="adj1"/>
            </a:avLst>
          </a:prstGeom>
          <a:noFill/>
          <a:ln cap="flat" cmpd="sng" w="9525">
            <a:solidFill>
              <a:schemeClr val="dk2"/>
            </a:solidFill>
            <a:prstDash val="solid"/>
            <a:round/>
            <a:headEnd len="med" w="med" type="none"/>
            <a:tailEnd len="med" w="med" type="none"/>
          </a:ln>
        </p:spPr>
      </p:cxnSp>
      <p:sp>
        <p:nvSpPr>
          <p:cNvPr id="1871" name="Google Shape;1871;p96"/>
          <p:cNvSpPr/>
          <p:nvPr/>
        </p:nvSpPr>
        <p:spPr>
          <a:xfrm>
            <a:off x="5458094" y="1590635"/>
            <a:ext cx="191700" cy="117050"/>
          </a:xfrm>
          <a:prstGeom prst="flowChartDecision">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872" name="Google Shape;1872;p96"/>
          <p:cNvCxnSpPr>
            <a:stCxn id="1871" idx="3"/>
            <a:endCxn id="1859" idx="0"/>
          </p:cNvCxnSpPr>
          <p:nvPr/>
        </p:nvCxnSpPr>
        <p:spPr>
          <a:xfrm rot="10800000">
            <a:off x="4614494" y="1486560"/>
            <a:ext cx="1035300" cy="162600"/>
          </a:xfrm>
          <a:prstGeom prst="bentConnector4">
            <a:avLst>
              <a:gd fmla="val -23001" name="adj1"/>
              <a:gd fmla="val 246470" name="adj2"/>
            </a:avLst>
          </a:prstGeom>
          <a:noFill/>
          <a:ln cap="flat" cmpd="sng" w="9525">
            <a:solidFill>
              <a:schemeClr val="dk2"/>
            </a:solidFill>
            <a:prstDash val="solid"/>
            <a:round/>
            <a:headEnd len="med" w="med" type="none"/>
            <a:tailEnd len="med" w="med" type="none"/>
          </a:ln>
        </p:spPr>
      </p:cxnSp>
      <p:sp>
        <p:nvSpPr>
          <p:cNvPr id="1873" name="Google Shape;1873;p96"/>
          <p:cNvSpPr txBox="1"/>
          <p:nvPr/>
        </p:nvSpPr>
        <p:spPr>
          <a:xfrm>
            <a:off x="3691150" y="986675"/>
            <a:ext cx="961500" cy="5769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GB">
                <a:solidFill>
                  <a:schemeClr val="dk2"/>
                </a:solidFill>
              </a:rPr>
              <a:t>Trạm tiếp theo</a:t>
            </a:r>
            <a:endParaRPr>
              <a:solidFill>
                <a:schemeClr val="dk2"/>
              </a:solidFill>
            </a:endParaRPr>
          </a:p>
        </p:txBody>
      </p:sp>
      <p:sp>
        <p:nvSpPr>
          <p:cNvPr id="1874" name="Google Shape;1874;p96"/>
          <p:cNvSpPr txBox="1"/>
          <p:nvPr/>
        </p:nvSpPr>
        <p:spPr>
          <a:xfrm>
            <a:off x="4577971" y="1169310"/>
            <a:ext cx="635400" cy="27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1</a:t>
            </a:r>
            <a:endParaRPr>
              <a:solidFill>
                <a:schemeClr val="dk2"/>
              </a:solidFill>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8" name="Shape 1878"/>
        <p:cNvGrpSpPr/>
        <p:nvPr/>
      </p:nvGrpSpPr>
      <p:grpSpPr>
        <a:xfrm>
          <a:off x="0" y="0"/>
          <a:ext cx="0" cy="0"/>
          <a:chOff x="0" y="0"/>
          <a:chExt cx="0" cy="0"/>
        </a:xfrm>
      </p:grpSpPr>
      <p:sp>
        <p:nvSpPr>
          <p:cNvPr id="1879" name="Google Shape;1879;p97"/>
          <p:cNvSpPr/>
          <p:nvPr/>
        </p:nvSpPr>
        <p:spPr>
          <a:xfrm>
            <a:off x="1837725" y="2696498"/>
            <a:ext cx="5670000" cy="14136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880" name="Google Shape;1880;p97"/>
          <p:cNvCxnSpPr>
            <a:stCxn id="1879" idx="1"/>
            <a:endCxn id="1879" idx="3"/>
          </p:cNvCxnSpPr>
          <p:nvPr/>
        </p:nvCxnSpPr>
        <p:spPr>
          <a:xfrm>
            <a:off x="1837725" y="3403298"/>
            <a:ext cx="5670000" cy="0"/>
          </a:xfrm>
          <a:prstGeom prst="straightConnector1">
            <a:avLst/>
          </a:prstGeom>
          <a:noFill/>
          <a:ln cap="flat" cmpd="sng" w="9525">
            <a:solidFill>
              <a:schemeClr val="dk2"/>
            </a:solidFill>
            <a:prstDash val="dash"/>
            <a:round/>
            <a:headEnd len="med" w="med" type="none"/>
            <a:tailEnd len="med" w="med" type="none"/>
          </a:ln>
        </p:spPr>
      </p:cxnSp>
      <p:sp>
        <p:nvSpPr>
          <p:cNvPr id="1881" name="Google Shape;1881;p97"/>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Chuỗi trách nhiệm: Hành vi</a:t>
            </a:r>
            <a:endParaRPr/>
          </a:p>
        </p:txBody>
      </p:sp>
      <p:sp>
        <p:nvSpPr>
          <p:cNvPr id="1882" name="Google Shape;1882;p9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883" name="Google Shape;1883;p97"/>
          <p:cNvSpPr/>
          <p:nvPr/>
        </p:nvSpPr>
        <p:spPr>
          <a:xfrm>
            <a:off x="1349275" y="1216900"/>
            <a:ext cx="12900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u="sng"/>
              <a:t>kh:Khách</a:t>
            </a:r>
            <a:endParaRPr sz="1600" u="sng"/>
          </a:p>
        </p:txBody>
      </p:sp>
      <p:cxnSp>
        <p:nvCxnSpPr>
          <p:cNvPr id="1884" name="Google Shape;1884;p97"/>
          <p:cNvCxnSpPr/>
          <p:nvPr/>
        </p:nvCxnSpPr>
        <p:spPr>
          <a:xfrm>
            <a:off x="1994275" y="1539400"/>
            <a:ext cx="0" cy="3194400"/>
          </a:xfrm>
          <a:prstGeom prst="straightConnector1">
            <a:avLst/>
          </a:prstGeom>
          <a:noFill/>
          <a:ln cap="flat" cmpd="sng" w="9525">
            <a:solidFill>
              <a:schemeClr val="dk2"/>
            </a:solidFill>
            <a:prstDash val="dash"/>
            <a:round/>
            <a:headEnd len="med" w="med" type="none"/>
            <a:tailEnd len="med" w="med" type="none"/>
          </a:ln>
        </p:spPr>
      </p:cxnSp>
      <p:sp>
        <p:nvSpPr>
          <p:cNvPr id="1885" name="Google Shape;1885;p97"/>
          <p:cNvSpPr/>
          <p:nvPr/>
        </p:nvSpPr>
        <p:spPr>
          <a:xfrm>
            <a:off x="2910175" y="1216900"/>
            <a:ext cx="20817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u="sng"/>
              <a:t>t1</a:t>
            </a:r>
            <a:r>
              <a:rPr lang="en-GB" sz="1600" u="sng"/>
              <a:t>:</a:t>
            </a:r>
            <a:r>
              <a:rPr lang="en-GB" sz="1600" u="sng"/>
              <a:t>Tiếp nhận Cụ thể 1</a:t>
            </a:r>
            <a:endParaRPr sz="1600" u="sng"/>
          </a:p>
        </p:txBody>
      </p:sp>
      <p:cxnSp>
        <p:nvCxnSpPr>
          <p:cNvPr id="1886" name="Google Shape;1886;p97"/>
          <p:cNvCxnSpPr/>
          <p:nvPr/>
        </p:nvCxnSpPr>
        <p:spPr>
          <a:xfrm>
            <a:off x="4051675" y="1539400"/>
            <a:ext cx="0" cy="3194400"/>
          </a:xfrm>
          <a:prstGeom prst="straightConnector1">
            <a:avLst/>
          </a:prstGeom>
          <a:noFill/>
          <a:ln cap="flat" cmpd="sng" w="9525">
            <a:solidFill>
              <a:schemeClr val="dk2"/>
            </a:solidFill>
            <a:prstDash val="dash"/>
            <a:round/>
            <a:headEnd len="med" w="med" type="none"/>
            <a:tailEnd len="med" w="med" type="none"/>
          </a:ln>
        </p:spPr>
      </p:cxnSp>
      <p:sp>
        <p:nvSpPr>
          <p:cNvPr id="1887" name="Google Shape;1887;p97"/>
          <p:cNvSpPr/>
          <p:nvPr/>
        </p:nvSpPr>
        <p:spPr>
          <a:xfrm>
            <a:off x="5235475" y="1216900"/>
            <a:ext cx="21960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u="sng"/>
              <a:t>t2:Tiếp nhận Cụ thể </a:t>
            </a:r>
            <a:r>
              <a:rPr lang="en-GB" sz="1600" u="sng"/>
              <a:t>2</a:t>
            </a:r>
            <a:endParaRPr sz="1600" u="sng"/>
          </a:p>
        </p:txBody>
      </p:sp>
      <p:cxnSp>
        <p:nvCxnSpPr>
          <p:cNvPr id="1888" name="Google Shape;1888;p97"/>
          <p:cNvCxnSpPr/>
          <p:nvPr/>
        </p:nvCxnSpPr>
        <p:spPr>
          <a:xfrm>
            <a:off x="6261475" y="1539400"/>
            <a:ext cx="0" cy="3194400"/>
          </a:xfrm>
          <a:prstGeom prst="straightConnector1">
            <a:avLst/>
          </a:prstGeom>
          <a:noFill/>
          <a:ln cap="flat" cmpd="sng" w="9525">
            <a:solidFill>
              <a:schemeClr val="dk2"/>
            </a:solidFill>
            <a:prstDash val="dash"/>
            <a:round/>
            <a:headEnd len="med" w="med" type="none"/>
            <a:tailEnd len="med" w="med" type="none"/>
          </a:ln>
        </p:spPr>
      </p:cxnSp>
      <p:sp>
        <p:nvSpPr>
          <p:cNvPr id="1889" name="Google Shape;1889;p97"/>
          <p:cNvSpPr/>
          <p:nvPr/>
        </p:nvSpPr>
        <p:spPr>
          <a:xfrm>
            <a:off x="3963675" y="2505750"/>
            <a:ext cx="159600" cy="1504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890" name="Google Shape;1890;p97"/>
          <p:cNvCxnSpPr/>
          <p:nvPr/>
        </p:nvCxnSpPr>
        <p:spPr>
          <a:xfrm>
            <a:off x="1997100" y="2556100"/>
            <a:ext cx="1966500" cy="0"/>
          </a:xfrm>
          <a:prstGeom prst="straightConnector1">
            <a:avLst/>
          </a:prstGeom>
          <a:noFill/>
          <a:ln cap="flat" cmpd="sng" w="9525">
            <a:solidFill>
              <a:schemeClr val="dk2"/>
            </a:solidFill>
            <a:prstDash val="solid"/>
            <a:round/>
            <a:headEnd len="med" w="med" type="none"/>
            <a:tailEnd len="med" w="med" type="triangle"/>
          </a:ln>
        </p:spPr>
      </p:cxnSp>
      <p:sp>
        <p:nvSpPr>
          <p:cNvPr id="1891" name="Google Shape;1891;p97"/>
          <p:cNvSpPr txBox="1"/>
          <p:nvPr/>
        </p:nvSpPr>
        <p:spPr>
          <a:xfrm>
            <a:off x="2014756" y="2215875"/>
            <a:ext cx="1890000" cy="39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Xử lý Yêu cầu()</a:t>
            </a:r>
            <a:endParaRPr>
              <a:solidFill>
                <a:schemeClr val="dk2"/>
              </a:solidFill>
            </a:endParaRPr>
          </a:p>
        </p:txBody>
      </p:sp>
      <p:sp>
        <p:nvSpPr>
          <p:cNvPr id="1892" name="Google Shape;1892;p97"/>
          <p:cNvSpPr/>
          <p:nvPr/>
        </p:nvSpPr>
        <p:spPr>
          <a:xfrm>
            <a:off x="6173475" y="2892024"/>
            <a:ext cx="159600" cy="457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893" name="Google Shape;1893;p97"/>
          <p:cNvCxnSpPr/>
          <p:nvPr/>
        </p:nvCxnSpPr>
        <p:spPr>
          <a:xfrm>
            <a:off x="4130700" y="3013300"/>
            <a:ext cx="2019600" cy="0"/>
          </a:xfrm>
          <a:prstGeom prst="straightConnector1">
            <a:avLst/>
          </a:prstGeom>
          <a:noFill/>
          <a:ln cap="flat" cmpd="sng" w="9525">
            <a:solidFill>
              <a:schemeClr val="dk2"/>
            </a:solidFill>
            <a:prstDash val="solid"/>
            <a:round/>
            <a:headEnd len="med" w="med" type="none"/>
            <a:tailEnd len="med" w="med" type="triangle"/>
          </a:ln>
        </p:spPr>
      </p:cxnSp>
      <p:sp>
        <p:nvSpPr>
          <p:cNvPr id="1894" name="Google Shape;1894;p97"/>
          <p:cNvSpPr txBox="1"/>
          <p:nvPr/>
        </p:nvSpPr>
        <p:spPr>
          <a:xfrm>
            <a:off x="4428150" y="2663422"/>
            <a:ext cx="1617600" cy="39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Xử lý Yêu cầu()</a:t>
            </a:r>
            <a:endParaRPr>
              <a:solidFill>
                <a:schemeClr val="dk2"/>
              </a:solidFill>
            </a:endParaRPr>
          </a:p>
        </p:txBody>
      </p:sp>
      <p:sp>
        <p:nvSpPr>
          <p:cNvPr id="1895" name="Google Shape;1895;p97"/>
          <p:cNvSpPr/>
          <p:nvPr/>
        </p:nvSpPr>
        <p:spPr>
          <a:xfrm flipH="1" rot="10800000">
            <a:off x="1852025" y="2698675"/>
            <a:ext cx="558900" cy="322500"/>
          </a:xfrm>
          <a:prstGeom prst="snip1Rect">
            <a:avLst>
              <a:gd fmla="val 37109"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96" name="Google Shape;1896;p97"/>
          <p:cNvSpPr txBox="1"/>
          <p:nvPr/>
        </p:nvSpPr>
        <p:spPr>
          <a:xfrm>
            <a:off x="1872000" y="2650250"/>
            <a:ext cx="798600" cy="39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a:solidFill>
                  <a:srgbClr val="666666"/>
                </a:solidFill>
              </a:rPr>
              <a:t>alt</a:t>
            </a:r>
            <a:endParaRPr b="1">
              <a:solidFill>
                <a:srgbClr val="666666"/>
              </a:solidFill>
            </a:endParaRPr>
          </a:p>
        </p:txBody>
      </p:sp>
      <p:sp>
        <p:nvSpPr>
          <p:cNvPr id="1897" name="Google Shape;1897;p97"/>
          <p:cNvSpPr txBox="1"/>
          <p:nvPr/>
        </p:nvSpPr>
        <p:spPr>
          <a:xfrm>
            <a:off x="2334476" y="2663425"/>
            <a:ext cx="1717200" cy="39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[t1 không thể xử lý] </a:t>
            </a:r>
            <a:endParaRPr>
              <a:solidFill>
                <a:schemeClr val="dk2"/>
              </a:solidFill>
            </a:endParaRPr>
          </a:p>
        </p:txBody>
      </p:sp>
      <p:sp>
        <p:nvSpPr>
          <p:cNvPr id="1898" name="Google Shape;1898;p97"/>
          <p:cNvSpPr txBox="1"/>
          <p:nvPr/>
        </p:nvSpPr>
        <p:spPr>
          <a:xfrm>
            <a:off x="1913550" y="3349221"/>
            <a:ext cx="2081700" cy="39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[t1 </a:t>
            </a:r>
            <a:r>
              <a:rPr lang="en-GB">
                <a:solidFill>
                  <a:schemeClr val="dk2"/>
                </a:solidFill>
              </a:rPr>
              <a:t>có</a:t>
            </a:r>
            <a:r>
              <a:rPr lang="en-GB">
                <a:solidFill>
                  <a:schemeClr val="dk2"/>
                </a:solidFill>
              </a:rPr>
              <a:t> thể xử lý </a:t>
            </a:r>
            <a:r>
              <a:rPr lang="en-GB">
                <a:solidFill>
                  <a:schemeClr val="dk2"/>
                </a:solidFill>
              </a:rPr>
              <a:t>yêu cầu</a:t>
            </a:r>
            <a:r>
              <a:rPr lang="en-GB">
                <a:solidFill>
                  <a:schemeClr val="dk2"/>
                </a:solidFill>
              </a:rPr>
              <a:t>] </a:t>
            </a:r>
            <a:endParaRPr>
              <a:solidFill>
                <a:schemeClr val="dk2"/>
              </a:solidFill>
            </a:endParaRPr>
          </a:p>
        </p:txBody>
      </p:sp>
      <p:cxnSp>
        <p:nvCxnSpPr>
          <p:cNvPr id="1899" name="Google Shape;1899;p97"/>
          <p:cNvCxnSpPr/>
          <p:nvPr/>
        </p:nvCxnSpPr>
        <p:spPr>
          <a:xfrm rot="10800000">
            <a:off x="2007475" y="3821375"/>
            <a:ext cx="1966500" cy="0"/>
          </a:xfrm>
          <a:prstGeom prst="straightConnector1">
            <a:avLst/>
          </a:prstGeom>
          <a:noFill/>
          <a:ln cap="flat" cmpd="sng" w="9525">
            <a:solidFill>
              <a:schemeClr val="dk2"/>
            </a:solidFill>
            <a:prstDash val="dash"/>
            <a:round/>
            <a:headEnd len="med" w="med" type="none"/>
            <a:tailEnd len="med" w="med" type="triangle"/>
          </a:ln>
        </p:spPr>
      </p:cxnSp>
      <p:sp>
        <p:nvSpPr>
          <p:cNvPr id="1900" name="Google Shape;1900;p97"/>
          <p:cNvSpPr/>
          <p:nvPr/>
        </p:nvSpPr>
        <p:spPr>
          <a:xfrm>
            <a:off x="3963675" y="1825224"/>
            <a:ext cx="159600" cy="457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01" name="Google Shape;1901;p97"/>
          <p:cNvSpPr/>
          <p:nvPr/>
        </p:nvSpPr>
        <p:spPr>
          <a:xfrm>
            <a:off x="1348575" y="1915050"/>
            <a:ext cx="129900" cy="1299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902" name="Google Shape;1902;p97"/>
          <p:cNvCxnSpPr>
            <a:stCxn id="1901" idx="6"/>
          </p:cNvCxnSpPr>
          <p:nvPr/>
        </p:nvCxnSpPr>
        <p:spPr>
          <a:xfrm>
            <a:off x="1478475" y="1980000"/>
            <a:ext cx="2465700" cy="0"/>
          </a:xfrm>
          <a:prstGeom prst="straightConnector1">
            <a:avLst/>
          </a:prstGeom>
          <a:noFill/>
          <a:ln cap="flat" cmpd="sng" w="9525">
            <a:solidFill>
              <a:schemeClr val="dk2"/>
            </a:solidFill>
            <a:prstDash val="solid"/>
            <a:round/>
            <a:headEnd len="med" w="med" type="none"/>
            <a:tailEnd len="med" w="med" type="triangle"/>
          </a:ln>
        </p:spPr>
      </p:cxnSp>
      <p:sp>
        <p:nvSpPr>
          <p:cNvPr id="1903" name="Google Shape;1903;p97"/>
          <p:cNvSpPr txBox="1"/>
          <p:nvPr/>
        </p:nvSpPr>
        <p:spPr>
          <a:xfrm>
            <a:off x="1913550" y="1596625"/>
            <a:ext cx="2260200" cy="39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Đặt trạm tiếp theo</a:t>
            </a:r>
            <a:r>
              <a:rPr lang="en-GB">
                <a:solidFill>
                  <a:schemeClr val="dk2"/>
                </a:solidFill>
              </a:rPr>
              <a:t>(</a:t>
            </a:r>
            <a:r>
              <a:rPr lang="en-GB">
                <a:solidFill>
                  <a:schemeClr val="dk2"/>
                </a:solidFill>
              </a:rPr>
              <a:t>t2</a:t>
            </a:r>
            <a:r>
              <a:rPr lang="en-GB">
                <a:solidFill>
                  <a:schemeClr val="dk2"/>
                </a:solidFill>
              </a:rPr>
              <a:t>)</a:t>
            </a:r>
            <a:endParaRPr>
              <a:solidFill>
                <a:schemeClr val="dk2"/>
              </a:solidFill>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7" name="Shape 1907"/>
        <p:cNvGrpSpPr/>
        <p:nvPr/>
      </p:nvGrpSpPr>
      <p:grpSpPr>
        <a:xfrm>
          <a:off x="0" y="0"/>
          <a:ext cx="0" cy="0"/>
          <a:chOff x="0" y="0"/>
          <a:chExt cx="0" cy="0"/>
        </a:xfrm>
      </p:grpSpPr>
      <p:sp>
        <p:nvSpPr>
          <p:cNvPr id="1908" name="Google Shape;1908;p98"/>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Chuỗi trách nhiệm: Các hệ quả</a:t>
            </a:r>
            <a:endParaRPr/>
          </a:p>
        </p:txBody>
      </p:sp>
      <p:sp>
        <p:nvSpPr>
          <p:cNvPr id="1909" name="Google Shape;1909;p9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910" name="Google Shape;1910;p98"/>
          <p:cNvSpPr txBox="1"/>
          <p:nvPr>
            <p:ph idx="1" type="body"/>
          </p:nvPr>
        </p:nvSpPr>
        <p:spPr>
          <a:xfrm>
            <a:off x="311700" y="950475"/>
            <a:ext cx="8520600" cy="5418300"/>
          </a:xfrm>
          <a:prstGeom prst="rect">
            <a:avLst/>
          </a:prstGeom>
        </p:spPr>
        <p:txBody>
          <a:bodyPr anchorCtr="0" anchor="t" bIns="91425" lIns="91425" spcFirstLastPara="1" rIns="91425" wrap="square" tIns="91425">
            <a:noAutofit/>
          </a:bodyPr>
          <a:lstStyle/>
          <a:p>
            <a:pPr indent="-381000" lvl="0" marL="457200" rtl="0" algn="just">
              <a:spcBef>
                <a:spcPts val="0"/>
              </a:spcBef>
              <a:spcAft>
                <a:spcPts val="0"/>
              </a:spcAft>
              <a:buSzPts val="2400"/>
              <a:buChar char="●"/>
            </a:pPr>
            <a:r>
              <a:rPr lang="en-GB"/>
              <a:t>Đối tượng gửi không biết đối tượng xử lý thông điệp và ngược lại.</a:t>
            </a:r>
            <a:endParaRPr/>
          </a:p>
          <a:p>
            <a:pPr indent="-381000" lvl="0" marL="457200" rtl="0" algn="just">
              <a:spcBef>
                <a:spcPts val="0"/>
              </a:spcBef>
              <a:spcAft>
                <a:spcPts val="0"/>
              </a:spcAft>
              <a:buSzPts val="2400"/>
              <a:buChar char="●"/>
            </a:pPr>
            <a:r>
              <a:rPr lang="en-GB"/>
              <a:t>Tăng tính linh động khi gán các trách nhiệm cho các đối tượng.</a:t>
            </a:r>
            <a:endParaRPr/>
          </a:p>
          <a:p>
            <a:pPr indent="-381000" lvl="0" marL="457200" rtl="0" algn="just">
              <a:spcBef>
                <a:spcPts val="0"/>
              </a:spcBef>
              <a:spcAft>
                <a:spcPts val="0"/>
              </a:spcAft>
              <a:buSzPts val="2400"/>
              <a:buChar char="●"/>
            </a:pPr>
            <a:r>
              <a:rPr lang="en-GB"/>
              <a:t>Xử lý thông điệp không được đảm bảo. Thông điệp có thể vẫn chưa được xử lý sau khi kết thúc chuỗi.</a:t>
            </a:r>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4" name="Shape 1914"/>
        <p:cNvGrpSpPr/>
        <p:nvPr/>
      </p:nvGrpSpPr>
      <p:grpSpPr>
        <a:xfrm>
          <a:off x="0" y="0"/>
          <a:ext cx="0" cy="0"/>
          <a:chOff x="0" y="0"/>
          <a:chExt cx="0" cy="0"/>
        </a:xfrm>
      </p:grpSpPr>
      <p:sp>
        <p:nvSpPr>
          <p:cNvPr id="1915" name="Google Shape;1915;p99"/>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16. Xử lý yêu cầu trợ giúp</a:t>
            </a:r>
            <a:endParaRPr/>
          </a:p>
        </p:txBody>
      </p:sp>
      <p:sp>
        <p:nvSpPr>
          <p:cNvPr id="1916" name="Google Shape;1916;p9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917" name="Google Shape;1917;p99"/>
          <p:cNvSpPr/>
          <p:nvPr/>
        </p:nvSpPr>
        <p:spPr>
          <a:xfrm>
            <a:off x="3169411" y="1562725"/>
            <a:ext cx="13827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HelpHandler</a:t>
            </a:r>
            <a:endParaRPr sz="1600"/>
          </a:p>
        </p:txBody>
      </p:sp>
      <p:sp>
        <p:nvSpPr>
          <p:cNvPr id="1918" name="Google Shape;1918;p99"/>
          <p:cNvSpPr/>
          <p:nvPr/>
        </p:nvSpPr>
        <p:spPr>
          <a:xfrm>
            <a:off x="3169398" y="1884950"/>
            <a:ext cx="1382700" cy="3915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lang="en-GB" sz="1600"/>
              <a:t>HandleHelp</a:t>
            </a:r>
            <a:r>
              <a:rPr lang="en-GB" sz="1600"/>
              <a:t>()</a:t>
            </a:r>
            <a:endParaRPr sz="1600"/>
          </a:p>
        </p:txBody>
      </p:sp>
      <p:sp>
        <p:nvSpPr>
          <p:cNvPr id="1919" name="Google Shape;1919;p99"/>
          <p:cNvSpPr/>
          <p:nvPr/>
        </p:nvSpPr>
        <p:spPr>
          <a:xfrm>
            <a:off x="904525" y="1520716"/>
            <a:ext cx="1008000" cy="4380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User</a:t>
            </a:r>
            <a:endParaRPr sz="1600"/>
          </a:p>
        </p:txBody>
      </p:sp>
      <p:cxnSp>
        <p:nvCxnSpPr>
          <p:cNvPr id="1920" name="Google Shape;1920;p99"/>
          <p:cNvCxnSpPr>
            <a:stCxn id="1919" idx="3"/>
          </p:cNvCxnSpPr>
          <p:nvPr/>
        </p:nvCxnSpPr>
        <p:spPr>
          <a:xfrm>
            <a:off x="1912525" y="1739716"/>
            <a:ext cx="1182300" cy="10800"/>
          </a:xfrm>
          <a:prstGeom prst="straightConnector1">
            <a:avLst/>
          </a:prstGeom>
          <a:noFill/>
          <a:ln cap="flat" cmpd="sng" w="9525">
            <a:solidFill>
              <a:schemeClr val="dk2"/>
            </a:solidFill>
            <a:prstDash val="dash"/>
            <a:round/>
            <a:headEnd len="med" w="med" type="none"/>
            <a:tailEnd len="med" w="med" type="triangle"/>
          </a:ln>
        </p:spPr>
      </p:cxnSp>
      <p:sp>
        <p:nvSpPr>
          <p:cNvPr id="1921" name="Google Shape;1921;p99"/>
          <p:cNvSpPr/>
          <p:nvPr/>
        </p:nvSpPr>
        <p:spPr>
          <a:xfrm>
            <a:off x="1857648" y="2934325"/>
            <a:ext cx="13827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Application</a:t>
            </a:r>
            <a:endParaRPr sz="1600"/>
          </a:p>
        </p:txBody>
      </p:sp>
      <p:sp>
        <p:nvSpPr>
          <p:cNvPr id="1922" name="Google Shape;1922;p99"/>
          <p:cNvSpPr/>
          <p:nvPr/>
        </p:nvSpPr>
        <p:spPr>
          <a:xfrm>
            <a:off x="4393873" y="2962325"/>
            <a:ext cx="11823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Widget</a:t>
            </a:r>
            <a:endParaRPr sz="1600"/>
          </a:p>
        </p:txBody>
      </p:sp>
      <p:sp>
        <p:nvSpPr>
          <p:cNvPr id="1923" name="Google Shape;1923;p99"/>
          <p:cNvSpPr/>
          <p:nvPr/>
        </p:nvSpPr>
        <p:spPr>
          <a:xfrm>
            <a:off x="3544614" y="2280856"/>
            <a:ext cx="191700" cy="1047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4" name="Google Shape;1924;p99"/>
          <p:cNvSpPr/>
          <p:nvPr/>
        </p:nvSpPr>
        <p:spPr>
          <a:xfrm>
            <a:off x="3925614" y="2280856"/>
            <a:ext cx="191700" cy="1047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925" name="Google Shape;1925;p99"/>
          <p:cNvCxnSpPr>
            <a:stCxn id="1921" idx="0"/>
            <a:endCxn id="1923" idx="3"/>
          </p:cNvCxnSpPr>
          <p:nvPr/>
        </p:nvCxnSpPr>
        <p:spPr>
          <a:xfrm rot="-5400000">
            <a:off x="2820348" y="2114275"/>
            <a:ext cx="548700" cy="1091400"/>
          </a:xfrm>
          <a:prstGeom prst="bentConnector3">
            <a:avLst>
              <a:gd fmla="val 50006" name="adj1"/>
            </a:avLst>
          </a:prstGeom>
          <a:noFill/>
          <a:ln cap="flat" cmpd="sng" w="9525">
            <a:solidFill>
              <a:schemeClr val="dk2"/>
            </a:solidFill>
            <a:prstDash val="solid"/>
            <a:round/>
            <a:headEnd len="med" w="med" type="none"/>
            <a:tailEnd len="med" w="med" type="none"/>
          </a:ln>
        </p:spPr>
      </p:cxnSp>
      <p:cxnSp>
        <p:nvCxnSpPr>
          <p:cNvPr id="1926" name="Google Shape;1926;p99"/>
          <p:cNvCxnSpPr>
            <a:stCxn id="1922" idx="0"/>
            <a:endCxn id="1924" idx="3"/>
          </p:cNvCxnSpPr>
          <p:nvPr/>
        </p:nvCxnSpPr>
        <p:spPr>
          <a:xfrm flipH="1" rot="5400000">
            <a:off x="4214773" y="2192075"/>
            <a:ext cx="576900" cy="963600"/>
          </a:xfrm>
          <a:prstGeom prst="bentConnector3">
            <a:avLst>
              <a:gd fmla="val 49989" name="adj1"/>
            </a:avLst>
          </a:prstGeom>
          <a:noFill/>
          <a:ln cap="flat" cmpd="sng" w="9525">
            <a:solidFill>
              <a:schemeClr val="dk2"/>
            </a:solidFill>
            <a:prstDash val="solid"/>
            <a:round/>
            <a:headEnd len="med" w="med" type="none"/>
            <a:tailEnd len="med" w="med" type="none"/>
          </a:ln>
        </p:spPr>
      </p:cxnSp>
      <p:sp>
        <p:nvSpPr>
          <p:cNvPr id="1927" name="Google Shape;1927;p99"/>
          <p:cNvSpPr/>
          <p:nvPr/>
        </p:nvSpPr>
        <p:spPr>
          <a:xfrm>
            <a:off x="4563659" y="1666835"/>
            <a:ext cx="191700" cy="117050"/>
          </a:xfrm>
          <a:prstGeom prst="flowChartDecision">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928" name="Google Shape;1928;p99"/>
          <p:cNvCxnSpPr>
            <a:stCxn id="1927" idx="3"/>
            <a:endCxn id="1917" idx="0"/>
          </p:cNvCxnSpPr>
          <p:nvPr/>
        </p:nvCxnSpPr>
        <p:spPr>
          <a:xfrm rot="10800000">
            <a:off x="3860759" y="1562760"/>
            <a:ext cx="894600" cy="162600"/>
          </a:xfrm>
          <a:prstGeom prst="bentConnector4">
            <a:avLst>
              <a:gd fmla="val -26618" name="adj1"/>
              <a:gd fmla="val 246470" name="adj2"/>
            </a:avLst>
          </a:prstGeom>
          <a:noFill/>
          <a:ln cap="flat" cmpd="sng" w="9525">
            <a:solidFill>
              <a:schemeClr val="dk2"/>
            </a:solidFill>
            <a:prstDash val="solid"/>
            <a:round/>
            <a:headEnd len="med" w="med" type="none"/>
            <a:tailEnd len="med" w="med" type="none"/>
          </a:ln>
        </p:spPr>
      </p:cxnSp>
      <p:sp>
        <p:nvSpPr>
          <p:cNvPr id="1929" name="Google Shape;1929;p99"/>
          <p:cNvSpPr txBox="1"/>
          <p:nvPr/>
        </p:nvSpPr>
        <p:spPr>
          <a:xfrm>
            <a:off x="3843543" y="986687"/>
            <a:ext cx="1008000" cy="39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handler</a:t>
            </a:r>
            <a:endParaRPr>
              <a:solidFill>
                <a:schemeClr val="dk2"/>
              </a:solidFill>
            </a:endParaRPr>
          </a:p>
        </p:txBody>
      </p:sp>
      <p:sp>
        <p:nvSpPr>
          <p:cNvPr id="1930" name="Google Shape;1930;p99"/>
          <p:cNvSpPr/>
          <p:nvPr/>
        </p:nvSpPr>
        <p:spPr>
          <a:xfrm>
            <a:off x="5330789" y="3800525"/>
            <a:ext cx="13827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Button</a:t>
            </a:r>
            <a:endParaRPr sz="1600"/>
          </a:p>
        </p:txBody>
      </p:sp>
      <p:sp>
        <p:nvSpPr>
          <p:cNvPr id="1931" name="Google Shape;1931;p99"/>
          <p:cNvSpPr/>
          <p:nvPr/>
        </p:nvSpPr>
        <p:spPr>
          <a:xfrm>
            <a:off x="5330775" y="4122750"/>
            <a:ext cx="1382700" cy="5769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lang="en-GB" sz="1600"/>
              <a:t>HandleHelp</a:t>
            </a:r>
            <a:r>
              <a:rPr lang="en-GB" sz="1600"/>
              <a:t>()</a:t>
            </a:r>
            <a:endParaRPr sz="1600"/>
          </a:p>
          <a:p>
            <a:pPr indent="0" lvl="0" marL="0" rtl="0" algn="l">
              <a:spcBef>
                <a:spcPts val="0"/>
              </a:spcBef>
              <a:spcAft>
                <a:spcPts val="0"/>
              </a:spcAft>
              <a:buNone/>
            </a:pPr>
            <a:r>
              <a:rPr lang="en-GB" sz="1600"/>
              <a:t>ShowHelp()</a:t>
            </a:r>
            <a:endParaRPr sz="1600"/>
          </a:p>
        </p:txBody>
      </p:sp>
      <p:sp>
        <p:nvSpPr>
          <p:cNvPr id="1932" name="Google Shape;1932;p99"/>
          <p:cNvSpPr/>
          <p:nvPr/>
        </p:nvSpPr>
        <p:spPr>
          <a:xfrm>
            <a:off x="4707579" y="3301404"/>
            <a:ext cx="191700" cy="1047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3" name="Google Shape;1933;p99"/>
          <p:cNvSpPr/>
          <p:nvPr/>
        </p:nvSpPr>
        <p:spPr>
          <a:xfrm>
            <a:off x="5088579" y="3301404"/>
            <a:ext cx="191700" cy="1047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4" name="Google Shape;1934;p99"/>
          <p:cNvSpPr/>
          <p:nvPr/>
        </p:nvSpPr>
        <p:spPr>
          <a:xfrm>
            <a:off x="3793273" y="3800525"/>
            <a:ext cx="10914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Dialog</a:t>
            </a:r>
            <a:endParaRPr sz="1600"/>
          </a:p>
        </p:txBody>
      </p:sp>
      <p:cxnSp>
        <p:nvCxnSpPr>
          <p:cNvPr id="1935" name="Google Shape;1935;p99"/>
          <p:cNvCxnSpPr>
            <a:stCxn id="1934" idx="0"/>
            <a:endCxn id="1932" idx="3"/>
          </p:cNvCxnSpPr>
          <p:nvPr/>
        </p:nvCxnSpPr>
        <p:spPr>
          <a:xfrm rot="-5400000">
            <a:off x="4373923" y="3371075"/>
            <a:ext cx="394500" cy="464400"/>
          </a:xfrm>
          <a:prstGeom prst="bentConnector3">
            <a:avLst>
              <a:gd fmla="val 49990" name="adj1"/>
            </a:avLst>
          </a:prstGeom>
          <a:noFill/>
          <a:ln cap="flat" cmpd="sng" w="9525">
            <a:solidFill>
              <a:schemeClr val="dk2"/>
            </a:solidFill>
            <a:prstDash val="solid"/>
            <a:round/>
            <a:headEnd len="med" w="med" type="none"/>
            <a:tailEnd len="med" w="med" type="none"/>
          </a:ln>
        </p:spPr>
      </p:cxnSp>
      <p:cxnSp>
        <p:nvCxnSpPr>
          <p:cNvPr id="1936" name="Google Shape;1936;p99"/>
          <p:cNvCxnSpPr>
            <a:stCxn id="1930" idx="0"/>
            <a:endCxn id="1933" idx="3"/>
          </p:cNvCxnSpPr>
          <p:nvPr/>
        </p:nvCxnSpPr>
        <p:spPr>
          <a:xfrm flipH="1" rot="5400000">
            <a:off x="5406089" y="3184475"/>
            <a:ext cx="394500" cy="837600"/>
          </a:xfrm>
          <a:prstGeom prst="bentConnector3">
            <a:avLst>
              <a:gd fmla="val 49990" name="adj1"/>
            </a:avLst>
          </a:prstGeom>
          <a:noFill/>
          <a:ln cap="flat" cmpd="sng" w="9525">
            <a:solidFill>
              <a:schemeClr val="dk2"/>
            </a:solidFill>
            <a:prstDash val="solid"/>
            <a:round/>
            <a:headEnd len="med" w="med" type="none"/>
            <a:tailEnd len="med" w="med" type="none"/>
          </a:ln>
        </p:spPr>
      </p:cxnSp>
      <p:sp>
        <p:nvSpPr>
          <p:cNvPr id="1937" name="Google Shape;1937;p99"/>
          <p:cNvSpPr/>
          <p:nvPr/>
        </p:nvSpPr>
        <p:spPr>
          <a:xfrm>
            <a:off x="5795475" y="1854175"/>
            <a:ext cx="2231400" cy="438000"/>
          </a:xfrm>
          <a:prstGeom prst="foldedCorner">
            <a:avLst>
              <a:gd fmla="val 16667" name="adj"/>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t>handler-&gt;HandleHelp()</a:t>
            </a:r>
            <a:endParaRPr/>
          </a:p>
        </p:txBody>
      </p:sp>
      <p:sp>
        <p:nvSpPr>
          <p:cNvPr id="1938" name="Google Shape;1938;p99"/>
          <p:cNvSpPr/>
          <p:nvPr/>
        </p:nvSpPr>
        <p:spPr>
          <a:xfrm>
            <a:off x="5685983" y="5034600"/>
            <a:ext cx="2450700" cy="1210200"/>
          </a:xfrm>
          <a:prstGeom prst="foldedCorner">
            <a:avLst>
              <a:gd fmla="val 16667" name="adj"/>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t>Nếu (có thể xử lý) {</a:t>
            </a:r>
            <a:endParaRPr/>
          </a:p>
          <a:p>
            <a:pPr indent="0" lvl="0" marL="0" rtl="0" algn="l">
              <a:spcBef>
                <a:spcPts val="0"/>
              </a:spcBef>
              <a:spcAft>
                <a:spcPts val="0"/>
              </a:spcAft>
              <a:buNone/>
            </a:pPr>
            <a:r>
              <a:rPr lang="en-GB"/>
              <a:t>  ShowHelp();</a:t>
            </a:r>
            <a:endParaRPr/>
          </a:p>
          <a:p>
            <a:pPr indent="0" lvl="0" marL="0" rtl="0" algn="l">
              <a:spcBef>
                <a:spcPts val="0"/>
              </a:spcBef>
              <a:spcAft>
                <a:spcPts val="0"/>
              </a:spcAft>
              <a:buNone/>
            </a:pPr>
            <a:r>
              <a:rPr lang="en-GB"/>
              <a:t>} Ngược lại {</a:t>
            </a:r>
            <a:endParaRPr/>
          </a:p>
          <a:p>
            <a:pPr indent="0" lvl="0" marL="0" rtl="0" algn="l">
              <a:spcBef>
                <a:spcPts val="0"/>
              </a:spcBef>
              <a:spcAft>
                <a:spcPts val="0"/>
              </a:spcAft>
              <a:buNone/>
            </a:pPr>
            <a:r>
              <a:rPr lang="en-GB"/>
              <a:t>  handler.HandleHelp();</a:t>
            </a:r>
            <a:endParaRPr/>
          </a:p>
          <a:p>
            <a:pPr indent="0" lvl="0" marL="0" rtl="0" algn="l">
              <a:spcBef>
                <a:spcPts val="0"/>
              </a:spcBef>
              <a:spcAft>
                <a:spcPts val="0"/>
              </a:spcAft>
              <a:buNone/>
            </a:pPr>
            <a:r>
              <a:rPr lang="en-GB"/>
              <a:t>}</a:t>
            </a:r>
            <a:endParaRPr/>
          </a:p>
        </p:txBody>
      </p:sp>
      <p:cxnSp>
        <p:nvCxnSpPr>
          <p:cNvPr id="1939" name="Google Shape;1939;p99"/>
          <p:cNvCxnSpPr>
            <a:stCxn id="1918" idx="3"/>
            <a:endCxn id="1937" idx="1"/>
          </p:cNvCxnSpPr>
          <p:nvPr/>
        </p:nvCxnSpPr>
        <p:spPr>
          <a:xfrm flipH="1" rot="10800000">
            <a:off x="4552098" y="2073200"/>
            <a:ext cx="1243500" cy="7500"/>
          </a:xfrm>
          <a:prstGeom prst="straightConnector1">
            <a:avLst/>
          </a:prstGeom>
          <a:noFill/>
          <a:ln cap="flat" cmpd="sng" w="9525">
            <a:solidFill>
              <a:schemeClr val="dk2"/>
            </a:solidFill>
            <a:prstDash val="dash"/>
            <a:round/>
            <a:headEnd len="med" w="med" type="oval"/>
            <a:tailEnd len="med" w="med" type="oval"/>
          </a:ln>
        </p:spPr>
      </p:cxnSp>
      <p:cxnSp>
        <p:nvCxnSpPr>
          <p:cNvPr id="1940" name="Google Shape;1940;p99"/>
          <p:cNvCxnSpPr/>
          <p:nvPr/>
        </p:nvCxnSpPr>
        <p:spPr>
          <a:xfrm>
            <a:off x="6609383" y="4292900"/>
            <a:ext cx="0" cy="728700"/>
          </a:xfrm>
          <a:prstGeom prst="straightConnector1">
            <a:avLst/>
          </a:prstGeom>
          <a:noFill/>
          <a:ln cap="flat" cmpd="sng" w="9525">
            <a:solidFill>
              <a:schemeClr val="dk2"/>
            </a:solidFill>
            <a:prstDash val="dash"/>
            <a:round/>
            <a:headEnd len="med" w="med" type="oval"/>
            <a:tailEnd len="med" w="med" type="oval"/>
          </a:ln>
        </p:spPr>
      </p:cxn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4" name="Shape 1944"/>
        <p:cNvGrpSpPr/>
        <p:nvPr/>
      </p:nvGrpSpPr>
      <p:grpSpPr>
        <a:xfrm>
          <a:off x="0" y="0"/>
          <a:ext cx="0" cy="0"/>
          <a:chOff x="0" y="0"/>
          <a:chExt cx="0" cy="0"/>
        </a:xfrm>
      </p:grpSpPr>
      <p:sp>
        <p:nvSpPr>
          <p:cNvPr id="1945" name="Google Shape;1945;p100"/>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Lệnh</a:t>
            </a:r>
            <a:endParaRPr/>
          </a:p>
        </p:txBody>
      </p:sp>
      <p:sp>
        <p:nvSpPr>
          <p:cNvPr id="1946" name="Google Shape;1946;p100"/>
          <p:cNvSpPr txBox="1"/>
          <p:nvPr>
            <p:ph idx="1" type="body"/>
          </p:nvPr>
        </p:nvSpPr>
        <p:spPr>
          <a:xfrm>
            <a:off x="311700" y="950475"/>
            <a:ext cx="8520600" cy="54183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i="1" lang="en-GB"/>
              <a:t>Command</a:t>
            </a:r>
            <a:endParaRPr i="1"/>
          </a:p>
          <a:p>
            <a:pPr indent="0" lvl="0" marL="0" rtl="0" algn="just">
              <a:spcBef>
                <a:spcPts val="0"/>
              </a:spcBef>
              <a:spcAft>
                <a:spcPts val="0"/>
              </a:spcAft>
              <a:buNone/>
            </a:pPr>
            <a:r>
              <a:rPr lang="en-GB"/>
              <a:t>Đóng gói yêu cầu như một đối tượng, qua đó có thể tùy chỉnh phía khách với các yêu cầu khác nhau, thiết lập hàng đợi hoặc ghi lịch sử yêu cầu, và hỗ trợ hoàn tác</a:t>
            </a:r>
            <a:r>
              <a:rPr lang="en-GB"/>
              <a:t>.</a:t>
            </a:r>
            <a:endParaRPr/>
          </a:p>
        </p:txBody>
      </p:sp>
      <p:sp>
        <p:nvSpPr>
          <p:cNvPr id="1947" name="Google Shape;1947;p10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1" name="Shape 1951"/>
        <p:cNvGrpSpPr/>
        <p:nvPr/>
      </p:nvGrpSpPr>
      <p:grpSpPr>
        <a:xfrm>
          <a:off x="0" y="0"/>
          <a:ext cx="0" cy="0"/>
          <a:chOff x="0" y="0"/>
          <a:chExt cx="0" cy="0"/>
        </a:xfrm>
      </p:grpSpPr>
      <p:sp>
        <p:nvSpPr>
          <p:cNvPr id="1952" name="Google Shape;1952;p101"/>
          <p:cNvSpPr/>
          <p:nvPr/>
        </p:nvSpPr>
        <p:spPr>
          <a:xfrm>
            <a:off x="2448650" y="1375200"/>
            <a:ext cx="1360200" cy="391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Lớp kích hoạt</a:t>
            </a:r>
            <a:endParaRPr sz="1600"/>
          </a:p>
        </p:txBody>
      </p:sp>
      <p:sp>
        <p:nvSpPr>
          <p:cNvPr id="1953" name="Google Shape;1953;p101"/>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Lệnh: Cấu trúc</a:t>
            </a:r>
            <a:endParaRPr/>
          </a:p>
        </p:txBody>
      </p:sp>
      <p:sp>
        <p:nvSpPr>
          <p:cNvPr id="1954" name="Google Shape;1954;p10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955" name="Google Shape;1955;p101"/>
          <p:cNvSpPr/>
          <p:nvPr/>
        </p:nvSpPr>
        <p:spPr>
          <a:xfrm>
            <a:off x="4524641" y="1410325"/>
            <a:ext cx="17040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Lệnh</a:t>
            </a:r>
            <a:endParaRPr sz="1600"/>
          </a:p>
        </p:txBody>
      </p:sp>
      <p:sp>
        <p:nvSpPr>
          <p:cNvPr id="1956" name="Google Shape;1956;p101"/>
          <p:cNvSpPr/>
          <p:nvPr/>
        </p:nvSpPr>
        <p:spPr>
          <a:xfrm>
            <a:off x="4524626" y="1732550"/>
            <a:ext cx="1704000" cy="3915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lang="en-GB" sz="1600"/>
              <a:t>Thực hiện</a:t>
            </a:r>
            <a:r>
              <a:rPr lang="en-GB" sz="1600"/>
              <a:t>()</a:t>
            </a:r>
            <a:endParaRPr sz="1600"/>
          </a:p>
        </p:txBody>
      </p:sp>
      <p:sp>
        <p:nvSpPr>
          <p:cNvPr id="1957" name="Google Shape;1957;p101"/>
          <p:cNvSpPr/>
          <p:nvPr/>
        </p:nvSpPr>
        <p:spPr>
          <a:xfrm>
            <a:off x="828325" y="1350888"/>
            <a:ext cx="1008000" cy="4380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Khách</a:t>
            </a:r>
            <a:endParaRPr sz="1600"/>
          </a:p>
        </p:txBody>
      </p:sp>
      <p:sp>
        <p:nvSpPr>
          <p:cNvPr id="1958" name="Google Shape;1958;p101"/>
          <p:cNvSpPr/>
          <p:nvPr/>
        </p:nvSpPr>
        <p:spPr>
          <a:xfrm>
            <a:off x="2369134" y="2787102"/>
            <a:ext cx="14397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Lớp thực thi</a:t>
            </a:r>
            <a:endParaRPr sz="1600"/>
          </a:p>
        </p:txBody>
      </p:sp>
      <p:sp>
        <p:nvSpPr>
          <p:cNvPr id="1959" name="Google Shape;1959;p101"/>
          <p:cNvSpPr/>
          <p:nvPr/>
        </p:nvSpPr>
        <p:spPr>
          <a:xfrm>
            <a:off x="2369122" y="3109326"/>
            <a:ext cx="1439700" cy="3915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lang="en-GB" sz="1600"/>
              <a:t>Hành động</a:t>
            </a:r>
            <a:r>
              <a:rPr lang="en-GB" sz="1600"/>
              <a:t>()</a:t>
            </a:r>
            <a:endParaRPr sz="1600"/>
          </a:p>
        </p:txBody>
      </p:sp>
      <p:sp>
        <p:nvSpPr>
          <p:cNvPr id="1960" name="Google Shape;1960;p101"/>
          <p:cNvSpPr/>
          <p:nvPr/>
        </p:nvSpPr>
        <p:spPr>
          <a:xfrm>
            <a:off x="4393868" y="2809925"/>
            <a:ext cx="20190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Lệnh cụ thể</a:t>
            </a:r>
            <a:endParaRPr sz="1600"/>
          </a:p>
        </p:txBody>
      </p:sp>
      <p:sp>
        <p:nvSpPr>
          <p:cNvPr id="1961" name="Google Shape;1961;p101"/>
          <p:cNvSpPr/>
          <p:nvPr/>
        </p:nvSpPr>
        <p:spPr>
          <a:xfrm>
            <a:off x="4393850" y="3132146"/>
            <a:ext cx="2019000" cy="3915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lang="en-GB" sz="1600"/>
              <a:t>trạng thái</a:t>
            </a:r>
            <a:endParaRPr sz="1600"/>
          </a:p>
        </p:txBody>
      </p:sp>
      <p:sp>
        <p:nvSpPr>
          <p:cNvPr id="1962" name="Google Shape;1962;p101"/>
          <p:cNvSpPr/>
          <p:nvPr/>
        </p:nvSpPr>
        <p:spPr>
          <a:xfrm>
            <a:off x="5297214" y="2128456"/>
            <a:ext cx="191700" cy="1047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3" name="Google Shape;1963;p101"/>
          <p:cNvSpPr/>
          <p:nvPr/>
        </p:nvSpPr>
        <p:spPr>
          <a:xfrm>
            <a:off x="3811062" y="1514435"/>
            <a:ext cx="191700" cy="117050"/>
          </a:xfrm>
          <a:prstGeom prst="flowChartDecision">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964" name="Google Shape;1964;p101"/>
          <p:cNvCxnSpPr>
            <a:stCxn id="1963" idx="3"/>
            <a:endCxn id="1955" idx="1"/>
          </p:cNvCxnSpPr>
          <p:nvPr/>
        </p:nvCxnSpPr>
        <p:spPr>
          <a:xfrm flipH="1" rot="10800000">
            <a:off x="4002762" y="1571460"/>
            <a:ext cx="522000" cy="1500"/>
          </a:xfrm>
          <a:prstGeom prst="straightConnector1">
            <a:avLst/>
          </a:prstGeom>
          <a:noFill/>
          <a:ln cap="flat" cmpd="sng" w="9525">
            <a:solidFill>
              <a:schemeClr val="dk2"/>
            </a:solidFill>
            <a:prstDash val="solid"/>
            <a:round/>
            <a:headEnd len="med" w="med" type="none"/>
            <a:tailEnd len="med" w="med" type="triangle"/>
          </a:ln>
        </p:spPr>
      </p:cxnSp>
      <p:sp>
        <p:nvSpPr>
          <p:cNvPr id="1965" name="Google Shape;1965;p101"/>
          <p:cNvSpPr/>
          <p:nvPr/>
        </p:nvSpPr>
        <p:spPr>
          <a:xfrm>
            <a:off x="4393850" y="3524852"/>
            <a:ext cx="2019000" cy="3915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lang="en-GB" sz="1600"/>
              <a:t>Thực hiện()</a:t>
            </a:r>
            <a:endParaRPr sz="1600"/>
          </a:p>
        </p:txBody>
      </p:sp>
      <p:cxnSp>
        <p:nvCxnSpPr>
          <p:cNvPr id="1966" name="Google Shape;1966;p101"/>
          <p:cNvCxnSpPr>
            <a:stCxn id="1960" idx="0"/>
            <a:endCxn id="1962" idx="3"/>
          </p:cNvCxnSpPr>
          <p:nvPr/>
        </p:nvCxnSpPr>
        <p:spPr>
          <a:xfrm rot="10800000">
            <a:off x="5393168" y="2233025"/>
            <a:ext cx="10200" cy="576900"/>
          </a:xfrm>
          <a:prstGeom prst="straightConnector1">
            <a:avLst/>
          </a:prstGeom>
          <a:noFill/>
          <a:ln cap="flat" cmpd="sng" w="9525">
            <a:solidFill>
              <a:schemeClr val="dk2"/>
            </a:solidFill>
            <a:prstDash val="solid"/>
            <a:round/>
            <a:headEnd len="med" w="med" type="none"/>
            <a:tailEnd len="med" w="med" type="none"/>
          </a:ln>
        </p:spPr>
      </p:cxnSp>
      <p:sp>
        <p:nvSpPr>
          <p:cNvPr id="1967" name="Google Shape;1967;p101"/>
          <p:cNvSpPr/>
          <p:nvPr/>
        </p:nvSpPr>
        <p:spPr>
          <a:xfrm flipH="1" rot="10800000">
            <a:off x="4961625" y="4428068"/>
            <a:ext cx="1943100" cy="564600"/>
          </a:xfrm>
          <a:prstGeom prst="foldedCorner">
            <a:avLst>
              <a:gd fmla="val 25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8" name="Google Shape;1968;p101"/>
          <p:cNvSpPr txBox="1"/>
          <p:nvPr/>
        </p:nvSpPr>
        <p:spPr>
          <a:xfrm>
            <a:off x="4961625" y="4428083"/>
            <a:ext cx="2079000" cy="595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GB"/>
              <a:t>đối tượng tiếp nhận-&gt;   </a:t>
            </a:r>
            <a:endParaRPr/>
          </a:p>
          <a:p>
            <a:pPr indent="0" lvl="0" marL="0" rtl="0" algn="l">
              <a:spcBef>
                <a:spcPts val="0"/>
              </a:spcBef>
              <a:spcAft>
                <a:spcPts val="0"/>
              </a:spcAft>
              <a:buNone/>
            </a:pPr>
            <a:r>
              <a:rPr lang="en-GB"/>
              <a:t>    Hành động()</a:t>
            </a:r>
            <a:endParaRPr/>
          </a:p>
        </p:txBody>
      </p:sp>
      <p:sp>
        <p:nvSpPr>
          <p:cNvPr id="1969" name="Google Shape;1969;p101"/>
          <p:cNvSpPr/>
          <p:nvPr/>
        </p:nvSpPr>
        <p:spPr>
          <a:xfrm>
            <a:off x="6024875" y="3658675"/>
            <a:ext cx="81900" cy="104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970" name="Google Shape;1970;p101"/>
          <p:cNvCxnSpPr>
            <a:stCxn id="1969" idx="4"/>
          </p:cNvCxnSpPr>
          <p:nvPr/>
        </p:nvCxnSpPr>
        <p:spPr>
          <a:xfrm>
            <a:off x="6065825" y="3763375"/>
            <a:ext cx="7800" cy="663300"/>
          </a:xfrm>
          <a:prstGeom prst="straightConnector1">
            <a:avLst/>
          </a:prstGeom>
          <a:noFill/>
          <a:ln cap="flat" cmpd="sng" w="9525">
            <a:solidFill>
              <a:schemeClr val="dk2"/>
            </a:solidFill>
            <a:prstDash val="dash"/>
            <a:round/>
            <a:headEnd len="med" w="med" type="none"/>
            <a:tailEnd len="med" w="med" type="none"/>
          </a:ln>
        </p:spPr>
      </p:cxnSp>
      <p:cxnSp>
        <p:nvCxnSpPr>
          <p:cNvPr id="1971" name="Google Shape;1971;p101"/>
          <p:cNvCxnSpPr>
            <a:stCxn id="1957" idx="3"/>
            <a:endCxn id="1952" idx="1"/>
          </p:cNvCxnSpPr>
          <p:nvPr/>
        </p:nvCxnSpPr>
        <p:spPr>
          <a:xfrm>
            <a:off x="1836325" y="1569888"/>
            <a:ext cx="612300" cy="1200"/>
          </a:xfrm>
          <a:prstGeom prst="straightConnector1">
            <a:avLst/>
          </a:prstGeom>
          <a:noFill/>
          <a:ln cap="flat" cmpd="sng" w="9525">
            <a:solidFill>
              <a:schemeClr val="dk2"/>
            </a:solidFill>
            <a:prstDash val="dash"/>
            <a:round/>
            <a:headEnd len="med" w="med" type="none"/>
            <a:tailEnd len="med" w="med" type="stealth"/>
          </a:ln>
        </p:spPr>
      </p:cxnSp>
      <p:sp>
        <p:nvSpPr>
          <p:cNvPr id="1972" name="Google Shape;1972;p101"/>
          <p:cNvSpPr/>
          <p:nvPr/>
        </p:nvSpPr>
        <p:spPr>
          <a:xfrm flipH="1" rot="10800000">
            <a:off x="6870075" y="2969450"/>
            <a:ext cx="1526100" cy="564600"/>
          </a:xfrm>
          <a:prstGeom prst="foldedCorner">
            <a:avLst>
              <a:gd fmla="val 25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3" name="Google Shape;1973;p101"/>
          <p:cNvSpPr txBox="1"/>
          <p:nvPr/>
        </p:nvSpPr>
        <p:spPr>
          <a:xfrm>
            <a:off x="6870075" y="2969450"/>
            <a:ext cx="1602300" cy="595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GB"/>
              <a:t>Hỗ trợ hoàn tác</a:t>
            </a:r>
            <a:endParaRPr/>
          </a:p>
        </p:txBody>
      </p:sp>
      <p:cxnSp>
        <p:nvCxnSpPr>
          <p:cNvPr id="1974" name="Google Shape;1974;p101"/>
          <p:cNvCxnSpPr>
            <a:endCxn id="1973" idx="1"/>
          </p:cNvCxnSpPr>
          <p:nvPr/>
        </p:nvCxnSpPr>
        <p:spPr>
          <a:xfrm flipH="1" rot="10800000">
            <a:off x="5431275" y="3267050"/>
            <a:ext cx="1438800" cy="29100"/>
          </a:xfrm>
          <a:prstGeom prst="straightConnector1">
            <a:avLst/>
          </a:prstGeom>
          <a:noFill/>
          <a:ln cap="flat" cmpd="sng" w="9525">
            <a:solidFill>
              <a:schemeClr val="dk2"/>
            </a:solidFill>
            <a:prstDash val="dash"/>
            <a:round/>
            <a:headEnd len="med" w="med" type="none"/>
            <a:tailEnd len="med" w="med" type="none"/>
          </a:ln>
        </p:spPr>
      </p:cxnSp>
      <p:sp>
        <p:nvSpPr>
          <p:cNvPr id="1975" name="Google Shape;1975;p101"/>
          <p:cNvSpPr/>
          <p:nvPr/>
        </p:nvSpPr>
        <p:spPr>
          <a:xfrm>
            <a:off x="4192062" y="2886035"/>
            <a:ext cx="191700" cy="117050"/>
          </a:xfrm>
          <a:prstGeom prst="flowChartDecision">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976" name="Google Shape;1976;p101"/>
          <p:cNvCxnSpPr>
            <a:stCxn id="1958" idx="3"/>
            <a:endCxn id="1975" idx="1"/>
          </p:cNvCxnSpPr>
          <p:nvPr/>
        </p:nvCxnSpPr>
        <p:spPr>
          <a:xfrm flipH="1" rot="10800000">
            <a:off x="3808834" y="2944452"/>
            <a:ext cx="383100" cy="3900"/>
          </a:xfrm>
          <a:prstGeom prst="straightConnector1">
            <a:avLst/>
          </a:prstGeom>
          <a:noFill/>
          <a:ln cap="flat" cmpd="sng" w="9525">
            <a:solidFill>
              <a:schemeClr val="dk2"/>
            </a:solidFill>
            <a:prstDash val="solid"/>
            <a:round/>
            <a:headEnd len="med" w="med" type="none"/>
            <a:tailEnd len="med" w="med" type="none"/>
          </a:ln>
        </p:spPr>
      </p:cxnSp>
      <p:sp>
        <p:nvSpPr>
          <p:cNvPr id="1977" name="Google Shape;1977;p101"/>
          <p:cNvSpPr/>
          <p:nvPr/>
        </p:nvSpPr>
        <p:spPr>
          <a:xfrm>
            <a:off x="2448650" y="1765393"/>
            <a:ext cx="1360200" cy="391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l">
              <a:spcBef>
                <a:spcPts val="0"/>
              </a:spcBef>
              <a:spcAft>
                <a:spcPts val="0"/>
              </a:spcAft>
              <a:buNone/>
            </a:pPr>
            <a:r>
              <a:rPr lang="en-GB" sz="1600"/>
              <a:t>Kích hoạt()</a:t>
            </a:r>
            <a:endParaRPr sz="1600"/>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1" name="Shape 1981"/>
        <p:cNvGrpSpPr/>
        <p:nvPr/>
      </p:nvGrpSpPr>
      <p:grpSpPr>
        <a:xfrm>
          <a:off x="0" y="0"/>
          <a:ext cx="0" cy="0"/>
          <a:chOff x="0" y="0"/>
          <a:chExt cx="0" cy="0"/>
        </a:xfrm>
      </p:grpSpPr>
      <p:sp>
        <p:nvSpPr>
          <p:cNvPr id="1982" name="Google Shape;1982;p102"/>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Lệnh: </a:t>
            </a:r>
            <a:r>
              <a:rPr lang="en-GB"/>
              <a:t>Hành vi</a:t>
            </a:r>
            <a:endParaRPr/>
          </a:p>
        </p:txBody>
      </p:sp>
      <p:sp>
        <p:nvSpPr>
          <p:cNvPr id="1983" name="Google Shape;1983;p10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984" name="Google Shape;1984;p102"/>
          <p:cNvSpPr/>
          <p:nvPr/>
        </p:nvSpPr>
        <p:spPr>
          <a:xfrm>
            <a:off x="1359258" y="1445500"/>
            <a:ext cx="7986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u="sng"/>
              <a:t>:Khách</a:t>
            </a:r>
            <a:endParaRPr sz="1600" u="sng"/>
          </a:p>
        </p:txBody>
      </p:sp>
      <p:cxnSp>
        <p:nvCxnSpPr>
          <p:cNvPr id="1985" name="Google Shape;1985;p102"/>
          <p:cNvCxnSpPr/>
          <p:nvPr/>
        </p:nvCxnSpPr>
        <p:spPr>
          <a:xfrm>
            <a:off x="1765675" y="1768000"/>
            <a:ext cx="0" cy="3024600"/>
          </a:xfrm>
          <a:prstGeom prst="straightConnector1">
            <a:avLst/>
          </a:prstGeom>
          <a:noFill/>
          <a:ln cap="flat" cmpd="sng" w="9525">
            <a:solidFill>
              <a:schemeClr val="dk2"/>
            </a:solidFill>
            <a:prstDash val="dash"/>
            <a:round/>
            <a:headEnd len="med" w="med" type="none"/>
            <a:tailEnd len="med" w="med" type="none"/>
          </a:ln>
        </p:spPr>
      </p:cxnSp>
      <p:sp>
        <p:nvSpPr>
          <p:cNvPr id="1986" name="Google Shape;1986;p102"/>
          <p:cNvSpPr/>
          <p:nvPr/>
        </p:nvSpPr>
        <p:spPr>
          <a:xfrm>
            <a:off x="2958676" y="1445500"/>
            <a:ext cx="15306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u="sng"/>
              <a:t>:</a:t>
            </a:r>
            <a:r>
              <a:rPr lang="en-GB" sz="1600" u="sng"/>
              <a:t>Lớp kích hoạt</a:t>
            </a:r>
            <a:endParaRPr sz="1600" u="sng"/>
          </a:p>
        </p:txBody>
      </p:sp>
      <p:cxnSp>
        <p:nvCxnSpPr>
          <p:cNvPr id="1987" name="Google Shape;1987;p102"/>
          <p:cNvCxnSpPr/>
          <p:nvPr/>
        </p:nvCxnSpPr>
        <p:spPr>
          <a:xfrm>
            <a:off x="3823075" y="1768000"/>
            <a:ext cx="0" cy="3024600"/>
          </a:xfrm>
          <a:prstGeom prst="straightConnector1">
            <a:avLst/>
          </a:prstGeom>
          <a:noFill/>
          <a:ln cap="flat" cmpd="sng" w="9525">
            <a:solidFill>
              <a:schemeClr val="dk2"/>
            </a:solidFill>
            <a:prstDash val="dash"/>
            <a:round/>
            <a:headEnd len="med" w="med" type="none"/>
            <a:tailEnd len="med" w="med" type="none"/>
          </a:ln>
        </p:spPr>
      </p:cxnSp>
      <p:sp>
        <p:nvSpPr>
          <p:cNvPr id="1988" name="Google Shape;1988;p102"/>
          <p:cNvSpPr/>
          <p:nvPr/>
        </p:nvSpPr>
        <p:spPr>
          <a:xfrm>
            <a:off x="4967651" y="1445500"/>
            <a:ext cx="15027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u="sng"/>
              <a:t>c</a:t>
            </a:r>
            <a:r>
              <a:rPr lang="en-GB" sz="1600" u="sng"/>
              <a:t>:</a:t>
            </a:r>
            <a:r>
              <a:rPr lang="en-GB" sz="1600" u="sng"/>
              <a:t>Lệnh cụ thể</a:t>
            </a:r>
            <a:endParaRPr sz="1600" u="sng"/>
          </a:p>
        </p:txBody>
      </p:sp>
      <p:cxnSp>
        <p:nvCxnSpPr>
          <p:cNvPr id="1989" name="Google Shape;1989;p102"/>
          <p:cNvCxnSpPr/>
          <p:nvPr/>
        </p:nvCxnSpPr>
        <p:spPr>
          <a:xfrm>
            <a:off x="5804275" y="1768000"/>
            <a:ext cx="0" cy="3024600"/>
          </a:xfrm>
          <a:prstGeom prst="straightConnector1">
            <a:avLst/>
          </a:prstGeom>
          <a:noFill/>
          <a:ln cap="flat" cmpd="sng" w="9525">
            <a:solidFill>
              <a:schemeClr val="dk2"/>
            </a:solidFill>
            <a:prstDash val="dash"/>
            <a:round/>
            <a:headEnd len="med" w="med" type="none"/>
            <a:tailEnd len="med" w="med" type="none"/>
          </a:ln>
        </p:spPr>
      </p:cxnSp>
      <p:cxnSp>
        <p:nvCxnSpPr>
          <p:cNvPr id="1990" name="Google Shape;1990;p102"/>
          <p:cNvCxnSpPr/>
          <p:nvPr/>
        </p:nvCxnSpPr>
        <p:spPr>
          <a:xfrm>
            <a:off x="1768500" y="2251300"/>
            <a:ext cx="3923400" cy="0"/>
          </a:xfrm>
          <a:prstGeom prst="straightConnector1">
            <a:avLst/>
          </a:prstGeom>
          <a:noFill/>
          <a:ln cap="flat" cmpd="sng" w="9525">
            <a:solidFill>
              <a:schemeClr val="dk2"/>
            </a:solidFill>
            <a:prstDash val="solid"/>
            <a:round/>
            <a:headEnd len="med" w="med" type="none"/>
            <a:tailEnd len="med" w="med" type="triangle"/>
          </a:ln>
        </p:spPr>
      </p:cxnSp>
      <p:sp>
        <p:nvSpPr>
          <p:cNvPr id="1991" name="Google Shape;1991;p102"/>
          <p:cNvSpPr txBox="1"/>
          <p:nvPr/>
        </p:nvSpPr>
        <p:spPr>
          <a:xfrm>
            <a:off x="2243348" y="1911075"/>
            <a:ext cx="2724300" cy="39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Thiết lập phương tiện thực thi</a:t>
            </a:r>
            <a:r>
              <a:rPr lang="en-GB">
                <a:solidFill>
                  <a:schemeClr val="dk2"/>
                </a:solidFill>
              </a:rPr>
              <a:t>(</a:t>
            </a:r>
            <a:r>
              <a:rPr lang="en-GB">
                <a:solidFill>
                  <a:schemeClr val="dk2"/>
                </a:solidFill>
              </a:rPr>
              <a:t>r</a:t>
            </a:r>
            <a:r>
              <a:rPr lang="en-GB">
                <a:solidFill>
                  <a:schemeClr val="dk2"/>
                </a:solidFill>
              </a:rPr>
              <a:t>)</a:t>
            </a:r>
            <a:endParaRPr>
              <a:solidFill>
                <a:schemeClr val="dk2"/>
              </a:solidFill>
            </a:endParaRPr>
          </a:p>
        </p:txBody>
      </p:sp>
      <p:sp>
        <p:nvSpPr>
          <p:cNvPr id="1992" name="Google Shape;1992;p102"/>
          <p:cNvSpPr/>
          <p:nvPr/>
        </p:nvSpPr>
        <p:spPr>
          <a:xfrm>
            <a:off x="5716275" y="2130024"/>
            <a:ext cx="159600" cy="457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93" name="Google Shape;1993;p102"/>
          <p:cNvSpPr/>
          <p:nvPr/>
        </p:nvSpPr>
        <p:spPr>
          <a:xfrm>
            <a:off x="6838850" y="1445500"/>
            <a:ext cx="14604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u="sng"/>
              <a:t>r</a:t>
            </a:r>
            <a:r>
              <a:rPr lang="en-GB" sz="1600" u="sng"/>
              <a:t>:</a:t>
            </a:r>
            <a:r>
              <a:rPr lang="en-GB" sz="1600" u="sng"/>
              <a:t>Lớp thực thi</a:t>
            </a:r>
            <a:endParaRPr sz="1600" u="sng"/>
          </a:p>
        </p:txBody>
      </p:sp>
      <p:cxnSp>
        <p:nvCxnSpPr>
          <p:cNvPr id="1994" name="Google Shape;1994;p102"/>
          <p:cNvCxnSpPr/>
          <p:nvPr/>
        </p:nvCxnSpPr>
        <p:spPr>
          <a:xfrm>
            <a:off x="7633075" y="1768000"/>
            <a:ext cx="0" cy="3024600"/>
          </a:xfrm>
          <a:prstGeom prst="straightConnector1">
            <a:avLst/>
          </a:prstGeom>
          <a:noFill/>
          <a:ln cap="flat" cmpd="sng" w="9525">
            <a:solidFill>
              <a:schemeClr val="dk2"/>
            </a:solidFill>
            <a:prstDash val="dash"/>
            <a:round/>
            <a:headEnd len="med" w="med" type="none"/>
            <a:tailEnd len="med" w="med" type="none"/>
          </a:ln>
        </p:spPr>
      </p:cxnSp>
      <p:sp>
        <p:nvSpPr>
          <p:cNvPr id="1995" name="Google Shape;1995;p102"/>
          <p:cNvSpPr/>
          <p:nvPr/>
        </p:nvSpPr>
        <p:spPr>
          <a:xfrm>
            <a:off x="3735075" y="2739624"/>
            <a:ext cx="159600" cy="457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996" name="Google Shape;1996;p102"/>
          <p:cNvCxnSpPr/>
          <p:nvPr/>
        </p:nvCxnSpPr>
        <p:spPr>
          <a:xfrm>
            <a:off x="1509300" y="2860900"/>
            <a:ext cx="2206200" cy="0"/>
          </a:xfrm>
          <a:prstGeom prst="straightConnector1">
            <a:avLst/>
          </a:prstGeom>
          <a:noFill/>
          <a:ln cap="flat" cmpd="sng" w="9525">
            <a:solidFill>
              <a:schemeClr val="dk2"/>
            </a:solidFill>
            <a:prstDash val="solid"/>
            <a:round/>
            <a:headEnd len="med" w="med" type="none"/>
            <a:tailEnd len="med" w="med" type="triangle"/>
          </a:ln>
        </p:spPr>
      </p:cxnSp>
      <p:sp>
        <p:nvSpPr>
          <p:cNvPr id="1997" name="Google Shape;1997;p102"/>
          <p:cNvSpPr txBox="1"/>
          <p:nvPr/>
        </p:nvSpPr>
        <p:spPr>
          <a:xfrm>
            <a:off x="1938549" y="2520675"/>
            <a:ext cx="1789500" cy="39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Thiết lập </a:t>
            </a:r>
            <a:r>
              <a:rPr lang="en-GB">
                <a:solidFill>
                  <a:schemeClr val="dk2"/>
                </a:solidFill>
              </a:rPr>
              <a:t>lệnh</a:t>
            </a:r>
            <a:r>
              <a:rPr lang="en-GB">
                <a:solidFill>
                  <a:schemeClr val="dk2"/>
                </a:solidFill>
              </a:rPr>
              <a:t>(</a:t>
            </a:r>
            <a:r>
              <a:rPr lang="en-GB">
                <a:solidFill>
                  <a:schemeClr val="dk2"/>
                </a:solidFill>
              </a:rPr>
              <a:t>c</a:t>
            </a:r>
            <a:r>
              <a:rPr lang="en-GB">
                <a:solidFill>
                  <a:schemeClr val="dk2"/>
                </a:solidFill>
              </a:rPr>
              <a:t>)</a:t>
            </a:r>
            <a:endParaRPr>
              <a:solidFill>
                <a:schemeClr val="dk2"/>
              </a:solidFill>
            </a:endParaRPr>
          </a:p>
        </p:txBody>
      </p:sp>
      <p:sp>
        <p:nvSpPr>
          <p:cNvPr id="1998" name="Google Shape;1998;p102"/>
          <p:cNvSpPr/>
          <p:nvPr/>
        </p:nvSpPr>
        <p:spPr>
          <a:xfrm>
            <a:off x="3735075" y="3425425"/>
            <a:ext cx="159600" cy="1047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99" name="Google Shape;1999;p102"/>
          <p:cNvSpPr/>
          <p:nvPr/>
        </p:nvSpPr>
        <p:spPr>
          <a:xfrm>
            <a:off x="1419458" y="2802492"/>
            <a:ext cx="119700" cy="1197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000" name="Google Shape;2000;p102"/>
          <p:cNvCxnSpPr/>
          <p:nvPr/>
        </p:nvCxnSpPr>
        <p:spPr>
          <a:xfrm>
            <a:off x="1778825" y="3546700"/>
            <a:ext cx="1936800" cy="0"/>
          </a:xfrm>
          <a:prstGeom prst="straightConnector1">
            <a:avLst/>
          </a:prstGeom>
          <a:noFill/>
          <a:ln cap="flat" cmpd="sng" w="9525">
            <a:solidFill>
              <a:schemeClr val="dk2"/>
            </a:solidFill>
            <a:prstDash val="solid"/>
            <a:round/>
            <a:headEnd len="med" w="med" type="none"/>
            <a:tailEnd len="med" w="med" type="triangle"/>
          </a:ln>
        </p:spPr>
      </p:cxnSp>
      <p:sp>
        <p:nvSpPr>
          <p:cNvPr id="2001" name="Google Shape;2001;p102"/>
          <p:cNvSpPr txBox="1"/>
          <p:nvPr/>
        </p:nvSpPr>
        <p:spPr>
          <a:xfrm>
            <a:off x="1938549" y="3206475"/>
            <a:ext cx="1789500" cy="39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Thực hiện</a:t>
            </a:r>
            <a:r>
              <a:rPr lang="en-GB">
                <a:solidFill>
                  <a:schemeClr val="dk2"/>
                </a:solidFill>
              </a:rPr>
              <a:t>()</a:t>
            </a:r>
            <a:endParaRPr>
              <a:solidFill>
                <a:schemeClr val="dk2"/>
              </a:solidFill>
            </a:endParaRPr>
          </a:p>
        </p:txBody>
      </p:sp>
      <p:sp>
        <p:nvSpPr>
          <p:cNvPr id="2002" name="Google Shape;2002;p102"/>
          <p:cNvSpPr/>
          <p:nvPr/>
        </p:nvSpPr>
        <p:spPr>
          <a:xfrm>
            <a:off x="5716275" y="3654024"/>
            <a:ext cx="159600" cy="457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003" name="Google Shape;2003;p102"/>
          <p:cNvCxnSpPr/>
          <p:nvPr/>
        </p:nvCxnSpPr>
        <p:spPr>
          <a:xfrm>
            <a:off x="3885150" y="3775300"/>
            <a:ext cx="1811700" cy="0"/>
          </a:xfrm>
          <a:prstGeom prst="straightConnector1">
            <a:avLst/>
          </a:prstGeom>
          <a:noFill/>
          <a:ln cap="flat" cmpd="sng" w="9525">
            <a:solidFill>
              <a:schemeClr val="dk2"/>
            </a:solidFill>
            <a:prstDash val="solid"/>
            <a:round/>
            <a:headEnd len="med" w="med" type="none"/>
            <a:tailEnd len="med" w="med" type="triangle"/>
          </a:ln>
        </p:spPr>
      </p:cxnSp>
      <p:sp>
        <p:nvSpPr>
          <p:cNvPr id="2004" name="Google Shape;2004;p102"/>
          <p:cNvSpPr txBox="1"/>
          <p:nvPr/>
        </p:nvSpPr>
        <p:spPr>
          <a:xfrm>
            <a:off x="4224550" y="3435075"/>
            <a:ext cx="1140000" cy="39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Thực hiện()</a:t>
            </a:r>
            <a:endParaRPr>
              <a:solidFill>
                <a:schemeClr val="dk2"/>
              </a:solidFill>
            </a:endParaRPr>
          </a:p>
        </p:txBody>
      </p:sp>
      <p:sp>
        <p:nvSpPr>
          <p:cNvPr id="2005" name="Google Shape;2005;p102"/>
          <p:cNvSpPr/>
          <p:nvPr/>
        </p:nvSpPr>
        <p:spPr>
          <a:xfrm>
            <a:off x="7545075" y="3806424"/>
            <a:ext cx="159600" cy="457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006" name="Google Shape;2006;p102"/>
          <p:cNvCxnSpPr/>
          <p:nvPr/>
        </p:nvCxnSpPr>
        <p:spPr>
          <a:xfrm>
            <a:off x="5871675" y="4003900"/>
            <a:ext cx="1653900" cy="0"/>
          </a:xfrm>
          <a:prstGeom prst="straightConnector1">
            <a:avLst/>
          </a:prstGeom>
          <a:noFill/>
          <a:ln cap="flat" cmpd="sng" w="9525">
            <a:solidFill>
              <a:schemeClr val="dk2"/>
            </a:solidFill>
            <a:prstDash val="solid"/>
            <a:round/>
            <a:headEnd len="med" w="med" type="none"/>
            <a:tailEnd len="med" w="med" type="triangle"/>
          </a:ln>
        </p:spPr>
      </p:cxnSp>
      <p:sp>
        <p:nvSpPr>
          <p:cNvPr id="2007" name="Google Shape;2007;p102"/>
          <p:cNvSpPr txBox="1"/>
          <p:nvPr/>
        </p:nvSpPr>
        <p:spPr>
          <a:xfrm>
            <a:off x="6098213" y="3663675"/>
            <a:ext cx="1247400" cy="39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Hành động</a:t>
            </a:r>
            <a:r>
              <a:rPr lang="en-GB">
                <a:solidFill>
                  <a:schemeClr val="dk2"/>
                </a:solidFill>
              </a:rPr>
              <a:t>()</a:t>
            </a:r>
            <a:endParaRPr>
              <a:solidFill>
                <a:schemeClr val="dk2"/>
              </a:solidFill>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1" name="Shape 2011"/>
        <p:cNvGrpSpPr/>
        <p:nvPr/>
      </p:nvGrpSpPr>
      <p:grpSpPr>
        <a:xfrm>
          <a:off x="0" y="0"/>
          <a:ext cx="0" cy="0"/>
          <a:chOff x="0" y="0"/>
          <a:chExt cx="0" cy="0"/>
        </a:xfrm>
      </p:grpSpPr>
      <p:sp>
        <p:nvSpPr>
          <p:cNvPr id="2012" name="Google Shape;2012;p103"/>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Lệnh: Các hệ quả</a:t>
            </a:r>
            <a:endParaRPr/>
          </a:p>
        </p:txBody>
      </p:sp>
      <p:sp>
        <p:nvSpPr>
          <p:cNvPr id="2013" name="Google Shape;2013;p10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2014" name="Google Shape;2014;p103"/>
          <p:cNvSpPr txBox="1"/>
          <p:nvPr>
            <p:ph idx="1" type="body"/>
          </p:nvPr>
        </p:nvSpPr>
        <p:spPr>
          <a:xfrm>
            <a:off x="311700" y="950475"/>
            <a:ext cx="8520600" cy="54183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Lệnh phân tách đối tượng kích hoạt thao tác và đối tượng biết cách thực hiện thao tác.</a:t>
            </a:r>
            <a:endParaRPr/>
          </a:p>
          <a:p>
            <a:pPr indent="-381000" lvl="0" marL="457200" rtl="0" algn="l">
              <a:spcBef>
                <a:spcPts val="0"/>
              </a:spcBef>
              <a:spcAft>
                <a:spcPts val="0"/>
              </a:spcAft>
              <a:buSzPts val="2400"/>
              <a:buChar char="●"/>
            </a:pPr>
            <a:r>
              <a:rPr lang="en-GB"/>
              <a:t>Lệnh được đóng gói trong đối tượng, có thể được hiệu chỉnh và mở rộng như những đối tượng khác.</a:t>
            </a:r>
            <a:endParaRPr/>
          </a:p>
          <a:p>
            <a:pPr indent="-381000" lvl="0" marL="457200" rtl="0" algn="l">
              <a:spcBef>
                <a:spcPts val="0"/>
              </a:spcBef>
              <a:spcAft>
                <a:spcPts val="0"/>
              </a:spcAft>
              <a:buSzPts val="2400"/>
              <a:buChar char="●"/>
            </a:pPr>
            <a:r>
              <a:rPr lang="en-GB"/>
              <a:t>Có thể lắp ráp các lệnh thành tổ hợp lệnh. Lệnh kết hợp là một trường hợp của mẫu hợp chất.</a:t>
            </a:r>
            <a:endParaRPr/>
          </a:p>
          <a:p>
            <a:pPr indent="-381000" lvl="0" marL="457200" rtl="0" algn="l">
              <a:spcBef>
                <a:spcPts val="0"/>
              </a:spcBef>
              <a:spcAft>
                <a:spcPts val="0"/>
              </a:spcAft>
              <a:buSzPts val="2400"/>
              <a:buChar char="●"/>
            </a:pPr>
            <a:r>
              <a:rPr lang="en-GB"/>
              <a:t>Dễ bổ xung lệnh mới vì không cần thay đổi các lớp đang có.</a:t>
            </a:r>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8" name="Shape 2018"/>
        <p:cNvGrpSpPr/>
        <p:nvPr/>
      </p:nvGrpSpPr>
      <p:grpSpPr>
        <a:xfrm>
          <a:off x="0" y="0"/>
          <a:ext cx="0" cy="0"/>
          <a:chOff x="0" y="0"/>
          <a:chExt cx="0" cy="0"/>
        </a:xfrm>
      </p:grpSpPr>
      <p:sp>
        <p:nvSpPr>
          <p:cNvPr id="2019" name="Google Shape;2019;p104"/>
          <p:cNvSpPr/>
          <p:nvPr/>
        </p:nvSpPr>
        <p:spPr>
          <a:xfrm flipH="1" rot="10800000">
            <a:off x="2447025" y="5097800"/>
            <a:ext cx="2634900" cy="1109100"/>
          </a:xfrm>
          <a:prstGeom prst="foldedCorner">
            <a:avLst>
              <a:gd fmla="val 25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0" name="Google Shape;2020;p104"/>
          <p:cNvSpPr/>
          <p:nvPr/>
        </p:nvSpPr>
        <p:spPr>
          <a:xfrm flipH="1" rot="10800000">
            <a:off x="6714225" y="3878625"/>
            <a:ext cx="2025900" cy="658500"/>
          </a:xfrm>
          <a:prstGeom prst="foldedCorner">
            <a:avLst>
              <a:gd fmla="val 25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1" name="Google Shape;2021;p104"/>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17. Menu chương trình</a:t>
            </a:r>
            <a:endParaRPr/>
          </a:p>
        </p:txBody>
      </p:sp>
      <p:sp>
        <p:nvSpPr>
          <p:cNvPr id="2022" name="Google Shape;2022;p10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2023" name="Google Shape;2023;p104"/>
          <p:cNvSpPr/>
          <p:nvPr/>
        </p:nvSpPr>
        <p:spPr>
          <a:xfrm>
            <a:off x="2448650" y="1070400"/>
            <a:ext cx="1360200" cy="391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Menu</a:t>
            </a:r>
            <a:endParaRPr sz="1600"/>
          </a:p>
        </p:txBody>
      </p:sp>
      <p:sp>
        <p:nvSpPr>
          <p:cNvPr id="2024" name="Google Shape;2024;p104"/>
          <p:cNvSpPr/>
          <p:nvPr/>
        </p:nvSpPr>
        <p:spPr>
          <a:xfrm>
            <a:off x="4677037" y="1105525"/>
            <a:ext cx="13602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MenuItem</a:t>
            </a:r>
            <a:endParaRPr sz="1600"/>
          </a:p>
        </p:txBody>
      </p:sp>
      <p:sp>
        <p:nvSpPr>
          <p:cNvPr id="2025" name="Google Shape;2025;p104"/>
          <p:cNvSpPr/>
          <p:nvPr/>
        </p:nvSpPr>
        <p:spPr>
          <a:xfrm>
            <a:off x="4677025" y="1427750"/>
            <a:ext cx="1360200" cy="3915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lang="en-GB" sz="1600"/>
              <a:t>C</a:t>
            </a:r>
            <a:r>
              <a:rPr lang="en-GB" sz="1600"/>
              <a:t>l</a:t>
            </a:r>
            <a:r>
              <a:rPr lang="en-GB" sz="1600"/>
              <a:t>icked</a:t>
            </a:r>
            <a:r>
              <a:rPr lang="en-GB" sz="1600"/>
              <a:t>()</a:t>
            </a:r>
            <a:endParaRPr sz="1600"/>
          </a:p>
        </p:txBody>
      </p:sp>
      <p:sp>
        <p:nvSpPr>
          <p:cNvPr id="2026" name="Google Shape;2026;p104"/>
          <p:cNvSpPr/>
          <p:nvPr/>
        </p:nvSpPr>
        <p:spPr>
          <a:xfrm>
            <a:off x="558800" y="1049150"/>
            <a:ext cx="1438800" cy="4380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Application</a:t>
            </a:r>
            <a:endParaRPr sz="1600"/>
          </a:p>
        </p:txBody>
      </p:sp>
      <p:sp>
        <p:nvSpPr>
          <p:cNvPr id="2027" name="Google Shape;2027;p104"/>
          <p:cNvSpPr/>
          <p:nvPr/>
        </p:nvSpPr>
        <p:spPr>
          <a:xfrm>
            <a:off x="997535" y="2853317"/>
            <a:ext cx="12255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Document</a:t>
            </a:r>
            <a:endParaRPr sz="1600"/>
          </a:p>
        </p:txBody>
      </p:sp>
      <p:sp>
        <p:nvSpPr>
          <p:cNvPr id="2028" name="Google Shape;2028;p104"/>
          <p:cNvSpPr/>
          <p:nvPr/>
        </p:nvSpPr>
        <p:spPr>
          <a:xfrm>
            <a:off x="997525" y="3175544"/>
            <a:ext cx="1225500" cy="13659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lang="en-GB" sz="1600"/>
              <a:t>Open</a:t>
            </a:r>
            <a:r>
              <a:rPr lang="en-GB" sz="1600"/>
              <a:t>()</a:t>
            </a:r>
            <a:endParaRPr sz="1600"/>
          </a:p>
          <a:p>
            <a:pPr indent="0" lvl="0" marL="0" rtl="0" algn="l">
              <a:spcBef>
                <a:spcPts val="0"/>
              </a:spcBef>
              <a:spcAft>
                <a:spcPts val="0"/>
              </a:spcAft>
              <a:buNone/>
            </a:pPr>
            <a:r>
              <a:rPr lang="en-GB" sz="1600"/>
              <a:t>Close()</a:t>
            </a:r>
            <a:endParaRPr sz="1600"/>
          </a:p>
          <a:p>
            <a:pPr indent="0" lvl="0" marL="0" rtl="0" algn="l">
              <a:spcBef>
                <a:spcPts val="0"/>
              </a:spcBef>
              <a:spcAft>
                <a:spcPts val="0"/>
              </a:spcAft>
              <a:buNone/>
            </a:pPr>
            <a:r>
              <a:rPr lang="en-GB" sz="1600"/>
              <a:t>Cut()</a:t>
            </a:r>
            <a:endParaRPr sz="1600"/>
          </a:p>
          <a:p>
            <a:pPr indent="0" lvl="0" marL="0" rtl="0" algn="l">
              <a:spcBef>
                <a:spcPts val="0"/>
              </a:spcBef>
              <a:spcAft>
                <a:spcPts val="0"/>
              </a:spcAft>
              <a:buNone/>
            </a:pPr>
            <a:r>
              <a:rPr lang="en-GB" sz="1600"/>
              <a:t>Copy()</a:t>
            </a:r>
            <a:endParaRPr sz="1600"/>
          </a:p>
          <a:p>
            <a:pPr indent="0" lvl="0" marL="0" rtl="0" algn="l">
              <a:spcBef>
                <a:spcPts val="0"/>
              </a:spcBef>
              <a:spcAft>
                <a:spcPts val="0"/>
              </a:spcAft>
              <a:buNone/>
            </a:pPr>
            <a:r>
              <a:rPr lang="en-GB" sz="1600"/>
              <a:t>Paste()</a:t>
            </a:r>
            <a:endParaRPr sz="1600"/>
          </a:p>
        </p:txBody>
      </p:sp>
      <p:sp>
        <p:nvSpPr>
          <p:cNvPr id="2029" name="Google Shape;2029;p104"/>
          <p:cNvSpPr/>
          <p:nvPr/>
        </p:nvSpPr>
        <p:spPr>
          <a:xfrm>
            <a:off x="3811062" y="1209635"/>
            <a:ext cx="191700" cy="117050"/>
          </a:xfrm>
          <a:prstGeom prst="flowChartDecision">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030" name="Google Shape;2030;p104"/>
          <p:cNvCxnSpPr>
            <a:stCxn id="2029" idx="3"/>
            <a:endCxn id="2024" idx="1"/>
          </p:cNvCxnSpPr>
          <p:nvPr/>
        </p:nvCxnSpPr>
        <p:spPr>
          <a:xfrm flipH="1" rot="10800000">
            <a:off x="4002762" y="1266660"/>
            <a:ext cx="674400" cy="1500"/>
          </a:xfrm>
          <a:prstGeom prst="straightConnector1">
            <a:avLst/>
          </a:prstGeom>
          <a:noFill/>
          <a:ln cap="flat" cmpd="sng" w="9525">
            <a:solidFill>
              <a:schemeClr val="dk2"/>
            </a:solidFill>
            <a:prstDash val="solid"/>
            <a:round/>
            <a:headEnd len="med" w="med" type="none"/>
            <a:tailEnd len="med" w="med" type="triangle"/>
          </a:ln>
        </p:spPr>
      </p:cxnSp>
      <p:sp>
        <p:nvSpPr>
          <p:cNvPr id="2031" name="Google Shape;2031;p104"/>
          <p:cNvSpPr/>
          <p:nvPr/>
        </p:nvSpPr>
        <p:spPr>
          <a:xfrm flipH="1" rot="10800000">
            <a:off x="2294625" y="1731091"/>
            <a:ext cx="1943100" cy="371400"/>
          </a:xfrm>
          <a:prstGeom prst="foldedCorner">
            <a:avLst>
              <a:gd fmla="val 25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2" name="Google Shape;2032;p104"/>
          <p:cNvSpPr txBox="1"/>
          <p:nvPr/>
        </p:nvSpPr>
        <p:spPr>
          <a:xfrm>
            <a:off x="2294625" y="1731128"/>
            <a:ext cx="1943100" cy="391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GB"/>
              <a:t>command-&gt;Execute()</a:t>
            </a:r>
            <a:endParaRPr/>
          </a:p>
        </p:txBody>
      </p:sp>
      <p:sp>
        <p:nvSpPr>
          <p:cNvPr id="2033" name="Google Shape;2033;p104"/>
          <p:cNvSpPr/>
          <p:nvPr/>
        </p:nvSpPr>
        <p:spPr>
          <a:xfrm>
            <a:off x="4577075" y="1571327"/>
            <a:ext cx="81900" cy="104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034" name="Google Shape;2034;p104"/>
          <p:cNvCxnSpPr>
            <a:stCxn id="2033" idx="3"/>
            <a:endCxn id="2032" idx="3"/>
          </p:cNvCxnSpPr>
          <p:nvPr/>
        </p:nvCxnSpPr>
        <p:spPr>
          <a:xfrm flipH="1">
            <a:off x="4237769" y="1660694"/>
            <a:ext cx="351300" cy="266100"/>
          </a:xfrm>
          <a:prstGeom prst="straightConnector1">
            <a:avLst/>
          </a:prstGeom>
          <a:noFill/>
          <a:ln cap="flat" cmpd="sng" w="9525">
            <a:solidFill>
              <a:schemeClr val="dk2"/>
            </a:solidFill>
            <a:prstDash val="dash"/>
            <a:round/>
            <a:headEnd len="med" w="med" type="none"/>
            <a:tailEnd len="med" w="med" type="none"/>
          </a:ln>
        </p:spPr>
      </p:cxnSp>
      <p:cxnSp>
        <p:nvCxnSpPr>
          <p:cNvPr id="2035" name="Google Shape;2035;p104"/>
          <p:cNvCxnSpPr>
            <a:stCxn id="2026" idx="3"/>
            <a:endCxn id="2023" idx="1"/>
          </p:cNvCxnSpPr>
          <p:nvPr/>
        </p:nvCxnSpPr>
        <p:spPr>
          <a:xfrm flipH="1" rot="10800000">
            <a:off x="1997600" y="1266050"/>
            <a:ext cx="451200" cy="2100"/>
          </a:xfrm>
          <a:prstGeom prst="straightConnector1">
            <a:avLst/>
          </a:prstGeom>
          <a:noFill/>
          <a:ln cap="flat" cmpd="sng" w="9525">
            <a:solidFill>
              <a:schemeClr val="dk2"/>
            </a:solidFill>
            <a:prstDash val="dash"/>
            <a:round/>
            <a:headEnd len="med" w="med" type="none"/>
            <a:tailEnd len="med" w="med" type="stealth"/>
          </a:ln>
        </p:spPr>
      </p:cxnSp>
      <p:sp>
        <p:nvSpPr>
          <p:cNvPr id="2036" name="Google Shape;2036;p104"/>
          <p:cNvSpPr/>
          <p:nvPr/>
        </p:nvSpPr>
        <p:spPr>
          <a:xfrm>
            <a:off x="6896820" y="1105525"/>
            <a:ext cx="13602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Command</a:t>
            </a:r>
            <a:endParaRPr sz="1600"/>
          </a:p>
        </p:txBody>
      </p:sp>
      <p:sp>
        <p:nvSpPr>
          <p:cNvPr id="2037" name="Google Shape;2037;p104"/>
          <p:cNvSpPr/>
          <p:nvPr/>
        </p:nvSpPr>
        <p:spPr>
          <a:xfrm>
            <a:off x="6896808" y="1427750"/>
            <a:ext cx="1360200" cy="3915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lang="en-GB" sz="1600"/>
              <a:t>Execute</a:t>
            </a:r>
            <a:r>
              <a:rPr lang="en-GB" sz="1600"/>
              <a:t>()</a:t>
            </a:r>
            <a:endParaRPr sz="1600"/>
          </a:p>
        </p:txBody>
      </p:sp>
      <p:sp>
        <p:nvSpPr>
          <p:cNvPr id="2038" name="Google Shape;2038;p104"/>
          <p:cNvSpPr/>
          <p:nvPr/>
        </p:nvSpPr>
        <p:spPr>
          <a:xfrm>
            <a:off x="6030844" y="1209635"/>
            <a:ext cx="191700" cy="117050"/>
          </a:xfrm>
          <a:prstGeom prst="flowChartDecision">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039" name="Google Shape;2039;p104"/>
          <p:cNvCxnSpPr>
            <a:stCxn id="2038" idx="3"/>
            <a:endCxn id="2036" idx="1"/>
          </p:cNvCxnSpPr>
          <p:nvPr/>
        </p:nvCxnSpPr>
        <p:spPr>
          <a:xfrm flipH="1" rot="10800000">
            <a:off x="6222544" y="1266660"/>
            <a:ext cx="674400" cy="1500"/>
          </a:xfrm>
          <a:prstGeom prst="straightConnector1">
            <a:avLst/>
          </a:prstGeom>
          <a:noFill/>
          <a:ln cap="flat" cmpd="sng" w="9525">
            <a:solidFill>
              <a:schemeClr val="dk2"/>
            </a:solidFill>
            <a:prstDash val="solid"/>
            <a:round/>
            <a:headEnd len="med" w="med" type="none"/>
            <a:tailEnd len="med" w="med" type="triangle"/>
          </a:ln>
        </p:spPr>
      </p:cxnSp>
      <p:sp>
        <p:nvSpPr>
          <p:cNvPr id="2040" name="Google Shape;2040;p104"/>
          <p:cNvSpPr/>
          <p:nvPr/>
        </p:nvSpPr>
        <p:spPr>
          <a:xfrm>
            <a:off x="3103864" y="2858100"/>
            <a:ext cx="15948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PasteCommand</a:t>
            </a:r>
            <a:endParaRPr sz="1600"/>
          </a:p>
        </p:txBody>
      </p:sp>
      <p:sp>
        <p:nvSpPr>
          <p:cNvPr id="2041" name="Google Shape;2041;p104"/>
          <p:cNvSpPr/>
          <p:nvPr/>
        </p:nvSpPr>
        <p:spPr>
          <a:xfrm>
            <a:off x="3103850" y="3180325"/>
            <a:ext cx="1594800" cy="3915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lang="en-GB" sz="1600"/>
              <a:t>Execute</a:t>
            </a:r>
            <a:r>
              <a:rPr lang="en-GB" sz="1600"/>
              <a:t>()</a:t>
            </a:r>
            <a:endParaRPr sz="1600"/>
          </a:p>
        </p:txBody>
      </p:sp>
      <p:sp>
        <p:nvSpPr>
          <p:cNvPr id="2042" name="Google Shape;2042;p104"/>
          <p:cNvSpPr/>
          <p:nvPr/>
        </p:nvSpPr>
        <p:spPr>
          <a:xfrm>
            <a:off x="4932664" y="2858100"/>
            <a:ext cx="15948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Open</a:t>
            </a:r>
            <a:r>
              <a:rPr lang="en-GB" sz="1600"/>
              <a:t>Command</a:t>
            </a:r>
            <a:endParaRPr sz="1600"/>
          </a:p>
        </p:txBody>
      </p:sp>
      <p:sp>
        <p:nvSpPr>
          <p:cNvPr id="2043" name="Google Shape;2043;p104"/>
          <p:cNvSpPr/>
          <p:nvPr/>
        </p:nvSpPr>
        <p:spPr>
          <a:xfrm>
            <a:off x="4932650" y="3180325"/>
            <a:ext cx="1594800" cy="7635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lang="en-GB" sz="1600"/>
              <a:t>E</a:t>
            </a:r>
            <a:r>
              <a:rPr lang="en-GB" sz="1600"/>
              <a:t>xecute()</a:t>
            </a:r>
            <a:endParaRPr sz="1600"/>
          </a:p>
          <a:p>
            <a:pPr indent="0" lvl="0" marL="0" rtl="0" algn="l">
              <a:spcBef>
                <a:spcPts val="0"/>
              </a:spcBef>
              <a:spcAft>
                <a:spcPts val="0"/>
              </a:spcAft>
              <a:buNone/>
            </a:pPr>
            <a:r>
              <a:rPr lang="en-GB" sz="1600"/>
              <a:t>AskName()</a:t>
            </a:r>
            <a:endParaRPr sz="1600"/>
          </a:p>
        </p:txBody>
      </p:sp>
      <p:sp>
        <p:nvSpPr>
          <p:cNvPr id="2044" name="Google Shape;2044;p104"/>
          <p:cNvSpPr/>
          <p:nvPr/>
        </p:nvSpPr>
        <p:spPr>
          <a:xfrm>
            <a:off x="6679265" y="2858100"/>
            <a:ext cx="16770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Macro</a:t>
            </a:r>
            <a:r>
              <a:rPr lang="en-GB" sz="1600"/>
              <a:t>Command</a:t>
            </a:r>
            <a:endParaRPr sz="1600"/>
          </a:p>
        </p:txBody>
      </p:sp>
      <p:sp>
        <p:nvSpPr>
          <p:cNvPr id="2045" name="Google Shape;2045;p104"/>
          <p:cNvSpPr/>
          <p:nvPr/>
        </p:nvSpPr>
        <p:spPr>
          <a:xfrm>
            <a:off x="6679251" y="3180325"/>
            <a:ext cx="1677000" cy="3915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lang="en-GB" sz="1600"/>
              <a:t>E</a:t>
            </a:r>
            <a:r>
              <a:rPr lang="en-GB" sz="1600"/>
              <a:t>xecute()</a:t>
            </a:r>
            <a:endParaRPr sz="1600"/>
          </a:p>
        </p:txBody>
      </p:sp>
      <p:sp>
        <p:nvSpPr>
          <p:cNvPr id="2046" name="Google Shape;2046;p104"/>
          <p:cNvSpPr/>
          <p:nvPr/>
        </p:nvSpPr>
        <p:spPr>
          <a:xfrm>
            <a:off x="8346792" y="2962235"/>
            <a:ext cx="191700" cy="117050"/>
          </a:xfrm>
          <a:prstGeom prst="flowChartDecision">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7" name="Google Shape;2047;p104"/>
          <p:cNvSpPr/>
          <p:nvPr/>
        </p:nvSpPr>
        <p:spPr>
          <a:xfrm>
            <a:off x="7035801" y="1812571"/>
            <a:ext cx="191700" cy="164700"/>
          </a:xfrm>
          <a:prstGeom prst="triangle">
            <a:avLst>
              <a:gd fmla="val 52679"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8" name="Google Shape;2048;p104"/>
          <p:cNvSpPr/>
          <p:nvPr/>
        </p:nvSpPr>
        <p:spPr>
          <a:xfrm>
            <a:off x="7416801" y="1812571"/>
            <a:ext cx="191700" cy="164700"/>
          </a:xfrm>
          <a:prstGeom prst="triangle">
            <a:avLst>
              <a:gd fmla="val 52679"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9" name="Google Shape;2049;p104"/>
          <p:cNvSpPr/>
          <p:nvPr/>
        </p:nvSpPr>
        <p:spPr>
          <a:xfrm>
            <a:off x="7797801" y="1812571"/>
            <a:ext cx="191700" cy="164700"/>
          </a:xfrm>
          <a:prstGeom prst="triangle">
            <a:avLst>
              <a:gd fmla="val 52679"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050" name="Google Shape;2050;p104"/>
          <p:cNvCxnSpPr>
            <a:stCxn id="2040" idx="0"/>
            <a:endCxn id="2047" idx="3"/>
          </p:cNvCxnSpPr>
          <p:nvPr/>
        </p:nvCxnSpPr>
        <p:spPr>
          <a:xfrm rot="-5400000">
            <a:off x="5078614" y="799950"/>
            <a:ext cx="880800" cy="3235500"/>
          </a:xfrm>
          <a:prstGeom prst="bentConnector3">
            <a:avLst>
              <a:gd fmla="val 50002" name="adj1"/>
            </a:avLst>
          </a:prstGeom>
          <a:noFill/>
          <a:ln cap="flat" cmpd="sng" w="9525">
            <a:solidFill>
              <a:schemeClr val="dk2"/>
            </a:solidFill>
            <a:prstDash val="solid"/>
            <a:round/>
            <a:headEnd len="med" w="med" type="none"/>
            <a:tailEnd len="med" w="med" type="none"/>
          </a:ln>
        </p:spPr>
      </p:cxnSp>
      <p:cxnSp>
        <p:nvCxnSpPr>
          <p:cNvPr id="2051" name="Google Shape;2051;p104"/>
          <p:cNvCxnSpPr>
            <a:stCxn id="2042" idx="0"/>
            <a:endCxn id="2048" idx="3"/>
          </p:cNvCxnSpPr>
          <p:nvPr/>
        </p:nvCxnSpPr>
        <p:spPr>
          <a:xfrm rot="-5400000">
            <a:off x="6183514" y="1523850"/>
            <a:ext cx="880800" cy="1787700"/>
          </a:xfrm>
          <a:prstGeom prst="bentConnector3">
            <a:avLst>
              <a:gd fmla="val 40389" name="adj1"/>
            </a:avLst>
          </a:prstGeom>
          <a:noFill/>
          <a:ln cap="flat" cmpd="sng" w="9525">
            <a:solidFill>
              <a:schemeClr val="dk2"/>
            </a:solidFill>
            <a:prstDash val="solid"/>
            <a:round/>
            <a:headEnd len="med" w="med" type="none"/>
            <a:tailEnd len="med" w="med" type="none"/>
          </a:ln>
        </p:spPr>
      </p:cxnSp>
      <p:cxnSp>
        <p:nvCxnSpPr>
          <p:cNvPr id="2052" name="Google Shape;2052;p104"/>
          <p:cNvCxnSpPr>
            <a:stCxn id="2044" idx="0"/>
            <a:endCxn id="2049" idx="3"/>
          </p:cNvCxnSpPr>
          <p:nvPr/>
        </p:nvCxnSpPr>
        <p:spPr>
          <a:xfrm rot="-5400000">
            <a:off x="7267865" y="2227200"/>
            <a:ext cx="880800" cy="381000"/>
          </a:xfrm>
          <a:prstGeom prst="bentConnector3">
            <a:avLst>
              <a:gd fmla="val 31321" name="adj1"/>
            </a:avLst>
          </a:prstGeom>
          <a:noFill/>
          <a:ln cap="flat" cmpd="sng" w="9525">
            <a:solidFill>
              <a:schemeClr val="dk2"/>
            </a:solidFill>
            <a:prstDash val="solid"/>
            <a:round/>
            <a:headEnd len="med" w="med" type="none"/>
            <a:tailEnd len="med" w="med" type="none"/>
          </a:ln>
        </p:spPr>
      </p:cxnSp>
      <p:cxnSp>
        <p:nvCxnSpPr>
          <p:cNvPr id="2053" name="Google Shape;2053;p104"/>
          <p:cNvCxnSpPr>
            <a:stCxn id="2036" idx="3"/>
            <a:endCxn id="2046" idx="3"/>
          </p:cNvCxnSpPr>
          <p:nvPr/>
        </p:nvCxnSpPr>
        <p:spPr>
          <a:xfrm>
            <a:off x="8257020" y="1266775"/>
            <a:ext cx="281400" cy="1754100"/>
          </a:xfrm>
          <a:prstGeom prst="bentConnector3">
            <a:avLst>
              <a:gd fmla="val 184647" name="adj1"/>
            </a:avLst>
          </a:prstGeom>
          <a:noFill/>
          <a:ln cap="flat" cmpd="sng" w="9525">
            <a:solidFill>
              <a:schemeClr val="dk2"/>
            </a:solidFill>
            <a:prstDash val="solid"/>
            <a:round/>
            <a:headEnd len="med" w="med" type="none"/>
            <a:tailEnd len="med" w="med" type="none"/>
          </a:ln>
        </p:spPr>
      </p:cxnSp>
      <p:cxnSp>
        <p:nvCxnSpPr>
          <p:cNvPr id="2054" name="Google Shape;2054;p104"/>
          <p:cNvCxnSpPr>
            <a:stCxn id="2040" idx="1"/>
            <a:endCxn id="2027" idx="3"/>
          </p:cNvCxnSpPr>
          <p:nvPr/>
        </p:nvCxnSpPr>
        <p:spPr>
          <a:xfrm rot="10800000">
            <a:off x="2223064" y="3014550"/>
            <a:ext cx="880800" cy="4800"/>
          </a:xfrm>
          <a:prstGeom prst="straightConnector1">
            <a:avLst/>
          </a:prstGeom>
          <a:noFill/>
          <a:ln cap="flat" cmpd="sng" w="9525">
            <a:solidFill>
              <a:schemeClr val="dk2"/>
            </a:solidFill>
            <a:prstDash val="solid"/>
            <a:round/>
            <a:headEnd len="med" w="med" type="none"/>
            <a:tailEnd len="med" w="med" type="stealth"/>
          </a:ln>
        </p:spPr>
      </p:cxnSp>
      <p:cxnSp>
        <p:nvCxnSpPr>
          <p:cNvPr id="2055" name="Google Shape;2055;p104"/>
          <p:cNvCxnSpPr>
            <a:stCxn id="2043" idx="2"/>
            <a:endCxn id="2026" idx="1"/>
          </p:cNvCxnSpPr>
          <p:nvPr/>
        </p:nvCxnSpPr>
        <p:spPr>
          <a:xfrm flipH="1" rot="5400000">
            <a:off x="1806650" y="20425"/>
            <a:ext cx="2675700" cy="5171100"/>
          </a:xfrm>
          <a:prstGeom prst="bentConnector4">
            <a:avLst>
              <a:gd fmla="val -34548" name="adj1"/>
              <a:gd fmla="val 104608" name="adj2"/>
            </a:avLst>
          </a:prstGeom>
          <a:noFill/>
          <a:ln cap="flat" cmpd="sng" w="9525">
            <a:solidFill>
              <a:schemeClr val="dk2"/>
            </a:solidFill>
            <a:prstDash val="solid"/>
            <a:round/>
            <a:headEnd len="med" w="med" type="none"/>
            <a:tailEnd len="med" w="med" type="stealth"/>
          </a:ln>
        </p:spPr>
      </p:cxnSp>
      <p:sp>
        <p:nvSpPr>
          <p:cNvPr id="2056" name="Google Shape;2056;p104"/>
          <p:cNvSpPr txBox="1"/>
          <p:nvPr/>
        </p:nvSpPr>
        <p:spPr>
          <a:xfrm>
            <a:off x="2536508" y="5102558"/>
            <a:ext cx="2475600" cy="100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name = AskName()</a:t>
            </a:r>
            <a:endParaRPr/>
          </a:p>
          <a:p>
            <a:pPr indent="0" lvl="0" marL="0" rtl="0" algn="l">
              <a:spcBef>
                <a:spcPts val="0"/>
              </a:spcBef>
              <a:spcAft>
                <a:spcPts val="0"/>
              </a:spcAft>
              <a:buNone/>
            </a:pPr>
            <a:r>
              <a:rPr lang="en-GB"/>
              <a:t>doc = new Document(name)</a:t>
            </a:r>
            <a:endParaRPr/>
          </a:p>
          <a:p>
            <a:pPr indent="0" lvl="0" marL="0" rtl="0" algn="l">
              <a:spcBef>
                <a:spcPts val="0"/>
              </a:spcBef>
              <a:spcAft>
                <a:spcPts val="0"/>
              </a:spcAft>
              <a:buNone/>
            </a:pPr>
            <a:r>
              <a:rPr lang="en-GB"/>
              <a:t>app-&gt;Add(doc)</a:t>
            </a:r>
            <a:endParaRPr/>
          </a:p>
          <a:p>
            <a:pPr indent="0" lvl="0" marL="0" rtl="0" algn="l">
              <a:spcBef>
                <a:spcPts val="0"/>
              </a:spcBef>
              <a:spcAft>
                <a:spcPts val="0"/>
              </a:spcAft>
              <a:buNone/>
            </a:pPr>
            <a:r>
              <a:rPr lang="en-GB"/>
              <a:t>doc-&gt;Open()</a:t>
            </a:r>
            <a:endParaRPr/>
          </a:p>
          <a:p>
            <a:pPr indent="0" lvl="0" marL="0" rtl="0" algn="l">
              <a:spcBef>
                <a:spcPts val="0"/>
              </a:spcBef>
              <a:spcAft>
                <a:spcPts val="0"/>
              </a:spcAft>
              <a:buNone/>
            </a:pPr>
            <a:r>
              <a:t/>
            </a:r>
            <a:endParaRPr/>
          </a:p>
        </p:txBody>
      </p:sp>
      <p:sp>
        <p:nvSpPr>
          <p:cNvPr id="2057" name="Google Shape;2057;p104"/>
          <p:cNvSpPr txBox="1"/>
          <p:nvPr/>
        </p:nvSpPr>
        <p:spPr>
          <a:xfrm>
            <a:off x="6783020" y="3881425"/>
            <a:ext cx="1903200" cy="59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for c in commands:</a:t>
            </a:r>
            <a:endParaRPr/>
          </a:p>
          <a:p>
            <a:pPr indent="0" lvl="0" marL="0" rtl="0" algn="l">
              <a:spcBef>
                <a:spcPts val="0"/>
              </a:spcBef>
              <a:spcAft>
                <a:spcPts val="0"/>
              </a:spcAft>
              <a:buNone/>
            </a:pPr>
            <a:r>
              <a:rPr lang="en-GB"/>
              <a:t>  c-&gt;Execute()</a:t>
            </a:r>
            <a:endParaRPr/>
          </a:p>
        </p:txBody>
      </p:sp>
      <p:sp>
        <p:nvSpPr>
          <p:cNvPr id="2058" name="Google Shape;2058;p104"/>
          <p:cNvSpPr/>
          <p:nvPr/>
        </p:nvSpPr>
        <p:spPr>
          <a:xfrm>
            <a:off x="7625075" y="3323927"/>
            <a:ext cx="81900" cy="104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059" name="Google Shape;2059;p104"/>
          <p:cNvCxnSpPr>
            <a:stCxn id="2058" idx="4"/>
            <a:endCxn id="2057" idx="0"/>
          </p:cNvCxnSpPr>
          <p:nvPr/>
        </p:nvCxnSpPr>
        <p:spPr>
          <a:xfrm>
            <a:off x="7666025" y="3428627"/>
            <a:ext cx="68700" cy="452700"/>
          </a:xfrm>
          <a:prstGeom prst="straightConnector1">
            <a:avLst/>
          </a:prstGeom>
          <a:noFill/>
          <a:ln cap="flat" cmpd="sng" w="9525">
            <a:solidFill>
              <a:schemeClr val="dk2"/>
            </a:solidFill>
            <a:prstDash val="dash"/>
            <a:round/>
            <a:headEnd len="med" w="med" type="none"/>
            <a:tailEnd len="med" w="med" type="none"/>
          </a:ln>
        </p:spPr>
      </p:cxnSp>
      <p:sp>
        <p:nvSpPr>
          <p:cNvPr id="2060" name="Google Shape;2060;p104"/>
          <p:cNvSpPr/>
          <p:nvPr/>
        </p:nvSpPr>
        <p:spPr>
          <a:xfrm>
            <a:off x="4881875" y="3323927"/>
            <a:ext cx="81900" cy="104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061" name="Google Shape;2061;p104"/>
          <p:cNvCxnSpPr>
            <a:stCxn id="2060" idx="4"/>
            <a:endCxn id="2019" idx="2"/>
          </p:cNvCxnSpPr>
          <p:nvPr/>
        </p:nvCxnSpPr>
        <p:spPr>
          <a:xfrm flipH="1">
            <a:off x="3764525" y="3428627"/>
            <a:ext cx="1158300" cy="1669200"/>
          </a:xfrm>
          <a:prstGeom prst="straightConnector1">
            <a:avLst/>
          </a:prstGeom>
          <a:noFill/>
          <a:ln cap="flat" cmpd="sng" w="9525">
            <a:solidFill>
              <a:schemeClr val="dk2"/>
            </a:solidFill>
            <a:prstDash val="dash"/>
            <a:round/>
            <a:headEnd len="med" w="med" type="none"/>
            <a:tailEnd len="med" w="med" type="none"/>
          </a:ln>
        </p:spPr>
      </p:cxn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5" name="Shape 2065"/>
        <p:cNvGrpSpPr/>
        <p:nvPr/>
      </p:nvGrpSpPr>
      <p:grpSpPr>
        <a:xfrm>
          <a:off x="0" y="0"/>
          <a:ext cx="0" cy="0"/>
          <a:chOff x="0" y="0"/>
          <a:chExt cx="0" cy="0"/>
        </a:xfrm>
      </p:grpSpPr>
      <p:sp>
        <p:nvSpPr>
          <p:cNvPr id="2066" name="Google Shape;2066;p105"/>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Lớp diễn dịch</a:t>
            </a:r>
            <a:endParaRPr/>
          </a:p>
        </p:txBody>
      </p:sp>
      <p:sp>
        <p:nvSpPr>
          <p:cNvPr id="2067" name="Google Shape;2067;p105"/>
          <p:cNvSpPr txBox="1"/>
          <p:nvPr>
            <p:ph idx="1" type="body"/>
          </p:nvPr>
        </p:nvSpPr>
        <p:spPr>
          <a:xfrm>
            <a:off x="311700" y="950475"/>
            <a:ext cx="8520600" cy="54183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i="1" lang="en-GB"/>
              <a:t>Interpreter</a:t>
            </a:r>
            <a:endParaRPr i="1"/>
          </a:p>
          <a:p>
            <a:pPr indent="0" lvl="0" marL="0" rtl="0" algn="just">
              <a:spcBef>
                <a:spcPts val="0"/>
              </a:spcBef>
              <a:spcAft>
                <a:spcPts val="0"/>
              </a:spcAft>
              <a:buNone/>
            </a:pPr>
            <a:r>
              <a:rPr lang="en-GB"/>
              <a:t>Cho một ngôn ngữ, định nghĩa một biểu diễn ngữ pháp của nó cùng với một trình diễn dịch sử dụng biểu diễn đó để trình diễn các câu trong ngôn ngữ.</a:t>
            </a:r>
            <a:endParaRPr/>
          </a:p>
        </p:txBody>
      </p:sp>
      <p:sp>
        <p:nvSpPr>
          <p:cNvPr id="2068" name="Google Shape;2068;p10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2" name="Shape 2072"/>
        <p:cNvGrpSpPr/>
        <p:nvPr/>
      </p:nvGrpSpPr>
      <p:grpSpPr>
        <a:xfrm>
          <a:off x="0" y="0"/>
          <a:ext cx="0" cy="0"/>
          <a:chOff x="0" y="0"/>
          <a:chExt cx="0" cy="0"/>
        </a:xfrm>
      </p:grpSpPr>
      <p:sp>
        <p:nvSpPr>
          <p:cNvPr id="2073" name="Google Shape;2073;p106"/>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Lớp d</a:t>
            </a:r>
            <a:r>
              <a:rPr lang="en-GB"/>
              <a:t>iễn dịch: </a:t>
            </a:r>
            <a:r>
              <a:rPr lang="en-GB"/>
              <a:t>Cấu trúc</a:t>
            </a:r>
            <a:endParaRPr/>
          </a:p>
        </p:txBody>
      </p:sp>
      <p:sp>
        <p:nvSpPr>
          <p:cNvPr id="2074" name="Google Shape;2074;p10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2075" name="Google Shape;2075;p106"/>
          <p:cNvSpPr/>
          <p:nvPr/>
        </p:nvSpPr>
        <p:spPr>
          <a:xfrm>
            <a:off x="3685694" y="2013775"/>
            <a:ext cx="21951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Biểu thức Khái quát</a:t>
            </a:r>
            <a:endParaRPr sz="1600"/>
          </a:p>
        </p:txBody>
      </p:sp>
      <p:sp>
        <p:nvSpPr>
          <p:cNvPr id="2076" name="Google Shape;2076;p106"/>
          <p:cNvSpPr/>
          <p:nvPr/>
        </p:nvSpPr>
        <p:spPr>
          <a:xfrm>
            <a:off x="3685675" y="2336000"/>
            <a:ext cx="2195100" cy="3915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lang="en-GB" sz="1600"/>
              <a:t>Trình diễn</a:t>
            </a:r>
            <a:r>
              <a:rPr lang="en-GB" sz="1600"/>
              <a:t>(</a:t>
            </a:r>
            <a:r>
              <a:rPr lang="en-GB" sz="1600"/>
              <a:t>Ngữ cảnh</a:t>
            </a:r>
            <a:r>
              <a:rPr lang="en-GB" sz="1600"/>
              <a:t>)</a:t>
            </a:r>
            <a:endParaRPr sz="1600"/>
          </a:p>
        </p:txBody>
      </p:sp>
      <p:sp>
        <p:nvSpPr>
          <p:cNvPr id="2077" name="Google Shape;2077;p106"/>
          <p:cNvSpPr/>
          <p:nvPr/>
        </p:nvSpPr>
        <p:spPr>
          <a:xfrm>
            <a:off x="1666525" y="1954500"/>
            <a:ext cx="1008000" cy="4380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Khách</a:t>
            </a:r>
            <a:endParaRPr sz="1600"/>
          </a:p>
        </p:txBody>
      </p:sp>
      <p:sp>
        <p:nvSpPr>
          <p:cNvPr id="2078" name="Google Shape;2078;p106"/>
          <p:cNvSpPr/>
          <p:nvPr/>
        </p:nvSpPr>
        <p:spPr>
          <a:xfrm>
            <a:off x="3685675" y="1255276"/>
            <a:ext cx="1036800" cy="391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Ngữ cảnh</a:t>
            </a:r>
            <a:endParaRPr sz="1600"/>
          </a:p>
        </p:txBody>
      </p:sp>
      <p:sp>
        <p:nvSpPr>
          <p:cNvPr id="2079" name="Google Shape;2079;p106"/>
          <p:cNvSpPr/>
          <p:nvPr/>
        </p:nvSpPr>
        <p:spPr>
          <a:xfrm>
            <a:off x="2085494" y="3309175"/>
            <a:ext cx="21951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Biểu thức đóng</a:t>
            </a:r>
            <a:endParaRPr sz="1600"/>
          </a:p>
        </p:txBody>
      </p:sp>
      <p:sp>
        <p:nvSpPr>
          <p:cNvPr id="2080" name="Google Shape;2080;p106"/>
          <p:cNvSpPr/>
          <p:nvPr/>
        </p:nvSpPr>
        <p:spPr>
          <a:xfrm>
            <a:off x="2085475" y="3631400"/>
            <a:ext cx="2195100" cy="3915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lang="en-GB" sz="1600"/>
              <a:t>Trình diễn</a:t>
            </a:r>
            <a:r>
              <a:rPr lang="en-GB" sz="1600"/>
              <a:t>(</a:t>
            </a:r>
            <a:r>
              <a:rPr lang="en-GB" sz="1600"/>
              <a:t>Ngữ cảnh</a:t>
            </a:r>
            <a:r>
              <a:rPr lang="en-GB" sz="1600"/>
              <a:t>)</a:t>
            </a:r>
            <a:endParaRPr sz="1600"/>
          </a:p>
        </p:txBody>
      </p:sp>
      <p:sp>
        <p:nvSpPr>
          <p:cNvPr id="2081" name="Google Shape;2081;p106"/>
          <p:cNvSpPr/>
          <p:nvPr/>
        </p:nvSpPr>
        <p:spPr>
          <a:xfrm>
            <a:off x="4892396" y="3309175"/>
            <a:ext cx="23322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Biểu thức mở</a:t>
            </a:r>
            <a:endParaRPr sz="1600"/>
          </a:p>
        </p:txBody>
      </p:sp>
      <p:sp>
        <p:nvSpPr>
          <p:cNvPr id="2082" name="Google Shape;2082;p106"/>
          <p:cNvSpPr/>
          <p:nvPr/>
        </p:nvSpPr>
        <p:spPr>
          <a:xfrm>
            <a:off x="4892376" y="3631400"/>
            <a:ext cx="2332200" cy="3915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lang="en-GB" sz="1600"/>
              <a:t>Trình diễn</a:t>
            </a:r>
            <a:r>
              <a:rPr lang="en-GB" sz="1600"/>
              <a:t>(</a:t>
            </a:r>
            <a:r>
              <a:rPr lang="en-GB" sz="1600"/>
              <a:t>Ngữ cảnh</a:t>
            </a:r>
            <a:r>
              <a:rPr lang="en-GB" sz="1600"/>
              <a:t>)</a:t>
            </a:r>
            <a:endParaRPr sz="1600"/>
          </a:p>
        </p:txBody>
      </p:sp>
      <p:sp>
        <p:nvSpPr>
          <p:cNvPr id="2083" name="Google Shape;2083;p106"/>
          <p:cNvSpPr/>
          <p:nvPr/>
        </p:nvSpPr>
        <p:spPr>
          <a:xfrm>
            <a:off x="4001814" y="2738056"/>
            <a:ext cx="191700" cy="1047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4" name="Google Shape;2084;p106"/>
          <p:cNvSpPr/>
          <p:nvPr/>
        </p:nvSpPr>
        <p:spPr>
          <a:xfrm>
            <a:off x="4840014" y="2738056"/>
            <a:ext cx="191700" cy="1047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085" name="Google Shape;2085;p106"/>
          <p:cNvCxnSpPr>
            <a:stCxn id="2079" idx="0"/>
            <a:endCxn id="2083" idx="3"/>
          </p:cNvCxnSpPr>
          <p:nvPr/>
        </p:nvCxnSpPr>
        <p:spPr>
          <a:xfrm rot="-5400000">
            <a:off x="3407144" y="2618575"/>
            <a:ext cx="466500" cy="914700"/>
          </a:xfrm>
          <a:prstGeom prst="bentConnector3">
            <a:avLst>
              <a:gd fmla="val 49991" name="adj1"/>
            </a:avLst>
          </a:prstGeom>
          <a:noFill/>
          <a:ln cap="flat" cmpd="sng" w="9525">
            <a:solidFill>
              <a:schemeClr val="dk2"/>
            </a:solidFill>
            <a:prstDash val="solid"/>
            <a:round/>
            <a:headEnd len="med" w="med" type="none"/>
            <a:tailEnd len="med" w="med" type="none"/>
          </a:ln>
        </p:spPr>
      </p:cxnSp>
      <p:cxnSp>
        <p:nvCxnSpPr>
          <p:cNvPr id="2086" name="Google Shape;2086;p106"/>
          <p:cNvCxnSpPr>
            <a:stCxn id="2081" idx="0"/>
            <a:endCxn id="2084" idx="3"/>
          </p:cNvCxnSpPr>
          <p:nvPr/>
        </p:nvCxnSpPr>
        <p:spPr>
          <a:xfrm flipH="1" rot="5400000">
            <a:off x="5263946" y="2514625"/>
            <a:ext cx="466500" cy="1122600"/>
          </a:xfrm>
          <a:prstGeom prst="bentConnector3">
            <a:avLst>
              <a:gd fmla="val 49991" name="adj1"/>
            </a:avLst>
          </a:prstGeom>
          <a:noFill/>
          <a:ln cap="flat" cmpd="sng" w="9525">
            <a:solidFill>
              <a:schemeClr val="dk2"/>
            </a:solidFill>
            <a:prstDash val="solid"/>
            <a:round/>
            <a:headEnd len="med" w="med" type="none"/>
            <a:tailEnd len="med" w="med" type="none"/>
          </a:ln>
        </p:spPr>
      </p:cxnSp>
      <p:cxnSp>
        <p:nvCxnSpPr>
          <p:cNvPr id="2087" name="Google Shape;2087;p106"/>
          <p:cNvCxnSpPr>
            <a:stCxn id="2077" idx="3"/>
            <a:endCxn id="2075" idx="1"/>
          </p:cNvCxnSpPr>
          <p:nvPr/>
        </p:nvCxnSpPr>
        <p:spPr>
          <a:xfrm>
            <a:off x="2674525" y="2173500"/>
            <a:ext cx="1011300" cy="1500"/>
          </a:xfrm>
          <a:prstGeom prst="straightConnector1">
            <a:avLst/>
          </a:prstGeom>
          <a:noFill/>
          <a:ln cap="flat" cmpd="sng" w="9525">
            <a:solidFill>
              <a:schemeClr val="dk2"/>
            </a:solidFill>
            <a:prstDash val="dash"/>
            <a:round/>
            <a:headEnd len="med" w="med" type="none"/>
            <a:tailEnd len="med" w="med" type="stealth"/>
          </a:ln>
        </p:spPr>
      </p:cxnSp>
      <p:cxnSp>
        <p:nvCxnSpPr>
          <p:cNvPr id="2088" name="Google Shape;2088;p106"/>
          <p:cNvCxnSpPr>
            <a:stCxn id="2077" idx="0"/>
            <a:endCxn id="2078" idx="1"/>
          </p:cNvCxnSpPr>
          <p:nvPr/>
        </p:nvCxnSpPr>
        <p:spPr>
          <a:xfrm rot="-5400000">
            <a:off x="2676475" y="945150"/>
            <a:ext cx="503400" cy="1515300"/>
          </a:xfrm>
          <a:prstGeom prst="bentConnector2">
            <a:avLst/>
          </a:prstGeom>
          <a:noFill/>
          <a:ln cap="flat" cmpd="sng" w="9525">
            <a:solidFill>
              <a:schemeClr val="dk2"/>
            </a:solidFill>
            <a:prstDash val="dash"/>
            <a:round/>
            <a:headEnd len="med" w="med" type="none"/>
            <a:tailEnd len="med" w="med" type="stealth"/>
          </a:ln>
        </p:spPr>
      </p:cxnSp>
      <p:sp>
        <p:nvSpPr>
          <p:cNvPr id="2089" name="Google Shape;2089;p106"/>
          <p:cNvSpPr/>
          <p:nvPr/>
        </p:nvSpPr>
        <p:spPr>
          <a:xfrm>
            <a:off x="7238275" y="3396125"/>
            <a:ext cx="219625" cy="159725"/>
          </a:xfrm>
          <a:prstGeom prst="flowChartDecision">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090" name="Google Shape;2090;p106"/>
          <p:cNvCxnSpPr>
            <a:stCxn id="2075" idx="3"/>
            <a:endCxn id="2089" idx="3"/>
          </p:cNvCxnSpPr>
          <p:nvPr/>
        </p:nvCxnSpPr>
        <p:spPr>
          <a:xfrm>
            <a:off x="5880794" y="2175025"/>
            <a:ext cx="1577100" cy="1301100"/>
          </a:xfrm>
          <a:prstGeom prst="bentConnector3">
            <a:avLst>
              <a:gd fmla="val 115099" name="adj1"/>
            </a:avLst>
          </a:prstGeom>
          <a:noFill/>
          <a:ln cap="flat" cmpd="sng" w="9525">
            <a:solidFill>
              <a:schemeClr val="dk2"/>
            </a:solidFill>
            <a:prstDash val="solid"/>
            <a:round/>
            <a:headEnd len="med" w="med" type="none"/>
            <a:tailEnd len="med" w="med" type="none"/>
          </a:ln>
        </p:spPr>
      </p:cxnSp>
      <p:sp>
        <p:nvSpPr>
          <p:cNvPr id="2091" name="Google Shape;2091;p106"/>
          <p:cNvSpPr txBox="1"/>
          <p:nvPr/>
        </p:nvSpPr>
        <p:spPr>
          <a:xfrm>
            <a:off x="5910600" y="1848823"/>
            <a:ext cx="379200" cy="39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400">
                <a:solidFill>
                  <a:srgbClr val="666666"/>
                </a:solidFill>
              </a:rPr>
              <a:t>*</a:t>
            </a:r>
            <a:endParaRPr sz="2400">
              <a:solidFill>
                <a:srgbClr val="666666"/>
              </a:solidFill>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5" name="Shape 2095"/>
        <p:cNvGrpSpPr/>
        <p:nvPr/>
      </p:nvGrpSpPr>
      <p:grpSpPr>
        <a:xfrm>
          <a:off x="0" y="0"/>
          <a:ext cx="0" cy="0"/>
          <a:chOff x="0" y="0"/>
          <a:chExt cx="0" cy="0"/>
        </a:xfrm>
      </p:grpSpPr>
      <p:sp>
        <p:nvSpPr>
          <p:cNvPr id="2096" name="Google Shape;2096;p107"/>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Lớp d</a:t>
            </a:r>
            <a:r>
              <a:rPr lang="en-GB"/>
              <a:t>iễn dịch: Kết hợp đối tượng</a:t>
            </a:r>
            <a:endParaRPr/>
          </a:p>
        </p:txBody>
      </p:sp>
      <p:sp>
        <p:nvSpPr>
          <p:cNvPr id="2097" name="Google Shape;2097;p10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2098" name="Google Shape;2098;p107"/>
          <p:cNvSpPr/>
          <p:nvPr/>
        </p:nvSpPr>
        <p:spPr>
          <a:xfrm>
            <a:off x="1666525" y="1954500"/>
            <a:ext cx="1008000" cy="4380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u="sng"/>
              <a:t>:</a:t>
            </a:r>
            <a:r>
              <a:rPr lang="en-GB" sz="1600" u="sng"/>
              <a:t>Khách</a:t>
            </a:r>
            <a:endParaRPr sz="1600" u="sng"/>
          </a:p>
        </p:txBody>
      </p:sp>
      <p:sp>
        <p:nvSpPr>
          <p:cNvPr id="2099" name="Google Shape;2099;p107"/>
          <p:cNvSpPr/>
          <p:nvPr/>
        </p:nvSpPr>
        <p:spPr>
          <a:xfrm>
            <a:off x="3685675" y="1255275"/>
            <a:ext cx="1206600" cy="5034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c:</a:t>
            </a:r>
            <a:r>
              <a:rPr lang="en-GB" sz="1600"/>
              <a:t>Ngữ cảnh</a:t>
            </a:r>
            <a:endParaRPr sz="1600"/>
          </a:p>
        </p:txBody>
      </p:sp>
      <p:cxnSp>
        <p:nvCxnSpPr>
          <p:cNvPr id="2100" name="Google Shape;2100;p107"/>
          <p:cNvCxnSpPr>
            <a:stCxn id="2098" idx="0"/>
            <a:endCxn id="2099" idx="1"/>
          </p:cNvCxnSpPr>
          <p:nvPr/>
        </p:nvCxnSpPr>
        <p:spPr>
          <a:xfrm rot="-5400000">
            <a:off x="2704375" y="973050"/>
            <a:ext cx="447600" cy="1515300"/>
          </a:xfrm>
          <a:prstGeom prst="bentConnector2">
            <a:avLst/>
          </a:prstGeom>
          <a:noFill/>
          <a:ln cap="flat" cmpd="sng" w="9525">
            <a:solidFill>
              <a:schemeClr val="dk2"/>
            </a:solidFill>
            <a:prstDash val="solid"/>
            <a:round/>
            <a:headEnd len="med" w="med" type="none"/>
            <a:tailEnd len="med" w="med" type="none"/>
          </a:ln>
        </p:spPr>
      </p:cxnSp>
      <p:sp>
        <p:nvSpPr>
          <p:cNvPr id="2101" name="Google Shape;2101;p107"/>
          <p:cNvSpPr/>
          <p:nvPr/>
        </p:nvSpPr>
        <p:spPr>
          <a:xfrm>
            <a:off x="5638075" y="3472325"/>
            <a:ext cx="189675" cy="179700"/>
          </a:xfrm>
          <a:prstGeom prst="flowChartDecision">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02" name="Google Shape;2102;p107"/>
          <p:cNvSpPr/>
          <p:nvPr/>
        </p:nvSpPr>
        <p:spPr>
          <a:xfrm>
            <a:off x="2923699" y="2928175"/>
            <a:ext cx="1908900" cy="5034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u="sng"/>
              <a:t>e0:</a:t>
            </a:r>
            <a:r>
              <a:rPr lang="en-GB" sz="1600" u="sng"/>
              <a:t>Biểu thức </a:t>
            </a:r>
            <a:r>
              <a:rPr lang="en-GB" sz="1600" u="sng"/>
              <a:t>đóng</a:t>
            </a:r>
            <a:endParaRPr sz="1600" u="sng"/>
          </a:p>
        </p:txBody>
      </p:sp>
      <p:sp>
        <p:nvSpPr>
          <p:cNvPr id="2103" name="Google Shape;2103;p107"/>
          <p:cNvSpPr/>
          <p:nvPr/>
        </p:nvSpPr>
        <p:spPr>
          <a:xfrm>
            <a:off x="4571999" y="3653900"/>
            <a:ext cx="1908900" cy="5034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u="sng"/>
              <a:t>e1</a:t>
            </a:r>
            <a:r>
              <a:rPr lang="en-GB" sz="1600" u="sng"/>
              <a:t>:Biểu thức </a:t>
            </a:r>
            <a:r>
              <a:rPr lang="en-GB" sz="1600" u="sng"/>
              <a:t>mở</a:t>
            </a:r>
            <a:endParaRPr sz="1600" u="sng"/>
          </a:p>
        </p:txBody>
      </p:sp>
      <p:sp>
        <p:nvSpPr>
          <p:cNvPr id="2104" name="Google Shape;2104;p107"/>
          <p:cNvSpPr/>
          <p:nvPr/>
        </p:nvSpPr>
        <p:spPr>
          <a:xfrm>
            <a:off x="7238275" y="4539125"/>
            <a:ext cx="189675" cy="179700"/>
          </a:xfrm>
          <a:prstGeom prst="flowChartDecision">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05" name="Google Shape;2105;p107"/>
          <p:cNvSpPr/>
          <p:nvPr/>
        </p:nvSpPr>
        <p:spPr>
          <a:xfrm>
            <a:off x="6172199" y="4720700"/>
            <a:ext cx="1908900" cy="5034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u="sng"/>
              <a:t>e2</a:t>
            </a:r>
            <a:r>
              <a:rPr lang="en-GB" sz="1600" u="sng"/>
              <a:t>:Biểu thức mở</a:t>
            </a:r>
            <a:endParaRPr sz="1600" u="sng"/>
          </a:p>
        </p:txBody>
      </p:sp>
      <p:cxnSp>
        <p:nvCxnSpPr>
          <p:cNvPr id="2106" name="Google Shape;2106;p107"/>
          <p:cNvCxnSpPr>
            <a:stCxn id="2098" idx="2"/>
            <a:endCxn id="2102" idx="1"/>
          </p:cNvCxnSpPr>
          <p:nvPr/>
        </p:nvCxnSpPr>
        <p:spPr>
          <a:xfrm flipH="1" rot="-5400000">
            <a:off x="2153425" y="2409600"/>
            <a:ext cx="787500" cy="753300"/>
          </a:xfrm>
          <a:prstGeom prst="bentConnector2">
            <a:avLst/>
          </a:prstGeom>
          <a:noFill/>
          <a:ln cap="flat" cmpd="sng" w="9525">
            <a:solidFill>
              <a:schemeClr val="dk2"/>
            </a:solidFill>
            <a:prstDash val="solid"/>
            <a:round/>
            <a:headEnd len="med" w="med" type="none"/>
            <a:tailEnd len="med" w="med" type="none"/>
          </a:ln>
        </p:spPr>
      </p:cxnSp>
      <p:cxnSp>
        <p:nvCxnSpPr>
          <p:cNvPr id="2107" name="Google Shape;2107;p107"/>
          <p:cNvCxnSpPr>
            <a:stCxn id="2102" idx="3"/>
            <a:endCxn id="2101" idx="0"/>
          </p:cNvCxnSpPr>
          <p:nvPr/>
        </p:nvCxnSpPr>
        <p:spPr>
          <a:xfrm>
            <a:off x="4832599" y="3179875"/>
            <a:ext cx="900300" cy="292500"/>
          </a:xfrm>
          <a:prstGeom prst="bentConnector2">
            <a:avLst/>
          </a:prstGeom>
          <a:noFill/>
          <a:ln cap="flat" cmpd="sng" w="9525">
            <a:solidFill>
              <a:schemeClr val="dk2"/>
            </a:solidFill>
            <a:prstDash val="solid"/>
            <a:round/>
            <a:headEnd len="med" w="med" type="none"/>
            <a:tailEnd len="med" w="med" type="none"/>
          </a:ln>
        </p:spPr>
      </p:cxnSp>
      <p:cxnSp>
        <p:nvCxnSpPr>
          <p:cNvPr id="2108" name="Google Shape;2108;p107"/>
          <p:cNvCxnSpPr>
            <a:stCxn id="2103" idx="3"/>
            <a:endCxn id="2104" idx="0"/>
          </p:cNvCxnSpPr>
          <p:nvPr/>
        </p:nvCxnSpPr>
        <p:spPr>
          <a:xfrm>
            <a:off x="6480899" y="3905600"/>
            <a:ext cx="852300" cy="633600"/>
          </a:xfrm>
          <a:prstGeom prst="bentConnector2">
            <a:avLst/>
          </a:prstGeom>
          <a:noFill/>
          <a:ln cap="flat" cmpd="sng" w="9525">
            <a:solidFill>
              <a:schemeClr val="dk2"/>
            </a:solidFill>
            <a:prstDash val="solid"/>
            <a:round/>
            <a:headEnd len="med" w="med" type="none"/>
            <a:tailEnd len="med" w="med" type="none"/>
          </a:ln>
        </p:spPr>
      </p:cxnSp>
      <p:sp>
        <p:nvSpPr>
          <p:cNvPr id="2109" name="Google Shape;2109;p107"/>
          <p:cNvSpPr txBox="1"/>
          <p:nvPr/>
        </p:nvSpPr>
        <p:spPr>
          <a:xfrm>
            <a:off x="7029300" y="5273850"/>
            <a:ext cx="548700" cy="50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600">
                <a:solidFill>
                  <a:srgbClr val="666666"/>
                </a:solidFill>
              </a:rPr>
              <a:t>…</a:t>
            </a:r>
            <a:endParaRPr sz="2600">
              <a:solidFill>
                <a:srgbClr val="666666"/>
              </a:solidFill>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3" name="Shape 2113"/>
        <p:cNvGrpSpPr/>
        <p:nvPr/>
      </p:nvGrpSpPr>
      <p:grpSpPr>
        <a:xfrm>
          <a:off x="0" y="0"/>
          <a:ext cx="0" cy="0"/>
          <a:chOff x="0" y="0"/>
          <a:chExt cx="0" cy="0"/>
        </a:xfrm>
      </p:grpSpPr>
      <p:sp>
        <p:nvSpPr>
          <p:cNvPr id="2114" name="Google Shape;2114;p108"/>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Lớp diễn dịch: Hành vi</a:t>
            </a:r>
            <a:endParaRPr/>
          </a:p>
        </p:txBody>
      </p:sp>
      <p:sp>
        <p:nvSpPr>
          <p:cNvPr id="2115" name="Google Shape;2115;p10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2116" name="Google Shape;2116;p108"/>
          <p:cNvSpPr/>
          <p:nvPr/>
        </p:nvSpPr>
        <p:spPr>
          <a:xfrm>
            <a:off x="597258" y="1216900"/>
            <a:ext cx="7986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u="sng"/>
              <a:t>:Khách</a:t>
            </a:r>
            <a:endParaRPr sz="1600" u="sng"/>
          </a:p>
        </p:txBody>
      </p:sp>
      <p:cxnSp>
        <p:nvCxnSpPr>
          <p:cNvPr id="2117" name="Google Shape;2117;p108"/>
          <p:cNvCxnSpPr/>
          <p:nvPr/>
        </p:nvCxnSpPr>
        <p:spPr>
          <a:xfrm>
            <a:off x="1003675" y="1539400"/>
            <a:ext cx="0" cy="3456000"/>
          </a:xfrm>
          <a:prstGeom prst="straightConnector1">
            <a:avLst/>
          </a:prstGeom>
          <a:noFill/>
          <a:ln cap="flat" cmpd="sng" w="9525">
            <a:solidFill>
              <a:schemeClr val="dk2"/>
            </a:solidFill>
            <a:prstDash val="dash"/>
            <a:round/>
            <a:headEnd len="med" w="med" type="none"/>
            <a:tailEnd len="med" w="med" type="none"/>
          </a:ln>
        </p:spPr>
      </p:cxnSp>
      <p:sp>
        <p:nvSpPr>
          <p:cNvPr id="2118" name="Google Shape;2118;p108"/>
          <p:cNvSpPr/>
          <p:nvPr/>
        </p:nvSpPr>
        <p:spPr>
          <a:xfrm>
            <a:off x="1796492" y="1216900"/>
            <a:ext cx="13212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u="sng"/>
              <a:t>c</a:t>
            </a:r>
            <a:r>
              <a:rPr lang="en-GB" sz="1600" u="sng"/>
              <a:t>:</a:t>
            </a:r>
            <a:r>
              <a:rPr lang="en-GB" sz="1600" u="sng"/>
              <a:t>Ngữ cảnh</a:t>
            </a:r>
            <a:endParaRPr sz="1600" u="sng"/>
          </a:p>
        </p:txBody>
      </p:sp>
      <p:cxnSp>
        <p:nvCxnSpPr>
          <p:cNvPr id="2119" name="Google Shape;2119;p108"/>
          <p:cNvCxnSpPr/>
          <p:nvPr/>
        </p:nvCxnSpPr>
        <p:spPr>
          <a:xfrm>
            <a:off x="2451475" y="1539400"/>
            <a:ext cx="0" cy="3456000"/>
          </a:xfrm>
          <a:prstGeom prst="straightConnector1">
            <a:avLst/>
          </a:prstGeom>
          <a:noFill/>
          <a:ln cap="flat" cmpd="sng" w="9525">
            <a:solidFill>
              <a:schemeClr val="dk2"/>
            </a:solidFill>
            <a:prstDash val="dash"/>
            <a:round/>
            <a:headEnd len="med" w="med" type="none"/>
            <a:tailEnd len="med" w="med" type="none"/>
          </a:ln>
        </p:spPr>
      </p:cxnSp>
      <p:sp>
        <p:nvSpPr>
          <p:cNvPr id="2120" name="Google Shape;2120;p108"/>
          <p:cNvSpPr/>
          <p:nvPr/>
        </p:nvSpPr>
        <p:spPr>
          <a:xfrm>
            <a:off x="3374487" y="1216900"/>
            <a:ext cx="18108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u="sng"/>
              <a:t>e0</a:t>
            </a:r>
            <a:r>
              <a:rPr lang="en-GB" sz="1600" u="sng"/>
              <a:t>:</a:t>
            </a:r>
            <a:r>
              <a:rPr lang="en-GB" sz="1600" u="sng"/>
              <a:t>Biểu thức đóng</a:t>
            </a:r>
            <a:endParaRPr sz="1600" u="sng"/>
          </a:p>
        </p:txBody>
      </p:sp>
      <p:cxnSp>
        <p:nvCxnSpPr>
          <p:cNvPr id="2121" name="Google Shape;2121;p108"/>
          <p:cNvCxnSpPr/>
          <p:nvPr/>
        </p:nvCxnSpPr>
        <p:spPr>
          <a:xfrm>
            <a:off x="4280275" y="1539400"/>
            <a:ext cx="0" cy="3456000"/>
          </a:xfrm>
          <a:prstGeom prst="straightConnector1">
            <a:avLst/>
          </a:prstGeom>
          <a:noFill/>
          <a:ln cap="flat" cmpd="sng" w="9525">
            <a:solidFill>
              <a:schemeClr val="dk2"/>
            </a:solidFill>
            <a:prstDash val="dash"/>
            <a:round/>
            <a:headEnd len="med" w="med" type="none"/>
            <a:tailEnd len="med" w="med" type="none"/>
          </a:ln>
        </p:spPr>
      </p:cxnSp>
      <p:cxnSp>
        <p:nvCxnSpPr>
          <p:cNvPr id="2122" name="Google Shape;2122;p108"/>
          <p:cNvCxnSpPr/>
          <p:nvPr/>
        </p:nvCxnSpPr>
        <p:spPr>
          <a:xfrm>
            <a:off x="991875" y="2784700"/>
            <a:ext cx="6848100" cy="0"/>
          </a:xfrm>
          <a:prstGeom prst="straightConnector1">
            <a:avLst/>
          </a:prstGeom>
          <a:noFill/>
          <a:ln cap="flat" cmpd="sng" w="9525">
            <a:solidFill>
              <a:schemeClr val="dk2"/>
            </a:solidFill>
            <a:prstDash val="solid"/>
            <a:round/>
            <a:headEnd len="med" w="med" type="none"/>
            <a:tailEnd len="med" w="med" type="triangle"/>
          </a:ln>
        </p:spPr>
      </p:cxnSp>
      <p:sp>
        <p:nvSpPr>
          <p:cNvPr id="2123" name="Google Shape;2123;p108"/>
          <p:cNvSpPr txBox="1"/>
          <p:nvPr/>
        </p:nvSpPr>
        <p:spPr>
          <a:xfrm>
            <a:off x="2700550" y="2444475"/>
            <a:ext cx="1321200" cy="39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Trình diễn</a:t>
            </a:r>
            <a:r>
              <a:rPr lang="en-GB">
                <a:solidFill>
                  <a:schemeClr val="dk2"/>
                </a:solidFill>
              </a:rPr>
              <a:t>(</a:t>
            </a:r>
            <a:r>
              <a:rPr lang="en-GB">
                <a:solidFill>
                  <a:schemeClr val="dk2"/>
                </a:solidFill>
              </a:rPr>
              <a:t>c</a:t>
            </a:r>
            <a:r>
              <a:rPr lang="en-GB">
                <a:solidFill>
                  <a:schemeClr val="dk2"/>
                </a:solidFill>
              </a:rPr>
              <a:t>)</a:t>
            </a:r>
            <a:endParaRPr>
              <a:solidFill>
                <a:schemeClr val="dk2"/>
              </a:solidFill>
            </a:endParaRPr>
          </a:p>
        </p:txBody>
      </p:sp>
      <p:sp>
        <p:nvSpPr>
          <p:cNvPr id="2124" name="Google Shape;2124;p108"/>
          <p:cNvSpPr/>
          <p:nvPr/>
        </p:nvSpPr>
        <p:spPr>
          <a:xfrm>
            <a:off x="5310939" y="1216900"/>
            <a:ext cx="17055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u="sng"/>
              <a:t>e1</a:t>
            </a:r>
            <a:r>
              <a:rPr lang="en-GB" sz="1600" u="sng"/>
              <a:t>:</a:t>
            </a:r>
            <a:r>
              <a:rPr lang="en-GB" sz="1600" u="sng"/>
              <a:t>Biểu thức mở</a:t>
            </a:r>
            <a:endParaRPr sz="1600" u="sng"/>
          </a:p>
        </p:txBody>
      </p:sp>
      <p:cxnSp>
        <p:nvCxnSpPr>
          <p:cNvPr id="2125" name="Google Shape;2125;p108"/>
          <p:cNvCxnSpPr/>
          <p:nvPr/>
        </p:nvCxnSpPr>
        <p:spPr>
          <a:xfrm>
            <a:off x="6261475" y="1539400"/>
            <a:ext cx="0" cy="3456000"/>
          </a:xfrm>
          <a:prstGeom prst="straightConnector1">
            <a:avLst/>
          </a:prstGeom>
          <a:noFill/>
          <a:ln cap="flat" cmpd="sng" w="9525">
            <a:solidFill>
              <a:schemeClr val="dk2"/>
            </a:solidFill>
            <a:prstDash val="dash"/>
            <a:round/>
            <a:headEnd len="med" w="med" type="none"/>
            <a:tailEnd len="med" w="med" type="none"/>
          </a:ln>
        </p:spPr>
      </p:cxnSp>
      <p:sp>
        <p:nvSpPr>
          <p:cNvPr id="2126" name="Google Shape;2126;p108"/>
          <p:cNvSpPr/>
          <p:nvPr/>
        </p:nvSpPr>
        <p:spPr>
          <a:xfrm>
            <a:off x="6173475" y="3196824"/>
            <a:ext cx="159600" cy="457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27" name="Google Shape;2127;p108"/>
          <p:cNvSpPr/>
          <p:nvPr/>
        </p:nvSpPr>
        <p:spPr>
          <a:xfrm>
            <a:off x="7099550" y="1216900"/>
            <a:ext cx="17328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u="sng"/>
              <a:t>e</a:t>
            </a:r>
            <a:r>
              <a:rPr lang="en-GB" sz="1600" u="sng"/>
              <a:t>2</a:t>
            </a:r>
            <a:r>
              <a:rPr lang="en-GB" sz="1600" u="sng"/>
              <a:t>:Biểu thức mở</a:t>
            </a:r>
            <a:endParaRPr sz="1600" u="sng"/>
          </a:p>
        </p:txBody>
      </p:sp>
      <p:cxnSp>
        <p:nvCxnSpPr>
          <p:cNvPr id="2128" name="Google Shape;2128;p108"/>
          <p:cNvCxnSpPr/>
          <p:nvPr/>
        </p:nvCxnSpPr>
        <p:spPr>
          <a:xfrm>
            <a:off x="7937875" y="1539400"/>
            <a:ext cx="0" cy="3456000"/>
          </a:xfrm>
          <a:prstGeom prst="straightConnector1">
            <a:avLst/>
          </a:prstGeom>
          <a:noFill/>
          <a:ln cap="flat" cmpd="sng" w="9525">
            <a:solidFill>
              <a:schemeClr val="dk2"/>
            </a:solidFill>
            <a:prstDash val="dash"/>
            <a:round/>
            <a:headEnd len="med" w="med" type="none"/>
            <a:tailEnd len="med" w="med" type="none"/>
          </a:ln>
        </p:spPr>
      </p:cxnSp>
      <p:sp>
        <p:nvSpPr>
          <p:cNvPr id="2129" name="Google Shape;2129;p108"/>
          <p:cNvSpPr/>
          <p:nvPr/>
        </p:nvSpPr>
        <p:spPr>
          <a:xfrm>
            <a:off x="4192275" y="3958824"/>
            <a:ext cx="159600" cy="457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30" name="Google Shape;2130;p108"/>
          <p:cNvSpPr/>
          <p:nvPr/>
        </p:nvSpPr>
        <p:spPr>
          <a:xfrm>
            <a:off x="7849875" y="2663427"/>
            <a:ext cx="159600" cy="1906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131" name="Google Shape;2131;p108"/>
          <p:cNvCxnSpPr/>
          <p:nvPr/>
        </p:nvCxnSpPr>
        <p:spPr>
          <a:xfrm rot="10800000">
            <a:off x="6322400" y="3252375"/>
            <a:ext cx="1507500" cy="0"/>
          </a:xfrm>
          <a:prstGeom prst="straightConnector1">
            <a:avLst/>
          </a:prstGeom>
          <a:noFill/>
          <a:ln cap="flat" cmpd="sng" w="9525">
            <a:solidFill>
              <a:schemeClr val="dk2"/>
            </a:solidFill>
            <a:prstDash val="solid"/>
            <a:round/>
            <a:headEnd len="med" w="med" type="none"/>
            <a:tailEnd len="med" w="med" type="triangle"/>
          </a:ln>
        </p:spPr>
      </p:cxnSp>
      <p:sp>
        <p:nvSpPr>
          <p:cNvPr id="2132" name="Google Shape;2132;p108"/>
          <p:cNvSpPr txBox="1"/>
          <p:nvPr/>
        </p:nvSpPr>
        <p:spPr>
          <a:xfrm>
            <a:off x="6358150" y="2901675"/>
            <a:ext cx="1321200" cy="39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Trình diễn(c)</a:t>
            </a:r>
            <a:endParaRPr>
              <a:solidFill>
                <a:schemeClr val="dk2"/>
              </a:solidFill>
            </a:endParaRPr>
          </a:p>
        </p:txBody>
      </p:sp>
      <p:cxnSp>
        <p:nvCxnSpPr>
          <p:cNvPr id="2133" name="Google Shape;2133;p108"/>
          <p:cNvCxnSpPr/>
          <p:nvPr/>
        </p:nvCxnSpPr>
        <p:spPr>
          <a:xfrm rot="10800000">
            <a:off x="4362500" y="4090575"/>
            <a:ext cx="3467400" cy="0"/>
          </a:xfrm>
          <a:prstGeom prst="straightConnector1">
            <a:avLst/>
          </a:prstGeom>
          <a:noFill/>
          <a:ln cap="flat" cmpd="sng" w="9525">
            <a:solidFill>
              <a:schemeClr val="dk2"/>
            </a:solidFill>
            <a:prstDash val="solid"/>
            <a:round/>
            <a:headEnd len="med" w="med" type="none"/>
            <a:tailEnd len="med" w="med" type="triangle"/>
          </a:ln>
        </p:spPr>
      </p:cxnSp>
      <p:sp>
        <p:nvSpPr>
          <p:cNvPr id="2134" name="Google Shape;2134;p108"/>
          <p:cNvSpPr txBox="1"/>
          <p:nvPr/>
        </p:nvSpPr>
        <p:spPr>
          <a:xfrm>
            <a:off x="5062750" y="3739875"/>
            <a:ext cx="1321200" cy="39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Trình diễn(c)</a:t>
            </a:r>
            <a:endParaRPr>
              <a:solidFill>
                <a:schemeClr val="dk2"/>
              </a:solidFill>
            </a:endParaRPr>
          </a:p>
        </p:txBody>
      </p:sp>
      <p:sp>
        <p:nvSpPr>
          <p:cNvPr id="2135" name="Google Shape;2135;p108"/>
          <p:cNvSpPr/>
          <p:nvPr/>
        </p:nvSpPr>
        <p:spPr>
          <a:xfrm>
            <a:off x="669775" y="1985600"/>
            <a:ext cx="99900" cy="999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36" name="Google Shape;2136;p108"/>
          <p:cNvSpPr/>
          <p:nvPr/>
        </p:nvSpPr>
        <p:spPr>
          <a:xfrm>
            <a:off x="6173475" y="1977625"/>
            <a:ext cx="159600" cy="277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37" name="Google Shape;2137;p108"/>
          <p:cNvSpPr/>
          <p:nvPr/>
        </p:nvSpPr>
        <p:spPr>
          <a:xfrm>
            <a:off x="7849875" y="2282425"/>
            <a:ext cx="159600" cy="277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38" name="Google Shape;2138;p108"/>
          <p:cNvSpPr/>
          <p:nvPr/>
        </p:nvSpPr>
        <p:spPr>
          <a:xfrm>
            <a:off x="669775" y="2366600"/>
            <a:ext cx="99900" cy="999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139" name="Google Shape;2139;p108"/>
          <p:cNvCxnSpPr>
            <a:stCxn id="2135" idx="6"/>
          </p:cNvCxnSpPr>
          <p:nvPr/>
        </p:nvCxnSpPr>
        <p:spPr>
          <a:xfrm>
            <a:off x="769675" y="2035550"/>
            <a:ext cx="5390400" cy="0"/>
          </a:xfrm>
          <a:prstGeom prst="straightConnector1">
            <a:avLst/>
          </a:prstGeom>
          <a:noFill/>
          <a:ln cap="flat" cmpd="sng" w="9525">
            <a:solidFill>
              <a:schemeClr val="dk2"/>
            </a:solidFill>
            <a:prstDash val="solid"/>
            <a:round/>
            <a:headEnd len="med" w="med" type="none"/>
            <a:tailEnd len="med" w="med" type="triangle"/>
          </a:ln>
        </p:spPr>
      </p:cxnSp>
      <p:cxnSp>
        <p:nvCxnSpPr>
          <p:cNvPr id="2140" name="Google Shape;2140;p108"/>
          <p:cNvCxnSpPr>
            <a:stCxn id="2138" idx="6"/>
          </p:cNvCxnSpPr>
          <p:nvPr/>
        </p:nvCxnSpPr>
        <p:spPr>
          <a:xfrm>
            <a:off x="769675" y="2416550"/>
            <a:ext cx="7087500" cy="0"/>
          </a:xfrm>
          <a:prstGeom prst="straightConnector1">
            <a:avLst/>
          </a:prstGeom>
          <a:noFill/>
          <a:ln cap="flat" cmpd="sng" w="9525">
            <a:solidFill>
              <a:schemeClr val="dk2"/>
            </a:solidFill>
            <a:prstDash val="solid"/>
            <a:round/>
            <a:headEnd len="med" w="med" type="none"/>
            <a:tailEnd len="med" w="med" type="triangle"/>
          </a:ln>
        </p:spPr>
      </p:cxnSp>
      <p:sp>
        <p:nvSpPr>
          <p:cNvPr id="2141" name="Google Shape;2141;p108"/>
          <p:cNvSpPr txBox="1"/>
          <p:nvPr/>
        </p:nvSpPr>
        <p:spPr>
          <a:xfrm>
            <a:off x="2887550" y="1664500"/>
            <a:ext cx="1507500" cy="32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rgbClr val="666666"/>
                </a:solidFill>
              </a:rPr>
              <a:t>Tiếp nhận (e0)</a:t>
            </a:r>
            <a:endParaRPr>
              <a:solidFill>
                <a:srgbClr val="666666"/>
              </a:solidFill>
            </a:endParaRPr>
          </a:p>
        </p:txBody>
      </p:sp>
      <p:sp>
        <p:nvSpPr>
          <p:cNvPr id="2142" name="Google Shape;2142;p108"/>
          <p:cNvSpPr txBox="1"/>
          <p:nvPr/>
        </p:nvSpPr>
        <p:spPr>
          <a:xfrm>
            <a:off x="3059915" y="2091752"/>
            <a:ext cx="1507500" cy="32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rgbClr val="666666"/>
                </a:solidFill>
              </a:rPr>
              <a:t>Ti</a:t>
            </a:r>
            <a:r>
              <a:rPr lang="en-GB">
                <a:solidFill>
                  <a:srgbClr val="666666"/>
                </a:solidFill>
              </a:rPr>
              <a:t>ếp nhận (e</a:t>
            </a:r>
            <a:r>
              <a:rPr lang="en-GB">
                <a:solidFill>
                  <a:srgbClr val="666666"/>
                </a:solidFill>
              </a:rPr>
              <a:t>1</a:t>
            </a:r>
            <a:r>
              <a:rPr lang="en-GB">
                <a:solidFill>
                  <a:srgbClr val="666666"/>
                </a:solidFill>
              </a:rPr>
              <a:t>)</a:t>
            </a:r>
            <a:endParaRPr>
              <a:solidFill>
                <a:srgbClr val="666666"/>
              </a:solidFill>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6" name="Shape 2146"/>
        <p:cNvGrpSpPr/>
        <p:nvPr/>
      </p:nvGrpSpPr>
      <p:grpSpPr>
        <a:xfrm>
          <a:off x="0" y="0"/>
          <a:ext cx="0" cy="0"/>
          <a:chOff x="0" y="0"/>
          <a:chExt cx="0" cy="0"/>
        </a:xfrm>
      </p:grpSpPr>
      <p:sp>
        <p:nvSpPr>
          <p:cNvPr id="2147" name="Google Shape;2147;p109"/>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Lớp diễn dịch: Các hệ quả</a:t>
            </a:r>
            <a:endParaRPr/>
          </a:p>
        </p:txBody>
      </p:sp>
      <p:sp>
        <p:nvSpPr>
          <p:cNvPr id="2148" name="Google Shape;2148;p10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2149" name="Google Shape;2149;p109"/>
          <p:cNvSpPr txBox="1"/>
          <p:nvPr>
            <p:ph idx="1" type="body"/>
          </p:nvPr>
        </p:nvSpPr>
        <p:spPr>
          <a:xfrm>
            <a:off x="311700" y="950475"/>
            <a:ext cx="8520600" cy="54183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Dễ thay đổi và mở rộng ngữ pháp. Các biểu thức đang tồn tại có thể được thay đổi dần, và các biểu thức mới có thể được định nghĩa bằng cách thay đổi các biểu thức đang có.</a:t>
            </a:r>
            <a:endParaRPr/>
          </a:p>
          <a:p>
            <a:pPr indent="-381000" lvl="0" marL="457200" rtl="0" algn="l">
              <a:spcBef>
                <a:spcPts val="0"/>
              </a:spcBef>
              <a:spcAft>
                <a:spcPts val="0"/>
              </a:spcAft>
              <a:buSzPts val="2400"/>
              <a:buChar char="●"/>
            </a:pPr>
            <a:r>
              <a:rPr lang="en-GB"/>
              <a:t>Dễ triển khai ngữ pháp đơn giản.</a:t>
            </a:r>
            <a:endParaRPr/>
          </a:p>
          <a:p>
            <a:pPr indent="-381000" lvl="0" marL="457200" rtl="0" algn="l">
              <a:spcBef>
                <a:spcPts val="0"/>
              </a:spcBef>
              <a:spcAft>
                <a:spcPts val="0"/>
              </a:spcAft>
              <a:buSzPts val="2400"/>
              <a:buChar char="●"/>
            </a:pPr>
            <a:r>
              <a:rPr lang="en-GB"/>
              <a:t>Khó duy trì ngữ pháp phức tạp.</a:t>
            </a:r>
            <a:endParaRPr/>
          </a:p>
          <a:p>
            <a:pPr indent="-381000" lvl="0" marL="457200" rtl="0" algn="l">
              <a:spcBef>
                <a:spcPts val="0"/>
              </a:spcBef>
              <a:spcAft>
                <a:spcPts val="0"/>
              </a:spcAft>
              <a:buSzPts val="2400"/>
              <a:buChar char="●"/>
            </a:pPr>
            <a:r>
              <a:rPr lang="en-GB"/>
              <a:t>Cần thay đổi lớp biểu thức để thêm cách xử lý. Có thể sử dụng mẫu Khách thăm để tránh thay đổi các lớp.</a:t>
            </a:r>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3" name="Shape 2153"/>
        <p:cNvGrpSpPr/>
        <p:nvPr/>
      </p:nvGrpSpPr>
      <p:grpSpPr>
        <a:xfrm>
          <a:off x="0" y="0"/>
          <a:ext cx="0" cy="0"/>
          <a:chOff x="0" y="0"/>
          <a:chExt cx="0" cy="0"/>
        </a:xfrm>
      </p:grpSpPr>
      <p:sp>
        <p:nvSpPr>
          <p:cNvPr id="2154" name="Google Shape;2154;p110"/>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18. Biểu thức chính quy</a:t>
            </a:r>
            <a:endParaRPr/>
          </a:p>
        </p:txBody>
      </p:sp>
      <p:sp>
        <p:nvSpPr>
          <p:cNvPr id="2155" name="Google Shape;2155;p11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2156" name="Google Shape;2156;p110"/>
          <p:cNvSpPr/>
          <p:nvPr/>
        </p:nvSpPr>
        <p:spPr>
          <a:xfrm>
            <a:off x="3990494" y="1327975"/>
            <a:ext cx="21951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i="1" lang="en-GB" sz="1600"/>
              <a:t>RegularExpression</a:t>
            </a:r>
            <a:endParaRPr i="1" sz="1600"/>
          </a:p>
        </p:txBody>
      </p:sp>
      <p:sp>
        <p:nvSpPr>
          <p:cNvPr id="2157" name="Google Shape;2157;p110"/>
          <p:cNvSpPr/>
          <p:nvPr/>
        </p:nvSpPr>
        <p:spPr>
          <a:xfrm>
            <a:off x="3990475" y="1650200"/>
            <a:ext cx="2195100" cy="3915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i="1" lang="en-GB" sz="1600"/>
              <a:t>Interpret()</a:t>
            </a:r>
            <a:endParaRPr i="1" sz="1600"/>
          </a:p>
        </p:txBody>
      </p:sp>
      <p:sp>
        <p:nvSpPr>
          <p:cNvPr id="2158" name="Google Shape;2158;p110"/>
          <p:cNvSpPr/>
          <p:nvPr/>
        </p:nvSpPr>
        <p:spPr>
          <a:xfrm>
            <a:off x="2466492" y="2623375"/>
            <a:ext cx="19164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LiteralExpression</a:t>
            </a:r>
            <a:endParaRPr sz="1600"/>
          </a:p>
        </p:txBody>
      </p:sp>
      <p:sp>
        <p:nvSpPr>
          <p:cNvPr id="2159" name="Google Shape;2159;p110"/>
          <p:cNvSpPr/>
          <p:nvPr/>
        </p:nvSpPr>
        <p:spPr>
          <a:xfrm>
            <a:off x="2466475" y="2945600"/>
            <a:ext cx="1916400" cy="3915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lang="en-GB" sz="1600"/>
              <a:t>literal</a:t>
            </a:r>
            <a:endParaRPr sz="1600"/>
          </a:p>
        </p:txBody>
      </p:sp>
      <p:sp>
        <p:nvSpPr>
          <p:cNvPr id="2160" name="Google Shape;2160;p110"/>
          <p:cNvSpPr/>
          <p:nvPr/>
        </p:nvSpPr>
        <p:spPr>
          <a:xfrm>
            <a:off x="5273396" y="2623375"/>
            <a:ext cx="23322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SequenceExpression</a:t>
            </a:r>
            <a:endParaRPr sz="1600"/>
          </a:p>
        </p:txBody>
      </p:sp>
      <p:sp>
        <p:nvSpPr>
          <p:cNvPr id="2161" name="Google Shape;2161;p110"/>
          <p:cNvSpPr/>
          <p:nvPr/>
        </p:nvSpPr>
        <p:spPr>
          <a:xfrm>
            <a:off x="5273376" y="2945600"/>
            <a:ext cx="2332200" cy="3915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lang="en-GB" sz="1600"/>
              <a:t>Interpret()</a:t>
            </a:r>
            <a:endParaRPr sz="1600"/>
          </a:p>
        </p:txBody>
      </p:sp>
      <p:sp>
        <p:nvSpPr>
          <p:cNvPr id="2162" name="Google Shape;2162;p110"/>
          <p:cNvSpPr/>
          <p:nvPr/>
        </p:nvSpPr>
        <p:spPr>
          <a:xfrm>
            <a:off x="4382814" y="2052256"/>
            <a:ext cx="191700" cy="1047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3" name="Google Shape;2163;p110"/>
          <p:cNvSpPr/>
          <p:nvPr/>
        </p:nvSpPr>
        <p:spPr>
          <a:xfrm>
            <a:off x="5449614" y="2052256"/>
            <a:ext cx="191700" cy="1047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164" name="Google Shape;2164;p110"/>
          <p:cNvCxnSpPr>
            <a:stCxn id="2158" idx="0"/>
            <a:endCxn id="2162" idx="3"/>
          </p:cNvCxnSpPr>
          <p:nvPr/>
        </p:nvCxnSpPr>
        <p:spPr>
          <a:xfrm rot="-5400000">
            <a:off x="3718392" y="1863175"/>
            <a:ext cx="466500" cy="1053900"/>
          </a:xfrm>
          <a:prstGeom prst="bentConnector3">
            <a:avLst>
              <a:gd fmla="val 49991" name="adj1"/>
            </a:avLst>
          </a:prstGeom>
          <a:noFill/>
          <a:ln cap="flat" cmpd="sng" w="9525">
            <a:solidFill>
              <a:schemeClr val="dk2"/>
            </a:solidFill>
            <a:prstDash val="solid"/>
            <a:round/>
            <a:headEnd len="med" w="med" type="none"/>
            <a:tailEnd len="med" w="med" type="none"/>
          </a:ln>
        </p:spPr>
      </p:cxnSp>
      <p:cxnSp>
        <p:nvCxnSpPr>
          <p:cNvPr id="2165" name="Google Shape;2165;p110"/>
          <p:cNvCxnSpPr>
            <a:stCxn id="2160" idx="0"/>
            <a:endCxn id="2163" idx="3"/>
          </p:cNvCxnSpPr>
          <p:nvPr/>
        </p:nvCxnSpPr>
        <p:spPr>
          <a:xfrm flipH="1" rot="5400000">
            <a:off x="5759246" y="1943125"/>
            <a:ext cx="466500" cy="894000"/>
          </a:xfrm>
          <a:prstGeom prst="bentConnector3">
            <a:avLst>
              <a:gd fmla="val 49991" name="adj1"/>
            </a:avLst>
          </a:prstGeom>
          <a:noFill/>
          <a:ln cap="flat" cmpd="sng" w="9525">
            <a:solidFill>
              <a:schemeClr val="dk2"/>
            </a:solidFill>
            <a:prstDash val="solid"/>
            <a:round/>
            <a:headEnd len="med" w="med" type="none"/>
            <a:tailEnd len="med" w="med" type="none"/>
          </a:ln>
        </p:spPr>
      </p:cxnSp>
      <p:sp>
        <p:nvSpPr>
          <p:cNvPr id="2166" name="Google Shape;2166;p110"/>
          <p:cNvSpPr/>
          <p:nvPr/>
        </p:nvSpPr>
        <p:spPr>
          <a:xfrm>
            <a:off x="7619275" y="2680377"/>
            <a:ext cx="219625" cy="159725"/>
          </a:xfrm>
          <a:prstGeom prst="flowChartDecision">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167" name="Google Shape;2167;p110"/>
          <p:cNvCxnSpPr>
            <a:endCxn id="2166" idx="3"/>
          </p:cNvCxnSpPr>
          <p:nvPr/>
        </p:nvCxnSpPr>
        <p:spPr>
          <a:xfrm>
            <a:off x="6175400" y="1821840"/>
            <a:ext cx="1663500" cy="938400"/>
          </a:xfrm>
          <a:prstGeom prst="bentConnector3">
            <a:avLst>
              <a:gd fmla="val 114315" name="adj1"/>
            </a:avLst>
          </a:prstGeom>
          <a:noFill/>
          <a:ln cap="flat" cmpd="sng" w="9525">
            <a:solidFill>
              <a:schemeClr val="dk2"/>
            </a:solidFill>
            <a:prstDash val="solid"/>
            <a:round/>
            <a:headEnd len="med" w="med" type="none"/>
            <a:tailEnd len="med" w="med" type="none"/>
          </a:ln>
        </p:spPr>
      </p:cxnSp>
      <p:sp>
        <p:nvSpPr>
          <p:cNvPr id="2168" name="Google Shape;2168;p110"/>
          <p:cNvSpPr/>
          <p:nvPr/>
        </p:nvSpPr>
        <p:spPr>
          <a:xfrm>
            <a:off x="2466475" y="3336583"/>
            <a:ext cx="1916400" cy="3915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lang="en-GB" sz="1600"/>
              <a:t>Interpret()</a:t>
            </a:r>
            <a:endParaRPr sz="1600"/>
          </a:p>
        </p:txBody>
      </p:sp>
      <p:sp>
        <p:nvSpPr>
          <p:cNvPr id="2169" name="Google Shape;2169;p110"/>
          <p:cNvSpPr/>
          <p:nvPr/>
        </p:nvSpPr>
        <p:spPr>
          <a:xfrm>
            <a:off x="1206846" y="4334700"/>
            <a:ext cx="23322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Repetition</a:t>
            </a:r>
            <a:r>
              <a:rPr lang="en-GB" sz="1600"/>
              <a:t>Expression</a:t>
            </a:r>
            <a:endParaRPr sz="1600"/>
          </a:p>
        </p:txBody>
      </p:sp>
      <p:sp>
        <p:nvSpPr>
          <p:cNvPr id="2170" name="Google Shape;2170;p110"/>
          <p:cNvSpPr/>
          <p:nvPr/>
        </p:nvSpPr>
        <p:spPr>
          <a:xfrm>
            <a:off x="1206826" y="4656925"/>
            <a:ext cx="2332200" cy="3915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lang="en-GB" sz="1600"/>
              <a:t>I</a:t>
            </a:r>
            <a:r>
              <a:rPr lang="en-GB" sz="1600"/>
              <a:t>nterpret()</a:t>
            </a:r>
            <a:endParaRPr sz="1600"/>
          </a:p>
        </p:txBody>
      </p:sp>
      <p:sp>
        <p:nvSpPr>
          <p:cNvPr id="2171" name="Google Shape;2171;p110"/>
          <p:cNvSpPr/>
          <p:nvPr/>
        </p:nvSpPr>
        <p:spPr>
          <a:xfrm>
            <a:off x="4102446" y="4334700"/>
            <a:ext cx="23322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Alternation</a:t>
            </a:r>
            <a:r>
              <a:rPr lang="en-GB" sz="1600"/>
              <a:t>Expression</a:t>
            </a:r>
            <a:endParaRPr sz="1600"/>
          </a:p>
        </p:txBody>
      </p:sp>
      <p:sp>
        <p:nvSpPr>
          <p:cNvPr id="2172" name="Google Shape;2172;p110"/>
          <p:cNvSpPr/>
          <p:nvPr/>
        </p:nvSpPr>
        <p:spPr>
          <a:xfrm>
            <a:off x="4102426" y="4656925"/>
            <a:ext cx="2332200" cy="3915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lang="en-GB" sz="1600"/>
              <a:t>I</a:t>
            </a:r>
            <a:r>
              <a:rPr lang="en-GB" sz="1600"/>
              <a:t>nterpret()</a:t>
            </a:r>
            <a:endParaRPr sz="1600"/>
          </a:p>
        </p:txBody>
      </p:sp>
      <p:sp>
        <p:nvSpPr>
          <p:cNvPr id="2173" name="Google Shape;2173;p110"/>
          <p:cNvSpPr/>
          <p:nvPr/>
        </p:nvSpPr>
        <p:spPr>
          <a:xfrm>
            <a:off x="7619275" y="2985177"/>
            <a:ext cx="219625" cy="159725"/>
          </a:xfrm>
          <a:prstGeom prst="flowChartDecision">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174" name="Google Shape;2174;p110"/>
          <p:cNvCxnSpPr>
            <a:stCxn id="2173" idx="3"/>
          </p:cNvCxnSpPr>
          <p:nvPr/>
        </p:nvCxnSpPr>
        <p:spPr>
          <a:xfrm rot="10800000">
            <a:off x="6195500" y="1692240"/>
            <a:ext cx="1643400" cy="1372800"/>
          </a:xfrm>
          <a:prstGeom prst="bentConnector3">
            <a:avLst>
              <a:gd fmla="val -22090" name="adj1"/>
            </a:avLst>
          </a:prstGeom>
          <a:noFill/>
          <a:ln cap="flat" cmpd="sng" w="9525">
            <a:solidFill>
              <a:schemeClr val="dk2"/>
            </a:solidFill>
            <a:prstDash val="solid"/>
            <a:round/>
            <a:headEnd len="med" w="med" type="none"/>
            <a:tailEnd len="med" w="med" type="none"/>
          </a:ln>
        </p:spPr>
      </p:cxnSp>
      <p:sp>
        <p:nvSpPr>
          <p:cNvPr id="2175" name="Google Shape;2175;p110"/>
          <p:cNvSpPr/>
          <p:nvPr/>
        </p:nvSpPr>
        <p:spPr>
          <a:xfrm>
            <a:off x="6456310" y="4432977"/>
            <a:ext cx="219625" cy="159725"/>
          </a:xfrm>
          <a:prstGeom prst="flowChartDecision">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76" name="Google Shape;2176;p110"/>
          <p:cNvSpPr/>
          <p:nvPr/>
        </p:nvSpPr>
        <p:spPr>
          <a:xfrm>
            <a:off x="6456310" y="4737777"/>
            <a:ext cx="219625" cy="159725"/>
          </a:xfrm>
          <a:prstGeom prst="flowChartDecision">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177" name="Google Shape;2177;p110"/>
          <p:cNvCxnSpPr>
            <a:stCxn id="2175" idx="3"/>
          </p:cNvCxnSpPr>
          <p:nvPr/>
        </p:nvCxnSpPr>
        <p:spPr>
          <a:xfrm rot="10800000">
            <a:off x="6195335" y="1592340"/>
            <a:ext cx="480600" cy="2920500"/>
          </a:xfrm>
          <a:prstGeom prst="bentConnector4">
            <a:avLst>
              <a:gd fmla="val -346596" name="adj1"/>
              <a:gd fmla="val 100001" name="adj2"/>
            </a:avLst>
          </a:prstGeom>
          <a:noFill/>
          <a:ln cap="flat" cmpd="sng" w="9525">
            <a:solidFill>
              <a:schemeClr val="dk2"/>
            </a:solidFill>
            <a:prstDash val="solid"/>
            <a:round/>
            <a:headEnd len="med" w="med" type="none"/>
            <a:tailEnd len="med" w="med" type="none"/>
          </a:ln>
        </p:spPr>
      </p:cxnSp>
      <p:cxnSp>
        <p:nvCxnSpPr>
          <p:cNvPr id="2178" name="Google Shape;2178;p110"/>
          <p:cNvCxnSpPr>
            <a:stCxn id="2176" idx="3"/>
            <a:endCxn id="2156" idx="3"/>
          </p:cNvCxnSpPr>
          <p:nvPr/>
        </p:nvCxnSpPr>
        <p:spPr>
          <a:xfrm rot="10800000">
            <a:off x="6185735" y="1489140"/>
            <a:ext cx="490200" cy="3328500"/>
          </a:xfrm>
          <a:prstGeom prst="bentConnector3">
            <a:avLst>
              <a:gd fmla="val -378502" name="adj1"/>
            </a:avLst>
          </a:prstGeom>
          <a:noFill/>
          <a:ln cap="flat" cmpd="sng" w="9525">
            <a:solidFill>
              <a:schemeClr val="dk2"/>
            </a:solidFill>
            <a:prstDash val="solid"/>
            <a:round/>
            <a:headEnd len="med" w="med" type="none"/>
            <a:tailEnd len="med" w="med" type="none"/>
          </a:ln>
        </p:spPr>
      </p:cxnSp>
      <p:sp>
        <p:nvSpPr>
          <p:cNvPr id="2179" name="Google Shape;2179;p110"/>
          <p:cNvSpPr/>
          <p:nvPr/>
        </p:nvSpPr>
        <p:spPr>
          <a:xfrm>
            <a:off x="969910" y="4432977"/>
            <a:ext cx="219625" cy="159725"/>
          </a:xfrm>
          <a:prstGeom prst="flowChartDecision">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180" name="Google Shape;2180;p110"/>
          <p:cNvCxnSpPr>
            <a:stCxn id="2179" idx="1"/>
            <a:endCxn id="2156" idx="1"/>
          </p:cNvCxnSpPr>
          <p:nvPr/>
        </p:nvCxnSpPr>
        <p:spPr>
          <a:xfrm flipH="1" rot="10800000">
            <a:off x="969910" y="1489140"/>
            <a:ext cx="3020700" cy="3023700"/>
          </a:xfrm>
          <a:prstGeom prst="bentConnector3">
            <a:avLst>
              <a:gd fmla="val -7883" name="adj1"/>
            </a:avLst>
          </a:prstGeom>
          <a:noFill/>
          <a:ln cap="flat" cmpd="sng" w="9525">
            <a:solidFill>
              <a:schemeClr val="dk2"/>
            </a:solidFill>
            <a:prstDash val="solid"/>
            <a:round/>
            <a:headEnd len="med" w="med" type="none"/>
            <a:tailEnd len="med" w="med" type="none"/>
          </a:ln>
        </p:spPr>
      </p:cxnSp>
      <p:sp>
        <p:nvSpPr>
          <p:cNvPr id="2181" name="Google Shape;2181;p110"/>
          <p:cNvSpPr/>
          <p:nvPr/>
        </p:nvSpPr>
        <p:spPr>
          <a:xfrm>
            <a:off x="4687614" y="2052256"/>
            <a:ext cx="191700" cy="1047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2" name="Google Shape;2182;p110"/>
          <p:cNvSpPr/>
          <p:nvPr/>
        </p:nvSpPr>
        <p:spPr>
          <a:xfrm>
            <a:off x="4992414" y="2052256"/>
            <a:ext cx="191700" cy="1047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183" name="Google Shape;2183;p110"/>
          <p:cNvCxnSpPr>
            <a:stCxn id="2169" idx="0"/>
            <a:endCxn id="2181" idx="3"/>
          </p:cNvCxnSpPr>
          <p:nvPr/>
        </p:nvCxnSpPr>
        <p:spPr>
          <a:xfrm rot="-5400000">
            <a:off x="2489346" y="2040600"/>
            <a:ext cx="2177700" cy="2410500"/>
          </a:xfrm>
          <a:prstGeom prst="bentConnector3">
            <a:avLst>
              <a:gd fmla="val 20958" name="adj1"/>
            </a:avLst>
          </a:prstGeom>
          <a:noFill/>
          <a:ln cap="flat" cmpd="sng" w="9525">
            <a:solidFill>
              <a:schemeClr val="dk2"/>
            </a:solidFill>
            <a:prstDash val="solid"/>
            <a:round/>
            <a:headEnd len="med" w="med" type="none"/>
            <a:tailEnd len="med" w="med" type="none"/>
          </a:ln>
        </p:spPr>
      </p:cxnSp>
      <p:cxnSp>
        <p:nvCxnSpPr>
          <p:cNvPr id="2184" name="Google Shape;2184;p110"/>
          <p:cNvCxnSpPr>
            <a:stCxn id="2171" idx="0"/>
            <a:endCxn id="2182" idx="3"/>
          </p:cNvCxnSpPr>
          <p:nvPr/>
        </p:nvCxnSpPr>
        <p:spPr>
          <a:xfrm flipH="1" rot="5400000">
            <a:off x="4089546" y="3155700"/>
            <a:ext cx="2177700" cy="180300"/>
          </a:xfrm>
          <a:prstGeom prst="bentConnector3">
            <a:avLst>
              <a:gd fmla="val 20042" name="adj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8" name="Shape 2188"/>
        <p:cNvGrpSpPr/>
        <p:nvPr/>
      </p:nvGrpSpPr>
      <p:grpSpPr>
        <a:xfrm>
          <a:off x="0" y="0"/>
          <a:ext cx="0" cy="0"/>
          <a:chOff x="0" y="0"/>
          <a:chExt cx="0" cy="0"/>
        </a:xfrm>
      </p:grpSpPr>
      <p:sp>
        <p:nvSpPr>
          <p:cNvPr id="2189" name="Google Shape;2189;p111"/>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Biến duyệt</a:t>
            </a:r>
            <a:endParaRPr/>
          </a:p>
        </p:txBody>
      </p:sp>
      <p:sp>
        <p:nvSpPr>
          <p:cNvPr id="2190" name="Google Shape;2190;p111"/>
          <p:cNvSpPr txBox="1"/>
          <p:nvPr>
            <p:ph idx="1" type="body"/>
          </p:nvPr>
        </p:nvSpPr>
        <p:spPr>
          <a:xfrm>
            <a:off x="311700" y="950475"/>
            <a:ext cx="8520600" cy="54183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i="1" lang="en-GB"/>
              <a:t>Iterator</a:t>
            </a:r>
            <a:endParaRPr i="1"/>
          </a:p>
          <a:p>
            <a:pPr indent="0" lvl="0" marL="0" rtl="0" algn="just">
              <a:spcBef>
                <a:spcPts val="0"/>
              </a:spcBef>
              <a:spcAft>
                <a:spcPts val="0"/>
              </a:spcAft>
              <a:buNone/>
            </a:pPr>
            <a:r>
              <a:rPr lang="en-GB"/>
              <a:t>Cung c</a:t>
            </a:r>
            <a:r>
              <a:rPr lang="en-GB"/>
              <a:t>ấp một cách duyệt các phần tử trong lưu trữ theo thứ tự tuần tự, thống nhất, và độc lập với các biểu diễn.</a:t>
            </a:r>
            <a:endParaRPr/>
          </a:p>
        </p:txBody>
      </p:sp>
      <p:sp>
        <p:nvSpPr>
          <p:cNvPr id="2191" name="Google Shape;2191;p11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5" name="Shape 2195"/>
        <p:cNvGrpSpPr/>
        <p:nvPr/>
      </p:nvGrpSpPr>
      <p:grpSpPr>
        <a:xfrm>
          <a:off x="0" y="0"/>
          <a:ext cx="0" cy="0"/>
          <a:chOff x="0" y="0"/>
          <a:chExt cx="0" cy="0"/>
        </a:xfrm>
      </p:grpSpPr>
      <p:sp>
        <p:nvSpPr>
          <p:cNvPr id="2196" name="Google Shape;2196;p112"/>
          <p:cNvSpPr/>
          <p:nvPr/>
        </p:nvSpPr>
        <p:spPr>
          <a:xfrm flipH="1" rot="10800000">
            <a:off x="2675625" y="4954900"/>
            <a:ext cx="2897400" cy="442500"/>
          </a:xfrm>
          <a:prstGeom prst="foldedCorner">
            <a:avLst>
              <a:gd fmla="val 25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7" name="Google Shape;2197;p112"/>
          <p:cNvSpPr txBox="1"/>
          <p:nvPr/>
        </p:nvSpPr>
        <p:spPr>
          <a:xfrm>
            <a:off x="2649500" y="4931025"/>
            <a:ext cx="2844300" cy="466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GB"/>
              <a:t>return new Biến duyệt cụ thể(this)</a:t>
            </a:r>
            <a:endParaRPr/>
          </a:p>
        </p:txBody>
      </p:sp>
      <p:sp>
        <p:nvSpPr>
          <p:cNvPr id="2198" name="Google Shape;2198;p112"/>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Biến duyệt: Cấu trúc</a:t>
            </a:r>
            <a:endParaRPr/>
          </a:p>
        </p:txBody>
      </p:sp>
      <p:sp>
        <p:nvSpPr>
          <p:cNvPr id="2199" name="Google Shape;2199;p11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2200" name="Google Shape;2200;p112"/>
          <p:cNvSpPr/>
          <p:nvPr/>
        </p:nvSpPr>
        <p:spPr>
          <a:xfrm>
            <a:off x="6505094" y="1480375"/>
            <a:ext cx="20910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i="1" lang="en-GB" sz="1600"/>
              <a:t>Biến duyệt</a:t>
            </a:r>
            <a:endParaRPr i="1" sz="1600"/>
          </a:p>
        </p:txBody>
      </p:sp>
      <p:sp>
        <p:nvSpPr>
          <p:cNvPr id="2201" name="Google Shape;2201;p112"/>
          <p:cNvSpPr/>
          <p:nvPr/>
        </p:nvSpPr>
        <p:spPr>
          <a:xfrm>
            <a:off x="6505075" y="1802600"/>
            <a:ext cx="2091000" cy="11253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i="1" lang="en-GB" sz="1600"/>
              <a:t>Đầu Tiên()</a:t>
            </a:r>
            <a:endParaRPr i="1" sz="1600"/>
          </a:p>
          <a:p>
            <a:pPr indent="0" lvl="0" marL="0" rtl="0" algn="l">
              <a:spcBef>
                <a:spcPts val="0"/>
              </a:spcBef>
              <a:spcAft>
                <a:spcPts val="0"/>
              </a:spcAft>
              <a:buNone/>
            </a:pPr>
            <a:r>
              <a:rPr i="1" lang="en-GB" sz="1600"/>
              <a:t>Tiếp Theo()</a:t>
            </a:r>
            <a:endParaRPr i="1" sz="1600"/>
          </a:p>
          <a:p>
            <a:pPr indent="0" lvl="0" marL="0" rtl="0" algn="l">
              <a:spcBef>
                <a:spcPts val="0"/>
              </a:spcBef>
              <a:spcAft>
                <a:spcPts val="0"/>
              </a:spcAft>
              <a:buNone/>
            </a:pPr>
            <a:r>
              <a:rPr i="1" lang="en-GB" sz="1600"/>
              <a:t>Có phần tử tiếp theo()</a:t>
            </a:r>
            <a:endParaRPr i="1" sz="1600"/>
          </a:p>
          <a:p>
            <a:pPr indent="0" lvl="0" marL="0" rtl="0" algn="l">
              <a:spcBef>
                <a:spcPts val="0"/>
              </a:spcBef>
              <a:spcAft>
                <a:spcPts val="0"/>
              </a:spcAft>
              <a:buNone/>
            </a:pPr>
            <a:r>
              <a:rPr i="1" lang="en-GB" sz="1600"/>
              <a:t>P</a:t>
            </a:r>
            <a:r>
              <a:rPr i="1" lang="en-GB" sz="1600"/>
              <a:t>hần tử hiện tại()</a:t>
            </a:r>
            <a:endParaRPr i="1" sz="1600"/>
          </a:p>
          <a:p>
            <a:pPr indent="0" lvl="0" marL="0" rtl="0" algn="l">
              <a:spcBef>
                <a:spcPts val="0"/>
              </a:spcBef>
              <a:spcAft>
                <a:spcPts val="0"/>
              </a:spcAft>
              <a:buNone/>
            </a:pPr>
            <a:r>
              <a:t/>
            </a:r>
            <a:endParaRPr i="1" sz="1600"/>
          </a:p>
        </p:txBody>
      </p:sp>
      <p:sp>
        <p:nvSpPr>
          <p:cNvPr id="2202" name="Google Shape;2202;p112"/>
          <p:cNvSpPr/>
          <p:nvPr/>
        </p:nvSpPr>
        <p:spPr>
          <a:xfrm>
            <a:off x="4485925" y="1421100"/>
            <a:ext cx="1008000" cy="4380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Khách</a:t>
            </a:r>
            <a:endParaRPr sz="1600"/>
          </a:p>
        </p:txBody>
      </p:sp>
      <p:sp>
        <p:nvSpPr>
          <p:cNvPr id="2203" name="Google Shape;2203;p112"/>
          <p:cNvSpPr/>
          <p:nvPr/>
        </p:nvSpPr>
        <p:spPr>
          <a:xfrm>
            <a:off x="1268743" y="3766375"/>
            <a:ext cx="1999200" cy="3162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Lưu trữ cụ thể</a:t>
            </a:r>
            <a:endParaRPr sz="1600"/>
          </a:p>
        </p:txBody>
      </p:sp>
      <p:sp>
        <p:nvSpPr>
          <p:cNvPr id="2204" name="Google Shape;2204;p112"/>
          <p:cNvSpPr/>
          <p:nvPr/>
        </p:nvSpPr>
        <p:spPr>
          <a:xfrm>
            <a:off x="1268725" y="4082279"/>
            <a:ext cx="1999200" cy="3837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lang="en-GB" sz="1600"/>
              <a:t>Tạo biến duyệt()</a:t>
            </a:r>
            <a:endParaRPr sz="1600"/>
          </a:p>
        </p:txBody>
      </p:sp>
      <p:sp>
        <p:nvSpPr>
          <p:cNvPr id="2205" name="Google Shape;2205;p112"/>
          <p:cNvSpPr/>
          <p:nvPr/>
        </p:nvSpPr>
        <p:spPr>
          <a:xfrm>
            <a:off x="6253075" y="3766375"/>
            <a:ext cx="2091000" cy="5247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Biến duyệt cụ thể</a:t>
            </a:r>
            <a:endParaRPr sz="1600"/>
          </a:p>
        </p:txBody>
      </p:sp>
      <p:sp>
        <p:nvSpPr>
          <p:cNvPr id="2206" name="Google Shape;2206;p112"/>
          <p:cNvSpPr/>
          <p:nvPr/>
        </p:nvSpPr>
        <p:spPr>
          <a:xfrm>
            <a:off x="7202214" y="2936709"/>
            <a:ext cx="191700" cy="1047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207" name="Google Shape;2207;p112"/>
          <p:cNvCxnSpPr>
            <a:stCxn id="2202" idx="3"/>
            <a:endCxn id="2200" idx="1"/>
          </p:cNvCxnSpPr>
          <p:nvPr/>
        </p:nvCxnSpPr>
        <p:spPr>
          <a:xfrm>
            <a:off x="5493925" y="1640100"/>
            <a:ext cx="1011300" cy="1500"/>
          </a:xfrm>
          <a:prstGeom prst="straightConnector1">
            <a:avLst/>
          </a:prstGeom>
          <a:noFill/>
          <a:ln cap="flat" cmpd="sng" w="9525">
            <a:solidFill>
              <a:schemeClr val="dk2"/>
            </a:solidFill>
            <a:prstDash val="dash"/>
            <a:round/>
            <a:headEnd len="med" w="med" type="none"/>
            <a:tailEnd len="med" w="med" type="triangle"/>
          </a:ln>
        </p:spPr>
      </p:cxnSp>
      <p:cxnSp>
        <p:nvCxnSpPr>
          <p:cNvPr id="2208" name="Google Shape;2208;p112"/>
          <p:cNvCxnSpPr>
            <a:stCxn id="2205" idx="0"/>
            <a:endCxn id="2206" idx="3"/>
          </p:cNvCxnSpPr>
          <p:nvPr/>
        </p:nvCxnSpPr>
        <p:spPr>
          <a:xfrm rot="10800000">
            <a:off x="7297975" y="3041275"/>
            <a:ext cx="600" cy="725100"/>
          </a:xfrm>
          <a:prstGeom prst="straightConnector1">
            <a:avLst/>
          </a:prstGeom>
          <a:noFill/>
          <a:ln cap="flat" cmpd="sng" w="9525">
            <a:solidFill>
              <a:schemeClr val="dk2"/>
            </a:solidFill>
            <a:prstDash val="solid"/>
            <a:round/>
            <a:headEnd len="med" w="med" type="none"/>
            <a:tailEnd len="med" w="med" type="none"/>
          </a:ln>
        </p:spPr>
      </p:cxnSp>
      <p:sp>
        <p:nvSpPr>
          <p:cNvPr id="2209" name="Google Shape;2209;p112"/>
          <p:cNvSpPr/>
          <p:nvPr/>
        </p:nvSpPr>
        <p:spPr>
          <a:xfrm>
            <a:off x="1475891" y="1480375"/>
            <a:ext cx="17040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Lưu trữ</a:t>
            </a:r>
            <a:endParaRPr sz="1600"/>
          </a:p>
        </p:txBody>
      </p:sp>
      <p:sp>
        <p:nvSpPr>
          <p:cNvPr id="2210" name="Google Shape;2210;p112"/>
          <p:cNvSpPr/>
          <p:nvPr/>
        </p:nvSpPr>
        <p:spPr>
          <a:xfrm>
            <a:off x="1475876" y="1802600"/>
            <a:ext cx="1704000" cy="3915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i="1" lang="en-GB" sz="1600"/>
              <a:t>Tạo biến duyệt</a:t>
            </a:r>
            <a:r>
              <a:rPr i="1" lang="en-GB" sz="1600"/>
              <a:t>()</a:t>
            </a:r>
            <a:endParaRPr i="1" sz="1600"/>
          </a:p>
        </p:txBody>
      </p:sp>
      <p:cxnSp>
        <p:nvCxnSpPr>
          <p:cNvPr id="2211" name="Google Shape;2211;p112"/>
          <p:cNvCxnSpPr>
            <a:stCxn id="2202" idx="1"/>
            <a:endCxn id="2209" idx="3"/>
          </p:cNvCxnSpPr>
          <p:nvPr/>
        </p:nvCxnSpPr>
        <p:spPr>
          <a:xfrm flipH="1">
            <a:off x="3180025" y="1640100"/>
            <a:ext cx="1305900" cy="1500"/>
          </a:xfrm>
          <a:prstGeom prst="straightConnector1">
            <a:avLst/>
          </a:prstGeom>
          <a:noFill/>
          <a:ln cap="flat" cmpd="sng" w="9525">
            <a:solidFill>
              <a:schemeClr val="dk2"/>
            </a:solidFill>
            <a:prstDash val="dash"/>
            <a:round/>
            <a:headEnd len="med" w="med" type="none"/>
            <a:tailEnd len="med" w="med" type="triangle"/>
          </a:ln>
        </p:spPr>
      </p:cxnSp>
      <p:sp>
        <p:nvSpPr>
          <p:cNvPr id="2212" name="Google Shape;2212;p112"/>
          <p:cNvSpPr/>
          <p:nvPr/>
        </p:nvSpPr>
        <p:spPr>
          <a:xfrm>
            <a:off x="2173014" y="2204656"/>
            <a:ext cx="191700" cy="1047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213" name="Google Shape;2213;p112"/>
          <p:cNvCxnSpPr>
            <a:stCxn id="2203" idx="0"/>
            <a:endCxn id="2212" idx="3"/>
          </p:cNvCxnSpPr>
          <p:nvPr/>
        </p:nvCxnSpPr>
        <p:spPr>
          <a:xfrm flipH="1" rot="10800000">
            <a:off x="2268343" y="2309275"/>
            <a:ext cx="600" cy="1457100"/>
          </a:xfrm>
          <a:prstGeom prst="straightConnector1">
            <a:avLst/>
          </a:prstGeom>
          <a:noFill/>
          <a:ln cap="flat" cmpd="sng" w="9525">
            <a:solidFill>
              <a:schemeClr val="dk2"/>
            </a:solidFill>
            <a:prstDash val="solid"/>
            <a:round/>
            <a:headEnd len="med" w="med" type="none"/>
            <a:tailEnd len="med" w="med" type="none"/>
          </a:ln>
        </p:spPr>
      </p:cxnSp>
      <p:cxnSp>
        <p:nvCxnSpPr>
          <p:cNvPr id="2214" name="Google Shape;2214;p112"/>
          <p:cNvCxnSpPr/>
          <p:nvPr/>
        </p:nvCxnSpPr>
        <p:spPr>
          <a:xfrm rot="10800000">
            <a:off x="3266575" y="4181125"/>
            <a:ext cx="2986500" cy="0"/>
          </a:xfrm>
          <a:prstGeom prst="straightConnector1">
            <a:avLst/>
          </a:prstGeom>
          <a:noFill/>
          <a:ln cap="flat" cmpd="sng" w="9525">
            <a:solidFill>
              <a:schemeClr val="dk2"/>
            </a:solidFill>
            <a:prstDash val="solid"/>
            <a:round/>
            <a:headEnd len="med" w="med" type="none"/>
            <a:tailEnd len="med" w="med" type="triangle"/>
          </a:ln>
        </p:spPr>
      </p:cxnSp>
      <p:cxnSp>
        <p:nvCxnSpPr>
          <p:cNvPr id="2215" name="Google Shape;2215;p112"/>
          <p:cNvCxnSpPr>
            <a:stCxn id="2203" idx="3"/>
          </p:cNvCxnSpPr>
          <p:nvPr/>
        </p:nvCxnSpPr>
        <p:spPr>
          <a:xfrm>
            <a:off x="3267943" y="3924475"/>
            <a:ext cx="2984400" cy="0"/>
          </a:xfrm>
          <a:prstGeom prst="straightConnector1">
            <a:avLst/>
          </a:prstGeom>
          <a:noFill/>
          <a:ln cap="flat" cmpd="sng" w="9525">
            <a:solidFill>
              <a:schemeClr val="dk2"/>
            </a:solidFill>
            <a:prstDash val="dash"/>
            <a:round/>
            <a:headEnd len="med" w="med" type="none"/>
            <a:tailEnd len="med" w="med" type="triangle"/>
          </a:ln>
        </p:spPr>
      </p:cxnSp>
      <p:sp>
        <p:nvSpPr>
          <p:cNvPr id="2216" name="Google Shape;2216;p112"/>
          <p:cNvSpPr/>
          <p:nvPr/>
        </p:nvSpPr>
        <p:spPr>
          <a:xfrm>
            <a:off x="2900675" y="4221443"/>
            <a:ext cx="81900" cy="104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7" name="Google Shape;2217;p112"/>
          <p:cNvSpPr/>
          <p:nvPr/>
        </p:nvSpPr>
        <p:spPr>
          <a:xfrm>
            <a:off x="4485925" y="2146830"/>
            <a:ext cx="1008000" cy="4380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Phần tử</a:t>
            </a:r>
            <a:endParaRPr sz="1600"/>
          </a:p>
        </p:txBody>
      </p:sp>
      <p:cxnSp>
        <p:nvCxnSpPr>
          <p:cNvPr id="2218" name="Google Shape;2218;p112"/>
          <p:cNvCxnSpPr/>
          <p:nvPr/>
        </p:nvCxnSpPr>
        <p:spPr>
          <a:xfrm>
            <a:off x="2936085" y="4310810"/>
            <a:ext cx="14400" cy="654300"/>
          </a:xfrm>
          <a:prstGeom prst="straightConnector1">
            <a:avLst/>
          </a:prstGeom>
          <a:noFill/>
          <a:ln cap="flat" cmpd="sng" w="9525">
            <a:solidFill>
              <a:schemeClr val="dk2"/>
            </a:solidFill>
            <a:prstDash val="dash"/>
            <a:round/>
            <a:headEnd len="med" w="med" type="none"/>
            <a:tailEnd len="med" w="med" type="none"/>
          </a:ln>
        </p:spPr>
      </p:cxnSp>
      <p:cxnSp>
        <p:nvCxnSpPr>
          <p:cNvPr id="2219" name="Google Shape;2219;p112"/>
          <p:cNvCxnSpPr>
            <a:stCxn id="2201" idx="1"/>
            <a:endCxn id="2217" idx="3"/>
          </p:cNvCxnSpPr>
          <p:nvPr/>
        </p:nvCxnSpPr>
        <p:spPr>
          <a:xfrm flipH="1">
            <a:off x="5494075" y="2365250"/>
            <a:ext cx="1011000" cy="600"/>
          </a:xfrm>
          <a:prstGeom prst="straightConnector1">
            <a:avLst/>
          </a:prstGeom>
          <a:noFill/>
          <a:ln cap="flat" cmpd="sng" w="9525">
            <a:solidFill>
              <a:schemeClr val="dk2"/>
            </a:solidFill>
            <a:prstDash val="dash"/>
            <a:round/>
            <a:headEnd len="med" w="med" type="none"/>
            <a:tailEnd len="med" w="med" type="triangle"/>
          </a:ln>
        </p:spPr>
      </p:cxnSp>
      <p:sp>
        <p:nvSpPr>
          <p:cNvPr id="2220" name="Google Shape;2220;p112"/>
          <p:cNvSpPr/>
          <p:nvPr/>
        </p:nvSpPr>
        <p:spPr>
          <a:xfrm>
            <a:off x="3175375" y="1949650"/>
            <a:ext cx="191700" cy="159725"/>
          </a:xfrm>
          <a:prstGeom prst="flowChartDecision">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221" name="Google Shape;2221;p112"/>
          <p:cNvCxnSpPr>
            <a:stCxn id="2217" idx="1"/>
            <a:endCxn id="2220" idx="3"/>
          </p:cNvCxnSpPr>
          <p:nvPr/>
        </p:nvCxnSpPr>
        <p:spPr>
          <a:xfrm rot="10800000">
            <a:off x="3367225" y="2029530"/>
            <a:ext cx="1118700" cy="336300"/>
          </a:xfrm>
          <a:prstGeom prst="bentConnector3">
            <a:avLst>
              <a:gd fmla="val 50007" name="adj1"/>
            </a:avLst>
          </a:prstGeom>
          <a:noFill/>
          <a:ln cap="flat" cmpd="sng" w="9525">
            <a:solidFill>
              <a:schemeClr val="dk2"/>
            </a:solidFill>
            <a:prstDash val="solid"/>
            <a:round/>
            <a:headEnd len="med" w="med" type="none"/>
            <a:tailEnd len="med" w="med" type="none"/>
          </a:ln>
        </p:spPr>
      </p:cxnSp>
      <p:sp>
        <p:nvSpPr>
          <p:cNvPr id="2222" name="Google Shape;2222;p112"/>
          <p:cNvSpPr txBox="1"/>
          <p:nvPr/>
        </p:nvSpPr>
        <p:spPr>
          <a:xfrm>
            <a:off x="4247173" y="2092073"/>
            <a:ext cx="329400" cy="29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rgbClr val="666666"/>
                </a:solidFill>
              </a:rPr>
              <a:t>*</a:t>
            </a:r>
            <a:endParaRPr>
              <a:solidFill>
                <a:srgbClr val="666666"/>
              </a:solidFill>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6" name="Shape 2226"/>
        <p:cNvGrpSpPr/>
        <p:nvPr/>
      </p:nvGrpSpPr>
      <p:grpSpPr>
        <a:xfrm>
          <a:off x="0" y="0"/>
          <a:ext cx="0" cy="0"/>
          <a:chOff x="0" y="0"/>
          <a:chExt cx="0" cy="0"/>
        </a:xfrm>
      </p:grpSpPr>
      <p:sp>
        <p:nvSpPr>
          <p:cNvPr id="2227" name="Google Shape;2227;p113"/>
          <p:cNvSpPr/>
          <p:nvPr/>
        </p:nvSpPr>
        <p:spPr>
          <a:xfrm>
            <a:off x="769600" y="2308025"/>
            <a:ext cx="7995900" cy="36366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28" name="Google Shape;2228;p113"/>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Biến duyệt: Hành vi</a:t>
            </a:r>
            <a:endParaRPr/>
          </a:p>
        </p:txBody>
      </p:sp>
      <p:sp>
        <p:nvSpPr>
          <p:cNvPr id="2229" name="Google Shape;2229;p11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2230" name="Google Shape;2230;p113"/>
          <p:cNvSpPr/>
          <p:nvPr/>
        </p:nvSpPr>
        <p:spPr>
          <a:xfrm>
            <a:off x="597258" y="1064500"/>
            <a:ext cx="7986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u="sng"/>
              <a:t>:Khách</a:t>
            </a:r>
            <a:endParaRPr sz="1600" u="sng"/>
          </a:p>
        </p:txBody>
      </p:sp>
      <p:cxnSp>
        <p:nvCxnSpPr>
          <p:cNvPr id="2231" name="Google Shape;2231;p113"/>
          <p:cNvCxnSpPr/>
          <p:nvPr/>
        </p:nvCxnSpPr>
        <p:spPr>
          <a:xfrm>
            <a:off x="1003675" y="1387000"/>
            <a:ext cx="0" cy="4838700"/>
          </a:xfrm>
          <a:prstGeom prst="straightConnector1">
            <a:avLst/>
          </a:prstGeom>
          <a:noFill/>
          <a:ln cap="flat" cmpd="sng" w="9525">
            <a:solidFill>
              <a:schemeClr val="dk2"/>
            </a:solidFill>
            <a:prstDash val="dash"/>
            <a:round/>
            <a:headEnd len="med" w="med" type="none"/>
            <a:tailEnd len="med" w="med" type="none"/>
          </a:ln>
        </p:spPr>
      </p:cxnSp>
      <p:sp>
        <p:nvSpPr>
          <p:cNvPr id="2232" name="Google Shape;2232;p113"/>
          <p:cNvSpPr/>
          <p:nvPr/>
        </p:nvSpPr>
        <p:spPr>
          <a:xfrm>
            <a:off x="2005136" y="1064500"/>
            <a:ext cx="15144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u="sng"/>
              <a:t>:</a:t>
            </a:r>
            <a:r>
              <a:rPr lang="en-GB" sz="1600" u="sng"/>
              <a:t>Lưu trữ cụ thể</a:t>
            </a:r>
            <a:endParaRPr sz="1600" u="sng"/>
          </a:p>
        </p:txBody>
      </p:sp>
      <p:cxnSp>
        <p:nvCxnSpPr>
          <p:cNvPr id="2233" name="Google Shape;2233;p113"/>
          <p:cNvCxnSpPr/>
          <p:nvPr/>
        </p:nvCxnSpPr>
        <p:spPr>
          <a:xfrm>
            <a:off x="2756272" y="1387000"/>
            <a:ext cx="0" cy="4838700"/>
          </a:xfrm>
          <a:prstGeom prst="straightConnector1">
            <a:avLst/>
          </a:prstGeom>
          <a:noFill/>
          <a:ln cap="flat" cmpd="sng" w="9525">
            <a:solidFill>
              <a:schemeClr val="dk2"/>
            </a:solidFill>
            <a:prstDash val="dash"/>
            <a:round/>
            <a:headEnd len="med" w="med" type="none"/>
            <a:tailEnd len="med" w="med" type="none"/>
          </a:ln>
        </p:spPr>
      </p:cxnSp>
      <p:sp>
        <p:nvSpPr>
          <p:cNvPr id="2234" name="Google Shape;2234;p113"/>
          <p:cNvSpPr/>
          <p:nvPr/>
        </p:nvSpPr>
        <p:spPr>
          <a:xfrm>
            <a:off x="3607675" y="1750300"/>
            <a:ext cx="19701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u="sng"/>
              <a:t>it</a:t>
            </a:r>
            <a:r>
              <a:rPr lang="en-GB" sz="1600" u="sng"/>
              <a:t>:Bi</a:t>
            </a:r>
            <a:r>
              <a:rPr lang="en-GB" sz="1600" u="sng"/>
              <a:t>ến duyêt cụ thể</a:t>
            </a:r>
            <a:endParaRPr sz="1600" u="sng"/>
          </a:p>
        </p:txBody>
      </p:sp>
      <p:cxnSp>
        <p:nvCxnSpPr>
          <p:cNvPr id="2235" name="Google Shape;2235;p113"/>
          <p:cNvCxnSpPr/>
          <p:nvPr/>
        </p:nvCxnSpPr>
        <p:spPr>
          <a:xfrm>
            <a:off x="4434632" y="2179473"/>
            <a:ext cx="0" cy="4052700"/>
          </a:xfrm>
          <a:prstGeom prst="straightConnector1">
            <a:avLst/>
          </a:prstGeom>
          <a:noFill/>
          <a:ln cap="flat" cmpd="sng" w="9525">
            <a:solidFill>
              <a:schemeClr val="dk2"/>
            </a:solidFill>
            <a:prstDash val="dash"/>
            <a:round/>
            <a:headEnd len="med" w="med" type="none"/>
            <a:tailEnd len="med" w="med" type="none"/>
          </a:ln>
        </p:spPr>
      </p:cxnSp>
      <p:cxnSp>
        <p:nvCxnSpPr>
          <p:cNvPr id="2236" name="Google Shape;2236;p113"/>
          <p:cNvCxnSpPr/>
          <p:nvPr/>
        </p:nvCxnSpPr>
        <p:spPr>
          <a:xfrm>
            <a:off x="991875" y="1794100"/>
            <a:ext cx="1680600" cy="0"/>
          </a:xfrm>
          <a:prstGeom prst="straightConnector1">
            <a:avLst/>
          </a:prstGeom>
          <a:noFill/>
          <a:ln cap="flat" cmpd="sng" w="9525">
            <a:solidFill>
              <a:schemeClr val="dk2"/>
            </a:solidFill>
            <a:prstDash val="solid"/>
            <a:round/>
            <a:headEnd len="med" w="med" type="none"/>
            <a:tailEnd len="med" w="med" type="triangle"/>
          </a:ln>
        </p:spPr>
      </p:cxnSp>
      <p:sp>
        <p:nvSpPr>
          <p:cNvPr id="2237" name="Google Shape;2237;p113"/>
          <p:cNvSpPr txBox="1"/>
          <p:nvPr/>
        </p:nvSpPr>
        <p:spPr>
          <a:xfrm>
            <a:off x="1100350" y="1453875"/>
            <a:ext cx="1653900" cy="39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Tạo biến duyệt</a:t>
            </a:r>
            <a:r>
              <a:rPr lang="en-GB">
                <a:solidFill>
                  <a:schemeClr val="dk2"/>
                </a:solidFill>
              </a:rPr>
              <a:t>()</a:t>
            </a:r>
            <a:endParaRPr>
              <a:solidFill>
                <a:schemeClr val="dk2"/>
              </a:solidFill>
            </a:endParaRPr>
          </a:p>
        </p:txBody>
      </p:sp>
      <p:sp>
        <p:nvSpPr>
          <p:cNvPr id="2238" name="Google Shape;2238;p113"/>
          <p:cNvSpPr/>
          <p:nvPr/>
        </p:nvSpPr>
        <p:spPr>
          <a:xfrm>
            <a:off x="2682525" y="1682475"/>
            <a:ext cx="159600" cy="524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39" name="Google Shape;2239;p113"/>
          <p:cNvSpPr/>
          <p:nvPr/>
        </p:nvSpPr>
        <p:spPr>
          <a:xfrm>
            <a:off x="4344675" y="2892024"/>
            <a:ext cx="159600" cy="457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40" name="Google Shape;2240;p113"/>
          <p:cNvSpPr txBox="1"/>
          <p:nvPr/>
        </p:nvSpPr>
        <p:spPr>
          <a:xfrm>
            <a:off x="2776750" y="1676153"/>
            <a:ext cx="1653900" cy="39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200">
                <a:solidFill>
                  <a:schemeClr val="dk2"/>
                </a:solidFill>
              </a:rPr>
              <a:t>&lt;&lt;Tạo&gt;&gt;</a:t>
            </a:r>
            <a:endParaRPr sz="1200">
              <a:solidFill>
                <a:schemeClr val="dk2"/>
              </a:solidFill>
            </a:endParaRPr>
          </a:p>
        </p:txBody>
      </p:sp>
      <p:cxnSp>
        <p:nvCxnSpPr>
          <p:cNvPr id="2241" name="Google Shape;2241;p113"/>
          <p:cNvCxnSpPr/>
          <p:nvPr/>
        </p:nvCxnSpPr>
        <p:spPr>
          <a:xfrm>
            <a:off x="2842125" y="1987274"/>
            <a:ext cx="765600" cy="600"/>
          </a:xfrm>
          <a:prstGeom prst="straightConnector1">
            <a:avLst/>
          </a:prstGeom>
          <a:noFill/>
          <a:ln cap="flat" cmpd="sng" w="9525">
            <a:solidFill>
              <a:schemeClr val="dk2"/>
            </a:solidFill>
            <a:prstDash val="solid"/>
            <a:round/>
            <a:headEnd len="med" w="med" type="none"/>
            <a:tailEnd len="med" w="med" type="triangle"/>
          </a:ln>
        </p:spPr>
      </p:cxnSp>
      <p:sp>
        <p:nvSpPr>
          <p:cNvPr id="2242" name="Google Shape;2242;p113"/>
          <p:cNvSpPr/>
          <p:nvPr/>
        </p:nvSpPr>
        <p:spPr>
          <a:xfrm>
            <a:off x="4976927" y="1064500"/>
            <a:ext cx="12525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u="sng"/>
              <a:t>e1</a:t>
            </a:r>
            <a:r>
              <a:rPr lang="en-GB" sz="1600" u="sng"/>
              <a:t>:</a:t>
            </a:r>
            <a:r>
              <a:rPr lang="en-GB" sz="1600" u="sng"/>
              <a:t>Phần tử</a:t>
            </a:r>
            <a:endParaRPr sz="1600" u="sng"/>
          </a:p>
        </p:txBody>
      </p:sp>
      <p:sp>
        <p:nvSpPr>
          <p:cNvPr id="2243" name="Google Shape;2243;p113"/>
          <p:cNvSpPr/>
          <p:nvPr/>
        </p:nvSpPr>
        <p:spPr>
          <a:xfrm>
            <a:off x="6292380" y="1064500"/>
            <a:ext cx="12525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u="sng"/>
              <a:t>e</a:t>
            </a:r>
            <a:r>
              <a:rPr lang="en-GB" sz="1600" u="sng"/>
              <a:t>2</a:t>
            </a:r>
            <a:r>
              <a:rPr lang="en-GB" sz="1600" u="sng"/>
              <a:t>:Phần tử</a:t>
            </a:r>
            <a:endParaRPr sz="1600" u="sng"/>
          </a:p>
        </p:txBody>
      </p:sp>
      <p:sp>
        <p:nvSpPr>
          <p:cNvPr id="2244" name="Google Shape;2244;p113"/>
          <p:cNvSpPr/>
          <p:nvPr/>
        </p:nvSpPr>
        <p:spPr>
          <a:xfrm>
            <a:off x="7643927" y="1064500"/>
            <a:ext cx="12525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u="sng"/>
              <a:t>e2:Phần tử</a:t>
            </a:r>
            <a:endParaRPr sz="1600" u="sng"/>
          </a:p>
        </p:txBody>
      </p:sp>
      <p:cxnSp>
        <p:nvCxnSpPr>
          <p:cNvPr id="2245" name="Google Shape;2245;p113"/>
          <p:cNvCxnSpPr/>
          <p:nvPr/>
        </p:nvCxnSpPr>
        <p:spPr>
          <a:xfrm>
            <a:off x="5653830" y="1387000"/>
            <a:ext cx="0" cy="4974000"/>
          </a:xfrm>
          <a:prstGeom prst="straightConnector1">
            <a:avLst/>
          </a:prstGeom>
          <a:noFill/>
          <a:ln cap="flat" cmpd="sng" w="9525">
            <a:solidFill>
              <a:schemeClr val="dk2"/>
            </a:solidFill>
            <a:prstDash val="dash"/>
            <a:round/>
            <a:headEnd len="med" w="med" type="none"/>
            <a:tailEnd len="med" w="med" type="none"/>
          </a:ln>
        </p:spPr>
      </p:cxnSp>
      <p:cxnSp>
        <p:nvCxnSpPr>
          <p:cNvPr id="2246" name="Google Shape;2246;p113"/>
          <p:cNvCxnSpPr/>
          <p:nvPr/>
        </p:nvCxnSpPr>
        <p:spPr>
          <a:xfrm>
            <a:off x="6969280" y="1387000"/>
            <a:ext cx="0" cy="4974000"/>
          </a:xfrm>
          <a:prstGeom prst="straightConnector1">
            <a:avLst/>
          </a:prstGeom>
          <a:noFill/>
          <a:ln cap="flat" cmpd="sng" w="9525">
            <a:solidFill>
              <a:schemeClr val="dk2"/>
            </a:solidFill>
            <a:prstDash val="dash"/>
            <a:round/>
            <a:headEnd len="med" w="med" type="none"/>
            <a:tailEnd len="med" w="med" type="none"/>
          </a:ln>
        </p:spPr>
      </p:cxnSp>
      <p:cxnSp>
        <p:nvCxnSpPr>
          <p:cNvPr id="2247" name="Google Shape;2247;p113"/>
          <p:cNvCxnSpPr/>
          <p:nvPr/>
        </p:nvCxnSpPr>
        <p:spPr>
          <a:xfrm>
            <a:off x="8320825" y="1387000"/>
            <a:ext cx="0" cy="4974000"/>
          </a:xfrm>
          <a:prstGeom prst="straightConnector1">
            <a:avLst/>
          </a:prstGeom>
          <a:noFill/>
          <a:ln cap="flat" cmpd="sng" w="9525">
            <a:solidFill>
              <a:schemeClr val="dk2"/>
            </a:solidFill>
            <a:prstDash val="dash"/>
            <a:round/>
            <a:headEnd len="med" w="med" type="none"/>
            <a:tailEnd len="med" w="med" type="none"/>
          </a:ln>
        </p:spPr>
      </p:cxnSp>
      <p:cxnSp>
        <p:nvCxnSpPr>
          <p:cNvPr id="2248" name="Google Shape;2248;p113"/>
          <p:cNvCxnSpPr/>
          <p:nvPr/>
        </p:nvCxnSpPr>
        <p:spPr>
          <a:xfrm rot="10800000">
            <a:off x="1009150" y="2108375"/>
            <a:ext cx="1667100" cy="0"/>
          </a:xfrm>
          <a:prstGeom prst="straightConnector1">
            <a:avLst/>
          </a:prstGeom>
          <a:noFill/>
          <a:ln cap="flat" cmpd="sng" w="9525">
            <a:solidFill>
              <a:schemeClr val="dk2"/>
            </a:solidFill>
            <a:prstDash val="dash"/>
            <a:round/>
            <a:headEnd len="med" w="med" type="none"/>
            <a:tailEnd len="med" w="med" type="triangle"/>
          </a:ln>
        </p:spPr>
      </p:cxnSp>
      <p:sp>
        <p:nvSpPr>
          <p:cNvPr id="2249" name="Google Shape;2249;p113"/>
          <p:cNvSpPr txBox="1"/>
          <p:nvPr/>
        </p:nvSpPr>
        <p:spPr>
          <a:xfrm>
            <a:off x="1786150" y="1788623"/>
            <a:ext cx="446100" cy="39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it</a:t>
            </a:r>
            <a:endParaRPr>
              <a:solidFill>
                <a:schemeClr val="dk2"/>
              </a:solidFill>
            </a:endParaRPr>
          </a:p>
        </p:txBody>
      </p:sp>
      <p:sp>
        <p:nvSpPr>
          <p:cNvPr id="2250" name="Google Shape;2250;p113"/>
          <p:cNvSpPr/>
          <p:nvPr/>
        </p:nvSpPr>
        <p:spPr>
          <a:xfrm flipH="1" rot="10800000">
            <a:off x="769608" y="2302515"/>
            <a:ext cx="1252500" cy="391500"/>
          </a:xfrm>
          <a:prstGeom prst="snip1Rect">
            <a:avLst>
              <a:gd fmla="val 2924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51" name="Google Shape;2251;p113"/>
          <p:cNvSpPr txBox="1"/>
          <p:nvPr/>
        </p:nvSpPr>
        <p:spPr>
          <a:xfrm>
            <a:off x="769600" y="2302523"/>
            <a:ext cx="1052100" cy="39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a:solidFill>
                  <a:schemeClr val="dk2"/>
                </a:solidFill>
              </a:rPr>
              <a:t>loop</a:t>
            </a:r>
            <a:endParaRPr b="1">
              <a:solidFill>
                <a:schemeClr val="dk2"/>
              </a:solidFill>
            </a:endParaRPr>
          </a:p>
        </p:txBody>
      </p:sp>
      <p:sp>
        <p:nvSpPr>
          <p:cNvPr id="2252" name="Google Shape;2252;p113"/>
          <p:cNvSpPr txBox="1"/>
          <p:nvPr/>
        </p:nvSpPr>
        <p:spPr>
          <a:xfrm>
            <a:off x="1974825" y="2325350"/>
            <a:ext cx="2303400" cy="45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rgbClr val="666666"/>
                </a:solidFill>
              </a:rPr>
              <a:t>[it-&gt;có phần tử tiếp theo]</a:t>
            </a:r>
            <a:endParaRPr>
              <a:solidFill>
                <a:srgbClr val="666666"/>
              </a:solidFill>
            </a:endParaRPr>
          </a:p>
        </p:txBody>
      </p:sp>
      <p:cxnSp>
        <p:nvCxnSpPr>
          <p:cNvPr id="2253" name="Google Shape;2253;p113"/>
          <p:cNvCxnSpPr/>
          <p:nvPr/>
        </p:nvCxnSpPr>
        <p:spPr>
          <a:xfrm>
            <a:off x="1009175" y="2973200"/>
            <a:ext cx="3324300" cy="0"/>
          </a:xfrm>
          <a:prstGeom prst="straightConnector1">
            <a:avLst/>
          </a:prstGeom>
          <a:noFill/>
          <a:ln cap="flat" cmpd="sng" w="9525">
            <a:solidFill>
              <a:schemeClr val="dk2"/>
            </a:solidFill>
            <a:prstDash val="solid"/>
            <a:round/>
            <a:headEnd len="med" w="med" type="none"/>
            <a:tailEnd len="med" w="med" type="triangle"/>
          </a:ln>
        </p:spPr>
      </p:cxnSp>
      <p:sp>
        <p:nvSpPr>
          <p:cNvPr id="2254" name="Google Shape;2254;p113"/>
          <p:cNvSpPr txBox="1"/>
          <p:nvPr/>
        </p:nvSpPr>
        <p:spPr>
          <a:xfrm>
            <a:off x="1481350" y="2596875"/>
            <a:ext cx="2572500" cy="39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Phần tử hiện tại</a:t>
            </a:r>
            <a:r>
              <a:rPr lang="en-GB">
                <a:solidFill>
                  <a:schemeClr val="dk2"/>
                </a:solidFill>
              </a:rPr>
              <a:t>()-&gt;X</a:t>
            </a:r>
            <a:r>
              <a:rPr lang="en-GB">
                <a:solidFill>
                  <a:schemeClr val="dk2"/>
                </a:solidFill>
              </a:rPr>
              <a:t>ử lý()</a:t>
            </a:r>
            <a:endParaRPr>
              <a:solidFill>
                <a:schemeClr val="dk2"/>
              </a:solidFill>
            </a:endParaRPr>
          </a:p>
        </p:txBody>
      </p:sp>
      <p:sp>
        <p:nvSpPr>
          <p:cNvPr id="2255" name="Google Shape;2255;p113"/>
          <p:cNvSpPr/>
          <p:nvPr/>
        </p:nvSpPr>
        <p:spPr>
          <a:xfrm>
            <a:off x="5487675" y="2968224"/>
            <a:ext cx="159600" cy="457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256" name="Google Shape;2256;p113"/>
          <p:cNvCxnSpPr/>
          <p:nvPr/>
        </p:nvCxnSpPr>
        <p:spPr>
          <a:xfrm>
            <a:off x="4497075" y="3165700"/>
            <a:ext cx="1004100" cy="0"/>
          </a:xfrm>
          <a:prstGeom prst="straightConnector1">
            <a:avLst/>
          </a:prstGeom>
          <a:noFill/>
          <a:ln cap="flat" cmpd="sng" w="9525">
            <a:solidFill>
              <a:schemeClr val="dk2"/>
            </a:solidFill>
            <a:prstDash val="solid"/>
            <a:round/>
            <a:headEnd len="med" w="med" type="none"/>
            <a:tailEnd len="med" w="med" type="triangle"/>
          </a:ln>
        </p:spPr>
      </p:cxnSp>
      <p:sp>
        <p:nvSpPr>
          <p:cNvPr id="2257" name="Google Shape;2257;p113"/>
          <p:cNvSpPr/>
          <p:nvPr/>
        </p:nvSpPr>
        <p:spPr>
          <a:xfrm>
            <a:off x="4344675" y="3501624"/>
            <a:ext cx="159600" cy="457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258" name="Google Shape;2258;p113"/>
          <p:cNvCxnSpPr/>
          <p:nvPr/>
        </p:nvCxnSpPr>
        <p:spPr>
          <a:xfrm>
            <a:off x="1009175" y="3659000"/>
            <a:ext cx="3324300" cy="0"/>
          </a:xfrm>
          <a:prstGeom prst="straightConnector1">
            <a:avLst/>
          </a:prstGeom>
          <a:noFill/>
          <a:ln cap="flat" cmpd="sng" w="9525">
            <a:solidFill>
              <a:schemeClr val="dk2"/>
            </a:solidFill>
            <a:prstDash val="solid"/>
            <a:round/>
            <a:headEnd len="med" w="med" type="none"/>
            <a:tailEnd len="med" w="med" type="triangle"/>
          </a:ln>
        </p:spPr>
      </p:cxnSp>
      <p:sp>
        <p:nvSpPr>
          <p:cNvPr id="2259" name="Google Shape;2259;p113"/>
          <p:cNvSpPr txBox="1"/>
          <p:nvPr/>
        </p:nvSpPr>
        <p:spPr>
          <a:xfrm>
            <a:off x="1481350" y="3282675"/>
            <a:ext cx="2572500" cy="39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Tiếp theo()</a:t>
            </a:r>
            <a:endParaRPr>
              <a:solidFill>
                <a:schemeClr val="dk2"/>
              </a:solidFill>
            </a:endParaRPr>
          </a:p>
        </p:txBody>
      </p:sp>
      <p:sp>
        <p:nvSpPr>
          <p:cNvPr id="2260" name="Google Shape;2260;p113"/>
          <p:cNvSpPr txBox="1"/>
          <p:nvPr/>
        </p:nvSpPr>
        <p:spPr>
          <a:xfrm>
            <a:off x="4605550" y="2825475"/>
            <a:ext cx="798600" cy="39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Xử lý</a:t>
            </a:r>
            <a:r>
              <a:rPr lang="en-GB">
                <a:solidFill>
                  <a:schemeClr val="dk2"/>
                </a:solidFill>
              </a:rPr>
              <a:t>()</a:t>
            </a:r>
            <a:endParaRPr>
              <a:solidFill>
                <a:schemeClr val="dk2"/>
              </a:solidFill>
            </a:endParaRPr>
          </a:p>
        </p:txBody>
      </p:sp>
      <p:sp>
        <p:nvSpPr>
          <p:cNvPr id="2261" name="Google Shape;2261;p113"/>
          <p:cNvSpPr/>
          <p:nvPr/>
        </p:nvSpPr>
        <p:spPr>
          <a:xfrm>
            <a:off x="4344675" y="4111224"/>
            <a:ext cx="159600" cy="457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262" name="Google Shape;2262;p113"/>
          <p:cNvCxnSpPr/>
          <p:nvPr/>
        </p:nvCxnSpPr>
        <p:spPr>
          <a:xfrm>
            <a:off x="1009175" y="4192400"/>
            <a:ext cx="3324300" cy="0"/>
          </a:xfrm>
          <a:prstGeom prst="straightConnector1">
            <a:avLst/>
          </a:prstGeom>
          <a:noFill/>
          <a:ln cap="flat" cmpd="sng" w="9525">
            <a:solidFill>
              <a:schemeClr val="dk2"/>
            </a:solidFill>
            <a:prstDash val="solid"/>
            <a:round/>
            <a:headEnd len="med" w="med" type="none"/>
            <a:tailEnd len="med" w="med" type="triangle"/>
          </a:ln>
        </p:spPr>
      </p:cxnSp>
      <p:sp>
        <p:nvSpPr>
          <p:cNvPr id="2263" name="Google Shape;2263;p113"/>
          <p:cNvSpPr txBox="1"/>
          <p:nvPr/>
        </p:nvSpPr>
        <p:spPr>
          <a:xfrm>
            <a:off x="1481350" y="3816075"/>
            <a:ext cx="2572500" cy="39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P</a:t>
            </a:r>
            <a:r>
              <a:rPr lang="en-GB">
                <a:solidFill>
                  <a:schemeClr val="dk2"/>
                </a:solidFill>
              </a:rPr>
              <a:t>hần tử hiện tại()-&gt;Xử lý()</a:t>
            </a:r>
            <a:endParaRPr>
              <a:solidFill>
                <a:schemeClr val="dk2"/>
              </a:solidFill>
            </a:endParaRPr>
          </a:p>
        </p:txBody>
      </p:sp>
      <p:sp>
        <p:nvSpPr>
          <p:cNvPr id="2264" name="Google Shape;2264;p113"/>
          <p:cNvSpPr/>
          <p:nvPr/>
        </p:nvSpPr>
        <p:spPr>
          <a:xfrm>
            <a:off x="6889310" y="4187424"/>
            <a:ext cx="159600" cy="457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265" name="Google Shape;2265;p113"/>
          <p:cNvCxnSpPr/>
          <p:nvPr/>
        </p:nvCxnSpPr>
        <p:spPr>
          <a:xfrm>
            <a:off x="4497075" y="4384900"/>
            <a:ext cx="2352000" cy="0"/>
          </a:xfrm>
          <a:prstGeom prst="straightConnector1">
            <a:avLst/>
          </a:prstGeom>
          <a:noFill/>
          <a:ln cap="flat" cmpd="sng" w="9525">
            <a:solidFill>
              <a:schemeClr val="dk2"/>
            </a:solidFill>
            <a:prstDash val="solid"/>
            <a:round/>
            <a:headEnd len="med" w="med" type="none"/>
            <a:tailEnd len="med" w="med" type="triangle"/>
          </a:ln>
        </p:spPr>
      </p:cxnSp>
      <p:sp>
        <p:nvSpPr>
          <p:cNvPr id="2266" name="Google Shape;2266;p113"/>
          <p:cNvSpPr txBox="1"/>
          <p:nvPr/>
        </p:nvSpPr>
        <p:spPr>
          <a:xfrm>
            <a:off x="5367550" y="4044675"/>
            <a:ext cx="798600" cy="39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X</a:t>
            </a:r>
            <a:r>
              <a:rPr lang="en-GB">
                <a:solidFill>
                  <a:schemeClr val="dk2"/>
                </a:solidFill>
              </a:rPr>
              <a:t>ử lý()</a:t>
            </a:r>
            <a:endParaRPr>
              <a:solidFill>
                <a:schemeClr val="dk2"/>
              </a:solidFill>
            </a:endParaRPr>
          </a:p>
        </p:txBody>
      </p:sp>
      <p:sp>
        <p:nvSpPr>
          <p:cNvPr id="2267" name="Google Shape;2267;p113"/>
          <p:cNvSpPr/>
          <p:nvPr/>
        </p:nvSpPr>
        <p:spPr>
          <a:xfrm>
            <a:off x="4344675" y="4644624"/>
            <a:ext cx="159600" cy="457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268" name="Google Shape;2268;p113"/>
          <p:cNvCxnSpPr/>
          <p:nvPr/>
        </p:nvCxnSpPr>
        <p:spPr>
          <a:xfrm>
            <a:off x="1009175" y="4802000"/>
            <a:ext cx="3324300" cy="0"/>
          </a:xfrm>
          <a:prstGeom prst="straightConnector1">
            <a:avLst/>
          </a:prstGeom>
          <a:noFill/>
          <a:ln cap="flat" cmpd="sng" w="9525">
            <a:solidFill>
              <a:schemeClr val="dk2"/>
            </a:solidFill>
            <a:prstDash val="solid"/>
            <a:round/>
            <a:headEnd len="med" w="med" type="none"/>
            <a:tailEnd len="med" w="med" type="triangle"/>
          </a:ln>
        </p:spPr>
      </p:cxnSp>
      <p:sp>
        <p:nvSpPr>
          <p:cNvPr id="2269" name="Google Shape;2269;p113"/>
          <p:cNvSpPr txBox="1"/>
          <p:nvPr/>
        </p:nvSpPr>
        <p:spPr>
          <a:xfrm>
            <a:off x="1481350" y="4425675"/>
            <a:ext cx="2572500" cy="39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T</a:t>
            </a:r>
            <a:r>
              <a:rPr lang="en-GB">
                <a:solidFill>
                  <a:schemeClr val="dk2"/>
                </a:solidFill>
              </a:rPr>
              <a:t>iếp theo()</a:t>
            </a:r>
            <a:endParaRPr>
              <a:solidFill>
                <a:schemeClr val="dk2"/>
              </a:solidFill>
            </a:endParaRPr>
          </a:p>
        </p:txBody>
      </p:sp>
      <p:sp>
        <p:nvSpPr>
          <p:cNvPr id="2270" name="Google Shape;2270;p113"/>
          <p:cNvSpPr/>
          <p:nvPr/>
        </p:nvSpPr>
        <p:spPr>
          <a:xfrm>
            <a:off x="4344675" y="5254224"/>
            <a:ext cx="159600" cy="457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271" name="Google Shape;2271;p113"/>
          <p:cNvCxnSpPr/>
          <p:nvPr/>
        </p:nvCxnSpPr>
        <p:spPr>
          <a:xfrm>
            <a:off x="1009175" y="5335400"/>
            <a:ext cx="3324300" cy="0"/>
          </a:xfrm>
          <a:prstGeom prst="straightConnector1">
            <a:avLst/>
          </a:prstGeom>
          <a:noFill/>
          <a:ln cap="flat" cmpd="sng" w="9525">
            <a:solidFill>
              <a:schemeClr val="dk2"/>
            </a:solidFill>
            <a:prstDash val="solid"/>
            <a:round/>
            <a:headEnd len="med" w="med" type="none"/>
            <a:tailEnd len="med" w="med" type="triangle"/>
          </a:ln>
        </p:spPr>
      </p:cxnSp>
      <p:sp>
        <p:nvSpPr>
          <p:cNvPr id="2272" name="Google Shape;2272;p113"/>
          <p:cNvSpPr txBox="1"/>
          <p:nvPr/>
        </p:nvSpPr>
        <p:spPr>
          <a:xfrm>
            <a:off x="1481350" y="4959075"/>
            <a:ext cx="2572500" cy="39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P</a:t>
            </a:r>
            <a:r>
              <a:rPr lang="en-GB">
                <a:solidFill>
                  <a:schemeClr val="dk2"/>
                </a:solidFill>
              </a:rPr>
              <a:t>hần tử hiện tại()-&gt;Xử lý()</a:t>
            </a:r>
            <a:endParaRPr>
              <a:solidFill>
                <a:schemeClr val="dk2"/>
              </a:solidFill>
            </a:endParaRPr>
          </a:p>
        </p:txBody>
      </p:sp>
      <p:sp>
        <p:nvSpPr>
          <p:cNvPr id="2273" name="Google Shape;2273;p113"/>
          <p:cNvSpPr/>
          <p:nvPr/>
        </p:nvSpPr>
        <p:spPr>
          <a:xfrm>
            <a:off x="8240858" y="5406624"/>
            <a:ext cx="159600" cy="457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274" name="Google Shape;2274;p113"/>
          <p:cNvCxnSpPr/>
          <p:nvPr/>
        </p:nvCxnSpPr>
        <p:spPr>
          <a:xfrm>
            <a:off x="4497075" y="5527900"/>
            <a:ext cx="3719400" cy="0"/>
          </a:xfrm>
          <a:prstGeom prst="straightConnector1">
            <a:avLst/>
          </a:prstGeom>
          <a:noFill/>
          <a:ln cap="flat" cmpd="sng" w="9525">
            <a:solidFill>
              <a:schemeClr val="dk2"/>
            </a:solidFill>
            <a:prstDash val="solid"/>
            <a:round/>
            <a:headEnd len="med" w="med" type="none"/>
            <a:tailEnd len="med" w="med" type="triangle"/>
          </a:ln>
        </p:spPr>
      </p:cxnSp>
      <p:sp>
        <p:nvSpPr>
          <p:cNvPr id="2275" name="Google Shape;2275;p113"/>
          <p:cNvSpPr txBox="1"/>
          <p:nvPr/>
        </p:nvSpPr>
        <p:spPr>
          <a:xfrm>
            <a:off x="5367550" y="5187675"/>
            <a:ext cx="798600" cy="39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X</a:t>
            </a:r>
            <a:r>
              <a:rPr lang="en-GB">
                <a:solidFill>
                  <a:schemeClr val="dk2"/>
                </a:solidFill>
              </a:rPr>
              <a:t>ử lý()</a:t>
            </a:r>
            <a:endParaRPr>
              <a:solidFill>
                <a:schemeClr val="dk2"/>
              </a:solidFill>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9" name="Shape 2279"/>
        <p:cNvGrpSpPr/>
        <p:nvPr/>
      </p:nvGrpSpPr>
      <p:grpSpPr>
        <a:xfrm>
          <a:off x="0" y="0"/>
          <a:ext cx="0" cy="0"/>
          <a:chOff x="0" y="0"/>
          <a:chExt cx="0" cy="0"/>
        </a:xfrm>
      </p:grpSpPr>
      <p:sp>
        <p:nvSpPr>
          <p:cNvPr id="2280" name="Google Shape;2280;p114"/>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Biến duyệt: Các hệ quả</a:t>
            </a:r>
            <a:endParaRPr/>
          </a:p>
        </p:txBody>
      </p:sp>
      <p:sp>
        <p:nvSpPr>
          <p:cNvPr id="2281" name="Google Shape;2281;p11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2282" name="Google Shape;2282;p114"/>
          <p:cNvSpPr txBox="1"/>
          <p:nvPr>
            <p:ph idx="1" type="body"/>
          </p:nvPr>
        </p:nvSpPr>
        <p:spPr>
          <a:xfrm>
            <a:off x="311700" y="950475"/>
            <a:ext cx="8520600" cy="54183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Có thể có nhiều thứ tự duyệt đối với cấu trúc lưu trữ phức tạp, ví dụ cây nhị phân tìm kiếm. Có thể tạo nhiều triển khai biến duyệt cụ thể để duyệt theo các thứ tự khác nhau.</a:t>
            </a:r>
            <a:endParaRPr/>
          </a:p>
          <a:p>
            <a:pPr indent="-381000" lvl="0" marL="457200" rtl="0" algn="l">
              <a:spcBef>
                <a:spcPts val="0"/>
              </a:spcBef>
              <a:spcAft>
                <a:spcPts val="0"/>
              </a:spcAft>
              <a:buSzPts val="2400"/>
              <a:buChar char="●"/>
            </a:pPr>
            <a:r>
              <a:rPr lang="en-GB"/>
              <a:t>Các biến duyệt làm đơn giản hóa giao diện lưu trữ.</a:t>
            </a:r>
            <a:endParaRPr/>
          </a:p>
          <a:p>
            <a:pPr indent="-381000" lvl="0" marL="457200" rtl="0" algn="l">
              <a:spcBef>
                <a:spcPts val="0"/>
              </a:spcBef>
              <a:spcAft>
                <a:spcPts val="0"/>
              </a:spcAft>
              <a:buSzPts val="2400"/>
              <a:buChar char="●"/>
            </a:pPr>
            <a:r>
              <a:rPr lang="en-GB"/>
              <a:t>Các biến duyệt lưu trạng thái của riêng nó, vì vậy có thể thực hiện nhiều tiến trình duyệt đồng thời với nhiều biến duyệt.</a:t>
            </a:r>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6" name="Shape 2286"/>
        <p:cNvGrpSpPr/>
        <p:nvPr/>
      </p:nvGrpSpPr>
      <p:grpSpPr>
        <a:xfrm>
          <a:off x="0" y="0"/>
          <a:ext cx="0" cy="0"/>
          <a:chOff x="0" y="0"/>
          <a:chExt cx="0" cy="0"/>
        </a:xfrm>
      </p:grpSpPr>
      <p:sp>
        <p:nvSpPr>
          <p:cNvPr id="2287" name="Google Shape;2287;p115"/>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19. Cấu trúc lưu trữ</a:t>
            </a:r>
            <a:endParaRPr/>
          </a:p>
        </p:txBody>
      </p:sp>
      <p:sp>
        <p:nvSpPr>
          <p:cNvPr id="2288" name="Google Shape;2288;p11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2289" name="Google Shape;2289;p115"/>
          <p:cNvSpPr/>
          <p:nvPr/>
        </p:nvSpPr>
        <p:spPr>
          <a:xfrm>
            <a:off x="6505089" y="1632775"/>
            <a:ext cx="16107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i="1" lang="en-GB" sz="1600"/>
              <a:t>Iterator</a:t>
            </a:r>
            <a:endParaRPr i="1" sz="1600"/>
          </a:p>
        </p:txBody>
      </p:sp>
      <p:sp>
        <p:nvSpPr>
          <p:cNvPr id="2290" name="Google Shape;2290;p115"/>
          <p:cNvSpPr/>
          <p:nvPr/>
        </p:nvSpPr>
        <p:spPr>
          <a:xfrm>
            <a:off x="6505075" y="1955000"/>
            <a:ext cx="1610700" cy="11253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i="1" lang="en-GB" sz="1600"/>
              <a:t>First</a:t>
            </a:r>
            <a:r>
              <a:rPr i="1" lang="en-GB" sz="1600"/>
              <a:t>()</a:t>
            </a:r>
            <a:endParaRPr i="1" sz="1600"/>
          </a:p>
          <a:p>
            <a:pPr indent="0" lvl="0" marL="0" rtl="0" algn="l">
              <a:spcBef>
                <a:spcPts val="0"/>
              </a:spcBef>
              <a:spcAft>
                <a:spcPts val="0"/>
              </a:spcAft>
              <a:buNone/>
            </a:pPr>
            <a:r>
              <a:rPr i="1" lang="en-GB" sz="1600"/>
              <a:t>N</a:t>
            </a:r>
            <a:r>
              <a:rPr i="1" lang="en-GB" sz="1600"/>
              <a:t>ext</a:t>
            </a:r>
            <a:r>
              <a:rPr i="1" lang="en-GB" sz="1600"/>
              <a:t>()</a:t>
            </a:r>
            <a:endParaRPr i="1" sz="1600"/>
          </a:p>
          <a:p>
            <a:pPr indent="0" lvl="0" marL="0" rtl="0" algn="l">
              <a:spcBef>
                <a:spcPts val="0"/>
              </a:spcBef>
              <a:spcAft>
                <a:spcPts val="0"/>
              </a:spcAft>
              <a:buNone/>
            </a:pPr>
            <a:r>
              <a:rPr i="1" lang="en-GB" sz="1600"/>
              <a:t>H</a:t>
            </a:r>
            <a:r>
              <a:rPr i="1" lang="en-GB" sz="1600"/>
              <a:t>asNext</a:t>
            </a:r>
            <a:r>
              <a:rPr i="1" lang="en-GB" sz="1600"/>
              <a:t>()</a:t>
            </a:r>
            <a:endParaRPr i="1" sz="1600"/>
          </a:p>
          <a:p>
            <a:pPr indent="0" lvl="0" marL="0" rtl="0" algn="l">
              <a:spcBef>
                <a:spcPts val="0"/>
              </a:spcBef>
              <a:spcAft>
                <a:spcPts val="0"/>
              </a:spcAft>
              <a:buNone/>
            </a:pPr>
            <a:r>
              <a:rPr i="1" lang="en-GB" sz="1600"/>
              <a:t>C</a:t>
            </a:r>
            <a:r>
              <a:rPr i="1" lang="en-GB" sz="1600"/>
              <a:t>urrentItem</a:t>
            </a:r>
            <a:r>
              <a:rPr i="1" lang="en-GB" sz="1600"/>
              <a:t>()</a:t>
            </a:r>
            <a:endParaRPr i="1" sz="1600"/>
          </a:p>
          <a:p>
            <a:pPr indent="0" lvl="0" marL="0" rtl="0" algn="l">
              <a:spcBef>
                <a:spcPts val="0"/>
              </a:spcBef>
              <a:spcAft>
                <a:spcPts val="0"/>
              </a:spcAft>
              <a:buNone/>
            </a:pPr>
            <a:r>
              <a:t/>
            </a:r>
            <a:endParaRPr i="1" sz="1600"/>
          </a:p>
        </p:txBody>
      </p:sp>
      <p:sp>
        <p:nvSpPr>
          <p:cNvPr id="2291" name="Google Shape;2291;p115"/>
          <p:cNvSpPr/>
          <p:nvPr/>
        </p:nvSpPr>
        <p:spPr>
          <a:xfrm>
            <a:off x="4485925" y="1573500"/>
            <a:ext cx="1008000" cy="4380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Client</a:t>
            </a:r>
            <a:endParaRPr sz="1600"/>
          </a:p>
        </p:txBody>
      </p:sp>
      <p:sp>
        <p:nvSpPr>
          <p:cNvPr id="2292" name="Google Shape;2292;p115"/>
          <p:cNvSpPr/>
          <p:nvPr/>
        </p:nvSpPr>
        <p:spPr>
          <a:xfrm>
            <a:off x="5338675" y="4375975"/>
            <a:ext cx="1314600" cy="5247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ListIterator</a:t>
            </a:r>
            <a:endParaRPr sz="1600"/>
          </a:p>
        </p:txBody>
      </p:sp>
      <p:sp>
        <p:nvSpPr>
          <p:cNvPr id="2293" name="Google Shape;2293;p115"/>
          <p:cNvSpPr/>
          <p:nvPr/>
        </p:nvSpPr>
        <p:spPr>
          <a:xfrm>
            <a:off x="6897414" y="3089109"/>
            <a:ext cx="191700" cy="1047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294" name="Google Shape;2294;p115"/>
          <p:cNvCxnSpPr>
            <a:stCxn id="2291" idx="3"/>
            <a:endCxn id="2289" idx="1"/>
          </p:cNvCxnSpPr>
          <p:nvPr/>
        </p:nvCxnSpPr>
        <p:spPr>
          <a:xfrm>
            <a:off x="5493925" y="1792500"/>
            <a:ext cx="1011300" cy="1500"/>
          </a:xfrm>
          <a:prstGeom prst="straightConnector1">
            <a:avLst/>
          </a:prstGeom>
          <a:noFill/>
          <a:ln cap="flat" cmpd="sng" w="9525">
            <a:solidFill>
              <a:schemeClr val="dk2"/>
            </a:solidFill>
            <a:prstDash val="dash"/>
            <a:round/>
            <a:headEnd len="med" w="med" type="none"/>
            <a:tailEnd len="med" w="med" type="triangle"/>
          </a:ln>
        </p:spPr>
      </p:cxnSp>
      <p:sp>
        <p:nvSpPr>
          <p:cNvPr id="2295" name="Google Shape;2295;p115"/>
          <p:cNvSpPr/>
          <p:nvPr/>
        </p:nvSpPr>
        <p:spPr>
          <a:xfrm>
            <a:off x="1171091" y="1632775"/>
            <a:ext cx="17040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AbstractList</a:t>
            </a:r>
            <a:endParaRPr sz="1600"/>
          </a:p>
        </p:txBody>
      </p:sp>
      <p:sp>
        <p:nvSpPr>
          <p:cNvPr id="2296" name="Google Shape;2296;p115"/>
          <p:cNvSpPr/>
          <p:nvPr/>
        </p:nvSpPr>
        <p:spPr>
          <a:xfrm>
            <a:off x="1171075" y="1955000"/>
            <a:ext cx="1704000" cy="13620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lang="en-GB" sz="1600"/>
              <a:t>CreateIterator()</a:t>
            </a:r>
            <a:endParaRPr sz="1600"/>
          </a:p>
          <a:p>
            <a:pPr indent="0" lvl="0" marL="0" rtl="0" algn="l">
              <a:spcBef>
                <a:spcPts val="0"/>
              </a:spcBef>
              <a:spcAft>
                <a:spcPts val="0"/>
              </a:spcAft>
              <a:buNone/>
            </a:pPr>
            <a:r>
              <a:rPr lang="en-GB" sz="1600"/>
              <a:t>Count()</a:t>
            </a:r>
            <a:endParaRPr sz="1600"/>
          </a:p>
          <a:p>
            <a:pPr indent="0" lvl="0" marL="0" rtl="0" algn="l">
              <a:spcBef>
                <a:spcPts val="0"/>
              </a:spcBef>
              <a:spcAft>
                <a:spcPts val="0"/>
              </a:spcAft>
              <a:buNone/>
            </a:pPr>
            <a:r>
              <a:rPr lang="en-GB" sz="1600"/>
              <a:t>Append(item)</a:t>
            </a:r>
            <a:endParaRPr sz="1600"/>
          </a:p>
          <a:p>
            <a:pPr indent="0" lvl="0" marL="0" rtl="0" algn="l">
              <a:spcBef>
                <a:spcPts val="0"/>
              </a:spcBef>
              <a:spcAft>
                <a:spcPts val="0"/>
              </a:spcAft>
              <a:buNone/>
            </a:pPr>
            <a:r>
              <a:rPr lang="en-GB" sz="1600"/>
              <a:t>Remove()</a:t>
            </a:r>
            <a:endParaRPr sz="1600"/>
          </a:p>
          <a:p>
            <a:pPr indent="0" lvl="0" marL="0" rtl="0" algn="l">
              <a:spcBef>
                <a:spcPts val="0"/>
              </a:spcBef>
              <a:spcAft>
                <a:spcPts val="0"/>
              </a:spcAft>
              <a:buNone/>
            </a:pPr>
            <a:r>
              <a:rPr lang="en-GB" sz="1600"/>
              <a:t>…</a:t>
            </a:r>
            <a:endParaRPr sz="1600"/>
          </a:p>
        </p:txBody>
      </p:sp>
      <p:cxnSp>
        <p:nvCxnSpPr>
          <p:cNvPr id="2297" name="Google Shape;2297;p115"/>
          <p:cNvCxnSpPr>
            <a:stCxn id="2291" idx="1"/>
            <a:endCxn id="2295" idx="3"/>
          </p:cNvCxnSpPr>
          <p:nvPr/>
        </p:nvCxnSpPr>
        <p:spPr>
          <a:xfrm flipH="1">
            <a:off x="2875225" y="1792500"/>
            <a:ext cx="1610700" cy="1500"/>
          </a:xfrm>
          <a:prstGeom prst="straightConnector1">
            <a:avLst/>
          </a:prstGeom>
          <a:noFill/>
          <a:ln cap="flat" cmpd="sng" w="9525">
            <a:solidFill>
              <a:schemeClr val="dk2"/>
            </a:solidFill>
            <a:prstDash val="dash"/>
            <a:round/>
            <a:headEnd len="med" w="med" type="none"/>
            <a:tailEnd len="med" w="med" type="triangle"/>
          </a:ln>
        </p:spPr>
      </p:cxnSp>
      <p:sp>
        <p:nvSpPr>
          <p:cNvPr id="2298" name="Google Shape;2298;p115"/>
          <p:cNvSpPr/>
          <p:nvPr/>
        </p:nvSpPr>
        <p:spPr>
          <a:xfrm>
            <a:off x="1639614" y="3347656"/>
            <a:ext cx="191700" cy="1047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299" name="Google Shape;2299;p115"/>
          <p:cNvCxnSpPr/>
          <p:nvPr/>
        </p:nvCxnSpPr>
        <p:spPr>
          <a:xfrm rot="10800000">
            <a:off x="3266575" y="4790725"/>
            <a:ext cx="2072100" cy="0"/>
          </a:xfrm>
          <a:prstGeom prst="straightConnector1">
            <a:avLst/>
          </a:prstGeom>
          <a:noFill/>
          <a:ln cap="flat" cmpd="sng" w="9525">
            <a:solidFill>
              <a:schemeClr val="dk2"/>
            </a:solidFill>
            <a:prstDash val="solid"/>
            <a:round/>
            <a:headEnd len="med" w="med" type="none"/>
            <a:tailEnd len="med" w="med" type="triangle"/>
          </a:ln>
        </p:spPr>
      </p:cxnSp>
      <p:cxnSp>
        <p:nvCxnSpPr>
          <p:cNvPr id="2300" name="Google Shape;2300;p115"/>
          <p:cNvCxnSpPr/>
          <p:nvPr/>
        </p:nvCxnSpPr>
        <p:spPr>
          <a:xfrm>
            <a:off x="3267524" y="4534075"/>
            <a:ext cx="2070600" cy="0"/>
          </a:xfrm>
          <a:prstGeom prst="straightConnector1">
            <a:avLst/>
          </a:prstGeom>
          <a:noFill/>
          <a:ln cap="flat" cmpd="sng" w="9525">
            <a:solidFill>
              <a:schemeClr val="dk2"/>
            </a:solidFill>
            <a:prstDash val="dash"/>
            <a:round/>
            <a:headEnd len="med" w="med" type="none"/>
            <a:tailEnd len="med" w="med" type="triangle"/>
          </a:ln>
        </p:spPr>
      </p:cxnSp>
      <p:sp>
        <p:nvSpPr>
          <p:cNvPr id="2301" name="Google Shape;2301;p115"/>
          <p:cNvSpPr/>
          <p:nvPr/>
        </p:nvSpPr>
        <p:spPr>
          <a:xfrm>
            <a:off x="515550" y="4952725"/>
            <a:ext cx="1008000" cy="4380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SkipList</a:t>
            </a:r>
            <a:endParaRPr sz="1600"/>
          </a:p>
        </p:txBody>
      </p:sp>
      <p:sp>
        <p:nvSpPr>
          <p:cNvPr id="2302" name="Google Shape;2302;p115"/>
          <p:cNvSpPr/>
          <p:nvPr/>
        </p:nvSpPr>
        <p:spPr>
          <a:xfrm>
            <a:off x="2268150" y="4419325"/>
            <a:ext cx="1008000" cy="4380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List</a:t>
            </a:r>
            <a:endParaRPr sz="1600"/>
          </a:p>
        </p:txBody>
      </p:sp>
      <p:sp>
        <p:nvSpPr>
          <p:cNvPr id="2303" name="Google Shape;2303;p115"/>
          <p:cNvSpPr/>
          <p:nvPr/>
        </p:nvSpPr>
        <p:spPr>
          <a:xfrm>
            <a:off x="2249214" y="3347656"/>
            <a:ext cx="191700" cy="1047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304" name="Google Shape;2304;p115"/>
          <p:cNvCxnSpPr>
            <a:stCxn id="2301" idx="0"/>
            <a:endCxn id="2298" idx="3"/>
          </p:cNvCxnSpPr>
          <p:nvPr/>
        </p:nvCxnSpPr>
        <p:spPr>
          <a:xfrm rot="-5400000">
            <a:off x="627300" y="3844675"/>
            <a:ext cx="1500300" cy="715800"/>
          </a:xfrm>
          <a:prstGeom prst="bentConnector3">
            <a:avLst>
              <a:gd fmla="val 50002" name="adj1"/>
            </a:avLst>
          </a:prstGeom>
          <a:noFill/>
          <a:ln cap="flat" cmpd="sng" w="9525">
            <a:solidFill>
              <a:schemeClr val="dk2"/>
            </a:solidFill>
            <a:prstDash val="solid"/>
            <a:round/>
            <a:headEnd len="med" w="med" type="none"/>
            <a:tailEnd len="med" w="med" type="none"/>
          </a:ln>
        </p:spPr>
      </p:cxnSp>
      <p:cxnSp>
        <p:nvCxnSpPr>
          <p:cNvPr id="2305" name="Google Shape;2305;p115"/>
          <p:cNvCxnSpPr>
            <a:endCxn id="2303" idx="3"/>
          </p:cNvCxnSpPr>
          <p:nvPr/>
        </p:nvCxnSpPr>
        <p:spPr>
          <a:xfrm flipH="1" rot="5400000">
            <a:off x="2075214" y="3722206"/>
            <a:ext cx="966900" cy="427200"/>
          </a:xfrm>
          <a:prstGeom prst="bentConnector3">
            <a:avLst>
              <a:gd fmla="val 50000" name="adj1"/>
            </a:avLst>
          </a:prstGeom>
          <a:noFill/>
          <a:ln cap="flat" cmpd="sng" w="9525">
            <a:solidFill>
              <a:schemeClr val="dk2"/>
            </a:solidFill>
            <a:prstDash val="solid"/>
            <a:round/>
            <a:headEnd len="med" w="med" type="none"/>
            <a:tailEnd len="med" w="med" type="none"/>
          </a:ln>
        </p:spPr>
      </p:cxnSp>
      <p:sp>
        <p:nvSpPr>
          <p:cNvPr id="2306" name="Google Shape;2306;p115"/>
          <p:cNvSpPr/>
          <p:nvPr/>
        </p:nvSpPr>
        <p:spPr>
          <a:xfrm>
            <a:off x="7169150" y="4909375"/>
            <a:ext cx="1755300" cy="5247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Skip</a:t>
            </a:r>
            <a:r>
              <a:rPr lang="en-GB" sz="1600"/>
              <a:t>ListIterator</a:t>
            </a:r>
            <a:endParaRPr sz="1600"/>
          </a:p>
        </p:txBody>
      </p:sp>
      <p:sp>
        <p:nvSpPr>
          <p:cNvPr id="2307" name="Google Shape;2307;p115"/>
          <p:cNvSpPr/>
          <p:nvPr/>
        </p:nvSpPr>
        <p:spPr>
          <a:xfrm>
            <a:off x="7507014" y="3089109"/>
            <a:ext cx="191700" cy="1047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308" name="Google Shape;2308;p115"/>
          <p:cNvCxnSpPr>
            <a:stCxn id="2292" idx="0"/>
            <a:endCxn id="2293" idx="3"/>
          </p:cNvCxnSpPr>
          <p:nvPr/>
        </p:nvCxnSpPr>
        <p:spPr>
          <a:xfrm rot="-5400000">
            <a:off x="5903425" y="3286225"/>
            <a:ext cx="1182300" cy="997200"/>
          </a:xfrm>
          <a:prstGeom prst="bentConnector3">
            <a:avLst>
              <a:gd fmla="val 49994" name="adj1"/>
            </a:avLst>
          </a:prstGeom>
          <a:noFill/>
          <a:ln cap="flat" cmpd="sng" w="9525">
            <a:solidFill>
              <a:schemeClr val="dk2"/>
            </a:solidFill>
            <a:prstDash val="solid"/>
            <a:round/>
            <a:headEnd len="med" w="med" type="none"/>
            <a:tailEnd len="med" w="med" type="none"/>
          </a:ln>
        </p:spPr>
      </p:cxnSp>
      <p:cxnSp>
        <p:nvCxnSpPr>
          <p:cNvPr id="2309" name="Google Shape;2309;p115"/>
          <p:cNvCxnSpPr>
            <a:stCxn id="2306" idx="0"/>
            <a:endCxn id="2307" idx="3"/>
          </p:cNvCxnSpPr>
          <p:nvPr/>
        </p:nvCxnSpPr>
        <p:spPr>
          <a:xfrm flipH="1" rot="5400000">
            <a:off x="6966950" y="3829525"/>
            <a:ext cx="1715700" cy="444000"/>
          </a:xfrm>
          <a:prstGeom prst="bentConnector3">
            <a:avLst>
              <a:gd fmla="val 49996" name="adj1"/>
            </a:avLst>
          </a:prstGeom>
          <a:noFill/>
          <a:ln cap="flat" cmpd="sng" w="9525">
            <a:solidFill>
              <a:schemeClr val="dk2"/>
            </a:solidFill>
            <a:prstDash val="solid"/>
            <a:round/>
            <a:headEnd len="med" w="med" type="none"/>
            <a:tailEnd len="med" w="med" type="none"/>
          </a:ln>
        </p:spPr>
      </p:cxnSp>
      <p:cxnSp>
        <p:nvCxnSpPr>
          <p:cNvPr id="2310" name="Google Shape;2310;p115"/>
          <p:cNvCxnSpPr/>
          <p:nvPr/>
        </p:nvCxnSpPr>
        <p:spPr>
          <a:xfrm rot="10800000">
            <a:off x="1513850" y="5304150"/>
            <a:ext cx="5655300" cy="0"/>
          </a:xfrm>
          <a:prstGeom prst="straightConnector1">
            <a:avLst/>
          </a:prstGeom>
          <a:noFill/>
          <a:ln cap="flat" cmpd="sng" w="9525">
            <a:solidFill>
              <a:schemeClr val="dk2"/>
            </a:solidFill>
            <a:prstDash val="solid"/>
            <a:round/>
            <a:headEnd len="med" w="med" type="none"/>
            <a:tailEnd len="med" w="med" type="triangle"/>
          </a:ln>
        </p:spPr>
      </p:cxnSp>
      <p:cxnSp>
        <p:nvCxnSpPr>
          <p:cNvPr id="2311" name="Google Shape;2311;p115"/>
          <p:cNvCxnSpPr/>
          <p:nvPr/>
        </p:nvCxnSpPr>
        <p:spPr>
          <a:xfrm>
            <a:off x="1516565" y="5047500"/>
            <a:ext cx="5651100" cy="0"/>
          </a:xfrm>
          <a:prstGeom prst="straightConnector1">
            <a:avLst/>
          </a:prstGeom>
          <a:noFill/>
          <a:ln cap="flat" cmpd="sng" w="9525">
            <a:solidFill>
              <a:schemeClr val="dk2"/>
            </a:solidFill>
            <a:prstDash val="dash"/>
            <a:round/>
            <a:headEnd len="med" w="med" type="none"/>
            <a:tailEnd len="med" w="med" type="triangle"/>
          </a:ln>
        </p:spPr>
      </p:cxnSp>
      <p:sp>
        <p:nvSpPr>
          <p:cNvPr id="2312" name="Google Shape;2312;p115"/>
          <p:cNvSpPr/>
          <p:nvPr/>
        </p:nvSpPr>
        <p:spPr>
          <a:xfrm>
            <a:off x="4485925" y="2451630"/>
            <a:ext cx="1008000" cy="4380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Element</a:t>
            </a:r>
            <a:endParaRPr sz="1600"/>
          </a:p>
        </p:txBody>
      </p:sp>
      <p:cxnSp>
        <p:nvCxnSpPr>
          <p:cNvPr id="2313" name="Google Shape;2313;p115"/>
          <p:cNvCxnSpPr>
            <a:endCxn id="2312" idx="3"/>
          </p:cNvCxnSpPr>
          <p:nvPr/>
        </p:nvCxnSpPr>
        <p:spPr>
          <a:xfrm flipH="1">
            <a:off x="5493925" y="2670030"/>
            <a:ext cx="1011000" cy="600"/>
          </a:xfrm>
          <a:prstGeom prst="straightConnector1">
            <a:avLst/>
          </a:prstGeom>
          <a:noFill/>
          <a:ln cap="flat" cmpd="sng" w="9525">
            <a:solidFill>
              <a:schemeClr val="dk2"/>
            </a:solidFill>
            <a:prstDash val="dash"/>
            <a:round/>
            <a:headEnd len="med" w="med" type="none"/>
            <a:tailEnd len="med" w="med" type="triangle"/>
          </a:ln>
        </p:spPr>
      </p:cxnSp>
      <p:sp>
        <p:nvSpPr>
          <p:cNvPr id="2314" name="Google Shape;2314;p115"/>
          <p:cNvSpPr/>
          <p:nvPr/>
        </p:nvSpPr>
        <p:spPr>
          <a:xfrm>
            <a:off x="2870575" y="2254450"/>
            <a:ext cx="191700" cy="159725"/>
          </a:xfrm>
          <a:prstGeom prst="flowChartDecision">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315" name="Google Shape;2315;p115"/>
          <p:cNvCxnSpPr>
            <a:stCxn id="2312" idx="1"/>
            <a:endCxn id="2314" idx="3"/>
          </p:cNvCxnSpPr>
          <p:nvPr/>
        </p:nvCxnSpPr>
        <p:spPr>
          <a:xfrm rot="10800000">
            <a:off x="3062425" y="2334330"/>
            <a:ext cx="1423500" cy="336300"/>
          </a:xfrm>
          <a:prstGeom prst="bentConnector3">
            <a:avLst>
              <a:gd fmla="val 50005" name="adj1"/>
            </a:avLst>
          </a:prstGeom>
          <a:noFill/>
          <a:ln cap="flat" cmpd="sng" w="9525">
            <a:solidFill>
              <a:schemeClr val="dk2"/>
            </a:solidFill>
            <a:prstDash val="solid"/>
            <a:round/>
            <a:headEnd len="med" w="med" type="none"/>
            <a:tailEnd len="med" w="med" type="none"/>
          </a:ln>
        </p:spPr>
      </p:cxnSp>
      <p:sp>
        <p:nvSpPr>
          <p:cNvPr id="2316" name="Google Shape;2316;p115"/>
          <p:cNvSpPr txBox="1"/>
          <p:nvPr/>
        </p:nvSpPr>
        <p:spPr>
          <a:xfrm>
            <a:off x="4267138" y="2406855"/>
            <a:ext cx="329400" cy="29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rgbClr val="666666"/>
                </a:solidFill>
              </a:rPr>
              <a:t>*</a:t>
            </a:r>
            <a:endParaRPr>
              <a:solidFill>
                <a:srgbClr val="666666"/>
              </a:solidFill>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0" name="Shape 2320"/>
        <p:cNvGrpSpPr/>
        <p:nvPr/>
      </p:nvGrpSpPr>
      <p:grpSpPr>
        <a:xfrm>
          <a:off x="0" y="0"/>
          <a:ext cx="0" cy="0"/>
          <a:chOff x="0" y="0"/>
          <a:chExt cx="0" cy="0"/>
        </a:xfrm>
      </p:grpSpPr>
      <p:sp>
        <p:nvSpPr>
          <p:cNvPr id="2321" name="Google Shape;2321;p116"/>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Lớp điều phối</a:t>
            </a:r>
            <a:endParaRPr/>
          </a:p>
        </p:txBody>
      </p:sp>
      <p:sp>
        <p:nvSpPr>
          <p:cNvPr id="2322" name="Google Shape;2322;p116"/>
          <p:cNvSpPr txBox="1"/>
          <p:nvPr>
            <p:ph idx="1" type="body"/>
          </p:nvPr>
        </p:nvSpPr>
        <p:spPr>
          <a:xfrm>
            <a:off x="311700" y="950475"/>
            <a:ext cx="8520600" cy="54183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i="1" lang="en-GB"/>
              <a:t>Mediator</a:t>
            </a:r>
            <a:endParaRPr i="1"/>
          </a:p>
          <a:p>
            <a:pPr indent="0" lvl="0" marL="0" rtl="0" algn="just">
              <a:spcBef>
                <a:spcPts val="0"/>
              </a:spcBef>
              <a:spcAft>
                <a:spcPts val="0"/>
              </a:spcAft>
              <a:buNone/>
            </a:pPr>
            <a:r>
              <a:rPr lang="en-GB"/>
              <a:t>Tạo một đối tượng đóng gói cách hành vi của một tập đối tượng. Mẫu lớp điều phối tạo ra liên kết lỏng bằng cách hạn chế hành vi trực tiếp giữa các đối tượng, và cho phép thay đổi hành vi của chúng độc lập.</a:t>
            </a:r>
            <a:endParaRPr/>
          </a:p>
        </p:txBody>
      </p:sp>
      <p:sp>
        <p:nvSpPr>
          <p:cNvPr id="2323" name="Google Shape;2323;p11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7" name="Shape 2327"/>
        <p:cNvGrpSpPr/>
        <p:nvPr/>
      </p:nvGrpSpPr>
      <p:grpSpPr>
        <a:xfrm>
          <a:off x="0" y="0"/>
          <a:ext cx="0" cy="0"/>
          <a:chOff x="0" y="0"/>
          <a:chExt cx="0" cy="0"/>
        </a:xfrm>
      </p:grpSpPr>
      <p:sp>
        <p:nvSpPr>
          <p:cNvPr id="2328" name="Google Shape;2328;p117"/>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Lớp điều phối: Cấu trúc</a:t>
            </a:r>
            <a:endParaRPr/>
          </a:p>
        </p:txBody>
      </p:sp>
      <p:sp>
        <p:nvSpPr>
          <p:cNvPr id="2329" name="Google Shape;2329;p11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2330" name="Google Shape;2330;p117"/>
          <p:cNvSpPr/>
          <p:nvPr/>
        </p:nvSpPr>
        <p:spPr>
          <a:xfrm>
            <a:off x="1604875" y="1480375"/>
            <a:ext cx="17040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Lớp điều phối</a:t>
            </a:r>
            <a:endParaRPr sz="1600"/>
          </a:p>
        </p:txBody>
      </p:sp>
      <p:sp>
        <p:nvSpPr>
          <p:cNvPr id="2331" name="Google Shape;2331;p117"/>
          <p:cNvSpPr/>
          <p:nvPr/>
        </p:nvSpPr>
        <p:spPr>
          <a:xfrm>
            <a:off x="2358233" y="1823656"/>
            <a:ext cx="191700" cy="1047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2" name="Google Shape;2332;p117"/>
          <p:cNvSpPr/>
          <p:nvPr/>
        </p:nvSpPr>
        <p:spPr>
          <a:xfrm>
            <a:off x="1401158" y="2623375"/>
            <a:ext cx="20937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Lớp điều phối cụ thể</a:t>
            </a:r>
            <a:endParaRPr sz="1600"/>
          </a:p>
        </p:txBody>
      </p:sp>
      <p:sp>
        <p:nvSpPr>
          <p:cNvPr id="2333" name="Google Shape;2333;p117"/>
          <p:cNvSpPr/>
          <p:nvPr/>
        </p:nvSpPr>
        <p:spPr>
          <a:xfrm>
            <a:off x="5514491" y="1480375"/>
            <a:ext cx="17040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i="1" lang="en-GB" sz="1600"/>
              <a:t>Thành viên</a:t>
            </a:r>
            <a:endParaRPr i="1" sz="1600"/>
          </a:p>
        </p:txBody>
      </p:sp>
      <p:sp>
        <p:nvSpPr>
          <p:cNvPr id="2334" name="Google Shape;2334;p117"/>
          <p:cNvSpPr/>
          <p:nvPr/>
        </p:nvSpPr>
        <p:spPr>
          <a:xfrm>
            <a:off x="4193600" y="2623375"/>
            <a:ext cx="19767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Thành viên cụ thể 1</a:t>
            </a:r>
            <a:endParaRPr sz="1600"/>
          </a:p>
        </p:txBody>
      </p:sp>
      <p:sp>
        <p:nvSpPr>
          <p:cNvPr id="2335" name="Google Shape;2335;p117"/>
          <p:cNvSpPr/>
          <p:nvPr/>
        </p:nvSpPr>
        <p:spPr>
          <a:xfrm>
            <a:off x="6505100" y="2623375"/>
            <a:ext cx="22056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Thành viên cụ thể 2</a:t>
            </a:r>
            <a:endParaRPr sz="1600"/>
          </a:p>
        </p:txBody>
      </p:sp>
      <p:sp>
        <p:nvSpPr>
          <p:cNvPr id="2336" name="Google Shape;2336;p117"/>
          <p:cNvSpPr/>
          <p:nvPr/>
        </p:nvSpPr>
        <p:spPr>
          <a:xfrm>
            <a:off x="5906814" y="1823656"/>
            <a:ext cx="191700" cy="1047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7" name="Google Shape;2337;p117"/>
          <p:cNvSpPr/>
          <p:nvPr/>
        </p:nvSpPr>
        <p:spPr>
          <a:xfrm>
            <a:off x="6668814" y="1823656"/>
            <a:ext cx="191700" cy="1047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338" name="Google Shape;2338;p117"/>
          <p:cNvCxnSpPr>
            <a:stCxn id="2334" idx="0"/>
            <a:endCxn id="2336" idx="3"/>
          </p:cNvCxnSpPr>
          <p:nvPr/>
        </p:nvCxnSpPr>
        <p:spPr>
          <a:xfrm rot="-5400000">
            <a:off x="5244800" y="1865425"/>
            <a:ext cx="695100" cy="820800"/>
          </a:xfrm>
          <a:prstGeom prst="bentConnector3">
            <a:avLst>
              <a:gd fmla="val 49994" name="adj1"/>
            </a:avLst>
          </a:prstGeom>
          <a:noFill/>
          <a:ln cap="flat" cmpd="sng" w="9525">
            <a:solidFill>
              <a:schemeClr val="dk2"/>
            </a:solidFill>
            <a:prstDash val="solid"/>
            <a:round/>
            <a:headEnd len="med" w="med" type="none"/>
            <a:tailEnd len="med" w="med" type="none"/>
          </a:ln>
        </p:spPr>
      </p:cxnSp>
      <p:cxnSp>
        <p:nvCxnSpPr>
          <p:cNvPr id="2339" name="Google Shape;2339;p117"/>
          <p:cNvCxnSpPr>
            <a:stCxn id="2335" idx="0"/>
            <a:endCxn id="2337" idx="3"/>
          </p:cNvCxnSpPr>
          <p:nvPr/>
        </p:nvCxnSpPr>
        <p:spPr>
          <a:xfrm flipH="1" rot="5400000">
            <a:off x="6838700" y="1854175"/>
            <a:ext cx="695100" cy="843300"/>
          </a:xfrm>
          <a:prstGeom prst="bentConnector3">
            <a:avLst>
              <a:gd fmla="val 49994" name="adj1"/>
            </a:avLst>
          </a:prstGeom>
          <a:noFill/>
          <a:ln cap="flat" cmpd="sng" w="9525">
            <a:solidFill>
              <a:schemeClr val="dk2"/>
            </a:solidFill>
            <a:prstDash val="solid"/>
            <a:round/>
            <a:headEnd len="med" w="med" type="none"/>
            <a:tailEnd len="med" w="med" type="none"/>
          </a:ln>
        </p:spPr>
      </p:cxnSp>
      <p:cxnSp>
        <p:nvCxnSpPr>
          <p:cNvPr id="2340" name="Google Shape;2340;p117"/>
          <p:cNvCxnSpPr>
            <a:stCxn id="2332" idx="3"/>
            <a:endCxn id="2334" idx="1"/>
          </p:cNvCxnSpPr>
          <p:nvPr/>
        </p:nvCxnSpPr>
        <p:spPr>
          <a:xfrm>
            <a:off x="3494858" y="2784625"/>
            <a:ext cx="698700" cy="0"/>
          </a:xfrm>
          <a:prstGeom prst="straightConnector1">
            <a:avLst/>
          </a:prstGeom>
          <a:noFill/>
          <a:ln cap="flat" cmpd="sng" w="9525">
            <a:solidFill>
              <a:schemeClr val="dk2"/>
            </a:solidFill>
            <a:prstDash val="solid"/>
            <a:round/>
            <a:headEnd len="med" w="med" type="triangle"/>
            <a:tailEnd len="med" w="med" type="triangle"/>
          </a:ln>
        </p:spPr>
      </p:cxnSp>
      <p:cxnSp>
        <p:nvCxnSpPr>
          <p:cNvPr id="2341" name="Google Shape;2341;p117"/>
          <p:cNvCxnSpPr>
            <a:stCxn id="2332" idx="2"/>
            <a:endCxn id="2335" idx="2"/>
          </p:cNvCxnSpPr>
          <p:nvPr/>
        </p:nvCxnSpPr>
        <p:spPr>
          <a:xfrm flipH="1" rot="-5400000">
            <a:off x="5027708" y="366175"/>
            <a:ext cx="600" cy="5160000"/>
          </a:xfrm>
          <a:prstGeom prst="bentConnector3">
            <a:avLst>
              <a:gd fmla="val 39687500" name="adj1"/>
            </a:avLst>
          </a:prstGeom>
          <a:noFill/>
          <a:ln cap="flat" cmpd="sng" w="9525">
            <a:solidFill>
              <a:schemeClr val="dk2"/>
            </a:solidFill>
            <a:prstDash val="solid"/>
            <a:round/>
            <a:headEnd len="med" w="med" type="triangle"/>
            <a:tailEnd len="med" w="med" type="triangle"/>
          </a:ln>
        </p:spPr>
      </p:cxnSp>
      <p:cxnSp>
        <p:nvCxnSpPr>
          <p:cNvPr id="2342" name="Google Shape;2342;p117"/>
          <p:cNvCxnSpPr>
            <a:stCxn id="2332" idx="0"/>
            <a:endCxn id="2331" idx="3"/>
          </p:cNvCxnSpPr>
          <p:nvPr/>
        </p:nvCxnSpPr>
        <p:spPr>
          <a:xfrm flipH="1" rot="10800000">
            <a:off x="2448008" y="1928275"/>
            <a:ext cx="6000" cy="695100"/>
          </a:xfrm>
          <a:prstGeom prst="straightConnector1">
            <a:avLst/>
          </a:prstGeom>
          <a:noFill/>
          <a:ln cap="flat" cmpd="sng" w="9525">
            <a:solidFill>
              <a:schemeClr val="dk2"/>
            </a:solidFill>
            <a:prstDash val="solid"/>
            <a:round/>
            <a:headEnd len="med" w="med" type="none"/>
            <a:tailEnd len="med" w="med" type="none"/>
          </a:ln>
        </p:spPr>
      </p:cxnSp>
      <p:cxnSp>
        <p:nvCxnSpPr>
          <p:cNvPr id="2343" name="Google Shape;2343;p117"/>
          <p:cNvCxnSpPr>
            <a:stCxn id="2333" idx="1"/>
            <a:endCxn id="2330" idx="3"/>
          </p:cNvCxnSpPr>
          <p:nvPr/>
        </p:nvCxnSpPr>
        <p:spPr>
          <a:xfrm rot="10800000">
            <a:off x="3308891" y="1641625"/>
            <a:ext cx="2205600" cy="0"/>
          </a:xfrm>
          <a:prstGeom prst="straightConnector1">
            <a:avLst/>
          </a:prstGeom>
          <a:noFill/>
          <a:ln cap="flat" cmpd="sng" w="9525">
            <a:solidFill>
              <a:schemeClr val="dk2"/>
            </a:solidFill>
            <a:prstDash val="solid"/>
            <a:round/>
            <a:headEnd len="med" w="med" type="triangle"/>
            <a:tailEnd len="med" w="med" type="triangle"/>
          </a:ln>
        </p:spPr>
      </p:cxnSp>
      <p:sp>
        <p:nvSpPr>
          <p:cNvPr id="2344" name="Google Shape;2344;p117"/>
          <p:cNvSpPr txBox="1"/>
          <p:nvPr/>
        </p:nvSpPr>
        <p:spPr>
          <a:xfrm>
            <a:off x="3453875" y="1090150"/>
            <a:ext cx="1118100" cy="52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đối tượng điều phối</a:t>
            </a:r>
            <a:endParaRPr/>
          </a:p>
        </p:txBody>
      </p:sp>
      <p:sp>
        <p:nvSpPr>
          <p:cNvPr id="2345" name="Google Shape;2345;p117"/>
          <p:cNvSpPr txBox="1"/>
          <p:nvPr/>
        </p:nvSpPr>
        <p:spPr>
          <a:xfrm>
            <a:off x="3377675" y="1547350"/>
            <a:ext cx="396600" cy="32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1</a:t>
            </a:r>
            <a:endParaRPr/>
          </a:p>
        </p:txBody>
      </p:sp>
      <p:sp>
        <p:nvSpPr>
          <p:cNvPr id="2346" name="Google Shape;2346;p117"/>
          <p:cNvSpPr txBox="1"/>
          <p:nvPr/>
        </p:nvSpPr>
        <p:spPr>
          <a:xfrm>
            <a:off x="5282675" y="1547350"/>
            <a:ext cx="396600" cy="32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a:t>
            </a:r>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0" name="Shape 2350"/>
        <p:cNvGrpSpPr/>
        <p:nvPr/>
      </p:nvGrpSpPr>
      <p:grpSpPr>
        <a:xfrm>
          <a:off x="0" y="0"/>
          <a:ext cx="0" cy="0"/>
          <a:chOff x="0" y="0"/>
          <a:chExt cx="0" cy="0"/>
        </a:xfrm>
      </p:grpSpPr>
      <p:sp>
        <p:nvSpPr>
          <p:cNvPr id="2351" name="Google Shape;2351;p118"/>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Lớp điều phối: Kết hợp đối tượng</a:t>
            </a:r>
            <a:endParaRPr/>
          </a:p>
        </p:txBody>
      </p:sp>
      <p:sp>
        <p:nvSpPr>
          <p:cNvPr id="2352" name="Google Shape;2352;p11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2353" name="Google Shape;2353;p118"/>
          <p:cNvSpPr/>
          <p:nvPr/>
        </p:nvSpPr>
        <p:spPr>
          <a:xfrm>
            <a:off x="3686477" y="2699575"/>
            <a:ext cx="1637100" cy="3834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u="sng"/>
              <a:t>:Lớp điều phối</a:t>
            </a:r>
            <a:endParaRPr sz="1600" u="sng"/>
          </a:p>
        </p:txBody>
      </p:sp>
      <p:sp>
        <p:nvSpPr>
          <p:cNvPr id="2354" name="Google Shape;2354;p118"/>
          <p:cNvSpPr/>
          <p:nvPr/>
        </p:nvSpPr>
        <p:spPr>
          <a:xfrm>
            <a:off x="2314877" y="3842575"/>
            <a:ext cx="1637100" cy="3834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u="sng"/>
              <a:t>m4</a:t>
            </a:r>
            <a:r>
              <a:rPr lang="en-GB" sz="1600" u="sng"/>
              <a:t>:</a:t>
            </a:r>
            <a:r>
              <a:rPr lang="en-GB" sz="1600" u="sng"/>
              <a:t>Thành viên</a:t>
            </a:r>
            <a:endParaRPr sz="1600" u="sng"/>
          </a:p>
        </p:txBody>
      </p:sp>
      <p:sp>
        <p:nvSpPr>
          <p:cNvPr id="2355" name="Google Shape;2355;p118"/>
          <p:cNvSpPr/>
          <p:nvPr/>
        </p:nvSpPr>
        <p:spPr>
          <a:xfrm>
            <a:off x="5362877" y="3842575"/>
            <a:ext cx="1637100" cy="3834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u="sng"/>
              <a:t>m5:Thành viên</a:t>
            </a:r>
            <a:endParaRPr sz="1600" u="sng"/>
          </a:p>
        </p:txBody>
      </p:sp>
      <p:sp>
        <p:nvSpPr>
          <p:cNvPr id="2356" name="Google Shape;2356;p118"/>
          <p:cNvSpPr/>
          <p:nvPr/>
        </p:nvSpPr>
        <p:spPr>
          <a:xfrm>
            <a:off x="5820077" y="2394775"/>
            <a:ext cx="1637100" cy="3834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u="sng"/>
              <a:t>m2:Thành viên</a:t>
            </a:r>
            <a:endParaRPr sz="1600" u="sng"/>
          </a:p>
        </p:txBody>
      </p:sp>
      <p:sp>
        <p:nvSpPr>
          <p:cNvPr id="2357" name="Google Shape;2357;p118"/>
          <p:cNvSpPr/>
          <p:nvPr/>
        </p:nvSpPr>
        <p:spPr>
          <a:xfrm>
            <a:off x="1400477" y="2318575"/>
            <a:ext cx="1637100" cy="3834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u="sng"/>
              <a:t>m3:Thành viên</a:t>
            </a:r>
            <a:endParaRPr sz="1600" u="sng"/>
          </a:p>
        </p:txBody>
      </p:sp>
      <p:sp>
        <p:nvSpPr>
          <p:cNvPr id="2358" name="Google Shape;2358;p118"/>
          <p:cNvSpPr/>
          <p:nvPr/>
        </p:nvSpPr>
        <p:spPr>
          <a:xfrm>
            <a:off x="3686477" y="1480375"/>
            <a:ext cx="1637100" cy="3834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u="sng"/>
              <a:t>m1:Thành viên</a:t>
            </a:r>
            <a:endParaRPr sz="1600" u="sng"/>
          </a:p>
        </p:txBody>
      </p:sp>
      <p:cxnSp>
        <p:nvCxnSpPr>
          <p:cNvPr id="2359" name="Google Shape;2359;p118"/>
          <p:cNvCxnSpPr>
            <a:stCxn id="2353" idx="0"/>
            <a:endCxn id="2358" idx="2"/>
          </p:cNvCxnSpPr>
          <p:nvPr/>
        </p:nvCxnSpPr>
        <p:spPr>
          <a:xfrm rot="10800000">
            <a:off x="4505027" y="1863775"/>
            <a:ext cx="0" cy="835800"/>
          </a:xfrm>
          <a:prstGeom prst="straightConnector1">
            <a:avLst/>
          </a:prstGeom>
          <a:noFill/>
          <a:ln cap="flat" cmpd="sng" w="9525">
            <a:solidFill>
              <a:schemeClr val="dk2"/>
            </a:solidFill>
            <a:prstDash val="solid"/>
            <a:round/>
            <a:headEnd len="med" w="med" type="triangle"/>
            <a:tailEnd len="med" w="med" type="triangle"/>
          </a:ln>
        </p:spPr>
      </p:cxnSp>
      <p:cxnSp>
        <p:nvCxnSpPr>
          <p:cNvPr id="2360" name="Google Shape;2360;p118"/>
          <p:cNvCxnSpPr>
            <a:stCxn id="2354" idx="0"/>
          </p:cNvCxnSpPr>
          <p:nvPr/>
        </p:nvCxnSpPr>
        <p:spPr>
          <a:xfrm flipH="1" rot="10800000">
            <a:off x="3133427" y="3096775"/>
            <a:ext cx="870600" cy="745800"/>
          </a:xfrm>
          <a:prstGeom prst="straightConnector1">
            <a:avLst/>
          </a:prstGeom>
          <a:noFill/>
          <a:ln cap="flat" cmpd="sng" w="9525">
            <a:solidFill>
              <a:schemeClr val="dk2"/>
            </a:solidFill>
            <a:prstDash val="solid"/>
            <a:round/>
            <a:headEnd len="med" w="med" type="triangle"/>
            <a:tailEnd len="med" w="med" type="triangle"/>
          </a:ln>
        </p:spPr>
      </p:cxnSp>
      <p:cxnSp>
        <p:nvCxnSpPr>
          <p:cNvPr id="2361" name="Google Shape;2361;p118"/>
          <p:cNvCxnSpPr>
            <a:stCxn id="2355" idx="0"/>
          </p:cNvCxnSpPr>
          <p:nvPr/>
        </p:nvCxnSpPr>
        <p:spPr>
          <a:xfrm rot="10800000">
            <a:off x="4972127" y="3096775"/>
            <a:ext cx="1209300" cy="745800"/>
          </a:xfrm>
          <a:prstGeom prst="straightConnector1">
            <a:avLst/>
          </a:prstGeom>
          <a:noFill/>
          <a:ln cap="flat" cmpd="sng" w="9525">
            <a:solidFill>
              <a:schemeClr val="dk2"/>
            </a:solidFill>
            <a:prstDash val="solid"/>
            <a:round/>
            <a:headEnd len="med" w="med" type="triangle"/>
            <a:tailEnd len="med" w="med" type="triangle"/>
          </a:ln>
        </p:spPr>
      </p:cxnSp>
      <p:cxnSp>
        <p:nvCxnSpPr>
          <p:cNvPr id="2362" name="Google Shape;2362;p118"/>
          <p:cNvCxnSpPr>
            <a:stCxn id="2353" idx="1"/>
            <a:endCxn id="2357" idx="3"/>
          </p:cNvCxnSpPr>
          <p:nvPr/>
        </p:nvCxnSpPr>
        <p:spPr>
          <a:xfrm rot="10800000">
            <a:off x="3037577" y="2510275"/>
            <a:ext cx="648900" cy="381000"/>
          </a:xfrm>
          <a:prstGeom prst="straightConnector1">
            <a:avLst/>
          </a:prstGeom>
          <a:noFill/>
          <a:ln cap="flat" cmpd="sng" w="9525">
            <a:solidFill>
              <a:schemeClr val="dk2"/>
            </a:solidFill>
            <a:prstDash val="solid"/>
            <a:round/>
            <a:headEnd len="med" w="med" type="triangle"/>
            <a:tailEnd len="med" w="med" type="triangle"/>
          </a:ln>
        </p:spPr>
      </p:cxnSp>
      <p:cxnSp>
        <p:nvCxnSpPr>
          <p:cNvPr id="2363" name="Google Shape;2363;p118"/>
          <p:cNvCxnSpPr>
            <a:stCxn id="2353" idx="3"/>
            <a:endCxn id="2356" idx="1"/>
          </p:cNvCxnSpPr>
          <p:nvPr/>
        </p:nvCxnSpPr>
        <p:spPr>
          <a:xfrm flipH="1" rot="10800000">
            <a:off x="5323577" y="2586475"/>
            <a:ext cx="496500" cy="304800"/>
          </a:xfrm>
          <a:prstGeom prst="straightConnector1">
            <a:avLst/>
          </a:prstGeom>
          <a:noFill/>
          <a:ln cap="flat" cmpd="sng" w="9525">
            <a:solidFill>
              <a:schemeClr val="dk2"/>
            </a:solidFill>
            <a:prstDash val="solid"/>
            <a:round/>
            <a:headEnd len="med" w="med" type="triangle"/>
            <a:tailEnd len="med" w="med" type="triangle"/>
          </a:ln>
        </p:spPr>
      </p:cxn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7" name="Shape 2367"/>
        <p:cNvGrpSpPr/>
        <p:nvPr/>
      </p:nvGrpSpPr>
      <p:grpSpPr>
        <a:xfrm>
          <a:off x="0" y="0"/>
          <a:ext cx="0" cy="0"/>
          <a:chOff x="0" y="0"/>
          <a:chExt cx="0" cy="0"/>
        </a:xfrm>
      </p:grpSpPr>
      <p:sp>
        <p:nvSpPr>
          <p:cNvPr id="2368" name="Google Shape;2368;p119"/>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Lớp điều phối: </a:t>
            </a:r>
            <a:r>
              <a:rPr lang="en-GB"/>
              <a:t>Hành vi</a:t>
            </a:r>
            <a:endParaRPr/>
          </a:p>
        </p:txBody>
      </p:sp>
      <p:sp>
        <p:nvSpPr>
          <p:cNvPr id="2369" name="Google Shape;2369;p11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2370" name="Google Shape;2370;p119"/>
          <p:cNvSpPr/>
          <p:nvPr/>
        </p:nvSpPr>
        <p:spPr>
          <a:xfrm>
            <a:off x="749658" y="1064500"/>
            <a:ext cx="7986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u="sng"/>
              <a:t>:Khách</a:t>
            </a:r>
            <a:endParaRPr sz="1600" u="sng"/>
          </a:p>
        </p:txBody>
      </p:sp>
      <p:cxnSp>
        <p:nvCxnSpPr>
          <p:cNvPr id="2371" name="Google Shape;2371;p119"/>
          <p:cNvCxnSpPr/>
          <p:nvPr/>
        </p:nvCxnSpPr>
        <p:spPr>
          <a:xfrm>
            <a:off x="1156075" y="1387000"/>
            <a:ext cx="0" cy="3237000"/>
          </a:xfrm>
          <a:prstGeom prst="straightConnector1">
            <a:avLst/>
          </a:prstGeom>
          <a:noFill/>
          <a:ln cap="flat" cmpd="sng" w="9525">
            <a:solidFill>
              <a:schemeClr val="dk2"/>
            </a:solidFill>
            <a:prstDash val="dash"/>
            <a:round/>
            <a:headEnd len="med" w="med" type="none"/>
            <a:tailEnd len="med" w="med" type="none"/>
          </a:ln>
        </p:spPr>
      </p:cxnSp>
      <p:sp>
        <p:nvSpPr>
          <p:cNvPr id="2372" name="Google Shape;2372;p119"/>
          <p:cNvSpPr/>
          <p:nvPr/>
        </p:nvSpPr>
        <p:spPr>
          <a:xfrm>
            <a:off x="1762601" y="1064500"/>
            <a:ext cx="15075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u="sng"/>
              <a:t>:</a:t>
            </a:r>
            <a:r>
              <a:rPr lang="en-GB" sz="1600" u="sng"/>
              <a:t>Lớp điều phối</a:t>
            </a:r>
            <a:endParaRPr sz="1600" u="sng"/>
          </a:p>
        </p:txBody>
      </p:sp>
      <p:cxnSp>
        <p:nvCxnSpPr>
          <p:cNvPr id="2373" name="Google Shape;2373;p119"/>
          <p:cNvCxnSpPr/>
          <p:nvPr/>
        </p:nvCxnSpPr>
        <p:spPr>
          <a:xfrm>
            <a:off x="2603875" y="1387000"/>
            <a:ext cx="0" cy="3237000"/>
          </a:xfrm>
          <a:prstGeom prst="straightConnector1">
            <a:avLst/>
          </a:prstGeom>
          <a:noFill/>
          <a:ln cap="flat" cmpd="sng" w="9525">
            <a:solidFill>
              <a:schemeClr val="dk2"/>
            </a:solidFill>
            <a:prstDash val="dash"/>
            <a:round/>
            <a:headEnd len="med" w="med" type="none"/>
            <a:tailEnd len="med" w="med" type="none"/>
          </a:ln>
        </p:spPr>
      </p:cxnSp>
      <p:sp>
        <p:nvSpPr>
          <p:cNvPr id="2374" name="Google Shape;2374;p119"/>
          <p:cNvSpPr/>
          <p:nvPr/>
        </p:nvSpPr>
        <p:spPr>
          <a:xfrm>
            <a:off x="3465270" y="1064500"/>
            <a:ext cx="16539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u="sng"/>
              <a:t>m1</a:t>
            </a:r>
            <a:r>
              <a:rPr lang="en-GB" sz="1600" u="sng"/>
              <a:t>:</a:t>
            </a:r>
            <a:r>
              <a:rPr lang="en-GB" sz="1600" u="sng"/>
              <a:t>Thành viên</a:t>
            </a:r>
            <a:endParaRPr sz="1600" u="sng"/>
          </a:p>
        </p:txBody>
      </p:sp>
      <p:cxnSp>
        <p:nvCxnSpPr>
          <p:cNvPr id="2375" name="Google Shape;2375;p119"/>
          <p:cNvCxnSpPr/>
          <p:nvPr/>
        </p:nvCxnSpPr>
        <p:spPr>
          <a:xfrm>
            <a:off x="4280275" y="1387000"/>
            <a:ext cx="0" cy="3237000"/>
          </a:xfrm>
          <a:prstGeom prst="straightConnector1">
            <a:avLst/>
          </a:prstGeom>
          <a:noFill/>
          <a:ln cap="flat" cmpd="sng" w="9525">
            <a:solidFill>
              <a:schemeClr val="dk2"/>
            </a:solidFill>
            <a:prstDash val="dash"/>
            <a:round/>
            <a:headEnd len="med" w="med" type="none"/>
            <a:tailEnd len="med" w="med" type="none"/>
          </a:ln>
        </p:spPr>
      </p:cxnSp>
      <p:sp>
        <p:nvSpPr>
          <p:cNvPr id="2376" name="Google Shape;2376;p119"/>
          <p:cNvSpPr/>
          <p:nvPr/>
        </p:nvSpPr>
        <p:spPr>
          <a:xfrm>
            <a:off x="5349565" y="1064500"/>
            <a:ext cx="15144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u="sng"/>
              <a:t>m2:Thành viên</a:t>
            </a:r>
            <a:endParaRPr sz="1600" u="sng"/>
          </a:p>
        </p:txBody>
      </p:sp>
      <p:cxnSp>
        <p:nvCxnSpPr>
          <p:cNvPr id="2377" name="Google Shape;2377;p119"/>
          <p:cNvCxnSpPr/>
          <p:nvPr/>
        </p:nvCxnSpPr>
        <p:spPr>
          <a:xfrm>
            <a:off x="6109075" y="1387000"/>
            <a:ext cx="0" cy="3237000"/>
          </a:xfrm>
          <a:prstGeom prst="straightConnector1">
            <a:avLst/>
          </a:prstGeom>
          <a:noFill/>
          <a:ln cap="flat" cmpd="sng" w="9525">
            <a:solidFill>
              <a:schemeClr val="dk2"/>
            </a:solidFill>
            <a:prstDash val="dash"/>
            <a:round/>
            <a:headEnd len="med" w="med" type="none"/>
            <a:tailEnd len="med" w="med" type="none"/>
          </a:ln>
        </p:spPr>
      </p:cxnSp>
      <p:sp>
        <p:nvSpPr>
          <p:cNvPr id="2378" name="Google Shape;2378;p119"/>
          <p:cNvSpPr/>
          <p:nvPr/>
        </p:nvSpPr>
        <p:spPr>
          <a:xfrm>
            <a:off x="2515875" y="2434825"/>
            <a:ext cx="159600" cy="1540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79" name="Google Shape;2379;p119"/>
          <p:cNvSpPr/>
          <p:nvPr/>
        </p:nvSpPr>
        <p:spPr>
          <a:xfrm>
            <a:off x="7025965" y="1064500"/>
            <a:ext cx="15144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u="sng"/>
              <a:t>m3:Thành viên</a:t>
            </a:r>
            <a:endParaRPr sz="1600" u="sng"/>
          </a:p>
        </p:txBody>
      </p:sp>
      <p:cxnSp>
        <p:nvCxnSpPr>
          <p:cNvPr id="2380" name="Google Shape;2380;p119"/>
          <p:cNvCxnSpPr/>
          <p:nvPr/>
        </p:nvCxnSpPr>
        <p:spPr>
          <a:xfrm>
            <a:off x="7785475" y="1387000"/>
            <a:ext cx="0" cy="3237000"/>
          </a:xfrm>
          <a:prstGeom prst="straightConnector1">
            <a:avLst/>
          </a:prstGeom>
          <a:noFill/>
          <a:ln cap="flat" cmpd="sng" w="9525">
            <a:solidFill>
              <a:schemeClr val="dk2"/>
            </a:solidFill>
            <a:prstDash val="dash"/>
            <a:round/>
            <a:headEnd len="med" w="med" type="none"/>
            <a:tailEnd len="med" w="med" type="none"/>
          </a:ln>
        </p:spPr>
      </p:cxnSp>
      <p:sp>
        <p:nvSpPr>
          <p:cNvPr id="2381" name="Google Shape;2381;p119"/>
          <p:cNvSpPr/>
          <p:nvPr/>
        </p:nvSpPr>
        <p:spPr>
          <a:xfrm>
            <a:off x="2529700" y="1805824"/>
            <a:ext cx="159600" cy="457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82" name="Google Shape;2382;p119"/>
          <p:cNvSpPr/>
          <p:nvPr/>
        </p:nvSpPr>
        <p:spPr>
          <a:xfrm>
            <a:off x="6041225" y="2846102"/>
            <a:ext cx="159600" cy="457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383" name="Google Shape;2383;p119"/>
          <p:cNvCxnSpPr/>
          <p:nvPr/>
        </p:nvCxnSpPr>
        <p:spPr>
          <a:xfrm rot="10800000">
            <a:off x="2724125" y="2570225"/>
            <a:ext cx="1507500" cy="0"/>
          </a:xfrm>
          <a:prstGeom prst="straightConnector1">
            <a:avLst/>
          </a:prstGeom>
          <a:noFill/>
          <a:ln cap="flat" cmpd="sng" w="9525">
            <a:solidFill>
              <a:schemeClr val="dk2"/>
            </a:solidFill>
            <a:prstDash val="solid"/>
            <a:round/>
            <a:headEnd len="med" w="med" type="none"/>
            <a:tailEnd len="med" w="med" type="triangle"/>
          </a:ln>
        </p:spPr>
      </p:cxnSp>
      <p:sp>
        <p:nvSpPr>
          <p:cNvPr id="2384" name="Google Shape;2384;p119"/>
          <p:cNvSpPr txBox="1"/>
          <p:nvPr/>
        </p:nvSpPr>
        <p:spPr>
          <a:xfrm>
            <a:off x="2824187" y="2178725"/>
            <a:ext cx="1321200" cy="39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Sự kiện</a:t>
            </a:r>
            <a:r>
              <a:rPr lang="en-GB">
                <a:solidFill>
                  <a:schemeClr val="dk2"/>
                </a:solidFill>
              </a:rPr>
              <a:t>()</a:t>
            </a:r>
            <a:endParaRPr>
              <a:solidFill>
                <a:schemeClr val="dk2"/>
              </a:solidFill>
            </a:endParaRPr>
          </a:p>
        </p:txBody>
      </p:sp>
      <p:cxnSp>
        <p:nvCxnSpPr>
          <p:cNvPr id="2385" name="Google Shape;2385;p119"/>
          <p:cNvCxnSpPr/>
          <p:nvPr/>
        </p:nvCxnSpPr>
        <p:spPr>
          <a:xfrm>
            <a:off x="1168900" y="1898750"/>
            <a:ext cx="1347600" cy="0"/>
          </a:xfrm>
          <a:prstGeom prst="straightConnector1">
            <a:avLst/>
          </a:prstGeom>
          <a:noFill/>
          <a:ln cap="flat" cmpd="sng" w="9525">
            <a:solidFill>
              <a:schemeClr val="dk2"/>
            </a:solidFill>
            <a:prstDash val="solid"/>
            <a:round/>
            <a:headEnd len="med" w="med" type="none"/>
            <a:tailEnd len="med" w="med" type="triangle"/>
          </a:ln>
        </p:spPr>
      </p:cxnSp>
      <p:sp>
        <p:nvSpPr>
          <p:cNvPr id="2386" name="Google Shape;2386;p119"/>
          <p:cNvSpPr txBox="1"/>
          <p:nvPr/>
        </p:nvSpPr>
        <p:spPr>
          <a:xfrm>
            <a:off x="1252750" y="1550040"/>
            <a:ext cx="1104000" cy="39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Yêu cầu</a:t>
            </a:r>
            <a:r>
              <a:rPr lang="en-GB">
                <a:solidFill>
                  <a:schemeClr val="dk2"/>
                </a:solidFill>
              </a:rPr>
              <a:t>()</a:t>
            </a:r>
            <a:endParaRPr>
              <a:solidFill>
                <a:schemeClr val="dk2"/>
              </a:solidFill>
            </a:endParaRPr>
          </a:p>
        </p:txBody>
      </p:sp>
      <p:cxnSp>
        <p:nvCxnSpPr>
          <p:cNvPr id="2387" name="Google Shape;2387;p119"/>
          <p:cNvCxnSpPr/>
          <p:nvPr/>
        </p:nvCxnSpPr>
        <p:spPr>
          <a:xfrm>
            <a:off x="2680250" y="2965550"/>
            <a:ext cx="3340200" cy="0"/>
          </a:xfrm>
          <a:prstGeom prst="straightConnector1">
            <a:avLst/>
          </a:prstGeom>
          <a:noFill/>
          <a:ln cap="flat" cmpd="sng" w="9525">
            <a:solidFill>
              <a:schemeClr val="dk2"/>
            </a:solidFill>
            <a:prstDash val="solid"/>
            <a:round/>
            <a:headEnd len="med" w="med" type="none"/>
            <a:tailEnd len="med" w="med" type="triangle"/>
          </a:ln>
        </p:spPr>
      </p:cxnSp>
      <p:sp>
        <p:nvSpPr>
          <p:cNvPr id="2388" name="Google Shape;2388;p119"/>
          <p:cNvSpPr txBox="1"/>
          <p:nvPr/>
        </p:nvSpPr>
        <p:spPr>
          <a:xfrm>
            <a:off x="3919750" y="2596875"/>
            <a:ext cx="1104000" cy="39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Xử lý 1</a:t>
            </a:r>
            <a:r>
              <a:rPr lang="en-GB">
                <a:solidFill>
                  <a:schemeClr val="dk2"/>
                </a:solidFill>
              </a:rPr>
              <a:t>()</a:t>
            </a:r>
            <a:endParaRPr>
              <a:solidFill>
                <a:schemeClr val="dk2"/>
              </a:solidFill>
            </a:endParaRPr>
          </a:p>
        </p:txBody>
      </p:sp>
      <p:sp>
        <p:nvSpPr>
          <p:cNvPr id="2389" name="Google Shape;2389;p119"/>
          <p:cNvSpPr/>
          <p:nvPr/>
        </p:nvSpPr>
        <p:spPr>
          <a:xfrm>
            <a:off x="7697660" y="3455702"/>
            <a:ext cx="159600" cy="457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390" name="Google Shape;2390;p119"/>
          <p:cNvCxnSpPr/>
          <p:nvPr/>
        </p:nvCxnSpPr>
        <p:spPr>
          <a:xfrm>
            <a:off x="2680250" y="3575150"/>
            <a:ext cx="5007300" cy="0"/>
          </a:xfrm>
          <a:prstGeom prst="straightConnector1">
            <a:avLst/>
          </a:prstGeom>
          <a:noFill/>
          <a:ln cap="flat" cmpd="sng" w="9525">
            <a:solidFill>
              <a:schemeClr val="dk2"/>
            </a:solidFill>
            <a:prstDash val="solid"/>
            <a:round/>
            <a:headEnd len="med" w="med" type="none"/>
            <a:tailEnd len="med" w="med" type="triangle"/>
          </a:ln>
        </p:spPr>
      </p:cxnSp>
      <p:sp>
        <p:nvSpPr>
          <p:cNvPr id="2391" name="Google Shape;2391;p119"/>
          <p:cNvSpPr txBox="1"/>
          <p:nvPr/>
        </p:nvSpPr>
        <p:spPr>
          <a:xfrm>
            <a:off x="4529350" y="3206475"/>
            <a:ext cx="1104000" cy="39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Xử lý </a:t>
            </a:r>
            <a:r>
              <a:rPr lang="en-GB">
                <a:solidFill>
                  <a:schemeClr val="dk2"/>
                </a:solidFill>
              </a:rPr>
              <a:t>2</a:t>
            </a:r>
            <a:r>
              <a:rPr lang="en-GB">
                <a:solidFill>
                  <a:schemeClr val="dk2"/>
                </a:solidFill>
              </a:rPr>
              <a:t>()</a:t>
            </a:r>
            <a:endParaRPr>
              <a:solidFill>
                <a:schemeClr val="dk2"/>
              </a:solidFill>
            </a:endParaRPr>
          </a:p>
        </p:txBody>
      </p:sp>
      <p:sp>
        <p:nvSpPr>
          <p:cNvPr id="2392" name="Google Shape;2392;p119"/>
          <p:cNvSpPr txBox="1"/>
          <p:nvPr/>
        </p:nvSpPr>
        <p:spPr>
          <a:xfrm>
            <a:off x="719675" y="4703850"/>
            <a:ext cx="8112600" cy="12177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i="1" lang="en-GB" sz="2200">
                <a:solidFill>
                  <a:srgbClr val="666666"/>
                </a:solidFill>
              </a:rPr>
              <a:t>Các thành viên gửi và nhận các yêu cầu từ đối tượng điều phối. Đối tượng điều phối triển khai phối hợp bằng cách điều hướng các yêu cầu giữa các thành viên liên quan.</a:t>
            </a:r>
            <a:endParaRPr i="1" sz="2200">
              <a:solidFill>
                <a:srgbClr val="666666"/>
              </a:solidFill>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6" name="Shape 2396"/>
        <p:cNvGrpSpPr/>
        <p:nvPr/>
      </p:nvGrpSpPr>
      <p:grpSpPr>
        <a:xfrm>
          <a:off x="0" y="0"/>
          <a:ext cx="0" cy="0"/>
          <a:chOff x="0" y="0"/>
          <a:chExt cx="0" cy="0"/>
        </a:xfrm>
      </p:grpSpPr>
      <p:sp>
        <p:nvSpPr>
          <p:cNvPr id="2397" name="Google Shape;2397;p120"/>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Lớp điều phối: Các hệ quả</a:t>
            </a:r>
            <a:endParaRPr/>
          </a:p>
        </p:txBody>
      </p:sp>
      <p:sp>
        <p:nvSpPr>
          <p:cNvPr id="2398" name="Google Shape;2398;p12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2399" name="Google Shape;2399;p120"/>
          <p:cNvSpPr txBox="1"/>
          <p:nvPr>
            <p:ph idx="1" type="body"/>
          </p:nvPr>
        </p:nvSpPr>
        <p:spPr>
          <a:xfrm>
            <a:off x="311700" y="950475"/>
            <a:ext cx="8520600" cy="54183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Giảm thiểu kế thừa. Lớp điều phối tập hợp các hành vi bị phân tán giữa nhiều đối tượng. Chỉ cần kế thừa lớp điều phối để thay đổi hành vi.</a:t>
            </a:r>
            <a:endParaRPr/>
          </a:p>
          <a:p>
            <a:pPr indent="-381000" lvl="0" marL="457200" rtl="0" algn="l">
              <a:spcBef>
                <a:spcPts val="0"/>
              </a:spcBef>
              <a:spcAft>
                <a:spcPts val="0"/>
              </a:spcAft>
              <a:buSzPts val="2400"/>
              <a:buChar char="●"/>
            </a:pPr>
            <a:r>
              <a:rPr lang="en-GB"/>
              <a:t>Tạo liên kết lỏng giữa các thành viên. </a:t>
            </a:r>
            <a:endParaRPr/>
          </a:p>
          <a:p>
            <a:pPr indent="-381000" lvl="0" marL="457200" rtl="0" algn="l">
              <a:spcBef>
                <a:spcPts val="0"/>
              </a:spcBef>
              <a:spcAft>
                <a:spcPts val="0"/>
              </a:spcAft>
              <a:buSzPts val="2400"/>
              <a:buChar char="●"/>
            </a:pPr>
            <a:r>
              <a:rPr lang="en-GB"/>
              <a:t>Làm đơn giản hóa giao thức </a:t>
            </a:r>
            <a:r>
              <a:rPr lang="en-GB"/>
              <a:t>hành vi</a:t>
            </a:r>
            <a:r>
              <a:rPr lang="en-GB"/>
              <a:t> giữa các đối </a:t>
            </a:r>
            <a:r>
              <a:rPr lang="en-GB"/>
              <a:t>tượng</a:t>
            </a:r>
            <a:r>
              <a:rPr lang="en-GB"/>
              <a:t>. Thay thế </a:t>
            </a:r>
            <a:r>
              <a:rPr lang="en-GB"/>
              <a:t>hành vi</a:t>
            </a:r>
            <a:r>
              <a:rPr lang="en-GB"/>
              <a:t> n - n giữa các thành viên bằng </a:t>
            </a:r>
            <a:r>
              <a:rPr lang="en-GB"/>
              <a:t>hành vi</a:t>
            </a:r>
            <a:r>
              <a:rPr lang="en-GB"/>
              <a:t> 1 - n giữa đối tượng điều phối và các thành viên.</a:t>
            </a:r>
            <a:endParaRPr/>
          </a:p>
          <a:p>
            <a:pPr indent="-381000" lvl="0" marL="457200" rtl="0" algn="l">
              <a:spcBef>
                <a:spcPts val="0"/>
              </a:spcBef>
              <a:spcAft>
                <a:spcPts val="0"/>
              </a:spcAft>
              <a:buSzPts val="2400"/>
              <a:buChar char="●"/>
            </a:pPr>
            <a:r>
              <a:rPr lang="en-GB"/>
              <a:t>Quản lý tập trung. Đánh đổi sự phức tạp </a:t>
            </a:r>
            <a:r>
              <a:rPr lang="en-GB"/>
              <a:t>hành vi</a:t>
            </a:r>
            <a:r>
              <a:rPr lang="en-GB"/>
              <a:t> và sự phức tạp của lớp điều phối. Lớp điều phối đóng gói các giao thức, vì vậy có thể phức tạp hơn các thành viên và khó quản lý.</a:t>
            </a:r>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3" name="Shape 2403"/>
        <p:cNvGrpSpPr/>
        <p:nvPr/>
      </p:nvGrpSpPr>
      <p:grpSpPr>
        <a:xfrm>
          <a:off x="0" y="0"/>
          <a:ext cx="0" cy="0"/>
          <a:chOff x="0" y="0"/>
          <a:chExt cx="0" cy="0"/>
        </a:xfrm>
      </p:grpSpPr>
      <p:sp>
        <p:nvSpPr>
          <p:cNvPr id="2404" name="Google Shape;2404;p121"/>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20. Hộp thoại kiểu chữ</a:t>
            </a:r>
            <a:endParaRPr/>
          </a:p>
        </p:txBody>
      </p:sp>
      <p:sp>
        <p:nvSpPr>
          <p:cNvPr id="2405" name="Google Shape;2405;p12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2406" name="Google Shape;2406;p121"/>
          <p:cNvSpPr/>
          <p:nvPr/>
        </p:nvSpPr>
        <p:spPr>
          <a:xfrm>
            <a:off x="4676289" y="1632775"/>
            <a:ext cx="16107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i="1" lang="en-GB" sz="1600"/>
              <a:t>Widget</a:t>
            </a:r>
            <a:endParaRPr i="1" sz="1600"/>
          </a:p>
        </p:txBody>
      </p:sp>
      <p:sp>
        <p:nvSpPr>
          <p:cNvPr id="2407" name="Google Shape;2407;p121"/>
          <p:cNvSpPr/>
          <p:nvPr/>
        </p:nvSpPr>
        <p:spPr>
          <a:xfrm>
            <a:off x="4676275" y="1955000"/>
            <a:ext cx="1610700" cy="4827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i="1" lang="en-GB" sz="1600"/>
              <a:t>Changed()</a:t>
            </a:r>
            <a:endParaRPr i="1" sz="1600"/>
          </a:p>
        </p:txBody>
      </p:sp>
      <p:sp>
        <p:nvSpPr>
          <p:cNvPr id="2408" name="Google Shape;2408;p121"/>
          <p:cNvSpPr/>
          <p:nvPr/>
        </p:nvSpPr>
        <p:spPr>
          <a:xfrm>
            <a:off x="5068625" y="2438892"/>
            <a:ext cx="191700" cy="1281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9" name="Google Shape;2409;p121"/>
          <p:cNvSpPr/>
          <p:nvPr/>
        </p:nvSpPr>
        <p:spPr>
          <a:xfrm>
            <a:off x="559974" y="1632775"/>
            <a:ext cx="25056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i="1" lang="en-GB" sz="1600"/>
              <a:t>DialogDirector</a:t>
            </a:r>
            <a:endParaRPr i="1" sz="1600"/>
          </a:p>
        </p:txBody>
      </p:sp>
      <p:sp>
        <p:nvSpPr>
          <p:cNvPr id="2410" name="Google Shape;2410;p121"/>
          <p:cNvSpPr/>
          <p:nvPr/>
        </p:nvSpPr>
        <p:spPr>
          <a:xfrm>
            <a:off x="559950" y="1955000"/>
            <a:ext cx="2505600" cy="9669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lang="en-GB" sz="1600"/>
              <a:t>ShowDialog()</a:t>
            </a:r>
            <a:endParaRPr sz="1600"/>
          </a:p>
          <a:p>
            <a:pPr indent="0" lvl="0" marL="0" rtl="0" algn="l">
              <a:spcBef>
                <a:spcPts val="0"/>
              </a:spcBef>
              <a:spcAft>
                <a:spcPts val="0"/>
              </a:spcAft>
              <a:buNone/>
            </a:pPr>
            <a:r>
              <a:rPr lang="en-GB" sz="1600"/>
              <a:t>CreateWidgets()</a:t>
            </a:r>
            <a:endParaRPr sz="1600"/>
          </a:p>
          <a:p>
            <a:pPr indent="0" lvl="0" marL="0" rtl="0" algn="l">
              <a:spcBef>
                <a:spcPts val="0"/>
              </a:spcBef>
              <a:spcAft>
                <a:spcPts val="0"/>
              </a:spcAft>
              <a:buNone/>
            </a:pPr>
            <a:r>
              <a:rPr lang="en-GB" sz="1600"/>
              <a:t>WidgetChanged(Widget)</a:t>
            </a:r>
            <a:endParaRPr sz="1600"/>
          </a:p>
        </p:txBody>
      </p:sp>
      <p:sp>
        <p:nvSpPr>
          <p:cNvPr id="2411" name="Google Shape;2411;p121"/>
          <p:cNvSpPr/>
          <p:nvPr/>
        </p:nvSpPr>
        <p:spPr>
          <a:xfrm>
            <a:off x="1715825" y="2930373"/>
            <a:ext cx="191700" cy="1281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2" name="Google Shape;2412;p121"/>
          <p:cNvSpPr/>
          <p:nvPr/>
        </p:nvSpPr>
        <p:spPr>
          <a:xfrm>
            <a:off x="559981" y="3972108"/>
            <a:ext cx="2505600" cy="4380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FontDialogDirector</a:t>
            </a:r>
            <a:endParaRPr sz="1600"/>
          </a:p>
        </p:txBody>
      </p:sp>
      <p:sp>
        <p:nvSpPr>
          <p:cNvPr id="2413" name="Google Shape;2413;p121"/>
          <p:cNvSpPr/>
          <p:nvPr/>
        </p:nvSpPr>
        <p:spPr>
          <a:xfrm>
            <a:off x="5678225" y="2438892"/>
            <a:ext cx="191700" cy="1281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414" name="Google Shape;2414;p121"/>
          <p:cNvCxnSpPr>
            <a:stCxn id="2415" idx="0"/>
            <a:endCxn id="2408" idx="3"/>
          </p:cNvCxnSpPr>
          <p:nvPr/>
        </p:nvCxnSpPr>
        <p:spPr>
          <a:xfrm rot="-5400000">
            <a:off x="4184183" y="2709925"/>
            <a:ext cx="1123200" cy="837300"/>
          </a:xfrm>
          <a:prstGeom prst="bentConnector3">
            <a:avLst>
              <a:gd fmla="val 49999" name="adj1"/>
            </a:avLst>
          </a:prstGeom>
          <a:noFill/>
          <a:ln cap="flat" cmpd="sng" w="9525">
            <a:solidFill>
              <a:schemeClr val="dk2"/>
            </a:solidFill>
            <a:prstDash val="solid"/>
            <a:round/>
            <a:headEnd len="med" w="med" type="none"/>
            <a:tailEnd len="med" w="med" type="none"/>
          </a:ln>
        </p:spPr>
      </p:cxnSp>
      <p:cxnSp>
        <p:nvCxnSpPr>
          <p:cNvPr id="2416" name="Google Shape;2416;p121"/>
          <p:cNvCxnSpPr>
            <a:stCxn id="2417" idx="0"/>
            <a:endCxn id="2413" idx="3"/>
          </p:cNvCxnSpPr>
          <p:nvPr/>
        </p:nvCxnSpPr>
        <p:spPr>
          <a:xfrm flipH="1" rot="5400000">
            <a:off x="5479583" y="2861425"/>
            <a:ext cx="1123200" cy="534300"/>
          </a:xfrm>
          <a:prstGeom prst="bentConnector3">
            <a:avLst>
              <a:gd fmla="val 49999" name="adj1"/>
            </a:avLst>
          </a:prstGeom>
          <a:noFill/>
          <a:ln cap="flat" cmpd="sng" w="9525">
            <a:solidFill>
              <a:schemeClr val="dk2"/>
            </a:solidFill>
            <a:prstDash val="solid"/>
            <a:round/>
            <a:headEnd len="med" w="med" type="none"/>
            <a:tailEnd len="med" w="med" type="none"/>
          </a:ln>
        </p:spPr>
      </p:cxnSp>
      <p:cxnSp>
        <p:nvCxnSpPr>
          <p:cNvPr id="2418" name="Google Shape;2418;p121"/>
          <p:cNvCxnSpPr>
            <a:stCxn id="2412" idx="0"/>
            <a:endCxn id="2411" idx="3"/>
          </p:cNvCxnSpPr>
          <p:nvPr/>
        </p:nvCxnSpPr>
        <p:spPr>
          <a:xfrm rot="10800000">
            <a:off x="1811581" y="3058608"/>
            <a:ext cx="1200" cy="913500"/>
          </a:xfrm>
          <a:prstGeom prst="straightConnector1">
            <a:avLst/>
          </a:prstGeom>
          <a:noFill/>
          <a:ln cap="flat" cmpd="sng" w="9525">
            <a:solidFill>
              <a:schemeClr val="dk2"/>
            </a:solidFill>
            <a:prstDash val="solid"/>
            <a:round/>
            <a:headEnd len="med" w="med" type="none"/>
            <a:tailEnd len="med" w="med" type="none"/>
          </a:ln>
        </p:spPr>
      </p:cxnSp>
      <p:sp>
        <p:nvSpPr>
          <p:cNvPr id="2419" name="Google Shape;2419;p121"/>
          <p:cNvSpPr/>
          <p:nvPr/>
        </p:nvSpPr>
        <p:spPr>
          <a:xfrm>
            <a:off x="559950" y="4413358"/>
            <a:ext cx="2505600" cy="7635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lang="en-GB" sz="1600"/>
              <a:t>CreateWidgets()</a:t>
            </a:r>
            <a:endParaRPr sz="1600"/>
          </a:p>
          <a:p>
            <a:pPr indent="0" lvl="0" marL="0" rtl="0" algn="l">
              <a:spcBef>
                <a:spcPts val="0"/>
              </a:spcBef>
              <a:spcAft>
                <a:spcPts val="0"/>
              </a:spcAft>
              <a:buNone/>
            </a:pPr>
            <a:r>
              <a:rPr lang="en-GB" sz="1600"/>
              <a:t>WidgetChanged(Widget)</a:t>
            </a:r>
            <a:endParaRPr sz="1600"/>
          </a:p>
        </p:txBody>
      </p:sp>
      <p:cxnSp>
        <p:nvCxnSpPr>
          <p:cNvPr id="2420" name="Google Shape;2420;p121"/>
          <p:cNvCxnSpPr>
            <a:stCxn id="2409" idx="3"/>
            <a:endCxn id="2406" idx="1"/>
          </p:cNvCxnSpPr>
          <p:nvPr/>
        </p:nvCxnSpPr>
        <p:spPr>
          <a:xfrm>
            <a:off x="3065574" y="1794025"/>
            <a:ext cx="1610700" cy="0"/>
          </a:xfrm>
          <a:prstGeom prst="straightConnector1">
            <a:avLst/>
          </a:prstGeom>
          <a:noFill/>
          <a:ln cap="flat" cmpd="sng" w="9525">
            <a:solidFill>
              <a:schemeClr val="dk2"/>
            </a:solidFill>
            <a:prstDash val="solid"/>
            <a:round/>
            <a:headEnd len="med" w="med" type="triangle"/>
            <a:tailEnd len="med" w="med" type="triangle"/>
          </a:ln>
        </p:spPr>
      </p:cxnSp>
      <p:sp>
        <p:nvSpPr>
          <p:cNvPr id="2421" name="Google Shape;2421;p121"/>
          <p:cNvSpPr/>
          <p:nvPr/>
        </p:nvSpPr>
        <p:spPr>
          <a:xfrm>
            <a:off x="6795390" y="1877800"/>
            <a:ext cx="2106300" cy="524700"/>
          </a:xfrm>
          <a:prstGeom prst="foldedCorner">
            <a:avLst>
              <a:gd fmla="val 16667" name="adj"/>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t>director-&gt;</a:t>
            </a:r>
            <a:endParaRPr/>
          </a:p>
          <a:p>
            <a:pPr indent="0" lvl="0" marL="0" rtl="0" algn="l">
              <a:spcBef>
                <a:spcPts val="0"/>
              </a:spcBef>
              <a:spcAft>
                <a:spcPts val="0"/>
              </a:spcAft>
              <a:buNone/>
            </a:pPr>
            <a:r>
              <a:rPr lang="en-GB"/>
              <a:t>   WidgetChanged(this)</a:t>
            </a:r>
            <a:endParaRPr/>
          </a:p>
        </p:txBody>
      </p:sp>
      <p:cxnSp>
        <p:nvCxnSpPr>
          <p:cNvPr id="2422" name="Google Shape;2422;p121"/>
          <p:cNvCxnSpPr>
            <a:endCxn id="2421" idx="1"/>
          </p:cNvCxnSpPr>
          <p:nvPr/>
        </p:nvCxnSpPr>
        <p:spPr>
          <a:xfrm flipH="1" rot="10800000">
            <a:off x="5683590" y="2140150"/>
            <a:ext cx="1111800" cy="8100"/>
          </a:xfrm>
          <a:prstGeom prst="straightConnector1">
            <a:avLst/>
          </a:prstGeom>
          <a:noFill/>
          <a:ln cap="flat" cmpd="sng" w="28575">
            <a:solidFill>
              <a:schemeClr val="dk2"/>
            </a:solidFill>
            <a:prstDash val="dash"/>
            <a:round/>
            <a:headEnd len="med" w="med" type="oval"/>
            <a:tailEnd len="med" w="med" type="none"/>
          </a:ln>
        </p:spPr>
      </p:cxnSp>
      <p:sp>
        <p:nvSpPr>
          <p:cNvPr id="2415" name="Google Shape;2415;p121"/>
          <p:cNvSpPr/>
          <p:nvPr/>
        </p:nvSpPr>
        <p:spPr>
          <a:xfrm>
            <a:off x="3521783" y="3690175"/>
            <a:ext cx="16107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ListBox</a:t>
            </a:r>
            <a:endParaRPr sz="1600"/>
          </a:p>
        </p:txBody>
      </p:sp>
      <p:sp>
        <p:nvSpPr>
          <p:cNvPr id="2423" name="Google Shape;2423;p121"/>
          <p:cNvSpPr/>
          <p:nvPr/>
        </p:nvSpPr>
        <p:spPr>
          <a:xfrm>
            <a:off x="3521775" y="4012400"/>
            <a:ext cx="1610700" cy="3519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lang="en-GB" sz="1600"/>
              <a:t>GetSelection()</a:t>
            </a:r>
            <a:endParaRPr sz="1600"/>
          </a:p>
        </p:txBody>
      </p:sp>
      <p:sp>
        <p:nvSpPr>
          <p:cNvPr id="2417" name="Google Shape;2417;p121"/>
          <p:cNvSpPr/>
          <p:nvPr/>
        </p:nvSpPr>
        <p:spPr>
          <a:xfrm>
            <a:off x="5502983" y="3690175"/>
            <a:ext cx="16107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EntryField</a:t>
            </a:r>
            <a:endParaRPr sz="1600"/>
          </a:p>
        </p:txBody>
      </p:sp>
      <p:sp>
        <p:nvSpPr>
          <p:cNvPr id="2424" name="Google Shape;2424;p121"/>
          <p:cNvSpPr/>
          <p:nvPr/>
        </p:nvSpPr>
        <p:spPr>
          <a:xfrm>
            <a:off x="5502975" y="4012400"/>
            <a:ext cx="1610700" cy="3519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lang="en-GB" sz="1600"/>
              <a:t>SetText</a:t>
            </a:r>
            <a:r>
              <a:rPr lang="en-GB" sz="1600"/>
              <a:t>()</a:t>
            </a:r>
            <a:endParaRPr sz="1600"/>
          </a:p>
        </p:txBody>
      </p:sp>
      <p:cxnSp>
        <p:nvCxnSpPr>
          <p:cNvPr id="2425" name="Google Shape;2425;p121"/>
          <p:cNvCxnSpPr>
            <a:stCxn id="2412" idx="3"/>
            <a:endCxn id="2423" idx="1"/>
          </p:cNvCxnSpPr>
          <p:nvPr/>
        </p:nvCxnSpPr>
        <p:spPr>
          <a:xfrm flipH="1" rot="10800000">
            <a:off x="3065581" y="4188408"/>
            <a:ext cx="456300" cy="2700"/>
          </a:xfrm>
          <a:prstGeom prst="straightConnector1">
            <a:avLst/>
          </a:prstGeom>
          <a:noFill/>
          <a:ln cap="flat" cmpd="sng" w="9525">
            <a:solidFill>
              <a:schemeClr val="dk2"/>
            </a:solidFill>
            <a:prstDash val="solid"/>
            <a:round/>
            <a:headEnd len="med" w="med" type="triangle"/>
            <a:tailEnd len="med" w="med" type="triangle"/>
          </a:ln>
        </p:spPr>
      </p:cxnSp>
      <p:cxnSp>
        <p:nvCxnSpPr>
          <p:cNvPr id="2426" name="Google Shape;2426;p121"/>
          <p:cNvCxnSpPr>
            <a:stCxn id="2419" idx="3"/>
            <a:endCxn id="2424" idx="2"/>
          </p:cNvCxnSpPr>
          <p:nvPr/>
        </p:nvCxnSpPr>
        <p:spPr>
          <a:xfrm flipH="1" rot="10800000">
            <a:off x="3065550" y="4364308"/>
            <a:ext cx="3242700" cy="430800"/>
          </a:xfrm>
          <a:prstGeom prst="bentConnector2">
            <a:avLst/>
          </a:prstGeom>
          <a:noFill/>
          <a:ln cap="flat" cmpd="sng" w="9525">
            <a:solidFill>
              <a:schemeClr val="dk2"/>
            </a:solidFill>
            <a:prstDash val="solid"/>
            <a:round/>
            <a:headEnd len="med" w="med" type="triangle"/>
            <a:tailEnd len="med" w="med" type="triangle"/>
          </a:ln>
        </p:spPr>
      </p:cxn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0" name="Shape 2430"/>
        <p:cNvGrpSpPr/>
        <p:nvPr/>
      </p:nvGrpSpPr>
      <p:grpSpPr>
        <a:xfrm>
          <a:off x="0" y="0"/>
          <a:ext cx="0" cy="0"/>
          <a:chOff x="0" y="0"/>
          <a:chExt cx="0" cy="0"/>
        </a:xfrm>
      </p:grpSpPr>
      <p:sp>
        <p:nvSpPr>
          <p:cNvPr id="2431" name="Google Shape;2431;p122"/>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Bản sao lưu</a:t>
            </a:r>
            <a:endParaRPr/>
          </a:p>
        </p:txBody>
      </p:sp>
      <p:sp>
        <p:nvSpPr>
          <p:cNvPr id="2432" name="Google Shape;2432;p122"/>
          <p:cNvSpPr txBox="1"/>
          <p:nvPr>
            <p:ph idx="1" type="body"/>
          </p:nvPr>
        </p:nvSpPr>
        <p:spPr>
          <a:xfrm>
            <a:off x="311700" y="950475"/>
            <a:ext cx="8520600" cy="54183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i="1" lang="en-GB"/>
              <a:t>Memento</a:t>
            </a:r>
            <a:endParaRPr i="1"/>
          </a:p>
          <a:p>
            <a:pPr indent="0" lvl="0" marL="0" rtl="0" algn="just">
              <a:spcBef>
                <a:spcPts val="0"/>
              </a:spcBef>
              <a:spcAft>
                <a:spcPts val="0"/>
              </a:spcAft>
              <a:buNone/>
            </a:pPr>
            <a:r>
              <a:rPr lang="en-GB"/>
              <a:t>Thâu tóm và mở trạng thái của đối tượng cho bên ngoài để có thể khôi phục về trạng thái đó trong khi không phá vỡ quy tắc đóng gói.</a:t>
            </a:r>
            <a:endParaRPr/>
          </a:p>
          <a:p>
            <a:pPr indent="0" lvl="0" marL="0" rtl="0" algn="just">
              <a:spcBef>
                <a:spcPts val="0"/>
              </a:spcBef>
              <a:spcAft>
                <a:spcPts val="0"/>
              </a:spcAft>
              <a:buNone/>
            </a:pPr>
            <a:r>
              <a:t/>
            </a:r>
            <a:endParaRPr/>
          </a:p>
        </p:txBody>
      </p:sp>
      <p:sp>
        <p:nvSpPr>
          <p:cNvPr id="2433" name="Google Shape;2433;p12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7" name="Shape 2437"/>
        <p:cNvGrpSpPr/>
        <p:nvPr/>
      </p:nvGrpSpPr>
      <p:grpSpPr>
        <a:xfrm>
          <a:off x="0" y="0"/>
          <a:ext cx="0" cy="0"/>
          <a:chOff x="0" y="0"/>
          <a:chExt cx="0" cy="0"/>
        </a:xfrm>
      </p:grpSpPr>
      <p:sp>
        <p:nvSpPr>
          <p:cNvPr id="2438" name="Google Shape;2438;p123"/>
          <p:cNvSpPr/>
          <p:nvPr/>
        </p:nvSpPr>
        <p:spPr>
          <a:xfrm flipH="1" rot="10800000">
            <a:off x="397776" y="4007600"/>
            <a:ext cx="2937300" cy="497700"/>
          </a:xfrm>
          <a:prstGeom prst="foldedCorner">
            <a:avLst>
              <a:gd fmla="val 25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9" name="Google Shape;2439;p123"/>
          <p:cNvSpPr/>
          <p:nvPr/>
        </p:nvSpPr>
        <p:spPr>
          <a:xfrm flipH="1" rot="10800000">
            <a:off x="3523032" y="4007600"/>
            <a:ext cx="2717100" cy="497700"/>
          </a:xfrm>
          <a:prstGeom prst="foldedCorner">
            <a:avLst>
              <a:gd fmla="val 25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0" name="Google Shape;2440;p123"/>
          <p:cNvSpPr txBox="1"/>
          <p:nvPr/>
        </p:nvSpPr>
        <p:spPr>
          <a:xfrm>
            <a:off x="367425" y="3980725"/>
            <a:ext cx="3122700" cy="524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GB"/>
              <a:t>return new Bản sao lưu(trạng thái)</a:t>
            </a:r>
            <a:endParaRPr/>
          </a:p>
        </p:txBody>
      </p:sp>
      <p:sp>
        <p:nvSpPr>
          <p:cNvPr id="2441" name="Google Shape;2441;p123"/>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Bản sao lưu: Cấu trúc</a:t>
            </a:r>
            <a:endParaRPr/>
          </a:p>
        </p:txBody>
      </p:sp>
      <p:sp>
        <p:nvSpPr>
          <p:cNvPr id="2442" name="Google Shape;2442;p12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2443" name="Google Shape;2443;p123"/>
          <p:cNvSpPr/>
          <p:nvPr/>
        </p:nvSpPr>
        <p:spPr>
          <a:xfrm>
            <a:off x="696875" y="2242375"/>
            <a:ext cx="28350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Lớp gốc</a:t>
            </a:r>
            <a:endParaRPr sz="1600"/>
          </a:p>
        </p:txBody>
      </p:sp>
      <p:sp>
        <p:nvSpPr>
          <p:cNvPr id="2444" name="Google Shape;2444;p123"/>
          <p:cNvSpPr/>
          <p:nvPr/>
        </p:nvSpPr>
        <p:spPr>
          <a:xfrm>
            <a:off x="696850" y="2564598"/>
            <a:ext cx="2835000" cy="3915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lang="en-GB" sz="1600"/>
              <a:t>trạng thái</a:t>
            </a:r>
            <a:endParaRPr sz="1600"/>
          </a:p>
        </p:txBody>
      </p:sp>
      <p:sp>
        <p:nvSpPr>
          <p:cNvPr id="2445" name="Google Shape;2445;p123"/>
          <p:cNvSpPr/>
          <p:nvPr/>
        </p:nvSpPr>
        <p:spPr>
          <a:xfrm>
            <a:off x="696850" y="2957300"/>
            <a:ext cx="2835000" cy="6249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lang="en-GB" sz="1600"/>
              <a:t>Thiết lập lưu trữ(Memento m)</a:t>
            </a:r>
            <a:endParaRPr sz="1600"/>
          </a:p>
          <a:p>
            <a:pPr indent="0" lvl="0" marL="0" rtl="0" algn="l">
              <a:spcBef>
                <a:spcPts val="0"/>
              </a:spcBef>
              <a:spcAft>
                <a:spcPts val="0"/>
              </a:spcAft>
              <a:buNone/>
            </a:pPr>
            <a:r>
              <a:rPr lang="en-GB" sz="1600"/>
              <a:t>Tạo bản sao lưu()</a:t>
            </a:r>
            <a:endParaRPr sz="1600"/>
          </a:p>
        </p:txBody>
      </p:sp>
      <p:sp>
        <p:nvSpPr>
          <p:cNvPr id="2446" name="Google Shape;2446;p123"/>
          <p:cNvSpPr/>
          <p:nvPr/>
        </p:nvSpPr>
        <p:spPr>
          <a:xfrm>
            <a:off x="4438691" y="2242375"/>
            <a:ext cx="18021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Bản sao lưu</a:t>
            </a:r>
            <a:endParaRPr sz="1600"/>
          </a:p>
        </p:txBody>
      </p:sp>
      <p:sp>
        <p:nvSpPr>
          <p:cNvPr id="2447" name="Google Shape;2447;p123"/>
          <p:cNvSpPr/>
          <p:nvPr/>
        </p:nvSpPr>
        <p:spPr>
          <a:xfrm>
            <a:off x="4438675" y="2564598"/>
            <a:ext cx="1802100" cy="3915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lang="en-GB" sz="1600"/>
              <a:t>trạng thái</a:t>
            </a:r>
            <a:endParaRPr sz="1600"/>
          </a:p>
        </p:txBody>
      </p:sp>
      <p:sp>
        <p:nvSpPr>
          <p:cNvPr id="2448" name="Google Shape;2448;p123"/>
          <p:cNvSpPr/>
          <p:nvPr/>
        </p:nvSpPr>
        <p:spPr>
          <a:xfrm>
            <a:off x="4438675" y="2957300"/>
            <a:ext cx="1802100" cy="6249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lang="en-GB" sz="1600"/>
              <a:t>Đọc trạng thái()</a:t>
            </a:r>
            <a:endParaRPr sz="1600"/>
          </a:p>
          <a:p>
            <a:pPr indent="0" lvl="0" marL="0" rtl="0" algn="l">
              <a:spcBef>
                <a:spcPts val="0"/>
              </a:spcBef>
              <a:spcAft>
                <a:spcPts val="0"/>
              </a:spcAft>
              <a:buNone/>
            </a:pPr>
            <a:r>
              <a:rPr lang="en-GB" sz="1600"/>
              <a:t>Đặt trạng thái()</a:t>
            </a:r>
            <a:endParaRPr sz="1600"/>
          </a:p>
        </p:txBody>
      </p:sp>
      <p:sp>
        <p:nvSpPr>
          <p:cNvPr id="2449" name="Google Shape;2449;p123"/>
          <p:cNvSpPr/>
          <p:nvPr/>
        </p:nvSpPr>
        <p:spPr>
          <a:xfrm>
            <a:off x="7138100" y="2242375"/>
            <a:ext cx="1557600" cy="391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Quản lý lưu trữ</a:t>
            </a:r>
            <a:endParaRPr sz="1600"/>
          </a:p>
        </p:txBody>
      </p:sp>
      <p:sp>
        <p:nvSpPr>
          <p:cNvPr id="2450" name="Google Shape;2450;p123"/>
          <p:cNvSpPr/>
          <p:nvPr/>
        </p:nvSpPr>
        <p:spPr>
          <a:xfrm>
            <a:off x="6935262" y="2352635"/>
            <a:ext cx="191700" cy="117050"/>
          </a:xfrm>
          <a:prstGeom prst="flowChartDecision">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451" name="Google Shape;2451;p123"/>
          <p:cNvCxnSpPr>
            <a:stCxn id="2450" idx="1"/>
            <a:endCxn id="2446" idx="3"/>
          </p:cNvCxnSpPr>
          <p:nvPr/>
        </p:nvCxnSpPr>
        <p:spPr>
          <a:xfrm rot="10800000">
            <a:off x="6240762" y="2403660"/>
            <a:ext cx="694500" cy="7500"/>
          </a:xfrm>
          <a:prstGeom prst="straightConnector1">
            <a:avLst/>
          </a:prstGeom>
          <a:noFill/>
          <a:ln cap="flat" cmpd="sng" w="9525">
            <a:solidFill>
              <a:schemeClr val="dk2"/>
            </a:solidFill>
            <a:prstDash val="solid"/>
            <a:round/>
            <a:headEnd len="med" w="med" type="none"/>
            <a:tailEnd len="med" w="med" type="triangle"/>
          </a:ln>
        </p:spPr>
      </p:cxnSp>
      <p:cxnSp>
        <p:nvCxnSpPr>
          <p:cNvPr id="2452" name="Google Shape;2452;p123"/>
          <p:cNvCxnSpPr>
            <a:stCxn id="2443" idx="3"/>
            <a:endCxn id="2446" idx="1"/>
          </p:cNvCxnSpPr>
          <p:nvPr/>
        </p:nvCxnSpPr>
        <p:spPr>
          <a:xfrm>
            <a:off x="3531875" y="2403625"/>
            <a:ext cx="906900" cy="0"/>
          </a:xfrm>
          <a:prstGeom prst="straightConnector1">
            <a:avLst/>
          </a:prstGeom>
          <a:noFill/>
          <a:ln cap="flat" cmpd="sng" w="9525">
            <a:solidFill>
              <a:schemeClr val="dk2"/>
            </a:solidFill>
            <a:prstDash val="solid"/>
            <a:round/>
            <a:headEnd len="med" w="med" type="none"/>
            <a:tailEnd len="med" w="med" type="triangle"/>
          </a:ln>
        </p:spPr>
      </p:cxnSp>
      <p:sp>
        <p:nvSpPr>
          <p:cNvPr id="2453" name="Google Shape;2453;p123"/>
          <p:cNvSpPr txBox="1"/>
          <p:nvPr/>
        </p:nvSpPr>
        <p:spPr>
          <a:xfrm>
            <a:off x="3490125" y="3980725"/>
            <a:ext cx="2750700" cy="524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GB"/>
              <a:t>trạng thái = m-&gt;Đọc trạng thái()</a:t>
            </a:r>
            <a:endParaRPr/>
          </a:p>
        </p:txBody>
      </p:sp>
      <p:cxnSp>
        <p:nvCxnSpPr>
          <p:cNvPr id="2454" name="Google Shape;2454;p123"/>
          <p:cNvCxnSpPr/>
          <p:nvPr/>
        </p:nvCxnSpPr>
        <p:spPr>
          <a:xfrm>
            <a:off x="3395851" y="3254774"/>
            <a:ext cx="308700" cy="750300"/>
          </a:xfrm>
          <a:prstGeom prst="straightConnector1">
            <a:avLst/>
          </a:prstGeom>
          <a:noFill/>
          <a:ln cap="flat" cmpd="sng" w="9525">
            <a:solidFill>
              <a:schemeClr val="dk2"/>
            </a:solidFill>
            <a:prstDash val="dash"/>
            <a:round/>
            <a:headEnd len="med" w="med" type="none"/>
            <a:tailEnd len="med" w="med" type="none"/>
          </a:ln>
        </p:spPr>
      </p:cxnSp>
      <p:cxnSp>
        <p:nvCxnSpPr>
          <p:cNvPr id="2455" name="Google Shape;2455;p123"/>
          <p:cNvCxnSpPr/>
          <p:nvPr/>
        </p:nvCxnSpPr>
        <p:spPr>
          <a:xfrm>
            <a:off x="2456650" y="3366175"/>
            <a:ext cx="131700" cy="631800"/>
          </a:xfrm>
          <a:prstGeom prst="straightConnector1">
            <a:avLst/>
          </a:prstGeom>
          <a:noFill/>
          <a:ln cap="flat" cmpd="sng" w="9525">
            <a:solidFill>
              <a:schemeClr val="dk2"/>
            </a:solidFill>
            <a:prstDash val="dash"/>
            <a:round/>
            <a:headEnd len="med" w="med" type="none"/>
            <a:tailEnd len="med" w="med" type="none"/>
          </a:ln>
        </p:spPr>
      </p:cxn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9" name="Shape 2459"/>
        <p:cNvGrpSpPr/>
        <p:nvPr/>
      </p:nvGrpSpPr>
      <p:grpSpPr>
        <a:xfrm>
          <a:off x="0" y="0"/>
          <a:ext cx="0" cy="0"/>
          <a:chOff x="0" y="0"/>
          <a:chExt cx="0" cy="0"/>
        </a:xfrm>
      </p:grpSpPr>
      <p:sp>
        <p:nvSpPr>
          <p:cNvPr id="2460" name="Google Shape;2460;p124"/>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Bản sao lưu: </a:t>
            </a:r>
            <a:r>
              <a:rPr lang="en-GB"/>
              <a:t>Hành vi</a:t>
            </a:r>
            <a:endParaRPr/>
          </a:p>
        </p:txBody>
      </p:sp>
      <p:sp>
        <p:nvSpPr>
          <p:cNvPr id="2461" name="Google Shape;2461;p12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2462" name="Google Shape;2462;p124"/>
          <p:cNvSpPr/>
          <p:nvPr/>
        </p:nvSpPr>
        <p:spPr>
          <a:xfrm>
            <a:off x="1219829" y="1293100"/>
            <a:ext cx="16539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u="sng"/>
              <a:t>:</a:t>
            </a:r>
            <a:r>
              <a:rPr lang="en-GB" sz="1600" u="sng"/>
              <a:t>Quản lý lưu trữ</a:t>
            </a:r>
            <a:endParaRPr sz="1600" u="sng"/>
          </a:p>
        </p:txBody>
      </p:sp>
      <p:cxnSp>
        <p:nvCxnSpPr>
          <p:cNvPr id="2463" name="Google Shape;2463;p124"/>
          <p:cNvCxnSpPr/>
          <p:nvPr/>
        </p:nvCxnSpPr>
        <p:spPr>
          <a:xfrm>
            <a:off x="2070475" y="1615600"/>
            <a:ext cx="0" cy="2954700"/>
          </a:xfrm>
          <a:prstGeom prst="straightConnector1">
            <a:avLst/>
          </a:prstGeom>
          <a:noFill/>
          <a:ln cap="flat" cmpd="sng" w="9525">
            <a:solidFill>
              <a:schemeClr val="dk2"/>
            </a:solidFill>
            <a:prstDash val="dash"/>
            <a:round/>
            <a:headEnd len="med" w="med" type="none"/>
            <a:tailEnd len="med" w="med" type="none"/>
          </a:ln>
        </p:spPr>
      </p:cxnSp>
      <p:sp>
        <p:nvSpPr>
          <p:cNvPr id="2464" name="Google Shape;2464;p124"/>
          <p:cNvSpPr/>
          <p:nvPr/>
        </p:nvSpPr>
        <p:spPr>
          <a:xfrm>
            <a:off x="3472892" y="1293100"/>
            <a:ext cx="13212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u="sng"/>
              <a:t>:</a:t>
            </a:r>
            <a:r>
              <a:rPr lang="en-GB" sz="1600" u="sng"/>
              <a:t>Lớp gốc</a:t>
            </a:r>
            <a:endParaRPr sz="1600" u="sng"/>
          </a:p>
        </p:txBody>
      </p:sp>
      <p:cxnSp>
        <p:nvCxnSpPr>
          <p:cNvPr id="2465" name="Google Shape;2465;p124"/>
          <p:cNvCxnSpPr/>
          <p:nvPr/>
        </p:nvCxnSpPr>
        <p:spPr>
          <a:xfrm>
            <a:off x="4127875" y="1615600"/>
            <a:ext cx="0" cy="2954700"/>
          </a:xfrm>
          <a:prstGeom prst="straightConnector1">
            <a:avLst/>
          </a:prstGeom>
          <a:noFill/>
          <a:ln cap="flat" cmpd="sng" w="9525">
            <a:solidFill>
              <a:schemeClr val="dk2"/>
            </a:solidFill>
            <a:prstDash val="dash"/>
            <a:round/>
            <a:headEnd len="med" w="med" type="none"/>
            <a:tailEnd len="med" w="med" type="none"/>
          </a:ln>
        </p:spPr>
      </p:cxnSp>
      <p:sp>
        <p:nvSpPr>
          <p:cNvPr id="2466" name="Google Shape;2466;p124"/>
          <p:cNvSpPr/>
          <p:nvPr/>
        </p:nvSpPr>
        <p:spPr>
          <a:xfrm>
            <a:off x="5294070" y="1948952"/>
            <a:ext cx="16539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u="sng"/>
              <a:t>b</a:t>
            </a:r>
            <a:r>
              <a:rPr lang="en-GB" sz="1600" u="sng"/>
              <a:t>:B</a:t>
            </a:r>
            <a:r>
              <a:rPr lang="en-GB" sz="1600" u="sng"/>
              <a:t>ản sao lưu</a:t>
            </a:r>
            <a:endParaRPr sz="1600" u="sng"/>
          </a:p>
        </p:txBody>
      </p:sp>
      <p:cxnSp>
        <p:nvCxnSpPr>
          <p:cNvPr id="2467" name="Google Shape;2467;p124"/>
          <p:cNvCxnSpPr>
            <a:stCxn id="2466" idx="2"/>
          </p:cNvCxnSpPr>
          <p:nvPr/>
        </p:nvCxnSpPr>
        <p:spPr>
          <a:xfrm>
            <a:off x="6121020" y="2271452"/>
            <a:ext cx="0" cy="2279100"/>
          </a:xfrm>
          <a:prstGeom prst="straightConnector1">
            <a:avLst/>
          </a:prstGeom>
          <a:noFill/>
          <a:ln cap="flat" cmpd="sng" w="9525">
            <a:solidFill>
              <a:schemeClr val="dk2"/>
            </a:solidFill>
            <a:prstDash val="dash"/>
            <a:round/>
            <a:headEnd len="med" w="med" type="none"/>
            <a:tailEnd len="med" w="med" type="none"/>
          </a:ln>
        </p:spPr>
      </p:cxnSp>
      <p:sp>
        <p:nvSpPr>
          <p:cNvPr id="2468" name="Google Shape;2468;p124"/>
          <p:cNvSpPr/>
          <p:nvPr/>
        </p:nvSpPr>
        <p:spPr>
          <a:xfrm>
            <a:off x="4053700" y="1882026"/>
            <a:ext cx="159600" cy="1021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469" name="Google Shape;2469;p124"/>
          <p:cNvCxnSpPr/>
          <p:nvPr/>
        </p:nvCxnSpPr>
        <p:spPr>
          <a:xfrm>
            <a:off x="2070475" y="2011225"/>
            <a:ext cx="1955100" cy="0"/>
          </a:xfrm>
          <a:prstGeom prst="straightConnector1">
            <a:avLst/>
          </a:prstGeom>
          <a:noFill/>
          <a:ln cap="flat" cmpd="sng" w="9525">
            <a:solidFill>
              <a:schemeClr val="dk2"/>
            </a:solidFill>
            <a:prstDash val="solid"/>
            <a:round/>
            <a:headEnd len="med" w="med" type="none"/>
            <a:tailEnd len="med" w="med" type="triangle"/>
          </a:ln>
        </p:spPr>
      </p:cxnSp>
      <p:sp>
        <p:nvSpPr>
          <p:cNvPr id="2470" name="Google Shape;2470;p124"/>
          <p:cNvSpPr txBox="1"/>
          <p:nvPr/>
        </p:nvSpPr>
        <p:spPr>
          <a:xfrm>
            <a:off x="2488250" y="1685450"/>
            <a:ext cx="1367700" cy="32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600">
              <a:solidFill>
                <a:srgbClr val="666666"/>
              </a:solidFill>
            </a:endParaRPr>
          </a:p>
        </p:txBody>
      </p:sp>
      <p:sp>
        <p:nvSpPr>
          <p:cNvPr id="2471" name="Google Shape;2471;p124"/>
          <p:cNvSpPr txBox="1"/>
          <p:nvPr/>
        </p:nvSpPr>
        <p:spPr>
          <a:xfrm>
            <a:off x="2061002" y="1682475"/>
            <a:ext cx="1653900" cy="39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Tạo bản sao lưu</a:t>
            </a:r>
            <a:r>
              <a:rPr lang="en-GB">
                <a:solidFill>
                  <a:schemeClr val="dk2"/>
                </a:solidFill>
              </a:rPr>
              <a:t>()</a:t>
            </a:r>
            <a:endParaRPr>
              <a:solidFill>
                <a:schemeClr val="dk2"/>
              </a:solidFill>
            </a:endParaRPr>
          </a:p>
        </p:txBody>
      </p:sp>
      <p:cxnSp>
        <p:nvCxnSpPr>
          <p:cNvPr id="2472" name="Google Shape;2472;p124"/>
          <p:cNvCxnSpPr>
            <a:endCxn id="2466" idx="1"/>
          </p:cNvCxnSpPr>
          <p:nvPr/>
        </p:nvCxnSpPr>
        <p:spPr>
          <a:xfrm>
            <a:off x="4235070" y="2110202"/>
            <a:ext cx="1059000" cy="0"/>
          </a:xfrm>
          <a:prstGeom prst="straightConnector1">
            <a:avLst/>
          </a:prstGeom>
          <a:noFill/>
          <a:ln cap="flat" cmpd="sng" w="9525">
            <a:solidFill>
              <a:schemeClr val="dk2"/>
            </a:solidFill>
            <a:prstDash val="solid"/>
            <a:round/>
            <a:headEnd len="med" w="med" type="none"/>
            <a:tailEnd len="med" w="med" type="triangle"/>
          </a:ln>
        </p:spPr>
      </p:cxnSp>
      <p:sp>
        <p:nvSpPr>
          <p:cNvPr id="2473" name="Google Shape;2473;p124"/>
          <p:cNvSpPr txBox="1"/>
          <p:nvPr/>
        </p:nvSpPr>
        <p:spPr>
          <a:xfrm>
            <a:off x="4224550" y="1758675"/>
            <a:ext cx="1045200" cy="39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&lt;&lt;tạo&gt;&gt;</a:t>
            </a:r>
            <a:endParaRPr>
              <a:solidFill>
                <a:schemeClr val="dk2"/>
              </a:solidFill>
            </a:endParaRPr>
          </a:p>
        </p:txBody>
      </p:sp>
      <p:sp>
        <p:nvSpPr>
          <p:cNvPr id="2474" name="Google Shape;2474;p124"/>
          <p:cNvSpPr/>
          <p:nvPr/>
        </p:nvSpPr>
        <p:spPr>
          <a:xfrm>
            <a:off x="6032875" y="2383799"/>
            <a:ext cx="159600" cy="457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475" name="Google Shape;2475;p124"/>
          <p:cNvCxnSpPr/>
          <p:nvPr/>
        </p:nvCxnSpPr>
        <p:spPr>
          <a:xfrm>
            <a:off x="4241370" y="2567402"/>
            <a:ext cx="1770600" cy="0"/>
          </a:xfrm>
          <a:prstGeom prst="straightConnector1">
            <a:avLst/>
          </a:prstGeom>
          <a:noFill/>
          <a:ln cap="flat" cmpd="sng" w="9525">
            <a:solidFill>
              <a:schemeClr val="dk2"/>
            </a:solidFill>
            <a:prstDash val="solid"/>
            <a:round/>
            <a:headEnd len="med" w="med" type="none"/>
            <a:tailEnd len="med" w="med" type="triangle"/>
          </a:ln>
        </p:spPr>
      </p:cxnSp>
      <p:sp>
        <p:nvSpPr>
          <p:cNvPr id="2476" name="Google Shape;2476;p124"/>
          <p:cNvSpPr txBox="1"/>
          <p:nvPr/>
        </p:nvSpPr>
        <p:spPr>
          <a:xfrm>
            <a:off x="4224550" y="2215875"/>
            <a:ext cx="1891800" cy="39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Thiết lập trạng thái</a:t>
            </a:r>
            <a:r>
              <a:rPr lang="en-GB">
                <a:solidFill>
                  <a:schemeClr val="dk2"/>
                </a:solidFill>
              </a:rPr>
              <a:t>()</a:t>
            </a:r>
            <a:endParaRPr>
              <a:solidFill>
                <a:schemeClr val="dk2"/>
              </a:solidFill>
            </a:endParaRPr>
          </a:p>
        </p:txBody>
      </p:sp>
      <p:sp>
        <p:nvSpPr>
          <p:cNvPr id="2477" name="Google Shape;2477;p124"/>
          <p:cNvSpPr/>
          <p:nvPr/>
        </p:nvSpPr>
        <p:spPr>
          <a:xfrm>
            <a:off x="4053700" y="3253626"/>
            <a:ext cx="159600" cy="1021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478" name="Google Shape;2478;p124"/>
          <p:cNvCxnSpPr/>
          <p:nvPr/>
        </p:nvCxnSpPr>
        <p:spPr>
          <a:xfrm>
            <a:off x="2070475" y="3535225"/>
            <a:ext cx="1955100" cy="0"/>
          </a:xfrm>
          <a:prstGeom prst="straightConnector1">
            <a:avLst/>
          </a:prstGeom>
          <a:noFill/>
          <a:ln cap="flat" cmpd="sng" w="9525">
            <a:solidFill>
              <a:schemeClr val="dk2"/>
            </a:solidFill>
            <a:prstDash val="solid"/>
            <a:round/>
            <a:headEnd len="med" w="med" type="none"/>
            <a:tailEnd len="med" w="med" type="triangle"/>
          </a:ln>
        </p:spPr>
      </p:cxnSp>
      <p:sp>
        <p:nvSpPr>
          <p:cNvPr id="2479" name="Google Shape;2479;p124"/>
          <p:cNvSpPr txBox="1"/>
          <p:nvPr/>
        </p:nvSpPr>
        <p:spPr>
          <a:xfrm>
            <a:off x="2488250" y="3209450"/>
            <a:ext cx="1367700" cy="32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600">
              <a:solidFill>
                <a:srgbClr val="666666"/>
              </a:solidFill>
            </a:endParaRPr>
          </a:p>
        </p:txBody>
      </p:sp>
      <p:sp>
        <p:nvSpPr>
          <p:cNvPr id="2480" name="Google Shape;2480;p124"/>
          <p:cNvSpPr txBox="1"/>
          <p:nvPr/>
        </p:nvSpPr>
        <p:spPr>
          <a:xfrm>
            <a:off x="2061002" y="3206475"/>
            <a:ext cx="2039100" cy="39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Khôi phục từ bản sao</a:t>
            </a:r>
            <a:r>
              <a:rPr lang="en-GB">
                <a:solidFill>
                  <a:schemeClr val="dk2"/>
                </a:solidFill>
              </a:rPr>
              <a:t>()</a:t>
            </a:r>
            <a:endParaRPr>
              <a:solidFill>
                <a:schemeClr val="dk2"/>
              </a:solidFill>
            </a:endParaRPr>
          </a:p>
        </p:txBody>
      </p:sp>
      <p:sp>
        <p:nvSpPr>
          <p:cNvPr id="2481" name="Google Shape;2481;p124"/>
          <p:cNvSpPr/>
          <p:nvPr/>
        </p:nvSpPr>
        <p:spPr>
          <a:xfrm>
            <a:off x="6032875" y="3679199"/>
            <a:ext cx="159600" cy="457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482" name="Google Shape;2482;p124"/>
          <p:cNvCxnSpPr/>
          <p:nvPr/>
        </p:nvCxnSpPr>
        <p:spPr>
          <a:xfrm>
            <a:off x="4241370" y="3862802"/>
            <a:ext cx="1770600" cy="0"/>
          </a:xfrm>
          <a:prstGeom prst="straightConnector1">
            <a:avLst/>
          </a:prstGeom>
          <a:noFill/>
          <a:ln cap="flat" cmpd="sng" w="9525">
            <a:solidFill>
              <a:schemeClr val="dk2"/>
            </a:solidFill>
            <a:prstDash val="solid"/>
            <a:round/>
            <a:headEnd len="med" w="med" type="none"/>
            <a:tailEnd len="med" w="med" type="triangle"/>
          </a:ln>
        </p:spPr>
      </p:cxnSp>
      <p:sp>
        <p:nvSpPr>
          <p:cNvPr id="2483" name="Google Shape;2483;p124"/>
          <p:cNvSpPr txBox="1"/>
          <p:nvPr/>
        </p:nvSpPr>
        <p:spPr>
          <a:xfrm>
            <a:off x="4224550" y="3511275"/>
            <a:ext cx="1563300" cy="39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Đọc</a:t>
            </a:r>
            <a:r>
              <a:rPr lang="en-GB">
                <a:solidFill>
                  <a:schemeClr val="dk2"/>
                </a:solidFill>
              </a:rPr>
              <a:t> trạng thái()</a:t>
            </a:r>
            <a:endParaRPr>
              <a:solidFill>
                <a:schemeClr val="dk2"/>
              </a:solidFill>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7" name="Shape 2487"/>
        <p:cNvGrpSpPr/>
        <p:nvPr/>
      </p:nvGrpSpPr>
      <p:grpSpPr>
        <a:xfrm>
          <a:off x="0" y="0"/>
          <a:ext cx="0" cy="0"/>
          <a:chOff x="0" y="0"/>
          <a:chExt cx="0" cy="0"/>
        </a:xfrm>
      </p:grpSpPr>
      <p:sp>
        <p:nvSpPr>
          <p:cNvPr id="2488" name="Google Shape;2488;p125"/>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Bản sao lưu: Các hệ quả</a:t>
            </a:r>
            <a:endParaRPr/>
          </a:p>
        </p:txBody>
      </p:sp>
      <p:sp>
        <p:nvSpPr>
          <p:cNvPr id="2489" name="Google Shape;2489;p12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2490" name="Google Shape;2490;p125"/>
          <p:cNvSpPr txBox="1"/>
          <p:nvPr>
            <p:ph idx="1" type="body"/>
          </p:nvPr>
        </p:nvSpPr>
        <p:spPr>
          <a:xfrm>
            <a:off x="311700" y="950475"/>
            <a:ext cx="8520600" cy="54183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Duy trì giới hạn đóng gói. Bản sao lưu tránh việc mở các thông tin được quản lý bởi lớp gốc nhưng phải được lưu ở nơi khác.</a:t>
            </a:r>
            <a:endParaRPr/>
          </a:p>
          <a:p>
            <a:pPr indent="-381000" lvl="0" marL="457200" rtl="0" algn="l">
              <a:spcBef>
                <a:spcPts val="0"/>
              </a:spcBef>
              <a:spcAft>
                <a:spcPts val="0"/>
              </a:spcAft>
              <a:buSzPts val="2400"/>
              <a:buChar char="●"/>
            </a:pPr>
            <a:r>
              <a:rPr lang="en-GB"/>
              <a:t>Làm đơn giản đối tượng gốc. Để khách quản lý các trạng thái được yêu cầu của đối tượng gốc giúp đối tượng gốc đơn giản hơn.</a:t>
            </a:r>
            <a:endParaRPr/>
          </a:p>
          <a:p>
            <a:pPr indent="-381000" lvl="0" marL="457200" rtl="0" algn="l">
              <a:spcBef>
                <a:spcPts val="0"/>
              </a:spcBef>
              <a:spcAft>
                <a:spcPts val="0"/>
              </a:spcAft>
              <a:buSzPts val="2400"/>
              <a:buChar char="●"/>
            </a:pPr>
            <a:r>
              <a:rPr lang="en-GB"/>
              <a:t>Sử dụng bản sao lưu có thể tốn kém nếu tốn nhiều tài nguyên để sao chép đối tượng gốc.</a:t>
            </a:r>
            <a:endParaRPr/>
          </a:p>
          <a:p>
            <a:pPr indent="-381000" lvl="0" marL="457200" rtl="0" algn="l">
              <a:spcBef>
                <a:spcPts val="0"/>
              </a:spcBef>
              <a:spcAft>
                <a:spcPts val="0"/>
              </a:spcAft>
              <a:buSzPts val="2400"/>
              <a:buChar char="●"/>
            </a:pPr>
            <a:r>
              <a:rPr lang="en-GB"/>
              <a:t>Có thể khó giới hạn quyền truy cập trạng thái của bản sao lưu trong phạm vi đối tượng gốc do phụ thuộc vào ngôn ngữ triển khai.</a:t>
            </a:r>
            <a:endParaRPr/>
          </a:p>
          <a:p>
            <a:pPr indent="-381000" lvl="0" marL="457200" rtl="0" algn="l">
              <a:spcBef>
                <a:spcPts val="0"/>
              </a:spcBef>
              <a:spcAft>
                <a:spcPts val="0"/>
              </a:spcAft>
              <a:buSzPts val="2400"/>
              <a:buChar char="●"/>
            </a:pPr>
            <a:r>
              <a:rPr lang="en-GB"/>
              <a:t>Có thể cần các tài nguyên bổ xung để triển khai kho lưu trữ.</a:t>
            </a:r>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4" name="Shape 2494"/>
        <p:cNvGrpSpPr/>
        <p:nvPr/>
      </p:nvGrpSpPr>
      <p:grpSpPr>
        <a:xfrm>
          <a:off x="0" y="0"/>
          <a:ext cx="0" cy="0"/>
          <a:chOff x="0" y="0"/>
          <a:chExt cx="0" cy="0"/>
        </a:xfrm>
      </p:grpSpPr>
      <p:sp>
        <p:nvSpPr>
          <p:cNvPr id="2495" name="Google Shape;2495;p126"/>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21. Chỉnh sửa ảnh</a:t>
            </a:r>
            <a:endParaRPr/>
          </a:p>
        </p:txBody>
      </p:sp>
      <p:sp>
        <p:nvSpPr>
          <p:cNvPr id="2496" name="Google Shape;2496;p12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2497" name="Google Shape;2497;p126"/>
          <p:cNvSpPr/>
          <p:nvPr/>
        </p:nvSpPr>
        <p:spPr>
          <a:xfrm>
            <a:off x="1093797" y="2242375"/>
            <a:ext cx="24381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Picture</a:t>
            </a:r>
            <a:endParaRPr sz="1600"/>
          </a:p>
        </p:txBody>
      </p:sp>
      <p:sp>
        <p:nvSpPr>
          <p:cNvPr id="2498" name="Google Shape;2498;p126"/>
          <p:cNvSpPr/>
          <p:nvPr/>
        </p:nvSpPr>
        <p:spPr>
          <a:xfrm>
            <a:off x="1093775" y="2564598"/>
            <a:ext cx="2438100" cy="3915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lang="en-GB" sz="1600"/>
              <a:t>state</a:t>
            </a:r>
            <a:endParaRPr sz="1600"/>
          </a:p>
        </p:txBody>
      </p:sp>
      <p:sp>
        <p:nvSpPr>
          <p:cNvPr id="2499" name="Google Shape;2499;p126"/>
          <p:cNvSpPr/>
          <p:nvPr/>
        </p:nvSpPr>
        <p:spPr>
          <a:xfrm>
            <a:off x="1093775" y="2957300"/>
            <a:ext cx="2438100" cy="6249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lang="en-GB" sz="1600"/>
              <a:t>RestoreState</a:t>
            </a:r>
            <a:r>
              <a:rPr lang="en-GB" sz="1600"/>
              <a:t>(</a:t>
            </a:r>
            <a:r>
              <a:rPr lang="en-GB" sz="1600"/>
              <a:t>Snapshot</a:t>
            </a:r>
            <a:r>
              <a:rPr lang="en-GB" sz="1600"/>
              <a:t>)</a:t>
            </a:r>
            <a:endParaRPr sz="1600"/>
          </a:p>
          <a:p>
            <a:pPr indent="0" lvl="0" marL="0" rtl="0" algn="l">
              <a:spcBef>
                <a:spcPts val="0"/>
              </a:spcBef>
              <a:spcAft>
                <a:spcPts val="0"/>
              </a:spcAft>
              <a:buNone/>
            </a:pPr>
            <a:r>
              <a:rPr lang="en-GB" sz="1600"/>
              <a:t>CreateSnapShot</a:t>
            </a:r>
            <a:r>
              <a:rPr lang="en-GB" sz="1600"/>
              <a:t>t</a:t>
            </a:r>
            <a:r>
              <a:rPr lang="en-GB" sz="1600"/>
              <a:t>()</a:t>
            </a:r>
            <a:endParaRPr sz="1600"/>
          </a:p>
        </p:txBody>
      </p:sp>
      <p:sp>
        <p:nvSpPr>
          <p:cNvPr id="2500" name="Google Shape;2500;p126"/>
          <p:cNvSpPr/>
          <p:nvPr/>
        </p:nvSpPr>
        <p:spPr>
          <a:xfrm>
            <a:off x="4438691" y="2242375"/>
            <a:ext cx="18021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Snapshot</a:t>
            </a:r>
            <a:endParaRPr sz="1600"/>
          </a:p>
        </p:txBody>
      </p:sp>
      <p:sp>
        <p:nvSpPr>
          <p:cNvPr id="2501" name="Google Shape;2501;p126"/>
          <p:cNvSpPr/>
          <p:nvPr/>
        </p:nvSpPr>
        <p:spPr>
          <a:xfrm>
            <a:off x="4438675" y="2564598"/>
            <a:ext cx="1802100" cy="3915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lang="en-GB" sz="1600"/>
              <a:t>state</a:t>
            </a:r>
            <a:endParaRPr sz="1600"/>
          </a:p>
        </p:txBody>
      </p:sp>
      <p:sp>
        <p:nvSpPr>
          <p:cNvPr id="2502" name="Google Shape;2502;p126"/>
          <p:cNvSpPr/>
          <p:nvPr/>
        </p:nvSpPr>
        <p:spPr>
          <a:xfrm>
            <a:off x="4438675" y="2957300"/>
            <a:ext cx="1802100" cy="6249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lang="en-GB" sz="1600"/>
              <a:t>ReadState</a:t>
            </a:r>
            <a:r>
              <a:rPr lang="en-GB" sz="1600"/>
              <a:t>()</a:t>
            </a:r>
            <a:endParaRPr sz="1600"/>
          </a:p>
          <a:p>
            <a:pPr indent="0" lvl="0" marL="0" rtl="0" algn="l">
              <a:spcBef>
                <a:spcPts val="0"/>
              </a:spcBef>
              <a:spcAft>
                <a:spcPts val="0"/>
              </a:spcAft>
              <a:buNone/>
            </a:pPr>
            <a:r>
              <a:rPr lang="en-GB" sz="1600"/>
              <a:t>SetState()</a:t>
            </a:r>
            <a:endParaRPr sz="1600"/>
          </a:p>
        </p:txBody>
      </p:sp>
      <p:sp>
        <p:nvSpPr>
          <p:cNvPr id="2503" name="Google Shape;2503;p126"/>
          <p:cNvSpPr/>
          <p:nvPr/>
        </p:nvSpPr>
        <p:spPr>
          <a:xfrm>
            <a:off x="7138100" y="2242375"/>
            <a:ext cx="1557600" cy="391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EditingHistory</a:t>
            </a:r>
            <a:endParaRPr sz="1600"/>
          </a:p>
        </p:txBody>
      </p:sp>
      <p:sp>
        <p:nvSpPr>
          <p:cNvPr id="2504" name="Google Shape;2504;p126"/>
          <p:cNvSpPr/>
          <p:nvPr/>
        </p:nvSpPr>
        <p:spPr>
          <a:xfrm>
            <a:off x="6935262" y="2352635"/>
            <a:ext cx="191700" cy="117050"/>
          </a:xfrm>
          <a:prstGeom prst="flowChartDecision">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505" name="Google Shape;2505;p126"/>
          <p:cNvCxnSpPr>
            <a:stCxn id="2504" idx="1"/>
            <a:endCxn id="2500" idx="3"/>
          </p:cNvCxnSpPr>
          <p:nvPr/>
        </p:nvCxnSpPr>
        <p:spPr>
          <a:xfrm rot="10800000">
            <a:off x="6240762" y="2403660"/>
            <a:ext cx="694500" cy="7500"/>
          </a:xfrm>
          <a:prstGeom prst="straightConnector1">
            <a:avLst/>
          </a:prstGeom>
          <a:noFill/>
          <a:ln cap="flat" cmpd="sng" w="9525">
            <a:solidFill>
              <a:schemeClr val="dk2"/>
            </a:solidFill>
            <a:prstDash val="solid"/>
            <a:round/>
            <a:headEnd len="med" w="med" type="none"/>
            <a:tailEnd len="med" w="med" type="triangle"/>
          </a:ln>
        </p:spPr>
      </p:cxnSp>
      <p:cxnSp>
        <p:nvCxnSpPr>
          <p:cNvPr id="2506" name="Google Shape;2506;p126"/>
          <p:cNvCxnSpPr>
            <a:stCxn id="2497" idx="3"/>
            <a:endCxn id="2500" idx="1"/>
          </p:cNvCxnSpPr>
          <p:nvPr/>
        </p:nvCxnSpPr>
        <p:spPr>
          <a:xfrm>
            <a:off x="3531897" y="2403625"/>
            <a:ext cx="906900" cy="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0" name="Shape 2510"/>
        <p:cNvGrpSpPr/>
        <p:nvPr/>
      </p:nvGrpSpPr>
      <p:grpSpPr>
        <a:xfrm>
          <a:off x="0" y="0"/>
          <a:ext cx="0" cy="0"/>
          <a:chOff x="0" y="0"/>
          <a:chExt cx="0" cy="0"/>
        </a:xfrm>
      </p:grpSpPr>
      <p:sp>
        <p:nvSpPr>
          <p:cNvPr id="2511" name="Google Shape;2511;p127"/>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Lớp quan sát</a:t>
            </a:r>
            <a:endParaRPr/>
          </a:p>
        </p:txBody>
      </p:sp>
      <p:sp>
        <p:nvSpPr>
          <p:cNvPr id="2512" name="Google Shape;2512;p127"/>
          <p:cNvSpPr txBox="1"/>
          <p:nvPr>
            <p:ph idx="1" type="body"/>
          </p:nvPr>
        </p:nvSpPr>
        <p:spPr>
          <a:xfrm>
            <a:off x="311700" y="950475"/>
            <a:ext cx="8520600" cy="54183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i="1" lang="en-GB"/>
              <a:t>Observer</a:t>
            </a:r>
            <a:endParaRPr i="1"/>
          </a:p>
          <a:p>
            <a:pPr indent="0" lvl="0" marL="0" rtl="0" algn="just">
              <a:spcBef>
                <a:spcPts val="0"/>
              </a:spcBef>
              <a:spcAft>
                <a:spcPts val="0"/>
              </a:spcAft>
              <a:buNone/>
            </a:pPr>
            <a:r>
              <a:rPr lang="en-GB"/>
              <a:t>Thiết lập quan hệ một-nhiều giữa các đối tượng sao cho khi một đối tượng thay đổi trạng thái, tất cả các đối tượng phụ thuộc vào nó được tự động thông báo và cập nhật.</a:t>
            </a:r>
            <a:endParaRPr/>
          </a:p>
        </p:txBody>
      </p:sp>
      <p:sp>
        <p:nvSpPr>
          <p:cNvPr id="2513" name="Google Shape;2513;p12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7" name="Shape 2517"/>
        <p:cNvGrpSpPr/>
        <p:nvPr/>
      </p:nvGrpSpPr>
      <p:grpSpPr>
        <a:xfrm>
          <a:off x="0" y="0"/>
          <a:ext cx="0" cy="0"/>
          <a:chOff x="0" y="0"/>
          <a:chExt cx="0" cy="0"/>
        </a:xfrm>
      </p:grpSpPr>
      <p:sp>
        <p:nvSpPr>
          <p:cNvPr id="2518" name="Google Shape;2518;p128"/>
          <p:cNvSpPr/>
          <p:nvPr/>
        </p:nvSpPr>
        <p:spPr>
          <a:xfrm flipH="1" rot="10800000">
            <a:off x="5670816" y="4609998"/>
            <a:ext cx="2288700" cy="504900"/>
          </a:xfrm>
          <a:prstGeom prst="foldedCorner">
            <a:avLst>
              <a:gd fmla="val 25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9" name="Google Shape;2519;p128"/>
          <p:cNvSpPr/>
          <p:nvPr/>
        </p:nvSpPr>
        <p:spPr>
          <a:xfrm flipH="1" rot="10800000">
            <a:off x="1556016" y="4580630"/>
            <a:ext cx="2288700" cy="504900"/>
          </a:xfrm>
          <a:prstGeom prst="foldedCorner">
            <a:avLst>
              <a:gd fmla="val 25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0" name="Google Shape;2520;p128"/>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Lớp q</a:t>
            </a:r>
            <a:r>
              <a:rPr lang="en-GB"/>
              <a:t>uan s</a:t>
            </a:r>
            <a:r>
              <a:rPr lang="en-GB"/>
              <a:t>át: Cấu trúc</a:t>
            </a:r>
            <a:endParaRPr/>
          </a:p>
        </p:txBody>
      </p:sp>
      <p:sp>
        <p:nvSpPr>
          <p:cNvPr id="2521" name="Google Shape;2521;p12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2522" name="Google Shape;2522;p128"/>
          <p:cNvSpPr/>
          <p:nvPr/>
        </p:nvSpPr>
        <p:spPr>
          <a:xfrm>
            <a:off x="1329870" y="1446625"/>
            <a:ext cx="20724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i="1" lang="en-GB" sz="1600"/>
              <a:t>Chủ thể</a:t>
            </a:r>
            <a:endParaRPr i="1" sz="1600"/>
          </a:p>
        </p:txBody>
      </p:sp>
      <p:sp>
        <p:nvSpPr>
          <p:cNvPr id="2523" name="Google Shape;2523;p128"/>
          <p:cNvSpPr/>
          <p:nvPr/>
        </p:nvSpPr>
        <p:spPr>
          <a:xfrm>
            <a:off x="1329850" y="1768850"/>
            <a:ext cx="2072400" cy="8580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lang="en-GB" sz="1600"/>
              <a:t>Gắn(Lớp quan sát)</a:t>
            </a:r>
            <a:endParaRPr sz="1600"/>
          </a:p>
          <a:p>
            <a:pPr indent="0" lvl="0" marL="0" rtl="0" algn="l">
              <a:spcBef>
                <a:spcPts val="0"/>
              </a:spcBef>
              <a:spcAft>
                <a:spcPts val="0"/>
              </a:spcAft>
              <a:buNone/>
            </a:pPr>
            <a:r>
              <a:rPr lang="en-GB" sz="1600"/>
              <a:t>Gỡ(Lớp quan sát)</a:t>
            </a:r>
            <a:endParaRPr sz="1600"/>
          </a:p>
          <a:p>
            <a:pPr indent="0" lvl="0" marL="0" rtl="0" algn="l">
              <a:spcBef>
                <a:spcPts val="0"/>
              </a:spcBef>
              <a:spcAft>
                <a:spcPts val="0"/>
              </a:spcAft>
              <a:buNone/>
            </a:pPr>
            <a:r>
              <a:rPr lang="en-GB" sz="1600"/>
              <a:t>Thông báo()</a:t>
            </a:r>
            <a:endParaRPr sz="1600"/>
          </a:p>
        </p:txBody>
      </p:sp>
      <p:sp>
        <p:nvSpPr>
          <p:cNvPr id="2524" name="Google Shape;2524;p128"/>
          <p:cNvSpPr/>
          <p:nvPr/>
        </p:nvSpPr>
        <p:spPr>
          <a:xfrm>
            <a:off x="5878415" y="1446625"/>
            <a:ext cx="17148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i="1" lang="en-GB" sz="1600"/>
              <a:t>Lớp quan sát</a:t>
            </a:r>
            <a:endParaRPr i="1" sz="1600"/>
          </a:p>
        </p:txBody>
      </p:sp>
      <p:sp>
        <p:nvSpPr>
          <p:cNvPr id="2525" name="Google Shape;2525;p128"/>
          <p:cNvSpPr/>
          <p:nvPr/>
        </p:nvSpPr>
        <p:spPr>
          <a:xfrm>
            <a:off x="5878400" y="1768850"/>
            <a:ext cx="1714800" cy="3975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i="1" lang="en-GB" sz="1600"/>
              <a:t>Cập nhật</a:t>
            </a:r>
            <a:r>
              <a:rPr i="1" lang="en-GB" sz="1600"/>
              <a:t>()</a:t>
            </a:r>
            <a:endParaRPr i="1" sz="1600"/>
          </a:p>
        </p:txBody>
      </p:sp>
      <p:cxnSp>
        <p:nvCxnSpPr>
          <p:cNvPr id="2526" name="Google Shape;2526;p128"/>
          <p:cNvCxnSpPr>
            <a:stCxn id="2527" idx="3"/>
            <a:endCxn id="2524" idx="1"/>
          </p:cNvCxnSpPr>
          <p:nvPr/>
        </p:nvCxnSpPr>
        <p:spPr>
          <a:xfrm flipH="1" rot="10800000">
            <a:off x="3697275" y="1607763"/>
            <a:ext cx="2181000" cy="4800"/>
          </a:xfrm>
          <a:prstGeom prst="straightConnector1">
            <a:avLst/>
          </a:prstGeom>
          <a:noFill/>
          <a:ln cap="flat" cmpd="sng" w="9525">
            <a:solidFill>
              <a:schemeClr val="dk2"/>
            </a:solidFill>
            <a:prstDash val="solid"/>
            <a:round/>
            <a:headEnd len="med" w="med" type="none"/>
            <a:tailEnd len="med" w="med" type="triangle"/>
          </a:ln>
        </p:spPr>
      </p:cxnSp>
      <p:sp>
        <p:nvSpPr>
          <p:cNvPr id="2528" name="Google Shape;2528;p128"/>
          <p:cNvSpPr txBox="1"/>
          <p:nvPr/>
        </p:nvSpPr>
        <p:spPr>
          <a:xfrm>
            <a:off x="4961925" y="1071375"/>
            <a:ext cx="1162500" cy="53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đối tượng quan sát</a:t>
            </a:r>
            <a:endParaRPr/>
          </a:p>
        </p:txBody>
      </p:sp>
      <p:sp>
        <p:nvSpPr>
          <p:cNvPr id="2529" name="Google Shape;2529;p128"/>
          <p:cNvSpPr/>
          <p:nvPr/>
        </p:nvSpPr>
        <p:spPr>
          <a:xfrm>
            <a:off x="1997200" y="2624003"/>
            <a:ext cx="191700" cy="1197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0" name="Google Shape;2530;p128"/>
          <p:cNvSpPr/>
          <p:nvPr/>
        </p:nvSpPr>
        <p:spPr>
          <a:xfrm>
            <a:off x="1230215" y="3580225"/>
            <a:ext cx="17148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l">
              <a:spcBef>
                <a:spcPts val="0"/>
              </a:spcBef>
              <a:spcAft>
                <a:spcPts val="0"/>
              </a:spcAft>
              <a:buNone/>
            </a:pPr>
            <a:r>
              <a:rPr lang="en-GB" sz="1600"/>
              <a:t>trạng thái chủ thể</a:t>
            </a:r>
            <a:endParaRPr sz="1600"/>
          </a:p>
        </p:txBody>
      </p:sp>
      <p:sp>
        <p:nvSpPr>
          <p:cNvPr id="2531" name="Google Shape;2531;p128"/>
          <p:cNvSpPr/>
          <p:nvPr/>
        </p:nvSpPr>
        <p:spPr>
          <a:xfrm>
            <a:off x="1230200" y="3902451"/>
            <a:ext cx="1714800" cy="3975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lang="en-GB" sz="1600"/>
              <a:t>Đọc trạng thái</a:t>
            </a:r>
            <a:r>
              <a:rPr lang="en-GB" sz="1600"/>
              <a:t>()</a:t>
            </a:r>
            <a:endParaRPr sz="1600"/>
          </a:p>
        </p:txBody>
      </p:sp>
      <p:sp>
        <p:nvSpPr>
          <p:cNvPr id="2532" name="Google Shape;2532;p128"/>
          <p:cNvSpPr/>
          <p:nvPr/>
        </p:nvSpPr>
        <p:spPr>
          <a:xfrm>
            <a:off x="1230215" y="3263717"/>
            <a:ext cx="17148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Chủ thể Cụ thể</a:t>
            </a:r>
            <a:endParaRPr sz="1600"/>
          </a:p>
        </p:txBody>
      </p:sp>
      <p:cxnSp>
        <p:nvCxnSpPr>
          <p:cNvPr id="2533" name="Google Shape;2533;p128"/>
          <p:cNvCxnSpPr>
            <a:stCxn id="2532" idx="0"/>
            <a:endCxn id="2529" idx="3"/>
          </p:cNvCxnSpPr>
          <p:nvPr/>
        </p:nvCxnSpPr>
        <p:spPr>
          <a:xfrm flipH="1" rot="10800000">
            <a:off x="2087615" y="2743817"/>
            <a:ext cx="5400" cy="519900"/>
          </a:xfrm>
          <a:prstGeom prst="straightConnector1">
            <a:avLst/>
          </a:prstGeom>
          <a:noFill/>
          <a:ln cap="flat" cmpd="sng" w="9525">
            <a:solidFill>
              <a:schemeClr val="dk2"/>
            </a:solidFill>
            <a:prstDash val="solid"/>
            <a:round/>
            <a:headEnd len="med" w="med" type="none"/>
            <a:tailEnd len="med" w="med" type="none"/>
          </a:ln>
        </p:spPr>
      </p:cxnSp>
      <p:sp>
        <p:nvSpPr>
          <p:cNvPr id="2534" name="Google Shape;2534;p128"/>
          <p:cNvSpPr/>
          <p:nvPr/>
        </p:nvSpPr>
        <p:spPr>
          <a:xfrm>
            <a:off x="6633700" y="2181251"/>
            <a:ext cx="191700" cy="1197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5" name="Google Shape;2535;p128"/>
          <p:cNvSpPr/>
          <p:nvPr/>
        </p:nvSpPr>
        <p:spPr>
          <a:xfrm>
            <a:off x="5649819" y="3580229"/>
            <a:ext cx="21573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l">
              <a:spcBef>
                <a:spcPts val="0"/>
              </a:spcBef>
              <a:spcAft>
                <a:spcPts val="0"/>
              </a:spcAft>
              <a:buNone/>
            </a:pPr>
            <a:r>
              <a:rPr lang="en-GB" sz="1600"/>
              <a:t>trạng thái quan sát</a:t>
            </a:r>
            <a:endParaRPr sz="1600"/>
          </a:p>
        </p:txBody>
      </p:sp>
      <p:sp>
        <p:nvSpPr>
          <p:cNvPr id="2536" name="Google Shape;2536;p128"/>
          <p:cNvSpPr/>
          <p:nvPr/>
        </p:nvSpPr>
        <p:spPr>
          <a:xfrm>
            <a:off x="5649800" y="3902451"/>
            <a:ext cx="2157300" cy="3975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lang="en-GB" sz="1600"/>
              <a:t>Cập nhật</a:t>
            </a:r>
            <a:r>
              <a:rPr lang="en-GB" sz="1600"/>
              <a:t>()</a:t>
            </a:r>
            <a:endParaRPr sz="1600"/>
          </a:p>
        </p:txBody>
      </p:sp>
      <p:sp>
        <p:nvSpPr>
          <p:cNvPr id="2537" name="Google Shape;2537;p128"/>
          <p:cNvSpPr/>
          <p:nvPr/>
        </p:nvSpPr>
        <p:spPr>
          <a:xfrm>
            <a:off x="5649819" y="3263725"/>
            <a:ext cx="21573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Lớp quan sát cụ thể</a:t>
            </a:r>
            <a:endParaRPr sz="1600"/>
          </a:p>
        </p:txBody>
      </p:sp>
      <p:cxnSp>
        <p:nvCxnSpPr>
          <p:cNvPr id="2538" name="Google Shape;2538;p128"/>
          <p:cNvCxnSpPr>
            <a:stCxn id="2537" idx="0"/>
            <a:endCxn id="2534" idx="3"/>
          </p:cNvCxnSpPr>
          <p:nvPr/>
        </p:nvCxnSpPr>
        <p:spPr>
          <a:xfrm flipH="1" rot="10800000">
            <a:off x="6728469" y="2301025"/>
            <a:ext cx="1200" cy="962700"/>
          </a:xfrm>
          <a:prstGeom prst="straightConnector1">
            <a:avLst/>
          </a:prstGeom>
          <a:noFill/>
          <a:ln cap="flat" cmpd="sng" w="9525">
            <a:solidFill>
              <a:schemeClr val="dk2"/>
            </a:solidFill>
            <a:prstDash val="solid"/>
            <a:round/>
            <a:headEnd len="med" w="med" type="none"/>
            <a:tailEnd len="med" w="med" type="none"/>
          </a:ln>
        </p:spPr>
      </p:cxnSp>
      <p:cxnSp>
        <p:nvCxnSpPr>
          <p:cNvPr id="2539" name="Google Shape;2539;p128"/>
          <p:cNvCxnSpPr>
            <a:stCxn id="2537" idx="1"/>
            <a:endCxn id="2532" idx="3"/>
          </p:cNvCxnSpPr>
          <p:nvPr/>
        </p:nvCxnSpPr>
        <p:spPr>
          <a:xfrm rot="10800000">
            <a:off x="2945019" y="3424975"/>
            <a:ext cx="2704800" cy="0"/>
          </a:xfrm>
          <a:prstGeom prst="straightConnector1">
            <a:avLst/>
          </a:prstGeom>
          <a:noFill/>
          <a:ln cap="flat" cmpd="sng" w="9525">
            <a:solidFill>
              <a:schemeClr val="dk2"/>
            </a:solidFill>
            <a:prstDash val="solid"/>
            <a:round/>
            <a:headEnd len="med" w="med" type="none"/>
            <a:tailEnd len="med" w="med" type="triangle"/>
          </a:ln>
        </p:spPr>
      </p:cxnSp>
      <p:sp>
        <p:nvSpPr>
          <p:cNvPr id="2540" name="Google Shape;2540;p128"/>
          <p:cNvSpPr txBox="1"/>
          <p:nvPr/>
        </p:nvSpPr>
        <p:spPr>
          <a:xfrm>
            <a:off x="2960374" y="3093650"/>
            <a:ext cx="954300" cy="32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chủ thể</a:t>
            </a:r>
            <a:endParaRPr/>
          </a:p>
        </p:txBody>
      </p:sp>
      <p:sp>
        <p:nvSpPr>
          <p:cNvPr id="2541" name="Google Shape;2541;p128"/>
          <p:cNvSpPr txBox="1"/>
          <p:nvPr/>
        </p:nvSpPr>
        <p:spPr>
          <a:xfrm>
            <a:off x="5719300" y="4582825"/>
            <a:ext cx="2316600" cy="532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GB"/>
              <a:t>trạng thái quan sát</a:t>
            </a:r>
            <a:r>
              <a:rPr lang="en-GB"/>
              <a:t> = </a:t>
            </a:r>
            <a:r>
              <a:rPr lang="en-GB"/>
              <a:t>chủ thể</a:t>
            </a:r>
            <a:r>
              <a:rPr lang="en-GB"/>
              <a:t>-&gt;</a:t>
            </a:r>
            <a:r>
              <a:rPr lang="en-GB"/>
              <a:t>Đọc trạng thái</a:t>
            </a:r>
            <a:r>
              <a:rPr lang="en-GB"/>
              <a:t>()</a:t>
            </a:r>
            <a:endParaRPr/>
          </a:p>
        </p:txBody>
      </p:sp>
      <p:sp>
        <p:nvSpPr>
          <p:cNvPr id="2542" name="Google Shape;2542;p128"/>
          <p:cNvSpPr/>
          <p:nvPr/>
        </p:nvSpPr>
        <p:spPr>
          <a:xfrm>
            <a:off x="6727152" y="4033924"/>
            <a:ext cx="105300" cy="1047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543" name="Google Shape;2543;p128"/>
          <p:cNvCxnSpPr>
            <a:stCxn id="2542" idx="4"/>
          </p:cNvCxnSpPr>
          <p:nvPr/>
        </p:nvCxnSpPr>
        <p:spPr>
          <a:xfrm>
            <a:off x="6779802" y="4138624"/>
            <a:ext cx="0" cy="468900"/>
          </a:xfrm>
          <a:prstGeom prst="straightConnector1">
            <a:avLst/>
          </a:prstGeom>
          <a:noFill/>
          <a:ln cap="flat" cmpd="sng" w="9525">
            <a:solidFill>
              <a:schemeClr val="dk2"/>
            </a:solidFill>
            <a:prstDash val="dash"/>
            <a:round/>
            <a:headEnd len="med" w="med" type="none"/>
            <a:tailEnd len="med" w="med" type="none"/>
          </a:ln>
        </p:spPr>
      </p:cxnSp>
      <p:sp>
        <p:nvSpPr>
          <p:cNvPr id="2544" name="Google Shape;2544;p128"/>
          <p:cNvSpPr txBox="1"/>
          <p:nvPr/>
        </p:nvSpPr>
        <p:spPr>
          <a:xfrm>
            <a:off x="1604500" y="4553457"/>
            <a:ext cx="2316600" cy="532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GB"/>
              <a:t>return </a:t>
            </a:r>
            <a:r>
              <a:rPr lang="en-GB"/>
              <a:t>trạng thái;</a:t>
            </a:r>
            <a:endParaRPr/>
          </a:p>
        </p:txBody>
      </p:sp>
      <p:sp>
        <p:nvSpPr>
          <p:cNvPr id="2545" name="Google Shape;2545;p128"/>
          <p:cNvSpPr/>
          <p:nvPr/>
        </p:nvSpPr>
        <p:spPr>
          <a:xfrm>
            <a:off x="2688552" y="4033924"/>
            <a:ext cx="105300" cy="1047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546" name="Google Shape;2546;p128"/>
          <p:cNvCxnSpPr>
            <a:stCxn id="2545" idx="4"/>
          </p:cNvCxnSpPr>
          <p:nvPr/>
        </p:nvCxnSpPr>
        <p:spPr>
          <a:xfrm>
            <a:off x="2741202" y="4138624"/>
            <a:ext cx="0" cy="468900"/>
          </a:xfrm>
          <a:prstGeom prst="straightConnector1">
            <a:avLst/>
          </a:prstGeom>
          <a:noFill/>
          <a:ln cap="flat" cmpd="sng" w="9525">
            <a:solidFill>
              <a:schemeClr val="dk2"/>
            </a:solidFill>
            <a:prstDash val="dash"/>
            <a:round/>
            <a:headEnd len="med" w="med" type="none"/>
            <a:tailEnd len="med" w="med" type="none"/>
          </a:ln>
        </p:spPr>
      </p:cxnSp>
      <p:sp>
        <p:nvSpPr>
          <p:cNvPr id="2547" name="Google Shape;2547;p128"/>
          <p:cNvSpPr txBox="1"/>
          <p:nvPr/>
        </p:nvSpPr>
        <p:spPr>
          <a:xfrm>
            <a:off x="5495975" y="1635836"/>
            <a:ext cx="285300" cy="28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a:t>
            </a:r>
            <a:endParaRPr/>
          </a:p>
        </p:txBody>
      </p:sp>
      <p:sp>
        <p:nvSpPr>
          <p:cNvPr id="2548" name="Google Shape;2548;p128"/>
          <p:cNvSpPr txBox="1"/>
          <p:nvPr/>
        </p:nvSpPr>
        <p:spPr>
          <a:xfrm>
            <a:off x="3686475" y="2373025"/>
            <a:ext cx="2769600" cy="716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GB"/>
              <a:t>for all o in đối tượng quan sát {</a:t>
            </a:r>
            <a:endParaRPr/>
          </a:p>
          <a:p>
            <a:pPr indent="0" lvl="0" marL="0" rtl="0" algn="l">
              <a:spcBef>
                <a:spcPts val="0"/>
              </a:spcBef>
              <a:spcAft>
                <a:spcPts val="0"/>
              </a:spcAft>
              <a:buNone/>
            </a:pPr>
            <a:r>
              <a:rPr lang="en-GB"/>
              <a:t>    o-&gt;cập nhật();</a:t>
            </a:r>
            <a:endParaRPr/>
          </a:p>
          <a:p>
            <a:pPr indent="0" lvl="0" marL="0" rtl="0" algn="l">
              <a:spcBef>
                <a:spcPts val="0"/>
              </a:spcBef>
              <a:spcAft>
                <a:spcPts val="0"/>
              </a:spcAft>
              <a:buNone/>
            </a:pPr>
            <a:r>
              <a:rPr lang="en-GB"/>
              <a:t>}</a:t>
            </a:r>
            <a:endParaRPr/>
          </a:p>
        </p:txBody>
      </p:sp>
      <p:sp>
        <p:nvSpPr>
          <p:cNvPr id="2549" name="Google Shape;2549;p128"/>
          <p:cNvSpPr/>
          <p:nvPr/>
        </p:nvSpPr>
        <p:spPr>
          <a:xfrm flipH="1" rot="10800000">
            <a:off x="3689625" y="2399500"/>
            <a:ext cx="2742600" cy="679500"/>
          </a:xfrm>
          <a:prstGeom prst="foldedCorner">
            <a:avLst>
              <a:gd fmla="val 25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0" name="Google Shape;2550;p128"/>
          <p:cNvSpPr/>
          <p:nvPr/>
        </p:nvSpPr>
        <p:spPr>
          <a:xfrm>
            <a:off x="2475153" y="2390154"/>
            <a:ext cx="105300" cy="1047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551" name="Google Shape;2551;p128"/>
          <p:cNvCxnSpPr>
            <a:stCxn id="2550" idx="6"/>
          </p:cNvCxnSpPr>
          <p:nvPr/>
        </p:nvCxnSpPr>
        <p:spPr>
          <a:xfrm>
            <a:off x="2580453" y="2442504"/>
            <a:ext cx="1268700" cy="21300"/>
          </a:xfrm>
          <a:prstGeom prst="straightConnector1">
            <a:avLst/>
          </a:prstGeom>
          <a:noFill/>
          <a:ln cap="flat" cmpd="sng" w="9525">
            <a:solidFill>
              <a:schemeClr val="dk2"/>
            </a:solidFill>
            <a:prstDash val="dash"/>
            <a:round/>
            <a:headEnd len="med" w="med" type="none"/>
            <a:tailEnd len="med" w="med" type="none"/>
          </a:ln>
        </p:spPr>
      </p:cxnSp>
      <p:sp>
        <p:nvSpPr>
          <p:cNvPr id="2527" name="Google Shape;2527;p128"/>
          <p:cNvSpPr/>
          <p:nvPr/>
        </p:nvSpPr>
        <p:spPr>
          <a:xfrm>
            <a:off x="3411975" y="1541050"/>
            <a:ext cx="285300" cy="143025"/>
          </a:xfrm>
          <a:prstGeom prst="flowChartDecision">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5" name="Shape 2555"/>
        <p:cNvGrpSpPr/>
        <p:nvPr/>
      </p:nvGrpSpPr>
      <p:grpSpPr>
        <a:xfrm>
          <a:off x="0" y="0"/>
          <a:ext cx="0" cy="0"/>
          <a:chOff x="0" y="0"/>
          <a:chExt cx="0" cy="0"/>
        </a:xfrm>
      </p:grpSpPr>
      <p:sp>
        <p:nvSpPr>
          <p:cNvPr id="2556" name="Google Shape;2556;p129"/>
          <p:cNvSpPr txBox="1"/>
          <p:nvPr/>
        </p:nvSpPr>
        <p:spPr>
          <a:xfrm>
            <a:off x="3869327" y="2844783"/>
            <a:ext cx="1294200" cy="39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cập nhật</a:t>
            </a:r>
            <a:r>
              <a:rPr lang="en-GB">
                <a:solidFill>
                  <a:schemeClr val="dk2"/>
                </a:solidFill>
              </a:rPr>
              <a:t>()</a:t>
            </a:r>
            <a:endParaRPr>
              <a:solidFill>
                <a:schemeClr val="dk2"/>
              </a:solidFill>
            </a:endParaRPr>
          </a:p>
        </p:txBody>
      </p:sp>
      <p:sp>
        <p:nvSpPr>
          <p:cNvPr id="2557" name="Google Shape;2557;p129"/>
          <p:cNvSpPr txBox="1"/>
          <p:nvPr/>
        </p:nvSpPr>
        <p:spPr>
          <a:xfrm>
            <a:off x="3779482" y="3149575"/>
            <a:ext cx="1517100" cy="39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đọc trạng thái</a:t>
            </a:r>
            <a:r>
              <a:rPr lang="en-GB">
                <a:solidFill>
                  <a:schemeClr val="dk2"/>
                </a:solidFill>
              </a:rPr>
              <a:t>()</a:t>
            </a:r>
            <a:endParaRPr>
              <a:solidFill>
                <a:schemeClr val="dk2"/>
              </a:solidFill>
            </a:endParaRPr>
          </a:p>
        </p:txBody>
      </p:sp>
      <p:sp>
        <p:nvSpPr>
          <p:cNvPr id="2558" name="Google Shape;2558;p129"/>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Lớp quan sát: </a:t>
            </a:r>
            <a:r>
              <a:rPr lang="en-GB"/>
              <a:t>Hành vi</a:t>
            </a:r>
            <a:endParaRPr/>
          </a:p>
        </p:txBody>
      </p:sp>
      <p:sp>
        <p:nvSpPr>
          <p:cNvPr id="2559" name="Google Shape;2559;p12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2560" name="Google Shape;2560;p129"/>
          <p:cNvSpPr/>
          <p:nvPr/>
        </p:nvSpPr>
        <p:spPr>
          <a:xfrm>
            <a:off x="2923750" y="988300"/>
            <a:ext cx="10590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u="sng"/>
              <a:t>:</a:t>
            </a:r>
            <a:r>
              <a:rPr lang="en-GB" sz="1600" u="sng"/>
              <a:t>Chủ thể</a:t>
            </a:r>
            <a:endParaRPr sz="1600" u="sng"/>
          </a:p>
        </p:txBody>
      </p:sp>
      <p:cxnSp>
        <p:nvCxnSpPr>
          <p:cNvPr id="2561" name="Google Shape;2561;p129"/>
          <p:cNvCxnSpPr/>
          <p:nvPr/>
        </p:nvCxnSpPr>
        <p:spPr>
          <a:xfrm>
            <a:off x="3442075" y="1310800"/>
            <a:ext cx="0" cy="4741800"/>
          </a:xfrm>
          <a:prstGeom prst="straightConnector1">
            <a:avLst/>
          </a:prstGeom>
          <a:noFill/>
          <a:ln cap="flat" cmpd="sng" w="9525">
            <a:solidFill>
              <a:schemeClr val="dk2"/>
            </a:solidFill>
            <a:prstDash val="dash"/>
            <a:round/>
            <a:headEnd len="med" w="med" type="none"/>
            <a:tailEnd len="med" w="med" type="none"/>
          </a:ln>
        </p:spPr>
      </p:cxnSp>
      <p:sp>
        <p:nvSpPr>
          <p:cNvPr id="2562" name="Google Shape;2562;p129"/>
          <p:cNvSpPr/>
          <p:nvPr/>
        </p:nvSpPr>
        <p:spPr>
          <a:xfrm>
            <a:off x="4331412" y="988300"/>
            <a:ext cx="16953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u="sng"/>
              <a:t>o1</a:t>
            </a:r>
            <a:r>
              <a:rPr lang="en-GB" sz="1600" u="sng"/>
              <a:t>:</a:t>
            </a:r>
            <a:r>
              <a:rPr lang="en-GB" sz="1600" u="sng"/>
              <a:t>Lớp quan sát</a:t>
            </a:r>
            <a:endParaRPr sz="1600" u="sng"/>
          </a:p>
        </p:txBody>
      </p:sp>
      <p:cxnSp>
        <p:nvCxnSpPr>
          <p:cNvPr id="2563" name="Google Shape;2563;p129"/>
          <p:cNvCxnSpPr/>
          <p:nvPr/>
        </p:nvCxnSpPr>
        <p:spPr>
          <a:xfrm>
            <a:off x="5194675" y="1310800"/>
            <a:ext cx="0" cy="3464100"/>
          </a:xfrm>
          <a:prstGeom prst="straightConnector1">
            <a:avLst/>
          </a:prstGeom>
          <a:noFill/>
          <a:ln cap="flat" cmpd="sng" w="9525">
            <a:solidFill>
              <a:schemeClr val="dk2"/>
            </a:solidFill>
            <a:prstDash val="dash"/>
            <a:round/>
            <a:headEnd len="med" w="med" type="none"/>
            <a:tailEnd len="med" w="med" type="none"/>
          </a:ln>
        </p:spPr>
      </p:cxnSp>
      <p:sp>
        <p:nvSpPr>
          <p:cNvPr id="2564" name="Google Shape;2564;p129"/>
          <p:cNvSpPr/>
          <p:nvPr/>
        </p:nvSpPr>
        <p:spPr>
          <a:xfrm>
            <a:off x="3373450" y="2440550"/>
            <a:ext cx="159600" cy="1728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65" name="Google Shape;2565;p129"/>
          <p:cNvSpPr/>
          <p:nvPr/>
        </p:nvSpPr>
        <p:spPr>
          <a:xfrm>
            <a:off x="1684585" y="988300"/>
            <a:ext cx="9294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u="sng"/>
              <a:t>:</a:t>
            </a:r>
            <a:r>
              <a:rPr lang="en-GB" sz="1600" u="sng"/>
              <a:t>Khách</a:t>
            </a:r>
            <a:endParaRPr sz="1600" u="sng"/>
          </a:p>
        </p:txBody>
      </p:sp>
      <p:cxnSp>
        <p:nvCxnSpPr>
          <p:cNvPr id="2566" name="Google Shape;2566;p129"/>
          <p:cNvCxnSpPr/>
          <p:nvPr/>
        </p:nvCxnSpPr>
        <p:spPr>
          <a:xfrm>
            <a:off x="2146675" y="1310800"/>
            <a:ext cx="0" cy="4741800"/>
          </a:xfrm>
          <a:prstGeom prst="straightConnector1">
            <a:avLst/>
          </a:prstGeom>
          <a:noFill/>
          <a:ln cap="flat" cmpd="sng" w="9525">
            <a:solidFill>
              <a:schemeClr val="dk2"/>
            </a:solidFill>
            <a:prstDash val="dash"/>
            <a:round/>
            <a:headEnd len="med" w="med" type="none"/>
            <a:tailEnd len="med" w="med" type="none"/>
          </a:ln>
        </p:spPr>
      </p:cxnSp>
      <p:sp>
        <p:nvSpPr>
          <p:cNvPr id="2567" name="Google Shape;2567;p129"/>
          <p:cNvSpPr/>
          <p:nvPr/>
        </p:nvSpPr>
        <p:spPr>
          <a:xfrm>
            <a:off x="6105939" y="988300"/>
            <a:ext cx="16953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u="sng"/>
              <a:t>o</a:t>
            </a:r>
            <a:r>
              <a:rPr lang="en-GB" sz="1600" u="sng"/>
              <a:t>2</a:t>
            </a:r>
            <a:r>
              <a:rPr lang="en-GB" sz="1600" u="sng"/>
              <a:t>:Lớp quan sát</a:t>
            </a:r>
            <a:endParaRPr sz="1600" u="sng"/>
          </a:p>
        </p:txBody>
      </p:sp>
      <p:cxnSp>
        <p:nvCxnSpPr>
          <p:cNvPr id="2568" name="Google Shape;2568;p129"/>
          <p:cNvCxnSpPr/>
          <p:nvPr/>
        </p:nvCxnSpPr>
        <p:spPr>
          <a:xfrm>
            <a:off x="6947275" y="1310800"/>
            <a:ext cx="0" cy="4741800"/>
          </a:xfrm>
          <a:prstGeom prst="straightConnector1">
            <a:avLst/>
          </a:prstGeom>
          <a:noFill/>
          <a:ln cap="flat" cmpd="sng" w="9525">
            <a:solidFill>
              <a:schemeClr val="dk2"/>
            </a:solidFill>
            <a:prstDash val="dash"/>
            <a:round/>
            <a:headEnd len="med" w="med" type="none"/>
            <a:tailEnd len="med" w="med" type="none"/>
          </a:ln>
        </p:spPr>
      </p:cxnSp>
      <p:cxnSp>
        <p:nvCxnSpPr>
          <p:cNvPr id="2569" name="Google Shape;2569;p129"/>
          <p:cNvCxnSpPr/>
          <p:nvPr/>
        </p:nvCxnSpPr>
        <p:spPr>
          <a:xfrm>
            <a:off x="2156150" y="2553950"/>
            <a:ext cx="1218600" cy="0"/>
          </a:xfrm>
          <a:prstGeom prst="straightConnector1">
            <a:avLst/>
          </a:prstGeom>
          <a:noFill/>
          <a:ln cap="flat" cmpd="sng" w="9525">
            <a:solidFill>
              <a:schemeClr val="dk2"/>
            </a:solidFill>
            <a:prstDash val="solid"/>
            <a:round/>
            <a:headEnd len="med" w="med" type="none"/>
            <a:tailEnd len="med" w="med" type="triangle"/>
          </a:ln>
        </p:spPr>
      </p:cxnSp>
      <p:sp>
        <p:nvSpPr>
          <p:cNvPr id="2570" name="Google Shape;2570;p129"/>
          <p:cNvSpPr txBox="1"/>
          <p:nvPr/>
        </p:nvSpPr>
        <p:spPr>
          <a:xfrm>
            <a:off x="2451475" y="2225200"/>
            <a:ext cx="843300" cy="39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xử lý</a:t>
            </a:r>
            <a:r>
              <a:rPr lang="en-GB">
                <a:solidFill>
                  <a:schemeClr val="dk2"/>
                </a:solidFill>
              </a:rPr>
              <a:t>()</a:t>
            </a:r>
            <a:endParaRPr>
              <a:solidFill>
                <a:schemeClr val="dk2"/>
              </a:solidFill>
            </a:endParaRPr>
          </a:p>
        </p:txBody>
      </p:sp>
      <p:sp>
        <p:nvSpPr>
          <p:cNvPr id="2571" name="Google Shape;2571;p129"/>
          <p:cNvSpPr/>
          <p:nvPr/>
        </p:nvSpPr>
        <p:spPr>
          <a:xfrm>
            <a:off x="3525850" y="2871728"/>
            <a:ext cx="159600" cy="1044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72" name="Google Shape;2572;p129"/>
          <p:cNvSpPr/>
          <p:nvPr/>
        </p:nvSpPr>
        <p:spPr>
          <a:xfrm>
            <a:off x="3474125" y="2717975"/>
            <a:ext cx="90900" cy="56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573" name="Google Shape;2573;p129"/>
          <p:cNvCxnSpPr>
            <a:stCxn id="2572" idx="6"/>
            <a:endCxn id="2574" idx="6"/>
          </p:cNvCxnSpPr>
          <p:nvPr/>
        </p:nvCxnSpPr>
        <p:spPr>
          <a:xfrm>
            <a:off x="3565025" y="2746175"/>
            <a:ext cx="120300" cy="293400"/>
          </a:xfrm>
          <a:prstGeom prst="bentConnector3">
            <a:avLst>
              <a:gd fmla="val 297963" name="adj1"/>
            </a:avLst>
          </a:prstGeom>
          <a:noFill/>
          <a:ln cap="flat" cmpd="sng" w="9525">
            <a:solidFill>
              <a:schemeClr val="dk2"/>
            </a:solidFill>
            <a:prstDash val="solid"/>
            <a:round/>
            <a:headEnd len="med" w="med" type="none"/>
            <a:tailEnd len="med" w="med" type="triangle"/>
          </a:ln>
        </p:spPr>
      </p:cxnSp>
      <p:sp>
        <p:nvSpPr>
          <p:cNvPr id="2575" name="Google Shape;2575;p129"/>
          <p:cNvSpPr txBox="1"/>
          <p:nvPr/>
        </p:nvSpPr>
        <p:spPr>
          <a:xfrm>
            <a:off x="3458380" y="2417530"/>
            <a:ext cx="1294200" cy="39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thông báo</a:t>
            </a:r>
            <a:r>
              <a:rPr lang="en-GB">
                <a:solidFill>
                  <a:schemeClr val="dk2"/>
                </a:solidFill>
              </a:rPr>
              <a:t>()</a:t>
            </a:r>
            <a:endParaRPr>
              <a:solidFill>
                <a:schemeClr val="dk2"/>
              </a:solidFill>
            </a:endParaRPr>
          </a:p>
        </p:txBody>
      </p:sp>
      <p:sp>
        <p:nvSpPr>
          <p:cNvPr id="2576" name="Google Shape;2576;p129"/>
          <p:cNvSpPr/>
          <p:nvPr/>
        </p:nvSpPr>
        <p:spPr>
          <a:xfrm>
            <a:off x="3373450" y="1526150"/>
            <a:ext cx="159600" cy="322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77" name="Google Shape;2577;p129"/>
          <p:cNvSpPr/>
          <p:nvPr/>
        </p:nvSpPr>
        <p:spPr>
          <a:xfrm>
            <a:off x="3373450" y="1973367"/>
            <a:ext cx="159600" cy="322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578" name="Google Shape;2578;p129"/>
          <p:cNvCxnSpPr>
            <a:endCxn id="2576" idx="1"/>
          </p:cNvCxnSpPr>
          <p:nvPr/>
        </p:nvCxnSpPr>
        <p:spPr>
          <a:xfrm>
            <a:off x="2147050" y="1670300"/>
            <a:ext cx="1226400" cy="17100"/>
          </a:xfrm>
          <a:prstGeom prst="straightConnector1">
            <a:avLst/>
          </a:prstGeom>
          <a:noFill/>
          <a:ln cap="flat" cmpd="sng" w="9525">
            <a:solidFill>
              <a:schemeClr val="dk2"/>
            </a:solidFill>
            <a:prstDash val="solid"/>
            <a:round/>
            <a:headEnd len="med" w="med" type="none"/>
            <a:tailEnd len="med" w="med" type="triangle"/>
          </a:ln>
        </p:spPr>
      </p:cxnSp>
      <p:cxnSp>
        <p:nvCxnSpPr>
          <p:cNvPr id="2579" name="Google Shape;2579;p129"/>
          <p:cNvCxnSpPr/>
          <p:nvPr/>
        </p:nvCxnSpPr>
        <p:spPr>
          <a:xfrm>
            <a:off x="2157175" y="2154600"/>
            <a:ext cx="1216200" cy="0"/>
          </a:xfrm>
          <a:prstGeom prst="straightConnector1">
            <a:avLst/>
          </a:prstGeom>
          <a:noFill/>
          <a:ln cap="flat" cmpd="sng" w="9525">
            <a:solidFill>
              <a:schemeClr val="dk2"/>
            </a:solidFill>
            <a:prstDash val="solid"/>
            <a:round/>
            <a:headEnd len="med" w="med" type="none"/>
            <a:tailEnd len="med" w="med" type="triangle"/>
          </a:ln>
        </p:spPr>
      </p:cxnSp>
      <p:sp>
        <p:nvSpPr>
          <p:cNvPr id="2580" name="Google Shape;2580;p129"/>
          <p:cNvSpPr txBox="1"/>
          <p:nvPr/>
        </p:nvSpPr>
        <p:spPr>
          <a:xfrm>
            <a:off x="2375275" y="1347070"/>
            <a:ext cx="843300" cy="39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gắn(o1)</a:t>
            </a:r>
            <a:endParaRPr>
              <a:solidFill>
                <a:schemeClr val="dk2"/>
              </a:solidFill>
            </a:endParaRPr>
          </a:p>
        </p:txBody>
      </p:sp>
      <p:sp>
        <p:nvSpPr>
          <p:cNvPr id="2581" name="Google Shape;2581;p129"/>
          <p:cNvSpPr txBox="1"/>
          <p:nvPr/>
        </p:nvSpPr>
        <p:spPr>
          <a:xfrm>
            <a:off x="2375275" y="1824235"/>
            <a:ext cx="843300" cy="39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gắn(o</a:t>
            </a:r>
            <a:r>
              <a:rPr lang="en-GB">
                <a:solidFill>
                  <a:schemeClr val="dk2"/>
                </a:solidFill>
              </a:rPr>
              <a:t>2</a:t>
            </a:r>
            <a:r>
              <a:rPr lang="en-GB">
                <a:solidFill>
                  <a:schemeClr val="dk2"/>
                </a:solidFill>
              </a:rPr>
              <a:t>)</a:t>
            </a:r>
            <a:endParaRPr>
              <a:solidFill>
                <a:schemeClr val="dk2"/>
              </a:solidFill>
            </a:endParaRPr>
          </a:p>
        </p:txBody>
      </p:sp>
      <p:sp>
        <p:nvSpPr>
          <p:cNvPr id="2582" name="Google Shape;2582;p129"/>
          <p:cNvSpPr/>
          <p:nvPr/>
        </p:nvSpPr>
        <p:spPr>
          <a:xfrm>
            <a:off x="5126050" y="3003900"/>
            <a:ext cx="159600" cy="657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74" name="Google Shape;2574;p129"/>
          <p:cNvSpPr/>
          <p:nvPr/>
        </p:nvSpPr>
        <p:spPr>
          <a:xfrm>
            <a:off x="3644550" y="3011475"/>
            <a:ext cx="40800" cy="56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583" name="Google Shape;2583;p129"/>
          <p:cNvCxnSpPr/>
          <p:nvPr/>
        </p:nvCxnSpPr>
        <p:spPr>
          <a:xfrm flipH="1" rot="10800000">
            <a:off x="3704350" y="3155175"/>
            <a:ext cx="1421700" cy="6000"/>
          </a:xfrm>
          <a:prstGeom prst="straightConnector1">
            <a:avLst/>
          </a:prstGeom>
          <a:noFill/>
          <a:ln cap="flat" cmpd="sng" w="9525">
            <a:solidFill>
              <a:schemeClr val="dk2"/>
            </a:solidFill>
            <a:prstDash val="solid"/>
            <a:round/>
            <a:headEnd len="med" w="med" type="none"/>
            <a:tailEnd len="med" w="med" type="triangle"/>
          </a:ln>
        </p:spPr>
      </p:cxnSp>
      <p:sp>
        <p:nvSpPr>
          <p:cNvPr id="2584" name="Google Shape;2584;p129"/>
          <p:cNvSpPr/>
          <p:nvPr/>
        </p:nvSpPr>
        <p:spPr>
          <a:xfrm>
            <a:off x="3678250" y="3368593"/>
            <a:ext cx="159600" cy="322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585" name="Google Shape;2585;p129"/>
          <p:cNvCxnSpPr/>
          <p:nvPr/>
        </p:nvCxnSpPr>
        <p:spPr>
          <a:xfrm rot="10800000">
            <a:off x="3863573" y="3529850"/>
            <a:ext cx="1256400" cy="0"/>
          </a:xfrm>
          <a:prstGeom prst="straightConnector1">
            <a:avLst/>
          </a:prstGeom>
          <a:noFill/>
          <a:ln cap="flat" cmpd="sng" w="9525">
            <a:solidFill>
              <a:schemeClr val="dk2"/>
            </a:solidFill>
            <a:prstDash val="solid"/>
            <a:round/>
            <a:headEnd len="med" w="med" type="none"/>
            <a:tailEnd len="med" w="med" type="triangle"/>
          </a:ln>
        </p:spPr>
      </p:cxnSp>
      <p:sp>
        <p:nvSpPr>
          <p:cNvPr id="2586" name="Google Shape;2586;p129"/>
          <p:cNvSpPr/>
          <p:nvPr/>
        </p:nvSpPr>
        <p:spPr>
          <a:xfrm>
            <a:off x="6878650" y="3643445"/>
            <a:ext cx="159600" cy="322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587" name="Google Shape;2587;p129"/>
          <p:cNvCxnSpPr>
            <a:endCxn id="2586" idx="1"/>
          </p:cNvCxnSpPr>
          <p:nvPr/>
        </p:nvCxnSpPr>
        <p:spPr>
          <a:xfrm>
            <a:off x="3694450" y="3804695"/>
            <a:ext cx="3184200" cy="0"/>
          </a:xfrm>
          <a:prstGeom prst="straightConnector1">
            <a:avLst/>
          </a:prstGeom>
          <a:noFill/>
          <a:ln cap="flat" cmpd="sng" w="9525">
            <a:solidFill>
              <a:schemeClr val="dk2"/>
            </a:solidFill>
            <a:prstDash val="solid"/>
            <a:round/>
            <a:headEnd len="med" w="med" type="none"/>
            <a:tailEnd len="med" w="med" type="triangle"/>
          </a:ln>
        </p:spPr>
      </p:cxnSp>
      <p:sp>
        <p:nvSpPr>
          <p:cNvPr id="2588" name="Google Shape;2588;p129"/>
          <p:cNvSpPr txBox="1"/>
          <p:nvPr/>
        </p:nvSpPr>
        <p:spPr>
          <a:xfrm>
            <a:off x="5393327" y="3454383"/>
            <a:ext cx="1294200" cy="39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Cập nhật()</a:t>
            </a:r>
            <a:endParaRPr>
              <a:solidFill>
                <a:schemeClr val="dk2"/>
              </a:solidFill>
            </a:endParaRPr>
          </a:p>
        </p:txBody>
      </p:sp>
      <p:sp>
        <p:nvSpPr>
          <p:cNvPr id="2589" name="Google Shape;2589;p129"/>
          <p:cNvSpPr/>
          <p:nvPr/>
        </p:nvSpPr>
        <p:spPr>
          <a:xfrm>
            <a:off x="3373450" y="4421750"/>
            <a:ext cx="159600" cy="322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590" name="Google Shape;2590;p129"/>
          <p:cNvCxnSpPr/>
          <p:nvPr/>
        </p:nvCxnSpPr>
        <p:spPr>
          <a:xfrm>
            <a:off x="2147050" y="4489700"/>
            <a:ext cx="1226400" cy="17100"/>
          </a:xfrm>
          <a:prstGeom prst="straightConnector1">
            <a:avLst/>
          </a:prstGeom>
          <a:noFill/>
          <a:ln cap="flat" cmpd="sng" w="9525">
            <a:solidFill>
              <a:schemeClr val="dk2"/>
            </a:solidFill>
            <a:prstDash val="solid"/>
            <a:round/>
            <a:headEnd len="med" w="med" type="none"/>
            <a:tailEnd len="med" w="med" type="triangle"/>
          </a:ln>
        </p:spPr>
      </p:cxnSp>
      <p:sp>
        <p:nvSpPr>
          <p:cNvPr id="2591" name="Google Shape;2591;p129"/>
          <p:cNvSpPr txBox="1"/>
          <p:nvPr/>
        </p:nvSpPr>
        <p:spPr>
          <a:xfrm>
            <a:off x="2375275" y="4166470"/>
            <a:ext cx="843300" cy="39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gỡ</a:t>
            </a:r>
            <a:r>
              <a:rPr lang="en-GB">
                <a:solidFill>
                  <a:schemeClr val="dk2"/>
                </a:solidFill>
              </a:rPr>
              <a:t>(o1)</a:t>
            </a:r>
            <a:endParaRPr>
              <a:solidFill>
                <a:schemeClr val="dk2"/>
              </a:solidFill>
            </a:endParaRPr>
          </a:p>
        </p:txBody>
      </p:sp>
      <p:sp>
        <p:nvSpPr>
          <p:cNvPr id="2592" name="Google Shape;2592;p129"/>
          <p:cNvSpPr/>
          <p:nvPr/>
        </p:nvSpPr>
        <p:spPr>
          <a:xfrm>
            <a:off x="3373450" y="4878950"/>
            <a:ext cx="159600" cy="1044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593" name="Google Shape;2593;p129"/>
          <p:cNvCxnSpPr/>
          <p:nvPr/>
        </p:nvCxnSpPr>
        <p:spPr>
          <a:xfrm>
            <a:off x="2156150" y="4992350"/>
            <a:ext cx="1218600" cy="0"/>
          </a:xfrm>
          <a:prstGeom prst="straightConnector1">
            <a:avLst/>
          </a:prstGeom>
          <a:noFill/>
          <a:ln cap="flat" cmpd="sng" w="9525">
            <a:solidFill>
              <a:schemeClr val="dk2"/>
            </a:solidFill>
            <a:prstDash val="solid"/>
            <a:round/>
            <a:headEnd len="med" w="med" type="none"/>
            <a:tailEnd len="med" w="med" type="triangle"/>
          </a:ln>
        </p:spPr>
      </p:cxnSp>
      <p:sp>
        <p:nvSpPr>
          <p:cNvPr id="2594" name="Google Shape;2594;p129"/>
          <p:cNvSpPr txBox="1"/>
          <p:nvPr/>
        </p:nvSpPr>
        <p:spPr>
          <a:xfrm>
            <a:off x="2451475" y="4663600"/>
            <a:ext cx="843300" cy="39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xử lý()</a:t>
            </a:r>
            <a:endParaRPr>
              <a:solidFill>
                <a:schemeClr val="dk2"/>
              </a:solidFill>
            </a:endParaRPr>
          </a:p>
        </p:txBody>
      </p:sp>
      <p:cxnSp>
        <p:nvCxnSpPr>
          <p:cNvPr id="2595" name="Google Shape;2595;p129"/>
          <p:cNvCxnSpPr/>
          <p:nvPr/>
        </p:nvCxnSpPr>
        <p:spPr>
          <a:xfrm>
            <a:off x="5092025" y="4625000"/>
            <a:ext cx="189600" cy="189600"/>
          </a:xfrm>
          <a:prstGeom prst="straightConnector1">
            <a:avLst/>
          </a:prstGeom>
          <a:noFill/>
          <a:ln cap="flat" cmpd="sng" w="9525">
            <a:solidFill>
              <a:schemeClr val="dk2"/>
            </a:solidFill>
            <a:prstDash val="solid"/>
            <a:round/>
            <a:headEnd len="med" w="med" type="none"/>
            <a:tailEnd len="med" w="med" type="none"/>
          </a:ln>
        </p:spPr>
      </p:cxnSp>
      <p:cxnSp>
        <p:nvCxnSpPr>
          <p:cNvPr id="2596" name="Google Shape;2596;p129"/>
          <p:cNvCxnSpPr/>
          <p:nvPr/>
        </p:nvCxnSpPr>
        <p:spPr>
          <a:xfrm flipH="1" rot="10800000">
            <a:off x="5082050" y="4625150"/>
            <a:ext cx="199500" cy="199500"/>
          </a:xfrm>
          <a:prstGeom prst="straightConnector1">
            <a:avLst/>
          </a:prstGeom>
          <a:noFill/>
          <a:ln cap="flat" cmpd="sng" w="9525">
            <a:solidFill>
              <a:schemeClr val="dk2"/>
            </a:solidFill>
            <a:prstDash val="solid"/>
            <a:round/>
            <a:headEnd len="med" w="med" type="none"/>
            <a:tailEnd len="med" w="med" type="none"/>
          </a:ln>
        </p:spPr>
      </p:cxnSp>
      <p:sp>
        <p:nvSpPr>
          <p:cNvPr id="2597" name="Google Shape;2597;p129"/>
          <p:cNvSpPr/>
          <p:nvPr/>
        </p:nvSpPr>
        <p:spPr>
          <a:xfrm>
            <a:off x="3542150" y="5157724"/>
            <a:ext cx="159600" cy="565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98" name="Google Shape;2598;p129"/>
          <p:cNvSpPr/>
          <p:nvPr/>
        </p:nvSpPr>
        <p:spPr>
          <a:xfrm>
            <a:off x="3490430" y="5003975"/>
            <a:ext cx="90900" cy="56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599" name="Google Shape;2599;p129"/>
          <p:cNvCxnSpPr>
            <a:stCxn id="2598" idx="6"/>
            <a:endCxn id="2600" idx="6"/>
          </p:cNvCxnSpPr>
          <p:nvPr/>
        </p:nvCxnSpPr>
        <p:spPr>
          <a:xfrm>
            <a:off x="3581330" y="5032175"/>
            <a:ext cx="120300" cy="293400"/>
          </a:xfrm>
          <a:prstGeom prst="bentConnector3">
            <a:avLst>
              <a:gd fmla="val 297963" name="adj1"/>
            </a:avLst>
          </a:prstGeom>
          <a:noFill/>
          <a:ln cap="flat" cmpd="sng" w="9525">
            <a:solidFill>
              <a:schemeClr val="dk2"/>
            </a:solidFill>
            <a:prstDash val="solid"/>
            <a:round/>
            <a:headEnd len="med" w="med" type="none"/>
            <a:tailEnd len="med" w="med" type="triangle"/>
          </a:ln>
        </p:spPr>
      </p:cxnSp>
      <p:sp>
        <p:nvSpPr>
          <p:cNvPr id="2601" name="Google Shape;2601;p129"/>
          <p:cNvSpPr txBox="1"/>
          <p:nvPr/>
        </p:nvSpPr>
        <p:spPr>
          <a:xfrm>
            <a:off x="3474685" y="4703530"/>
            <a:ext cx="1294200" cy="39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thông báo()</a:t>
            </a:r>
            <a:endParaRPr>
              <a:solidFill>
                <a:schemeClr val="dk2"/>
              </a:solidFill>
            </a:endParaRPr>
          </a:p>
        </p:txBody>
      </p:sp>
      <p:sp>
        <p:nvSpPr>
          <p:cNvPr id="2600" name="Google Shape;2600;p129"/>
          <p:cNvSpPr/>
          <p:nvPr/>
        </p:nvSpPr>
        <p:spPr>
          <a:xfrm>
            <a:off x="3660855" y="5297475"/>
            <a:ext cx="40800" cy="56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02" name="Google Shape;2602;p129"/>
          <p:cNvSpPr/>
          <p:nvPr/>
        </p:nvSpPr>
        <p:spPr>
          <a:xfrm>
            <a:off x="6878650" y="5472245"/>
            <a:ext cx="159600" cy="322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603" name="Google Shape;2603;p129"/>
          <p:cNvCxnSpPr/>
          <p:nvPr/>
        </p:nvCxnSpPr>
        <p:spPr>
          <a:xfrm>
            <a:off x="3694475" y="5557300"/>
            <a:ext cx="3184200" cy="0"/>
          </a:xfrm>
          <a:prstGeom prst="straightConnector1">
            <a:avLst/>
          </a:prstGeom>
          <a:noFill/>
          <a:ln cap="flat" cmpd="sng" w="9525">
            <a:solidFill>
              <a:schemeClr val="dk2"/>
            </a:solidFill>
            <a:prstDash val="solid"/>
            <a:round/>
            <a:headEnd len="med" w="med" type="none"/>
            <a:tailEnd len="med" w="med" type="triangle"/>
          </a:ln>
        </p:spPr>
      </p:cxnSp>
      <p:sp>
        <p:nvSpPr>
          <p:cNvPr id="2604" name="Google Shape;2604;p129"/>
          <p:cNvSpPr txBox="1"/>
          <p:nvPr/>
        </p:nvSpPr>
        <p:spPr>
          <a:xfrm>
            <a:off x="4783727" y="5206983"/>
            <a:ext cx="1294200" cy="39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Cập nhật()</a:t>
            </a:r>
            <a:endParaRPr>
              <a:solidFill>
                <a:schemeClr val="dk2"/>
              </a:solidFill>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8" name="Shape 2608"/>
        <p:cNvGrpSpPr/>
        <p:nvPr/>
      </p:nvGrpSpPr>
      <p:grpSpPr>
        <a:xfrm>
          <a:off x="0" y="0"/>
          <a:ext cx="0" cy="0"/>
          <a:chOff x="0" y="0"/>
          <a:chExt cx="0" cy="0"/>
        </a:xfrm>
      </p:grpSpPr>
      <p:sp>
        <p:nvSpPr>
          <p:cNvPr id="2609" name="Google Shape;2609;p130"/>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Lớp quan sát: Các hệ quả</a:t>
            </a:r>
            <a:endParaRPr/>
          </a:p>
        </p:txBody>
      </p:sp>
      <p:sp>
        <p:nvSpPr>
          <p:cNvPr id="2610" name="Google Shape;2610;p13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2611" name="Google Shape;2611;p130"/>
          <p:cNvSpPr txBox="1"/>
          <p:nvPr>
            <p:ph idx="1" type="body"/>
          </p:nvPr>
        </p:nvSpPr>
        <p:spPr>
          <a:xfrm>
            <a:off x="311700" y="950475"/>
            <a:ext cx="8520600" cy="5418300"/>
          </a:xfrm>
          <a:prstGeom prst="rect">
            <a:avLst/>
          </a:prstGeom>
        </p:spPr>
        <p:txBody>
          <a:bodyPr anchorCtr="0" anchor="t" bIns="91425" lIns="91425" spcFirstLastPara="1" rIns="91425" wrap="square" tIns="91425">
            <a:noAutofit/>
          </a:bodyPr>
          <a:lstStyle/>
          <a:p>
            <a:pPr indent="-381000" lvl="0" marL="457200" rtl="0" algn="just">
              <a:spcBef>
                <a:spcPts val="0"/>
              </a:spcBef>
              <a:spcAft>
                <a:spcPts val="0"/>
              </a:spcAft>
              <a:buSzPts val="2400"/>
              <a:buChar char="●"/>
            </a:pPr>
            <a:r>
              <a:rPr lang="en-GB"/>
              <a:t>Nới lỏng liên kết giữa chủ thể và đối tượng quan sát, vì vậy chủ thể và đối tượng quan sát có thể nằm trên các tầng khác nhau.</a:t>
            </a:r>
            <a:endParaRPr/>
          </a:p>
          <a:p>
            <a:pPr indent="-381000" lvl="0" marL="457200" rtl="0" algn="just">
              <a:spcBef>
                <a:spcPts val="0"/>
              </a:spcBef>
              <a:spcAft>
                <a:spcPts val="0"/>
              </a:spcAft>
              <a:buSzPts val="2400"/>
              <a:buChar char="●"/>
            </a:pPr>
            <a:r>
              <a:rPr lang="en-GB"/>
              <a:t>Giao tiếp diện rộng, chủ thể chỉ có trách nhiệm thông báo đến các đối tượng quan sát đã đăng ký mà không cần quan tâm đó là những đối tượng gì. Vị vậy có thể tự do gắn và gỡ các đối tượng quan sát với chủ thể.</a:t>
            </a:r>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5" name="Shape 2615"/>
        <p:cNvGrpSpPr/>
        <p:nvPr/>
      </p:nvGrpSpPr>
      <p:grpSpPr>
        <a:xfrm>
          <a:off x="0" y="0"/>
          <a:ext cx="0" cy="0"/>
          <a:chOff x="0" y="0"/>
          <a:chExt cx="0" cy="0"/>
        </a:xfrm>
      </p:grpSpPr>
      <p:sp>
        <p:nvSpPr>
          <p:cNvPr id="2616" name="Google Shape;2616;p131"/>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22. Ứng dụng tải tệp</a:t>
            </a:r>
            <a:endParaRPr/>
          </a:p>
        </p:txBody>
      </p:sp>
      <p:sp>
        <p:nvSpPr>
          <p:cNvPr id="2617" name="Google Shape;2617;p13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2618" name="Google Shape;2618;p131"/>
          <p:cNvSpPr/>
          <p:nvPr/>
        </p:nvSpPr>
        <p:spPr>
          <a:xfrm>
            <a:off x="1101270" y="1522825"/>
            <a:ext cx="20724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i="1" lang="en-GB" sz="1600"/>
              <a:t>Subject</a:t>
            </a:r>
            <a:endParaRPr i="1" sz="1600"/>
          </a:p>
        </p:txBody>
      </p:sp>
      <p:sp>
        <p:nvSpPr>
          <p:cNvPr id="2619" name="Google Shape;2619;p131"/>
          <p:cNvSpPr/>
          <p:nvPr/>
        </p:nvSpPr>
        <p:spPr>
          <a:xfrm>
            <a:off x="1101250" y="1845050"/>
            <a:ext cx="2072400" cy="8580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lang="en-GB" sz="1600"/>
              <a:t>attach</a:t>
            </a:r>
            <a:r>
              <a:rPr lang="en-GB" sz="1600"/>
              <a:t>(</a:t>
            </a:r>
            <a:r>
              <a:rPr lang="en-GB" sz="1600"/>
              <a:t>Observer</a:t>
            </a:r>
            <a:r>
              <a:rPr lang="en-GB" sz="1600"/>
              <a:t>)</a:t>
            </a:r>
            <a:endParaRPr sz="1600"/>
          </a:p>
          <a:p>
            <a:pPr indent="0" lvl="0" marL="0" rtl="0" algn="l">
              <a:spcBef>
                <a:spcPts val="0"/>
              </a:spcBef>
              <a:spcAft>
                <a:spcPts val="0"/>
              </a:spcAft>
              <a:buNone/>
            </a:pPr>
            <a:r>
              <a:rPr lang="en-GB" sz="1600"/>
              <a:t>detach</a:t>
            </a:r>
            <a:r>
              <a:rPr lang="en-GB" sz="1600"/>
              <a:t>(</a:t>
            </a:r>
            <a:r>
              <a:rPr lang="en-GB" sz="1600"/>
              <a:t>Observer</a:t>
            </a:r>
            <a:r>
              <a:rPr lang="en-GB" sz="1600"/>
              <a:t>)</a:t>
            </a:r>
            <a:endParaRPr sz="1600"/>
          </a:p>
          <a:p>
            <a:pPr indent="0" lvl="0" marL="0" rtl="0" algn="l">
              <a:spcBef>
                <a:spcPts val="0"/>
              </a:spcBef>
              <a:spcAft>
                <a:spcPts val="0"/>
              </a:spcAft>
              <a:buNone/>
            </a:pPr>
            <a:r>
              <a:rPr lang="en-GB" sz="1600"/>
              <a:t>notify</a:t>
            </a:r>
            <a:r>
              <a:rPr lang="en-GB" sz="1600"/>
              <a:t>()</a:t>
            </a:r>
            <a:endParaRPr sz="1600"/>
          </a:p>
        </p:txBody>
      </p:sp>
      <p:sp>
        <p:nvSpPr>
          <p:cNvPr id="2620" name="Google Shape;2620;p131"/>
          <p:cNvSpPr/>
          <p:nvPr/>
        </p:nvSpPr>
        <p:spPr>
          <a:xfrm>
            <a:off x="5345015" y="1522825"/>
            <a:ext cx="17148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i="1" lang="en-GB" sz="1600"/>
              <a:t>Observer</a:t>
            </a:r>
            <a:endParaRPr i="1" sz="1600"/>
          </a:p>
        </p:txBody>
      </p:sp>
      <p:sp>
        <p:nvSpPr>
          <p:cNvPr id="2621" name="Google Shape;2621;p131"/>
          <p:cNvSpPr/>
          <p:nvPr/>
        </p:nvSpPr>
        <p:spPr>
          <a:xfrm>
            <a:off x="5345000" y="1845050"/>
            <a:ext cx="1714800" cy="3975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i="1" lang="en-GB" sz="1600"/>
              <a:t>update</a:t>
            </a:r>
            <a:r>
              <a:rPr i="1" lang="en-GB" sz="1600"/>
              <a:t>(</a:t>
            </a:r>
            <a:r>
              <a:rPr i="1" lang="en-GB" sz="1600"/>
              <a:t>Subject</a:t>
            </a:r>
            <a:r>
              <a:rPr i="1" lang="en-GB" sz="1600"/>
              <a:t>)</a:t>
            </a:r>
            <a:endParaRPr i="1" sz="1600"/>
          </a:p>
        </p:txBody>
      </p:sp>
      <p:cxnSp>
        <p:nvCxnSpPr>
          <p:cNvPr id="2622" name="Google Shape;2622;p131"/>
          <p:cNvCxnSpPr>
            <a:stCxn id="2623" idx="3"/>
            <a:endCxn id="2620" idx="1"/>
          </p:cNvCxnSpPr>
          <p:nvPr/>
        </p:nvCxnSpPr>
        <p:spPr>
          <a:xfrm flipH="1" rot="10800000">
            <a:off x="3468675" y="1683963"/>
            <a:ext cx="1876200" cy="4800"/>
          </a:xfrm>
          <a:prstGeom prst="straightConnector1">
            <a:avLst/>
          </a:prstGeom>
          <a:noFill/>
          <a:ln cap="flat" cmpd="sng" w="9525">
            <a:solidFill>
              <a:schemeClr val="dk2"/>
            </a:solidFill>
            <a:prstDash val="solid"/>
            <a:round/>
            <a:headEnd len="med" w="med" type="none"/>
            <a:tailEnd len="med" w="med" type="triangle"/>
          </a:ln>
        </p:spPr>
      </p:cxnSp>
      <p:sp>
        <p:nvSpPr>
          <p:cNvPr id="2624" name="Google Shape;2624;p131"/>
          <p:cNvSpPr txBox="1"/>
          <p:nvPr/>
        </p:nvSpPr>
        <p:spPr>
          <a:xfrm>
            <a:off x="4352325" y="1376175"/>
            <a:ext cx="1023900" cy="39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observers</a:t>
            </a:r>
            <a:endParaRPr/>
          </a:p>
        </p:txBody>
      </p:sp>
      <p:sp>
        <p:nvSpPr>
          <p:cNvPr id="2625" name="Google Shape;2625;p131"/>
          <p:cNvSpPr/>
          <p:nvPr/>
        </p:nvSpPr>
        <p:spPr>
          <a:xfrm>
            <a:off x="2073400" y="2700203"/>
            <a:ext cx="191700" cy="1197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6" name="Google Shape;2626;p131"/>
          <p:cNvSpPr/>
          <p:nvPr/>
        </p:nvSpPr>
        <p:spPr>
          <a:xfrm>
            <a:off x="1306415" y="3504025"/>
            <a:ext cx="17148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l">
              <a:spcBef>
                <a:spcPts val="0"/>
              </a:spcBef>
              <a:spcAft>
                <a:spcPts val="0"/>
              </a:spcAft>
              <a:buNone/>
            </a:pPr>
            <a:r>
              <a:rPr lang="en-GB" sz="1600"/>
              <a:t>fragments</a:t>
            </a:r>
            <a:endParaRPr sz="1600"/>
          </a:p>
        </p:txBody>
      </p:sp>
      <p:sp>
        <p:nvSpPr>
          <p:cNvPr id="2627" name="Google Shape;2627;p131"/>
          <p:cNvSpPr/>
          <p:nvPr/>
        </p:nvSpPr>
        <p:spPr>
          <a:xfrm>
            <a:off x="1306400" y="3826250"/>
            <a:ext cx="1714800" cy="6018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lang="en-GB" sz="1600"/>
              <a:t>get_data</a:t>
            </a:r>
            <a:r>
              <a:rPr lang="en-GB" sz="1600"/>
              <a:t>()</a:t>
            </a:r>
            <a:endParaRPr sz="1600"/>
          </a:p>
          <a:p>
            <a:pPr indent="0" lvl="0" marL="0" rtl="0" algn="l">
              <a:spcBef>
                <a:spcPts val="0"/>
              </a:spcBef>
              <a:spcAft>
                <a:spcPts val="0"/>
              </a:spcAft>
              <a:buNone/>
            </a:pPr>
            <a:r>
              <a:rPr lang="en-GB" sz="1600"/>
              <a:t>get_status()</a:t>
            </a:r>
            <a:endParaRPr sz="1600"/>
          </a:p>
        </p:txBody>
      </p:sp>
      <p:sp>
        <p:nvSpPr>
          <p:cNvPr id="2628" name="Google Shape;2628;p131"/>
          <p:cNvSpPr/>
          <p:nvPr/>
        </p:nvSpPr>
        <p:spPr>
          <a:xfrm>
            <a:off x="1306415" y="3187517"/>
            <a:ext cx="17148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DownloadItem</a:t>
            </a:r>
            <a:endParaRPr sz="1600"/>
          </a:p>
        </p:txBody>
      </p:sp>
      <p:cxnSp>
        <p:nvCxnSpPr>
          <p:cNvPr id="2629" name="Google Shape;2629;p131"/>
          <p:cNvCxnSpPr>
            <a:stCxn id="2628" idx="0"/>
            <a:endCxn id="2625" idx="3"/>
          </p:cNvCxnSpPr>
          <p:nvPr/>
        </p:nvCxnSpPr>
        <p:spPr>
          <a:xfrm flipH="1" rot="10800000">
            <a:off x="2163815" y="2820017"/>
            <a:ext cx="5400" cy="367500"/>
          </a:xfrm>
          <a:prstGeom prst="straightConnector1">
            <a:avLst/>
          </a:prstGeom>
          <a:noFill/>
          <a:ln cap="flat" cmpd="sng" w="9525">
            <a:solidFill>
              <a:schemeClr val="dk2"/>
            </a:solidFill>
            <a:prstDash val="solid"/>
            <a:round/>
            <a:headEnd len="med" w="med" type="none"/>
            <a:tailEnd len="med" w="med" type="none"/>
          </a:ln>
        </p:spPr>
      </p:cxnSp>
      <p:sp>
        <p:nvSpPr>
          <p:cNvPr id="2630" name="Google Shape;2630;p131"/>
          <p:cNvSpPr/>
          <p:nvPr/>
        </p:nvSpPr>
        <p:spPr>
          <a:xfrm>
            <a:off x="5643100" y="2257451"/>
            <a:ext cx="191700" cy="1197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1" name="Google Shape;2631;p131"/>
          <p:cNvSpPr/>
          <p:nvPr/>
        </p:nvSpPr>
        <p:spPr>
          <a:xfrm>
            <a:off x="3897200" y="3511467"/>
            <a:ext cx="2157300" cy="6795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lang="en-GB" sz="1600"/>
              <a:t>update</a:t>
            </a:r>
            <a:r>
              <a:rPr lang="en-GB" sz="1600"/>
              <a:t>(</a:t>
            </a:r>
            <a:r>
              <a:rPr lang="en-GB" sz="1600"/>
              <a:t>Subject</a:t>
            </a:r>
            <a:r>
              <a:rPr lang="en-GB" sz="1600"/>
              <a:t>)</a:t>
            </a:r>
            <a:endParaRPr sz="1600"/>
          </a:p>
          <a:p>
            <a:pPr indent="0" lvl="0" marL="0" rtl="0" algn="l">
              <a:spcBef>
                <a:spcPts val="0"/>
              </a:spcBef>
              <a:spcAft>
                <a:spcPts val="0"/>
              </a:spcAft>
              <a:buNone/>
            </a:pPr>
            <a:r>
              <a:rPr lang="en-GB" sz="1600"/>
              <a:t>display()</a:t>
            </a:r>
            <a:endParaRPr sz="1600"/>
          </a:p>
        </p:txBody>
      </p:sp>
      <p:sp>
        <p:nvSpPr>
          <p:cNvPr id="2632" name="Google Shape;2632;p131"/>
          <p:cNvSpPr/>
          <p:nvPr/>
        </p:nvSpPr>
        <p:spPr>
          <a:xfrm>
            <a:off x="3897219" y="3187525"/>
            <a:ext cx="21573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DownloadProgress</a:t>
            </a:r>
            <a:endParaRPr sz="1600"/>
          </a:p>
        </p:txBody>
      </p:sp>
      <p:sp>
        <p:nvSpPr>
          <p:cNvPr id="2633" name="Google Shape;2633;p131"/>
          <p:cNvSpPr txBox="1"/>
          <p:nvPr/>
        </p:nvSpPr>
        <p:spPr>
          <a:xfrm>
            <a:off x="4962575" y="1712036"/>
            <a:ext cx="285300" cy="28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a:t>
            </a:r>
            <a:endParaRPr/>
          </a:p>
        </p:txBody>
      </p:sp>
      <p:sp>
        <p:nvSpPr>
          <p:cNvPr id="2623" name="Google Shape;2623;p131"/>
          <p:cNvSpPr/>
          <p:nvPr/>
        </p:nvSpPr>
        <p:spPr>
          <a:xfrm>
            <a:off x="3183375" y="1617250"/>
            <a:ext cx="285300" cy="143025"/>
          </a:xfrm>
          <a:prstGeom prst="flowChartDecision">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34" name="Google Shape;2634;p131"/>
          <p:cNvSpPr/>
          <p:nvPr/>
        </p:nvSpPr>
        <p:spPr>
          <a:xfrm>
            <a:off x="6259400" y="3511467"/>
            <a:ext cx="2157300" cy="6795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lang="en-GB" sz="1600"/>
              <a:t>update(Subject)</a:t>
            </a:r>
            <a:endParaRPr sz="1600"/>
          </a:p>
          <a:p>
            <a:pPr indent="0" lvl="0" marL="0" rtl="0" algn="l">
              <a:spcBef>
                <a:spcPts val="0"/>
              </a:spcBef>
              <a:spcAft>
                <a:spcPts val="0"/>
              </a:spcAft>
              <a:buNone/>
            </a:pPr>
            <a:r>
              <a:rPr lang="en-GB" sz="1600"/>
              <a:t>write_to_disk</a:t>
            </a:r>
            <a:r>
              <a:rPr lang="en-GB" sz="1600"/>
              <a:t>()</a:t>
            </a:r>
            <a:endParaRPr sz="1600"/>
          </a:p>
        </p:txBody>
      </p:sp>
      <p:sp>
        <p:nvSpPr>
          <p:cNvPr id="2635" name="Google Shape;2635;p131"/>
          <p:cNvSpPr/>
          <p:nvPr/>
        </p:nvSpPr>
        <p:spPr>
          <a:xfrm>
            <a:off x="6259419" y="3187525"/>
            <a:ext cx="21573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FileWriter</a:t>
            </a:r>
            <a:endParaRPr sz="1600"/>
          </a:p>
        </p:txBody>
      </p:sp>
      <p:sp>
        <p:nvSpPr>
          <p:cNvPr id="2636" name="Google Shape;2636;p131"/>
          <p:cNvSpPr/>
          <p:nvPr/>
        </p:nvSpPr>
        <p:spPr>
          <a:xfrm>
            <a:off x="6481300" y="2257451"/>
            <a:ext cx="191700" cy="1197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637" name="Google Shape;2637;p131"/>
          <p:cNvCxnSpPr>
            <a:stCxn id="2632" idx="0"/>
            <a:endCxn id="2630" idx="3"/>
          </p:cNvCxnSpPr>
          <p:nvPr/>
        </p:nvCxnSpPr>
        <p:spPr>
          <a:xfrm rot="-5400000">
            <a:off x="4952319" y="2400775"/>
            <a:ext cx="810300" cy="763200"/>
          </a:xfrm>
          <a:prstGeom prst="bentConnector3">
            <a:avLst>
              <a:gd fmla="val 50005" name="adj1"/>
            </a:avLst>
          </a:prstGeom>
          <a:noFill/>
          <a:ln cap="flat" cmpd="sng" w="9525">
            <a:solidFill>
              <a:schemeClr val="dk2"/>
            </a:solidFill>
            <a:prstDash val="solid"/>
            <a:round/>
            <a:headEnd len="med" w="med" type="none"/>
            <a:tailEnd len="med" w="med" type="none"/>
          </a:ln>
        </p:spPr>
      </p:cxnSp>
      <p:cxnSp>
        <p:nvCxnSpPr>
          <p:cNvPr id="2638" name="Google Shape;2638;p131"/>
          <p:cNvCxnSpPr>
            <a:stCxn id="2635" idx="0"/>
            <a:endCxn id="2636" idx="3"/>
          </p:cNvCxnSpPr>
          <p:nvPr/>
        </p:nvCxnSpPr>
        <p:spPr>
          <a:xfrm flipH="1" rot="5400000">
            <a:off x="6552519" y="2401975"/>
            <a:ext cx="810300" cy="760800"/>
          </a:xfrm>
          <a:prstGeom prst="bentConnector3">
            <a:avLst>
              <a:gd fmla="val 50005" name="adj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2" name="Shape 2642"/>
        <p:cNvGrpSpPr/>
        <p:nvPr/>
      </p:nvGrpSpPr>
      <p:grpSpPr>
        <a:xfrm>
          <a:off x="0" y="0"/>
          <a:ext cx="0" cy="0"/>
          <a:chOff x="0" y="0"/>
          <a:chExt cx="0" cy="0"/>
        </a:xfrm>
      </p:grpSpPr>
      <p:sp>
        <p:nvSpPr>
          <p:cNvPr id="2643" name="Google Shape;2643;p132"/>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Tr</a:t>
            </a:r>
            <a:r>
              <a:rPr lang="en-GB"/>
              <a:t>ạng thái</a:t>
            </a:r>
            <a:endParaRPr/>
          </a:p>
        </p:txBody>
      </p:sp>
      <p:sp>
        <p:nvSpPr>
          <p:cNvPr id="2644" name="Google Shape;2644;p132"/>
          <p:cNvSpPr txBox="1"/>
          <p:nvPr>
            <p:ph idx="1" type="body"/>
          </p:nvPr>
        </p:nvSpPr>
        <p:spPr>
          <a:xfrm>
            <a:off x="311700" y="950475"/>
            <a:ext cx="8520600" cy="54183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i="1" lang="en-GB"/>
              <a:t>State</a:t>
            </a:r>
            <a:endParaRPr i="1"/>
          </a:p>
          <a:p>
            <a:pPr indent="0" lvl="0" marL="0" rtl="0" algn="just">
              <a:spcBef>
                <a:spcPts val="0"/>
              </a:spcBef>
              <a:spcAft>
                <a:spcPts val="0"/>
              </a:spcAft>
              <a:buNone/>
            </a:pPr>
            <a:r>
              <a:rPr lang="en-GB"/>
              <a:t>Cho phép một đối tượng thay đổi hành vi theo trạng thái của nó. Sau khi thay đổi trạng thái đối tượng có thể giống như thuộc một lớp khác.</a:t>
            </a:r>
            <a:endParaRPr/>
          </a:p>
        </p:txBody>
      </p:sp>
      <p:sp>
        <p:nvSpPr>
          <p:cNvPr id="2645" name="Google Shape;2645;p13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9" name="Shape 2649"/>
        <p:cNvGrpSpPr/>
        <p:nvPr/>
      </p:nvGrpSpPr>
      <p:grpSpPr>
        <a:xfrm>
          <a:off x="0" y="0"/>
          <a:ext cx="0" cy="0"/>
          <a:chOff x="0" y="0"/>
          <a:chExt cx="0" cy="0"/>
        </a:xfrm>
      </p:grpSpPr>
      <p:sp>
        <p:nvSpPr>
          <p:cNvPr id="2650" name="Google Shape;2650;p133"/>
          <p:cNvSpPr/>
          <p:nvPr/>
        </p:nvSpPr>
        <p:spPr>
          <a:xfrm flipH="1" rot="10800000">
            <a:off x="1914695" y="2882898"/>
            <a:ext cx="1960800" cy="504900"/>
          </a:xfrm>
          <a:prstGeom prst="foldedCorner">
            <a:avLst>
              <a:gd fmla="val 25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1" name="Google Shape;2651;p133"/>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Tr</a:t>
            </a:r>
            <a:r>
              <a:rPr lang="en-GB"/>
              <a:t>ạng thái: Cấu trúc</a:t>
            </a:r>
            <a:endParaRPr/>
          </a:p>
        </p:txBody>
      </p:sp>
      <p:sp>
        <p:nvSpPr>
          <p:cNvPr id="2652" name="Google Shape;2652;p13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2653" name="Google Shape;2653;p133"/>
          <p:cNvSpPr/>
          <p:nvPr/>
        </p:nvSpPr>
        <p:spPr>
          <a:xfrm>
            <a:off x="1054445" y="1675225"/>
            <a:ext cx="20430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Thực thể</a:t>
            </a:r>
            <a:endParaRPr sz="1600"/>
          </a:p>
        </p:txBody>
      </p:sp>
      <p:sp>
        <p:nvSpPr>
          <p:cNvPr id="2654" name="Google Shape;2654;p133"/>
          <p:cNvSpPr/>
          <p:nvPr/>
        </p:nvSpPr>
        <p:spPr>
          <a:xfrm>
            <a:off x="1054427" y="1997450"/>
            <a:ext cx="2043000" cy="6627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lang="en-GB" sz="1600"/>
              <a:t>Thiết lập(Trạng thái)</a:t>
            </a:r>
            <a:endParaRPr sz="1600"/>
          </a:p>
          <a:p>
            <a:pPr indent="0" lvl="0" marL="0" rtl="0" algn="l">
              <a:spcBef>
                <a:spcPts val="0"/>
              </a:spcBef>
              <a:spcAft>
                <a:spcPts val="0"/>
              </a:spcAft>
              <a:buNone/>
            </a:pPr>
            <a:r>
              <a:rPr lang="en-GB" sz="1600"/>
              <a:t>Yêu cầu()</a:t>
            </a:r>
            <a:endParaRPr sz="1600"/>
          </a:p>
        </p:txBody>
      </p:sp>
      <p:sp>
        <p:nvSpPr>
          <p:cNvPr id="2655" name="Google Shape;2655;p133"/>
          <p:cNvSpPr/>
          <p:nvPr/>
        </p:nvSpPr>
        <p:spPr>
          <a:xfrm>
            <a:off x="5450583" y="1675225"/>
            <a:ext cx="17148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i="1" lang="en-GB" sz="1600"/>
              <a:t>Trạng thái</a:t>
            </a:r>
            <a:endParaRPr i="1" sz="1600"/>
          </a:p>
        </p:txBody>
      </p:sp>
      <p:sp>
        <p:nvSpPr>
          <p:cNvPr id="2656" name="Google Shape;2656;p133"/>
          <p:cNvSpPr/>
          <p:nvPr/>
        </p:nvSpPr>
        <p:spPr>
          <a:xfrm>
            <a:off x="5450568" y="1997451"/>
            <a:ext cx="1714800" cy="4209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i="1" lang="en-GB" sz="1600"/>
              <a:t>Xử lý</a:t>
            </a:r>
            <a:r>
              <a:rPr i="1" lang="en-GB" sz="1600"/>
              <a:t>()</a:t>
            </a:r>
            <a:endParaRPr i="1" sz="1600"/>
          </a:p>
        </p:txBody>
      </p:sp>
      <p:sp>
        <p:nvSpPr>
          <p:cNvPr id="2657" name="Google Shape;2657;p133"/>
          <p:cNvSpPr/>
          <p:nvPr/>
        </p:nvSpPr>
        <p:spPr>
          <a:xfrm>
            <a:off x="3125262" y="1778159"/>
            <a:ext cx="191700" cy="117050"/>
          </a:xfrm>
          <a:prstGeom prst="flowChartDecision">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658" name="Google Shape;2658;p133"/>
          <p:cNvCxnSpPr>
            <a:stCxn id="2657" idx="3"/>
            <a:endCxn id="2655" idx="1"/>
          </p:cNvCxnSpPr>
          <p:nvPr/>
        </p:nvCxnSpPr>
        <p:spPr>
          <a:xfrm flipH="1" rot="10800000">
            <a:off x="3316962" y="1836384"/>
            <a:ext cx="2133600" cy="300"/>
          </a:xfrm>
          <a:prstGeom prst="straightConnector1">
            <a:avLst/>
          </a:prstGeom>
          <a:noFill/>
          <a:ln cap="flat" cmpd="sng" w="9525">
            <a:solidFill>
              <a:schemeClr val="dk2"/>
            </a:solidFill>
            <a:prstDash val="solid"/>
            <a:round/>
            <a:headEnd len="med" w="med" type="none"/>
            <a:tailEnd len="med" w="med" type="triangle"/>
          </a:ln>
        </p:spPr>
      </p:cxnSp>
      <p:sp>
        <p:nvSpPr>
          <p:cNvPr id="2659" name="Google Shape;2659;p133"/>
          <p:cNvSpPr txBox="1"/>
          <p:nvPr/>
        </p:nvSpPr>
        <p:spPr>
          <a:xfrm>
            <a:off x="1890950" y="2855725"/>
            <a:ext cx="1984500" cy="532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GB"/>
              <a:t>trạng thái-&gt;Xử lý()</a:t>
            </a:r>
            <a:endParaRPr/>
          </a:p>
        </p:txBody>
      </p:sp>
      <p:sp>
        <p:nvSpPr>
          <p:cNvPr id="2660" name="Google Shape;2660;p133"/>
          <p:cNvSpPr/>
          <p:nvPr/>
        </p:nvSpPr>
        <p:spPr>
          <a:xfrm>
            <a:off x="2022717" y="2400905"/>
            <a:ext cx="105300" cy="1047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661" name="Google Shape;2661;p133"/>
          <p:cNvCxnSpPr>
            <a:stCxn id="2660" idx="4"/>
          </p:cNvCxnSpPr>
          <p:nvPr/>
        </p:nvCxnSpPr>
        <p:spPr>
          <a:xfrm>
            <a:off x="2075367" y="2505605"/>
            <a:ext cx="0" cy="364200"/>
          </a:xfrm>
          <a:prstGeom prst="straightConnector1">
            <a:avLst/>
          </a:prstGeom>
          <a:noFill/>
          <a:ln cap="flat" cmpd="sng" w="9525">
            <a:solidFill>
              <a:schemeClr val="dk2"/>
            </a:solidFill>
            <a:prstDash val="dash"/>
            <a:round/>
            <a:headEnd len="med" w="med" type="none"/>
            <a:tailEnd len="med" w="med" type="none"/>
          </a:ln>
        </p:spPr>
      </p:cxnSp>
      <p:sp>
        <p:nvSpPr>
          <p:cNvPr id="2662" name="Google Shape;2662;p133"/>
          <p:cNvSpPr/>
          <p:nvPr/>
        </p:nvSpPr>
        <p:spPr>
          <a:xfrm>
            <a:off x="4308740" y="3123025"/>
            <a:ext cx="17601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Trạng thái A</a:t>
            </a:r>
            <a:endParaRPr sz="1600"/>
          </a:p>
        </p:txBody>
      </p:sp>
      <p:sp>
        <p:nvSpPr>
          <p:cNvPr id="2663" name="Google Shape;2663;p133"/>
          <p:cNvSpPr/>
          <p:nvPr/>
        </p:nvSpPr>
        <p:spPr>
          <a:xfrm>
            <a:off x="4308725" y="3445250"/>
            <a:ext cx="1760100" cy="4209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lang="en-GB" sz="1600"/>
              <a:t>Xử lý</a:t>
            </a:r>
            <a:r>
              <a:rPr lang="en-GB" sz="1600"/>
              <a:t>()</a:t>
            </a:r>
            <a:endParaRPr sz="1600"/>
          </a:p>
        </p:txBody>
      </p:sp>
      <p:sp>
        <p:nvSpPr>
          <p:cNvPr id="2664" name="Google Shape;2664;p133"/>
          <p:cNvSpPr/>
          <p:nvPr/>
        </p:nvSpPr>
        <p:spPr>
          <a:xfrm>
            <a:off x="6637740" y="3123025"/>
            <a:ext cx="17601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Trạng thái B</a:t>
            </a:r>
            <a:endParaRPr sz="1600"/>
          </a:p>
        </p:txBody>
      </p:sp>
      <p:sp>
        <p:nvSpPr>
          <p:cNvPr id="2665" name="Google Shape;2665;p133"/>
          <p:cNvSpPr/>
          <p:nvPr/>
        </p:nvSpPr>
        <p:spPr>
          <a:xfrm>
            <a:off x="6637725" y="3445250"/>
            <a:ext cx="1760100" cy="4209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lang="en-GB" sz="1600"/>
              <a:t>Xử lý</a:t>
            </a:r>
            <a:r>
              <a:rPr lang="en-GB" sz="1600"/>
              <a:t>()</a:t>
            </a:r>
            <a:endParaRPr sz="1600"/>
          </a:p>
        </p:txBody>
      </p:sp>
      <p:sp>
        <p:nvSpPr>
          <p:cNvPr id="2666" name="Google Shape;2666;p133"/>
          <p:cNvSpPr/>
          <p:nvPr/>
        </p:nvSpPr>
        <p:spPr>
          <a:xfrm>
            <a:off x="6024090" y="2433256"/>
            <a:ext cx="191700" cy="1047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7" name="Google Shape;2667;p133"/>
          <p:cNvSpPr/>
          <p:nvPr/>
        </p:nvSpPr>
        <p:spPr>
          <a:xfrm>
            <a:off x="6405090" y="2433256"/>
            <a:ext cx="191700" cy="1047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668" name="Google Shape;2668;p133"/>
          <p:cNvCxnSpPr>
            <a:stCxn id="2662" idx="0"/>
            <a:endCxn id="2666" idx="3"/>
          </p:cNvCxnSpPr>
          <p:nvPr/>
        </p:nvCxnSpPr>
        <p:spPr>
          <a:xfrm rot="-5400000">
            <a:off x="5361890" y="2364925"/>
            <a:ext cx="585000" cy="931200"/>
          </a:xfrm>
          <a:prstGeom prst="bentConnector3">
            <a:avLst>
              <a:gd fmla="val 50006" name="adj1"/>
            </a:avLst>
          </a:prstGeom>
          <a:noFill/>
          <a:ln cap="flat" cmpd="sng" w="9525">
            <a:solidFill>
              <a:schemeClr val="dk2"/>
            </a:solidFill>
            <a:prstDash val="solid"/>
            <a:round/>
            <a:headEnd len="med" w="med" type="none"/>
            <a:tailEnd len="med" w="med" type="none"/>
          </a:ln>
        </p:spPr>
      </p:cxnSp>
      <p:cxnSp>
        <p:nvCxnSpPr>
          <p:cNvPr id="2669" name="Google Shape;2669;p133"/>
          <p:cNvCxnSpPr>
            <a:stCxn id="2664" idx="0"/>
            <a:endCxn id="2667" idx="3"/>
          </p:cNvCxnSpPr>
          <p:nvPr/>
        </p:nvCxnSpPr>
        <p:spPr>
          <a:xfrm flipH="1" rot="5400000">
            <a:off x="6716790" y="2322025"/>
            <a:ext cx="585000" cy="1017000"/>
          </a:xfrm>
          <a:prstGeom prst="bentConnector3">
            <a:avLst>
              <a:gd fmla="val 50006" name="adj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3" name="Shape 2673"/>
        <p:cNvGrpSpPr/>
        <p:nvPr/>
      </p:nvGrpSpPr>
      <p:grpSpPr>
        <a:xfrm>
          <a:off x="0" y="0"/>
          <a:ext cx="0" cy="0"/>
          <a:chOff x="0" y="0"/>
          <a:chExt cx="0" cy="0"/>
        </a:xfrm>
      </p:grpSpPr>
      <p:sp>
        <p:nvSpPr>
          <p:cNvPr id="2674" name="Google Shape;2674;p134"/>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Trạng thái: </a:t>
            </a:r>
            <a:r>
              <a:rPr lang="en-GB"/>
              <a:t>Hành vi</a:t>
            </a:r>
            <a:endParaRPr/>
          </a:p>
        </p:txBody>
      </p:sp>
      <p:sp>
        <p:nvSpPr>
          <p:cNvPr id="2675" name="Google Shape;2675;p13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2676" name="Google Shape;2676;p134"/>
          <p:cNvSpPr/>
          <p:nvPr/>
        </p:nvSpPr>
        <p:spPr>
          <a:xfrm>
            <a:off x="3152350" y="1293100"/>
            <a:ext cx="10590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u="sng"/>
              <a:t>:</a:t>
            </a:r>
            <a:r>
              <a:rPr lang="en-GB" sz="1600" u="sng"/>
              <a:t>Thực</a:t>
            </a:r>
            <a:r>
              <a:rPr lang="en-GB" sz="1600" u="sng"/>
              <a:t> thể</a:t>
            </a:r>
            <a:endParaRPr sz="1600" u="sng"/>
          </a:p>
        </p:txBody>
      </p:sp>
      <p:cxnSp>
        <p:nvCxnSpPr>
          <p:cNvPr id="2677" name="Google Shape;2677;p134"/>
          <p:cNvCxnSpPr/>
          <p:nvPr/>
        </p:nvCxnSpPr>
        <p:spPr>
          <a:xfrm>
            <a:off x="3670675" y="1615600"/>
            <a:ext cx="0" cy="3464100"/>
          </a:xfrm>
          <a:prstGeom prst="straightConnector1">
            <a:avLst/>
          </a:prstGeom>
          <a:noFill/>
          <a:ln cap="flat" cmpd="sng" w="9525">
            <a:solidFill>
              <a:schemeClr val="dk2"/>
            </a:solidFill>
            <a:prstDash val="dash"/>
            <a:round/>
            <a:headEnd len="med" w="med" type="none"/>
            <a:tailEnd len="med" w="med" type="none"/>
          </a:ln>
        </p:spPr>
      </p:cxnSp>
      <p:sp>
        <p:nvSpPr>
          <p:cNvPr id="2678" name="Google Shape;2678;p134"/>
          <p:cNvSpPr/>
          <p:nvPr/>
        </p:nvSpPr>
        <p:spPr>
          <a:xfrm>
            <a:off x="4662154" y="1293100"/>
            <a:ext cx="15171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u="sng"/>
              <a:t>a</a:t>
            </a:r>
            <a:r>
              <a:rPr lang="en-GB" sz="1600" u="sng"/>
              <a:t>:</a:t>
            </a:r>
            <a:r>
              <a:rPr lang="en-GB" sz="1600" u="sng"/>
              <a:t>Trạng thái A</a:t>
            </a:r>
            <a:endParaRPr sz="1600" u="sng"/>
          </a:p>
        </p:txBody>
      </p:sp>
      <p:cxnSp>
        <p:nvCxnSpPr>
          <p:cNvPr id="2679" name="Google Shape;2679;p134"/>
          <p:cNvCxnSpPr/>
          <p:nvPr/>
        </p:nvCxnSpPr>
        <p:spPr>
          <a:xfrm>
            <a:off x="5423275" y="1615600"/>
            <a:ext cx="0" cy="3464100"/>
          </a:xfrm>
          <a:prstGeom prst="straightConnector1">
            <a:avLst/>
          </a:prstGeom>
          <a:noFill/>
          <a:ln cap="flat" cmpd="sng" w="9525">
            <a:solidFill>
              <a:schemeClr val="dk2"/>
            </a:solidFill>
            <a:prstDash val="dash"/>
            <a:round/>
            <a:headEnd len="med" w="med" type="none"/>
            <a:tailEnd len="med" w="med" type="none"/>
          </a:ln>
        </p:spPr>
      </p:cxnSp>
      <p:sp>
        <p:nvSpPr>
          <p:cNvPr id="2680" name="Google Shape;2680;p134"/>
          <p:cNvSpPr/>
          <p:nvPr/>
        </p:nvSpPr>
        <p:spPr>
          <a:xfrm>
            <a:off x="1684585" y="1293100"/>
            <a:ext cx="9294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u="sng"/>
              <a:t>:Khách</a:t>
            </a:r>
            <a:endParaRPr sz="1600" u="sng"/>
          </a:p>
        </p:txBody>
      </p:sp>
      <p:cxnSp>
        <p:nvCxnSpPr>
          <p:cNvPr id="2681" name="Google Shape;2681;p134"/>
          <p:cNvCxnSpPr/>
          <p:nvPr/>
        </p:nvCxnSpPr>
        <p:spPr>
          <a:xfrm>
            <a:off x="2146675" y="1615600"/>
            <a:ext cx="0" cy="3464100"/>
          </a:xfrm>
          <a:prstGeom prst="straightConnector1">
            <a:avLst/>
          </a:prstGeom>
          <a:noFill/>
          <a:ln cap="flat" cmpd="sng" w="9525">
            <a:solidFill>
              <a:schemeClr val="dk2"/>
            </a:solidFill>
            <a:prstDash val="dash"/>
            <a:round/>
            <a:headEnd len="med" w="med" type="none"/>
            <a:tailEnd len="med" w="med" type="none"/>
          </a:ln>
        </p:spPr>
      </p:cxnSp>
      <p:sp>
        <p:nvSpPr>
          <p:cNvPr id="2682" name="Google Shape;2682;p134"/>
          <p:cNvSpPr/>
          <p:nvPr/>
        </p:nvSpPr>
        <p:spPr>
          <a:xfrm>
            <a:off x="6414754" y="1293100"/>
            <a:ext cx="15171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u="sng"/>
              <a:t>b</a:t>
            </a:r>
            <a:r>
              <a:rPr lang="en-GB" sz="1600" u="sng"/>
              <a:t>:</a:t>
            </a:r>
            <a:r>
              <a:rPr lang="en-GB" sz="1600" u="sng"/>
              <a:t>Trạng thái B</a:t>
            </a:r>
            <a:endParaRPr sz="1600" u="sng"/>
          </a:p>
        </p:txBody>
      </p:sp>
      <p:cxnSp>
        <p:nvCxnSpPr>
          <p:cNvPr id="2683" name="Google Shape;2683;p134"/>
          <p:cNvCxnSpPr/>
          <p:nvPr/>
        </p:nvCxnSpPr>
        <p:spPr>
          <a:xfrm>
            <a:off x="7175875" y="1615600"/>
            <a:ext cx="0" cy="3464100"/>
          </a:xfrm>
          <a:prstGeom prst="straightConnector1">
            <a:avLst/>
          </a:prstGeom>
          <a:noFill/>
          <a:ln cap="flat" cmpd="sng" w="9525">
            <a:solidFill>
              <a:schemeClr val="dk2"/>
            </a:solidFill>
            <a:prstDash val="dash"/>
            <a:round/>
            <a:headEnd len="med" w="med" type="none"/>
            <a:tailEnd len="med" w="med" type="none"/>
          </a:ln>
        </p:spPr>
      </p:cxnSp>
      <p:cxnSp>
        <p:nvCxnSpPr>
          <p:cNvPr id="2684" name="Google Shape;2684;p134"/>
          <p:cNvCxnSpPr/>
          <p:nvPr/>
        </p:nvCxnSpPr>
        <p:spPr>
          <a:xfrm>
            <a:off x="3756350" y="2630150"/>
            <a:ext cx="1564200" cy="0"/>
          </a:xfrm>
          <a:prstGeom prst="straightConnector1">
            <a:avLst/>
          </a:prstGeom>
          <a:noFill/>
          <a:ln cap="flat" cmpd="sng" w="9525">
            <a:solidFill>
              <a:schemeClr val="dk2"/>
            </a:solidFill>
            <a:prstDash val="solid"/>
            <a:round/>
            <a:headEnd len="med" w="med" type="none"/>
            <a:tailEnd len="med" w="med" type="triangle"/>
          </a:ln>
        </p:spPr>
      </p:cxnSp>
      <p:sp>
        <p:nvSpPr>
          <p:cNvPr id="2685" name="Google Shape;2685;p134"/>
          <p:cNvSpPr txBox="1"/>
          <p:nvPr/>
        </p:nvSpPr>
        <p:spPr>
          <a:xfrm>
            <a:off x="4051675" y="2301400"/>
            <a:ext cx="843300" cy="39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X</a:t>
            </a:r>
            <a:r>
              <a:rPr lang="en-GB">
                <a:solidFill>
                  <a:schemeClr val="dk2"/>
                </a:solidFill>
              </a:rPr>
              <a:t>ử lý()</a:t>
            </a:r>
            <a:endParaRPr>
              <a:solidFill>
                <a:schemeClr val="dk2"/>
              </a:solidFill>
            </a:endParaRPr>
          </a:p>
        </p:txBody>
      </p:sp>
      <p:sp>
        <p:nvSpPr>
          <p:cNvPr id="2686" name="Google Shape;2686;p134"/>
          <p:cNvSpPr/>
          <p:nvPr/>
        </p:nvSpPr>
        <p:spPr>
          <a:xfrm>
            <a:off x="3602050" y="1830950"/>
            <a:ext cx="159600" cy="322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87" name="Google Shape;2687;p134"/>
          <p:cNvSpPr/>
          <p:nvPr/>
        </p:nvSpPr>
        <p:spPr>
          <a:xfrm>
            <a:off x="3602050" y="2278181"/>
            <a:ext cx="159600" cy="565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688" name="Google Shape;2688;p134"/>
          <p:cNvCxnSpPr>
            <a:endCxn id="2686" idx="1"/>
          </p:cNvCxnSpPr>
          <p:nvPr/>
        </p:nvCxnSpPr>
        <p:spPr>
          <a:xfrm>
            <a:off x="2146150" y="1992200"/>
            <a:ext cx="1455900" cy="0"/>
          </a:xfrm>
          <a:prstGeom prst="straightConnector1">
            <a:avLst/>
          </a:prstGeom>
          <a:noFill/>
          <a:ln cap="flat" cmpd="sng" w="9525">
            <a:solidFill>
              <a:schemeClr val="dk2"/>
            </a:solidFill>
            <a:prstDash val="solid"/>
            <a:round/>
            <a:headEnd len="med" w="med" type="none"/>
            <a:tailEnd len="med" w="med" type="triangle"/>
          </a:ln>
        </p:spPr>
      </p:cxnSp>
      <p:cxnSp>
        <p:nvCxnSpPr>
          <p:cNvPr id="2689" name="Google Shape;2689;p134"/>
          <p:cNvCxnSpPr/>
          <p:nvPr/>
        </p:nvCxnSpPr>
        <p:spPr>
          <a:xfrm>
            <a:off x="2176125" y="2459400"/>
            <a:ext cx="1425900" cy="0"/>
          </a:xfrm>
          <a:prstGeom prst="straightConnector1">
            <a:avLst/>
          </a:prstGeom>
          <a:noFill/>
          <a:ln cap="flat" cmpd="sng" w="9525">
            <a:solidFill>
              <a:schemeClr val="dk2"/>
            </a:solidFill>
            <a:prstDash val="solid"/>
            <a:round/>
            <a:headEnd len="med" w="med" type="none"/>
            <a:tailEnd len="med" w="med" type="triangle"/>
          </a:ln>
        </p:spPr>
      </p:cxnSp>
      <p:sp>
        <p:nvSpPr>
          <p:cNvPr id="2690" name="Google Shape;2690;p134"/>
          <p:cNvSpPr txBox="1"/>
          <p:nvPr/>
        </p:nvSpPr>
        <p:spPr>
          <a:xfrm>
            <a:off x="2343250" y="1651875"/>
            <a:ext cx="1256400" cy="39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Thiết lập(a)</a:t>
            </a:r>
            <a:endParaRPr>
              <a:solidFill>
                <a:schemeClr val="dk2"/>
              </a:solidFill>
            </a:endParaRPr>
          </a:p>
        </p:txBody>
      </p:sp>
      <p:sp>
        <p:nvSpPr>
          <p:cNvPr id="2691" name="Google Shape;2691;p134"/>
          <p:cNvSpPr txBox="1"/>
          <p:nvPr/>
        </p:nvSpPr>
        <p:spPr>
          <a:xfrm>
            <a:off x="2388175" y="2129025"/>
            <a:ext cx="1059000" cy="39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Yêu</a:t>
            </a:r>
            <a:r>
              <a:rPr lang="en-GB">
                <a:solidFill>
                  <a:schemeClr val="dk2"/>
                </a:solidFill>
              </a:rPr>
              <a:t> cầu()</a:t>
            </a:r>
            <a:endParaRPr>
              <a:solidFill>
                <a:schemeClr val="dk2"/>
              </a:solidFill>
            </a:endParaRPr>
          </a:p>
        </p:txBody>
      </p:sp>
      <p:sp>
        <p:nvSpPr>
          <p:cNvPr id="2692" name="Google Shape;2692;p134"/>
          <p:cNvSpPr/>
          <p:nvPr/>
        </p:nvSpPr>
        <p:spPr>
          <a:xfrm>
            <a:off x="5354650" y="2394300"/>
            <a:ext cx="159600" cy="464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93" name="Google Shape;2693;p134"/>
          <p:cNvSpPr/>
          <p:nvPr/>
        </p:nvSpPr>
        <p:spPr>
          <a:xfrm>
            <a:off x="7107250" y="3872045"/>
            <a:ext cx="159600" cy="322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694" name="Google Shape;2694;p134"/>
          <p:cNvCxnSpPr/>
          <p:nvPr/>
        </p:nvCxnSpPr>
        <p:spPr>
          <a:xfrm>
            <a:off x="3756250" y="3925445"/>
            <a:ext cx="3321300" cy="0"/>
          </a:xfrm>
          <a:prstGeom prst="straightConnector1">
            <a:avLst/>
          </a:prstGeom>
          <a:noFill/>
          <a:ln cap="flat" cmpd="sng" w="9525">
            <a:solidFill>
              <a:schemeClr val="dk2"/>
            </a:solidFill>
            <a:prstDash val="solid"/>
            <a:round/>
            <a:headEnd len="med" w="med" type="none"/>
            <a:tailEnd len="med" w="med" type="triangle"/>
          </a:ln>
        </p:spPr>
      </p:cxnSp>
      <p:sp>
        <p:nvSpPr>
          <p:cNvPr id="2695" name="Google Shape;2695;p134"/>
          <p:cNvSpPr txBox="1"/>
          <p:nvPr/>
        </p:nvSpPr>
        <p:spPr>
          <a:xfrm>
            <a:off x="4051675" y="3520600"/>
            <a:ext cx="843300" cy="39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Xử lý()</a:t>
            </a:r>
            <a:endParaRPr>
              <a:solidFill>
                <a:schemeClr val="dk2"/>
              </a:solidFill>
            </a:endParaRPr>
          </a:p>
        </p:txBody>
      </p:sp>
      <p:sp>
        <p:nvSpPr>
          <p:cNvPr id="2696" name="Google Shape;2696;p134"/>
          <p:cNvSpPr/>
          <p:nvPr/>
        </p:nvSpPr>
        <p:spPr>
          <a:xfrm>
            <a:off x="3602050" y="3050150"/>
            <a:ext cx="159600" cy="322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97" name="Google Shape;2697;p134"/>
          <p:cNvSpPr/>
          <p:nvPr/>
        </p:nvSpPr>
        <p:spPr>
          <a:xfrm>
            <a:off x="3602050" y="3497381"/>
            <a:ext cx="159600" cy="565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698" name="Google Shape;2698;p134"/>
          <p:cNvCxnSpPr>
            <a:endCxn id="2696" idx="1"/>
          </p:cNvCxnSpPr>
          <p:nvPr/>
        </p:nvCxnSpPr>
        <p:spPr>
          <a:xfrm>
            <a:off x="2146150" y="3211400"/>
            <a:ext cx="1455900" cy="0"/>
          </a:xfrm>
          <a:prstGeom prst="straightConnector1">
            <a:avLst/>
          </a:prstGeom>
          <a:noFill/>
          <a:ln cap="flat" cmpd="sng" w="9525">
            <a:solidFill>
              <a:schemeClr val="dk2"/>
            </a:solidFill>
            <a:prstDash val="solid"/>
            <a:round/>
            <a:headEnd len="med" w="med" type="none"/>
            <a:tailEnd len="med" w="med" type="triangle"/>
          </a:ln>
        </p:spPr>
      </p:cxnSp>
      <p:cxnSp>
        <p:nvCxnSpPr>
          <p:cNvPr id="2699" name="Google Shape;2699;p134"/>
          <p:cNvCxnSpPr/>
          <p:nvPr/>
        </p:nvCxnSpPr>
        <p:spPr>
          <a:xfrm>
            <a:off x="2176125" y="3678600"/>
            <a:ext cx="1425900" cy="0"/>
          </a:xfrm>
          <a:prstGeom prst="straightConnector1">
            <a:avLst/>
          </a:prstGeom>
          <a:noFill/>
          <a:ln cap="flat" cmpd="sng" w="9525">
            <a:solidFill>
              <a:schemeClr val="dk2"/>
            </a:solidFill>
            <a:prstDash val="solid"/>
            <a:round/>
            <a:headEnd len="med" w="med" type="none"/>
            <a:tailEnd len="med" w="med" type="triangle"/>
          </a:ln>
        </p:spPr>
      </p:cxnSp>
      <p:sp>
        <p:nvSpPr>
          <p:cNvPr id="2700" name="Google Shape;2700;p134"/>
          <p:cNvSpPr txBox="1"/>
          <p:nvPr/>
        </p:nvSpPr>
        <p:spPr>
          <a:xfrm>
            <a:off x="2343250" y="2871075"/>
            <a:ext cx="1256400" cy="39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Thiết lập(</a:t>
            </a:r>
            <a:r>
              <a:rPr lang="en-GB">
                <a:solidFill>
                  <a:schemeClr val="dk2"/>
                </a:solidFill>
              </a:rPr>
              <a:t>b</a:t>
            </a:r>
            <a:r>
              <a:rPr lang="en-GB">
                <a:solidFill>
                  <a:schemeClr val="dk2"/>
                </a:solidFill>
              </a:rPr>
              <a:t>)</a:t>
            </a:r>
            <a:endParaRPr>
              <a:solidFill>
                <a:schemeClr val="dk2"/>
              </a:solidFill>
            </a:endParaRPr>
          </a:p>
        </p:txBody>
      </p:sp>
      <p:sp>
        <p:nvSpPr>
          <p:cNvPr id="2701" name="Google Shape;2701;p134"/>
          <p:cNvSpPr txBox="1"/>
          <p:nvPr/>
        </p:nvSpPr>
        <p:spPr>
          <a:xfrm>
            <a:off x="2388175" y="3348225"/>
            <a:ext cx="1059000" cy="39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Yêu cầu()</a:t>
            </a:r>
            <a:endParaRPr>
              <a:solidFill>
                <a:schemeClr val="dk2"/>
              </a:solidFill>
            </a:endParaRPr>
          </a:p>
        </p:txBody>
      </p:sp>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5" name="Shape 2705"/>
        <p:cNvGrpSpPr/>
        <p:nvPr/>
      </p:nvGrpSpPr>
      <p:grpSpPr>
        <a:xfrm>
          <a:off x="0" y="0"/>
          <a:ext cx="0" cy="0"/>
          <a:chOff x="0" y="0"/>
          <a:chExt cx="0" cy="0"/>
        </a:xfrm>
      </p:grpSpPr>
      <p:sp>
        <p:nvSpPr>
          <p:cNvPr id="2706" name="Google Shape;2706;p135"/>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Trạng thái: Các hệ quả</a:t>
            </a:r>
            <a:endParaRPr/>
          </a:p>
        </p:txBody>
      </p:sp>
      <p:sp>
        <p:nvSpPr>
          <p:cNvPr id="2707" name="Google Shape;2707;p13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2708" name="Google Shape;2708;p135"/>
          <p:cNvSpPr txBox="1"/>
          <p:nvPr>
            <p:ph idx="1" type="body"/>
          </p:nvPr>
        </p:nvSpPr>
        <p:spPr>
          <a:xfrm>
            <a:off x="311700" y="950475"/>
            <a:ext cx="8520600" cy="54183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Phân tách hành vi theo các trạng thái khác nhau. Các hành vi gắn với một trạng thái cụ thể được đóng gói trong một đối tượng riêng.</a:t>
            </a:r>
            <a:endParaRPr/>
          </a:p>
          <a:p>
            <a:pPr indent="-381000" lvl="0" marL="457200" rtl="0" algn="l">
              <a:spcBef>
                <a:spcPts val="0"/>
              </a:spcBef>
              <a:spcAft>
                <a:spcPts val="0"/>
              </a:spcAft>
              <a:buSzPts val="2400"/>
              <a:buChar char="●"/>
            </a:pPr>
            <a:r>
              <a:rPr lang="en-GB"/>
              <a:t>Cụ thể hóa sự kiện chuyển trạng thái. </a:t>
            </a:r>
            <a:endParaRPr/>
          </a:p>
          <a:p>
            <a:pPr indent="-381000" lvl="0" marL="457200" rtl="0" algn="l">
              <a:spcBef>
                <a:spcPts val="0"/>
              </a:spcBef>
              <a:spcAft>
                <a:spcPts val="0"/>
              </a:spcAft>
              <a:buSzPts val="2400"/>
              <a:buChar char="●"/>
            </a:pPr>
            <a:r>
              <a:rPr lang="en-GB"/>
              <a:t>Các thực thể có thể chia sẻ đối tượng trạng thái, tương tự mẫu thiết kế Lớp hạng ruồi.</a:t>
            </a:r>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2" name="Shape 2712"/>
        <p:cNvGrpSpPr/>
        <p:nvPr/>
      </p:nvGrpSpPr>
      <p:grpSpPr>
        <a:xfrm>
          <a:off x="0" y="0"/>
          <a:ext cx="0" cy="0"/>
          <a:chOff x="0" y="0"/>
          <a:chExt cx="0" cy="0"/>
        </a:xfrm>
      </p:grpSpPr>
      <p:sp>
        <p:nvSpPr>
          <p:cNvPr id="2713" name="Google Shape;2713;p136"/>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23. Kết nối TCP-IP</a:t>
            </a:r>
            <a:endParaRPr/>
          </a:p>
        </p:txBody>
      </p:sp>
      <p:sp>
        <p:nvSpPr>
          <p:cNvPr id="2714" name="Google Shape;2714;p13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2715" name="Google Shape;2715;p136"/>
          <p:cNvSpPr/>
          <p:nvPr/>
        </p:nvSpPr>
        <p:spPr>
          <a:xfrm flipH="1" rot="10800000">
            <a:off x="1914695" y="2618028"/>
            <a:ext cx="1960800" cy="504900"/>
          </a:xfrm>
          <a:prstGeom prst="foldedCorner">
            <a:avLst>
              <a:gd fmla="val 25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6" name="Google Shape;2716;p136"/>
          <p:cNvSpPr/>
          <p:nvPr/>
        </p:nvSpPr>
        <p:spPr>
          <a:xfrm>
            <a:off x="1054445" y="1294225"/>
            <a:ext cx="20430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TCPConnection</a:t>
            </a:r>
            <a:endParaRPr sz="1600"/>
          </a:p>
        </p:txBody>
      </p:sp>
      <p:sp>
        <p:nvSpPr>
          <p:cNvPr id="2717" name="Google Shape;2717;p136"/>
          <p:cNvSpPr/>
          <p:nvPr/>
        </p:nvSpPr>
        <p:spPr>
          <a:xfrm>
            <a:off x="1054425" y="1616450"/>
            <a:ext cx="2043000" cy="8514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lang="en-GB" sz="1600"/>
              <a:t>Open</a:t>
            </a:r>
            <a:r>
              <a:rPr lang="en-GB" sz="1600"/>
              <a:t>(</a:t>
            </a:r>
            <a:r>
              <a:rPr lang="en-GB" sz="1600"/>
              <a:t>TCPState</a:t>
            </a:r>
            <a:r>
              <a:rPr lang="en-GB" sz="1600"/>
              <a:t>)</a:t>
            </a:r>
            <a:endParaRPr sz="1600"/>
          </a:p>
          <a:p>
            <a:pPr indent="0" lvl="0" marL="0" rtl="0" algn="l">
              <a:spcBef>
                <a:spcPts val="0"/>
              </a:spcBef>
              <a:spcAft>
                <a:spcPts val="0"/>
              </a:spcAft>
              <a:buNone/>
            </a:pPr>
            <a:r>
              <a:rPr lang="en-GB" sz="1600"/>
              <a:t>Close</a:t>
            </a:r>
            <a:r>
              <a:rPr lang="en-GB" sz="1600"/>
              <a:t>()</a:t>
            </a:r>
            <a:endParaRPr sz="1600"/>
          </a:p>
          <a:p>
            <a:pPr indent="0" lvl="0" marL="0" rtl="0" algn="l">
              <a:spcBef>
                <a:spcPts val="0"/>
              </a:spcBef>
              <a:spcAft>
                <a:spcPts val="0"/>
              </a:spcAft>
              <a:buNone/>
            </a:pPr>
            <a:r>
              <a:rPr lang="en-GB" sz="1600"/>
              <a:t>Acknowledge()</a:t>
            </a:r>
            <a:endParaRPr sz="1600"/>
          </a:p>
        </p:txBody>
      </p:sp>
      <p:sp>
        <p:nvSpPr>
          <p:cNvPr id="2718" name="Google Shape;2718;p136"/>
          <p:cNvSpPr/>
          <p:nvPr/>
        </p:nvSpPr>
        <p:spPr>
          <a:xfrm>
            <a:off x="5298183" y="1294225"/>
            <a:ext cx="17148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i="1" lang="en-GB" sz="1600"/>
              <a:t>TCPState</a:t>
            </a:r>
            <a:endParaRPr i="1" sz="1600"/>
          </a:p>
        </p:txBody>
      </p:sp>
      <p:sp>
        <p:nvSpPr>
          <p:cNvPr id="2719" name="Google Shape;2719;p136"/>
          <p:cNvSpPr/>
          <p:nvPr/>
        </p:nvSpPr>
        <p:spPr>
          <a:xfrm>
            <a:off x="5298175" y="1616449"/>
            <a:ext cx="1714800" cy="8514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i="1" lang="en-GB" sz="1600"/>
              <a:t>Open</a:t>
            </a:r>
            <a:r>
              <a:rPr i="1" lang="en-GB" sz="1600"/>
              <a:t>()</a:t>
            </a:r>
            <a:endParaRPr i="1" sz="1600"/>
          </a:p>
          <a:p>
            <a:pPr indent="0" lvl="0" marL="0" rtl="0" algn="l">
              <a:spcBef>
                <a:spcPts val="0"/>
              </a:spcBef>
              <a:spcAft>
                <a:spcPts val="0"/>
              </a:spcAft>
              <a:buNone/>
            </a:pPr>
            <a:r>
              <a:rPr i="1" lang="en-GB" sz="1600"/>
              <a:t>Close()</a:t>
            </a:r>
            <a:endParaRPr i="1" sz="1600"/>
          </a:p>
          <a:p>
            <a:pPr indent="0" lvl="0" marL="0" rtl="0" algn="l">
              <a:spcBef>
                <a:spcPts val="0"/>
              </a:spcBef>
              <a:spcAft>
                <a:spcPts val="0"/>
              </a:spcAft>
              <a:buNone/>
            </a:pPr>
            <a:r>
              <a:rPr i="1" lang="en-GB" sz="1600"/>
              <a:t>Acknowledge()</a:t>
            </a:r>
            <a:endParaRPr i="1" sz="1600"/>
          </a:p>
        </p:txBody>
      </p:sp>
      <p:sp>
        <p:nvSpPr>
          <p:cNvPr id="2720" name="Google Shape;2720;p136"/>
          <p:cNvSpPr/>
          <p:nvPr/>
        </p:nvSpPr>
        <p:spPr>
          <a:xfrm>
            <a:off x="3125262" y="1397159"/>
            <a:ext cx="191700" cy="117050"/>
          </a:xfrm>
          <a:prstGeom prst="flowChartDecision">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721" name="Google Shape;2721;p136"/>
          <p:cNvCxnSpPr>
            <a:stCxn id="2720" idx="3"/>
            <a:endCxn id="2718" idx="1"/>
          </p:cNvCxnSpPr>
          <p:nvPr/>
        </p:nvCxnSpPr>
        <p:spPr>
          <a:xfrm flipH="1" rot="10800000">
            <a:off x="3316962" y="1455384"/>
            <a:ext cx="1981200" cy="300"/>
          </a:xfrm>
          <a:prstGeom prst="straightConnector1">
            <a:avLst/>
          </a:prstGeom>
          <a:noFill/>
          <a:ln cap="flat" cmpd="sng" w="9525">
            <a:solidFill>
              <a:schemeClr val="dk2"/>
            </a:solidFill>
            <a:prstDash val="solid"/>
            <a:round/>
            <a:headEnd len="med" w="med" type="none"/>
            <a:tailEnd len="med" w="med" type="triangle"/>
          </a:ln>
        </p:spPr>
      </p:cxnSp>
      <p:sp>
        <p:nvSpPr>
          <p:cNvPr id="2722" name="Google Shape;2722;p136"/>
          <p:cNvSpPr txBox="1"/>
          <p:nvPr/>
        </p:nvSpPr>
        <p:spPr>
          <a:xfrm>
            <a:off x="1890950" y="2590855"/>
            <a:ext cx="1984500" cy="532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GB"/>
              <a:t>state</a:t>
            </a:r>
            <a:r>
              <a:rPr lang="en-GB"/>
              <a:t>-&gt;</a:t>
            </a:r>
            <a:r>
              <a:rPr lang="en-GB"/>
              <a:t>Open</a:t>
            </a:r>
            <a:r>
              <a:rPr lang="en-GB"/>
              <a:t>()</a:t>
            </a:r>
            <a:endParaRPr/>
          </a:p>
        </p:txBody>
      </p:sp>
      <p:sp>
        <p:nvSpPr>
          <p:cNvPr id="2723" name="Google Shape;2723;p136"/>
          <p:cNvSpPr/>
          <p:nvPr/>
        </p:nvSpPr>
        <p:spPr>
          <a:xfrm>
            <a:off x="2708517" y="1755036"/>
            <a:ext cx="105300" cy="1047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724" name="Google Shape;2724;p136"/>
          <p:cNvCxnSpPr>
            <a:stCxn id="2723" idx="4"/>
          </p:cNvCxnSpPr>
          <p:nvPr/>
        </p:nvCxnSpPr>
        <p:spPr>
          <a:xfrm>
            <a:off x="2761167" y="1859736"/>
            <a:ext cx="0" cy="747900"/>
          </a:xfrm>
          <a:prstGeom prst="straightConnector1">
            <a:avLst/>
          </a:prstGeom>
          <a:noFill/>
          <a:ln cap="flat" cmpd="sng" w="9525">
            <a:solidFill>
              <a:schemeClr val="dk2"/>
            </a:solidFill>
            <a:prstDash val="dash"/>
            <a:round/>
            <a:headEnd len="med" w="med" type="none"/>
            <a:tailEnd len="med" w="med" type="none"/>
          </a:ln>
        </p:spPr>
      </p:cxnSp>
      <p:sp>
        <p:nvSpPr>
          <p:cNvPr id="2725" name="Google Shape;2725;p136"/>
          <p:cNvSpPr/>
          <p:nvPr/>
        </p:nvSpPr>
        <p:spPr>
          <a:xfrm>
            <a:off x="3394340" y="3504025"/>
            <a:ext cx="17601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TCPEstablished</a:t>
            </a:r>
            <a:endParaRPr sz="1600"/>
          </a:p>
        </p:txBody>
      </p:sp>
      <p:sp>
        <p:nvSpPr>
          <p:cNvPr id="2726" name="Google Shape;2726;p136"/>
          <p:cNvSpPr/>
          <p:nvPr/>
        </p:nvSpPr>
        <p:spPr>
          <a:xfrm>
            <a:off x="5266140" y="3504025"/>
            <a:ext cx="17601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TCPListen</a:t>
            </a:r>
            <a:endParaRPr sz="1600"/>
          </a:p>
        </p:txBody>
      </p:sp>
      <p:sp>
        <p:nvSpPr>
          <p:cNvPr id="2727" name="Google Shape;2727;p136"/>
          <p:cNvSpPr/>
          <p:nvPr/>
        </p:nvSpPr>
        <p:spPr>
          <a:xfrm>
            <a:off x="5709307" y="2499474"/>
            <a:ext cx="191700" cy="1047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8" name="Google Shape;2728;p136"/>
          <p:cNvSpPr/>
          <p:nvPr/>
        </p:nvSpPr>
        <p:spPr>
          <a:xfrm>
            <a:off x="6054037" y="2489491"/>
            <a:ext cx="191700" cy="1047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729" name="Google Shape;2729;p136"/>
          <p:cNvCxnSpPr>
            <a:stCxn id="2725" idx="0"/>
            <a:endCxn id="2727" idx="3"/>
          </p:cNvCxnSpPr>
          <p:nvPr/>
        </p:nvCxnSpPr>
        <p:spPr>
          <a:xfrm rot="-5400000">
            <a:off x="4589840" y="2288575"/>
            <a:ext cx="900000" cy="1530900"/>
          </a:xfrm>
          <a:prstGeom prst="bentConnector3">
            <a:avLst>
              <a:gd fmla="val 49992" name="adj1"/>
            </a:avLst>
          </a:prstGeom>
          <a:noFill/>
          <a:ln cap="flat" cmpd="sng" w="9525">
            <a:solidFill>
              <a:schemeClr val="dk2"/>
            </a:solidFill>
            <a:prstDash val="solid"/>
            <a:round/>
            <a:headEnd len="med" w="med" type="none"/>
            <a:tailEnd len="med" w="med" type="none"/>
          </a:ln>
        </p:spPr>
      </p:cxnSp>
      <p:cxnSp>
        <p:nvCxnSpPr>
          <p:cNvPr id="2730" name="Google Shape;2730;p136"/>
          <p:cNvCxnSpPr>
            <a:stCxn id="2726" idx="0"/>
            <a:endCxn id="2728" idx="3"/>
          </p:cNvCxnSpPr>
          <p:nvPr/>
        </p:nvCxnSpPr>
        <p:spPr>
          <a:xfrm rot="-5400000">
            <a:off x="5693040" y="3047275"/>
            <a:ext cx="909900" cy="3600"/>
          </a:xfrm>
          <a:prstGeom prst="bentConnector3">
            <a:avLst>
              <a:gd fmla="val 49996" name="adj1"/>
            </a:avLst>
          </a:prstGeom>
          <a:noFill/>
          <a:ln cap="flat" cmpd="sng" w="9525">
            <a:solidFill>
              <a:schemeClr val="dk2"/>
            </a:solidFill>
            <a:prstDash val="solid"/>
            <a:round/>
            <a:headEnd len="med" w="med" type="none"/>
            <a:tailEnd len="med" w="med" type="none"/>
          </a:ln>
        </p:spPr>
      </p:cxnSp>
      <p:sp>
        <p:nvSpPr>
          <p:cNvPr id="2731" name="Google Shape;2731;p136"/>
          <p:cNvSpPr/>
          <p:nvPr/>
        </p:nvSpPr>
        <p:spPr>
          <a:xfrm>
            <a:off x="7171140" y="3504025"/>
            <a:ext cx="17601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TCP</a:t>
            </a:r>
            <a:r>
              <a:rPr lang="en-GB" sz="1600"/>
              <a:t>Close</a:t>
            </a:r>
            <a:endParaRPr sz="1600"/>
          </a:p>
        </p:txBody>
      </p:sp>
      <p:sp>
        <p:nvSpPr>
          <p:cNvPr id="2732" name="Google Shape;2732;p136"/>
          <p:cNvSpPr/>
          <p:nvPr/>
        </p:nvSpPr>
        <p:spPr>
          <a:xfrm>
            <a:off x="3396651" y="3826250"/>
            <a:ext cx="1760100" cy="8514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lang="en-GB" sz="1600"/>
              <a:t>Open(TCPState)</a:t>
            </a:r>
            <a:endParaRPr sz="1600"/>
          </a:p>
          <a:p>
            <a:pPr indent="0" lvl="0" marL="0" rtl="0" algn="l">
              <a:spcBef>
                <a:spcPts val="0"/>
              </a:spcBef>
              <a:spcAft>
                <a:spcPts val="0"/>
              </a:spcAft>
              <a:buNone/>
            </a:pPr>
            <a:r>
              <a:rPr lang="en-GB" sz="1600"/>
              <a:t>Close()</a:t>
            </a:r>
            <a:endParaRPr sz="1600"/>
          </a:p>
          <a:p>
            <a:pPr indent="0" lvl="0" marL="0" rtl="0" algn="l">
              <a:spcBef>
                <a:spcPts val="0"/>
              </a:spcBef>
              <a:spcAft>
                <a:spcPts val="0"/>
              </a:spcAft>
              <a:buNone/>
            </a:pPr>
            <a:r>
              <a:rPr lang="en-GB" sz="1600"/>
              <a:t>Acknowledge()</a:t>
            </a:r>
            <a:endParaRPr sz="1600"/>
          </a:p>
        </p:txBody>
      </p:sp>
      <p:sp>
        <p:nvSpPr>
          <p:cNvPr id="2733" name="Google Shape;2733;p136"/>
          <p:cNvSpPr/>
          <p:nvPr/>
        </p:nvSpPr>
        <p:spPr>
          <a:xfrm>
            <a:off x="5271704" y="3826250"/>
            <a:ext cx="1760100" cy="8514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lang="en-GB" sz="1600"/>
              <a:t>Open(TCPState)</a:t>
            </a:r>
            <a:endParaRPr sz="1600"/>
          </a:p>
          <a:p>
            <a:pPr indent="0" lvl="0" marL="0" rtl="0" algn="l">
              <a:spcBef>
                <a:spcPts val="0"/>
              </a:spcBef>
              <a:spcAft>
                <a:spcPts val="0"/>
              </a:spcAft>
              <a:buNone/>
            </a:pPr>
            <a:r>
              <a:rPr lang="en-GB" sz="1600"/>
              <a:t>Close()</a:t>
            </a:r>
            <a:endParaRPr sz="1600"/>
          </a:p>
          <a:p>
            <a:pPr indent="0" lvl="0" marL="0" rtl="0" algn="l">
              <a:spcBef>
                <a:spcPts val="0"/>
              </a:spcBef>
              <a:spcAft>
                <a:spcPts val="0"/>
              </a:spcAft>
              <a:buNone/>
            </a:pPr>
            <a:r>
              <a:rPr lang="en-GB" sz="1600"/>
              <a:t>Acknowledge()</a:t>
            </a:r>
            <a:endParaRPr sz="1600"/>
          </a:p>
        </p:txBody>
      </p:sp>
      <p:sp>
        <p:nvSpPr>
          <p:cNvPr id="2734" name="Google Shape;2734;p136"/>
          <p:cNvSpPr/>
          <p:nvPr/>
        </p:nvSpPr>
        <p:spPr>
          <a:xfrm>
            <a:off x="7176704" y="3826250"/>
            <a:ext cx="1760100" cy="8514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lang="en-GB" sz="1600"/>
              <a:t>Open(TCPState)</a:t>
            </a:r>
            <a:endParaRPr sz="1600"/>
          </a:p>
          <a:p>
            <a:pPr indent="0" lvl="0" marL="0" rtl="0" algn="l">
              <a:spcBef>
                <a:spcPts val="0"/>
              </a:spcBef>
              <a:spcAft>
                <a:spcPts val="0"/>
              </a:spcAft>
              <a:buNone/>
            </a:pPr>
            <a:r>
              <a:rPr lang="en-GB" sz="1600"/>
              <a:t>Close()</a:t>
            </a:r>
            <a:endParaRPr sz="1600"/>
          </a:p>
          <a:p>
            <a:pPr indent="0" lvl="0" marL="0" rtl="0" algn="l">
              <a:spcBef>
                <a:spcPts val="0"/>
              </a:spcBef>
              <a:spcAft>
                <a:spcPts val="0"/>
              </a:spcAft>
              <a:buNone/>
            </a:pPr>
            <a:r>
              <a:rPr lang="en-GB" sz="1600"/>
              <a:t>Acknowledge()</a:t>
            </a:r>
            <a:endParaRPr sz="1600"/>
          </a:p>
        </p:txBody>
      </p:sp>
      <p:sp>
        <p:nvSpPr>
          <p:cNvPr id="2735" name="Google Shape;2735;p136"/>
          <p:cNvSpPr/>
          <p:nvPr/>
        </p:nvSpPr>
        <p:spPr>
          <a:xfrm>
            <a:off x="6435037" y="2489491"/>
            <a:ext cx="191700" cy="1047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736" name="Google Shape;2736;p136"/>
          <p:cNvCxnSpPr>
            <a:stCxn id="2735" idx="3"/>
            <a:endCxn id="2731" idx="0"/>
          </p:cNvCxnSpPr>
          <p:nvPr/>
        </p:nvCxnSpPr>
        <p:spPr>
          <a:xfrm flipH="1" rot="-5400000">
            <a:off x="6836137" y="2288941"/>
            <a:ext cx="909900" cy="1520400"/>
          </a:xfrm>
          <a:prstGeom prst="bentConnector3">
            <a:avLst>
              <a:gd fmla="val 49996" name="adj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0" name="Shape 2740"/>
        <p:cNvGrpSpPr/>
        <p:nvPr/>
      </p:nvGrpSpPr>
      <p:grpSpPr>
        <a:xfrm>
          <a:off x="0" y="0"/>
          <a:ext cx="0" cy="0"/>
          <a:chOff x="0" y="0"/>
          <a:chExt cx="0" cy="0"/>
        </a:xfrm>
      </p:grpSpPr>
      <p:sp>
        <p:nvSpPr>
          <p:cNvPr id="2741" name="Google Shape;2741;p137"/>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Chiến thuật</a:t>
            </a:r>
            <a:endParaRPr/>
          </a:p>
        </p:txBody>
      </p:sp>
      <p:sp>
        <p:nvSpPr>
          <p:cNvPr id="2742" name="Google Shape;2742;p137"/>
          <p:cNvSpPr txBox="1"/>
          <p:nvPr>
            <p:ph idx="1" type="body"/>
          </p:nvPr>
        </p:nvSpPr>
        <p:spPr>
          <a:xfrm>
            <a:off x="311700" y="950475"/>
            <a:ext cx="8520600" cy="54183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i="1" lang="en-GB"/>
              <a:t>Strategy</a:t>
            </a:r>
            <a:endParaRPr i="1"/>
          </a:p>
          <a:p>
            <a:pPr indent="0" lvl="0" marL="0" rtl="0" algn="just">
              <a:spcBef>
                <a:spcPts val="0"/>
              </a:spcBef>
              <a:spcAft>
                <a:spcPts val="0"/>
              </a:spcAft>
              <a:buNone/>
            </a:pPr>
            <a:r>
              <a:rPr lang="en-GB"/>
              <a:t>Định nghĩa một cây giải thuật, đóng gói mỗi cái, và làm chúng khả thay. Chiến thuật cho phép giải thuật thay đổi độc lập so với phía sử dụng nó.</a:t>
            </a:r>
            <a:endParaRPr/>
          </a:p>
        </p:txBody>
      </p:sp>
      <p:sp>
        <p:nvSpPr>
          <p:cNvPr id="2743" name="Google Shape;2743;p13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7" name="Shape 2747"/>
        <p:cNvGrpSpPr/>
        <p:nvPr/>
      </p:nvGrpSpPr>
      <p:grpSpPr>
        <a:xfrm>
          <a:off x="0" y="0"/>
          <a:ext cx="0" cy="0"/>
          <a:chOff x="0" y="0"/>
          <a:chExt cx="0" cy="0"/>
        </a:xfrm>
      </p:grpSpPr>
      <p:sp>
        <p:nvSpPr>
          <p:cNvPr id="2748" name="Google Shape;2748;p138"/>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Chiến thuật: Cấu trúc</a:t>
            </a:r>
            <a:endParaRPr/>
          </a:p>
        </p:txBody>
      </p:sp>
      <p:sp>
        <p:nvSpPr>
          <p:cNvPr id="2749" name="Google Shape;2749;p13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2750" name="Google Shape;2750;p138"/>
          <p:cNvSpPr/>
          <p:nvPr/>
        </p:nvSpPr>
        <p:spPr>
          <a:xfrm>
            <a:off x="696815" y="1522825"/>
            <a:ext cx="17148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Ngữ cảnh</a:t>
            </a:r>
            <a:endParaRPr sz="1600"/>
          </a:p>
        </p:txBody>
      </p:sp>
      <p:sp>
        <p:nvSpPr>
          <p:cNvPr id="2751" name="Google Shape;2751;p138"/>
          <p:cNvSpPr/>
          <p:nvPr/>
        </p:nvSpPr>
        <p:spPr>
          <a:xfrm>
            <a:off x="696800" y="1845050"/>
            <a:ext cx="1714800" cy="4209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lang="en-GB" sz="1600"/>
              <a:t>Dịch vụ()</a:t>
            </a:r>
            <a:endParaRPr sz="1600"/>
          </a:p>
        </p:txBody>
      </p:sp>
      <p:sp>
        <p:nvSpPr>
          <p:cNvPr id="2752" name="Google Shape;2752;p138"/>
          <p:cNvSpPr/>
          <p:nvPr/>
        </p:nvSpPr>
        <p:spPr>
          <a:xfrm>
            <a:off x="4764783" y="1522825"/>
            <a:ext cx="17148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i="1" lang="en-GB" sz="1600"/>
              <a:t>Chiến thuật()</a:t>
            </a:r>
            <a:endParaRPr i="1" sz="1600"/>
          </a:p>
        </p:txBody>
      </p:sp>
      <p:sp>
        <p:nvSpPr>
          <p:cNvPr id="2753" name="Google Shape;2753;p138"/>
          <p:cNvSpPr/>
          <p:nvPr/>
        </p:nvSpPr>
        <p:spPr>
          <a:xfrm>
            <a:off x="4764768" y="1845051"/>
            <a:ext cx="1714800" cy="4209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i="1" lang="en-GB" sz="1600"/>
              <a:t>Xử lý</a:t>
            </a:r>
            <a:r>
              <a:rPr i="1" lang="en-GB" sz="1600"/>
              <a:t>()</a:t>
            </a:r>
            <a:endParaRPr i="1" sz="1600"/>
          </a:p>
        </p:txBody>
      </p:sp>
      <p:sp>
        <p:nvSpPr>
          <p:cNvPr id="2754" name="Google Shape;2754;p138"/>
          <p:cNvSpPr/>
          <p:nvPr/>
        </p:nvSpPr>
        <p:spPr>
          <a:xfrm>
            <a:off x="2439462" y="1625759"/>
            <a:ext cx="191700" cy="117050"/>
          </a:xfrm>
          <a:prstGeom prst="flowChartDecision">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755" name="Google Shape;2755;p138"/>
          <p:cNvCxnSpPr>
            <a:stCxn id="2754" idx="3"/>
            <a:endCxn id="2752" idx="1"/>
          </p:cNvCxnSpPr>
          <p:nvPr/>
        </p:nvCxnSpPr>
        <p:spPr>
          <a:xfrm flipH="1" rot="10800000">
            <a:off x="2631162" y="1683984"/>
            <a:ext cx="2133600" cy="300"/>
          </a:xfrm>
          <a:prstGeom prst="straightConnector1">
            <a:avLst/>
          </a:prstGeom>
          <a:noFill/>
          <a:ln cap="flat" cmpd="sng" w="9525">
            <a:solidFill>
              <a:schemeClr val="dk2"/>
            </a:solidFill>
            <a:prstDash val="solid"/>
            <a:round/>
            <a:headEnd len="med" w="med" type="none"/>
            <a:tailEnd len="med" w="med" type="triangle"/>
          </a:ln>
        </p:spPr>
      </p:cxnSp>
      <p:sp>
        <p:nvSpPr>
          <p:cNvPr id="2756" name="Google Shape;2756;p138"/>
          <p:cNvSpPr/>
          <p:nvPr/>
        </p:nvSpPr>
        <p:spPr>
          <a:xfrm>
            <a:off x="2906615" y="3275425"/>
            <a:ext cx="17148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Chiến thuật A</a:t>
            </a:r>
            <a:endParaRPr sz="1600"/>
          </a:p>
        </p:txBody>
      </p:sp>
      <p:sp>
        <p:nvSpPr>
          <p:cNvPr id="2757" name="Google Shape;2757;p138"/>
          <p:cNvSpPr/>
          <p:nvPr/>
        </p:nvSpPr>
        <p:spPr>
          <a:xfrm>
            <a:off x="2906600" y="3597651"/>
            <a:ext cx="1714800" cy="4209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lang="en-GB" sz="1600"/>
              <a:t>Xử lý</a:t>
            </a:r>
            <a:r>
              <a:rPr lang="en-GB" sz="1600"/>
              <a:t>()</a:t>
            </a:r>
            <a:endParaRPr sz="1600"/>
          </a:p>
        </p:txBody>
      </p:sp>
      <p:sp>
        <p:nvSpPr>
          <p:cNvPr id="2758" name="Google Shape;2758;p138"/>
          <p:cNvSpPr/>
          <p:nvPr/>
        </p:nvSpPr>
        <p:spPr>
          <a:xfrm>
            <a:off x="6716615" y="3275425"/>
            <a:ext cx="17148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Chiến thuật C</a:t>
            </a:r>
            <a:endParaRPr sz="1600"/>
          </a:p>
        </p:txBody>
      </p:sp>
      <p:sp>
        <p:nvSpPr>
          <p:cNvPr id="2759" name="Google Shape;2759;p138"/>
          <p:cNvSpPr/>
          <p:nvPr/>
        </p:nvSpPr>
        <p:spPr>
          <a:xfrm>
            <a:off x="6716600" y="3597651"/>
            <a:ext cx="1714800" cy="4209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lang="en-GB" sz="1600"/>
              <a:t>Xử lý</a:t>
            </a:r>
            <a:r>
              <a:rPr lang="en-GB" sz="1600"/>
              <a:t>()</a:t>
            </a:r>
            <a:endParaRPr sz="1600"/>
          </a:p>
        </p:txBody>
      </p:sp>
      <p:sp>
        <p:nvSpPr>
          <p:cNvPr id="2760" name="Google Shape;2760;p138"/>
          <p:cNvSpPr/>
          <p:nvPr/>
        </p:nvSpPr>
        <p:spPr>
          <a:xfrm>
            <a:off x="5033490" y="2280856"/>
            <a:ext cx="191700" cy="1047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1" name="Google Shape;2761;p138"/>
          <p:cNvSpPr/>
          <p:nvPr/>
        </p:nvSpPr>
        <p:spPr>
          <a:xfrm>
            <a:off x="6024090" y="2280856"/>
            <a:ext cx="191700" cy="1047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762" name="Google Shape;2762;p138"/>
          <p:cNvCxnSpPr>
            <a:stCxn id="2756" idx="0"/>
            <a:endCxn id="2760" idx="3"/>
          </p:cNvCxnSpPr>
          <p:nvPr/>
        </p:nvCxnSpPr>
        <p:spPr>
          <a:xfrm rot="-5400000">
            <a:off x="4001765" y="2147875"/>
            <a:ext cx="889800" cy="1365300"/>
          </a:xfrm>
          <a:prstGeom prst="bentConnector3">
            <a:avLst>
              <a:gd fmla="val 50004" name="adj1"/>
            </a:avLst>
          </a:prstGeom>
          <a:noFill/>
          <a:ln cap="flat" cmpd="sng" w="9525">
            <a:solidFill>
              <a:schemeClr val="dk2"/>
            </a:solidFill>
            <a:prstDash val="solid"/>
            <a:round/>
            <a:headEnd len="med" w="med" type="none"/>
            <a:tailEnd len="med" w="med" type="none"/>
          </a:ln>
        </p:spPr>
      </p:cxnSp>
      <p:cxnSp>
        <p:nvCxnSpPr>
          <p:cNvPr id="2763" name="Google Shape;2763;p138"/>
          <p:cNvCxnSpPr>
            <a:stCxn id="2758" idx="0"/>
            <a:endCxn id="2761" idx="3"/>
          </p:cNvCxnSpPr>
          <p:nvPr/>
        </p:nvCxnSpPr>
        <p:spPr>
          <a:xfrm flipH="1" rot="5400000">
            <a:off x="6402065" y="2103475"/>
            <a:ext cx="889800" cy="1454100"/>
          </a:xfrm>
          <a:prstGeom prst="bentConnector3">
            <a:avLst>
              <a:gd fmla="val 50004" name="adj1"/>
            </a:avLst>
          </a:prstGeom>
          <a:noFill/>
          <a:ln cap="flat" cmpd="sng" w="9525">
            <a:solidFill>
              <a:schemeClr val="dk2"/>
            </a:solidFill>
            <a:prstDash val="solid"/>
            <a:round/>
            <a:headEnd len="med" w="med" type="none"/>
            <a:tailEnd len="med" w="med" type="none"/>
          </a:ln>
        </p:spPr>
      </p:cxnSp>
      <p:sp>
        <p:nvSpPr>
          <p:cNvPr id="2764" name="Google Shape;2764;p138"/>
          <p:cNvSpPr/>
          <p:nvPr/>
        </p:nvSpPr>
        <p:spPr>
          <a:xfrm>
            <a:off x="4811615" y="3275425"/>
            <a:ext cx="17148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Chiến thuật B</a:t>
            </a:r>
            <a:endParaRPr sz="1600"/>
          </a:p>
        </p:txBody>
      </p:sp>
      <p:sp>
        <p:nvSpPr>
          <p:cNvPr id="2765" name="Google Shape;2765;p138"/>
          <p:cNvSpPr/>
          <p:nvPr/>
        </p:nvSpPr>
        <p:spPr>
          <a:xfrm>
            <a:off x="4811600" y="3597651"/>
            <a:ext cx="1714800" cy="4209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lang="en-GB" sz="1600"/>
              <a:t>Xử lý</a:t>
            </a:r>
            <a:r>
              <a:rPr lang="en-GB" sz="1600"/>
              <a:t>()</a:t>
            </a:r>
            <a:endParaRPr sz="1600"/>
          </a:p>
        </p:txBody>
      </p:sp>
      <p:sp>
        <p:nvSpPr>
          <p:cNvPr id="2766" name="Google Shape;2766;p138"/>
          <p:cNvSpPr/>
          <p:nvPr/>
        </p:nvSpPr>
        <p:spPr>
          <a:xfrm>
            <a:off x="5566890" y="2280856"/>
            <a:ext cx="191700" cy="1047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767" name="Google Shape;2767;p138"/>
          <p:cNvCxnSpPr>
            <a:stCxn id="2764" idx="0"/>
            <a:endCxn id="2766" idx="3"/>
          </p:cNvCxnSpPr>
          <p:nvPr/>
        </p:nvCxnSpPr>
        <p:spPr>
          <a:xfrm rot="10800000">
            <a:off x="5662715" y="2385625"/>
            <a:ext cx="6300" cy="8898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1" name="Shape 2771"/>
        <p:cNvGrpSpPr/>
        <p:nvPr/>
      </p:nvGrpSpPr>
      <p:grpSpPr>
        <a:xfrm>
          <a:off x="0" y="0"/>
          <a:ext cx="0" cy="0"/>
          <a:chOff x="0" y="0"/>
          <a:chExt cx="0" cy="0"/>
        </a:xfrm>
      </p:grpSpPr>
      <p:sp>
        <p:nvSpPr>
          <p:cNvPr id="2772" name="Google Shape;2772;p139"/>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Chiến thuật: </a:t>
            </a:r>
            <a:r>
              <a:rPr lang="en-GB"/>
              <a:t>Hành vi</a:t>
            </a:r>
            <a:endParaRPr/>
          </a:p>
        </p:txBody>
      </p:sp>
      <p:sp>
        <p:nvSpPr>
          <p:cNvPr id="2773" name="Google Shape;2773;p13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2774" name="Google Shape;2774;p139"/>
          <p:cNvSpPr/>
          <p:nvPr/>
        </p:nvSpPr>
        <p:spPr>
          <a:xfrm>
            <a:off x="2237950" y="1293100"/>
            <a:ext cx="10590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u="sng"/>
              <a:t>:</a:t>
            </a:r>
            <a:r>
              <a:rPr lang="en-GB" sz="1600" u="sng"/>
              <a:t>Ngữ cảnh</a:t>
            </a:r>
            <a:endParaRPr sz="1600" u="sng"/>
          </a:p>
        </p:txBody>
      </p:sp>
      <p:cxnSp>
        <p:nvCxnSpPr>
          <p:cNvPr id="2775" name="Google Shape;2775;p139"/>
          <p:cNvCxnSpPr/>
          <p:nvPr/>
        </p:nvCxnSpPr>
        <p:spPr>
          <a:xfrm>
            <a:off x="2756275" y="1615600"/>
            <a:ext cx="0" cy="4266300"/>
          </a:xfrm>
          <a:prstGeom prst="straightConnector1">
            <a:avLst/>
          </a:prstGeom>
          <a:noFill/>
          <a:ln cap="flat" cmpd="sng" w="9525">
            <a:solidFill>
              <a:schemeClr val="dk2"/>
            </a:solidFill>
            <a:prstDash val="dash"/>
            <a:round/>
            <a:headEnd len="med" w="med" type="none"/>
            <a:tailEnd len="med" w="med" type="none"/>
          </a:ln>
        </p:spPr>
      </p:cxnSp>
      <p:sp>
        <p:nvSpPr>
          <p:cNvPr id="2776" name="Google Shape;2776;p139"/>
          <p:cNvSpPr/>
          <p:nvPr/>
        </p:nvSpPr>
        <p:spPr>
          <a:xfrm>
            <a:off x="3747754" y="1293100"/>
            <a:ext cx="15171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u="sng"/>
              <a:t>a:</a:t>
            </a:r>
            <a:r>
              <a:rPr lang="en-GB" sz="1600" u="sng"/>
              <a:t>Chiến thuật A</a:t>
            </a:r>
            <a:endParaRPr sz="1600" u="sng"/>
          </a:p>
        </p:txBody>
      </p:sp>
      <p:cxnSp>
        <p:nvCxnSpPr>
          <p:cNvPr id="2777" name="Google Shape;2777;p139"/>
          <p:cNvCxnSpPr/>
          <p:nvPr/>
        </p:nvCxnSpPr>
        <p:spPr>
          <a:xfrm>
            <a:off x="4508875" y="1615600"/>
            <a:ext cx="0" cy="4266300"/>
          </a:xfrm>
          <a:prstGeom prst="straightConnector1">
            <a:avLst/>
          </a:prstGeom>
          <a:noFill/>
          <a:ln cap="flat" cmpd="sng" w="9525">
            <a:solidFill>
              <a:schemeClr val="dk2"/>
            </a:solidFill>
            <a:prstDash val="dash"/>
            <a:round/>
            <a:headEnd len="med" w="med" type="none"/>
            <a:tailEnd len="med" w="med" type="none"/>
          </a:ln>
        </p:spPr>
      </p:cxnSp>
      <p:sp>
        <p:nvSpPr>
          <p:cNvPr id="2778" name="Google Shape;2778;p139"/>
          <p:cNvSpPr/>
          <p:nvPr/>
        </p:nvSpPr>
        <p:spPr>
          <a:xfrm>
            <a:off x="770185" y="1293100"/>
            <a:ext cx="9294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u="sng"/>
              <a:t>:Khách</a:t>
            </a:r>
            <a:endParaRPr sz="1600" u="sng"/>
          </a:p>
        </p:txBody>
      </p:sp>
      <p:cxnSp>
        <p:nvCxnSpPr>
          <p:cNvPr id="2779" name="Google Shape;2779;p139"/>
          <p:cNvCxnSpPr/>
          <p:nvPr/>
        </p:nvCxnSpPr>
        <p:spPr>
          <a:xfrm>
            <a:off x="1232275" y="1615600"/>
            <a:ext cx="0" cy="4266300"/>
          </a:xfrm>
          <a:prstGeom prst="straightConnector1">
            <a:avLst/>
          </a:prstGeom>
          <a:noFill/>
          <a:ln cap="flat" cmpd="sng" w="9525">
            <a:solidFill>
              <a:schemeClr val="dk2"/>
            </a:solidFill>
            <a:prstDash val="dash"/>
            <a:round/>
            <a:headEnd len="med" w="med" type="none"/>
            <a:tailEnd len="med" w="med" type="none"/>
          </a:ln>
        </p:spPr>
      </p:cxnSp>
      <p:sp>
        <p:nvSpPr>
          <p:cNvPr id="2780" name="Google Shape;2780;p139"/>
          <p:cNvSpPr/>
          <p:nvPr/>
        </p:nvSpPr>
        <p:spPr>
          <a:xfrm>
            <a:off x="5500354" y="1293100"/>
            <a:ext cx="15171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u="sng"/>
              <a:t>b:</a:t>
            </a:r>
            <a:r>
              <a:rPr lang="en-GB" sz="1600" u="sng"/>
              <a:t>Chiến thuật B</a:t>
            </a:r>
            <a:endParaRPr sz="1600" u="sng"/>
          </a:p>
        </p:txBody>
      </p:sp>
      <p:cxnSp>
        <p:nvCxnSpPr>
          <p:cNvPr id="2781" name="Google Shape;2781;p139"/>
          <p:cNvCxnSpPr/>
          <p:nvPr/>
        </p:nvCxnSpPr>
        <p:spPr>
          <a:xfrm>
            <a:off x="6261475" y="1615600"/>
            <a:ext cx="0" cy="4266300"/>
          </a:xfrm>
          <a:prstGeom prst="straightConnector1">
            <a:avLst/>
          </a:prstGeom>
          <a:noFill/>
          <a:ln cap="flat" cmpd="sng" w="9525">
            <a:solidFill>
              <a:schemeClr val="dk2"/>
            </a:solidFill>
            <a:prstDash val="dash"/>
            <a:round/>
            <a:headEnd len="med" w="med" type="none"/>
            <a:tailEnd len="med" w="med" type="none"/>
          </a:ln>
        </p:spPr>
      </p:cxnSp>
      <p:cxnSp>
        <p:nvCxnSpPr>
          <p:cNvPr id="2782" name="Google Shape;2782;p139"/>
          <p:cNvCxnSpPr/>
          <p:nvPr/>
        </p:nvCxnSpPr>
        <p:spPr>
          <a:xfrm>
            <a:off x="2841950" y="2630150"/>
            <a:ext cx="1564200" cy="0"/>
          </a:xfrm>
          <a:prstGeom prst="straightConnector1">
            <a:avLst/>
          </a:prstGeom>
          <a:noFill/>
          <a:ln cap="flat" cmpd="sng" w="9525">
            <a:solidFill>
              <a:schemeClr val="dk2"/>
            </a:solidFill>
            <a:prstDash val="solid"/>
            <a:round/>
            <a:headEnd len="med" w="med" type="none"/>
            <a:tailEnd len="med" w="med" type="triangle"/>
          </a:ln>
        </p:spPr>
      </p:cxnSp>
      <p:sp>
        <p:nvSpPr>
          <p:cNvPr id="2783" name="Google Shape;2783;p139"/>
          <p:cNvSpPr txBox="1"/>
          <p:nvPr/>
        </p:nvSpPr>
        <p:spPr>
          <a:xfrm>
            <a:off x="3137275" y="2301400"/>
            <a:ext cx="843300" cy="39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Xử lý()</a:t>
            </a:r>
            <a:endParaRPr>
              <a:solidFill>
                <a:schemeClr val="dk2"/>
              </a:solidFill>
            </a:endParaRPr>
          </a:p>
        </p:txBody>
      </p:sp>
      <p:sp>
        <p:nvSpPr>
          <p:cNvPr id="2784" name="Google Shape;2784;p139"/>
          <p:cNvSpPr/>
          <p:nvPr/>
        </p:nvSpPr>
        <p:spPr>
          <a:xfrm>
            <a:off x="2687650" y="1830950"/>
            <a:ext cx="159600" cy="322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85" name="Google Shape;2785;p139"/>
          <p:cNvSpPr/>
          <p:nvPr/>
        </p:nvSpPr>
        <p:spPr>
          <a:xfrm>
            <a:off x="2687650" y="2278181"/>
            <a:ext cx="159600" cy="565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786" name="Google Shape;2786;p139"/>
          <p:cNvCxnSpPr>
            <a:endCxn id="2784" idx="1"/>
          </p:cNvCxnSpPr>
          <p:nvPr/>
        </p:nvCxnSpPr>
        <p:spPr>
          <a:xfrm>
            <a:off x="1231750" y="1992200"/>
            <a:ext cx="1455900" cy="0"/>
          </a:xfrm>
          <a:prstGeom prst="straightConnector1">
            <a:avLst/>
          </a:prstGeom>
          <a:noFill/>
          <a:ln cap="flat" cmpd="sng" w="9525">
            <a:solidFill>
              <a:schemeClr val="dk2"/>
            </a:solidFill>
            <a:prstDash val="solid"/>
            <a:round/>
            <a:headEnd len="med" w="med" type="none"/>
            <a:tailEnd len="med" w="med" type="triangle"/>
          </a:ln>
        </p:spPr>
      </p:cxnSp>
      <p:cxnSp>
        <p:nvCxnSpPr>
          <p:cNvPr id="2787" name="Google Shape;2787;p139"/>
          <p:cNvCxnSpPr/>
          <p:nvPr/>
        </p:nvCxnSpPr>
        <p:spPr>
          <a:xfrm>
            <a:off x="1261725" y="2459400"/>
            <a:ext cx="1425900" cy="0"/>
          </a:xfrm>
          <a:prstGeom prst="straightConnector1">
            <a:avLst/>
          </a:prstGeom>
          <a:noFill/>
          <a:ln cap="flat" cmpd="sng" w="9525">
            <a:solidFill>
              <a:schemeClr val="dk2"/>
            </a:solidFill>
            <a:prstDash val="solid"/>
            <a:round/>
            <a:headEnd len="med" w="med" type="none"/>
            <a:tailEnd len="med" w="med" type="triangle"/>
          </a:ln>
        </p:spPr>
      </p:cxnSp>
      <p:sp>
        <p:nvSpPr>
          <p:cNvPr id="2788" name="Google Shape;2788;p139"/>
          <p:cNvSpPr txBox="1"/>
          <p:nvPr/>
        </p:nvSpPr>
        <p:spPr>
          <a:xfrm>
            <a:off x="1428850" y="1651875"/>
            <a:ext cx="1256400" cy="39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Thiết lập(a)</a:t>
            </a:r>
            <a:endParaRPr>
              <a:solidFill>
                <a:schemeClr val="dk2"/>
              </a:solidFill>
            </a:endParaRPr>
          </a:p>
        </p:txBody>
      </p:sp>
      <p:sp>
        <p:nvSpPr>
          <p:cNvPr id="2789" name="Google Shape;2789;p139"/>
          <p:cNvSpPr txBox="1"/>
          <p:nvPr/>
        </p:nvSpPr>
        <p:spPr>
          <a:xfrm>
            <a:off x="1473775" y="2129025"/>
            <a:ext cx="1059000" cy="39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Dịch vụ</a:t>
            </a:r>
            <a:r>
              <a:rPr lang="en-GB">
                <a:solidFill>
                  <a:schemeClr val="dk2"/>
                </a:solidFill>
              </a:rPr>
              <a:t>()</a:t>
            </a:r>
            <a:endParaRPr>
              <a:solidFill>
                <a:schemeClr val="dk2"/>
              </a:solidFill>
            </a:endParaRPr>
          </a:p>
        </p:txBody>
      </p:sp>
      <p:sp>
        <p:nvSpPr>
          <p:cNvPr id="2790" name="Google Shape;2790;p139"/>
          <p:cNvSpPr/>
          <p:nvPr/>
        </p:nvSpPr>
        <p:spPr>
          <a:xfrm>
            <a:off x="4440250" y="2394300"/>
            <a:ext cx="159600" cy="464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91" name="Google Shape;2791;p139"/>
          <p:cNvSpPr/>
          <p:nvPr/>
        </p:nvSpPr>
        <p:spPr>
          <a:xfrm>
            <a:off x="6192850" y="3872045"/>
            <a:ext cx="159600" cy="322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792" name="Google Shape;2792;p139"/>
          <p:cNvCxnSpPr/>
          <p:nvPr/>
        </p:nvCxnSpPr>
        <p:spPr>
          <a:xfrm>
            <a:off x="2841850" y="3925445"/>
            <a:ext cx="3321300" cy="0"/>
          </a:xfrm>
          <a:prstGeom prst="straightConnector1">
            <a:avLst/>
          </a:prstGeom>
          <a:noFill/>
          <a:ln cap="flat" cmpd="sng" w="9525">
            <a:solidFill>
              <a:schemeClr val="dk2"/>
            </a:solidFill>
            <a:prstDash val="solid"/>
            <a:round/>
            <a:headEnd len="med" w="med" type="none"/>
            <a:tailEnd len="med" w="med" type="triangle"/>
          </a:ln>
        </p:spPr>
      </p:cxnSp>
      <p:sp>
        <p:nvSpPr>
          <p:cNvPr id="2793" name="Google Shape;2793;p139"/>
          <p:cNvSpPr txBox="1"/>
          <p:nvPr/>
        </p:nvSpPr>
        <p:spPr>
          <a:xfrm>
            <a:off x="3823075" y="3520600"/>
            <a:ext cx="843300" cy="39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Xử lý()</a:t>
            </a:r>
            <a:endParaRPr>
              <a:solidFill>
                <a:schemeClr val="dk2"/>
              </a:solidFill>
            </a:endParaRPr>
          </a:p>
        </p:txBody>
      </p:sp>
      <p:sp>
        <p:nvSpPr>
          <p:cNvPr id="2794" name="Google Shape;2794;p139"/>
          <p:cNvSpPr/>
          <p:nvPr/>
        </p:nvSpPr>
        <p:spPr>
          <a:xfrm>
            <a:off x="2687650" y="3050150"/>
            <a:ext cx="159600" cy="322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95" name="Google Shape;2795;p139"/>
          <p:cNvSpPr/>
          <p:nvPr/>
        </p:nvSpPr>
        <p:spPr>
          <a:xfrm>
            <a:off x="2687650" y="3497381"/>
            <a:ext cx="159600" cy="565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796" name="Google Shape;2796;p139"/>
          <p:cNvCxnSpPr>
            <a:endCxn id="2794" idx="1"/>
          </p:cNvCxnSpPr>
          <p:nvPr/>
        </p:nvCxnSpPr>
        <p:spPr>
          <a:xfrm>
            <a:off x="1231750" y="3211400"/>
            <a:ext cx="1455900" cy="0"/>
          </a:xfrm>
          <a:prstGeom prst="straightConnector1">
            <a:avLst/>
          </a:prstGeom>
          <a:noFill/>
          <a:ln cap="flat" cmpd="sng" w="9525">
            <a:solidFill>
              <a:schemeClr val="dk2"/>
            </a:solidFill>
            <a:prstDash val="solid"/>
            <a:round/>
            <a:headEnd len="med" w="med" type="none"/>
            <a:tailEnd len="med" w="med" type="triangle"/>
          </a:ln>
        </p:spPr>
      </p:cxnSp>
      <p:cxnSp>
        <p:nvCxnSpPr>
          <p:cNvPr id="2797" name="Google Shape;2797;p139"/>
          <p:cNvCxnSpPr/>
          <p:nvPr/>
        </p:nvCxnSpPr>
        <p:spPr>
          <a:xfrm>
            <a:off x="1261725" y="3678600"/>
            <a:ext cx="1425900" cy="0"/>
          </a:xfrm>
          <a:prstGeom prst="straightConnector1">
            <a:avLst/>
          </a:prstGeom>
          <a:noFill/>
          <a:ln cap="flat" cmpd="sng" w="9525">
            <a:solidFill>
              <a:schemeClr val="dk2"/>
            </a:solidFill>
            <a:prstDash val="solid"/>
            <a:round/>
            <a:headEnd len="med" w="med" type="none"/>
            <a:tailEnd len="med" w="med" type="triangle"/>
          </a:ln>
        </p:spPr>
      </p:cxnSp>
      <p:sp>
        <p:nvSpPr>
          <p:cNvPr id="2798" name="Google Shape;2798;p139"/>
          <p:cNvSpPr txBox="1"/>
          <p:nvPr/>
        </p:nvSpPr>
        <p:spPr>
          <a:xfrm>
            <a:off x="1428850" y="2871075"/>
            <a:ext cx="1256400" cy="39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Thiết lập(b)</a:t>
            </a:r>
            <a:endParaRPr>
              <a:solidFill>
                <a:schemeClr val="dk2"/>
              </a:solidFill>
            </a:endParaRPr>
          </a:p>
        </p:txBody>
      </p:sp>
      <p:sp>
        <p:nvSpPr>
          <p:cNvPr id="2799" name="Google Shape;2799;p139"/>
          <p:cNvSpPr txBox="1"/>
          <p:nvPr/>
        </p:nvSpPr>
        <p:spPr>
          <a:xfrm>
            <a:off x="1473775" y="3348225"/>
            <a:ext cx="1059000" cy="39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Dịch vụ</a:t>
            </a:r>
            <a:r>
              <a:rPr lang="en-GB">
                <a:solidFill>
                  <a:schemeClr val="dk2"/>
                </a:solidFill>
              </a:rPr>
              <a:t>()</a:t>
            </a:r>
            <a:endParaRPr>
              <a:solidFill>
                <a:schemeClr val="dk2"/>
              </a:solidFill>
            </a:endParaRPr>
          </a:p>
        </p:txBody>
      </p:sp>
      <p:sp>
        <p:nvSpPr>
          <p:cNvPr id="2800" name="Google Shape;2800;p139"/>
          <p:cNvSpPr/>
          <p:nvPr/>
        </p:nvSpPr>
        <p:spPr>
          <a:xfrm>
            <a:off x="7329154" y="1293100"/>
            <a:ext cx="15171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u="sng"/>
              <a:t>c</a:t>
            </a:r>
            <a:r>
              <a:rPr lang="en-GB" sz="1600" u="sng"/>
              <a:t>:Chiến thuật </a:t>
            </a:r>
            <a:r>
              <a:rPr lang="en-GB" sz="1600" u="sng"/>
              <a:t>C</a:t>
            </a:r>
            <a:endParaRPr sz="1600" u="sng"/>
          </a:p>
        </p:txBody>
      </p:sp>
      <p:cxnSp>
        <p:nvCxnSpPr>
          <p:cNvPr id="2801" name="Google Shape;2801;p139"/>
          <p:cNvCxnSpPr/>
          <p:nvPr/>
        </p:nvCxnSpPr>
        <p:spPr>
          <a:xfrm>
            <a:off x="8090275" y="1615600"/>
            <a:ext cx="0" cy="4266300"/>
          </a:xfrm>
          <a:prstGeom prst="straightConnector1">
            <a:avLst/>
          </a:prstGeom>
          <a:noFill/>
          <a:ln cap="flat" cmpd="sng" w="9525">
            <a:solidFill>
              <a:schemeClr val="dk2"/>
            </a:solidFill>
            <a:prstDash val="dash"/>
            <a:round/>
            <a:headEnd len="med" w="med" type="none"/>
            <a:tailEnd len="med" w="med" type="none"/>
          </a:ln>
        </p:spPr>
      </p:cxnSp>
      <p:sp>
        <p:nvSpPr>
          <p:cNvPr id="2802" name="Google Shape;2802;p139"/>
          <p:cNvSpPr/>
          <p:nvPr/>
        </p:nvSpPr>
        <p:spPr>
          <a:xfrm>
            <a:off x="8021650" y="4938845"/>
            <a:ext cx="159600" cy="322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803" name="Google Shape;2803;p139"/>
          <p:cNvCxnSpPr/>
          <p:nvPr/>
        </p:nvCxnSpPr>
        <p:spPr>
          <a:xfrm>
            <a:off x="2841850" y="5068445"/>
            <a:ext cx="5155200" cy="0"/>
          </a:xfrm>
          <a:prstGeom prst="straightConnector1">
            <a:avLst/>
          </a:prstGeom>
          <a:noFill/>
          <a:ln cap="flat" cmpd="sng" w="9525">
            <a:solidFill>
              <a:schemeClr val="dk2"/>
            </a:solidFill>
            <a:prstDash val="solid"/>
            <a:round/>
            <a:headEnd len="med" w="med" type="none"/>
            <a:tailEnd len="med" w="med" type="triangle"/>
          </a:ln>
        </p:spPr>
      </p:cxnSp>
      <p:sp>
        <p:nvSpPr>
          <p:cNvPr id="2804" name="Google Shape;2804;p139"/>
          <p:cNvSpPr txBox="1"/>
          <p:nvPr/>
        </p:nvSpPr>
        <p:spPr>
          <a:xfrm>
            <a:off x="5042275" y="4663600"/>
            <a:ext cx="843300" cy="39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Xử lý()</a:t>
            </a:r>
            <a:endParaRPr>
              <a:solidFill>
                <a:schemeClr val="dk2"/>
              </a:solidFill>
            </a:endParaRPr>
          </a:p>
        </p:txBody>
      </p:sp>
      <p:sp>
        <p:nvSpPr>
          <p:cNvPr id="2805" name="Google Shape;2805;p139"/>
          <p:cNvSpPr/>
          <p:nvPr/>
        </p:nvSpPr>
        <p:spPr>
          <a:xfrm>
            <a:off x="2687650" y="4193150"/>
            <a:ext cx="159600" cy="322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06" name="Google Shape;2806;p139"/>
          <p:cNvSpPr/>
          <p:nvPr/>
        </p:nvSpPr>
        <p:spPr>
          <a:xfrm>
            <a:off x="2687650" y="4640381"/>
            <a:ext cx="159600" cy="565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807" name="Google Shape;2807;p139"/>
          <p:cNvCxnSpPr>
            <a:endCxn id="2805" idx="1"/>
          </p:cNvCxnSpPr>
          <p:nvPr/>
        </p:nvCxnSpPr>
        <p:spPr>
          <a:xfrm>
            <a:off x="1231750" y="4354400"/>
            <a:ext cx="1455900" cy="0"/>
          </a:xfrm>
          <a:prstGeom prst="straightConnector1">
            <a:avLst/>
          </a:prstGeom>
          <a:noFill/>
          <a:ln cap="flat" cmpd="sng" w="9525">
            <a:solidFill>
              <a:schemeClr val="dk2"/>
            </a:solidFill>
            <a:prstDash val="solid"/>
            <a:round/>
            <a:headEnd len="med" w="med" type="none"/>
            <a:tailEnd len="med" w="med" type="triangle"/>
          </a:ln>
        </p:spPr>
      </p:cxnSp>
      <p:cxnSp>
        <p:nvCxnSpPr>
          <p:cNvPr id="2808" name="Google Shape;2808;p139"/>
          <p:cNvCxnSpPr/>
          <p:nvPr/>
        </p:nvCxnSpPr>
        <p:spPr>
          <a:xfrm>
            <a:off x="1261725" y="4821600"/>
            <a:ext cx="1425900" cy="0"/>
          </a:xfrm>
          <a:prstGeom prst="straightConnector1">
            <a:avLst/>
          </a:prstGeom>
          <a:noFill/>
          <a:ln cap="flat" cmpd="sng" w="9525">
            <a:solidFill>
              <a:schemeClr val="dk2"/>
            </a:solidFill>
            <a:prstDash val="solid"/>
            <a:round/>
            <a:headEnd len="med" w="med" type="none"/>
            <a:tailEnd len="med" w="med" type="triangle"/>
          </a:ln>
        </p:spPr>
      </p:cxnSp>
      <p:sp>
        <p:nvSpPr>
          <p:cNvPr id="2809" name="Google Shape;2809;p139"/>
          <p:cNvSpPr txBox="1"/>
          <p:nvPr/>
        </p:nvSpPr>
        <p:spPr>
          <a:xfrm>
            <a:off x="1428850" y="4014075"/>
            <a:ext cx="1256400" cy="39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Thiết lập(</a:t>
            </a:r>
            <a:r>
              <a:rPr lang="en-GB">
                <a:solidFill>
                  <a:schemeClr val="dk2"/>
                </a:solidFill>
              </a:rPr>
              <a:t>c</a:t>
            </a:r>
            <a:r>
              <a:rPr lang="en-GB">
                <a:solidFill>
                  <a:schemeClr val="dk2"/>
                </a:solidFill>
              </a:rPr>
              <a:t>)</a:t>
            </a:r>
            <a:endParaRPr>
              <a:solidFill>
                <a:schemeClr val="dk2"/>
              </a:solidFill>
            </a:endParaRPr>
          </a:p>
        </p:txBody>
      </p:sp>
      <p:sp>
        <p:nvSpPr>
          <p:cNvPr id="2810" name="Google Shape;2810;p139"/>
          <p:cNvSpPr txBox="1"/>
          <p:nvPr/>
        </p:nvSpPr>
        <p:spPr>
          <a:xfrm>
            <a:off x="1473775" y="4491225"/>
            <a:ext cx="1059000" cy="39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Dịch vụ()</a:t>
            </a:r>
            <a:endParaRPr>
              <a:solidFill>
                <a:schemeClr val="dk2"/>
              </a:solidFill>
            </a:endParaRPr>
          </a:p>
        </p:txBody>
      </p:sp>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4" name="Shape 2814"/>
        <p:cNvGrpSpPr/>
        <p:nvPr/>
      </p:nvGrpSpPr>
      <p:grpSpPr>
        <a:xfrm>
          <a:off x="0" y="0"/>
          <a:ext cx="0" cy="0"/>
          <a:chOff x="0" y="0"/>
          <a:chExt cx="0" cy="0"/>
        </a:xfrm>
      </p:grpSpPr>
      <p:sp>
        <p:nvSpPr>
          <p:cNvPr id="2815" name="Google Shape;2815;p140"/>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Chiến thuật: Các hệ quả</a:t>
            </a:r>
            <a:endParaRPr/>
          </a:p>
        </p:txBody>
      </p:sp>
      <p:sp>
        <p:nvSpPr>
          <p:cNvPr id="2816" name="Google Shape;2816;p14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2817" name="Google Shape;2817;p140"/>
          <p:cNvSpPr txBox="1"/>
          <p:nvPr>
            <p:ph idx="4294967295" type="body"/>
          </p:nvPr>
        </p:nvSpPr>
        <p:spPr>
          <a:xfrm>
            <a:off x="311700" y="950475"/>
            <a:ext cx="8520600" cy="5418300"/>
          </a:xfrm>
          <a:prstGeom prst="rect">
            <a:avLst/>
          </a:prstGeom>
        </p:spPr>
        <p:txBody>
          <a:bodyPr anchorCtr="0" anchor="t" bIns="91425" lIns="91425" spcFirstLastPara="1" rIns="91425" wrap="square" tIns="91425">
            <a:noAutofit/>
          </a:bodyPr>
          <a:lstStyle/>
          <a:p>
            <a:pPr indent="-368300" lvl="0" marL="457200" rtl="0" algn="just">
              <a:spcBef>
                <a:spcPts val="0"/>
              </a:spcBef>
              <a:spcAft>
                <a:spcPts val="0"/>
              </a:spcAft>
              <a:buSzPts val="2200"/>
              <a:buChar char="●"/>
            </a:pPr>
            <a:r>
              <a:rPr lang="en-GB" sz="2200"/>
              <a:t>Cây chiến thuật định nghĩa một hệ thuật toán để tái sử dụng theo ngữ cảnh.</a:t>
            </a:r>
            <a:endParaRPr sz="2200"/>
          </a:p>
          <a:p>
            <a:pPr indent="-368300" lvl="0" marL="457200" rtl="0" algn="just">
              <a:spcBef>
                <a:spcPts val="0"/>
              </a:spcBef>
              <a:spcAft>
                <a:spcPts val="0"/>
              </a:spcAft>
              <a:buSzPts val="2200"/>
              <a:buChar char="●"/>
            </a:pPr>
            <a:r>
              <a:rPr lang="en-GB" sz="2200"/>
              <a:t>Đóng gói thuật toán trong lớp chiến thuật cho phép thay đổi thuật toán độc lập với ngữ cảnh của nó, giúp dễ hiểu và dễ mở rộng hơn.</a:t>
            </a:r>
            <a:endParaRPr sz="2200"/>
          </a:p>
          <a:p>
            <a:pPr indent="-368300" lvl="0" marL="457200" rtl="0" algn="just">
              <a:spcBef>
                <a:spcPts val="0"/>
              </a:spcBef>
              <a:spcAft>
                <a:spcPts val="0"/>
              </a:spcAft>
              <a:buSzPts val="2200"/>
              <a:buChar char="●"/>
            </a:pPr>
            <a:r>
              <a:rPr lang="en-GB" sz="2200"/>
              <a:t>Giúp lược bớt lựa chọn rẽ nhánh. Cho phép cung cấp nhiều triển khai cho một hành vi. Phía khách cần hiểu các chiến thuật để thực hiện lựa chọn phù hợp.</a:t>
            </a:r>
            <a:endParaRPr sz="2200"/>
          </a:p>
          <a:p>
            <a:pPr indent="-368300" lvl="0" marL="457200" rtl="0" algn="just">
              <a:spcBef>
                <a:spcPts val="0"/>
              </a:spcBef>
              <a:spcAft>
                <a:spcPts val="0"/>
              </a:spcAft>
              <a:buSzPts val="2200"/>
              <a:buChar char="●"/>
            </a:pPr>
            <a:r>
              <a:rPr lang="en-GB" sz="2200"/>
              <a:t>Các chiến thuật sử dụng chung một giao diện để </a:t>
            </a:r>
            <a:r>
              <a:rPr lang="en-GB" sz="2200"/>
              <a:t>hành vi</a:t>
            </a:r>
            <a:r>
              <a:rPr lang="en-GB" sz="2200"/>
              <a:t> với ngữ cảnh, vì vậy ngữ cảnh có thể phải cung cấp các tham số dư thừa cho một chiến thuật cụ thể.</a:t>
            </a:r>
            <a:endParaRPr sz="2200"/>
          </a:p>
          <a:p>
            <a:pPr indent="-368300" lvl="0" marL="457200" rtl="0" algn="just">
              <a:spcBef>
                <a:spcPts val="0"/>
              </a:spcBef>
              <a:spcAft>
                <a:spcPts val="0"/>
              </a:spcAft>
              <a:buSzPts val="2200"/>
              <a:buChar char="●"/>
            </a:pPr>
            <a:r>
              <a:rPr lang="en-GB" sz="2200"/>
              <a:t>Làm tăng số lượng đối tượng trong hệ thống, tuy nhiên có thể triển khai các đối tượng không có trạng thái ngoại để chia sẻ, như mẫu thiết kế lớp hạng ruồi.</a:t>
            </a:r>
            <a:endParaRPr sz="2200"/>
          </a:p>
        </p:txBody>
      </p:sp>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1" name="Shape 2821"/>
        <p:cNvGrpSpPr/>
        <p:nvPr/>
      </p:nvGrpSpPr>
      <p:grpSpPr>
        <a:xfrm>
          <a:off x="0" y="0"/>
          <a:ext cx="0" cy="0"/>
          <a:chOff x="0" y="0"/>
          <a:chExt cx="0" cy="0"/>
        </a:xfrm>
      </p:grpSpPr>
      <p:sp>
        <p:nvSpPr>
          <p:cNvPr id="2822" name="Google Shape;2822;p141"/>
          <p:cNvSpPr/>
          <p:nvPr/>
        </p:nvSpPr>
        <p:spPr>
          <a:xfrm flipH="1" rot="10800000">
            <a:off x="1211301" y="2578100"/>
            <a:ext cx="2207100" cy="504900"/>
          </a:xfrm>
          <a:prstGeom prst="foldedCorner">
            <a:avLst>
              <a:gd fmla="val 25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3" name="Google Shape;2823;p141"/>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24. Tách dòng văn bản</a:t>
            </a:r>
            <a:endParaRPr/>
          </a:p>
        </p:txBody>
      </p:sp>
      <p:sp>
        <p:nvSpPr>
          <p:cNvPr id="2824" name="Google Shape;2824;p14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2825" name="Google Shape;2825;p141"/>
          <p:cNvSpPr/>
          <p:nvPr/>
        </p:nvSpPr>
        <p:spPr>
          <a:xfrm>
            <a:off x="696815" y="1522825"/>
            <a:ext cx="17148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Composition</a:t>
            </a:r>
            <a:endParaRPr sz="1600"/>
          </a:p>
        </p:txBody>
      </p:sp>
      <p:sp>
        <p:nvSpPr>
          <p:cNvPr id="2826" name="Google Shape;2826;p141"/>
          <p:cNvSpPr/>
          <p:nvPr/>
        </p:nvSpPr>
        <p:spPr>
          <a:xfrm>
            <a:off x="696800" y="1845050"/>
            <a:ext cx="1714800" cy="5322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lang="en-GB" sz="1600"/>
              <a:t>Format</a:t>
            </a:r>
            <a:r>
              <a:rPr lang="en-GB" sz="1600"/>
              <a:t>()</a:t>
            </a:r>
            <a:endParaRPr sz="1600"/>
          </a:p>
        </p:txBody>
      </p:sp>
      <p:sp>
        <p:nvSpPr>
          <p:cNvPr id="2827" name="Google Shape;2827;p141"/>
          <p:cNvSpPr/>
          <p:nvPr/>
        </p:nvSpPr>
        <p:spPr>
          <a:xfrm>
            <a:off x="4764783" y="1522825"/>
            <a:ext cx="17148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Compositor</a:t>
            </a:r>
            <a:endParaRPr sz="1600"/>
          </a:p>
        </p:txBody>
      </p:sp>
      <p:sp>
        <p:nvSpPr>
          <p:cNvPr id="2828" name="Google Shape;2828;p141"/>
          <p:cNvSpPr/>
          <p:nvPr/>
        </p:nvSpPr>
        <p:spPr>
          <a:xfrm>
            <a:off x="4764768" y="1845051"/>
            <a:ext cx="1714800" cy="4209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lang="en-GB" sz="1600"/>
              <a:t>Compose()</a:t>
            </a:r>
            <a:endParaRPr sz="1600"/>
          </a:p>
        </p:txBody>
      </p:sp>
      <p:sp>
        <p:nvSpPr>
          <p:cNvPr id="2829" name="Google Shape;2829;p141"/>
          <p:cNvSpPr/>
          <p:nvPr/>
        </p:nvSpPr>
        <p:spPr>
          <a:xfrm>
            <a:off x="2439462" y="1625759"/>
            <a:ext cx="191700" cy="117050"/>
          </a:xfrm>
          <a:prstGeom prst="flowChartDecision">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830" name="Google Shape;2830;p141"/>
          <p:cNvCxnSpPr>
            <a:stCxn id="2829" idx="3"/>
            <a:endCxn id="2827" idx="1"/>
          </p:cNvCxnSpPr>
          <p:nvPr/>
        </p:nvCxnSpPr>
        <p:spPr>
          <a:xfrm flipH="1" rot="10800000">
            <a:off x="2631162" y="1683984"/>
            <a:ext cx="2133600" cy="300"/>
          </a:xfrm>
          <a:prstGeom prst="straightConnector1">
            <a:avLst/>
          </a:prstGeom>
          <a:noFill/>
          <a:ln cap="flat" cmpd="sng" w="9525">
            <a:solidFill>
              <a:schemeClr val="dk2"/>
            </a:solidFill>
            <a:prstDash val="solid"/>
            <a:round/>
            <a:headEnd len="med" w="med" type="none"/>
            <a:tailEnd len="med" w="med" type="triangle"/>
          </a:ln>
        </p:spPr>
      </p:cxnSp>
      <p:sp>
        <p:nvSpPr>
          <p:cNvPr id="2831" name="Google Shape;2831;p141"/>
          <p:cNvSpPr txBox="1"/>
          <p:nvPr/>
        </p:nvSpPr>
        <p:spPr>
          <a:xfrm>
            <a:off x="1199591" y="2550925"/>
            <a:ext cx="2242200" cy="532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GB"/>
              <a:t>compositor-&gt;Compose()</a:t>
            </a:r>
            <a:endParaRPr/>
          </a:p>
        </p:txBody>
      </p:sp>
      <p:sp>
        <p:nvSpPr>
          <p:cNvPr id="2832" name="Google Shape;2832;p141"/>
          <p:cNvSpPr/>
          <p:nvPr/>
        </p:nvSpPr>
        <p:spPr>
          <a:xfrm>
            <a:off x="1697952" y="1999940"/>
            <a:ext cx="105300" cy="1047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833" name="Google Shape;2833;p141"/>
          <p:cNvCxnSpPr>
            <a:stCxn id="2832" idx="4"/>
          </p:cNvCxnSpPr>
          <p:nvPr/>
        </p:nvCxnSpPr>
        <p:spPr>
          <a:xfrm>
            <a:off x="1750602" y="2104640"/>
            <a:ext cx="0" cy="468900"/>
          </a:xfrm>
          <a:prstGeom prst="straightConnector1">
            <a:avLst/>
          </a:prstGeom>
          <a:noFill/>
          <a:ln cap="flat" cmpd="sng" w="9525">
            <a:solidFill>
              <a:schemeClr val="dk2"/>
            </a:solidFill>
            <a:prstDash val="dash"/>
            <a:round/>
            <a:headEnd len="med" w="med" type="none"/>
            <a:tailEnd len="med" w="med" type="none"/>
          </a:ln>
        </p:spPr>
      </p:cxnSp>
      <p:sp>
        <p:nvSpPr>
          <p:cNvPr id="2834" name="Google Shape;2834;p141"/>
          <p:cNvSpPr/>
          <p:nvPr/>
        </p:nvSpPr>
        <p:spPr>
          <a:xfrm>
            <a:off x="2631169" y="3275425"/>
            <a:ext cx="19902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SimpleCompositor</a:t>
            </a:r>
            <a:endParaRPr sz="1600"/>
          </a:p>
        </p:txBody>
      </p:sp>
      <p:sp>
        <p:nvSpPr>
          <p:cNvPr id="2835" name="Google Shape;2835;p141"/>
          <p:cNvSpPr/>
          <p:nvPr/>
        </p:nvSpPr>
        <p:spPr>
          <a:xfrm>
            <a:off x="2631152" y="3597650"/>
            <a:ext cx="1990200" cy="4209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lang="en-GB" sz="1600"/>
              <a:t>Compose()</a:t>
            </a:r>
            <a:endParaRPr sz="1600"/>
          </a:p>
        </p:txBody>
      </p:sp>
      <p:sp>
        <p:nvSpPr>
          <p:cNvPr id="2836" name="Google Shape;2836;p141"/>
          <p:cNvSpPr/>
          <p:nvPr/>
        </p:nvSpPr>
        <p:spPr>
          <a:xfrm>
            <a:off x="6716615" y="3275425"/>
            <a:ext cx="17148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ArrayCompositor</a:t>
            </a:r>
            <a:endParaRPr sz="1600"/>
          </a:p>
        </p:txBody>
      </p:sp>
      <p:sp>
        <p:nvSpPr>
          <p:cNvPr id="2837" name="Google Shape;2837;p141"/>
          <p:cNvSpPr/>
          <p:nvPr/>
        </p:nvSpPr>
        <p:spPr>
          <a:xfrm>
            <a:off x="6716600" y="3597651"/>
            <a:ext cx="1714800" cy="4209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lang="en-GB" sz="1600"/>
              <a:t>Compose()</a:t>
            </a:r>
            <a:endParaRPr sz="1600"/>
          </a:p>
        </p:txBody>
      </p:sp>
      <p:sp>
        <p:nvSpPr>
          <p:cNvPr id="2838" name="Google Shape;2838;p141"/>
          <p:cNvSpPr/>
          <p:nvPr/>
        </p:nvSpPr>
        <p:spPr>
          <a:xfrm>
            <a:off x="5033490" y="2280856"/>
            <a:ext cx="191700" cy="1047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9" name="Google Shape;2839;p141"/>
          <p:cNvSpPr/>
          <p:nvPr/>
        </p:nvSpPr>
        <p:spPr>
          <a:xfrm>
            <a:off x="6024090" y="2280856"/>
            <a:ext cx="191700" cy="1047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840" name="Google Shape;2840;p141"/>
          <p:cNvCxnSpPr>
            <a:stCxn id="2834" idx="0"/>
            <a:endCxn id="2838" idx="3"/>
          </p:cNvCxnSpPr>
          <p:nvPr/>
        </p:nvCxnSpPr>
        <p:spPr>
          <a:xfrm rot="-5400000">
            <a:off x="3932869" y="2079025"/>
            <a:ext cx="889800" cy="1503000"/>
          </a:xfrm>
          <a:prstGeom prst="bentConnector3">
            <a:avLst>
              <a:gd fmla="val 50004" name="adj1"/>
            </a:avLst>
          </a:prstGeom>
          <a:noFill/>
          <a:ln cap="flat" cmpd="sng" w="9525">
            <a:solidFill>
              <a:schemeClr val="dk2"/>
            </a:solidFill>
            <a:prstDash val="solid"/>
            <a:round/>
            <a:headEnd len="med" w="med" type="none"/>
            <a:tailEnd len="med" w="med" type="none"/>
          </a:ln>
        </p:spPr>
      </p:cxnSp>
      <p:cxnSp>
        <p:nvCxnSpPr>
          <p:cNvPr id="2841" name="Google Shape;2841;p141"/>
          <p:cNvCxnSpPr>
            <a:stCxn id="2836" idx="0"/>
            <a:endCxn id="2839" idx="3"/>
          </p:cNvCxnSpPr>
          <p:nvPr/>
        </p:nvCxnSpPr>
        <p:spPr>
          <a:xfrm flipH="1" rot="5400000">
            <a:off x="6402065" y="2103475"/>
            <a:ext cx="889800" cy="1454100"/>
          </a:xfrm>
          <a:prstGeom prst="bentConnector3">
            <a:avLst>
              <a:gd fmla="val 50004" name="adj1"/>
            </a:avLst>
          </a:prstGeom>
          <a:noFill/>
          <a:ln cap="flat" cmpd="sng" w="9525">
            <a:solidFill>
              <a:schemeClr val="dk2"/>
            </a:solidFill>
            <a:prstDash val="solid"/>
            <a:round/>
            <a:headEnd len="med" w="med" type="none"/>
            <a:tailEnd len="med" w="med" type="none"/>
          </a:ln>
        </p:spPr>
      </p:cxnSp>
      <p:sp>
        <p:nvSpPr>
          <p:cNvPr id="2842" name="Google Shape;2842;p141"/>
          <p:cNvSpPr/>
          <p:nvPr/>
        </p:nvSpPr>
        <p:spPr>
          <a:xfrm>
            <a:off x="4811615" y="3275425"/>
            <a:ext cx="17148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TeXCompositor</a:t>
            </a:r>
            <a:endParaRPr sz="1600"/>
          </a:p>
        </p:txBody>
      </p:sp>
      <p:sp>
        <p:nvSpPr>
          <p:cNvPr id="2843" name="Google Shape;2843;p141"/>
          <p:cNvSpPr/>
          <p:nvPr/>
        </p:nvSpPr>
        <p:spPr>
          <a:xfrm>
            <a:off x="4811600" y="3597651"/>
            <a:ext cx="1714800" cy="4209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lang="en-GB" sz="1600"/>
              <a:t>Compose()</a:t>
            </a:r>
            <a:endParaRPr sz="1600"/>
          </a:p>
        </p:txBody>
      </p:sp>
      <p:sp>
        <p:nvSpPr>
          <p:cNvPr id="2844" name="Google Shape;2844;p141"/>
          <p:cNvSpPr/>
          <p:nvPr/>
        </p:nvSpPr>
        <p:spPr>
          <a:xfrm>
            <a:off x="5566890" y="2280856"/>
            <a:ext cx="191700" cy="1047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845" name="Google Shape;2845;p141"/>
          <p:cNvCxnSpPr>
            <a:stCxn id="2842" idx="0"/>
            <a:endCxn id="2844" idx="3"/>
          </p:cNvCxnSpPr>
          <p:nvPr/>
        </p:nvCxnSpPr>
        <p:spPr>
          <a:xfrm rot="10800000">
            <a:off x="5662715" y="2385625"/>
            <a:ext cx="6300" cy="8898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9" name="Shape 2849"/>
        <p:cNvGrpSpPr/>
        <p:nvPr/>
      </p:nvGrpSpPr>
      <p:grpSpPr>
        <a:xfrm>
          <a:off x="0" y="0"/>
          <a:ext cx="0" cy="0"/>
          <a:chOff x="0" y="0"/>
          <a:chExt cx="0" cy="0"/>
        </a:xfrm>
      </p:grpSpPr>
      <p:sp>
        <p:nvSpPr>
          <p:cNvPr id="2850" name="Google Shape;2850;p142"/>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Phương thức mẫu</a:t>
            </a:r>
            <a:endParaRPr/>
          </a:p>
        </p:txBody>
      </p:sp>
      <p:sp>
        <p:nvSpPr>
          <p:cNvPr id="2851" name="Google Shape;2851;p142"/>
          <p:cNvSpPr txBox="1"/>
          <p:nvPr>
            <p:ph idx="1" type="body"/>
          </p:nvPr>
        </p:nvSpPr>
        <p:spPr>
          <a:xfrm>
            <a:off x="311700" y="950475"/>
            <a:ext cx="8520600" cy="54183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i="1" lang="en-GB"/>
              <a:t>Template Method</a:t>
            </a:r>
            <a:endParaRPr i="1"/>
          </a:p>
          <a:p>
            <a:pPr indent="0" lvl="0" marL="0" rtl="0" algn="just">
              <a:spcBef>
                <a:spcPts val="0"/>
              </a:spcBef>
              <a:spcAft>
                <a:spcPts val="0"/>
              </a:spcAft>
              <a:buNone/>
            </a:pPr>
            <a:r>
              <a:rPr lang="en-GB"/>
              <a:t>Thiết lập khung giải thuật trong một phương thức, dời một số bước trong đó tới khi triển khai các lớp con. Phương thức mẫu cho phép các lớp con định nghĩa lại các bước cụ thể của một giải thuật mà không thay đổi cấu trúc giải thuật.</a:t>
            </a:r>
            <a:endParaRPr/>
          </a:p>
        </p:txBody>
      </p:sp>
      <p:sp>
        <p:nvSpPr>
          <p:cNvPr id="2852" name="Google Shape;2852;p14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6" name="Shape 2856"/>
        <p:cNvGrpSpPr/>
        <p:nvPr/>
      </p:nvGrpSpPr>
      <p:grpSpPr>
        <a:xfrm>
          <a:off x="0" y="0"/>
          <a:ext cx="0" cy="0"/>
          <a:chOff x="0" y="0"/>
          <a:chExt cx="0" cy="0"/>
        </a:xfrm>
      </p:grpSpPr>
      <p:sp>
        <p:nvSpPr>
          <p:cNvPr id="2857" name="Google Shape;2857;p143"/>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Phương thức mẫu</a:t>
            </a:r>
            <a:r>
              <a:rPr lang="en-GB"/>
              <a:t>: Cấu trúc</a:t>
            </a:r>
            <a:endParaRPr/>
          </a:p>
        </p:txBody>
      </p:sp>
      <p:sp>
        <p:nvSpPr>
          <p:cNvPr id="2858" name="Google Shape;2858;p14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2859" name="Google Shape;2859;p143"/>
          <p:cNvSpPr/>
          <p:nvPr/>
        </p:nvSpPr>
        <p:spPr>
          <a:xfrm>
            <a:off x="2206718" y="1370425"/>
            <a:ext cx="22842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Lóp trừu tượng</a:t>
            </a:r>
            <a:endParaRPr sz="1600"/>
          </a:p>
        </p:txBody>
      </p:sp>
      <p:sp>
        <p:nvSpPr>
          <p:cNvPr id="2860" name="Google Shape;2860;p143"/>
          <p:cNvSpPr/>
          <p:nvPr/>
        </p:nvSpPr>
        <p:spPr>
          <a:xfrm>
            <a:off x="2206700" y="1692650"/>
            <a:ext cx="2284200" cy="8385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lang="en-GB" sz="1600"/>
              <a:t>Phương thức mẫu</a:t>
            </a:r>
            <a:r>
              <a:rPr lang="en-GB" sz="1600"/>
              <a:t>()</a:t>
            </a:r>
            <a:endParaRPr sz="1600"/>
          </a:p>
          <a:p>
            <a:pPr indent="0" lvl="0" marL="0" rtl="0" algn="l">
              <a:spcBef>
                <a:spcPts val="0"/>
              </a:spcBef>
              <a:spcAft>
                <a:spcPts val="0"/>
              </a:spcAft>
              <a:buNone/>
            </a:pPr>
            <a:r>
              <a:rPr i="1" lang="en-GB" sz="1600"/>
              <a:t>Thao tác cơ bản 1</a:t>
            </a:r>
            <a:r>
              <a:rPr i="1" lang="en-GB" sz="1600"/>
              <a:t>()</a:t>
            </a:r>
            <a:endParaRPr i="1" sz="1600"/>
          </a:p>
          <a:p>
            <a:pPr indent="0" lvl="0" marL="0" rtl="0" algn="l">
              <a:spcBef>
                <a:spcPts val="0"/>
              </a:spcBef>
              <a:spcAft>
                <a:spcPts val="0"/>
              </a:spcAft>
              <a:buNone/>
            </a:pPr>
            <a:r>
              <a:rPr i="1" lang="en-GB" sz="1600"/>
              <a:t>Thao tác cơ bản 2</a:t>
            </a:r>
            <a:r>
              <a:rPr i="1" lang="en-GB" sz="1600"/>
              <a:t>()</a:t>
            </a:r>
            <a:endParaRPr i="1" sz="1600"/>
          </a:p>
        </p:txBody>
      </p:sp>
      <p:sp>
        <p:nvSpPr>
          <p:cNvPr id="2861" name="Google Shape;2861;p143"/>
          <p:cNvSpPr/>
          <p:nvPr/>
        </p:nvSpPr>
        <p:spPr>
          <a:xfrm>
            <a:off x="2234960" y="3275425"/>
            <a:ext cx="22842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Triển khai cụ thể</a:t>
            </a:r>
            <a:endParaRPr sz="1600"/>
          </a:p>
        </p:txBody>
      </p:sp>
      <p:sp>
        <p:nvSpPr>
          <p:cNvPr id="2862" name="Google Shape;2862;p143"/>
          <p:cNvSpPr/>
          <p:nvPr/>
        </p:nvSpPr>
        <p:spPr>
          <a:xfrm>
            <a:off x="2234940" y="3597650"/>
            <a:ext cx="2284200" cy="5886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lang="en-GB" sz="1600"/>
              <a:t>Thao tác cơ bản 1</a:t>
            </a:r>
            <a:r>
              <a:rPr lang="en-GB" sz="1600"/>
              <a:t>()</a:t>
            </a:r>
            <a:endParaRPr sz="1600"/>
          </a:p>
          <a:p>
            <a:pPr indent="0" lvl="0" marL="0" rtl="0" algn="l">
              <a:spcBef>
                <a:spcPts val="0"/>
              </a:spcBef>
              <a:spcAft>
                <a:spcPts val="0"/>
              </a:spcAft>
              <a:buNone/>
            </a:pPr>
            <a:r>
              <a:rPr lang="en-GB" sz="1600"/>
              <a:t>Thao tác cơ bản 2</a:t>
            </a:r>
            <a:r>
              <a:rPr lang="en-GB" sz="1600"/>
              <a:t>()</a:t>
            </a:r>
            <a:endParaRPr sz="1600"/>
          </a:p>
        </p:txBody>
      </p:sp>
      <p:sp>
        <p:nvSpPr>
          <p:cNvPr id="2863" name="Google Shape;2863;p143"/>
          <p:cNvSpPr/>
          <p:nvPr/>
        </p:nvSpPr>
        <p:spPr>
          <a:xfrm>
            <a:off x="3281860" y="2550532"/>
            <a:ext cx="191700" cy="1047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864" name="Google Shape;2864;p143"/>
          <p:cNvCxnSpPr>
            <a:stCxn id="2861" idx="0"/>
            <a:endCxn id="2863" idx="3"/>
          </p:cNvCxnSpPr>
          <p:nvPr/>
        </p:nvCxnSpPr>
        <p:spPr>
          <a:xfrm flipH="1" rot="10800000">
            <a:off x="3377060" y="2655325"/>
            <a:ext cx="600" cy="620100"/>
          </a:xfrm>
          <a:prstGeom prst="straightConnector1">
            <a:avLst/>
          </a:prstGeom>
          <a:noFill/>
          <a:ln cap="flat" cmpd="sng" w="9525">
            <a:solidFill>
              <a:schemeClr val="dk2"/>
            </a:solidFill>
            <a:prstDash val="solid"/>
            <a:round/>
            <a:headEnd len="med" w="med" type="none"/>
            <a:tailEnd len="med" w="med" type="none"/>
          </a:ln>
        </p:spPr>
      </p:cxnSp>
      <p:sp>
        <p:nvSpPr>
          <p:cNvPr id="2865" name="Google Shape;2865;p143"/>
          <p:cNvSpPr/>
          <p:nvPr/>
        </p:nvSpPr>
        <p:spPr>
          <a:xfrm flipH="1" rot="10800000">
            <a:off x="5449135" y="1675357"/>
            <a:ext cx="2207100" cy="1158000"/>
          </a:xfrm>
          <a:prstGeom prst="foldedCorner">
            <a:avLst>
              <a:gd fmla="val 25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6" name="Google Shape;2866;p143"/>
          <p:cNvSpPr txBox="1"/>
          <p:nvPr/>
        </p:nvSpPr>
        <p:spPr>
          <a:xfrm>
            <a:off x="5437425" y="1613076"/>
            <a:ext cx="2242200" cy="122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a:t>
            </a:r>
            <a:endParaRPr/>
          </a:p>
          <a:p>
            <a:pPr indent="0" lvl="0" marL="0" rtl="0" algn="l">
              <a:spcBef>
                <a:spcPts val="0"/>
              </a:spcBef>
              <a:spcAft>
                <a:spcPts val="0"/>
              </a:spcAft>
              <a:buNone/>
            </a:pPr>
            <a:r>
              <a:rPr lang="en-GB"/>
              <a:t>ThaoTácCơBản1</a:t>
            </a:r>
            <a:r>
              <a:rPr lang="en-GB"/>
              <a:t>()</a:t>
            </a:r>
            <a:endParaRPr/>
          </a:p>
          <a:p>
            <a:pPr indent="0" lvl="0" marL="0" rtl="0" algn="l">
              <a:spcBef>
                <a:spcPts val="0"/>
              </a:spcBef>
              <a:spcAft>
                <a:spcPts val="0"/>
              </a:spcAft>
              <a:buNone/>
            </a:pPr>
            <a:r>
              <a:rPr lang="en-GB"/>
              <a:t>…</a:t>
            </a:r>
            <a:endParaRPr/>
          </a:p>
          <a:p>
            <a:pPr indent="0" lvl="0" marL="0" rtl="0" algn="l">
              <a:spcBef>
                <a:spcPts val="0"/>
              </a:spcBef>
              <a:spcAft>
                <a:spcPts val="0"/>
              </a:spcAft>
              <a:buNone/>
            </a:pPr>
            <a:r>
              <a:rPr lang="en-GB">
                <a:solidFill>
                  <a:schemeClr val="dk1"/>
                </a:solidFill>
              </a:rPr>
              <a:t>ThaoTácCơBản2</a:t>
            </a:r>
            <a:r>
              <a:rPr lang="en-GB"/>
              <a:t>()</a:t>
            </a:r>
            <a:endParaRPr/>
          </a:p>
          <a:p>
            <a:pPr indent="0" lvl="0" marL="0" rtl="0" algn="l">
              <a:spcBef>
                <a:spcPts val="0"/>
              </a:spcBef>
              <a:spcAft>
                <a:spcPts val="0"/>
              </a:spcAft>
              <a:buNone/>
            </a:pPr>
            <a:r>
              <a:rPr lang="en-GB"/>
              <a:t>…</a:t>
            </a:r>
            <a:endParaRPr/>
          </a:p>
        </p:txBody>
      </p:sp>
      <p:sp>
        <p:nvSpPr>
          <p:cNvPr id="2867" name="Google Shape;2867;p143"/>
          <p:cNvSpPr/>
          <p:nvPr/>
        </p:nvSpPr>
        <p:spPr>
          <a:xfrm>
            <a:off x="4106984" y="1824124"/>
            <a:ext cx="105300" cy="1047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868" name="Google Shape;2868;p143"/>
          <p:cNvCxnSpPr/>
          <p:nvPr/>
        </p:nvCxnSpPr>
        <p:spPr>
          <a:xfrm>
            <a:off x="4517084" y="1876474"/>
            <a:ext cx="927300" cy="0"/>
          </a:xfrm>
          <a:prstGeom prst="straightConnector1">
            <a:avLst/>
          </a:prstGeom>
          <a:noFill/>
          <a:ln cap="flat" cmpd="sng" w="9525">
            <a:solidFill>
              <a:schemeClr val="dk2"/>
            </a:solidFill>
            <a:prstDash val="dash"/>
            <a:round/>
            <a:headEnd len="med" w="med" type="none"/>
            <a:tailEnd len="med" w="med" type="none"/>
          </a:ln>
        </p:spPr>
      </p:cxnSp>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2" name="Shape 2872"/>
        <p:cNvGrpSpPr/>
        <p:nvPr/>
      </p:nvGrpSpPr>
      <p:grpSpPr>
        <a:xfrm>
          <a:off x="0" y="0"/>
          <a:ext cx="0" cy="0"/>
          <a:chOff x="0" y="0"/>
          <a:chExt cx="0" cy="0"/>
        </a:xfrm>
      </p:grpSpPr>
      <p:sp>
        <p:nvSpPr>
          <p:cNvPr id="2873" name="Google Shape;2873;p144"/>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Phương thức mẫu</a:t>
            </a:r>
            <a:r>
              <a:rPr lang="en-GB"/>
              <a:t>: Hành vi</a:t>
            </a:r>
            <a:endParaRPr/>
          </a:p>
        </p:txBody>
      </p:sp>
      <p:sp>
        <p:nvSpPr>
          <p:cNvPr id="2874" name="Google Shape;2874;p14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2875" name="Google Shape;2875;p144"/>
          <p:cNvSpPr/>
          <p:nvPr/>
        </p:nvSpPr>
        <p:spPr>
          <a:xfrm>
            <a:off x="3006550" y="1064500"/>
            <a:ext cx="17820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u="sng"/>
              <a:t>:</a:t>
            </a:r>
            <a:r>
              <a:rPr lang="en-GB" sz="1600" u="sng"/>
              <a:t>Triển khai cụ thể</a:t>
            </a:r>
            <a:endParaRPr sz="1600" u="sng"/>
          </a:p>
        </p:txBody>
      </p:sp>
      <p:cxnSp>
        <p:nvCxnSpPr>
          <p:cNvPr id="2876" name="Google Shape;2876;p144"/>
          <p:cNvCxnSpPr/>
          <p:nvPr/>
        </p:nvCxnSpPr>
        <p:spPr>
          <a:xfrm>
            <a:off x="3899275" y="1387000"/>
            <a:ext cx="0" cy="2987400"/>
          </a:xfrm>
          <a:prstGeom prst="straightConnector1">
            <a:avLst/>
          </a:prstGeom>
          <a:noFill/>
          <a:ln cap="flat" cmpd="sng" w="9525">
            <a:solidFill>
              <a:schemeClr val="dk2"/>
            </a:solidFill>
            <a:prstDash val="dash"/>
            <a:round/>
            <a:headEnd len="med" w="med" type="none"/>
            <a:tailEnd len="med" w="med" type="none"/>
          </a:ln>
        </p:spPr>
      </p:cxnSp>
      <p:sp>
        <p:nvSpPr>
          <p:cNvPr id="2877" name="Google Shape;2877;p144"/>
          <p:cNvSpPr/>
          <p:nvPr/>
        </p:nvSpPr>
        <p:spPr>
          <a:xfrm>
            <a:off x="3830650" y="1754750"/>
            <a:ext cx="159600" cy="1731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78" name="Google Shape;2878;p144"/>
          <p:cNvSpPr txBox="1"/>
          <p:nvPr/>
        </p:nvSpPr>
        <p:spPr>
          <a:xfrm>
            <a:off x="1942200" y="1423275"/>
            <a:ext cx="2006400" cy="39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Phương thức mẫu</a:t>
            </a:r>
            <a:r>
              <a:rPr lang="en-GB">
                <a:solidFill>
                  <a:schemeClr val="dk2"/>
                </a:solidFill>
              </a:rPr>
              <a:t>()</a:t>
            </a:r>
            <a:endParaRPr>
              <a:solidFill>
                <a:schemeClr val="dk2"/>
              </a:solidFill>
            </a:endParaRPr>
          </a:p>
        </p:txBody>
      </p:sp>
      <p:sp>
        <p:nvSpPr>
          <p:cNvPr id="2879" name="Google Shape;2879;p144"/>
          <p:cNvSpPr/>
          <p:nvPr/>
        </p:nvSpPr>
        <p:spPr>
          <a:xfrm>
            <a:off x="1902265" y="1808900"/>
            <a:ext cx="129900" cy="1299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880" name="Google Shape;2880;p144"/>
          <p:cNvCxnSpPr>
            <a:stCxn id="2879" idx="6"/>
          </p:cNvCxnSpPr>
          <p:nvPr/>
        </p:nvCxnSpPr>
        <p:spPr>
          <a:xfrm>
            <a:off x="2032165" y="1873850"/>
            <a:ext cx="1782000" cy="0"/>
          </a:xfrm>
          <a:prstGeom prst="straightConnector1">
            <a:avLst/>
          </a:prstGeom>
          <a:noFill/>
          <a:ln cap="flat" cmpd="sng" w="9525">
            <a:solidFill>
              <a:schemeClr val="dk2"/>
            </a:solidFill>
            <a:prstDash val="solid"/>
            <a:round/>
            <a:headEnd len="med" w="med" type="none"/>
            <a:tailEnd len="med" w="med" type="triangle"/>
          </a:ln>
        </p:spPr>
      </p:cxnSp>
      <p:sp>
        <p:nvSpPr>
          <p:cNvPr id="2881" name="Google Shape;2881;p144"/>
          <p:cNvSpPr/>
          <p:nvPr/>
        </p:nvSpPr>
        <p:spPr>
          <a:xfrm>
            <a:off x="3990250" y="2170350"/>
            <a:ext cx="159600" cy="322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82" name="Google Shape;2882;p144"/>
          <p:cNvSpPr/>
          <p:nvPr/>
        </p:nvSpPr>
        <p:spPr>
          <a:xfrm>
            <a:off x="3990250" y="2856150"/>
            <a:ext cx="159600" cy="322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83" name="Google Shape;2883;p144"/>
          <p:cNvSpPr/>
          <p:nvPr/>
        </p:nvSpPr>
        <p:spPr>
          <a:xfrm>
            <a:off x="3954020" y="1868800"/>
            <a:ext cx="79800" cy="798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84" name="Google Shape;2884;p144"/>
          <p:cNvSpPr/>
          <p:nvPr/>
        </p:nvSpPr>
        <p:spPr>
          <a:xfrm>
            <a:off x="3954020" y="2630800"/>
            <a:ext cx="79800" cy="798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885" name="Google Shape;2885;p144"/>
          <p:cNvCxnSpPr>
            <a:stCxn id="2883" idx="6"/>
            <a:endCxn id="2881" idx="3"/>
          </p:cNvCxnSpPr>
          <p:nvPr/>
        </p:nvCxnSpPr>
        <p:spPr>
          <a:xfrm>
            <a:off x="4033820" y="1908700"/>
            <a:ext cx="116100" cy="423000"/>
          </a:xfrm>
          <a:prstGeom prst="bentConnector3">
            <a:avLst>
              <a:gd fmla="val 305043" name="adj1"/>
            </a:avLst>
          </a:prstGeom>
          <a:noFill/>
          <a:ln cap="flat" cmpd="sng" w="9525">
            <a:solidFill>
              <a:schemeClr val="dk2"/>
            </a:solidFill>
            <a:prstDash val="solid"/>
            <a:round/>
            <a:headEnd len="med" w="med" type="none"/>
            <a:tailEnd len="med" w="med" type="triangle"/>
          </a:ln>
        </p:spPr>
      </p:cxnSp>
      <p:cxnSp>
        <p:nvCxnSpPr>
          <p:cNvPr id="2886" name="Google Shape;2886;p144"/>
          <p:cNvCxnSpPr>
            <a:stCxn id="2884" idx="6"/>
            <a:endCxn id="2882" idx="3"/>
          </p:cNvCxnSpPr>
          <p:nvPr/>
        </p:nvCxnSpPr>
        <p:spPr>
          <a:xfrm>
            <a:off x="4033820" y="2670700"/>
            <a:ext cx="116100" cy="346800"/>
          </a:xfrm>
          <a:prstGeom prst="bentConnector3">
            <a:avLst>
              <a:gd fmla="val 305043" name="adj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0" name="Shape 2890"/>
        <p:cNvGrpSpPr/>
        <p:nvPr/>
      </p:nvGrpSpPr>
      <p:grpSpPr>
        <a:xfrm>
          <a:off x="0" y="0"/>
          <a:ext cx="0" cy="0"/>
          <a:chOff x="0" y="0"/>
          <a:chExt cx="0" cy="0"/>
        </a:xfrm>
      </p:grpSpPr>
      <p:sp>
        <p:nvSpPr>
          <p:cNvPr id="2891" name="Google Shape;2891;p145"/>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Phương thức mẫu</a:t>
            </a:r>
            <a:r>
              <a:rPr lang="en-GB"/>
              <a:t>: Các hệ quả</a:t>
            </a:r>
            <a:endParaRPr/>
          </a:p>
        </p:txBody>
      </p:sp>
      <p:sp>
        <p:nvSpPr>
          <p:cNvPr id="2892" name="Google Shape;2892;p14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2893" name="Google Shape;2893;p145"/>
          <p:cNvSpPr txBox="1"/>
          <p:nvPr>
            <p:ph idx="1" type="body"/>
          </p:nvPr>
        </p:nvSpPr>
        <p:spPr>
          <a:xfrm>
            <a:off x="311700" y="950475"/>
            <a:ext cx="8520600" cy="54183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Tách riêng hành vi chung, thường hữu ích đối với các lớp thư viện.</a:t>
            </a:r>
            <a:endParaRPr/>
          </a:p>
          <a:p>
            <a:pPr indent="-381000" lvl="0" marL="457200" rtl="0" algn="l">
              <a:spcBef>
                <a:spcPts val="0"/>
              </a:spcBef>
              <a:spcAft>
                <a:spcPts val="0"/>
              </a:spcAft>
              <a:buSzPts val="2400"/>
              <a:buChar char="●"/>
            </a:pPr>
            <a:r>
              <a:rPr lang="en-GB"/>
              <a:t>Lớp dưới có thể mở rộng hành vi của lớp trên bằng cách kế thừa và định nghĩa lại thao tác.</a:t>
            </a:r>
            <a:endParaRPr/>
          </a:p>
        </p:txBody>
      </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7" name="Shape 2897"/>
        <p:cNvGrpSpPr/>
        <p:nvPr/>
      </p:nvGrpSpPr>
      <p:grpSpPr>
        <a:xfrm>
          <a:off x="0" y="0"/>
          <a:ext cx="0" cy="0"/>
          <a:chOff x="0" y="0"/>
          <a:chExt cx="0" cy="0"/>
        </a:xfrm>
      </p:grpSpPr>
      <p:sp>
        <p:nvSpPr>
          <p:cNvPr id="2898" name="Google Shape;2898;p146"/>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25. Ứng dụng quản lý văn bản </a:t>
            </a:r>
            <a:endParaRPr/>
          </a:p>
        </p:txBody>
      </p:sp>
      <p:sp>
        <p:nvSpPr>
          <p:cNvPr id="2899" name="Google Shape;2899;p14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2900" name="Google Shape;2900;p146"/>
          <p:cNvSpPr/>
          <p:nvPr/>
        </p:nvSpPr>
        <p:spPr>
          <a:xfrm>
            <a:off x="544417" y="1141825"/>
            <a:ext cx="18939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i="1" lang="en-GB" sz="1600"/>
              <a:t>Document</a:t>
            </a:r>
            <a:endParaRPr i="1" sz="1600"/>
          </a:p>
        </p:txBody>
      </p:sp>
      <p:sp>
        <p:nvSpPr>
          <p:cNvPr id="2901" name="Google Shape;2901;p146"/>
          <p:cNvSpPr/>
          <p:nvPr/>
        </p:nvSpPr>
        <p:spPr>
          <a:xfrm>
            <a:off x="544400" y="1464050"/>
            <a:ext cx="1893900" cy="10749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i="1" lang="en-GB" sz="1600"/>
              <a:t>Save()</a:t>
            </a:r>
            <a:endParaRPr i="1" sz="1600"/>
          </a:p>
          <a:p>
            <a:pPr indent="0" lvl="0" marL="0" rtl="0" algn="l">
              <a:spcBef>
                <a:spcPts val="0"/>
              </a:spcBef>
              <a:spcAft>
                <a:spcPts val="0"/>
              </a:spcAft>
              <a:buNone/>
            </a:pPr>
            <a:r>
              <a:rPr i="1" lang="en-GB" sz="1600"/>
              <a:t>Open()</a:t>
            </a:r>
            <a:endParaRPr i="1" sz="1600"/>
          </a:p>
          <a:p>
            <a:pPr indent="0" lvl="0" marL="0" rtl="0" algn="l">
              <a:spcBef>
                <a:spcPts val="0"/>
              </a:spcBef>
              <a:spcAft>
                <a:spcPts val="0"/>
              </a:spcAft>
              <a:buNone/>
            </a:pPr>
            <a:r>
              <a:rPr i="1" lang="en-GB" sz="1600"/>
              <a:t>Close()</a:t>
            </a:r>
            <a:endParaRPr i="1" sz="1600"/>
          </a:p>
          <a:p>
            <a:pPr indent="0" lvl="0" marL="0" rtl="0" algn="l">
              <a:spcBef>
                <a:spcPts val="0"/>
              </a:spcBef>
              <a:spcAft>
                <a:spcPts val="0"/>
              </a:spcAft>
              <a:buNone/>
            </a:pPr>
            <a:r>
              <a:rPr i="1" lang="en-GB" sz="1600"/>
              <a:t>DoRead()</a:t>
            </a:r>
            <a:endParaRPr i="1" sz="1600"/>
          </a:p>
        </p:txBody>
      </p:sp>
      <p:sp>
        <p:nvSpPr>
          <p:cNvPr id="2902" name="Google Shape;2902;p146"/>
          <p:cNvSpPr/>
          <p:nvPr/>
        </p:nvSpPr>
        <p:spPr>
          <a:xfrm>
            <a:off x="567833" y="3199225"/>
            <a:ext cx="18939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MyDocument</a:t>
            </a:r>
            <a:endParaRPr sz="1600"/>
          </a:p>
        </p:txBody>
      </p:sp>
      <p:sp>
        <p:nvSpPr>
          <p:cNvPr id="2903" name="Google Shape;2903;p146"/>
          <p:cNvSpPr/>
          <p:nvPr/>
        </p:nvSpPr>
        <p:spPr>
          <a:xfrm>
            <a:off x="567825" y="3521450"/>
            <a:ext cx="1893900" cy="3666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lang="en-GB" sz="1600"/>
              <a:t>DoRead()</a:t>
            </a:r>
            <a:endParaRPr sz="1600"/>
          </a:p>
        </p:txBody>
      </p:sp>
      <p:sp>
        <p:nvSpPr>
          <p:cNvPr id="2904" name="Google Shape;2904;p146"/>
          <p:cNvSpPr/>
          <p:nvPr/>
        </p:nvSpPr>
        <p:spPr>
          <a:xfrm>
            <a:off x="1416966" y="2550532"/>
            <a:ext cx="191700" cy="1047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905" name="Google Shape;2905;p146"/>
          <p:cNvCxnSpPr>
            <a:stCxn id="2902" idx="0"/>
            <a:endCxn id="2904" idx="3"/>
          </p:cNvCxnSpPr>
          <p:nvPr/>
        </p:nvCxnSpPr>
        <p:spPr>
          <a:xfrm rot="10800000">
            <a:off x="1512683" y="2655325"/>
            <a:ext cx="2100" cy="543900"/>
          </a:xfrm>
          <a:prstGeom prst="straightConnector1">
            <a:avLst/>
          </a:prstGeom>
          <a:noFill/>
          <a:ln cap="flat" cmpd="sng" w="9525">
            <a:solidFill>
              <a:schemeClr val="dk2"/>
            </a:solidFill>
            <a:prstDash val="solid"/>
            <a:round/>
            <a:headEnd len="med" w="med" type="none"/>
            <a:tailEnd len="med" w="med" type="none"/>
          </a:ln>
        </p:spPr>
      </p:cxnSp>
      <p:sp>
        <p:nvSpPr>
          <p:cNvPr id="2906" name="Google Shape;2906;p146"/>
          <p:cNvSpPr/>
          <p:nvPr/>
        </p:nvSpPr>
        <p:spPr>
          <a:xfrm>
            <a:off x="3903547" y="1141825"/>
            <a:ext cx="25242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i="1" lang="en-GB" sz="1600"/>
              <a:t>Application</a:t>
            </a:r>
            <a:endParaRPr i="1" sz="1600"/>
          </a:p>
        </p:txBody>
      </p:sp>
      <p:sp>
        <p:nvSpPr>
          <p:cNvPr id="2907" name="Google Shape;2907;p146"/>
          <p:cNvSpPr/>
          <p:nvPr/>
        </p:nvSpPr>
        <p:spPr>
          <a:xfrm>
            <a:off x="3903525" y="1464050"/>
            <a:ext cx="2524200" cy="13152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lang="en-GB" sz="1600"/>
              <a:t>AddDocument()</a:t>
            </a:r>
            <a:endParaRPr sz="1600"/>
          </a:p>
          <a:p>
            <a:pPr indent="0" lvl="0" marL="0" rtl="0" algn="l">
              <a:spcBef>
                <a:spcPts val="0"/>
              </a:spcBef>
              <a:spcAft>
                <a:spcPts val="0"/>
              </a:spcAft>
              <a:buNone/>
            </a:pPr>
            <a:r>
              <a:rPr lang="en-GB" sz="1600"/>
              <a:t>OpenDocument()</a:t>
            </a:r>
            <a:endParaRPr sz="1600"/>
          </a:p>
          <a:p>
            <a:pPr indent="0" lvl="0" marL="0" rtl="0" algn="l">
              <a:spcBef>
                <a:spcPts val="0"/>
              </a:spcBef>
              <a:spcAft>
                <a:spcPts val="0"/>
              </a:spcAft>
              <a:buNone/>
            </a:pPr>
            <a:r>
              <a:rPr i="1" lang="en-GB" sz="1600"/>
              <a:t>DoCreateDocument()</a:t>
            </a:r>
            <a:endParaRPr i="1" sz="1600"/>
          </a:p>
          <a:p>
            <a:pPr indent="0" lvl="0" marL="0" rtl="0" algn="l">
              <a:spcBef>
                <a:spcPts val="0"/>
              </a:spcBef>
              <a:spcAft>
                <a:spcPts val="0"/>
              </a:spcAft>
              <a:buNone/>
            </a:pPr>
            <a:r>
              <a:rPr i="1" lang="en-GB" sz="1600"/>
              <a:t>CanOpenDocument()</a:t>
            </a:r>
            <a:endParaRPr i="1" sz="1600"/>
          </a:p>
          <a:p>
            <a:pPr indent="0" lvl="0" marL="0" rtl="0" algn="l">
              <a:spcBef>
                <a:spcPts val="0"/>
              </a:spcBef>
              <a:spcAft>
                <a:spcPts val="0"/>
              </a:spcAft>
              <a:buNone/>
            </a:pPr>
            <a:r>
              <a:rPr i="1" lang="en-GB" sz="1600"/>
              <a:t>AboutToOpenDocument()</a:t>
            </a:r>
            <a:endParaRPr i="1" sz="1600"/>
          </a:p>
        </p:txBody>
      </p:sp>
      <p:sp>
        <p:nvSpPr>
          <p:cNvPr id="2908" name="Google Shape;2908;p146"/>
          <p:cNvSpPr/>
          <p:nvPr/>
        </p:nvSpPr>
        <p:spPr>
          <a:xfrm>
            <a:off x="3545434" y="3199225"/>
            <a:ext cx="25242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MyApplication</a:t>
            </a:r>
            <a:endParaRPr sz="1600"/>
          </a:p>
        </p:txBody>
      </p:sp>
      <p:sp>
        <p:nvSpPr>
          <p:cNvPr id="2909" name="Google Shape;2909;p146"/>
          <p:cNvSpPr/>
          <p:nvPr/>
        </p:nvSpPr>
        <p:spPr>
          <a:xfrm>
            <a:off x="3545424" y="3521450"/>
            <a:ext cx="2524200" cy="8121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Clr>
                <a:schemeClr val="dk1"/>
              </a:buClr>
              <a:buSzPts val="1100"/>
              <a:buFont typeface="Arial"/>
              <a:buNone/>
            </a:pPr>
            <a:r>
              <a:rPr i="1" lang="en-GB" sz="1600">
                <a:solidFill>
                  <a:schemeClr val="dk1"/>
                </a:solidFill>
              </a:rPr>
              <a:t>DoCreateDocument()</a:t>
            </a:r>
            <a:endParaRPr i="1" sz="1600">
              <a:solidFill>
                <a:schemeClr val="dk1"/>
              </a:solidFill>
            </a:endParaRPr>
          </a:p>
          <a:p>
            <a:pPr indent="0" lvl="0" marL="0" rtl="0" algn="l">
              <a:spcBef>
                <a:spcPts val="0"/>
              </a:spcBef>
              <a:spcAft>
                <a:spcPts val="0"/>
              </a:spcAft>
              <a:buClr>
                <a:schemeClr val="dk1"/>
              </a:buClr>
              <a:buSzPts val="1100"/>
              <a:buFont typeface="Arial"/>
              <a:buNone/>
            </a:pPr>
            <a:r>
              <a:rPr i="1" lang="en-GB" sz="1600">
                <a:solidFill>
                  <a:schemeClr val="dk1"/>
                </a:solidFill>
              </a:rPr>
              <a:t>CanOpenDocument()</a:t>
            </a:r>
            <a:endParaRPr i="1" sz="1600">
              <a:solidFill>
                <a:schemeClr val="dk1"/>
              </a:solidFill>
            </a:endParaRPr>
          </a:p>
          <a:p>
            <a:pPr indent="0" lvl="0" marL="0" rtl="0" algn="l">
              <a:spcBef>
                <a:spcPts val="0"/>
              </a:spcBef>
              <a:spcAft>
                <a:spcPts val="0"/>
              </a:spcAft>
              <a:buClr>
                <a:schemeClr val="dk1"/>
              </a:buClr>
              <a:buSzPts val="1100"/>
              <a:buFont typeface="Arial"/>
              <a:buNone/>
            </a:pPr>
            <a:r>
              <a:rPr i="1" lang="en-GB" sz="1600">
                <a:solidFill>
                  <a:schemeClr val="dk1"/>
                </a:solidFill>
              </a:rPr>
              <a:t>AboutToOpenDocument()</a:t>
            </a:r>
            <a:endParaRPr sz="1600"/>
          </a:p>
        </p:txBody>
      </p:sp>
      <p:sp>
        <p:nvSpPr>
          <p:cNvPr id="2910" name="Google Shape;2910;p146"/>
          <p:cNvSpPr/>
          <p:nvPr/>
        </p:nvSpPr>
        <p:spPr>
          <a:xfrm>
            <a:off x="4866018" y="2789159"/>
            <a:ext cx="191700" cy="1047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911" name="Google Shape;2911;p146"/>
          <p:cNvCxnSpPr>
            <a:endCxn id="2910" idx="3"/>
          </p:cNvCxnSpPr>
          <p:nvPr/>
        </p:nvCxnSpPr>
        <p:spPr>
          <a:xfrm flipH="1" rot="10800000">
            <a:off x="4954068" y="2893859"/>
            <a:ext cx="7800" cy="326700"/>
          </a:xfrm>
          <a:prstGeom prst="straightConnector1">
            <a:avLst/>
          </a:prstGeom>
          <a:noFill/>
          <a:ln cap="flat" cmpd="sng" w="9525">
            <a:solidFill>
              <a:schemeClr val="dk2"/>
            </a:solidFill>
            <a:prstDash val="solid"/>
            <a:round/>
            <a:headEnd len="med" w="med" type="none"/>
            <a:tailEnd len="med" w="med" type="none"/>
          </a:ln>
        </p:spPr>
      </p:cxnSp>
      <p:sp>
        <p:nvSpPr>
          <p:cNvPr id="2912" name="Google Shape;2912;p146"/>
          <p:cNvSpPr/>
          <p:nvPr/>
        </p:nvSpPr>
        <p:spPr>
          <a:xfrm>
            <a:off x="3694435" y="1219927"/>
            <a:ext cx="191700" cy="159600"/>
          </a:xfrm>
          <a:prstGeom prst="diamond">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913" name="Google Shape;2913;p146"/>
          <p:cNvCxnSpPr>
            <a:stCxn id="2900" idx="3"/>
            <a:endCxn id="2912" idx="1"/>
          </p:cNvCxnSpPr>
          <p:nvPr/>
        </p:nvCxnSpPr>
        <p:spPr>
          <a:xfrm flipH="1" rot="10800000">
            <a:off x="2438317" y="1299775"/>
            <a:ext cx="1256100" cy="3300"/>
          </a:xfrm>
          <a:prstGeom prst="straightConnector1">
            <a:avLst/>
          </a:prstGeom>
          <a:noFill/>
          <a:ln cap="flat" cmpd="sng" w="9525">
            <a:solidFill>
              <a:schemeClr val="dk2"/>
            </a:solidFill>
            <a:prstDash val="solid"/>
            <a:round/>
            <a:headEnd len="med" w="med" type="none"/>
            <a:tailEnd len="med" w="med" type="none"/>
          </a:ln>
        </p:spPr>
      </p:cxnSp>
      <p:cxnSp>
        <p:nvCxnSpPr>
          <p:cNvPr id="2914" name="Google Shape;2914;p146"/>
          <p:cNvCxnSpPr>
            <a:stCxn id="2902" idx="3"/>
            <a:endCxn id="2908" idx="1"/>
          </p:cNvCxnSpPr>
          <p:nvPr/>
        </p:nvCxnSpPr>
        <p:spPr>
          <a:xfrm>
            <a:off x="2461733" y="3360475"/>
            <a:ext cx="1083600" cy="0"/>
          </a:xfrm>
          <a:prstGeom prst="straightConnector1">
            <a:avLst/>
          </a:prstGeom>
          <a:noFill/>
          <a:ln cap="flat" cmpd="sng" w="9525">
            <a:solidFill>
              <a:schemeClr val="dk2"/>
            </a:solidFill>
            <a:prstDash val="dash"/>
            <a:round/>
            <a:headEnd len="med" w="med" type="triangle"/>
            <a:tailEnd len="med" w="med" type="none"/>
          </a:ln>
        </p:spPr>
      </p:cxnSp>
      <p:sp>
        <p:nvSpPr>
          <p:cNvPr id="2915" name="Google Shape;2915;p146"/>
          <p:cNvSpPr/>
          <p:nvPr/>
        </p:nvSpPr>
        <p:spPr>
          <a:xfrm>
            <a:off x="6601500" y="3585800"/>
            <a:ext cx="2168700" cy="467700"/>
          </a:xfrm>
          <a:prstGeom prst="foldedCorner">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return new MyDocument</a:t>
            </a:r>
            <a:endParaRPr/>
          </a:p>
        </p:txBody>
      </p:sp>
      <p:sp>
        <p:nvSpPr>
          <p:cNvPr id="2916" name="Google Shape;2916;p146"/>
          <p:cNvSpPr/>
          <p:nvPr/>
        </p:nvSpPr>
        <p:spPr>
          <a:xfrm>
            <a:off x="5621100" y="3652400"/>
            <a:ext cx="109800" cy="1047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917" name="Google Shape;2917;p146"/>
          <p:cNvCxnSpPr>
            <a:stCxn id="2915" idx="1"/>
            <a:endCxn id="2916" idx="6"/>
          </p:cNvCxnSpPr>
          <p:nvPr/>
        </p:nvCxnSpPr>
        <p:spPr>
          <a:xfrm rot="10800000">
            <a:off x="5730900" y="3704750"/>
            <a:ext cx="870600" cy="114900"/>
          </a:xfrm>
          <a:prstGeom prst="straightConnector1">
            <a:avLst/>
          </a:prstGeom>
          <a:noFill/>
          <a:ln cap="flat" cmpd="sng" w="9525">
            <a:solidFill>
              <a:schemeClr val="dk2"/>
            </a:solidFill>
            <a:prstDash val="dash"/>
            <a:round/>
            <a:headEnd len="med" w="med" type="none"/>
            <a:tailEnd len="med" w="med" type="none"/>
          </a:ln>
        </p:spPr>
      </p:cxn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1" name="Shape 2921"/>
        <p:cNvGrpSpPr/>
        <p:nvPr/>
      </p:nvGrpSpPr>
      <p:grpSpPr>
        <a:xfrm>
          <a:off x="0" y="0"/>
          <a:ext cx="0" cy="0"/>
          <a:chOff x="0" y="0"/>
          <a:chExt cx="0" cy="0"/>
        </a:xfrm>
      </p:grpSpPr>
      <p:sp>
        <p:nvSpPr>
          <p:cNvPr id="2922" name="Google Shape;2922;p147"/>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Khách thăm</a:t>
            </a:r>
            <a:endParaRPr/>
          </a:p>
        </p:txBody>
      </p:sp>
      <p:sp>
        <p:nvSpPr>
          <p:cNvPr id="2923" name="Google Shape;2923;p147"/>
          <p:cNvSpPr txBox="1"/>
          <p:nvPr>
            <p:ph idx="1" type="body"/>
          </p:nvPr>
        </p:nvSpPr>
        <p:spPr>
          <a:xfrm>
            <a:off x="311700" y="950475"/>
            <a:ext cx="8520600" cy="54183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i="1" lang="en-GB"/>
              <a:t>Visitor</a:t>
            </a:r>
            <a:endParaRPr i="1"/>
          </a:p>
          <a:p>
            <a:pPr indent="0" lvl="0" marL="0" rtl="0" algn="just">
              <a:spcBef>
                <a:spcPts val="0"/>
              </a:spcBef>
              <a:spcAft>
                <a:spcPts val="0"/>
              </a:spcAft>
              <a:buNone/>
            </a:pPr>
            <a:r>
              <a:rPr lang="en-GB"/>
              <a:t>Biểu diễn một thao tác cần được thực hiện trên các đối tượng thuộc một kết cấu. Khách thăm cho phép định nghĩa một thao tác mới mà không thay đổi các lớp của các đối tượng chịu tác động.</a:t>
            </a:r>
            <a:endParaRPr/>
          </a:p>
        </p:txBody>
      </p:sp>
      <p:sp>
        <p:nvSpPr>
          <p:cNvPr id="2924" name="Google Shape;2924;p14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8" name="Shape 2928"/>
        <p:cNvGrpSpPr/>
        <p:nvPr/>
      </p:nvGrpSpPr>
      <p:grpSpPr>
        <a:xfrm>
          <a:off x="0" y="0"/>
          <a:ext cx="0" cy="0"/>
          <a:chOff x="0" y="0"/>
          <a:chExt cx="0" cy="0"/>
        </a:xfrm>
      </p:grpSpPr>
      <p:sp>
        <p:nvSpPr>
          <p:cNvPr id="2929" name="Google Shape;2929;p148"/>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Khách thăm: Cấu trúc</a:t>
            </a:r>
            <a:endParaRPr/>
          </a:p>
        </p:txBody>
      </p:sp>
      <p:sp>
        <p:nvSpPr>
          <p:cNvPr id="2930" name="Google Shape;2930;p14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2931" name="Google Shape;2931;p148"/>
          <p:cNvSpPr/>
          <p:nvPr/>
        </p:nvSpPr>
        <p:spPr>
          <a:xfrm>
            <a:off x="3516225" y="989425"/>
            <a:ext cx="28914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i="1" lang="en-GB" sz="1600"/>
              <a:t>Khách thăm</a:t>
            </a:r>
            <a:endParaRPr i="1" sz="1600"/>
          </a:p>
        </p:txBody>
      </p:sp>
      <p:sp>
        <p:nvSpPr>
          <p:cNvPr id="2932" name="Google Shape;2932;p148"/>
          <p:cNvSpPr/>
          <p:nvPr/>
        </p:nvSpPr>
        <p:spPr>
          <a:xfrm>
            <a:off x="3516200" y="1311650"/>
            <a:ext cx="2891400" cy="5886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i="1" lang="en-GB" sz="1600"/>
              <a:t>Thăm phần tử A</a:t>
            </a:r>
            <a:r>
              <a:rPr i="1" lang="en-GB" sz="1600"/>
              <a:t>(</a:t>
            </a:r>
            <a:r>
              <a:rPr i="1" lang="en-GB" sz="1600"/>
              <a:t>Phần tử </a:t>
            </a:r>
            <a:r>
              <a:rPr i="1" lang="en-GB" sz="1600"/>
              <a:t>A)</a:t>
            </a:r>
            <a:endParaRPr i="1" sz="1600"/>
          </a:p>
          <a:p>
            <a:pPr indent="0" lvl="0" marL="0" rtl="0" algn="l">
              <a:spcBef>
                <a:spcPts val="0"/>
              </a:spcBef>
              <a:spcAft>
                <a:spcPts val="0"/>
              </a:spcAft>
              <a:buNone/>
            </a:pPr>
            <a:r>
              <a:rPr i="1" lang="en-GB" sz="1600"/>
              <a:t>Thăm phần tử B</a:t>
            </a:r>
            <a:r>
              <a:rPr i="1" lang="en-GB" sz="1600"/>
              <a:t>(</a:t>
            </a:r>
            <a:r>
              <a:rPr i="1" lang="en-GB" sz="1600"/>
              <a:t>Phần tử B</a:t>
            </a:r>
            <a:r>
              <a:rPr i="1" lang="en-GB" sz="1600"/>
              <a:t>)</a:t>
            </a:r>
            <a:endParaRPr i="1" sz="1600"/>
          </a:p>
        </p:txBody>
      </p:sp>
      <p:sp>
        <p:nvSpPr>
          <p:cNvPr id="2933" name="Google Shape;2933;p148"/>
          <p:cNvSpPr/>
          <p:nvPr/>
        </p:nvSpPr>
        <p:spPr>
          <a:xfrm>
            <a:off x="1101256" y="2437225"/>
            <a:ext cx="36717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Khách thăm cụ thể 1</a:t>
            </a:r>
            <a:endParaRPr sz="1600"/>
          </a:p>
        </p:txBody>
      </p:sp>
      <p:sp>
        <p:nvSpPr>
          <p:cNvPr id="2934" name="Google Shape;2934;p148"/>
          <p:cNvSpPr/>
          <p:nvPr/>
        </p:nvSpPr>
        <p:spPr>
          <a:xfrm>
            <a:off x="1101224" y="2759450"/>
            <a:ext cx="3671700" cy="5886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lang="en-GB" sz="1600"/>
              <a:t>Thăm phần tử A</a:t>
            </a:r>
            <a:r>
              <a:rPr lang="en-GB" sz="1600"/>
              <a:t>(</a:t>
            </a:r>
            <a:r>
              <a:rPr lang="en-GB" sz="1600"/>
              <a:t>Phần tử A</a:t>
            </a:r>
            <a:r>
              <a:rPr lang="en-GB" sz="1600"/>
              <a:t>)</a:t>
            </a:r>
            <a:endParaRPr sz="1600"/>
          </a:p>
          <a:p>
            <a:pPr indent="0" lvl="0" marL="0" rtl="0" algn="l">
              <a:spcBef>
                <a:spcPts val="0"/>
              </a:spcBef>
              <a:spcAft>
                <a:spcPts val="0"/>
              </a:spcAft>
              <a:buNone/>
            </a:pPr>
            <a:r>
              <a:rPr lang="en-GB" sz="1600"/>
              <a:t>Thăm phần tử B</a:t>
            </a:r>
            <a:r>
              <a:rPr lang="en-GB" sz="1600"/>
              <a:t>(</a:t>
            </a:r>
            <a:r>
              <a:rPr lang="en-GB" sz="1600"/>
              <a:t>Phần tử B</a:t>
            </a:r>
            <a:r>
              <a:rPr lang="en-GB" sz="1600"/>
              <a:t>)</a:t>
            </a:r>
            <a:endParaRPr sz="1600"/>
          </a:p>
        </p:txBody>
      </p:sp>
      <p:sp>
        <p:nvSpPr>
          <p:cNvPr id="2935" name="Google Shape;2935;p148"/>
          <p:cNvSpPr/>
          <p:nvPr/>
        </p:nvSpPr>
        <p:spPr>
          <a:xfrm>
            <a:off x="4236366" y="1913223"/>
            <a:ext cx="191700" cy="1047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6" name="Google Shape;2936;p148"/>
          <p:cNvSpPr/>
          <p:nvPr/>
        </p:nvSpPr>
        <p:spPr>
          <a:xfrm flipH="1" rot="10800000">
            <a:off x="2357314" y="6084200"/>
            <a:ext cx="2752200" cy="409500"/>
          </a:xfrm>
          <a:prstGeom prst="foldedCorner">
            <a:avLst>
              <a:gd fmla="val 25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7" name="Google Shape;2937;p148"/>
          <p:cNvSpPr txBox="1"/>
          <p:nvPr/>
        </p:nvSpPr>
        <p:spPr>
          <a:xfrm>
            <a:off x="2342725" y="6040275"/>
            <a:ext cx="2796000" cy="41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v-&gt;VisitConcreteElementA(this)</a:t>
            </a:r>
            <a:endParaRPr/>
          </a:p>
        </p:txBody>
      </p:sp>
      <p:sp>
        <p:nvSpPr>
          <p:cNvPr id="2938" name="Google Shape;2938;p148"/>
          <p:cNvSpPr/>
          <p:nvPr/>
        </p:nvSpPr>
        <p:spPr>
          <a:xfrm>
            <a:off x="4504109" y="5322399"/>
            <a:ext cx="105300" cy="1047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9" name="Google Shape;2939;p148"/>
          <p:cNvSpPr/>
          <p:nvPr/>
        </p:nvSpPr>
        <p:spPr>
          <a:xfrm>
            <a:off x="5063656" y="2437225"/>
            <a:ext cx="36717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Khách thăm cụ thể 2</a:t>
            </a:r>
            <a:endParaRPr sz="1600"/>
          </a:p>
        </p:txBody>
      </p:sp>
      <p:sp>
        <p:nvSpPr>
          <p:cNvPr id="2940" name="Google Shape;2940;p148"/>
          <p:cNvSpPr/>
          <p:nvPr/>
        </p:nvSpPr>
        <p:spPr>
          <a:xfrm>
            <a:off x="5063624" y="2759450"/>
            <a:ext cx="3671700" cy="5886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Clr>
                <a:schemeClr val="dk1"/>
              </a:buClr>
              <a:buSzPts val="1100"/>
              <a:buFont typeface="Arial"/>
              <a:buNone/>
            </a:pPr>
            <a:r>
              <a:rPr lang="en-GB" sz="1600">
                <a:solidFill>
                  <a:schemeClr val="dk1"/>
                </a:solidFill>
              </a:rPr>
              <a:t>Thăm phần tử A(Phần tử A)</a:t>
            </a:r>
            <a:endParaRPr sz="1600">
              <a:solidFill>
                <a:schemeClr val="dk1"/>
              </a:solidFill>
            </a:endParaRPr>
          </a:p>
          <a:p>
            <a:pPr indent="0" lvl="0" marL="0" rtl="0" algn="l">
              <a:spcBef>
                <a:spcPts val="0"/>
              </a:spcBef>
              <a:spcAft>
                <a:spcPts val="0"/>
              </a:spcAft>
              <a:buNone/>
            </a:pPr>
            <a:r>
              <a:rPr lang="en-GB" sz="1600">
                <a:solidFill>
                  <a:schemeClr val="dk1"/>
                </a:solidFill>
              </a:rPr>
              <a:t>Thăm phần tử B(Phần tử B)</a:t>
            </a:r>
            <a:endParaRPr sz="1600"/>
          </a:p>
        </p:txBody>
      </p:sp>
      <p:sp>
        <p:nvSpPr>
          <p:cNvPr id="2941" name="Google Shape;2941;p148"/>
          <p:cNvSpPr/>
          <p:nvPr/>
        </p:nvSpPr>
        <p:spPr>
          <a:xfrm>
            <a:off x="1154024" y="3732625"/>
            <a:ext cx="1622100" cy="5247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Kết cấu đối tượng</a:t>
            </a:r>
            <a:endParaRPr sz="1600"/>
          </a:p>
        </p:txBody>
      </p:sp>
      <p:sp>
        <p:nvSpPr>
          <p:cNvPr id="2942" name="Google Shape;2942;p148"/>
          <p:cNvSpPr/>
          <p:nvPr/>
        </p:nvSpPr>
        <p:spPr>
          <a:xfrm>
            <a:off x="3973421" y="3732625"/>
            <a:ext cx="24447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Phần tử</a:t>
            </a:r>
            <a:endParaRPr sz="1600"/>
          </a:p>
        </p:txBody>
      </p:sp>
      <p:sp>
        <p:nvSpPr>
          <p:cNvPr id="2943" name="Google Shape;2943;p148"/>
          <p:cNvSpPr/>
          <p:nvPr/>
        </p:nvSpPr>
        <p:spPr>
          <a:xfrm>
            <a:off x="3973400" y="4054850"/>
            <a:ext cx="2444700" cy="3855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lang="en-GB" sz="1600"/>
              <a:t>Tiếp nhận</a:t>
            </a:r>
            <a:r>
              <a:rPr lang="en-GB" sz="1600"/>
              <a:t>(</a:t>
            </a:r>
            <a:r>
              <a:rPr lang="en-GB" sz="1600"/>
              <a:t>Khách thăm</a:t>
            </a:r>
            <a:r>
              <a:rPr lang="en-GB" sz="1600"/>
              <a:t>)</a:t>
            </a:r>
            <a:endParaRPr sz="1600"/>
          </a:p>
        </p:txBody>
      </p:sp>
      <p:sp>
        <p:nvSpPr>
          <p:cNvPr id="2944" name="Google Shape;2944;p148"/>
          <p:cNvSpPr/>
          <p:nvPr/>
        </p:nvSpPr>
        <p:spPr>
          <a:xfrm>
            <a:off x="5531766" y="1913223"/>
            <a:ext cx="191700" cy="1047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5" name="Google Shape;2945;p148"/>
          <p:cNvSpPr/>
          <p:nvPr/>
        </p:nvSpPr>
        <p:spPr>
          <a:xfrm>
            <a:off x="4769766" y="4441678"/>
            <a:ext cx="191700" cy="1047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6" name="Google Shape;2946;p148"/>
          <p:cNvSpPr/>
          <p:nvPr/>
        </p:nvSpPr>
        <p:spPr>
          <a:xfrm>
            <a:off x="5455566" y="4441678"/>
            <a:ext cx="191700" cy="1047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7" name="Google Shape;2947;p148"/>
          <p:cNvSpPr/>
          <p:nvPr/>
        </p:nvSpPr>
        <p:spPr>
          <a:xfrm>
            <a:off x="2207101" y="4875625"/>
            <a:ext cx="26421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Phần tử A</a:t>
            </a:r>
            <a:endParaRPr sz="1600"/>
          </a:p>
        </p:txBody>
      </p:sp>
      <p:sp>
        <p:nvSpPr>
          <p:cNvPr id="2948" name="Google Shape;2948;p148"/>
          <p:cNvSpPr/>
          <p:nvPr/>
        </p:nvSpPr>
        <p:spPr>
          <a:xfrm>
            <a:off x="2207078" y="5197850"/>
            <a:ext cx="2642100" cy="5886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lang="en-GB" sz="1600"/>
              <a:t>Tiếp nhận</a:t>
            </a:r>
            <a:r>
              <a:rPr lang="en-GB" sz="1600"/>
              <a:t>(</a:t>
            </a:r>
            <a:r>
              <a:rPr lang="en-GB" sz="1600"/>
              <a:t>Khách thăm</a:t>
            </a:r>
            <a:r>
              <a:rPr lang="en-GB" sz="1600"/>
              <a:t> v)</a:t>
            </a:r>
            <a:endParaRPr sz="1600"/>
          </a:p>
          <a:p>
            <a:pPr indent="0" lvl="0" marL="0" rtl="0" algn="l">
              <a:spcBef>
                <a:spcPts val="0"/>
              </a:spcBef>
              <a:spcAft>
                <a:spcPts val="0"/>
              </a:spcAft>
              <a:buNone/>
            </a:pPr>
            <a:r>
              <a:rPr lang="en-GB" sz="1600"/>
              <a:t>Thao tác A(</a:t>
            </a:r>
            <a:r>
              <a:rPr lang="en-GB" sz="1600"/>
              <a:t>)</a:t>
            </a:r>
            <a:endParaRPr sz="1600"/>
          </a:p>
        </p:txBody>
      </p:sp>
      <p:sp>
        <p:nvSpPr>
          <p:cNvPr id="2949" name="Google Shape;2949;p148"/>
          <p:cNvSpPr/>
          <p:nvPr/>
        </p:nvSpPr>
        <p:spPr>
          <a:xfrm>
            <a:off x="5375596" y="4875625"/>
            <a:ext cx="24447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Phần tử B</a:t>
            </a:r>
            <a:endParaRPr sz="1600"/>
          </a:p>
        </p:txBody>
      </p:sp>
      <p:sp>
        <p:nvSpPr>
          <p:cNvPr id="2950" name="Google Shape;2950;p148"/>
          <p:cNvSpPr/>
          <p:nvPr/>
        </p:nvSpPr>
        <p:spPr>
          <a:xfrm>
            <a:off x="5375575" y="5197850"/>
            <a:ext cx="2444700" cy="5886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lang="en-GB" sz="1600"/>
              <a:t>Tiếp nhận</a:t>
            </a:r>
            <a:r>
              <a:rPr lang="en-GB" sz="1600"/>
              <a:t>(</a:t>
            </a:r>
            <a:r>
              <a:rPr lang="en-GB" sz="1600"/>
              <a:t>Khách thăm </a:t>
            </a:r>
            <a:r>
              <a:rPr lang="en-GB" sz="1600"/>
              <a:t> v)</a:t>
            </a:r>
            <a:endParaRPr sz="1600"/>
          </a:p>
          <a:p>
            <a:pPr indent="0" lvl="0" marL="0" rtl="0" algn="l">
              <a:spcBef>
                <a:spcPts val="0"/>
              </a:spcBef>
              <a:spcAft>
                <a:spcPts val="0"/>
              </a:spcAft>
              <a:buNone/>
            </a:pPr>
            <a:r>
              <a:rPr lang="en-GB" sz="1600"/>
              <a:t>Thao tác B</a:t>
            </a:r>
            <a:r>
              <a:rPr lang="en-GB" sz="1600"/>
              <a:t>()</a:t>
            </a:r>
            <a:endParaRPr sz="1600"/>
          </a:p>
        </p:txBody>
      </p:sp>
      <p:sp>
        <p:nvSpPr>
          <p:cNvPr id="2951" name="Google Shape;2951;p148"/>
          <p:cNvSpPr/>
          <p:nvPr/>
        </p:nvSpPr>
        <p:spPr>
          <a:xfrm flipH="1" rot="10800000">
            <a:off x="5633914" y="6091127"/>
            <a:ext cx="2752200" cy="409500"/>
          </a:xfrm>
          <a:prstGeom prst="foldedCorner">
            <a:avLst>
              <a:gd fmla="val 25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2" name="Google Shape;2952;p148"/>
          <p:cNvSpPr txBox="1"/>
          <p:nvPr/>
        </p:nvSpPr>
        <p:spPr>
          <a:xfrm>
            <a:off x="5619325" y="6047202"/>
            <a:ext cx="2796000" cy="41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v-&gt;VisitConcreteElementB(this)</a:t>
            </a:r>
            <a:endParaRPr/>
          </a:p>
        </p:txBody>
      </p:sp>
      <p:sp>
        <p:nvSpPr>
          <p:cNvPr id="2953" name="Google Shape;2953;p148"/>
          <p:cNvSpPr/>
          <p:nvPr/>
        </p:nvSpPr>
        <p:spPr>
          <a:xfrm>
            <a:off x="7171109" y="5322399"/>
            <a:ext cx="105300" cy="1047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4" name="Google Shape;2954;p148"/>
          <p:cNvSpPr/>
          <p:nvPr/>
        </p:nvSpPr>
        <p:spPr>
          <a:xfrm>
            <a:off x="301971" y="1342716"/>
            <a:ext cx="1131900" cy="5247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Ứng dụng</a:t>
            </a:r>
            <a:endParaRPr sz="1600"/>
          </a:p>
        </p:txBody>
      </p:sp>
      <p:cxnSp>
        <p:nvCxnSpPr>
          <p:cNvPr id="2955" name="Google Shape;2955;p148"/>
          <p:cNvCxnSpPr>
            <a:stCxn id="2954" idx="3"/>
            <a:endCxn id="2932" idx="1"/>
          </p:cNvCxnSpPr>
          <p:nvPr/>
        </p:nvCxnSpPr>
        <p:spPr>
          <a:xfrm>
            <a:off x="1433871" y="1605066"/>
            <a:ext cx="2082300" cy="900"/>
          </a:xfrm>
          <a:prstGeom prst="straightConnector1">
            <a:avLst/>
          </a:prstGeom>
          <a:noFill/>
          <a:ln cap="flat" cmpd="sng" w="9525">
            <a:solidFill>
              <a:schemeClr val="dk2"/>
            </a:solidFill>
            <a:prstDash val="solid"/>
            <a:round/>
            <a:headEnd len="med" w="med" type="none"/>
            <a:tailEnd len="med" w="med" type="triangle"/>
          </a:ln>
        </p:spPr>
      </p:cxnSp>
      <p:cxnSp>
        <p:nvCxnSpPr>
          <p:cNvPr id="2956" name="Google Shape;2956;p148"/>
          <p:cNvCxnSpPr>
            <a:stCxn id="2933" idx="0"/>
            <a:endCxn id="2935" idx="3"/>
          </p:cNvCxnSpPr>
          <p:nvPr/>
        </p:nvCxnSpPr>
        <p:spPr>
          <a:xfrm rot="-5400000">
            <a:off x="3424906" y="1530025"/>
            <a:ext cx="419400" cy="1395000"/>
          </a:xfrm>
          <a:prstGeom prst="bentConnector3">
            <a:avLst>
              <a:gd fmla="val 49988" name="adj1"/>
            </a:avLst>
          </a:prstGeom>
          <a:noFill/>
          <a:ln cap="flat" cmpd="sng" w="9525">
            <a:solidFill>
              <a:schemeClr val="dk2"/>
            </a:solidFill>
            <a:prstDash val="solid"/>
            <a:round/>
            <a:headEnd len="med" w="med" type="none"/>
            <a:tailEnd len="med" w="med" type="none"/>
          </a:ln>
        </p:spPr>
      </p:cxnSp>
      <p:cxnSp>
        <p:nvCxnSpPr>
          <p:cNvPr id="2957" name="Google Shape;2957;p148"/>
          <p:cNvCxnSpPr>
            <a:stCxn id="2939" idx="0"/>
            <a:endCxn id="2944" idx="3"/>
          </p:cNvCxnSpPr>
          <p:nvPr/>
        </p:nvCxnSpPr>
        <p:spPr>
          <a:xfrm flipH="1" rot="5400000">
            <a:off x="6053806" y="1591525"/>
            <a:ext cx="419400" cy="1272000"/>
          </a:xfrm>
          <a:prstGeom prst="bentConnector3">
            <a:avLst>
              <a:gd fmla="val 49988" name="adj1"/>
            </a:avLst>
          </a:prstGeom>
          <a:noFill/>
          <a:ln cap="flat" cmpd="sng" w="9525">
            <a:solidFill>
              <a:schemeClr val="dk2"/>
            </a:solidFill>
            <a:prstDash val="solid"/>
            <a:round/>
            <a:headEnd len="med" w="med" type="none"/>
            <a:tailEnd len="med" w="med" type="none"/>
          </a:ln>
        </p:spPr>
      </p:cxnSp>
      <p:cxnSp>
        <p:nvCxnSpPr>
          <p:cNvPr id="2958" name="Google Shape;2958;p148"/>
          <p:cNvCxnSpPr>
            <a:stCxn id="2954" idx="2"/>
            <a:endCxn id="2941" idx="1"/>
          </p:cNvCxnSpPr>
          <p:nvPr/>
        </p:nvCxnSpPr>
        <p:spPr>
          <a:xfrm flipH="1" rot="-5400000">
            <a:off x="-52779" y="2788116"/>
            <a:ext cx="2127600" cy="286200"/>
          </a:xfrm>
          <a:prstGeom prst="bentConnector2">
            <a:avLst/>
          </a:prstGeom>
          <a:noFill/>
          <a:ln cap="flat" cmpd="sng" w="9525">
            <a:solidFill>
              <a:schemeClr val="dk2"/>
            </a:solidFill>
            <a:prstDash val="solid"/>
            <a:round/>
            <a:headEnd len="med" w="med" type="none"/>
            <a:tailEnd len="med" w="med" type="triangle"/>
          </a:ln>
        </p:spPr>
      </p:cxnSp>
      <p:cxnSp>
        <p:nvCxnSpPr>
          <p:cNvPr id="2959" name="Google Shape;2959;p148"/>
          <p:cNvCxnSpPr>
            <a:stCxn id="2941" idx="3"/>
          </p:cNvCxnSpPr>
          <p:nvPr/>
        </p:nvCxnSpPr>
        <p:spPr>
          <a:xfrm>
            <a:off x="2776124" y="3994975"/>
            <a:ext cx="1197900" cy="0"/>
          </a:xfrm>
          <a:prstGeom prst="straightConnector1">
            <a:avLst/>
          </a:prstGeom>
          <a:noFill/>
          <a:ln cap="flat" cmpd="sng" w="9525">
            <a:solidFill>
              <a:schemeClr val="dk2"/>
            </a:solidFill>
            <a:prstDash val="solid"/>
            <a:round/>
            <a:headEnd len="med" w="med" type="none"/>
            <a:tailEnd len="med" w="med" type="triangle"/>
          </a:ln>
        </p:spPr>
      </p:cxnSp>
      <p:cxnSp>
        <p:nvCxnSpPr>
          <p:cNvPr id="2960" name="Google Shape;2960;p148"/>
          <p:cNvCxnSpPr>
            <a:stCxn id="2947" idx="0"/>
            <a:endCxn id="2945" idx="3"/>
          </p:cNvCxnSpPr>
          <p:nvPr/>
        </p:nvCxnSpPr>
        <p:spPr>
          <a:xfrm rot="-5400000">
            <a:off x="4032301" y="4042375"/>
            <a:ext cx="329100" cy="1337400"/>
          </a:xfrm>
          <a:prstGeom prst="bentConnector3">
            <a:avLst>
              <a:gd fmla="val 50022" name="adj1"/>
            </a:avLst>
          </a:prstGeom>
          <a:noFill/>
          <a:ln cap="flat" cmpd="sng" w="9525">
            <a:solidFill>
              <a:schemeClr val="dk2"/>
            </a:solidFill>
            <a:prstDash val="solid"/>
            <a:round/>
            <a:headEnd len="med" w="med" type="none"/>
            <a:tailEnd len="med" w="med" type="none"/>
          </a:ln>
        </p:spPr>
      </p:cxnSp>
      <p:cxnSp>
        <p:nvCxnSpPr>
          <p:cNvPr id="2961" name="Google Shape;2961;p148"/>
          <p:cNvCxnSpPr>
            <a:stCxn id="2949" idx="0"/>
            <a:endCxn id="2946" idx="3"/>
          </p:cNvCxnSpPr>
          <p:nvPr/>
        </p:nvCxnSpPr>
        <p:spPr>
          <a:xfrm flipH="1" rot="5400000">
            <a:off x="5910196" y="4187875"/>
            <a:ext cx="329100" cy="1046400"/>
          </a:xfrm>
          <a:prstGeom prst="bentConnector3">
            <a:avLst>
              <a:gd fmla="val 50022" name="adj1"/>
            </a:avLst>
          </a:prstGeom>
          <a:noFill/>
          <a:ln cap="flat" cmpd="sng" w="9525">
            <a:solidFill>
              <a:schemeClr val="dk2"/>
            </a:solidFill>
            <a:prstDash val="solid"/>
            <a:round/>
            <a:headEnd len="med" w="med" type="none"/>
            <a:tailEnd len="med" w="med" type="none"/>
          </a:ln>
        </p:spPr>
      </p:cxnSp>
      <p:cxnSp>
        <p:nvCxnSpPr>
          <p:cNvPr id="2962" name="Google Shape;2962;p148"/>
          <p:cNvCxnSpPr/>
          <p:nvPr/>
        </p:nvCxnSpPr>
        <p:spPr>
          <a:xfrm rot="10800000">
            <a:off x="4558150" y="5403225"/>
            <a:ext cx="0" cy="687900"/>
          </a:xfrm>
          <a:prstGeom prst="straightConnector1">
            <a:avLst/>
          </a:prstGeom>
          <a:noFill/>
          <a:ln cap="flat" cmpd="sng" w="9525">
            <a:solidFill>
              <a:schemeClr val="dk2"/>
            </a:solidFill>
            <a:prstDash val="dash"/>
            <a:round/>
            <a:headEnd len="med" w="med" type="none"/>
            <a:tailEnd len="med" w="med" type="none"/>
          </a:ln>
        </p:spPr>
      </p:cxnSp>
      <p:cxnSp>
        <p:nvCxnSpPr>
          <p:cNvPr id="2963" name="Google Shape;2963;p148"/>
          <p:cNvCxnSpPr/>
          <p:nvPr/>
        </p:nvCxnSpPr>
        <p:spPr>
          <a:xfrm rot="10800000">
            <a:off x="7225150" y="5403225"/>
            <a:ext cx="0" cy="687900"/>
          </a:xfrm>
          <a:prstGeom prst="straightConnector1">
            <a:avLst/>
          </a:prstGeom>
          <a:noFill/>
          <a:ln cap="flat" cmpd="sng" w="9525">
            <a:solidFill>
              <a:schemeClr val="dk2"/>
            </a:solidFill>
            <a:prstDash val="dash"/>
            <a:round/>
            <a:headEnd len="med" w="med" type="none"/>
            <a:tailEnd len="med" w="med" type="none"/>
          </a:ln>
        </p:spPr>
      </p:cxnSp>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7" name="Shape 2967"/>
        <p:cNvGrpSpPr/>
        <p:nvPr/>
      </p:nvGrpSpPr>
      <p:grpSpPr>
        <a:xfrm>
          <a:off x="0" y="0"/>
          <a:ext cx="0" cy="0"/>
          <a:chOff x="0" y="0"/>
          <a:chExt cx="0" cy="0"/>
        </a:xfrm>
      </p:grpSpPr>
      <p:sp>
        <p:nvSpPr>
          <p:cNvPr id="2968" name="Google Shape;2968;p149"/>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Khách thăm: </a:t>
            </a:r>
            <a:r>
              <a:rPr lang="en-GB"/>
              <a:t>Hành vi</a:t>
            </a:r>
            <a:endParaRPr/>
          </a:p>
        </p:txBody>
      </p:sp>
      <p:sp>
        <p:nvSpPr>
          <p:cNvPr id="2969" name="Google Shape;2969;p14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2970" name="Google Shape;2970;p149"/>
          <p:cNvSpPr/>
          <p:nvPr/>
        </p:nvSpPr>
        <p:spPr>
          <a:xfrm>
            <a:off x="3225726" y="1826500"/>
            <a:ext cx="12564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u="sng"/>
              <a:t>a:Phần tử A</a:t>
            </a:r>
            <a:endParaRPr sz="1600" u="sng"/>
          </a:p>
        </p:txBody>
      </p:sp>
      <p:cxnSp>
        <p:nvCxnSpPr>
          <p:cNvPr id="2971" name="Google Shape;2971;p149"/>
          <p:cNvCxnSpPr/>
          <p:nvPr/>
        </p:nvCxnSpPr>
        <p:spPr>
          <a:xfrm>
            <a:off x="3899275" y="2149000"/>
            <a:ext cx="0" cy="3267000"/>
          </a:xfrm>
          <a:prstGeom prst="straightConnector1">
            <a:avLst/>
          </a:prstGeom>
          <a:noFill/>
          <a:ln cap="flat" cmpd="sng" w="9525">
            <a:solidFill>
              <a:schemeClr val="dk2"/>
            </a:solidFill>
            <a:prstDash val="dash"/>
            <a:round/>
            <a:headEnd len="med" w="med" type="none"/>
            <a:tailEnd len="med" w="med" type="none"/>
          </a:ln>
        </p:spPr>
      </p:cxnSp>
      <p:sp>
        <p:nvSpPr>
          <p:cNvPr id="2972" name="Google Shape;2972;p149"/>
          <p:cNvSpPr/>
          <p:nvPr/>
        </p:nvSpPr>
        <p:spPr>
          <a:xfrm>
            <a:off x="4738354" y="1826500"/>
            <a:ext cx="15171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u="sng"/>
              <a:t>b:Phần tử B</a:t>
            </a:r>
            <a:endParaRPr sz="1600" u="sng"/>
          </a:p>
        </p:txBody>
      </p:sp>
      <p:cxnSp>
        <p:nvCxnSpPr>
          <p:cNvPr id="2973" name="Google Shape;2973;p149"/>
          <p:cNvCxnSpPr/>
          <p:nvPr/>
        </p:nvCxnSpPr>
        <p:spPr>
          <a:xfrm>
            <a:off x="5499475" y="2149000"/>
            <a:ext cx="0" cy="3267000"/>
          </a:xfrm>
          <a:prstGeom prst="straightConnector1">
            <a:avLst/>
          </a:prstGeom>
          <a:noFill/>
          <a:ln cap="flat" cmpd="sng" w="9525">
            <a:solidFill>
              <a:schemeClr val="dk2"/>
            </a:solidFill>
            <a:prstDash val="dash"/>
            <a:round/>
            <a:headEnd len="med" w="med" type="none"/>
            <a:tailEnd len="med" w="med" type="none"/>
          </a:ln>
        </p:spPr>
      </p:cxnSp>
      <p:sp>
        <p:nvSpPr>
          <p:cNvPr id="2974" name="Google Shape;2974;p149"/>
          <p:cNvSpPr/>
          <p:nvPr/>
        </p:nvSpPr>
        <p:spPr>
          <a:xfrm>
            <a:off x="1591028" y="1684600"/>
            <a:ext cx="1256400" cy="4644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u="sng"/>
              <a:t>:</a:t>
            </a:r>
            <a:r>
              <a:rPr lang="en-GB" sz="1600" u="sng"/>
              <a:t>Kết cấu đối tượng</a:t>
            </a:r>
            <a:endParaRPr sz="1600" u="sng"/>
          </a:p>
        </p:txBody>
      </p:sp>
      <p:cxnSp>
        <p:nvCxnSpPr>
          <p:cNvPr id="2975" name="Google Shape;2975;p149"/>
          <p:cNvCxnSpPr/>
          <p:nvPr/>
        </p:nvCxnSpPr>
        <p:spPr>
          <a:xfrm>
            <a:off x="2222875" y="2149000"/>
            <a:ext cx="0" cy="3267000"/>
          </a:xfrm>
          <a:prstGeom prst="straightConnector1">
            <a:avLst/>
          </a:prstGeom>
          <a:noFill/>
          <a:ln cap="flat" cmpd="sng" w="9525">
            <a:solidFill>
              <a:schemeClr val="dk2"/>
            </a:solidFill>
            <a:prstDash val="dash"/>
            <a:round/>
            <a:headEnd len="med" w="med" type="none"/>
            <a:tailEnd len="med" w="med" type="none"/>
          </a:ln>
        </p:spPr>
      </p:cxnSp>
      <p:sp>
        <p:nvSpPr>
          <p:cNvPr id="2976" name="Google Shape;2976;p149"/>
          <p:cNvSpPr/>
          <p:nvPr/>
        </p:nvSpPr>
        <p:spPr>
          <a:xfrm>
            <a:off x="3830650" y="2364350"/>
            <a:ext cx="159600" cy="322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977" name="Google Shape;2977;p149"/>
          <p:cNvCxnSpPr>
            <a:endCxn id="2976" idx="1"/>
          </p:cNvCxnSpPr>
          <p:nvPr/>
        </p:nvCxnSpPr>
        <p:spPr>
          <a:xfrm>
            <a:off x="2228350" y="2525600"/>
            <a:ext cx="1602300" cy="0"/>
          </a:xfrm>
          <a:prstGeom prst="straightConnector1">
            <a:avLst/>
          </a:prstGeom>
          <a:noFill/>
          <a:ln cap="flat" cmpd="sng" w="9525">
            <a:solidFill>
              <a:schemeClr val="dk2"/>
            </a:solidFill>
            <a:prstDash val="solid"/>
            <a:round/>
            <a:headEnd len="med" w="med" type="none"/>
            <a:tailEnd len="med" w="med" type="triangle"/>
          </a:ln>
        </p:spPr>
      </p:cxnSp>
      <p:sp>
        <p:nvSpPr>
          <p:cNvPr id="2978" name="Google Shape;2978;p149"/>
          <p:cNvSpPr txBox="1"/>
          <p:nvPr/>
        </p:nvSpPr>
        <p:spPr>
          <a:xfrm>
            <a:off x="2419450" y="2185275"/>
            <a:ext cx="1411200" cy="39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Tiếp nhận (v1)</a:t>
            </a:r>
            <a:endParaRPr>
              <a:solidFill>
                <a:schemeClr val="dk2"/>
              </a:solidFill>
            </a:endParaRPr>
          </a:p>
        </p:txBody>
      </p:sp>
      <p:sp>
        <p:nvSpPr>
          <p:cNvPr id="2979" name="Google Shape;2979;p149"/>
          <p:cNvSpPr/>
          <p:nvPr/>
        </p:nvSpPr>
        <p:spPr>
          <a:xfrm>
            <a:off x="6490950" y="1826500"/>
            <a:ext cx="16914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u="sng"/>
              <a:t>v1</a:t>
            </a:r>
            <a:r>
              <a:rPr lang="en-GB" sz="1600" u="sng"/>
              <a:t>:</a:t>
            </a:r>
            <a:r>
              <a:rPr lang="en-GB" sz="1600" u="sng"/>
              <a:t>Khách thăm 1</a:t>
            </a:r>
            <a:endParaRPr sz="1600" u="sng"/>
          </a:p>
        </p:txBody>
      </p:sp>
      <p:cxnSp>
        <p:nvCxnSpPr>
          <p:cNvPr id="2980" name="Google Shape;2980;p149"/>
          <p:cNvCxnSpPr/>
          <p:nvPr/>
        </p:nvCxnSpPr>
        <p:spPr>
          <a:xfrm>
            <a:off x="7252075" y="2149000"/>
            <a:ext cx="0" cy="3267000"/>
          </a:xfrm>
          <a:prstGeom prst="straightConnector1">
            <a:avLst/>
          </a:prstGeom>
          <a:noFill/>
          <a:ln cap="flat" cmpd="sng" w="9525">
            <a:solidFill>
              <a:schemeClr val="dk2"/>
            </a:solidFill>
            <a:prstDash val="dash"/>
            <a:round/>
            <a:headEnd len="med" w="med" type="none"/>
            <a:tailEnd len="med" w="med" type="none"/>
          </a:ln>
        </p:spPr>
      </p:cxnSp>
      <p:sp>
        <p:nvSpPr>
          <p:cNvPr id="2981" name="Google Shape;2981;p149"/>
          <p:cNvSpPr/>
          <p:nvPr/>
        </p:nvSpPr>
        <p:spPr>
          <a:xfrm>
            <a:off x="3830650" y="2897750"/>
            <a:ext cx="159600" cy="322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82" name="Google Shape;2982;p149"/>
          <p:cNvSpPr/>
          <p:nvPr/>
        </p:nvSpPr>
        <p:spPr>
          <a:xfrm>
            <a:off x="7183450" y="2500456"/>
            <a:ext cx="159600" cy="689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983" name="Google Shape;2983;p149"/>
          <p:cNvCxnSpPr/>
          <p:nvPr/>
        </p:nvCxnSpPr>
        <p:spPr>
          <a:xfrm>
            <a:off x="3995275" y="2590875"/>
            <a:ext cx="3174600" cy="0"/>
          </a:xfrm>
          <a:prstGeom prst="straightConnector1">
            <a:avLst/>
          </a:prstGeom>
          <a:noFill/>
          <a:ln cap="flat" cmpd="sng" w="9525">
            <a:solidFill>
              <a:schemeClr val="dk2"/>
            </a:solidFill>
            <a:prstDash val="solid"/>
            <a:round/>
            <a:headEnd len="med" w="med" type="none"/>
            <a:tailEnd len="med" w="med" type="triangle"/>
          </a:ln>
        </p:spPr>
      </p:cxnSp>
      <p:sp>
        <p:nvSpPr>
          <p:cNvPr id="2984" name="Google Shape;2984;p149"/>
          <p:cNvSpPr txBox="1"/>
          <p:nvPr/>
        </p:nvSpPr>
        <p:spPr>
          <a:xfrm>
            <a:off x="4400650" y="2185275"/>
            <a:ext cx="1800900" cy="39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Thăm phần tử</a:t>
            </a:r>
            <a:r>
              <a:rPr lang="en-GB">
                <a:solidFill>
                  <a:schemeClr val="dk2"/>
                </a:solidFill>
              </a:rPr>
              <a:t> A</a:t>
            </a:r>
            <a:r>
              <a:rPr lang="en-GB">
                <a:solidFill>
                  <a:schemeClr val="dk2"/>
                </a:solidFill>
              </a:rPr>
              <a:t>(a)</a:t>
            </a:r>
            <a:endParaRPr>
              <a:solidFill>
                <a:schemeClr val="dk2"/>
              </a:solidFill>
            </a:endParaRPr>
          </a:p>
        </p:txBody>
      </p:sp>
      <p:sp>
        <p:nvSpPr>
          <p:cNvPr id="2985" name="Google Shape;2985;p149"/>
          <p:cNvSpPr txBox="1"/>
          <p:nvPr/>
        </p:nvSpPr>
        <p:spPr>
          <a:xfrm>
            <a:off x="5086450" y="2642475"/>
            <a:ext cx="1256400" cy="39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Thao tác A()</a:t>
            </a:r>
            <a:endParaRPr>
              <a:solidFill>
                <a:schemeClr val="dk2"/>
              </a:solidFill>
            </a:endParaRPr>
          </a:p>
        </p:txBody>
      </p:sp>
      <p:cxnSp>
        <p:nvCxnSpPr>
          <p:cNvPr id="2986" name="Google Shape;2986;p149"/>
          <p:cNvCxnSpPr/>
          <p:nvPr/>
        </p:nvCxnSpPr>
        <p:spPr>
          <a:xfrm rot="10800000">
            <a:off x="4005250" y="2997556"/>
            <a:ext cx="3178200" cy="0"/>
          </a:xfrm>
          <a:prstGeom prst="straightConnector1">
            <a:avLst/>
          </a:prstGeom>
          <a:noFill/>
          <a:ln cap="flat" cmpd="sng" w="9525">
            <a:solidFill>
              <a:schemeClr val="dk2"/>
            </a:solidFill>
            <a:prstDash val="solid"/>
            <a:round/>
            <a:headEnd len="med" w="med" type="none"/>
            <a:tailEnd len="med" w="med" type="triangle"/>
          </a:ln>
        </p:spPr>
      </p:cxnSp>
      <p:sp>
        <p:nvSpPr>
          <p:cNvPr id="2987" name="Google Shape;2987;p149"/>
          <p:cNvSpPr/>
          <p:nvPr/>
        </p:nvSpPr>
        <p:spPr>
          <a:xfrm>
            <a:off x="5430850" y="3888350"/>
            <a:ext cx="159600" cy="322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988" name="Google Shape;2988;p149"/>
          <p:cNvCxnSpPr/>
          <p:nvPr/>
        </p:nvCxnSpPr>
        <p:spPr>
          <a:xfrm>
            <a:off x="2218450" y="3973400"/>
            <a:ext cx="3212400" cy="0"/>
          </a:xfrm>
          <a:prstGeom prst="straightConnector1">
            <a:avLst/>
          </a:prstGeom>
          <a:noFill/>
          <a:ln cap="flat" cmpd="sng" w="9525">
            <a:solidFill>
              <a:schemeClr val="dk2"/>
            </a:solidFill>
            <a:prstDash val="solid"/>
            <a:round/>
            <a:headEnd len="med" w="med" type="none"/>
            <a:tailEnd len="med" w="med" type="triangle"/>
          </a:ln>
        </p:spPr>
      </p:cxnSp>
      <p:sp>
        <p:nvSpPr>
          <p:cNvPr id="2989" name="Google Shape;2989;p149"/>
          <p:cNvSpPr txBox="1"/>
          <p:nvPr/>
        </p:nvSpPr>
        <p:spPr>
          <a:xfrm>
            <a:off x="3333850" y="3633075"/>
            <a:ext cx="1411200" cy="39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Tiếp nhận (v1)</a:t>
            </a:r>
            <a:endParaRPr>
              <a:solidFill>
                <a:schemeClr val="dk2"/>
              </a:solidFill>
            </a:endParaRPr>
          </a:p>
        </p:txBody>
      </p:sp>
      <p:sp>
        <p:nvSpPr>
          <p:cNvPr id="2990" name="Google Shape;2990;p149"/>
          <p:cNvSpPr/>
          <p:nvPr/>
        </p:nvSpPr>
        <p:spPr>
          <a:xfrm>
            <a:off x="5430850" y="4574150"/>
            <a:ext cx="159600" cy="322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91" name="Google Shape;2991;p149"/>
          <p:cNvSpPr/>
          <p:nvPr/>
        </p:nvSpPr>
        <p:spPr>
          <a:xfrm>
            <a:off x="7183450" y="4100656"/>
            <a:ext cx="159600" cy="689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992" name="Google Shape;2992;p149"/>
          <p:cNvCxnSpPr/>
          <p:nvPr/>
        </p:nvCxnSpPr>
        <p:spPr>
          <a:xfrm>
            <a:off x="5602475" y="4171100"/>
            <a:ext cx="1567500" cy="0"/>
          </a:xfrm>
          <a:prstGeom prst="straightConnector1">
            <a:avLst/>
          </a:prstGeom>
          <a:noFill/>
          <a:ln cap="flat" cmpd="sng" w="9525">
            <a:solidFill>
              <a:schemeClr val="dk2"/>
            </a:solidFill>
            <a:prstDash val="solid"/>
            <a:round/>
            <a:headEnd len="med" w="med" type="none"/>
            <a:tailEnd len="med" w="med" type="triangle"/>
          </a:ln>
        </p:spPr>
      </p:cxnSp>
      <p:sp>
        <p:nvSpPr>
          <p:cNvPr id="2993" name="Google Shape;2993;p149"/>
          <p:cNvSpPr txBox="1"/>
          <p:nvPr/>
        </p:nvSpPr>
        <p:spPr>
          <a:xfrm>
            <a:off x="5543650" y="3785475"/>
            <a:ext cx="1800900" cy="39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Thăm phần tử </a:t>
            </a:r>
            <a:r>
              <a:rPr lang="en-GB">
                <a:solidFill>
                  <a:schemeClr val="dk2"/>
                </a:solidFill>
              </a:rPr>
              <a:t>B</a:t>
            </a:r>
            <a:r>
              <a:rPr lang="en-GB">
                <a:solidFill>
                  <a:schemeClr val="dk2"/>
                </a:solidFill>
              </a:rPr>
              <a:t>(</a:t>
            </a:r>
            <a:r>
              <a:rPr lang="en-GB">
                <a:solidFill>
                  <a:schemeClr val="dk2"/>
                </a:solidFill>
              </a:rPr>
              <a:t>b</a:t>
            </a:r>
            <a:r>
              <a:rPr lang="en-GB">
                <a:solidFill>
                  <a:schemeClr val="dk2"/>
                </a:solidFill>
              </a:rPr>
              <a:t>)</a:t>
            </a:r>
            <a:endParaRPr>
              <a:solidFill>
                <a:schemeClr val="dk2"/>
              </a:solidFill>
            </a:endParaRPr>
          </a:p>
        </p:txBody>
      </p:sp>
      <p:sp>
        <p:nvSpPr>
          <p:cNvPr id="2994" name="Google Shape;2994;p149"/>
          <p:cNvSpPr txBox="1"/>
          <p:nvPr/>
        </p:nvSpPr>
        <p:spPr>
          <a:xfrm>
            <a:off x="5848450" y="4318875"/>
            <a:ext cx="1256400" cy="39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Thao tác </a:t>
            </a:r>
            <a:r>
              <a:rPr lang="en-GB">
                <a:solidFill>
                  <a:schemeClr val="dk2"/>
                </a:solidFill>
              </a:rPr>
              <a:t>B</a:t>
            </a:r>
            <a:r>
              <a:rPr lang="en-GB">
                <a:solidFill>
                  <a:schemeClr val="dk2"/>
                </a:solidFill>
              </a:rPr>
              <a:t>()</a:t>
            </a:r>
            <a:endParaRPr>
              <a:solidFill>
                <a:schemeClr val="dk2"/>
              </a:solidFill>
            </a:endParaRPr>
          </a:p>
        </p:txBody>
      </p:sp>
      <p:cxnSp>
        <p:nvCxnSpPr>
          <p:cNvPr id="2995" name="Google Shape;2995;p149"/>
          <p:cNvCxnSpPr/>
          <p:nvPr/>
        </p:nvCxnSpPr>
        <p:spPr>
          <a:xfrm rot="10800000">
            <a:off x="5612350" y="4673956"/>
            <a:ext cx="1571100" cy="0"/>
          </a:xfrm>
          <a:prstGeom prst="straightConnector1">
            <a:avLst/>
          </a:prstGeom>
          <a:noFill/>
          <a:ln cap="flat" cmpd="sng" w="9525">
            <a:solidFill>
              <a:schemeClr val="dk2"/>
            </a:solidFill>
            <a:prstDash val="solid"/>
            <a:round/>
            <a:headEnd len="med" w="med" type="none"/>
            <a:tailEnd len="med" w="med" type="triangle"/>
          </a:ln>
        </p:spPr>
      </p:cxnSp>
      <p:sp>
        <p:nvSpPr>
          <p:cNvPr id="2996" name="Google Shape;2996;p149"/>
          <p:cNvSpPr txBox="1"/>
          <p:nvPr/>
        </p:nvSpPr>
        <p:spPr>
          <a:xfrm>
            <a:off x="3595325" y="783225"/>
            <a:ext cx="4835700" cy="60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1700">
                <a:solidFill>
                  <a:srgbClr val="666666"/>
                </a:solidFill>
              </a:rPr>
              <a:t>Tạo lớp v1 thay vì bổ xung phương thức A::v1() và B::v1()</a:t>
            </a:r>
            <a:endParaRPr i="1" sz="1700">
              <a:solidFill>
                <a:srgbClr val="666666"/>
              </a:solidFill>
            </a:endParaRPr>
          </a:p>
        </p:txBody>
      </p:sp>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0" name="Shape 3000"/>
        <p:cNvGrpSpPr/>
        <p:nvPr/>
      </p:nvGrpSpPr>
      <p:grpSpPr>
        <a:xfrm>
          <a:off x="0" y="0"/>
          <a:ext cx="0" cy="0"/>
          <a:chOff x="0" y="0"/>
          <a:chExt cx="0" cy="0"/>
        </a:xfrm>
      </p:grpSpPr>
      <p:sp>
        <p:nvSpPr>
          <p:cNvPr id="3001" name="Google Shape;3001;p150"/>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Khách thăm: Các hệ quả</a:t>
            </a:r>
            <a:endParaRPr/>
          </a:p>
        </p:txBody>
      </p:sp>
      <p:sp>
        <p:nvSpPr>
          <p:cNvPr id="3002" name="Google Shape;3002;p15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3003" name="Google Shape;3003;p150"/>
          <p:cNvSpPr txBox="1"/>
          <p:nvPr>
            <p:ph idx="1" type="body"/>
          </p:nvPr>
        </p:nvSpPr>
        <p:spPr>
          <a:xfrm>
            <a:off x="311700" y="950475"/>
            <a:ext cx="8520600" cy="54183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Khách thăm giúp làm đơn giản hóa việc thêm các thao tác, phụ thuộc vào các thành phần của đối tượng phức tạp, chỉ cần định nghĩa lớp khách thăm mới.</a:t>
            </a:r>
            <a:endParaRPr/>
          </a:p>
          <a:p>
            <a:pPr indent="-381000" lvl="0" marL="457200" rtl="0" algn="l">
              <a:spcBef>
                <a:spcPts val="0"/>
              </a:spcBef>
              <a:spcAft>
                <a:spcPts val="0"/>
              </a:spcAft>
              <a:buSzPts val="2400"/>
              <a:buChar char="●"/>
            </a:pPr>
            <a:r>
              <a:rPr lang="en-GB"/>
              <a:t>Khách thăm gom các thao tác liên quan lại và phân tách các thao tác không liên quan. </a:t>
            </a:r>
            <a:endParaRPr/>
          </a:p>
          <a:p>
            <a:pPr indent="-381000" lvl="0" marL="457200" rtl="0" algn="l">
              <a:spcBef>
                <a:spcPts val="0"/>
              </a:spcBef>
              <a:spcAft>
                <a:spcPts val="0"/>
              </a:spcAft>
              <a:buSzPts val="2400"/>
              <a:buChar char="●"/>
            </a:pPr>
            <a:r>
              <a:rPr lang="en-GB"/>
              <a:t>Khó thêm các lớp thành phần cụ thể. Mỗi phần tử cụ thể mới kéo theo một thao tác khái quát trong Khách thăm và tất cả các Khách thăm cụ thể đã được triển khai.</a:t>
            </a:r>
            <a:endParaRPr/>
          </a:p>
          <a:p>
            <a:pPr indent="-381000" lvl="0" marL="457200" rtl="0" algn="l">
              <a:spcBef>
                <a:spcPts val="0"/>
              </a:spcBef>
              <a:spcAft>
                <a:spcPts val="0"/>
              </a:spcAft>
              <a:buSzPts val="2400"/>
              <a:buChar char="●"/>
            </a:pPr>
            <a:r>
              <a:rPr lang="en-GB"/>
              <a:t>Các đối tượng khách thăm có thể tích lũy trạng thái khi thăm từng phần tử trong cấu trúc đối tượng.</a:t>
            </a:r>
            <a:endParaRPr/>
          </a:p>
          <a:p>
            <a:pPr indent="-381000" lvl="0" marL="457200" rtl="0" algn="l">
              <a:spcBef>
                <a:spcPts val="0"/>
              </a:spcBef>
              <a:spcAft>
                <a:spcPts val="0"/>
              </a:spcAft>
              <a:buSzPts val="2400"/>
              <a:buChar char="●"/>
            </a:pPr>
            <a:r>
              <a:rPr lang="en-GB"/>
              <a:t>Mẫu khách thăm giả định giao diện của phần tử đủ mạnh để cho phép khách thăm thực hiện công việc, việc này có thể dẫn đến phá vỡ giới hạn đóng gói.</a:t>
            </a:r>
            <a:endParaRPr/>
          </a:p>
        </p:txBody>
      </p:sp>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7" name="Shape 3007"/>
        <p:cNvGrpSpPr/>
        <p:nvPr/>
      </p:nvGrpSpPr>
      <p:grpSpPr>
        <a:xfrm>
          <a:off x="0" y="0"/>
          <a:ext cx="0" cy="0"/>
          <a:chOff x="0" y="0"/>
          <a:chExt cx="0" cy="0"/>
        </a:xfrm>
      </p:grpSpPr>
      <p:sp>
        <p:nvSpPr>
          <p:cNvPr id="3008" name="Google Shape;3008;p151"/>
          <p:cNvSpPr txBox="1"/>
          <p:nvPr>
            <p:ph idx="4294967295"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26. Cây cú pháp khái quát</a:t>
            </a:r>
            <a:endParaRPr/>
          </a:p>
        </p:txBody>
      </p:sp>
      <p:sp>
        <p:nvSpPr>
          <p:cNvPr id="3009" name="Google Shape;3009;p15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3010" name="Google Shape;3010;p151"/>
          <p:cNvSpPr/>
          <p:nvPr/>
        </p:nvSpPr>
        <p:spPr>
          <a:xfrm>
            <a:off x="4278218" y="3656425"/>
            <a:ext cx="20208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i="1" lang="en-GB" sz="1600"/>
              <a:t>Node</a:t>
            </a:r>
            <a:endParaRPr i="1" sz="1600"/>
          </a:p>
        </p:txBody>
      </p:sp>
      <p:sp>
        <p:nvSpPr>
          <p:cNvPr id="3011" name="Google Shape;3011;p151"/>
          <p:cNvSpPr/>
          <p:nvPr/>
        </p:nvSpPr>
        <p:spPr>
          <a:xfrm>
            <a:off x="4278200" y="3978650"/>
            <a:ext cx="2020800" cy="3855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i="1" lang="en-GB" sz="1600"/>
              <a:t>Accept</a:t>
            </a:r>
            <a:r>
              <a:rPr i="1" lang="en-GB" sz="1600"/>
              <a:t>(</a:t>
            </a:r>
            <a:r>
              <a:rPr i="1" lang="en-GB" sz="1600"/>
              <a:t>NodeVisitor</a:t>
            </a:r>
            <a:r>
              <a:rPr i="1" lang="en-GB" sz="1600"/>
              <a:t>)</a:t>
            </a:r>
            <a:endParaRPr i="1" sz="1600"/>
          </a:p>
        </p:txBody>
      </p:sp>
      <p:sp>
        <p:nvSpPr>
          <p:cNvPr id="3012" name="Google Shape;3012;p151"/>
          <p:cNvSpPr/>
          <p:nvPr/>
        </p:nvSpPr>
        <p:spPr>
          <a:xfrm>
            <a:off x="4845966" y="4365478"/>
            <a:ext cx="191700" cy="1047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3" name="Google Shape;3013;p151"/>
          <p:cNvSpPr/>
          <p:nvPr/>
        </p:nvSpPr>
        <p:spPr>
          <a:xfrm>
            <a:off x="5531766" y="4365478"/>
            <a:ext cx="191700" cy="1047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4" name="Google Shape;3014;p151"/>
          <p:cNvSpPr/>
          <p:nvPr/>
        </p:nvSpPr>
        <p:spPr>
          <a:xfrm>
            <a:off x="2435700" y="4723225"/>
            <a:ext cx="21762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AssignmentNode</a:t>
            </a:r>
            <a:endParaRPr sz="1600"/>
          </a:p>
        </p:txBody>
      </p:sp>
      <p:sp>
        <p:nvSpPr>
          <p:cNvPr id="3015" name="Google Shape;3015;p151"/>
          <p:cNvSpPr/>
          <p:nvPr/>
        </p:nvSpPr>
        <p:spPr>
          <a:xfrm>
            <a:off x="5985193" y="4723225"/>
            <a:ext cx="21159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VariableRefNode</a:t>
            </a:r>
            <a:endParaRPr sz="1600"/>
          </a:p>
        </p:txBody>
      </p:sp>
      <p:sp>
        <p:nvSpPr>
          <p:cNvPr id="3016" name="Google Shape;3016;p151"/>
          <p:cNvSpPr/>
          <p:nvPr/>
        </p:nvSpPr>
        <p:spPr>
          <a:xfrm>
            <a:off x="5985175" y="5045450"/>
            <a:ext cx="2115900" cy="3855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lang="en-GB" sz="1600"/>
              <a:t>Accept</a:t>
            </a:r>
            <a:r>
              <a:rPr lang="en-GB" sz="1600"/>
              <a:t>(</a:t>
            </a:r>
            <a:r>
              <a:rPr lang="en-GB" sz="1600"/>
              <a:t>NodeVisitor</a:t>
            </a:r>
            <a:r>
              <a:rPr lang="en-GB" sz="1600"/>
              <a:t>)</a:t>
            </a:r>
            <a:endParaRPr sz="1600"/>
          </a:p>
        </p:txBody>
      </p:sp>
      <p:sp>
        <p:nvSpPr>
          <p:cNvPr id="3017" name="Google Shape;3017;p151"/>
          <p:cNvSpPr/>
          <p:nvPr/>
        </p:nvSpPr>
        <p:spPr>
          <a:xfrm flipH="1" rot="10800000">
            <a:off x="6545522" y="5786325"/>
            <a:ext cx="2225400" cy="409500"/>
          </a:xfrm>
          <a:prstGeom prst="foldedCorner">
            <a:avLst>
              <a:gd fmla="val 25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8" name="Google Shape;3018;p151"/>
          <p:cNvSpPr txBox="1"/>
          <p:nvPr/>
        </p:nvSpPr>
        <p:spPr>
          <a:xfrm>
            <a:off x="6533725" y="5742400"/>
            <a:ext cx="2260800" cy="41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v-&gt;Visit</a:t>
            </a:r>
            <a:r>
              <a:rPr lang="en-GB"/>
              <a:t>VariableRef</a:t>
            </a:r>
            <a:r>
              <a:rPr lang="en-GB"/>
              <a:t>(this)</a:t>
            </a:r>
            <a:endParaRPr/>
          </a:p>
        </p:txBody>
      </p:sp>
      <p:sp>
        <p:nvSpPr>
          <p:cNvPr id="3019" name="Google Shape;3019;p151"/>
          <p:cNvSpPr/>
          <p:nvPr/>
        </p:nvSpPr>
        <p:spPr>
          <a:xfrm>
            <a:off x="7856909" y="5169999"/>
            <a:ext cx="105300" cy="1047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020" name="Google Shape;3020;p151"/>
          <p:cNvCxnSpPr>
            <a:stCxn id="3014" idx="0"/>
            <a:endCxn id="3012" idx="3"/>
          </p:cNvCxnSpPr>
          <p:nvPr/>
        </p:nvCxnSpPr>
        <p:spPr>
          <a:xfrm rot="-5400000">
            <a:off x="4106400" y="3887725"/>
            <a:ext cx="252900" cy="1418100"/>
          </a:xfrm>
          <a:prstGeom prst="bentConnector3">
            <a:avLst>
              <a:gd fmla="val 50029" name="adj1"/>
            </a:avLst>
          </a:prstGeom>
          <a:noFill/>
          <a:ln cap="flat" cmpd="sng" w="9525">
            <a:solidFill>
              <a:schemeClr val="dk2"/>
            </a:solidFill>
            <a:prstDash val="solid"/>
            <a:round/>
            <a:headEnd len="med" w="med" type="none"/>
            <a:tailEnd len="med" w="med" type="none"/>
          </a:ln>
        </p:spPr>
      </p:cxnSp>
      <p:cxnSp>
        <p:nvCxnSpPr>
          <p:cNvPr id="3021" name="Google Shape;3021;p151"/>
          <p:cNvCxnSpPr>
            <a:stCxn id="3015" idx="0"/>
            <a:endCxn id="3013" idx="3"/>
          </p:cNvCxnSpPr>
          <p:nvPr/>
        </p:nvCxnSpPr>
        <p:spPr>
          <a:xfrm flipH="1" rot="5400000">
            <a:off x="6208993" y="3889075"/>
            <a:ext cx="252900" cy="1415400"/>
          </a:xfrm>
          <a:prstGeom prst="bentConnector3">
            <a:avLst>
              <a:gd fmla="val 50029" name="adj1"/>
            </a:avLst>
          </a:prstGeom>
          <a:noFill/>
          <a:ln cap="flat" cmpd="sng" w="9525">
            <a:solidFill>
              <a:schemeClr val="dk2"/>
            </a:solidFill>
            <a:prstDash val="solid"/>
            <a:round/>
            <a:headEnd len="med" w="med" type="none"/>
            <a:tailEnd len="med" w="med" type="none"/>
          </a:ln>
        </p:spPr>
      </p:cxnSp>
      <p:cxnSp>
        <p:nvCxnSpPr>
          <p:cNvPr id="3022" name="Google Shape;3022;p151"/>
          <p:cNvCxnSpPr/>
          <p:nvPr/>
        </p:nvCxnSpPr>
        <p:spPr>
          <a:xfrm rot="10800000">
            <a:off x="7910950" y="5250975"/>
            <a:ext cx="0" cy="537300"/>
          </a:xfrm>
          <a:prstGeom prst="straightConnector1">
            <a:avLst/>
          </a:prstGeom>
          <a:noFill/>
          <a:ln cap="flat" cmpd="sng" w="9525">
            <a:solidFill>
              <a:schemeClr val="dk2"/>
            </a:solidFill>
            <a:prstDash val="dash"/>
            <a:round/>
            <a:headEnd len="med" w="med" type="none"/>
            <a:tailEnd len="med" w="med" type="none"/>
          </a:ln>
        </p:spPr>
      </p:cxnSp>
      <p:sp>
        <p:nvSpPr>
          <p:cNvPr id="3023" name="Google Shape;3023;p151"/>
          <p:cNvSpPr/>
          <p:nvPr/>
        </p:nvSpPr>
        <p:spPr>
          <a:xfrm>
            <a:off x="2439344" y="5045450"/>
            <a:ext cx="2176200" cy="3855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lang="en-GB" sz="1600"/>
              <a:t>Accept(NodeVisitor)</a:t>
            </a:r>
            <a:endParaRPr sz="1600"/>
          </a:p>
        </p:txBody>
      </p:sp>
      <p:sp>
        <p:nvSpPr>
          <p:cNvPr id="3024" name="Google Shape;3024;p151"/>
          <p:cNvSpPr/>
          <p:nvPr/>
        </p:nvSpPr>
        <p:spPr>
          <a:xfrm>
            <a:off x="392023" y="3656425"/>
            <a:ext cx="1545000" cy="409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Program</a:t>
            </a:r>
            <a:endParaRPr sz="1600"/>
          </a:p>
        </p:txBody>
      </p:sp>
      <p:sp>
        <p:nvSpPr>
          <p:cNvPr id="3025" name="Google Shape;3025;p151"/>
          <p:cNvSpPr/>
          <p:nvPr/>
        </p:nvSpPr>
        <p:spPr>
          <a:xfrm>
            <a:off x="3502179" y="1218025"/>
            <a:ext cx="33141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i="1" lang="en-GB" sz="1600"/>
              <a:t>NodeVisitor</a:t>
            </a:r>
            <a:endParaRPr i="1" sz="1600"/>
          </a:p>
        </p:txBody>
      </p:sp>
      <p:sp>
        <p:nvSpPr>
          <p:cNvPr id="3026" name="Google Shape;3026;p151"/>
          <p:cNvSpPr/>
          <p:nvPr/>
        </p:nvSpPr>
        <p:spPr>
          <a:xfrm>
            <a:off x="3502150" y="1540525"/>
            <a:ext cx="3314100" cy="6435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i="1" lang="en-GB" sz="1600"/>
              <a:t>VisitAssignment</a:t>
            </a:r>
            <a:r>
              <a:rPr i="1" lang="en-GB" sz="1600"/>
              <a:t>(AssignmentNode)</a:t>
            </a:r>
            <a:endParaRPr i="1" sz="1600"/>
          </a:p>
          <a:p>
            <a:pPr indent="0" lvl="0" marL="0" rtl="0" algn="l">
              <a:spcBef>
                <a:spcPts val="0"/>
              </a:spcBef>
              <a:spcAft>
                <a:spcPts val="0"/>
              </a:spcAft>
              <a:buNone/>
            </a:pPr>
            <a:r>
              <a:rPr i="1" lang="en-GB" sz="1600"/>
              <a:t>VisitVariableRef(VariableRefNode)</a:t>
            </a:r>
            <a:endParaRPr i="1" sz="1600"/>
          </a:p>
        </p:txBody>
      </p:sp>
      <p:sp>
        <p:nvSpPr>
          <p:cNvPr id="3027" name="Google Shape;3027;p151"/>
          <p:cNvSpPr/>
          <p:nvPr/>
        </p:nvSpPr>
        <p:spPr>
          <a:xfrm>
            <a:off x="4769766" y="2185625"/>
            <a:ext cx="191700" cy="1047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8" name="Google Shape;3028;p151"/>
          <p:cNvSpPr/>
          <p:nvPr/>
        </p:nvSpPr>
        <p:spPr>
          <a:xfrm>
            <a:off x="5455566" y="2185625"/>
            <a:ext cx="191700" cy="1047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9" name="Google Shape;3029;p151"/>
          <p:cNvSpPr/>
          <p:nvPr/>
        </p:nvSpPr>
        <p:spPr>
          <a:xfrm>
            <a:off x="1780325" y="2513425"/>
            <a:ext cx="3308700" cy="2919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TypeCheckingVisitor</a:t>
            </a:r>
            <a:endParaRPr sz="1600"/>
          </a:p>
        </p:txBody>
      </p:sp>
      <p:sp>
        <p:nvSpPr>
          <p:cNvPr id="3030" name="Google Shape;3030;p151"/>
          <p:cNvSpPr/>
          <p:nvPr/>
        </p:nvSpPr>
        <p:spPr>
          <a:xfrm>
            <a:off x="5299405" y="2513425"/>
            <a:ext cx="3451800" cy="3225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600"/>
              <a:t>CodeGeneratingVisitor</a:t>
            </a:r>
            <a:endParaRPr sz="1600"/>
          </a:p>
        </p:txBody>
      </p:sp>
      <p:sp>
        <p:nvSpPr>
          <p:cNvPr id="3031" name="Google Shape;3031;p151"/>
          <p:cNvSpPr/>
          <p:nvPr/>
        </p:nvSpPr>
        <p:spPr>
          <a:xfrm>
            <a:off x="5299375" y="2835650"/>
            <a:ext cx="3451800" cy="5922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Clr>
                <a:schemeClr val="dk1"/>
              </a:buClr>
              <a:buSzPts val="1100"/>
              <a:buFont typeface="Arial"/>
              <a:buNone/>
            </a:pPr>
            <a:r>
              <a:rPr lang="en-GB" sz="1600">
                <a:solidFill>
                  <a:schemeClr val="dk1"/>
                </a:solidFill>
              </a:rPr>
              <a:t>VisitAssignment(AssignmentNode)</a:t>
            </a:r>
            <a:endParaRPr sz="1600">
              <a:solidFill>
                <a:schemeClr val="dk1"/>
              </a:solidFill>
            </a:endParaRPr>
          </a:p>
          <a:p>
            <a:pPr indent="0" lvl="0" marL="0" rtl="0" algn="l">
              <a:spcBef>
                <a:spcPts val="0"/>
              </a:spcBef>
              <a:spcAft>
                <a:spcPts val="0"/>
              </a:spcAft>
              <a:buNone/>
            </a:pPr>
            <a:r>
              <a:rPr lang="en-GB" sz="1600">
                <a:solidFill>
                  <a:schemeClr val="dk1"/>
                </a:solidFill>
              </a:rPr>
              <a:t>VisitVariableRef(VariableRefNode)</a:t>
            </a:r>
            <a:endParaRPr sz="1600"/>
          </a:p>
        </p:txBody>
      </p:sp>
      <p:cxnSp>
        <p:nvCxnSpPr>
          <p:cNvPr id="3032" name="Google Shape;3032;p151"/>
          <p:cNvCxnSpPr>
            <a:stCxn id="3029" idx="0"/>
            <a:endCxn id="3027" idx="3"/>
          </p:cNvCxnSpPr>
          <p:nvPr/>
        </p:nvCxnSpPr>
        <p:spPr>
          <a:xfrm rot="-5400000">
            <a:off x="4038575" y="1686325"/>
            <a:ext cx="223200" cy="1431000"/>
          </a:xfrm>
          <a:prstGeom prst="bentConnector3">
            <a:avLst>
              <a:gd fmla="val 49978" name="adj1"/>
            </a:avLst>
          </a:prstGeom>
          <a:noFill/>
          <a:ln cap="flat" cmpd="sng" w="9525">
            <a:solidFill>
              <a:schemeClr val="dk2"/>
            </a:solidFill>
            <a:prstDash val="solid"/>
            <a:round/>
            <a:headEnd len="med" w="med" type="none"/>
            <a:tailEnd len="med" w="med" type="none"/>
          </a:ln>
        </p:spPr>
      </p:cxnSp>
      <p:cxnSp>
        <p:nvCxnSpPr>
          <p:cNvPr id="3033" name="Google Shape;3033;p151"/>
          <p:cNvCxnSpPr>
            <a:stCxn id="3030" idx="0"/>
            <a:endCxn id="3028" idx="3"/>
          </p:cNvCxnSpPr>
          <p:nvPr/>
        </p:nvCxnSpPr>
        <p:spPr>
          <a:xfrm flipH="1" rot="5400000">
            <a:off x="6176755" y="1664875"/>
            <a:ext cx="223200" cy="1473900"/>
          </a:xfrm>
          <a:prstGeom prst="bentConnector3">
            <a:avLst>
              <a:gd fmla="val 49978" name="adj1"/>
            </a:avLst>
          </a:prstGeom>
          <a:noFill/>
          <a:ln cap="flat" cmpd="sng" w="9525">
            <a:solidFill>
              <a:schemeClr val="dk2"/>
            </a:solidFill>
            <a:prstDash val="solid"/>
            <a:round/>
            <a:headEnd len="med" w="med" type="none"/>
            <a:tailEnd len="med" w="med" type="none"/>
          </a:ln>
        </p:spPr>
      </p:cxnSp>
      <p:sp>
        <p:nvSpPr>
          <p:cNvPr id="3034" name="Google Shape;3034;p151"/>
          <p:cNvSpPr/>
          <p:nvPr/>
        </p:nvSpPr>
        <p:spPr>
          <a:xfrm>
            <a:off x="1785874" y="2805114"/>
            <a:ext cx="3308700" cy="622800"/>
          </a:xfrm>
          <a:prstGeom prst="rect">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Clr>
                <a:schemeClr val="dk1"/>
              </a:buClr>
              <a:buSzPts val="1100"/>
              <a:buFont typeface="Arial"/>
              <a:buNone/>
            </a:pPr>
            <a:r>
              <a:rPr lang="en-GB" sz="1600">
                <a:solidFill>
                  <a:schemeClr val="dk1"/>
                </a:solidFill>
              </a:rPr>
              <a:t>VisitAssignment(AssignmentNode)</a:t>
            </a:r>
            <a:endParaRPr sz="1600">
              <a:solidFill>
                <a:schemeClr val="dk1"/>
              </a:solidFill>
            </a:endParaRPr>
          </a:p>
          <a:p>
            <a:pPr indent="0" lvl="0" marL="0" rtl="0" algn="l">
              <a:spcBef>
                <a:spcPts val="0"/>
              </a:spcBef>
              <a:spcAft>
                <a:spcPts val="0"/>
              </a:spcAft>
              <a:buNone/>
            </a:pPr>
            <a:r>
              <a:rPr lang="en-GB" sz="1600">
                <a:solidFill>
                  <a:schemeClr val="dk1"/>
                </a:solidFill>
              </a:rPr>
              <a:t>VisitVariableRef(VariableRefNode)</a:t>
            </a:r>
            <a:endParaRPr sz="1600"/>
          </a:p>
        </p:txBody>
      </p:sp>
      <p:sp>
        <p:nvSpPr>
          <p:cNvPr id="3035" name="Google Shape;3035;p151"/>
          <p:cNvSpPr/>
          <p:nvPr/>
        </p:nvSpPr>
        <p:spPr>
          <a:xfrm>
            <a:off x="1937550" y="3728227"/>
            <a:ext cx="191700" cy="159600"/>
          </a:xfrm>
          <a:prstGeom prst="diamond">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3036" name="Google Shape;3036;p151"/>
          <p:cNvCxnSpPr>
            <a:stCxn id="3035" idx="3"/>
            <a:endCxn id="3010" idx="1"/>
          </p:cNvCxnSpPr>
          <p:nvPr/>
        </p:nvCxnSpPr>
        <p:spPr>
          <a:xfrm>
            <a:off x="2129250" y="3808027"/>
            <a:ext cx="2148900" cy="9600"/>
          </a:xfrm>
          <a:prstGeom prst="straightConnector1">
            <a:avLst/>
          </a:prstGeom>
          <a:noFill/>
          <a:ln cap="flat" cmpd="sng" w="9525">
            <a:solidFill>
              <a:schemeClr val="dk2"/>
            </a:solidFill>
            <a:prstDash val="solid"/>
            <a:round/>
            <a:headEnd len="med" w="med" type="none"/>
            <a:tailEnd len="med" w="med" type="none"/>
          </a:ln>
        </p:spPr>
      </p:cxnSp>
      <p:cxnSp>
        <p:nvCxnSpPr>
          <p:cNvPr id="3037" name="Google Shape;3037;p151"/>
          <p:cNvCxnSpPr>
            <a:stCxn id="3025" idx="1"/>
            <a:endCxn id="3024" idx="0"/>
          </p:cNvCxnSpPr>
          <p:nvPr/>
        </p:nvCxnSpPr>
        <p:spPr>
          <a:xfrm flipH="1">
            <a:off x="1164579" y="1379275"/>
            <a:ext cx="2337600" cy="2277300"/>
          </a:xfrm>
          <a:prstGeom prst="bentConnector2">
            <a:avLst/>
          </a:prstGeom>
          <a:noFill/>
          <a:ln cap="flat" cmpd="sng" w="9525">
            <a:solidFill>
              <a:schemeClr val="dk2"/>
            </a:solidFill>
            <a:prstDash val="solid"/>
            <a:round/>
            <a:headEnd len="med" w="med" type="none"/>
            <a:tailEnd len="med" w="med" type="none"/>
          </a:ln>
        </p:spPr>
      </p:cxnSp>
      <p:sp>
        <p:nvSpPr>
          <p:cNvPr id="3038" name="Google Shape;3038;p151"/>
          <p:cNvSpPr/>
          <p:nvPr/>
        </p:nvSpPr>
        <p:spPr>
          <a:xfrm flipH="1" rot="10800000">
            <a:off x="2872577" y="5786325"/>
            <a:ext cx="2391300" cy="409500"/>
          </a:xfrm>
          <a:prstGeom prst="foldedCorner">
            <a:avLst>
              <a:gd fmla="val 25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9" name="Google Shape;3039;p151"/>
          <p:cNvSpPr txBox="1"/>
          <p:nvPr/>
        </p:nvSpPr>
        <p:spPr>
          <a:xfrm>
            <a:off x="2859900" y="5742400"/>
            <a:ext cx="2429400" cy="41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v-&gt;Visit</a:t>
            </a:r>
            <a:r>
              <a:rPr lang="en-GB"/>
              <a:t>Assignment</a:t>
            </a:r>
            <a:r>
              <a:rPr lang="en-GB"/>
              <a:t>Ref(this)</a:t>
            </a:r>
            <a:endParaRPr/>
          </a:p>
        </p:txBody>
      </p:sp>
      <p:sp>
        <p:nvSpPr>
          <p:cNvPr id="3040" name="Google Shape;3040;p151"/>
          <p:cNvSpPr/>
          <p:nvPr/>
        </p:nvSpPr>
        <p:spPr>
          <a:xfrm>
            <a:off x="4351709" y="5169999"/>
            <a:ext cx="105300" cy="1047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041" name="Google Shape;3041;p151"/>
          <p:cNvCxnSpPr/>
          <p:nvPr/>
        </p:nvCxnSpPr>
        <p:spPr>
          <a:xfrm rot="10800000">
            <a:off x="4405750" y="5250975"/>
            <a:ext cx="0" cy="537300"/>
          </a:xfrm>
          <a:prstGeom prst="straightConnector1">
            <a:avLst/>
          </a:prstGeom>
          <a:noFill/>
          <a:ln cap="flat" cmpd="sng" w="9525">
            <a:solidFill>
              <a:schemeClr val="dk2"/>
            </a:solidFill>
            <a:prstDash val="dash"/>
            <a:round/>
            <a:headEnd len="med" w="med" type="none"/>
            <a:tailEnd len="med" w="med" type="none"/>
          </a:ln>
        </p:spPr>
      </p:cxnSp>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5" name="Shape 3045"/>
        <p:cNvGrpSpPr/>
        <p:nvPr/>
      </p:nvGrpSpPr>
      <p:grpSpPr>
        <a:xfrm>
          <a:off x="0" y="0"/>
          <a:ext cx="0" cy="0"/>
          <a:chOff x="0" y="0"/>
          <a:chExt cx="0" cy="0"/>
        </a:xfrm>
      </p:grpSpPr>
      <p:sp>
        <p:nvSpPr>
          <p:cNvPr id="3046" name="Google Shape;3046;p15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3047" name="Google Shape;3047;p152"/>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Tổng kết về mẫu </a:t>
            </a:r>
            <a:r>
              <a:rPr lang="en-GB"/>
              <a:t>hành vi</a:t>
            </a:r>
            <a:endParaRPr/>
          </a:p>
        </p:txBody>
      </p:sp>
      <p:sp>
        <p:nvSpPr>
          <p:cNvPr id="3048" name="Google Shape;3048;p152"/>
          <p:cNvSpPr txBox="1"/>
          <p:nvPr>
            <p:ph idx="1" type="body"/>
          </p:nvPr>
        </p:nvSpPr>
        <p:spPr>
          <a:xfrm>
            <a:off x="311700" y="950475"/>
            <a:ext cx="8520600" cy="54183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Đóng gói các thay đổi:</a:t>
            </a:r>
            <a:endParaRPr/>
          </a:p>
          <a:p>
            <a:pPr indent="-368300" lvl="1" marL="914400" rtl="0" algn="l">
              <a:spcBef>
                <a:spcPts val="0"/>
              </a:spcBef>
              <a:spcAft>
                <a:spcPts val="0"/>
              </a:spcAft>
              <a:buSzPts val="2200"/>
              <a:buChar char="○"/>
            </a:pPr>
            <a:r>
              <a:rPr lang="en-GB"/>
              <a:t>Đối tượng chiến thuật đóng gói giải thuật;</a:t>
            </a:r>
            <a:endParaRPr/>
          </a:p>
          <a:p>
            <a:pPr indent="-368300" lvl="1" marL="914400" rtl="0" algn="l">
              <a:spcBef>
                <a:spcPts val="0"/>
              </a:spcBef>
              <a:spcAft>
                <a:spcPts val="0"/>
              </a:spcAft>
              <a:buSzPts val="2200"/>
              <a:buChar char="○"/>
            </a:pPr>
            <a:r>
              <a:rPr lang="en-GB"/>
              <a:t>Đối tượng trạng thái đóng gói hành vi theo trạng thái;</a:t>
            </a:r>
            <a:endParaRPr/>
          </a:p>
          <a:p>
            <a:pPr indent="-368300" lvl="1" marL="914400" rtl="0" algn="l">
              <a:spcBef>
                <a:spcPts val="0"/>
              </a:spcBef>
              <a:spcAft>
                <a:spcPts val="0"/>
              </a:spcAft>
              <a:buSzPts val="2200"/>
              <a:buChar char="○"/>
            </a:pPr>
            <a:r>
              <a:rPr lang="en-GB"/>
              <a:t>Đối tượng điều phối đóng gói giao thức giữa các đối tượng;</a:t>
            </a:r>
            <a:endParaRPr/>
          </a:p>
          <a:p>
            <a:pPr indent="-368300" lvl="1" marL="914400" rtl="0" algn="l">
              <a:spcBef>
                <a:spcPts val="0"/>
              </a:spcBef>
              <a:spcAft>
                <a:spcPts val="0"/>
              </a:spcAft>
              <a:buSzPts val="2200"/>
              <a:buChar char="○"/>
            </a:pPr>
            <a:r>
              <a:rPr lang="en-GB"/>
              <a:t>Đối tượng duyệt đóng gói cách truy cập và duyệt các đối tượng trong lưu trữ.</a:t>
            </a:r>
            <a:endParaRPr/>
          </a:p>
        </p:txBody>
      </p:sp>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2" name="Shape 3052"/>
        <p:cNvGrpSpPr/>
        <p:nvPr/>
      </p:nvGrpSpPr>
      <p:grpSpPr>
        <a:xfrm>
          <a:off x="0" y="0"/>
          <a:ext cx="0" cy="0"/>
          <a:chOff x="0" y="0"/>
          <a:chExt cx="0" cy="0"/>
        </a:xfrm>
      </p:grpSpPr>
      <p:sp>
        <p:nvSpPr>
          <p:cNvPr id="3053" name="Google Shape;3053;p15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3054" name="Google Shape;3054;p153"/>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Tổng kết về mẫu </a:t>
            </a:r>
            <a:r>
              <a:rPr lang="en-GB"/>
              <a:t>hành vi</a:t>
            </a:r>
            <a:r>
              <a:rPr baseline="-25000" lang="en-GB"/>
              <a:t>(2)</a:t>
            </a:r>
            <a:endParaRPr baseline="-25000"/>
          </a:p>
        </p:txBody>
      </p:sp>
      <p:sp>
        <p:nvSpPr>
          <p:cNvPr id="3055" name="Google Shape;3055;p153"/>
          <p:cNvSpPr txBox="1"/>
          <p:nvPr>
            <p:ph idx="1" type="body"/>
          </p:nvPr>
        </p:nvSpPr>
        <p:spPr>
          <a:xfrm>
            <a:off x="311700" y="950475"/>
            <a:ext cx="8520600" cy="5418300"/>
          </a:xfrm>
          <a:prstGeom prst="rect">
            <a:avLst/>
          </a:prstGeom>
        </p:spPr>
        <p:txBody>
          <a:bodyPr anchorCtr="0" anchor="t" bIns="91425" lIns="91425" spcFirstLastPara="1" rIns="91425" wrap="square" tIns="91425">
            <a:noAutofit/>
          </a:bodyPr>
          <a:lstStyle/>
          <a:p>
            <a:pPr indent="-381000" lvl="0" marL="457200" rtl="0" algn="just">
              <a:spcBef>
                <a:spcPts val="0"/>
              </a:spcBef>
              <a:spcAft>
                <a:spcPts val="0"/>
              </a:spcAft>
              <a:buSzPts val="2400"/>
              <a:buChar char="●"/>
            </a:pPr>
            <a:r>
              <a:rPr lang="en-GB"/>
              <a:t>Các mẫu </a:t>
            </a:r>
            <a:r>
              <a:rPr lang="en-GB"/>
              <a:t>hành vi</a:t>
            </a:r>
            <a:r>
              <a:rPr lang="en-GB"/>
              <a:t> </a:t>
            </a:r>
            <a:r>
              <a:rPr lang="en-GB"/>
              <a:t>hỗ trợ và củng cố lẫn nhau, ví dụ:</a:t>
            </a:r>
            <a:endParaRPr/>
          </a:p>
          <a:p>
            <a:pPr indent="-368300" lvl="1" marL="914400" rtl="0" algn="just">
              <a:spcBef>
                <a:spcPts val="0"/>
              </a:spcBef>
              <a:spcAft>
                <a:spcPts val="0"/>
              </a:spcAft>
              <a:buSzPts val="2200"/>
              <a:buChar char="○"/>
            </a:pPr>
            <a:r>
              <a:rPr lang="en-GB"/>
              <a:t>Lớp trong chuỗi trách nhiệm có thể sử dụng </a:t>
            </a:r>
            <a:r>
              <a:rPr lang="en-GB"/>
              <a:t>Phương thức mẫu</a:t>
            </a:r>
            <a:r>
              <a:rPr lang="en-GB"/>
              <a:t> với các thành phần để quyết định xử lý yêu cầu hoặc chọn đối tượng để chuyển tiếp. </a:t>
            </a:r>
            <a:endParaRPr/>
          </a:p>
          <a:p>
            <a:pPr indent="-368300" lvl="1" marL="914400" rtl="0" algn="just">
              <a:spcBef>
                <a:spcPts val="0"/>
              </a:spcBef>
              <a:spcAft>
                <a:spcPts val="0"/>
              </a:spcAft>
              <a:buSzPts val="2200"/>
              <a:buChar char="○"/>
            </a:pPr>
            <a:r>
              <a:rPr lang="en-GB"/>
              <a:t>Chuỗi trách nhiệm có thể sử dụng mẫu lệnh </a:t>
            </a:r>
            <a:r>
              <a:rPr lang="en-GB"/>
              <a:t>để biểu diễn yêu cầu như đối tượng;</a:t>
            </a:r>
            <a:endParaRPr/>
          </a:p>
          <a:p>
            <a:pPr indent="-368300" lvl="1" marL="914400" rtl="0" algn="just">
              <a:spcBef>
                <a:spcPts val="0"/>
              </a:spcBef>
              <a:spcAft>
                <a:spcPts val="0"/>
              </a:spcAft>
              <a:buSzPts val="2200"/>
              <a:buChar char="○"/>
            </a:pPr>
            <a:r>
              <a:rPr lang="en-GB"/>
              <a:t>Lớp diễn dịch có thể sử dụng mẫu Trạng thái để xác định ngữ cảnh xử lý. Đối tượng duyệt có thể duyệt qua các phần tử trong lưu trữ, và khách thăm có thể áp dụng thao tác cho các phần tử đó.</a:t>
            </a:r>
            <a:endParaRPr/>
          </a:p>
        </p:txBody>
      </p: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9" name="Shape 3059"/>
        <p:cNvGrpSpPr/>
        <p:nvPr/>
      </p:nvGrpSpPr>
      <p:grpSpPr>
        <a:xfrm>
          <a:off x="0" y="0"/>
          <a:ext cx="0" cy="0"/>
          <a:chOff x="0" y="0"/>
          <a:chExt cx="0" cy="0"/>
        </a:xfrm>
      </p:grpSpPr>
      <p:sp>
        <p:nvSpPr>
          <p:cNvPr id="3060" name="Google Shape;3060;p15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3061" name="Google Shape;3061;p154"/>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Tổng kết về mẫu hành vi</a:t>
            </a:r>
            <a:r>
              <a:rPr baseline="-25000" lang="en-GB"/>
              <a:t>(3)</a:t>
            </a:r>
            <a:endParaRPr/>
          </a:p>
        </p:txBody>
      </p:sp>
      <p:sp>
        <p:nvSpPr>
          <p:cNvPr id="3062" name="Google Shape;3062;p154"/>
          <p:cNvSpPr txBox="1"/>
          <p:nvPr>
            <p:ph idx="1" type="body"/>
          </p:nvPr>
        </p:nvSpPr>
        <p:spPr>
          <a:xfrm>
            <a:off x="311700" y="950475"/>
            <a:ext cx="8520600" cy="54183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Các mẫu </a:t>
            </a:r>
            <a:r>
              <a:rPr lang="en-GB"/>
              <a:t>hành vi</a:t>
            </a:r>
            <a:r>
              <a:rPr lang="en-GB"/>
              <a:t> </a:t>
            </a:r>
            <a:r>
              <a:rPr lang="en-GB"/>
              <a:t>cũng </a:t>
            </a:r>
            <a:r>
              <a:rPr lang="en-GB"/>
              <a:t>kết hợp</a:t>
            </a:r>
            <a:r>
              <a:rPr lang="en-GB"/>
              <a:t> tốt với các mẫu khác:</a:t>
            </a:r>
            <a:endParaRPr/>
          </a:p>
          <a:p>
            <a:pPr indent="-368300" lvl="1" marL="914400" rtl="0" algn="l">
              <a:spcBef>
                <a:spcPts val="0"/>
              </a:spcBef>
              <a:spcAft>
                <a:spcPts val="0"/>
              </a:spcAft>
              <a:buSzPts val="2200"/>
              <a:buChar char="○"/>
            </a:pPr>
            <a:r>
              <a:rPr lang="en-GB"/>
              <a:t>Trong mẫu hợp chất có thể sử dụng khách thăm để thực hiện thao tác trên các thành phần của hợp chất.</a:t>
            </a:r>
            <a:endParaRPr/>
          </a:p>
          <a:p>
            <a:pPr indent="-368300" lvl="1" marL="914400" rtl="0" algn="l">
              <a:spcBef>
                <a:spcPts val="0"/>
              </a:spcBef>
              <a:spcAft>
                <a:spcPts val="0"/>
              </a:spcAft>
              <a:buSzPts val="2200"/>
              <a:buChar char="○"/>
            </a:pPr>
            <a:r>
              <a:rPr lang="en-GB"/>
              <a:t>Hợp chất cũng có thể sử dụng chuỗi trách nhiệm để cho phép </a:t>
            </a:r>
            <a:r>
              <a:rPr lang="en-GB"/>
              <a:t>các thành phần truy cập các thuộc tính toàn cục thông qua các đối tượng trên của có.</a:t>
            </a:r>
            <a:endParaRPr/>
          </a:p>
          <a:p>
            <a:pPr indent="-368300" lvl="1" marL="914400" rtl="0" algn="l">
              <a:spcBef>
                <a:spcPts val="0"/>
              </a:spcBef>
              <a:spcAft>
                <a:spcPts val="0"/>
              </a:spcAft>
              <a:buSzPts val="2200"/>
              <a:buChar char="○"/>
            </a:pPr>
            <a:r>
              <a:rPr lang="en-GB"/>
              <a:t>Hợp chất cũng có thể sử dụng lớp tô điểm để ghi đè các thuộc tính trên các phần của hợp chất, và có thể sử dụng lớp quan sát để gắn kết các phần khác nhau, và có thể sử dụng Trạng thái để cho phép các thành phần thay đổi hành vi theo trạng thái.</a:t>
            </a:r>
            <a:endParaRPr/>
          </a:p>
          <a:p>
            <a:pPr indent="-368300" lvl="1" marL="914400" rtl="0" algn="l">
              <a:spcBef>
                <a:spcPts val="0"/>
              </a:spcBef>
              <a:spcAft>
                <a:spcPts val="0"/>
              </a:spcAft>
              <a:buSzPts val="2200"/>
              <a:buChar char="○"/>
            </a:pPr>
            <a:r>
              <a:rPr lang="en-GB"/>
              <a:t>Hợp chất có thể được tạo bởi các lớp thợ xây và cũng có thể được coi như nguyên mẫu.</a:t>
            </a:r>
            <a:endParaRPr/>
          </a:p>
          <a:p>
            <a:pPr indent="0" lvl="0" marL="0" rtl="0" algn="ctr">
              <a:spcBef>
                <a:spcPts val="0"/>
              </a:spcBef>
              <a:spcAft>
                <a:spcPts val="0"/>
              </a:spcAft>
              <a:buNone/>
            </a:pPr>
            <a:r>
              <a:rPr i="1" lang="en-GB"/>
              <a:t>Kết hợp các mẫu thiết kế có thể đem đến thiết kế tốt hơn cho hệ thống so với kết hợp ở mức nhỏ hơn lớp hoặc đối tượng.</a:t>
            </a:r>
            <a:endParaRPr i="1"/>
          </a:p>
        </p:txBody>
      </p:sp>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6" name="Shape 3066"/>
        <p:cNvGrpSpPr/>
        <p:nvPr/>
      </p:nvGrpSpPr>
      <p:grpSpPr>
        <a:xfrm>
          <a:off x="0" y="0"/>
          <a:ext cx="0" cy="0"/>
          <a:chOff x="0" y="0"/>
          <a:chExt cx="0" cy="0"/>
        </a:xfrm>
      </p:grpSpPr>
      <p:sp>
        <p:nvSpPr>
          <p:cNvPr id="3067" name="Google Shape;3067;p15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pic>
        <p:nvPicPr>
          <p:cNvPr id="3068" name="Google Shape;3068;p155"/>
          <p:cNvPicPr preferRelativeResize="0"/>
          <p:nvPr/>
        </p:nvPicPr>
        <p:blipFill rotWithShape="1">
          <a:blip r:embed="rId3">
            <a:alphaModFix/>
          </a:blip>
          <a:srcRect b="0" l="0" r="0" t="0"/>
          <a:stretch/>
        </p:blipFill>
        <p:spPr>
          <a:xfrm>
            <a:off x="2779680" y="1531800"/>
            <a:ext cx="3565079" cy="410328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