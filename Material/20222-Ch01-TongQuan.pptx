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B86B068-0AB8-465F-A198-9472E0B8EB98}">
  <a:tblStyle styleId="{FB86B068-0AB8-465F-A198-9472E0B8EB9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80dfe10e99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80dfe10e9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80dfe10e99_0_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80dfe10e9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c0588fa6ed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c0588fa6e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80e6094ac7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80e6094ac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80e6094ac7_0_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80e6094ac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80e6094ac7_0_1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80e6094ac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6a816377fc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6a816377f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ed559ab1fa_0_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ed559ab1f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80e6094ac7_0_1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80e6094ac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80e6094ac7_0_2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80e6094ac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80e6094ac7_1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80e6094ac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80e6094ac7_1_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80e6094ac7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80e6094ac7_1_1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80e6094ac7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80e6094ac7_1_1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80e6094ac7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80e6094ac7_1_2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80e6094ac7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80e6094ac7_1_3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80e6094ac7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ed559ab1fa_0_1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ed559ab1f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703e801dc7_1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703e801dc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703e801dc7_1_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703e801dc7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703e801dc7_1_3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703e801dc7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703e801dc7_1_8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703e801dc7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703e801dc7_1_11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703e801dc7_1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703e801dc7_1_4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703e801dc7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703e801dc7_1_12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703e801dc7_1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80e6094ac7_1_13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80e6094ac7_1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30c76643fc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30c76643f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11f952a1be6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11f952a1be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11f952a1be6_0_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11f952a1be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11f952a1be6_0_4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11f952a1be6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80fff45d35_0_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80fff45d3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80fff45d35_0_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80fff45d3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36e9f30ffe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36e9f30ff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11f952a1be6_0_2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11f952a1be6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36e9f30ffe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36e9f30ff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36e9f30ffe_0_2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36e9f30ffe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11f952a1be6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11f952a1be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ed559ab1fa_0_2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ed559ab1f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80fff45d35_0_6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80fff45d35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212d6034c8f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212d6034c8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212d6034c8f_0_1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212d6034c8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212d6034c8f_0_1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212d6034c8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120e46fa199_0_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120e46fa19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120e46fa199_0_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120e46fa19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11f92ea208d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11f92ea208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22a81fb510a_0_22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22a81fb510a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22a81fb510a_0_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22a81fb510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22a81fb510a_0_1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22a81fb510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22a81fb510a_0_1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22a81fb510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22a81fb510a_0_2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22a81fb510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22a81fb510a_0_3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22a81fb510a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22a81fb510a_0_3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22a81fb510a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22a81fb510a_0_4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22a81fb510a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22a81fb510a_0_4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22a81fb510a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22a81fb510a_0_22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22a81fb510a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22a81fb510a_0_6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22a81fb510a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22a81fb510a_0_6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22a81fb510a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22a81fb510a_0_7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22a81fb510a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22a81fb510a_0_8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22a81fb510a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22a81fb510a_0_8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78" name="Google Shape;678;g22a81fb510a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212f15b25a7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212f15b25a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212f15b25a7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212f15b25a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22a81fb510a_0_9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23" name="Google Shape;723;g22a81fb510a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22a81fb510a_0_9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g22a81fb510a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22a81fb510a_0_10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22a81fb510a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22a81fb510a_0_11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22a81fb510a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22a81fb510a_0_11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51" name="Google Shape;751;g22a81fb510a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22a81fb510a_0_12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58" name="Google Shape;758;g22a81fb510a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22a81fb510a_0_13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22a81fb510a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22a81fb510a_0_16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02" name="Google Shape;802;g22a81fb510a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80fff45d35_0_8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80fff45d35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22a81fb510a_0_23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20" name="Google Shape;820;g22a81fb510a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93700" lvl="0" marL="457200">
              <a:spcBef>
                <a:spcPts val="0"/>
              </a:spcBef>
              <a:spcAft>
                <a:spcPts val="0"/>
              </a:spcAft>
              <a:buSzPts val="2600"/>
              <a:buChar char="●"/>
              <a:defRPr/>
            </a:lvl1pPr>
            <a:lvl2pPr indent="-368300" lvl="1" marL="914400">
              <a:spcBef>
                <a:spcPts val="1600"/>
              </a:spcBef>
              <a:spcAft>
                <a:spcPts val="0"/>
              </a:spcAft>
              <a:buSzPts val="2200"/>
              <a:buChar char="○"/>
              <a:defRPr/>
            </a:lvl2pPr>
            <a:lvl3pPr indent="-342900" lvl="2" marL="1371600">
              <a:spcBef>
                <a:spcPts val="1600"/>
              </a:spcBef>
              <a:spcAft>
                <a:spcPts val="0"/>
              </a:spcAft>
              <a:buSzPts val="18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93700" lvl="0" marL="457200">
              <a:spcBef>
                <a:spcPts val="0"/>
              </a:spcBef>
              <a:spcAft>
                <a:spcPts val="0"/>
              </a:spcAft>
              <a:buSzPts val="2600"/>
              <a:buChar char="●"/>
              <a:defRPr/>
            </a:lvl1pPr>
            <a:lvl2pPr indent="-368300" lvl="1" marL="914400">
              <a:spcBef>
                <a:spcPts val="1600"/>
              </a:spcBef>
              <a:spcAft>
                <a:spcPts val="0"/>
              </a:spcAft>
              <a:buSzPts val="2200"/>
              <a:buChar char="○"/>
              <a:defRPr/>
            </a:lvl2pPr>
            <a:lvl3pPr indent="-342900" lvl="2" marL="1371600">
              <a:spcBef>
                <a:spcPts val="1600"/>
              </a:spcBef>
              <a:spcAft>
                <a:spcPts val="0"/>
              </a:spcAft>
              <a:buSzPts val="18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6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93700" lvl="0" marL="457200" algn="ctr">
              <a:spcBef>
                <a:spcPts val="0"/>
              </a:spcBef>
              <a:spcAft>
                <a:spcPts val="0"/>
              </a:spcAft>
              <a:buSzPts val="2600"/>
              <a:buChar char="●"/>
              <a:defRPr/>
            </a:lvl1pPr>
            <a:lvl2pPr indent="-368300" lvl="1" marL="914400" algn="ctr">
              <a:spcBef>
                <a:spcPts val="1600"/>
              </a:spcBef>
              <a:spcAft>
                <a:spcPts val="0"/>
              </a:spcAft>
              <a:buSzPts val="2200"/>
              <a:buChar char="○"/>
              <a:defRPr/>
            </a:lvl2pPr>
            <a:lvl3pPr indent="-342900" lvl="2" marL="1371600" algn="ctr">
              <a:spcBef>
                <a:spcPts val="1600"/>
              </a:spcBef>
              <a:spcAft>
                <a:spcPts val="0"/>
              </a:spcAft>
              <a:buSzPts val="18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200"/>
              <a:buFont typeface="Times New Roman"/>
              <a:buNone/>
              <a:defRPr b="1" sz="3200">
                <a:solidFill>
                  <a:schemeClr val="dk1"/>
                </a:solidFill>
                <a:latin typeface="Times New Roman"/>
                <a:ea typeface="Times New Roman"/>
                <a:cs typeface="Times New Roman"/>
                <a:sym typeface="Times New Roman"/>
              </a:defRPr>
            </a:lvl1pPr>
            <a:lvl2pPr lvl="1">
              <a:spcBef>
                <a:spcPts val="0"/>
              </a:spcBef>
              <a:spcAft>
                <a:spcPts val="0"/>
              </a:spcAft>
              <a:buClr>
                <a:schemeClr val="dk1"/>
              </a:buClr>
              <a:buSzPts val="3200"/>
              <a:buFont typeface="Times New Roman"/>
              <a:buNone/>
              <a:defRPr b="1" sz="3200">
                <a:solidFill>
                  <a:schemeClr val="dk1"/>
                </a:solidFill>
                <a:latin typeface="Times New Roman"/>
                <a:ea typeface="Times New Roman"/>
                <a:cs typeface="Times New Roman"/>
                <a:sym typeface="Times New Roman"/>
              </a:defRPr>
            </a:lvl2pPr>
            <a:lvl3pPr lvl="2">
              <a:spcBef>
                <a:spcPts val="0"/>
              </a:spcBef>
              <a:spcAft>
                <a:spcPts val="0"/>
              </a:spcAft>
              <a:buClr>
                <a:schemeClr val="dk1"/>
              </a:buClr>
              <a:buSzPts val="3200"/>
              <a:buFont typeface="Times New Roman"/>
              <a:buNone/>
              <a:defRPr b="1" sz="3200">
                <a:solidFill>
                  <a:schemeClr val="dk1"/>
                </a:solidFill>
                <a:latin typeface="Times New Roman"/>
                <a:ea typeface="Times New Roman"/>
                <a:cs typeface="Times New Roman"/>
                <a:sym typeface="Times New Roman"/>
              </a:defRPr>
            </a:lvl3pPr>
            <a:lvl4pPr lvl="3">
              <a:spcBef>
                <a:spcPts val="0"/>
              </a:spcBef>
              <a:spcAft>
                <a:spcPts val="0"/>
              </a:spcAft>
              <a:buClr>
                <a:schemeClr val="dk1"/>
              </a:buClr>
              <a:buSzPts val="3200"/>
              <a:buFont typeface="Times New Roman"/>
              <a:buNone/>
              <a:defRPr b="1" sz="3200">
                <a:solidFill>
                  <a:schemeClr val="dk1"/>
                </a:solidFill>
                <a:latin typeface="Times New Roman"/>
                <a:ea typeface="Times New Roman"/>
                <a:cs typeface="Times New Roman"/>
                <a:sym typeface="Times New Roman"/>
              </a:defRPr>
            </a:lvl4pPr>
            <a:lvl5pPr lvl="4">
              <a:spcBef>
                <a:spcPts val="0"/>
              </a:spcBef>
              <a:spcAft>
                <a:spcPts val="0"/>
              </a:spcAft>
              <a:buClr>
                <a:schemeClr val="dk1"/>
              </a:buClr>
              <a:buSzPts val="3200"/>
              <a:buFont typeface="Times New Roman"/>
              <a:buNone/>
              <a:defRPr b="1" sz="3200">
                <a:solidFill>
                  <a:schemeClr val="dk1"/>
                </a:solidFill>
                <a:latin typeface="Times New Roman"/>
                <a:ea typeface="Times New Roman"/>
                <a:cs typeface="Times New Roman"/>
                <a:sym typeface="Times New Roman"/>
              </a:defRPr>
            </a:lvl5pPr>
            <a:lvl6pPr lvl="5">
              <a:spcBef>
                <a:spcPts val="0"/>
              </a:spcBef>
              <a:spcAft>
                <a:spcPts val="0"/>
              </a:spcAft>
              <a:buClr>
                <a:schemeClr val="dk1"/>
              </a:buClr>
              <a:buSzPts val="3200"/>
              <a:buFont typeface="Times New Roman"/>
              <a:buNone/>
              <a:defRPr b="1" sz="3200">
                <a:solidFill>
                  <a:schemeClr val="dk1"/>
                </a:solidFill>
                <a:latin typeface="Times New Roman"/>
                <a:ea typeface="Times New Roman"/>
                <a:cs typeface="Times New Roman"/>
                <a:sym typeface="Times New Roman"/>
              </a:defRPr>
            </a:lvl6pPr>
            <a:lvl7pPr lvl="6">
              <a:spcBef>
                <a:spcPts val="0"/>
              </a:spcBef>
              <a:spcAft>
                <a:spcPts val="0"/>
              </a:spcAft>
              <a:buClr>
                <a:schemeClr val="dk1"/>
              </a:buClr>
              <a:buSzPts val="3200"/>
              <a:buFont typeface="Times New Roman"/>
              <a:buNone/>
              <a:defRPr b="1" sz="3200">
                <a:solidFill>
                  <a:schemeClr val="dk1"/>
                </a:solidFill>
                <a:latin typeface="Times New Roman"/>
                <a:ea typeface="Times New Roman"/>
                <a:cs typeface="Times New Roman"/>
                <a:sym typeface="Times New Roman"/>
              </a:defRPr>
            </a:lvl7pPr>
            <a:lvl8pPr lvl="7">
              <a:spcBef>
                <a:spcPts val="0"/>
              </a:spcBef>
              <a:spcAft>
                <a:spcPts val="0"/>
              </a:spcAft>
              <a:buClr>
                <a:schemeClr val="dk1"/>
              </a:buClr>
              <a:buSzPts val="3200"/>
              <a:buFont typeface="Times New Roman"/>
              <a:buNone/>
              <a:defRPr b="1" sz="3200">
                <a:solidFill>
                  <a:schemeClr val="dk1"/>
                </a:solidFill>
                <a:latin typeface="Times New Roman"/>
                <a:ea typeface="Times New Roman"/>
                <a:cs typeface="Times New Roman"/>
                <a:sym typeface="Times New Roman"/>
              </a:defRPr>
            </a:lvl8pPr>
            <a:lvl9pPr lvl="8">
              <a:spcBef>
                <a:spcPts val="0"/>
              </a:spcBef>
              <a:spcAft>
                <a:spcPts val="0"/>
              </a:spcAft>
              <a:buClr>
                <a:schemeClr val="dk1"/>
              </a:buClr>
              <a:buSzPts val="3200"/>
              <a:buFont typeface="Times New Roman"/>
              <a:buNone/>
              <a:defRPr b="1" sz="3200">
                <a:solidFill>
                  <a:schemeClr val="dk1"/>
                </a:solidFill>
                <a:latin typeface="Times New Roman"/>
                <a:ea typeface="Times New Roman"/>
                <a:cs typeface="Times New Roman"/>
                <a:sym typeface="Times New Roman"/>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93700" lvl="0" marL="457200">
              <a:lnSpc>
                <a:spcPct val="115000"/>
              </a:lnSpc>
              <a:spcBef>
                <a:spcPts val="0"/>
              </a:spcBef>
              <a:spcAft>
                <a:spcPts val="0"/>
              </a:spcAft>
              <a:buClr>
                <a:schemeClr val="dk2"/>
              </a:buClr>
              <a:buSzPts val="2600"/>
              <a:buFont typeface="Times New Roman"/>
              <a:buChar char="●"/>
              <a:defRPr sz="2600">
                <a:solidFill>
                  <a:schemeClr val="dk2"/>
                </a:solidFill>
                <a:latin typeface="Times New Roman"/>
                <a:ea typeface="Times New Roman"/>
                <a:cs typeface="Times New Roman"/>
                <a:sym typeface="Times New Roman"/>
              </a:defRPr>
            </a:lvl1pPr>
            <a:lvl2pPr indent="-368300" lvl="1" marL="914400">
              <a:lnSpc>
                <a:spcPct val="115000"/>
              </a:lnSpc>
              <a:spcBef>
                <a:spcPts val="1600"/>
              </a:spcBef>
              <a:spcAft>
                <a:spcPts val="0"/>
              </a:spcAft>
              <a:buClr>
                <a:schemeClr val="dk2"/>
              </a:buClr>
              <a:buSzPts val="2200"/>
              <a:buFont typeface="Times New Roman"/>
              <a:buChar char="○"/>
              <a:defRPr sz="2200">
                <a:solidFill>
                  <a:schemeClr val="dk2"/>
                </a:solidFill>
                <a:latin typeface="Times New Roman"/>
                <a:ea typeface="Times New Roman"/>
                <a:cs typeface="Times New Roman"/>
                <a:sym typeface="Times New Roman"/>
              </a:defRPr>
            </a:lvl2pPr>
            <a:lvl3pPr indent="-342900" lvl="2" marL="1371600">
              <a:lnSpc>
                <a:spcPct val="115000"/>
              </a:lnSpc>
              <a:spcBef>
                <a:spcPts val="1600"/>
              </a:spcBef>
              <a:spcAft>
                <a:spcPts val="0"/>
              </a:spcAft>
              <a:buClr>
                <a:schemeClr val="dk2"/>
              </a:buClr>
              <a:buSzPts val="1800"/>
              <a:buFont typeface="Times New Roman"/>
              <a:buChar char="■"/>
              <a:defRPr sz="1800">
                <a:solidFill>
                  <a:schemeClr val="dk2"/>
                </a:solidFill>
                <a:latin typeface="Times New Roman"/>
                <a:ea typeface="Times New Roman"/>
                <a:cs typeface="Times New Roman"/>
                <a:sym typeface="Times New Roman"/>
              </a:defRPr>
            </a:lvl3pPr>
            <a:lvl4pPr indent="-317500" lvl="3" marL="1828800">
              <a:lnSpc>
                <a:spcPct val="115000"/>
              </a:lnSpc>
              <a:spcBef>
                <a:spcPts val="160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4pPr>
            <a:lvl5pPr indent="-317500" lvl="4" marL="2286000">
              <a:lnSpc>
                <a:spcPct val="115000"/>
              </a:lnSpc>
              <a:spcBef>
                <a:spcPts val="160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5pPr>
            <a:lvl6pPr indent="-317500" lvl="5" marL="2743200">
              <a:lnSpc>
                <a:spcPct val="115000"/>
              </a:lnSpc>
              <a:spcBef>
                <a:spcPts val="160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6pPr>
            <a:lvl7pPr indent="-317500" lvl="6" marL="3200400">
              <a:lnSpc>
                <a:spcPct val="115000"/>
              </a:lnSpc>
              <a:spcBef>
                <a:spcPts val="160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7pPr>
            <a:lvl8pPr indent="-317500" lvl="7" marL="3657600">
              <a:lnSpc>
                <a:spcPct val="115000"/>
              </a:lnSpc>
              <a:spcBef>
                <a:spcPts val="160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8pPr>
            <a:lvl9pPr indent="-317500" lvl="8" marL="4114800">
              <a:lnSpc>
                <a:spcPct val="115000"/>
              </a:lnSpc>
              <a:spcBef>
                <a:spcPts val="1600"/>
              </a:spcBef>
              <a:spcAft>
                <a:spcPts val="160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docs.google.com/presentation/u/0/d/128xSICISmRR_ir9C1TeuWjnEXtgs7fu9TIqquiyDxgI/edit"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5.xml"/><Relationship Id="rId3" Type="http://schemas.openxmlformats.org/officeDocument/2006/relationships/image" Target="../media/image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2.xml"/><Relationship Id="rId3" Type="http://schemas.openxmlformats.org/officeDocument/2006/relationships/image" Target="../media/image11.png"/><Relationship Id="rId4" Type="http://schemas.openxmlformats.org/officeDocument/2006/relationships/image" Target="../media/image9.png"/><Relationship Id="rId9" Type="http://schemas.openxmlformats.org/officeDocument/2006/relationships/image" Target="../media/image8.png"/><Relationship Id="rId5" Type="http://schemas.openxmlformats.org/officeDocument/2006/relationships/image" Target="../media/image14.png"/><Relationship Id="rId6" Type="http://schemas.openxmlformats.org/officeDocument/2006/relationships/image" Target="../media/image7.png"/><Relationship Id="rId7" Type="http://schemas.openxmlformats.org/officeDocument/2006/relationships/image" Target="../media/image12.png"/><Relationship Id="rId8" Type="http://schemas.openxmlformats.org/officeDocument/2006/relationships/image" Target="../media/image1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777075"/>
            <a:ext cx="8520600" cy="2065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sz="4200"/>
              <a:t>Ph</a:t>
            </a:r>
            <a:r>
              <a:rPr lang="en-GB" sz="4200"/>
              <a:t>ân tích thiết kế hệ thống</a:t>
            </a:r>
            <a:endParaRPr sz="4200"/>
          </a:p>
        </p:txBody>
      </p:sp>
      <p:sp>
        <p:nvSpPr>
          <p:cNvPr id="55" name="Google Shape;55;p13"/>
          <p:cNvSpPr txBox="1"/>
          <p:nvPr>
            <p:ph idx="1" type="subTitle"/>
          </p:nvPr>
        </p:nvSpPr>
        <p:spPr>
          <a:xfrm>
            <a:off x="311700" y="3778827"/>
            <a:ext cx="8520600" cy="812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GB" sz="2600"/>
              <a:t>S</a:t>
            </a:r>
            <a:r>
              <a:rPr lang="en-GB" sz="2600"/>
              <a:t>oạn bởi: </a:t>
            </a:r>
            <a:r>
              <a:rPr lang="en-GB" sz="2600"/>
              <a:t>Ng</a:t>
            </a:r>
            <a:r>
              <a:rPr lang="en-GB" sz="2600"/>
              <a:t>uyễn </a:t>
            </a:r>
            <a:r>
              <a:rPr lang="en-GB" sz="2600"/>
              <a:t>Bá Ng</a:t>
            </a:r>
            <a:r>
              <a:rPr lang="en-GB" sz="2600"/>
              <a:t>ọc</a:t>
            </a:r>
            <a:endParaRPr sz="2600"/>
          </a:p>
        </p:txBody>
      </p:sp>
      <p:sp>
        <p:nvSpPr>
          <p:cNvPr id="56" name="Google Shape;56;p13"/>
          <p:cNvSpPr txBox="1"/>
          <p:nvPr/>
        </p:nvSpPr>
        <p:spPr>
          <a:xfrm>
            <a:off x="125" y="6116250"/>
            <a:ext cx="9144000" cy="60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600"/>
              <a:t>Hà Nội-2022</a:t>
            </a:r>
            <a:endParaRPr sz="2600"/>
          </a:p>
        </p:txBody>
      </p:sp>
      <p:sp>
        <p:nvSpPr>
          <p:cNvPr id="57" name="Google Shape;57;p13"/>
          <p:cNvSpPr txBox="1"/>
          <p:nvPr/>
        </p:nvSpPr>
        <p:spPr>
          <a:xfrm>
            <a:off x="491750" y="4667633"/>
            <a:ext cx="2658600" cy="100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600"/>
              <a:t>Chương 1</a:t>
            </a:r>
            <a:endParaRPr sz="3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2459625"/>
            <a:ext cx="8520600" cy="169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Ch</a:t>
            </a:r>
            <a:r>
              <a:rPr lang="en-GB"/>
              <a:t>ương 1.</a:t>
            </a:r>
            <a:endParaRPr/>
          </a:p>
          <a:p>
            <a:pPr indent="0" lvl="0" marL="0" rtl="0" algn="ctr">
              <a:spcBef>
                <a:spcPts val="0"/>
              </a:spcBef>
              <a:spcAft>
                <a:spcPts val="0"/>
              </a:spcAft>
              <a:buNone/>
            </a:pPr>
            <a:r>
              <a:rPr lang="en-GB"/>
              <a:t>T</a:t>
            </a:r>
            <a:r>
              <a:rPr lang="en-GB"/>
              <a:t>ổng quan về phân tích và thiết kế </a:t>
            </a:r>
            <a:endParaRPr/>
          </a:p>
          <a:p>
            <a:pPr indent="0" lvl="0" marL="0" rtl="0" algn="ctr">
              <a:spcBef>
                <a:spcPts val="0"/>
              </a:spcBef>
              <a:spcAft>
                <a:spcPts val="0"/>
              </a:spcAft>
              <a:buNone/>
            </a:pPr>
            <a:r>
              <a:rPr lang="en-GB"/>
              <a:t>hệ thống</a:t>
            </a:r>
            <a:endParaRPr/>
          </a:p>
        </p:txBody>
      </p:sp>
      <p:sp>
        <p:nvSpPr>
          <p:cNvPr id="63" name="Google Shape;63;p1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a:t>
            </a:r>
            <a:r>
              <a:rPr lang="en-GB"/>
              <a:t>ội dung</a:t>
            </a:r>
            <a:endParaRPr/>
          </a:p>
        </p:txBody>
      </p:sp>
      <p:sp>
        <p:nvSpPr>
          <p:cNvPr id="69" name="Google Shape;69;p15"/>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M</a:t>
            </a:r>
            <a:r>
              <a:rPr lang="en-GB"/>
              <a:t>ột số khái niệm cơ bản</a:t>
            </a:r>
            <a:endParaRPr/>
          </a:p>
          <a:p>
            <a:pPr indent="-393700" lvl="0" marL="457200" rtl="0" algn="l">
              <a:spcBef>
                <a:spcPts val="0"/>
              </a:spcBef>
              <a:spcAft>
                <a:spcPts val="0"/>
              </a:spcAft>
              <a:buSzPts val="2600"/>
              <a:buChar char="●"/>
            </a:pPr>
            <a:r>
              <a:rPr lang="en-GB"/>
              <a:t>V</a:t>
            </a:r>
            <a:r>
              <a:rPr lang="en-GB"/>
              <a:t>òng đời phát triển hệ thống (SDLC)</a:t>
            </a:r>
            <a:endParaRPr/>
          </a:p>
          <a:p>
            <a:pPr indent="-393700" lvl="0" marL="457200" rtl="0" algn="l">
              <a:spcBef>
                <a:spcPts val="0"/>
              </a:spcBef>
              <a:spcAft>
                <a:spcPts val="0"/>
              </a:spcAft>
              <a:buSzPts val="2600"/>
              <a:buChar char="●"/>
            </a:pPr>
            <a:r>
              <a:rPr lang="en-GB"/>
              <a:t>Hai cách tiếp cận phát triển hệ thống</a:t>
            </a:r>
            <a:endParaRPr/>
          </a:p>
          <a:p>
            <a:pPr indent="-393700" lvl="0" marL="457200" rtl="0" algn="l">
              <a:spcBef>
                <a:spcPts val="0"/>
              </a:spcBef>
              <a:spcAft>
                <a:spcPts val="0"/>
              </a:spcAft>
              <a:buSzPts val="2600"/>
              <a:buChar char="●"/>
            </a:pPr>
            <a:r>
              <a:rPr lang="en-GB"/>
              <a:t>Ngôn ngữ mô hình hóa hợp nhất (UML)</a:t>
            </a:r>
            <a:endParaRPr/>
          </a:p>
          <a:p>
            <a:pPr indent="-393700" lvl="0" marL="457200" rtl="0" algn="l">
              <a:spcBef>
                <a:spcPts val="0"/>
              </a:spcBef>
              <a:spcAft>
                <a:spcPts val="0"/>
              </a:spcAft>
              <a:buSzPts val="2600"/>
              <a:buChar char="●"/>
            </a:pPr>
            <a:r>
              <a:rPr lang="en-GB"/>
              <a:t>Môi trường &amp; Nhu cầu</a:t>
            </a:r>
            <a:endParaRPr/>
          </a:p>
          <a:p>
            <a:pPr indent="-393700" lvl="0" marL="457200" rtl="0" algn="l">
              <a:spcBef>
                <a:spcPts val="0"/>
              </a:spcBef>
              <a:spcAft>
                <a:spcPts val="0"/>
              </a:spcAft>
              <a:buSzPts val="2600"/>
              <a:buChar char="●"/>
            </a:pPr>
            <a:r>
              <a:rPr lang="en-GB"/>
              <a:t>Xác định yêu cầu</a:t>
            </a:r>
            <a:endParaRPr/>
          </a:p>
        </p:txBody>
      </p:sp>
      <p:sp>
        <p:nvSpPr>
          <p:cNvPr id="70" name="Google Shape;70;p1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76" name="Google Shape;76;p16"/>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Một số khái niệm cơ bản</a:t>
            </a:r>
            <a:endParaRPr/>
          </a:p>
          <a:p>
            <a:pPr indent="-393700" lvl="0" marL="457200" rtl="0" algn="l">
              <a:spcBef>
                <a:spcPts val="0"/>
              </a:spcBef>
              <a:spcAft>
                <a:spcPts val="0"/>
              </a:spcAft>
              <a:buSzPts val="2600"/>
              <a:buChar char="●"/>
            </a:pPr>
            <a:r>
              <a:rPr lang="en-GB"/>
              <a:t>Vòng đời phát triển hệ thống (SDLC)</a:t>
            </a:r>
            <a:endParaRPr/>
          </a:p>
          <a:p>
            <a:pPr indent="-393700" lvl="0" marL="457200" rtl="0" algn="l">
              <a:spcBef>
                <a:spcPts val="0"/>
              </a:spcBef>
              <a:spcAft>
                <a:spcPts val="0"/>
              </a:spcAft>
              <a:buSzPts val="2600"/>
              <a:buChar char="●"/>
            </a:pPr>
            <a:r>
              <a:rPr lang="en-GB"/>
              <a:t>Hai cách tiếp cận phát triển hệ thống</a:t>
            </a:r>
            <a:endParaRPr/>
          </a:p>
          <a:p>
            <a:pPr indent="-393700" lvl="0" marL="457200" rtl="0" algn="l">
              <a:spcBef>
                <a:spcPts val="0"/>
              </a:spcBef>
              <a:spcAft>
                <a:spcPts val="0"/>
              </a:spcAft>
              <a:buSzPts val="2600"/>
              <a:buChar char="●"/>
            </a:pPr>
            <a:r>
              <a:rPr lang="en-GB"/>
              <a:t>Ngôn ngữ mô hình hóa hợp nhất (UML)</a:t>
            </a:r>
            <a:endParaRPr/>
          </a:p>
          <a:p>
            <a:pPr indent="-393700" lvl="0" marL="457200" rtl="0" algn="l">
              <a:spcBef>
                <a:spcPts val="0"/>
              </a:spcBef>
              <a:spcAft>
                <a:spcPts val="0"/>
              </a:spcAft>
              <a:buSzPts val="2600"/>
              <a:buChar char="●"/>
            </a:pPr>
            <a:r>
              <a:rPr lang="en-GB"/>
              <a:t>Môi trường &amp; Nhu cầu</a:t>
            </a:r>
            <a:endParaRPr/>
          </a:p>
          <a:p>
            <a:pPr indent="-393700" lvl="0" marL="457200" rtl="0" algn="l">
              <a:spcBef>
                <a:spcPts val="0"/>
              </a:spcBef>
              <a:spcAft>
                <a:spcPts val="0"/>
              </a:spcAft>
              <a:buSzPts val="2600"/>
              <a:buChar char="●"/>
            </a:pPr>
            <a:r>
              <a:rPr lang="en-GB"/>
              <a:t>Xác định yêu cầu</a:t>
            </a:r>
            <a:endParaRPr/>
          </a:p>
        </p:txBody>
      </p:sp>
      <p:sp>
        <p:nvSpPr>
          <p:cNvPr id="77" name="Google Shape;77;p1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8" name="Google Shape;78;p16"/>
          <p:cNvSpPr/>
          <p:nvPr/>
        </p:nvSpPr>
        <p:spPr>
          <a:xfrm>
            <a:off x="376175" y="1448775"/>
            <a:ext cx="4572000" cy="763500"/>
          </a:xfrm>
          <a:prstGeom prst="rightArrow">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Ch</a:t>
            </a:r>
            <a:r>
              <a:rPr lang="en-GB"/>
              <a:t>ương trình máy tính và hệ thống thông tin</a:t>
            </a:r>
            <a:endParaRPr/>
          </a:p>
        </p:txBody>
      </p:sp>
      <p:sp>
        <p:nvSpPr>
          <p:cNvPr id="84" name="Google Shape;84;p17"/>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93700" lvl="0" marL="457200" rtl="0" algn="just">
              <a:spcBef>
                <a:spcPts val="0"/>
              </a:spcBef>
              <a:spcAft>
                <a:spcPts val="0"/>
              </a:spcAft>
              <a:buSzPts val="2600"/>
              <a:buChar char="●"/>
            </a:pPr>
            <a:r>
              <a:rPr b="1" lang="en-GB"/>
              <a:t>Ch</a:t>
            </a:r>
            <a:r>
              <a:rPr b="1" lang="en-GB"/>
              <a:t>ương trình máy tính</a:t>
            </a:r>
            <a:r>
              <a:rPr lang="en-GB"/>
              <a:t> - là ứng dụng phần mềm chạy trên 1 hệ thống máy tính để thực hiện 1 tập chức năng cụ thể.</a:t>
            </a:r>
            <a:endParaRPr/>
          </a:p>
          <a:p>
            <a:pPr indent="-368300" lvl="1" marL="914400" rtl="0" algn="l">
              <a:spcBef>
                <a:spcPts val="0"/>
              </a:spcBef>
              <a:spcAft>
                <a:spcPts val="0"/>
              </a:spcAft>
              <a:buSzPts val="2200"/>
              <a:buChar char="○"/>
            </a:pPr>
            <a:r>
              <a:rPr lang="en-GB"/>
              <a:t>Phạm vi nhỏ hơn hệ thống thông tin</a:t>
            </a:r>
            <a:endParaRPr/>
          </a:p>
          <a:p>
            <a:pPr indent="-393700" lvl="0" marL="457200" rtl="0" algn="just">
              <a:spcBef>
                <a:spcPts val="0"/>
              </a:spcBef>
              <a:spcAft>
                <a:spcPts val="0"/>
              </a:spcAft>
              <a:buSzPts val="2600"/>
              <a:buChar char="●"/>
            </a:pPr>
            <a:r>
              <a:rPr b="1" lang="en-GB"/>
              <a:t>Hệ thống thông tin</a:t>
            </a:r>
            <a:r>
              <a:rPr lang="en-GB"/>
              <a:t> - là sự hợp nhất nhiều thành phần được kết nối và cộng tác để thu thập, xử lý, lưu trữ, và cung cấp thông tin cần thiết để hoàn thành các hoạt động nghiệp vụ.</a:t>
            </a:r>
            <a:endParaRPr/>
          </a:p>
          <a:p>
            <a:pPr indent="-368300" lvl="1" marL="914400" rtl="0" algn="l">
              <a:spcBef>
                <a:spcPts val="0"/>
              </a:spcBef>
              <a:spcAft>
                <a:spcPts val="0"/>
              </a:spcAft>
              <a:buSzPts val="2200"/>
              <a:buChar char="○"/>
            </a:pPr>
            <a:r>
              <a:rPr lang="en-GB"/>
              <a:t>Phạm vi bao phủ chương trình máy tính</a:t>
            </a:r>
            <a:endParaRPr/>
          </a:p>
          <a:p>
            <a:pPr indent="-368300" lvl="1" marL="914400" rtl="0" algn="l">
              <a:spcBef>
                <a:spcPts val="0"/>
              </a:spcBef>
              <a:spcAft>
                <a:spcPts val="0"/>
              </a:spcAft>
              <a:buSzPts val="2200"/>
              <a:buChar char="○"/>
            </a:pPr>
            <a:r>
              <a:rPr lang="en-GB"/>
              <a:t>Bao gồm cả cơ sở dữ liệu và các quy trình thủ công liên quan</a:t>
            </a:r>
            <a:endParaRPr/>
          </a:p>
        </p:txBody>
      </p:sp>
      <p:sp>
        <p:nvSpPr>
          <p:cNvPr id="85" name="Google Shape;85;p1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Dự án</a:t>
            </a:r>
            <a:endParaRPr/>
          </a:p>
        </p:txBody>
      </p:sp>
      <p:sp>
        <p:nvSpPr>
          <p:cNvPr id="91" name="Google Shape;91;p18"/>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93700" lvl="0" marL="457200" rtl="0" algn="just">
              <a:spcBef>
                <a:spcPts val="0"/>
              </a:spcBef>
              <a:spcAft>
                <a:spcPts val="0"/>
              </a:spcAft>
              <a:buSzPts val="2600"/>
              <a:buChar char="●"/>
            </a:pPr>
            <a:r>
              <a:rPr lang="en-GB"/>
              <a:t>Dự án - Bao gồm</a:t>
            </a:r>
            <a:r>
              <a:rPr lang="en-GB"/>
              <a:t> </a:t>
            </a:r>
            <a:r>
              <a:rPr lang="en-GB"/>
              <a:t>chuỗi hoạt động có thời hạn được lập kế hoạch có bắt đầu, có kết thúc và tạo ra các thành phẩm xác định</a:t>
            </a:r>
            <a:endParaRPr/>
          </a:p>
          <a:p>
            <a:pPr indent="-368300" lvl="1" marL="914400" rtl="0" algn="l">
              <a:spcBef>
                <a:spcPts val="0"/>
              </a:spcBef>
              <a:spcAft>
                <a:spcPts val="0"/>
              </a:spcAft>
              <a:buSzPts val="2200"/>
              <a:buChar char="○"/>
            </a:pPr>
            <a:r>
              <a:rPr lang="en-GB"/>
              <a:t>Dự án có thể được tạo lập nhằm phát triển hệ thống thông tin.</a:t>
            </a:r>
            <a:endParaRPr/>
          </a:p>
          <a:p>
            <a:pPr indent="-368300" lvl="1" marL="914400" rtl="0" algn="l">
              <a:spcBef>
                <a:spcPts val="0"/>
              </a:spcBef>
              <a:spcAft>
                <a:spcPts val="0"/>
              </a:spcAft>
              <a:buSzPts val="2200"/>
              <a:buChar char="○"/>
            </a:pPr>
            <a:r>
              <a:rPr lang="en-GB"/>
              <a:t>Các hoạt động cần được thực hiện được xác định, lập kế hoạch, tổ chức và giám sát.</a:t>
            </a:r>
            <a:endParaRPr/>
          </a:p>
          <a:p>
            <a:pPr indent="-342900" lvl="2" marL="1371600" rtl="0" algn="l">
              <a:spcBef>
                <a:spcPts val="0"/>
              </a:spcBef>
              <a:spcAft>
                <a:spcPts val="0"/>
              </a:spcAft>
              <a:buSzPts val="1800"/>
              <a:buChar char="■"/>
            </a:pPr>
            <a:r>
              <a:rPr lang="en-GB"/>
              <a:t>Cần kiến thức về phân tích và thiết kế hệ thống, các công cụ và các kỹ thuật</a:t>
            </a:r>
            <a:endParaRPr/>
          </a:p>
        </p:txBody>
      </p:sp>
      <p:sp>
        <p:nvSpPr>
          <p:cNvPr id="92" name="Google Shape;92;p1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Quy trình</a:t>
            </a:r>
            <a:endParaRPr/>
          </a:p>
        </p:txBody>
      </p:sp>
      <p:sp>
        <p:nvSpPr>
          <p:cNvPr id="98" name="Google Shape;98;p19"/>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V</a:t>
            </a:r>
            <a:r>
              <a:rPr lang="en-GB"/>
              <a:t>ì sao chúng ta cần quy trình hình thức?</a:t>
            </a:r>
            <a:endParaRPr/>
          </a:p>
          <a:p>
            <a:pPr indent="-368300" lvl="1" marL="914400" rtl="0" algn="l">
              <a:spcBef>
                <a:spcPts val="0"/>
              </a:spcBef>
              <a:spcAft>
                <a:spcPts val="0"/>
              </a:spcAft>
              <a:buSzPts val="2200"/>
              <a:buChar char="○"/>
            </a:pPr>
            <a:r>
              <a:rPr lang="en-GB"/>
              <a:t>Trong thực tế có n</a:t>
            </a:r>
            <a:r>
              <a:rPr lang="en-GB"/>
              <a:t>hiều dự án bị chậm tiến độ, vượt kinh phí hoặc được bàn giao với ít tính năng hơn kế hoạch ban đầu.</a:t>
            </a:r>
            <a:endParaRPr/>
          </a:p>
          <a:p>
            <a:pPr indent="-368300" lvl="1" marL="914400" rtl="0" algn="l">
              <a:spcBef>
                <a:spcPts val="0"/>
              </a:spcBef>
              <a:spcAft>
                <a:spcPts val="0"/>
              </a:spcAft>
              <a:buSzPts val="2200"/>
              <a:buChar char="○"/>
            </a:pPr>
            <a:r>
              <a:rPr lang="en-GB"/>
              <a:t>Thất bại xảy ra quá thường xuyên.</a:t>
            </a:r>
            <a:endParaRPr/>
          </a:p>
          <a:p>
            <a:pPr indent="-368300" lvl="1" marL="914400" rtl="0" algn="l">
              <a:spcBef>
                <a:spcPts val="0"/>
              </a:spcBef>
              <a:spcAft>
                <a:spcPts val="0"/>
              </a:spcAft>
              <a:buSzPts val="2200"/>
              <a:buChar char="○"/>
            </a:pPr>
            <a:r>
              <a:rPr lang="en-GB"/>
              <a:t>Phát triển hệ thống thông tin là công việc phức tạp.</a:t>
            </a:r>
            <a:endParaRPr/>
          </a:p>
          <a:p>
            <a:pPr indent="-393700" lvl="0" marL="457200" rtl="0" algn="l">
              <a:spcBef>
                <a:spcPts val="0"/>
              </a:spcBef>
              <a:spcAft>
                <a:spcPts val="0"/>
              </a:spcAft>
              <a:buSzPts val="2600"/>
              <a:buChar char="●"/>
            </a:pPr>
            <a:r>
              <a:rPr lang="en-GB"/>
              <a:t>Giúp kiểm soát tiến trình thực hiện dự án, hạn chế rủi ro, tăng cường khả năng thành công.</a:t>
            </a:r>
            <a:endParaRPr/>
          </a:p>
        </p:txBody>
      </p:sp>
      <p:sp>
        <p:nvSpPr>
          <p:cNvPr id="99" name="Google Shape;99;p1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0" name="Google Shape;100;p19"/>
          <p:cNvSpPr txBox="1"/>
          <p:nvPr/>
        </p:nvSpPr>
        <p:spPr>
          <a:xfrm>
            <a:off x="460125" y="5312775"/>
            <a:ext cx="8295600" cy="60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600">
                <a:solidFill>
                  <a:schemeClr val="dk2"/>
                </a:solidFill>
                <a:latin typeface="Times New Roman"/>
                <a:ea typeface="Times New Roman"/>
                <a:cs typeface="Times New Roman"/>
                <a:sym typeface="Times New Roman"/>
              </a:rPr>
              <a:t>Thông tin chi tiết hơn được cung cấp trong tài liệu </a:t>
            </a:r>
            <a:r>
              <a:rPr i="1" lang="en-GB" sz="2600" u="sng">
                <a:solidFill>
                  <a:schemeClr val="hlink"/>
                </a:solidFill>
                <a:latin typeface="Times New Roman"/>
                <a:ea typeface="Times New Roman"/>
                <a:cs typeface="Times New Roman"/>
                <a:sym typeface="Times New Roman"/>
                <a:hlinkClick r:id="rId3"/>
              </a:rPr>
              <a:t>SDLC</a:t>
            </a:r>
            <a:endParaRPr i="1" sz="2600">
              <a:solidFill>
                <a:schemeClr val="dk2"/>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Ng</a:t>
            </a:r>
            <a:r>
              <a:rPr lang="en-GB"/>
              <a:t>ười phân tích hệ thống</a:t>
            </a:r>
            <a:endParaRPr/>
          </a:p>
        </p:txBody>
      </p:sp>
      <p:sp>
        <p:nvSpPr>
          <p:cNvPr id="106" name="Google Shape;106;p20"/>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Người phân tích hệ thống có vai trò quan trọng</a:t>
            </a:r>
            <a:endParaRPr/>
          </a:p>
          <a:p>
            <a:pPr indent="-368300" lvl="1" marL="914400" rtl="0" algn="l">
              <a:spcBef>
                <a:spcPts val="0"/>
              </a:spcBef>
              <a:spcAft>
                <a:spcPts val="0"/>
              </a:spcAft>
              <a:buSzPts val="2200"/>
              <a:buChar char="○"/>
            </a:pPr>
            <a:r>
              <a:rPr lang="en-GB"/>
              <a:t>Tạo các đặc tả hệ thống đem lại giá trị.</a:t>
            </a:r>
            <a:endParaRPr/>
          </a:p>
          <a:p>
            <a:pPr indent="-368300" lvl="1" marL="914400" rtl="0" algn="l">
              <a:spcBef>
                <a:spcPts val="0"/>
              </a:spcBef>
              <a:spcAft>
                <a:spcPts val="0"/>
              </a:spcAft>
              <a:buSzPts val="2200"/>
              <a:buChar char="○"/>
            </a:pPr>
            <a:r>
              <a:rPr lang="en-GB"/>
              <a:t>Chia sẻ hiểu biết về hệ thống trong nhóm phát triển dự án.</a:t>
            </a:r>
            <a:endParaRPr/>
          </a:p>
          <a:p>
            <a:pPr indent="-393700" lvl="0" marL="457200" rtl="0" algn="l">
              <a:spcBef>
                <a:spcPts val="0"/>
              </a:spcBef>
              <a:spcAft>
                <a:spcPts val="0"/>
              </a:spcAft>
              <a:buSzPts val="2600"/>
              <a:buChar char="●"/>
            </a:pPr>
            <a:r>
              <a:rPr lang="en-GB"/>
              <a:t>Công việc nhiều triển vọng nhưng cũng nhiều thách thức.</a:t>
            </a:r>
            <a:endParaRPr/>
          </a:p>
          <a:p>
            <a:pPr indent="-393700" lvl="0" marL="457200" rtl="0" algn="l">
              <a:spcBef>
                <a:spcPts val="0"/>
              </a:spcBef>
              <a:spcAft>
                <a:spcPts val="0"/>
              </a:spcAft>
              <a:buSzPts val="2600"/>
              <a:buChar char="●"/>
            </a:pPr>
            <a:r>
              <a:rPr lang="en-GB"/>
              <a:t>Phải hiểu các quy trình nghiệp vụ và có tập kỹ năng riêng.</a:t>
            </a:r>
            <a:endParaRPr/>
          </a:p>
        </p:txBody>
      </p:sp>
      <p:sp>
        <p:nvSpPr>
          <p:cNvPr id="107" name="Google Shape;107;p2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113" name="Google Shape;113;p21"/>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Một số khái niệm cơ bản</a:t>
            </a:r>
            <a:endParaRPr/>
          </a:p>
          <a:p>
            <a:pPr indent="-393700" lvl="0" marL="457200" rtl="0" algn="l">
              <a:spcBef>
                <a:spcPts val="0"/>
              </a:spcBef>
              <a:spcAft>
                <a:spcPts val="0"/>
              </a:spcAft>
              <a:buSzPts val="2600"/>
              <a:buChar char="●"/>
            </a:pPr>
            <a:r>
              <a:rPr lang="en-GB"/>
              <a:t>Vòng đời phát triển hệ thống (SDLC)</a:t>
            </a:r>
            <a:endParaRPr/>
          </a:p>
          <a:p>
            <a:pPr indent="-393700" lvl="0" marL="457200" rtl="0" algn="l">
              <a:spcBef>
                <a:spcPts val="0"/>
              </a:spcBef>
              <a:spcAft>
                <a:spcPts val="0"/>
              </a:spcAft>
              <a:buSzPts val="2600"/>
              <a:buChar char="●"/>
            </a:pPr>
            <a:r>
              <a:rPr lang="en-GB"/>
              <a:t>Hai cách tiếp cận phát triển hệ thống</a:t>
            </a:r>
            <a:endParaRPr/>
          </a:p>
          <a:p>
            <a:pPr indent="-393700" lvl="0" marL="457200" rtl="0" algn="l">
              <a:spcBef>
                <a:spcPts val="0"/>
              </a:spcBef>
              <a:spcAft>
                <a:spcPts val="0"/>
              </a:spcAft>
              <a:buSzPts val="2600"/>
              <a:buChar char="●"/>
            </a:pPr>
            <a:r>
              <a:rPr lang="en-GB"/>
              <a:t>Ngôn ngữ mô hình hóa hợp nhất (UML)</a:t>
            </a:r>
            <a:endParaRPr/>
          </a:p>
          <a:p>
            <a:pPr indent="-393700" lvl="0" marL="457200" rtl="0" algn="l">
              <a:spcBef>
                <a:spcPts val="0"/>
              </a:spcBef>
              <a:spcAft>
                <a:spcPts val="0"/>
              </a:spcAft>
              <a:buSzPts val="2600"/>
              <a:buChar char="●"/>
            </a:pPr>
            <a:r>
              <a:rPr lang="en-GB"/>
              <a:t>Môi trường &amp; Nhu cầu</a:t>
            </a:r>
            <a:endParaRPr/>
          </a:p>
          <a:p>
            <a:pPr indent="-393700" lvl="0" marL="457200" rtl="0" algn="l">
              <a:spcBef>
                <a:spcPts val="0"/>
              </a:spcBef>
              <a:spcAft>
                <a:spcPts val="0"/>
              </a:spcAft>
              <a:buSzPts val="2600"/>
              <a:buChar char="●"/>
            </a:pPr>
            <a:r>
              <a:rPr lang="en-GB"/>
              <a:t>Xác định yêu cầu</a:t>
            </a:r>
            <a:endParaRPr/>
          </a:p>
        </p:txBody>
      </p:sp>
      <p:sp>
        <p:nvSpPr>
          <p:cNvPr id="114" name="Google Shape;114;p2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15" name="Google Shape;115;p21"/>
          <p:cNvSpPr/>
          <p:nvPr/>
        </p:nvSpPr>
        <p:spPr>
          <a:xfrm>
            <a:off x="376175" y="1931125"/>
            <a:ext cx="5676900" cy="763500"/>
          </a:xfrm>
          <a:prstGeom prst="rightArrow">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idx="4294967295" type="title"/>
          </p:nvPr>
        </p:nvSpPr>
        <p:spPr>
          <a:xfrm>
            <a:off x="311700" y="440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a:t>
            </a:r>
            <a:r>
              <a:rPr lang="en-GB"/>
              <a:t>òng đời phát triển hệ thống (SDLC)</a:t>
            </a:r>
            <a:endParaRPr/>
          </a:p>
        </p:txBody>
      </p:sp>
      <p:sp>
        <p:nvSpPr>
          <p:cNvPr id="121" name="Google Shape;121;p22"/>
          <p:cNvSpPr txBox="1"/>
          <p:nvPr>
            <p:ph idx="4294967295" type="body"/>
          </p:nvPr>
        </p:nvSpPr>
        <p:spPr>
          <a:xfrm>
            <a:off x="311700" y="1231824"/>
            <a:ext cx="8520600" cy="507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SDLC bao quát toàn bộ tiến trình phát triển hệ thống. </a:t>
            </a:r>
            <a:endParaRPr/>
          </a:p>
          <a:p>
            <a:pPr indent="-393700" lvl="0" marL="457200" rtl="0" algn="just">
              <a:spcBef>
                <a:spcPts val="1600"/>
              </a:spcBef>
              <a:spcAft>
                <a:spcPts val="0"/>
              </a:spcAft>
              <a:buSzPts val="2600"/>
              <a:buChar char="●"/>
            </a:pPr>
            <a:r>
              <a:rPr lang="en-GB"/>
              <a:t>Tất cả các hoạt động cần cho các giai đoạn lập kế hoạch, phân tích, thiết kế, lập trình, kiểm thử, đào tạo người dùng, v.v.. trong tiến trình phát triển hệ thống</a:t>
            </a:r>
            <a:endParaRPr/>
          </a:p>
          <a:p>
            <a:pPr indent="-393700" lvl="0" marL="457200" rtl="0" algn="l">
              <a:spcBef>
                <a:spcPts val="0"/>
              </a:spcBef>
              <a:spcAft>
                <a:spcPts val="0"/>
              </a:spcAft>
              <a:buSzPts val="2600"/>
              <a:buChar char="●"/>
            </a:pPr>
            <a:r>
              <a:rPr lang="en-GB"/>
              <a:t>Tất cả các hoạt động quản lý dự án cần thiết để triển khai thành công dự án.</a:t>
            </a:r>
            <a:endParaRPr/>
          </a:p>
          <a:p>
            <a:pPr indent="0" lvl="0" marL="0" rtl="0" algn="just">
              <a:spcBef>
                <a:spcPts val="1600"/>
              </a:spcBef>
              <a:spcAft>
                <a:spcPts val="1600"/>
              </a:spcAft>
              <a:buNone/>
            </a:pPr>
            <a:r>
              <a:rPr i="1" lang="en-GB"/>
              <a:t>SDLC từng bước cho thấy cách một hệ thống thông tin được hình thành bắt đầu từ ý tưởng sơ khai cho tới khi được đưa vào ứng dụng, đáp ứng các nhu cầu nghiệp vụ, từ các đặc tả tới sản phẩm thực tế.</a:t>
            </a:r>
            <a:endParaRPr i="1"/>
          </a:p>
        </p:txBody>
      </p:sp>
      <p:sp>
        <p:nvSpPr>
          <p:cNvPr id="122" name="Google Shape;122;p2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idx="4294967295" type="title"/>
          </p:nvPr>
        </p:nvSpPr>
        <p:spPr>
          <a:xfrm>
            <a:off x="311700" y="2885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a:t>
            </a:r>
            <a:r>
              <a:rPr lang="en-GB"/>
              <a:t>DLC</a:t>
            </a:r>
            <a:endParaRPr baseline="-25000"/>
          </a:p>
        </p:txBody>
      </p:sp>
      <p:sp>
        <p:nvSpPr>
          <p:cNvPr id="128" name="Google Shape;128;p23"/>
          <p:cNvSpPr txBox="1"/>
          <p:nvPr>
            <p:ph idx="4294967295" type="body"/>
          </p:nvPr>
        </p:nvSpPr>
        <p:spPr>
          <a:xfrm>
            <a:off x="311700" y="1052075"/>
            <a:ext cx="8520600" cy="5488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i="1" lang="en-GB"/>
              <a:t>Có nhiều cách thiết lập SDLC và các mô hình SDLC đều bao gồm nhiều pha, </a:t>
            </a:r>
            <a:r>
              <a:rPr i="1" lang="en-GB"/>
              <a:t>tuy nhiên</a:t>
            </a:r>
            <a:r>
              <a:rPr i="1" lang="en-GB"/>
              <a:t> thường có thể thiết lập ánh xạ giữa các pha của các mô hình SDLC khác nhau.</a:t>
            </a:r>
            <a:endParaRPr i="1"/>
          </a:p>
          <a:p>
            <a:pPr indent="-393700" lvl="0" marL="457200" rtl="0" algn="l">
              <a:spcBef>
                <a:spcPts val="1600"/>
              </a:spcBef>
              <a:spcAft>
                <a:spcPts val="0"/>
              </a:spcAft>
              <a:buSzPts val="2600"/>
              <a:buChar char="●"/>
            </a:pPr>
            <a:r>
              <a:rPr lang="en-GB"/>
              <a:t>Các pha của 1 mô hình SDLC điển hình: </a:t>
            </a:r>
            <a:endParaRPr/>
          </a:p>
          <a:p>
            <a:pPr indent="-368300" lvl="1" marL="914400" rtl="0" algn="l">
              <a:spcBef>
                <a:spcPts val="0"/>
              </a:spcBef>
              <a:spcAft>
                <a:spcPts val="0"/>
              </a:spcAft>
              <a:buSzPts val="2200"/>
              <a:buChar char="○"/>
            </a:pPr>
            <a:r>
              <a:rPr lang="en-GB"/>
              <a:t>Lập kế hoạch;</a:t>
            </a:r>
            <a:endParaRPr/>
          </a:p>
          <a:p>
            <a:pPr indent="-368300" lvl="1" marL="914400" rtl="0" algn="l">
              <a:spcBef>
                <a:spcPts val="0"/>
              </a:spcBef>
              <a:spcAft>
                <a:spcPts val="0"/>
              </a:spcAft>
              <a:buSzPts val="2200"/>
              <a:buChar char="○"/>
            </a:pPr>
            <a:r>
              <a:rPr lang="en-GB"/>
              <a:t>Phân tích;</a:t>
            </a:r>
            <a:endParaRPr/>
          </a:p>
          <a:p>
            <a:pPr indent="-368300" lvl="1" marL="914400" rtl="0" algn="l">
              <a:spcBef>
                <a:spcPts val="0"/>
              </a:spcBef>
              <a:spcAft>
                <a:spcPts val="0"/>
              </a:spcAft>
              <a:buSzPts val="2200"/>
              <a:buChar char="○"/>
            </a:pPr>
            <a:r>
              <a:rPr lang="en-GB"/>
              <a:t>Thiết kế;</a:t>
            </a:r>
            <a:endParaRPr/>
          </a:p>
          <a:p>
            <a:pPr indent="-368300" lvl="1" marL="914400" rtl="0" algn="l">
              <a:spcBef>
                <a:spcPts val="0"/>
              </a:spcBef>
              <a:spcAft>
                <a:spcPts val="0"/>
              </a:spcAft>
              <a:buSzPts val="2200"/>
              <a:buChar char="○"/>
            </a:pPr>
            <a:r>
              <a:rPr lang="en-GB"/>
              <a:t>Thực thi.</a:t>
            </a:r>
            <a:endParaRPr/>
          </a:p>
          <a:p>
            <a:pPr indent="-393700" lvl="0" marL="457200" rtl="0" algn="l">
              <a:spcBef>
                <a:spcPts val="0"/>
              </a:spcBef>
              <a:spcAft>
                <a:spcPts val="0"/>
              </a:spcAft>
              <a:buSzPts val="2600"/>
              <a:buChar char="●"/>
            </a:pPr>
            <a:r>
              <a:rPr lang="en-GB"/>
              <a:t>Mỗi pha bao gồm 1 chuỗi các bước</a:t>
            </a:r>
            <a:endParaRPr/>
          </a:p>
          <a:p>
            <a:pPr indent="-393700" lvl="0" marL="457200" rtl="0" algn="l">
              <a:spcBef>
                <a:spcPts val="0"/>
              </a:spcBef>
              <a:spcAft>
                <a:spcPts val="0"/>
              </a:spcAft>
              <a:buSzPts val="2600"/>
              <a:buChar char="●"/>
            </a:pPr>
            <a:r>
              <a:rPr lang="en-GB"/>
              <a:t>Mỗi pha đều tạo ra sản phẩm (có thể chuyển giao)</a:t>
            </a:r>
            <a:endParaRPr/>
          </a:p>
          <a:p>
            <a:pPr indent="-393700" lvl="0" marL="457200" rtl="0" algn="l">
              <a:spcBef>
                <a:spcPts val="0"/>
              </a:spcBef>
              <a:spcAft>
                <a:spcPts val="0"/>
              </a:spcAft>
              <a:buSzPts val="2600"/>
              <a:buChar char="●"/>
            </a:pPr>
            <a:r>
              <a:rPr lang="en-GB"/>
              <a:t>Các pha có thể được thực hiện tuần tự, tăng dần, lặp hoặc theo 1 số quy luật khác.</a:t>
            </a:r>
            <a:endParaRPr/>
          </a:p>
        </p:txBody>
      </p:sp>
      <p:sp>
        <p:nvSpPr>
          <p:cNvPr id="129" name="Google Shape;129;p2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Pha lập kế hoạch</a:t>
            </a:r>
            <a:endParaRPr/>
          </a:p>
          <a:p>
            <a:pPr indent="-368300" lvl="1" marL="914400" rtl="0" algn="l">
              <a:spcBef>
                <a:spcPts val="0"/>
              </a:spcBef>
              <a:spcAft>
                <a:spcPts val="0"/>
              </a:spcAft>
              <a:buSzPts val="2200"/>
              <a:buChar char="○"/>
            </a:pPr>
            <a:r>
              <a:rPr lang="en-GB"/>
              <a:t>Vì sao chúng ta nên xây dựng hệ thống này?</a:t>
            </a:r>
            <a:endParaRPr/>
          </a:p>
          <a:p>
            <a:pPr indent="-368300" lvl="1" marL="914400" rtl="0" algn="l">
              <a:spcBef>
                <a:spcPts val="0"/>
              </a:spcBef>
              <a:spcAft>
                <a:spcPts val="0"/>
              </a:spcAft>
              <a:buSzPts val="2200"/>
              <a:buChar char="○"/>
            </a:pPr>
            <a:r>
              <a:rPr lang="en-GB"/>
              <a:t>Nó sẽ đem lại lợi ích gì?</a:t>
            </a:r>
            <a:endParaRPr/>
          </a:p>
          <a:p>
            <a:pPr indent="-368300" lvl="1" marL="914400" rtl="0" algn="l">
              <a:spcBef>
                <a:spcPts val="0"/>
              </a:spcBef>
              <a:spcAft>
                <a:spcPts val="0"/>
              </a:spcAft>
              <a:buSzPts val="2200"/>
              <a:buChar char="○"/>
            </a:pPr>
            <a:r>
              <a:rPr lang="en-GB"/>
              <a:t>Xây dựng nó như thế nào? và ai sẽ xây dựng nó?</a:t>
            </a:r>
            <a:endParaRPr/>
          </a:p>
          <a:p>
            <a:pPr indent="-368300" lvl="1" marL="914400" rtl="0" algn="l">
              <a:spcBef>
                <a:spcPts val="0"/>
              </a:spcBef>
              <a:spcAft>
                <a:spcPts val="0"/>
              </a:spcAft>
              <a:buSzPts val="2200"/>
              <a:buChar char="○"/>
            </a:pPr>
            <a:r>
              <a:rPr lang="en-GB"/>
              <a:t>Cần bao nhiêu thời gian và kinh phí để xây dựng nó?</a:t>
            </a:r>
            <a:endParaRPr/>
          </a:p>
          <a:p>
            <a:pPr indent="-393700" lvl="0" marL="457200" rtl="0" algn="l">
              <a:spcBef>
                <a:spcPts val="0"/>
              </a:spcBef>
              <a:spcAft>
                <a:spcPts val="0"/>
              </a:spcAft>
              <a:buSzPts val="2600"/>
              <a:buChar char="●"/>
            </a:pPr>
            <a:r>
              <a:rPr lang="en-GB"/>
              <a:t>Pha phân tích</a:t>
            </a:r>
            <a:endParaRPr/>
          </a:p>
          <a:p>
            <a:pPr indent="-368300" lvl="1" marL="914400" rtl="0" algn="l">
              <a:spcBef>
                <a:spcPts val="0"/>
              </a:spcBef>
              <a:spcAft>
                <a:spcPts val="0"/>
              </a:spcAft>
              <a:buSzPts val="2200"/>
              <a:buChar char="○"/>
            </a:pPr>
            <a:r>
              <a:rPr lang="en-GB"/>
              <a:t>Ai sẽ sử dụng nó? ở đâu? và trong điều kiện nào?</a:t>
            </a:r>
            <a:endParaRPr/>
          </a:p>
          <a:p>
            <a:pPr indent="-368300" lvl="1" marL="914400" rtl="0" algn="l">
              <a:spcBef>
                <a:spcPts val="0"/>
              </a:spcBef>
              <a:spcAft>
                <a:spcPts val="0"/>
              </a:spcAft>
              <a:buSzPts val="2200"/>
              <a:buChar char="○"/>
            </a:pPr>
            <a:r>
              <a:rPr lang="en-GB"/>
              <a:t>Hệ thống cần làm những gì?</a:t>
            </a:r>
            <a:endParaRPr/>
          </a:p>
          <a:p>
            <a:pPr indent="-393700" lvl="0" marL="457200" rtl="0" algn="l">
              <a:spcBef>
                <a:spcPts val="0"/>
              </a:spcBef>
              <a:spcAft>
                <a:spcPts val="0"/>
              </a:spcAft>
              <a:buSzPts val="2600"/>
              <a:buChar char="●"/>
            </a:pPr>
            <a:r>
              <a:rPr lang="en-GB"/>
              <a:t>Pha thiết kế</a:t>
            </a:r>
            <a:endParaRPr/>
          </a:p>
          <a:p>
            <a:pPr indent="-368300" lvl="1" marL="914400" rtl="0" algn="l">
              <a:spcBef>
                <a:spcPts val="0"/>
              </a:spcBef>
              <a:spcAft>
                <a:spcPts val="0"/>
              </a:spcAft>
              <a:buSzPts val="2200"/>
              <a:buChar char="○"/>
            </a:pPr>
            <a:r>
              <a:rPr lang="en-GB"/>
              <a:t>Hệ thống hoạt động như thế nào?</a:t>
            </a:r>
            <a:endParaRPr/>
          </a:p>
          <a:p>
            <a:pPr indent="-368300" lvl="1" marL="914400" rtl="0" algn="l">
              <a:spcBef>
                <a:spcPts val="0"/>
              </a:spcBef>
              <a:spcAft>
                <a:spcPts val="0"/>
              </a:spcAft>
              <a:buSzPts val="2200"/>
              <a:buChar char="○"/>
            </a:pPr>
            <a:r>
              <a:rPr lang="en-GB"/>
              <a:t>Hệ thống được xây dựng như thế nào?</a:t>
            </a:r>
            <a:endParaRPr/>
          </a:p>
        </p:txBody>
      </p:sp>
      <p:sp>
        <p:nvSpPr>
          <p:cNvPr id="135" name="Google Shape;135;p2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6" name="Google Shape;136;p2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Tập câu hỏi trong các pha cơ bản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Các hoạt động tiêu biểu</a:t>
            </a:r>
            <a:endParaRPr/>
          </a:p>
        </p:txBody>
      </p:sp>
      <p:sp>
        <p:nvSpPr>
          <p:cNvPr id="142" name="Google Shape;142;p25"/>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a:t>
            </a:r>
            <a:r>
              <a:rPr lang="en-GB"/>
              <a:t>a lập kế hoạch</a:t>
            </a:r>
            <a:endParaRPr/>
          </a:p>
          <a:p>
            <a:pPr indent="-393700" lvl="0" marL="457200" rtl="0" algn="l">
              <a:spcBef>
                <a:spcPts val="1600"/>
              </a:spcBef>
              <a:spcAft>
                <a:spcPts val="0"/>
              </a:spcAft>
              <a:buSzPts val="2600"/>
              <a:buAutoNum type="arabicPeriod"/>
            </a:pPr>
            <a:r>
              <a:rPr lang="en-GB"/>
              <a:t>Khởi tạo dự án</a:t>
            </a:r>
            <a:endParaRPr/>
          </a:p>
          <a:p>
            <a:pPr indent="-368300" lvl="1" marL="914400" rtl="0" algn="l">
              <a:spcBef>
                <a:spcPts val="0"/>
              </a:spcBef>
              <a:spcAft>
                <a:spcPts val="0"/>
              </a:spcAft>
              <a:buSzPts val="2200"/>
              <a:buChar char="○"/>
            </a:pPr>
            <a:r>
              <a:rPr lang="en-GB"/>
              <a:t>Tạo/tiếp nhận các yêu cầu hệ thống</a:t>
            </a:r>
            <a:endParaRPr/>
          </a:p>
          <a:p>
            <a:pPr indent="-368300" lvl="1" marL="914400" rtl="0" algn="l">
              <a:spcBef>
                <a:spcPts val="0"/>
              </a:spcBef>
              <a:spcAft>
                <a:spcPts val="0"/>
              </a:spcAft>
              <a:buSzPts val="2200"/>
              <a:buChar char="○"/>
            </a:pPr>
            <a:r>
              <a:rPr lang="en-GB"/>
              <a:t>Thực hiện phân tích tính khả thi</a:t>
            </a:r>
            <a:endParaRPr/>
          </a:p>
          <a:p>
            <a:pPr indent="-393700" lvl="0" marL="457200" rtl="0" algn="l">
              <a:spcBef>
                <a:spcPts val="0"/>
              </a:spcBef>
              <a:spcAft>
                <a:spcPts val="0"/>
              </a:spcAft>
              <a:buSzPts val="2600"/>
              <a:buAutoNum type="arabicPeriod"/>
            </a:pPr>
            <a:r>
              <a:rPr lang="en-GB"/>
              <a:t>Tổ chức quản lý dự án</a:t>
            </a:r>
            <a:endParaRPr/>
          </a:p>
          <a:p>
            <a:pPr indent="-368300" lvl="1" marL="914400" rtl="0" algn="l">
              <a:spcBef>
                <a:spcPts val="0"/>
              </a:spcBef>
              <a:spcAft>
                <a:spcPts val="0"/>
              </a:spcAft>
              <a:buSzPts val="2200"/>
              <a:buChar char="○"/>
            </a:pPr>
            <a:r>
              <a:rPr lang="en-GB"/>
              <a:t>Lập kế hoạch làm việc</a:t>
            </a:r>
            <a:endParaRPr/>
          </a:p>
          <a:p>
            <a:pPr indent="-368300" lvl="1" marL="914400" rtl="0" algn="l">
              <a:spcBef>
                <a:spcPts val="0"/>
              </a:spcBef>
              <a:spcAft>
                <a:spcPts val="0"/>
              </a:spcAft>
              <a:buSzPts val="2200"/>
              <a:buChar char="○"/>
            </a:pPr>
            <a:r>
              <a:rPr lang="en-GB"/>
              <a:t>Bố trí nhân sự dự án</a:t>
            </a:r>
            <a:endParaRPr/>
          </a:p>
          <a:p>
            <a:pPr indent="-368300" lvl="1" marL="914400" rtl="0" algn="l">
              <a:spcBef>
                <a:spcPts val="0"/>
              </a:spcBef>
              <a:spcAft>
                <a:spcPts val="0"/>
              </a:spcAft>
              <a:buSzPts val="2200"/>
              <a:buChar char="○"/>
            </a:pPr>
            <a:r>
              <a:rPr lang="en-GB"/>
              <a:t>Lên kế hoạch theo dõi và điều hành dự án</a:t>
            </a:r>
            <a:endParaRPr/>
          </a:p>
        </p:txBody>
      </p:sp>
      <p:sp>
        <p:nvSpPr>
          <p:cNvPr id="143" name="Google Shape;143;p2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a:t>
            </a:r>
            <a:r>
              <a:rPr lang="en-GB"/>
              <a:t> hoạt động tiêu biểu</a:t>
            </a:r>
            <a:r>
              <a:rPr baseline="-25000" lang="en-GB"/>
              <a:t>(2)</a:t>
            </a:r>
            <a:endParaRPr baseline="-25000"/>
          </a:p>
        </p:txBody>
      </p:sp>
      <p:sp>
        <p:nvSpPr>
          <p:cNvPr id="149" name="Google Shape;149;p26"/>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a:t>
            </a:r>
            <a:r>
              <a:rPr lang="en-GB"/>
              <a:t>a phân tích</a:t>
            </a:r>
            <a:endParaRPr/>
          </a:p>
          <a:p>
            <a:pPr indent="-393700" lvl="0" marL="457200" rtl="0" algn="l">
              <a:spcBef>
                <a:spcPts val="1600"/>
              </a:spcBef>
              <a:spcAft>
                <a:spcPts val="0"/>
              </a:spcAft>
              <a:buSzPts val="2600"/>
              <a:buAutoNum type="arabicPeriod"/>
            </a:pPr>
            <a:r>
              <a:rPr lang="en-GB"/>
              <a:t>Lập chiến lược phân tích</a:t>
            </a:r>
            <a:endParaRPr/>
          </a:p>
          <a:p>
            <a:pPr indent="-368300" lvl="1" marL="914400" rtl="0" algn="l">
              <a:spcBef>
                <a:spcPts val="0"/>
              </a:spcBef>
              <a:spcAft>
                <a:spcPts val="0"/>
              </a:spcAft>
              <a:buSzPts val="2200"/>
              <a:buChar char="○"/>
            </a:pPr>
            <a:r>
              <a:rPr lang="en-GB"/>
              <a:t>Mô hình hóa hệ thống đang có</a:t>
            </a:r>
            <a:endParaRPr/>
          </a:p>
          <a:p>
            <a:pPr indent="-368300" lvl="1" marL="914400" rtl="0" algn="l">
              <a:spcBef>
                <a:spcPts val="0"/>
              </a:spcBef>
              <a:spcAft>
                <a:spcPts val="0"/>
              </a:spcAft>
              <a:buSzPts val="2200"/>
              <a:buChar char="○"/>
            </a:pPr>
            <a:r>
              <a:rPr lang="en-GB"/>
              <a:t>Định hình hệ thống mới</a:t>
            </a:r>
            <a:endParaRPr/>
          </a:p>
          <a:p>
            <a:pPr indent="-393700" lvl="0" marL="457200" rtl="0" algn="l">
              <a:spcBef>
                <a:spcPts val="0"/>
              </a:spcBef>
              <a:spcAft>
                <a:spcPts val="0"/>
              </a:spcAft>
              <a:buSzPts val="2600"/>
              <a:buAutoNum type="arabicPeriod"/>
            </a:pPr>
            <a:r>
              <a:rPr lang="en-GB"/>
              <a:t>Thu thập thông tin</a:t>
            </a:r>
            <a:endParaRPr/>
          </a:p>
          <a:p>
            <a:pPr indent="-368300" lvl="1" marL="914400" rtl="0" algn="l">
              <a:spcBef>
                <a:spcPts val="0"/>
              </a:spcBef>
              <a:spcAft>
                <a:spcPts val="0"/>
              </a:spcAft>
              <a:buSzPts val="2200"/>
              <a:buChar char="○"/>
            </a:pPr>
            <a:r>
              <a:rPr lang="en-GB"/>
              <a:t>Mô tả ý tưởng</a:t>
            </a:r>
            <a:r>
              <a:rPr lang="en-GB"/>
              <a:t> hệ thống</a:t>
            </a:r>
            <a:endParaRPr/>
          </a:p>
          <a:p>
            <a:pPr indent="-368300" lvl="1" marL="914400" rtl="0" algn="l">
              <a:spcBef>
                <a:spcPts val="0"/>
              </a:spcBef>
              <a:spcAft>
                <a:spcPts val="0"/>
              </a:spcAft>
              <a:buSzPts val="2200"/>
              <a:buChar char="○"/>
            </a:pPr>
            <a:r>
              <a:rPr lang="en-GB"/>
              <a:t>Tạo các mô hình</a:t>
            </a:r>
            <a:endParaRPr/>
          </a:p>
          <a:p>
            <a:pPr indent="-393700" lvl="0" marL="457200" rtl="0" algn="l">
              <a:spcBef>
                <a:spcPts val="0"/>
              </a:spcBef>
              <a:spcAft>
                <a:spcPts val="0"/>
              </a:spcAft>
              <a:buSzPts val="2600"/>
              <a:buAutoNum type="arabicPeriod"/>
            </a:pPr>
            <a:r>
              <a:rPr lang="en-GB"/>
              <a:t>Tạo bản đề xuất hệ thống</a:t>
            </a:r>
            <a:endParaRPr/>
          </a:p>
        </p:txBody>
      </p:sp>
      <p:sp>
        <p:nvSpPr>
          <p:cNvPr id="150" name="Google Shape;150;p2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hoạt động tiêu biểu</a:t>
            </a:r>
            <a:r>
              <a:rPr baseline="-25000" lang="en-GB"/>
              <a:t>(3)</a:t>
            </a:r>
            <a:r>
              <a:rPr lang="en-GB"/>
              <a:t> </a:t>
            </a:r>
            <a:endParaRPr/>
          </a:p>
        </p:txBody>
      </p:sp>
      <p:sp>
        <p:nvSpPr>
          <p:cNvPr id="156" name="Google Shape;156;p27"/>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a:t>
            </a:r>
            <a:r>
              <a:rPr lang="en-GB"/>
              <a:t>a thiết kế</a:t>
            </a:r>
            <a:endParaRPr/>
          </a:p>
          <a:p>
            <a:pPr indent="-393700" lvl="0" marL="457200" rtl="0" algn="l">
              <a:spcBef>
                <a:spcPts val="1600"/>
              </a:spcBef>
              <a:spcAft>
                <a:spcPts val="0"/>
              </a:spcAft>
              <a:buSzPts val="2600"/>
              <a:buAutoNum type="arabicPeriod"/>
            </a:pPr>
            <a:r>
              <a:rPr lang="en-GB"/>
              <a:t>X</a:t>
            </a:r>
            <a:r>
              <a:rPr lang="en-GB"/>
              <a:t>ây dựng chiến lược thiết kế</a:t>
            </a:r>
            <a:endParaRPr/>
          </a:p>
          <a:p>
            <a:pPr indent="-393700" lvl="0" marL="457200" rtl="0" algn="l">
              <a:spcBef>
                <a:spcPts val="0"/>
              </a:spcBef>
              <a:spcAft>
                <a:spcPts val="0"/>
              </a:spcAft>
              <a:buSzPts val="2600"/>
              <a:buAutoNum type="arabicPeriod"/>
            </a:pPr>
            <a:r>
              <a:rPr lang="en-GB"/>
              <a:t>Thiết kế kiến trúc hệ thống</a:t>
            </a:r>
            <a:endParaRPr/>
          </a:p>
          <a:p>
            <a:pPr indent="-393700" lvl="0" marL="457200" rtl="0" algn="l">
              <a:spcBef>
                <a:spcPts val="0"/>
              </a:spcBef>
              <a:spcAft>
                <a:spcPts val="0"/>
              </a:spcAft>
              <a:buSzPts val="2600"/>
              <a:buAutoNum type="arabicPeriod"/>
            </a:pPr>
            <a:r>
              <a:rPr lang="en-GB"/>
              <a:t>Thiết kế giao diện người dùng</a:t>
            </a:r>
            <a:endParaRPr/>
          </a:p>
          <a:p>
            <a:pPr indent="-393700" lvl="0" marL="457200" rtl="0" algn="l">
              <a:spcBef>
                <a:spcPts val="0"/>
              </a:spcBef>
              <a:spcAft>
                <a:spcPts val="0"/>
              </a:spcAft>
              <a:buSzPts val="2600"/>
              <a:buAutoNum type="arabicPeriod"/>
            </a:pPr>
            <a:r>
              <a:rPr lang="en-GB"/>
              <a:t>Thiết kế lưu trữ cố định</a:t>
            </a:r>
            <a:endParaRPr/>
          </a:p>
          <a:p>
            <a:pPr indent="-393700" lvl="0" marL="457200" rtl="0" algn="l">
              <a:spcBef>
                <a:spcPts val="0"/>
              </a:spcBef>
              <a:spcAft>
                <a:spcPts val="0"/>
              </a:spcAft>
              <a:buSzPts val="2600"/>
              <a:buAutoNum type="arabicPeriod"/>
            </a:pPr>
            <a:r>
              <a:rPr lang="en-GB"/>
              <a:t>Thiết kế chi tiết lớp</a:t>
            </a:r>
            <a:endParaRPr/>
          </a:p>
        </p:txBody>
      </p:sp>
      <p:sp>
        <p:nvSpPr>
          <p:cNvPr id="157" name="Google Shape;157;p2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a:t>
            </a:r>
            <a:r>
              <a:rPr lang="en-GB"/>
              <a:t> hoạt động tiêu biểu</a:t>
            </a:r>
            <a:r>
              <a:rPr baseline="-25000" lang="en-GB"/>
              <a:t>(4)</a:t>
            </a:r>
            <a:r>
              <a:rPr lang="en-GB"/>
              <a:t> </a:t>
            </a:r>
            <a:endParaRPr/>
          </a:p>
        </p:txBody>
      </p:sp>
      <p:sp>
        <p:nvSpPr>
          <p:cNvPr id="163" name="Google Shape;163;p28"/>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a:t>
            </a:r>
            <a:r>
              <a:rPr lang="en-GB"/>
              <a:t>a thực thi</a:t>
            </a:r>
            <a:endParaRPr/>
          </a:p>
          <a:p>
            <a:pPr indent="-393700" lvl="0" marL="457200" rtl="0" algn="l">
              <a:spcBef>
                <a:spcPts val="1600"/>
              </a:spcBef>
              <a:spcAft>
                <a:spcPts val="0"/>
              </a:spcAft>
              <a:buSzPts val="2600"/>
              <a:buAutoNum type="arabicPeriod"/>
            </a:pPr>
            <a:r>
              <a:rPr lang="en-GB"/>
              <a:t>Xây dựng hệ thống</a:t>
            </a:r>
            <a:endParaRPr/>
          </a:p>
          <a:p>
            <a:pPr indent="-368300" lvl="1" marL="914400" rtl="0" algn="l">
              <a:spcBef>
                <a:spcPts val="0"/>
              </a:spcBef>
              <a:spcAft>
                <a:spcPts val="0"/>
              </a:spcAft>
              <a:buSzPts val="2200"/>
              <a:buChar char="○"/>
            </a:pPr>
            <a:r>
              <a:rPr lang="en-GB"/>
              <a:t>Lập trình</a:t>
            </a:r>
            <a:endParaRPr/>
          </a:p>
          <a:p>
            <a:pPr indent="-368300" lvl="1" marL="914400" rtl="0" algn="l">
              <a:spcBef>
                <a:spcPts val="0"/>
              </a:spcBef>
              <a:spcAft>
                <a:spcPts val="0"/>
              </a:spcAft>
              <a:buSzPts val="2200"/>
              <a:buChar char="○"/>
            </a:pPr>
            <a:r>
              <a:rPr lang="en-GB"/>
              <a:t>Kiểm thử</a:t>
            </a:r>
            <a:endParaRPr/>
          </a:p>
          <a:p>
            <a:pPr indent="-393700" lvl="0" marL="457200" rtl="0" algn="l">
              <a:spcBef>
                <a:spcPts val="0"/>
              </a:spcBef>
              <a:spcAft>
                <a:spcPts val="0"/>
              </a:spcAft>
              <a:buSzPts val="2600"/>
              <a:buAutoNum type="arabicPeriod"/>
            </a:pPr>
            <a:r>
              <a:rPr lang="en-GB"/>
              <a:t>Chuyển giao hệ thống</a:t>
            </a:r>
            <a:endParaRPr/>
          </a:p>
          <a:p>
            <a:pPr indent="-368300" lvl="1" marL="914400" rtl="0" algn="l">
              <a:spcBef>
                <a:spcPts val="0"/>
              </a:spcBef>
              <a:spcAft>
                <a:spcPts val="0"/>
              </a:spcAft>
              <a:buSzPts val="2200"/>
              <a:buChar char="○"/>
            </a:pPr>
            <a:r>
              <a:rPr lang="en-GB"/>
              <a:t>Cài đặt</a:t>
            </a:r>
            <a:endParaRPr/>
          </a:p>
          <a:p>
            <a:pPr indent="-368300" lvl="1" marL="914400" rtl="0" algn="l">
              <a:spcBef>
                <a:spcPts val="0"/>
              </a:spcBef>
              <a:spcAft>
                <a:spcPts val="0"/>
              </a:spcAft>
              <a:buSzPts val="2200"/>
              <a:buChar char="○"/>
            </a:pPr>
            <a:r>
              <a:rPr lang="en-GB"/>
              <a:t>Đào tạo &amp; hướng dẫn sử dụng</a:t>
            </a:r>
            <a:endParaRPr/>
          </a:p>
          <a:p>
            <a:pPr indent="-393700" lvl="0" marL="457200" rtl="0" algn="l">
              <a:spcBef>
                <a:spcPts val="0"/>
              </a:spcBef>
              <a:spcAft>
                <a:spcPts val="0"/>
              </a:spcAft>
              <a:buSzPts val="2600"/>
              <a:buAutoNum type="arabicPeriod"/>
            </a:pPr>
            <a:r>
              <a:rPr lang="en-GB"/>
              <a:t>Hỗ trợ (bảo trì) hệ thống</a:t>
            </a:r>
            <a:endParaRPr/>
          </a:p>
        </p:txBody>
      </p:sp>
      <p:sp>
        <p:nvSpPr>
          <p:cNvPr id="164" name="Google Shape;164;p2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9"/>
          <p:cNvSpPr/>
          <p:nvPr/>
        </p:nvSpPr>
        <p:spPr>
          <a:xfrm>
            <a:off x="307850" y="1536549"/>
            <a:ext cx="8413500" cy="437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9"/>
          <p:cNvSpPr txBox="1"/>
          <p:nvPr>
            <p:ph idx="4294967295" type="title"/>
          </p:nvPr>
        </p:nvSpPr>
        <p:spPr>
          <a:xfrm>
            <a:off x="311700" y="517167"/>
            <a:ext cx="8520600" cy="763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GB">
                <a:solidFill>
                  <a:schemeClr val="dk2"/>
                </a:solidFill>
              </a:rPr>
              <a:t>Sản phẩm đầu ra tiêu biểu cho các pha</a:t>
            </a:r>
            <a:endParaRPr sz="3800"/>
          </a:p>
        </p:txBody>
      </p:sp>
      <p:sp>
        <p:nvSpPr>
          <p:cNvPr id="171" name="Google Shape;171;p2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172" name="Google Shape;172;p29"/>
          <p:cNvGraphicFramePr/>
          <p:nvPr/>
        </p:nvGraphicFramePr>
        <p:xfrm>
          <a:off x="525275" y="1785325"/>
          <a:ext cx="3000000" cy="3000000"/>
        </p:xfrm>
        <a:graphic>
          <a:graphicData uri="http://schemas.openxmlformats.org/drawingml/2006/table">
            <a:tbl>
              <a:tblPr>
                <a:noFill/>
                <a:tableStyleId>{FB86B068-0AB8-465F-A198-9472E0B8EB98}</a:tableStyleId>
              </a:tblPr>
              <a:tblGrid>
                <a:gridCol w="3073475"/>
                <a:gridCol w="4914600"/>
              </a:tblGrid>
              <a:tr h="566350">
                <a:tc>
                  <a:txBody>
                    <a:bodyPr/>
                    <a:lstStyle/>
                    <a:p>
                      <a:pPr indent="0" lvl="0" marL="0" rtl="0" algn="l">
                        <a:spcBef>
                          <a:spcPts val="0"/>
                        </a:spcBef>
                        <a:spcAft>
                          <a:spcPts val="0"/>
                        </a:spcAft>
                        <a:buNone/>
                      </a:pPr>
                      <a:r>
                        <a:rPr b="1" lang="en-GB" sz="2400"/>
                        <a:t>Pha</a:t>
                      </a:r>
                      <a:endParaRPr b="1" sz="2400"/>
                    </a:p>
                  </a:txBody>
                  <a:tcPr marT="121900" marB="121900" marR="91425" marL="91425"/>
                </a:tc>
                <a:tc>
                  <a:txBody>
                    <a:bodyPr/>
                    <a:lstStyle/>
                    <a:p>
                      <a:pPr indent="0" lvl="0" marL="0" rtl="0" algn="l">
                        <a:spcBef>
                          <a:spcPts val="0"/>
                        </a:spcBef>
                        <a:spcAft>
                          <a:spcPts val="0"/>
                        </a:spcAft>
                        <a:buNone/>
                      </a:pPr>
                      <a:r>
                        <a:rPr b="1" lang="en-GB" sz="2400"/>
                        <a:t>Sản phẩm </a:t>
                      </a:r>
                      <a:r>
                        <a:rPr b="1" lang="en-GB" sz="2400"/>
                        <a:t>tiêu biểu</a:t>
                      </a:r>
                      <a:endParaRPr b="1" sz="2400"/>
                    </a:p>
                  </a:txBody>
                  <a:tcPr marT="121900" marB="121900" marR="91425" marL="91425"/>
                </a:tc>
              </a:tr>
              <a:tr h="777075">
                <a:tc>
                  <a:txBody>
                    <a:bodyPr/>
                    <a:lstStyle/>
                    <a:p>
                      <a:pPr indent="0" lvl="0" marL="0" rtl="0" algn="l">
                        <a:spcBef>
                          <a:spcPts val="0"/>
                        </a:spcBef>
                        <a:spcAft>
                          <a:spcPts val="0"/>
                        </a:spcAft>
                        <a:buNone/>
                      </a:pPr>
                      <a:r>
                        <a:rPr lang="en-GB" sz="2400"/>
                        <a:t>Lập kế hoạch      ⇒</a:t>
                      </a:r>
                      <a:endParaRPr sz="2400"/>
                    </a:p>
                  </a:txBody>
                  <a:tcPr marT="121900" marB="121900" marR="91425" marL="91425"/>
                </a:tc>
                <a:tc>
                  <a:txBody>
                    <a:bodyPr/>
                    <a:lstStyle/>
                    <a:p>
                      <a:pPr indent="0" lvl="0" marL="0" rtl="0" algn="l">
                        <a:spcBef>
                          <a:spcPts val="0"/>
                        </a:spcBef>
                        <a:spcAft>
                          <a:spcPts val="0"/>
                        </a:spcAft>
                        <a:buNone/>
                      </a:pPr>
                      <a:r>
                        <a:rPr lang="en-GB" sz="2400"/>
                        <a:t>Kế hoạch dự án</a:t>
                      </a:r>
                      <a:endParaRPr sz="2400"/>
                    </a:p>
                  </a:txBody>
                  <a:tcPr marT="121900" marB="121900" marR="91425" marL="91425"/>
                </a:tc>
              </a:tr>
              <a:tr h="777075">
                <a:tc>
                  <a:txBody>
                    <a:bodyPr/>
                    <a:lstStyle/>
                    <a:p>
                      <a:pPr indent="0" lvl="0" marL="0" rtl="0" algn="l">
                        <a:spcBef>
                          <a:spcPts val="0"/>
                        </a:spcBef>
                        <a:spcAft>
                          <a:spcPts val="0"/>
                        </a:spcAft>
                        <a:buNone/>
                      </a:pPr>
                      <a:r>
                        <a:rPr lang="en-GB" sz="2400"/>
                        <a:t>Phân tích</a:t>
                      </a:r>
                      <a:r>
                        <a:rPr lang="en-GB" sz="2400">
                          <a:solidFill>
                            <a:srgbClr val="000000"/>
                          </a:solidFill>
                        </a:rPr>
                        <a:t>             ⇒</a:t>
                      </a:r>
                      <a:endParaRPr sz="2400"/>
                    </a:p>
                  </a:txBody>
                  <a:tcPr marT="121900" marB="121900" marR="91425" marL="91425"/>
                </a:tc>
                <a:tc>
                  <a:txBody>
                    <a:bodyPr/>
                    <a:lstStyle/>
                    <a:p>
                      <a:pPr indent="0" lvl="0" marL="0" rtl="0" algn="l">
                        <a:spcBef>
                          <a:spcPts val="0"/>
                        </a:spcBef>
                        <a:spcAft>
                          <a:spcPts val="0"/>
                        </a:spcAft>
                        <a:buNone/>
                      </a:pPr>
                      <a:r>
                        <a:rPr lang="en-GB" sz="2400"/>
                        <a:t>Bản đ</a:t>
                      </a:r>
                      <a:r>
                        <a:rPr lang="en-GB" sz="2400"/>
                        <a:t>ề xuất hệ thống</a:t>
                      </a:r>
                      <a:endParaRPr sz="2400"/>
                    </a:p>
                  </a:txBody>
                  <a:tcPr marT="121900" marB="121900" marR="91425" marL="91425"/>
                </a:tc>
              </a:tr>
              <a:tr h="777075">
                <a:tc>
                  <a:txBody>
                    <a:bodyPr/>
                    <a:lstStyle/>
                    <a:p>
                      <a:pPr indent="0" lvl="0" marL="0" rtl="0" algn="l">
                        <a:spcBef>
                          <a:spcPts val="0"/>
                        </a:spcBef>
                        <a:spcAft>
                          <a:spcPts val="0"/>
                        </a:spcAft>
                        <a:buNone/>
                      </a:pPr>
                      <a:r>
                        <a:rPr lang="en-GB" sz="2400"/>
                        <a:t>Thiết kế</a:t>
                      </a:r>
                      <a:r>
                        <a:rPr lang="en-GB" sz="2400">
                          <a:solidFill>
                            <a:srgbClr val="000000"/>
                          </a:solidFill>
                        </a:rPr>
                        <a:t>               ⇒</a:t>
                      </a:r>
                      <a:endParaRPr sz="2400"/>
                    </a:p>
                  </a:txBody>
                  <a:tcPr marT="121900" marB="121900" marR="91425" marL="91425"/>
                </a:tc>
                <a:tc>
                  <a:txBody>
                    <a:bodyPr/>
                    <a:lstStyle/>
                    <a:p>
                      <a:pPr indent="0" lvl="0" marL="0" rtl="0" algn="l">
                        <a:spcBef>
                          <a:spcPts val="0"/>
                        </a:spcBef>
                        <a:spcAft>
                          <a:spcPts val="0"/>
                        </a:spcAft>
                        <a:buNone/>
                      </a:pPr>
                      <a:r>
                        <a:rPr lang="en-GB" sz="2400"/>
                        <a:t>Tài liệu đ</a:t>
                      </a:r>
                      <a:r>
                        <a:rPr lang="en-GB" sz="2400"/>
                        <a:t>ặc tả hệ thống</a:t>
                      </a:r>
                      <a:endParaRPr sz="2400"/>
                    </a:p>
                  </a:txBody>
                  <a:tcPr marT="121900" marB="121900" marR="91425" marL="91425"/>
                </a:tc>
              </a:tr>
              <a:tr h="777075">
                <a:tc>
                  <a:txBody>
                    <a:bodyPr/>
                    <a:lstStyle/>
                    <a:p>
                      <a:pPr indent="0" lvl="0" marL="0" rtl="0" algn="l">
                        <a:spcBef>
                          <a:spcPts val="0"/>
                        </a:spcBef>
                        <a:spcAft>
                          <a:spcPts val="0"/>
                        </a:spcAft>
                        <a:buNone/>
                      </a:pPr>
                      <a:r>
                        <a:rPr lang="en-GB" sz="2400"/>
                        <a:t>Thực thi</a:t>
                      </a:r>
                      <a:r>
                        <a:rPr lang="en-GB" sz="2400">
                          <a:solidFill>
                            <a:srgbClr val="000000"/>
                          </a:solidFill>
                        </a:rPr>
                        <a:t>              </a:t>
                      </a:r>
                      <a:r>
                        <a:rPr lang="en-GB" sz="2400"/>
                        <a:t> </a:t>
                      </a:r>
                      <a:r>
                        <a:rPr lang="en-GB" sz="2400">
                          <a:solidFill>
                            <a:srgbClr val="000000"/>
                          </a:solidFill>
                        </a:rPr>
                        <a:t>⇒</a:t>
                      </a:r>
                      <a:endParaRPr sz="2400"/>
                    </a:p>
                  </a:txBody>
                  <a:tcPr marT="121900" marB="121900" marR="91425" marL="91425"/>
                </a:tc>
                <a:tc>
                  <a:txBody>
                    <a:bodyPr/>
                    <a:lstStyle/>
                    <a:p>
                      <a:pPr indent="0" lvl="0" marL="0" rtl="0" algn="l">
                        <a:spcBef>
                          <a:spcPts val="0"/>
                        </a:spcBef>
                        <a:spcAft>
                          <a:spcPts val="0"/>
                        </a:spcAft>
                        <a:buNone/>
                      </a:pPr>
                      <a:r>
                        <a:rPr lang="en-GB" sz="2400"/>
                        <a:t>Hệ thống</a:t>
                      </a:r>
                      <a:endParaRPr sz="2400"/>
                    </a:p>
                  </a:txBody>
                  <a:tcPr marT="121900" marB="121900" marR="91425" marL="9142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178" name="Google Shape;178;p30"/>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Một số khái niệm cơ bản</a:t>
            </a:r>
            <a:endParaRPr/>
          </a:p>
          <a:p>
            <a:pPr indent="-393700" lvl="0" marL="457200" rtl="0" algn="l">
              <a:spcBef>
                <a:spcPts val="0"/>
              </a:spcBef>
              <a:spcAft>
                <a:spcPts val="0"/>
              </a:spcAft>
              <a:buSzPts val="2600"/>
              <a:buChar char="●"/>
            </a:pPr>
            <a:r>
              <a:rPr lang="en-GB"/>
              <a:t>Vòng đời phát triển hệ thống (SDLC)</a:t>
            </a:r>
            <a:endParaRPr/>
          </a:p>
          <a:p>
            <a:pPr indent="-393700" lvl="0" marL="457200" rtl="0" algn="l">
              <a:spcBef>
                <a:spcPts val="0"/>
              </a:spcBef>
              <a:spcAft>
                <a:spcPts val="0"/>
              </a:spcAft>
              <a:buSzPts val="2600"/>
              <a:buChar char="●"/>
            </a:pPr>
            <a:r>
              <a:rPr lang="en-GB"/>
              <a:t>Hai cách tiếp cận phát triển hệ thống</a:t>
            </a:r>
            <a:endParaRPr/>
          </a:p>
          <a:p>
            <a:pPr indent="-393700" lvl="0" marL="457200" rtl="0" algn="l">
              <a:spcBef>
                <a:spcPts val="0"/>
              </a:spcBef>
              <a:spcAft>
                <a:spcPts val="0"/>
              </a:spcAft>
              <a:buSzPts val="2600"/>
              <a:buChar char="●"/>
            </a:pPr>
            <a:r>
              <a:rPr lang="en-GB"/>
              <a:t>Ngôn ngữ mô hình hóa hợp nhất (UML)</a:t>
            </a:r>
            <a:endParaRPr/>
          </a:p>
          <a:p>
            <a:pPr indent="-393700" lvl="0" marL="457200" rtl="0" algn="l">
              <a:spcBef>
                <a:spcPts val="0"/>
              </a:spcBef>
              <a:spcAft>
                <a:spcPts val="0"/>
              </a:spcAft>
              <a:buSzPts val="2600"/>
              <a:buChar char="●"/>
            </a:pPr>
            <a:r>
              <a:rPr lang="en-GB"/>
              <a:t>Môi trường &amp; Nhu cầu</a:t>
            </a:r>
            <a:endParaRPr/>
          </a:p>
          <a:p>
            <a:pPr indent="-393700" lvl="0" marL="457200" rtl="0" algn="l">
              <a:spcBef>
                <a:spcPts val="0"/>
              </a:spcBef>
              <a:spcAft>
                <a:spcPts val="0"/>
              </a:spcAft>
              <a:buSzPts val="2600"/>
              <a:buChar char="●"/>
            </a:pPr>
            <a:r>
              <a:rPr lang="en-GB"/>
              <a:t>Xác định yêu cầu</a:t>
            </a:r>
            <a:endParaRPr/>
          </a:p>
        </p:txBody>
      </p:sp>
      <p:sp>
        <p:nvSpPr>
          <p:cNvPr id="179" name="Google Shape;179;p3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80" name="Google Shape;180;p30"/>
          <p:cNvSpPr/>
          <p:nvPr/>
        </p:nvSpPr>
        <p:spPr>
          <a:xfrm>
            <a:off x="376175" y="2388325"/>
            <a:ext cx="7169400" cy="763500"/>
          </a:xfrm>
          <a:prstGeom prst="rightArrow">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1"/>
          <p:cNvSpPr txBox="1"/>
          <p:nvPr>
            <p:ph idx="4294967295" type="title"/>
          </p:nvPr>
        </p:nvSpPr>
        <p:spPr>
          <a:xfrm>
            <a:off x="311700" y="593367"/>
            <a:ext cx="8520600" cy="12261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GB"/>
              <a:t>H</a:t>
            </a:r>
            <a:r>
              <a:rPr lang="en-GB"/>
              <a:t>ai cách tiếp cận phát triển hệ thống</a:t>
            </a:r>
            <a:endParaRPr/>
          </a:p>
        </p:txBody>
      </p:sp>
      <p:sp>
        <p:nvSpPr>
          <p:cNvPr id="186" name="Google Shape;186;p31"/>
          <p:cNvSpPr txBox="1"/>
          <p:nvPr>
            <p:ph idx="4294967295" type="body"/>
          </p:nvPr>
        </p:nvSpPr>
        <p:spPr>
          <a:xfrm>
            <a:off x="311700" y="1438300"/>
            <a:ext cx="8520600" cy="49023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C</a:t>
            </a:r>
            <a:r>
              <a:rPr lang="en-GB"/>
              <a:t>ách tiếp cận hướng cấu trúc</a:t>
            </a:r>
            <a:endParaRPr/>
          </a:p>
          <a:p>
            <a:pPr indent="-368300" lvl="1" marL="914400" rtl="0" algn="l">
              <a:spcBef>
                <a:spcPts val="0"/>
              </a:spcBef>
              <a:spcAft>
                <a:spcPts val="0"/>
              </a:spcAft>
              <a:buSzPts val="2200"/>
              <a:buChar char="○"/>
            </a:pPr>
            <a:r>
              <a:rPr lang="en-GB"/>
              <a:t>Cách tiếp cận ra đời sớm hơn. Biểu diễn hệ thống như một tập tiến trình tương tác và xử lý dữ liệu</a:t>
            </a:r>
            <a:endParaRPr/>
          </a:p>
          <a:p>
            <a:pPr indent="-368300" lvl="1" marL="914400" rtl="0" algn="l">
              <a:spcBef>
                <a:spcPts val="0"/>
              </a:spcBef>
              <a:spcAft>
                <a:spcPts val="0"/>
              </a:spcAft>
              <a:buSzPts val="2200"/>
              <a:buChar char="○"/>
            </a:pPr>
            <a:r>
              <a:rPr lang="en-GB"/>
              <a:t>Tập trung vào tiến trình.</a:t>
            </a:r>
            <a:endParaRPr/>
          </a:p>
          <a:p>
            <a:pPr indent="-368300" lvl="1" marL="914400" rtl="0" algn="l">
              <a:spcBef>
                <a:spcPts val="0"/>
              </a:spcBef>
              <a:spcAft>
                <a:spcPts val="0"/>
              </a:spcAft>
              <a:buSzPts val="2200"/>
              <a:buChar char="○"/>
            </a:pPr>
            <a:r>
              <a:rPr lang="en-GB"/>
              <a:t>Bao gồm: Phân tích hướng cấu trúc, thiết kế hướng cấu trúc, và lập trình hướng cấu trúc</a:t>
            </a:r>
            <a:endParaRPr/>
          </a:p>
          <a:p>
            <a:pPr indent="-393700" lvl="0" marL="457200" rtl="0" algn="l">
              <a:spcBef>
                <a:spcPts val="0"/>
              </a:spcBef>
              <a:spcAft>
                <a:spcPts val="0"/>
              </a:spcAft>
              <a:buSzPts val="2600"/>
              <a:buChar char="●"/>
            </a:pPr>
            <a:r>
              <a:rPr lang="en-GB"/>
              <a:t>Cách tiếp cận hướng đối tượng</a:t>
            </a:r>
            <a:endParaRPr/>
          </a:p>
          <a:p>
            <a:pPr indent="-368300" lvl="1" marL="914400" rtl="0" algn="l">
              <a:spcBef>
                <a:spcPts val="0"/>
              </a:spcBef>
              <a:spcAft>
                <a:spcPts val="0"/>
              </a:spcAft>
              <a:buSzPts val="2200"/>
              <a:buChar char="○"/>
            </a:pPr>
            <a:r>
              <a:rPr lang="en-GB"/>
              <a:t>Cách tiếp cận mới hơn. Biểu diễn hệ thống như một tập đối tượng tương tác với nhau để hoàn thành các nhiệm vụ.</a:t>
            </a:r>
            <a:endParaRPr/>
          </a:p>
          <a:p>
            <a:pPr indent="-368300" lvl="1" marL="914400" rtl="0" algn="l">
              <a:spcBef>
                <a:spcPts val="0"/>
              </a:spcBef>
              <a:spcAft>
                <a:spcPts val="0"/>
              </a:spcAft>
              <a:buSzPts val="2200"/>
              <a:buChar char="○"/>
            </a:pPr>
            <a:r>
              <a:rPr lang="en-GB"/>
              <a:t>Nỗ lực cân bằng sự tập trung vào tiến trình và dữ liệu</a:t>
            </a:r>
            <a:endParaRPr/>
          </a:p>
          <a:p>
            <a:pPr indent="-368300" lvl="1" marL="914400" rtl="0" algn="l">
              <a:spcBef>
                <a:spcPts val="0"/>
              </a:spcBef>
              <a:spcAft>
                <a:spcPts val="0"/>
              </a:spcAft>
              <a:buSzPts val="2200"/>
              <a:buChar char="○"/>
            </a:pPr>
            <a:r>
              <a:rPr lang="en-GB"/>
              <a:t>Phân tích hướng đối tượng, thiết kế hướng đối tượng, và lập trình hướng đối tượng</a:t>
            </a:r>
            <a:endParaRPr/>
          </a:p>
        </p:txBody>
      </p:sp>
      <p:sp>
        <p:nvSpPr>
          <p:cNvPr id="187" name="Google Shape;187;p3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2"/>
          <p:cNvSpPr txBox="1"/>
          <p:nvPr>
            <p:ph type="title"/>
          </p:nvPr>
        </p:nvSpPr>
        <p:spPr>
          <a:xfrm>
            <a:off x="311700" y="2885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ách tiếp cận hướng cấu trúc</a:t>
            </a:r>
            <a:endParaRPr/>
          </a:p>
        </p:txBody>
      </p:sp>
      <p:sp>
        <p:nvSpPr>
          <p:cNvPr id="193" name="Google Shape;193;p32"/>
          <p:cNvSpPr txBox="1"/>
          <p:nvPr>
            <p:ph idx="4294967295" type="body"/>
          </p:nvPr>
        </p:nvSpPr>
        <p:spPr>
          <a:xfrm>
            <a:off x="311700" y="1052073"/>
            <a:ext cx="8520600" cy="12066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L</a:t>
            </a:r>
            <a:r>
              <a:rPr lang="en-GB"/>
              <a:t>ập trình hướng cấu trúc</a:t>
            </a:r>
            <a:endParaRPr/>
          </a:p>
          <a:p>
            <a:pPr indent="-368300" lvl="1" marL="914400" rtl="0" algn="l">
              <a:spcBef>
                <a:spcPts val="0"/>
              </a:spcBef>
              <a:spcAft>
                <a:spcPts val="0"/>
              </a:spcAft>
              <a:buSzPts val="2200"/>
              <a:buChar char="○"/>
            </a:pPr>
            <a:r>
              <a:rPr lang="en-GB"/>
              <a:t>Biến</a:t>
            </a:r>
            <a:endParaRPr/>
          </a:p>
          <a:p>
            <a:pPr indent="-368300" lvl="1" marL="914400" rtl="0" algn="l">
              <a:spcBef>
                <a:spcPts val="0"/>
              </a:spcBef>
              <a:spcAft>
                <a:spcPts val="0"/>
              </a:spcAft>
              <a:buSzPts val="2200"/>
              <a:buChar char="○"/>
            </a:pPr>
            <a:r>
              <a:rPr lang="en-GB"/>
              <a:t>Xử lý tuần tự, rẽ nhánh, và lặp</a:t>
            </a:r>
            <a:endParaRPr/>
          </a:p>
        </p:txBody>
      </p:sp>
      <p:sp>
        <p:nvSpPr>
          <p:cNvPr id="194" name="Google Shape;194;p32"/>
          <p:cNvSpPr/>
          <p:nvPr/>
        </p:nvSpPr>
        <p:spPr>
          <a:xfrm>
            <a:off x="897575" y="2428808"/>
            <a:ext cx="7813800" cy="3944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32"/>
          <p:cNvSpPr/>
          <p:nvPr/>
        </p:nvSpPr>
        <p:spPr>
          <a:xfrm>
            <a:off x="1331175" y="2805267"/>
            <a:ext cx="1290000" cy="71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V</a:t>
            </a:r>
            <a:r>
              <a:rPr lang="en-GB"/>
              <a:t>ào lớp</a:t>
            </a:r>
            <a:endParaRPr/>
          </a:p>
        </p:txBody>
      </p:sp>
      <p:sp>
        <p:nvSpPr>
          <p:cNvPr id="196" name="Google Shape;196;p32"/>
          <p:cNvSpPr/>
          <p:nvPr/>
        </p:nvSpPr>
        <p:spPr>
          <a:xfrm>
            <a:off x="1331175" y="4059733"/>
            <a:ext cx="1290000" cy="71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Ch</a:t>
            </a:r>
            <a:r>
              <a:rPr lang="en-GB"/>
              <a:t>ọn chỗ ngồi</a:t>
            </a:r>
            <a:endParaRPr/>
          </a:p>
        </p:txBody>
      </p:sp>
      <p:sp>
        <p:nvSpPr>
          <p:cNvPr id="197" name="Google Shape;197;p32"/>
          <p:cNvSpPr/>
          <p:nvPr/>
        </p:nvSpPr>
        <p:spPr>
          <a:xfrm>
            <a:off x="1331175" y="5314200"/>
            <a:ext cx="1290000" cy="71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H</a:t>
            </a:r>
            <a:r>
              <a:rPr lang="en-GB"/>
              <a:t>ọc bài</a:t>
            </a:r>
            <a:endParaRPr/>
          </a:p>
        </p:txBody>
      </p:sp>
      <p:sp>
        <p:nvSpPr>
          <p:cNvPr id="198" name="Google Shape;198;p32"/>
          <p:cNvSpPr/>
          <p:nvPr/>
        </p:nvSpPr>
        <p:spPr>
          <a:xfrm>
            <a:off x="1857025" y="3539267"/>
            <a:ext cx="180900" cy="5205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32"/>
          <p:cNvSpPr/>
          <p:nvPr/>
        </p:nvSpPr>
        <p:spPr>
          <a:xfrm>
            <a:off x="1846558" y="4788177"/>
            <a:ext cx="197100" cy="5205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2"/>
          <p:cNvSpPr/>
          <p:nvPr/>
        </p:nvSpPr>
        <p:spPr>
          <a:xfrm>
            <a:off x="3196325" y="2805267"/>
            <a:ext cx="1290000" cy="71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X</a:t>
            </a:r>
            <a:r>
              <a:rPr lang="en-GB"/>
              <a:t>em dự báo thời tiết</a:t>
            </a:r>
            <a:endParaRPr/>
          </a:p>
        </p:txBody>
      </p:sp>
      <p:sp>
        <p:nvSpPr>
          <p:cNvPr id="201" name="Google Shape;201;p32"/>
          <p:cNvSpPr/>
          <p:nvPr/>
        </p:nvSpPr>
        <p:spPr>
          <a:xfrm>
            <a:off x="3097726" y="4019089"/>
            <a:ext cx="1487175" cy="763600"/>
          </a:xfrm>
          <a:prstGeom prst="flowChartDecis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Tr</a:t>
            </a:r>
            <a:r>
              <a:rPr lang="en-GB"/>
              <a:t>ời sẽ mưa</a:t>
            </a:r>
            <a:endParaRPr/>
          </a:p>
        </p:txBody>
      </p:sp>
      <p:sp>
        <p:nvSpPr>
          <p:cNvPr id="202" name="Google Shape;202;p32"/>
          <p:cNvSpPr/>
          <p:nvPr/>
        </p:nvSpPr>
        <p:spPr>
          <a:xfrm>
            <a:off x="3196313" y="5284533"/>
            <a:ext cx="1290000" cy="71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Đem theo dù</a:t>
            </a:r>
            <a:endParaRPr/>
          </a:p>
        </p:txBody>
      </p:sp>
      <p:sp>
        <p:nvSpPr>
          <p:cNvPr id="203" name="Google Shape;203;p32"/>
          <p:cNvSpPr/>
          <p:nvPr/>
        </p:nvSpPr>
        <p:spPr>
          <a:xfrm>
            <a:off x="5024074" y="4044900"/>
            <a:ext cx="1146600" cy="71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Đeo kính đổi </a:t>
            </a:r>
            <a:r>
              <a:rPr lang="en-GB"/>
              <a:t>màu</a:t>
            </a:r>
            <a:endParaRPr/>
          </a:p>
        </p:txBody>
      </p:sp>
      <p:sp>
        <p:nvSpPr>
          <p:cNvPr id="204" name="Google Shape;204;p32"/>
          <p:cNvSpPr/>
          <p:nvPr/>
        </p:nvSpPr>
        <p:spPr>
          <a:xfrm>
            <a:off x="3750875" y="3517267"/>
            <a:ext cx="180900" cy="5205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2"/>
          <p:cNvSpPr/>
          <p:nvPr/>
        </p:nvSpPr>
        <p:spPr>
          <a:xfrm>
            <a:off x="3750863" y="4788167"/>
            <a:ext cx="180900" cy="5205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2"/>
          <p:cNvSpPr/>
          <p:nvPr/>
        </p:nvSpPr>
        <p:spPr>
          <a:xfrm rot="-5400000">
            <a:off x="4683875" y="4205750"/>
            <a:ext cx="241200" cy="3903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2"/>
          <p:cNvSpPr txBox="1"/>
          <p:nvPr/>
        </p:nvSpPr>
        <p:spPr>
          <a:xfrm>
            <a:off x="3196325" y="4788167"/>
            <a:ext cx="657300" cy="52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Đúng</a:t>
            </a:r>
            <a:endParaRPr/>
          </a:p>
        </p:txBody>
      </p:sp>
      <p:sp>
        <p:nvSpPr>
          <p:cNvPr id="208" name="Google Shape;208;p32"/>
          <p:cNvSpPr txBox="1"/>
          <p:nvPr/>
        </p:nvSpPr>
        <p:spPr>
          <a:xfrm>
            <a:off x="4369025" y="3859967"/>
            <a:ext cx="698400" cy="57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S</a:t>
            </a:r>
            <a:r>
              <a:rPr lang="en-GB"/>
              <a:t>ai</a:t>
            </a:r>
            <a:endParaRPr/>
          </a:p>
        </p:txBody>
      </p:sp>
      <p:sp>
        <p:nvSpPr>
          <p:cNvPr id="209" name="Google Shape;209;p32"/>
          <p:cNvSpPr/>
          <p:nvPr/>
        </p:nvSpPr>
        <p:spPr>
          <a:xfrm>
            <a:off x="7055800" y="2881933"/>
            <a:ext cx="1290000" cy="71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B</a:t>
            </a:r>
            <a:r>
              <a:rPr lang="en-GB"/>
              <a:t>ước một bước</a:t>
            </a:r>
            <a:endParaRPr/>
          </a:p>
        </p:txBody>
      </p:sp>
      <p:sp>
        <p:nvSpPr>
          <p:cNvPr id="210" name="Google Shape;210;p32"/>
          <p:cNvSpPr/>
          <p:nvPr/>
        </p:nvSpPr>
        <p:spPr>
          <a:xfrm>
            <a:off x="6911575" y="4033933"/>
            <a:ext cx="1598525" cy="763600"/>
          </a:xfrm>
          <a:prstGeom prst="flowChartDecision">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t>Ch</a:t>
            </a:r>
            <a:r>
              <a:rPr lang="en-GB"/>
              <a:t>ưa đến đích?</a:t>
            </a:r>
            <a:endParaRPr/>
          </a:p>
        </p:txBody>
      </p:sp>
      <p:sp>
        <p:nvSpPr>
          <p:cNvPr id="211" name="Google Shape;211;p32"/>
          <p:cNvSpPr/>
          <p:nvPr/>
        </p:nvSpPr>
        <p:spPr>
          <a:xfrm rot="10800000">
            <a:off x="6433725" y="3177633"/>
            <a:ext cx="517500" cy="1306800"/>
          </a:xfrm>
          <a:prstGeom prst="curvedLef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32"/>
          <p:cNvSpPr/>
          <p:nvPr/>
        </p:nvSpPr>
        <p:spPr>
          <a:xfrm>
            <a:off x="7610350" y="3593933"/>
            <a:ext cx="180900" cy="4656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32"/>
          <p:cNvSpPr/>
          <p:nvPr/>
        </p:nvSpPr>
        <p:spPr>
          <a:xfrm>
            <a:off x="7137950" y="5237533"/>
            <a:ext cx="1290000" cy="71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Nh</a:t>
            </a:r>
            <a:r>
              <a:rPr lang="en-GB"/>
              <a:t>ận phần thưởng</a:t>
            </a:r>
            <a:endParaRPr/>
          </a:p>
        </p:txBody>
      </p:sp>
      <p:sp>
        <p:nvSpPr>
          <p:cNvPr id="214" name="Google Shape;214;p32"/>
          <p:cNvSpPr/>
          <p:nvPr/>
        </p:nvSpPr>
        <p:spPr>
          <a:xfrm>
            <a:off x="7610350" y="4815567"/>
            <a:ext cx="180900" cy="4656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3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16" name="Google Shape;216;p32"/>
          <p:cNvSpPr txBox="1"/>
          <p:nvPr/>
        </p:nvSpPr>
        <p:spPr>
          <a:xfrm>
            <a:off x="6609850" y="3702700"/>
            <a:ext cx="698400" cy="57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Đúng</a:t>
            </a:r>
            <a:endParaRPr/>
          </a:p>
        </p:txBody>
      </p:sp>
      <p:sp>
        <p:nvSpPr>
          <p:cNvPr id="217" name="Google Shape;217;p32"/>
          <p:cNvSpPr txBox="1"/>
          <p:nvPr/>
        </p:nvSpPr>
        <p:spPr>
          <a:xfrm>
            <a:off x="6987775" y="4703567"/>
            <a:ext cx="698400" cy="57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S</a:t>
            </a:r>
            <a:r>
              <a:rPr lang="en-GB"/>
              <a:t>ai</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3"/>
          <p:cNvSpPr txBox="1"/>
          <p:nvPr>
            <p:ph idx="4294967295" type="title"/>
          </p:nvPr>
        </p:nvSpPr>
        <p:spPr>
          <a:xfrm>
            <a:off x="311700" y="440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ách tiếp cận hướng cấu trúc</a:t>
            </a:r>
            <a:r>
              <a:rPr baseline="-25000" lang="en-GB"/>
              <a:t>(2)</a:t>
            </a:r>
            <a:endParaRPr baseline="-25000"/>
          </a:p>
        </p:txBody>
      </p:sp>
      <p:sp>
        <p:nvSpPr>
          <p:cNvPr id="223" name="Google Shape;223;p33"/>
          <p:cNvSpPr txBox="1"/>
          <p:nvPr>
            <p:ph idx="4294967295" type="body"/>
          </p:nvPr>
        </p:nvSpPr>
        <p:spPr>
          <a:xfrm>
            <a:off x="311700" y="1384233"/>
            <a:ext cx="8520600" cy="5565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Chia nhỏ từ trên xuống</a:t>
            </a:r>
            <a:endParaRPr/>
          </a:p>
        </p:txBody>
      </p:sp>
      <p:sp>
        <p:nvSpPr>
          <p:cNvPr id="224" name="Google Shape;224;p33"/>
          <p:cNvSpPr/>
          <p:nvPr/>
        </p:nvSpPr>
        <p:spPr>
          <a:xfrm>
            <a:off x="345200" y="2138467"/>
            <a:ext cx="8520600" cy="405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3"/>
          <p:cNvSpPr/>
          <p:nvPr/>
        </p:nvSpPr>
        <p:spPr>
          <a:xfrm>
            <a:off x="3427850" y="2193231"/>
            <a:ext cx="2522400" cy="1555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M</a:t>
            </a:r>
            <a:r>
              <a:rPr lang="en-GB"/>
              <a:t>ô-đun điều khiển</a:t>
            </a:r>
            <a:endParaRPr/>
          </a:p>
          <a:p>
            <a:pPr indent="0" lvl="0" marL="0" rtl="0" algn="l">
              <a:spcBef>
                <a:spcPts val="0"/>
              </a:spcBef>
              <a:spcAft>
                <a:spcPts val="0"/>
              </a:spcAft>
              <a:buNone/>
            </a:pPr>
            <a:r>
              <a:rPr lang="en-GB"/>
              <a:t>	Gọi mô-đun 1</a:t>
            </a:r>
            <a:endParaRPr/>
          </a:p>
          <a:p>
            <a:pPr indent="0" lvl="0" marL="0" rtl="0" algn="l">
              <a:spcBef>
                <a:spcPts val="0"/>
              </a:spcBef>
              <a:spcAft>
                <a:spcPts val="0"/>
              </a:spcAft>
              <a:buNone/>
            </a:pPr>
            <a:r>
              <a:rPr lang="en-GB"/>
              <a:t>	Gọi mô-đun 2</a:t>
            </a:r>
            <a:endParaRPr/>
          </a:p>
          <a:p>
            <a:pPr indent="0" lvl="0" marL="0" rtl="0" algn="l">
              <a:spcBef>
                <a:spcPts val="0"/>
              </a:spcBef>
              <a:spcAft>
                <a:spcPts val="0"/>
              </a:spcAft>
              <a:buNone/>
            </a:pPr>
            <a:r>
              <a:rPr lang="en-GB"/>
              <a:t>	Gọi mô-đun 3</a:t>
            </a:r>
            <a:endParaRPr/>
          </a:p>
          <a:p>
            <a:pPr indent="0" lvl="0" marL="0" rtl="0" algn="l">
              <a:spcBef>
                <a:spcPts val="0"/>
              </a:spcBef>
              <a:spcAft>
                <a:spcPts val="0"/>
              </a:spcAft>
              <a:buNone/>
            </a:pPr>
            <a:r>
              <a:rPr lang="en-GB"/>
              <a:t>	Kết thúc</a:t>
            </a:r>
            <a:endParaRPr/>
          </a:p>
        </p:txBody>
      </p:sp>
      <p:sp>
        <p:nvSpPr>
          <p:cNvPr id="226" name="Google Shape;226;p33"/>
          <p:cNvSpPr/>
          <p:nvPr/>
        </p:nvSpPr>
        <p:spPr>
          <a:xfrm>
            <a:off x="599925" y="4445055"/>
            <a:ext cx="2522400" cy="15996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M</a:t>
            </a:r>
            <a:r>
              <a:rPr lang="en-GB"/>
              <a:t>ô-đun 1</a:t>
            </a:r>
            <a:endParaRPr/>
          </a:p>
          <a:p>
            <a:pPr indent="0" lvl="0" marL="0" rtl="0" algn="l">
              <a:spcBef>
                <a:spcPts val="0"/>
              </a:spcBef>
              <a:spcAft>
                <a:spcPts val="0"/>
              </a:spcAft>
              <a:buNone/>
            </a:pPr>
            <a:r>
              <a:rPr lang="en-GB"/>
              <a:t>	L</a:t>
            </a:r>
            <a:r>
              <a:rPr lang="en-GB"/>
              <a:t>àm việc 1</a:t>
            </a:r>
            <a:endParaRPr/>
          </a:p>
          <a:p>
            <a:pPr indent="0" lvl="0" marL="0" rtl="0" algn="l">
              <a:spcBef>
                <a:spcPts val="0"/>
              </a:spcBef>
              <a:spcAft>
                <a:spcPts val="0"/>
              </a:spcAft>
              <a:buNone/>
            </a:pPr>
            <a:r>
              <a:rPr lang="en-GB"/>
              <a:t>	L</a:t>
            </a:r>
            <a:r>
              <a:rPr lang="en-GB"/>
              <a:t>àm việc 2</a:t>
            </a:r>
            <a:endParaRPr/>
          </a:p>
          <a:p>
            <a:pPr indent="0" lvl="0" marL="0" rtl="0" algn="l">
              <a:spcBef>
                <a:spcPts val="0"/>
              </a:spcBef>
              <a:spcAft>
                <a:spcPts val="0"/>
              </a:spcAft>
              <a:buNone/>
            </a:pPr>
            <a:r>
              <a:rPr lang="en-GB"/>
              <a:t>	L</a:t>
            </a:r>
            <a:r>
              <a:rPr lang="en-GB"/>
              <a:t>àm việc 3</a:t>
            </a:r>
            <a:endParaRPr/>
          </a:p>
          <a:p>
            <a:pPr indent="0" lvl="0" marL="0" rtl="0" algn="l">
              <a:spcBef>
                <a:spcPts val="0"/>
              </a:spcBef>
              <a:spcAft>
                <a:spcPts val="0"/>
              </a:spcAft>
              <a:buNone/>
            </a:pPr>
            <a:r>
              <a:rPr lang="en-GB"/>
              <a:t>	</a:t>
            </a:r>
            <a:r>
              <a:rPr lang="en-GB">
                <a:solidFill>
                  <a:schemeClr val="dk1"/>
                </a:solidFill>
              </a:rPr>
              <a:t>Trả điều khiển cho Sếp</a:t>
            </a:r>
            <a:endParaRPr/>
          </a:p>
        </p:txBody>
      </p:sp>
      <p:sp>
        <p:nvSpPr>
          <p:cNvPr id="227" name="Google Shape;227;p33"/>
          <p:cNvSpPr/>
          <p:nvPr/>
        </p:nvSpPr>
        <p:spPr>
          <a:xfrm>
            <a:off x="3427850" y="4445067"/>
            <a:ext cx="2522400" cy="15996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Mô-đun 2</a:t>
            </a:r>
            <a:endParaRPr/>
          </a:p>
          <a:p>
            <a:pPr indent="0" lvl="0" marL="0" rtl="0" algn="l">
              <a:spcBef>
                <a:spcPts val="0"/>
              </a:spcBef>
              <a:spcAft>
                <a:spcPts val="0"/>
              </a:spcAft>
              <a:buNone/>
            </a:pPr>
            <a:r>
              <a:rPr lang="en-GB"/>
              <a:t>	Làm việc a</a:t>
            </a:r>
            <a:endParaRPr/>
          </a:p>
          <a:p>
            <a:pPr indent="0" lvl="0" marL="0" rtl="0" algn="l">
              <a:spcBef>
                <a:spcPts val="0"/>
              </a:spcBef>
              <a:spcAft>
                <a:spcPts val="0"/>
              </a:spcAft>
              <a:buNone/>
            </a:pPr>
            <a:r>
              <a:rPr lang="en-GB"/>
              <a:t>	Làm việc b</a:t>
            </a:r>
            <a:endParaRPr/>
          </a:p>
          <a:p>
            <a:pPr indent="0" lvl="0" marL="0" rtl="0" algn="l">
              <a:spcBef>
                <a:spcPts val="0"/>
              </a:spcBef>
              <a:spcAft>
                <a:spcPts val="0"/>
              </a:spcAft>
              <a:buNone/>
            </a:pPr>
            <a:r>
              <a:rPr lang="en-GB"/>
              <a:t>	Làm việc c</a:t>
            </a:r>
            <a:endParaRPr/>
          </a:p>
          <a:p>
            <a:pPr indent="0" lvl="0" marL="0" rtl="0" algn="l">
              <a:spcBef>
                <a:spcPts val="0"/>
              </a:spcBef>
              <a:spcAft>
                <a:spcPts val="0"/>
              </a:spcAft>
              <a:buNone/>
            </a:pPr>
            <a:r>
              <a:rPr lang="en-GB"/>
              <a:t>	</a:t>
            </a:r>
            <a:r>
              <a:rPr lang="en-GB">
                <a:solidFill>
                  <a:schemeClr val="dk1"/>
                </a:solidFill>
              </a:rPr>
              <a:t>Trả điều khiển cho Sếp</a:t>
            </a:r>
            <a:endParaRPr/>
          </a:p>
        </p:txBody>
      </p:sp>
      <p:sp>
        <p:nvSpPr>
          <p:cNvPr id="228" name="Google Shape;228;p33"/>
          <p:cNvSpPr/>
          <p:nvPr/>
        </p:nvSpPr>
        <p:spPr>
          <a:xfrm>
            <a:off x="6269300" y="4445067"/>
            <a:ext cx="2522400" cy="15996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Mô-đun 3</a:t>
            </a:r>
            <a:endParaRPr/>
          </a:p>
          <a:p>
            <a:pPr indent="0" lvl="0" marL="0" rtl="0" algn="l">
              <a:spcBef>
                <a:spcPts val="0"/>
              </a:spcBef>
              <a:spcAft>
                <a:spcPts val="0"/>
              </a:spcAft>
              <a:buNone/>
            </a:pPr>
            <a:r>
              <a:rPr lang="en-GB"/>
              <a:t>	N</a:t>
            </a:r>
            <a:r>
              <a:rPr lang="en-GB"/>
              <a:t>ếu x thì làm p</a:t>
            </a:r>
            <a:endParaRPr/>
          </a:p>
          <a:p>
            <a:pPr indent="0" lvl="0" marL="0" rtl="0" algn="l">
              <a:spcBef>
                <a:spcPts val="0"/>
              </a:spcBef>
              <a:spcAft>
                <a:spcPts val="0"/>
              </a:spcAft>
              <a:buNone/>
            </a:pPr>
            <a:r>
              <a:rPr lang="en-GB"/>
              <a:t>	ng</a:t>
            </a:r>
            <a:r>
              <a:rPr lang="en-GB"/>
              <a:t>ược lại thì làm q</a:t>
            </a:r>
            <a:endParaRPr/>
          </a:p>
          <a:p>
            <a:pPr indent="0" lvl="0" marL="0" rtl="0" algn="l">
              <a:spcBef>
                <a:spcPts val="0"/>
              </a:spcBef>
              <a:spcAft>
                <a:spcPts val="0"/>
              </a:spcAft>
              <a:buNone/>
            </a:pPr>
            <a:r>
              <a:rPr lang="en-GB"/>
              <a:t>	Tr</a:t>
            </a:r>
            <a:r>
              <a:rPr lang="en-GB"/>
              <a:t>ả điều khiển cho Sếp </a:t>
            </a:r>
            <a:endParaRPr/>
          </a:p>
        </p:txBody>
      </p:sp>
      <p:cxnSp>
        <p:nvCxnSpPr>
          <p:cNvPr id="229" name="Google Shape;229;p33"/>
          <p:cNvCxnSpPr>
            <a:stCxn id="226" idx="0"/>
            <a:endCxn id="228" idx="0"/>
          </p:cNvCxnSpPr>
          <p:nvPr/>
        </p:nvCxnSpPr>
        <p:spPr>
          <a:xfrm flipH="1" rot="-5400000">
            <a:off x="4695525" y="1610655"/>
            <a:ext cx="600" cy="5669400"/>
          </a:xfrm>
          <a:prstGeom prst="bentConnector3">
            <a:avLst>
              <a:gd fmla="val -45940147" name="adj1"/>
            </a:avLst>
          </a:prstGeom>
          <a:noFill/>
          <a:ln cap="flat" cmpd="sng" w="9525">
            <a:solidFill>
              <a:schemeClr val="dk2"/>
            </a:solidFill>
            <a:prstDash val="solid"/>
            <a:round/>
            <a:headEnd len="med" w="med" type="triangle"/>
            <a:tailEnd len="med" w="med" type="triangle"/>
          </a:ln>
        </p:spPr>
      </p:cxnSp>
      <p:cxnSp>
        <p:nvCxnSpPr>
          <p:cNvPr id="230" name="Google Shape;230;p33"/>
          <p:cNvCxnSpPr>
            <a:stCxn id="225" idx="2"/>
            <a:endCxn id="227" idx="0"/>
          </p:cNvCxnSpPr>
          <p:nvPr/>
        </p:nvCxnSpPr>
        <p:spPr>
          <a:xfrm>
            <a:off x="4689050" y="3748731"/>
            <a:ext cx="0" cy="696300"/>
          </a:xfrm>
          <a:prstGeom prst="straightConnector1">
            <a:avLst/>
          </a:prstGeom>
          <a:noFill/>
          <a:ln cap="flat" cmpd="sng" w="9525">
            <a:solidFill>
              <a:schemeClr val="dk2"/>
            </a:solidFill>
            <a:prstDash val="solid"/>
            <a:round/>
            <a:headEnd len="med" w="med" type="none"/>
            <a:tailEnd len="med" w="med" type="triangle"/>
          </a:ln>
        </p:spPr>
      </p:cxnSp>
      <p:sp>
        <p:nvSpPr>
          <p:cNvPr id="231" name="Google Shape;231;p3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4"/>
          <p:cNvSpPr/>
          <p:nvPr/>
        </p:nvSpPr>
        <p:spPr>
          <a:xfrm>
            <a:off x="3128600" y="549800"/>
            <a:ext cx="5947800" cy="5465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4"/>
          <p:cNvSpPr txBox="1"/>
          <p:nvPr>
            <p:ph idx="4294967295" type="title"/>
          </p:nvPr>
        </p:nvSpPr>
        <p:spPr>
          <a:xfrm>
            <a:off x="311700" y="307475"/>
            <a:ext cx="8160900" cy="76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800"/>
              <a:t>Cách tiếp cận hướng cấu trúc</a:t>
            </a:r>
            <a:r>
              <a:rPr baseline="-25000" lang="en-GB" sz="2800"/>
              <a:t>(3)</a:t>
            </a:r>
            <a:endParaRPr baseline="-25000" sz="2800"/>
          </a:p>
        </p:txBody>
      </p:sp>
      <p:sp>
        <p:nvSpPr>
          <p:cNvPr id="238" name="Google Shape;238;p34"/>
          <p:cNvSpPr txBox="1"/>
          <p:nvPr>
            <p:ph idx="4294967295" type="body"/>
          </p:nvPr>
        </p:nvSpPr>
        <p:spPr>
          <a:xfrm>
            <a:off x="311700" y="1243200"/>
            <a:ext cx="2940600" cy="20013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Phân tích</a:t>
            </a:r>
            <a:r>
              <a:rPr lang="en-GB"/>
              <a:t> hướng cấu trúc</a:t>
            </a:r>
            <a:endParaRPr/>
          </a:p>
          <a:p>
            <a:pPr indent="-368300" lvl="1" marL="914400" rtl="0" algn="l">
              <a:spcBef>
                <a:spcPts val="0"/>
              </a:spcBef>
              <a:spcAft>
                <a:spcPts val="0"/>
              </a:spcAft>
              <a:buSzPts val="2200"/>
              <a:buChar char="○"/>
            </a:pPr>
            <a:r>
              <a:rPr lang="en-GB"/>
              <a:t>Sơ đồ</a:t>
            </a:r>
            <a:r>
              <a:rPr lang="en-GB"/>
              <a:t> l</a:t>
            </a:r>
            <a:r>
              <a:rPr lang="en-GB"/>
              <a:t>uồng dữ liệu (DFD)</a:t>
            </a:r>
            <a:endParaRPr/>
          </a:p>
        </p:txBody>
      </p:sp>
      <p:pic>
        <p:nvPicPr>
          <p:cNvPr id="239" name="Google Shape;239;p34"/>
          <p:cNvPicPr preferRelativeResize="0"/>
          <p:nvPr/>
        </p:nvPicPr>
        <p:blipFill>
          <a:blip r:embed="rId3">
            <a:alphaModFix/>
          </a:blip>
          <a:stretch>
            <a:fillRect/>
          </a:stretch>
        </p:blipFill>
        <p:spPr>
          <a:xfrm>
            <a:off x="3252325" y="1286300"/>
            <a:ext cx="5700275" cy="3414999"/>
          </a:xfrm>
          <a:prstGeom prst="rect">
            <a:avLst/>
          </a:prstGeom>
          <a:noFill/>
          <a:ln>
            <a:noFill/>
          </a:ln>
        </p:spPr>
      </p:pic>
      <p:sp>
        <p:nvSpPr>
          <p:cNvPr id="240" name="Google Shape;240;p3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5"/>
          <p:cNvSpPr txBox="1"/>
          <p:nvPr>
            <p:ph idx="4294967295"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Cách tiếp cận hướng cấu trúc</a:t>
            </a:r>
            <a:r>
              <a:rPr baseline="-25000" lang="en-GB"/>
              <a:t>(4)</a:t>
            </a:r>
            <a:endParaRPr baseline="-25000"/>
          </a:p>
        </p:txBody>
      </p:sp>
      <p:sp>
        <p:nvSpPr>
          <p:cNvPr id="246" name="Google Shape;246;p35"/>
          <p:cNvSpPr txBox="1"/>
          <p:nvPr>
            <p:ph idx="4294967295" type="body"/>
          </p:nvPr>
        </p:nvSpPr>
        <p:spPr>
          <a:xfrm>
            <a:off x="311700" y="1536633"/>
            <a:ext cx="8520600" cy="7635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Mô hình hóa dữ liệu với </a:t>
            </a:r>
            <a:r>
              <a:rPr lang="en-GB"/>
              <a:t>sơ đồ</a:t>
            </a:r>
            <a:r>
              <a:rPr lang="en-GB"/>
              <a:t> thực thể-liên kết</a:t>
            </a:r>
            <a:endParaRPr/>
          </a:p>
        </p:txBody>
      </p:sp>
      <p:sp>
        <p:nvSpPr>
          <p:cNvPr id="247" name="Google Shape;247;p35"/>
          <p:cNvSpPr/>
          <p:nvPr/>
        </p:nvSpPr>
        <p:spPr>
          <a:xfrm>
            <a:off x="256375" y="2593133"/>
            <a:ext cx="8644200" cy="3476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8" name="Google Shape;248;p35"/>
          <p:cNvPicPr preferRelativeResize="0"/>
          <p:nvPr/>
        </p:nvPicPr>
        <p:blipFill>
          <a:blip r:embed="rId3">
            <a:alphaModFix/>
          </a:blip>
          <a:stretch>
            <a:fillRect/>
          </a:stretch>
        </p:blipFill>
        <p:spPr>
          <a:xfrm>
            <a:off x="427961" y="3191100"/>
            <a:ext cx="8335039" cy="1576675"/>
          </a:xfrm>
          <a:prstGeom prst="rect">
            <a:avLst/>
          </a:prstGeom>
          <a:noFill/>
          <a:ln>
            <a:noFill/>
          </a:ln>
        </p:spPr>
      </p:pic>
      <p:sp>
        <p:nvSpPr>
          <p:cNvPr id="249" name="Google Shape;249;p3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6"/>
          <p:cNvSpPr/>
          <p:nvPr/>
        </p:nvSpPr>
        <p:spPr>
          <a:xfrm>
            <a:off x="3508550" y="926075"/>
            <a:ext cx="5028300" cy="5546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5" name="Google Shape;255;p36"/>
          <p:cNvGrpSpPr/>
          <p:nvPr/>
        </p:nvGrpSpPr>
        <p:grpSpPr>
          <a:xfrm>
            <a:off x="3588450" y="1070433"/>
            <a:ext cx="4885175" cy="4993733"/>
            <a:chOff x="3588450" y="460833"/>
            <a:chExt cx="4885175" cy="4993733"/>
          </a:xfrm>
        </p:grpSpPr>
        <p:sp>
          <p:nvSpPr>
            <p:cNvPr id="256" name="Google Shape;256;p36"/>
            <p:cNvSpPr/>
            <p:nvPr/>
          </p:nvSpPr>
          <p:spPr>
            <a:xfrm>
              <a:off x="5381900" y="460833"/>
              <a:ext cx="1413300" cy="821700"/>
            </a:xfrm>
            <a:prstGeom prst="rect">
              <a:avLst/>
            </a:prstGeom>
            <a:solidFill>
              <a:schemeClr val="lt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H</a:t>
              </a:r>
              <a:r>
                <a:rPr lang="en-GB"/>
                <a:t>ệ thống tính lương</a:t>
              </a:r>
              <a:endParaRPr/>
            </a:p>
          </p:txBody>
        </p:sp>
        <p:sp>
          <p:nvSpPr>
            <p:cNvPr id="257" name="Google Shape;257;p36"/>
            <p:cNvSpPr/>
            <p:nvPr/>
          </p:nvSpPr>
          <p:spPr>
            <a:xfrm>
              <a:off x="3588450" y="2625033"/>
              <a:ext cx="1413300" cy="821700"/>
            </a:xfrm>
            <a:prstGeom prst="rect">
              <a:avLst/>
            </a:prstGeom>
            <a:solidFill>
              <a:schemeClr val="lt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Nh</a:t>
              </a:r>
              <a:r>
                <a:rPr lang="en-GB"/>
                <a:t>ập lịch làm việc</a:t>
              </a:r>
              <a:endParaRPr/>
            </a:p>
          </p:txBody>
        </p:sp>
        <p:sp>
          <p:nvSpPr>
            <p:cNvPr id="258" name="Google Shape;258;p36"/>
            <p:cNvSpPr/>
            <p:nvPr/>
          </p:nvSpPr>
          <p:spPr>
            <a:xfrm>
              <a:off x="5381900" y="2625033"/>
              <a:ext cx="1413300" cy="821700"/>
            </a:xfrm>
            <a:prstGeom prst="rect">
              <a:avLst/>
            </a:prstGeom>
            <a:solidFill>
              <a:schemeClr val="lt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T</a:t>
              </a:r>
              <a:r>
                <a:rPr lang="en-GB"/>
                <a:t>ính các khoản</a:t>
              </a:r>
              <a:endParaRPr/>
            </a:p>
          </p:txBody>
        </p:sp>
        <p:sp>
          <p:nvSpPr>
            <p:cNvPr id="259" name="Google Shape;259;p36"/>
            <p:cNvSpPr/>
            <p:nvPr/>
          </p:nvSpPr>
          <p:spPr>
            <a:xfrm>
              <a:off x="7060325" y="2625033"/>
              <a:ext cx="1413300" cy="821700"/>
            </a:xfrm>
            <a:prstGeom prst="rect">
              <a:avLst/>
            </a:prstGeom>
            <a:solidFill>
              <a:schemeClr val="lt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X</a:t>
              </a:r>
              <a:r>
                <a:rPr lang="en-GB"/>
                <a:t>uất sao kê</a:t>
              </a:r>
              <a:endParaRPr/>
            </a:p>
          </p:txBody>
        </p:sp>
        <p:sp>
          <p:nvSpPr>
            <p:cNvPr id="260" name="Google Shape;260;p36"/>
            <p:cNvSpPr/>
            <p:nvPr/>
          </p:nvSpPr>
          <p:spPr>
            <a:xfrm>
              <a:off x="4365975" y="4632867"/>
              <a:ext cx="1413300" cy="821700"/>
            </a:xfrm>
            <a:prstGeom prst="rect">
              <a:avLst/>
            </a:prstGeom>
            <a:solidFill>
              <a:schemeClr val="lt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L</a:t>
              </a:r>
              <a:r>
                <a:rPr lang="en-GB"/>
                <a:t>ấy mức lương của nhân viên</a:t>
              </a:r>
              <a:endParaRPr/>
            </a:p>
          </p:txBody>
        </p:sp>
        <p:sp>
          <p:nvSpPr>
            <p:cNvPr id="261" name="Google Shape;261;p36"/>
            <p:cNvSpPr/>
            <p:nvPr/>
          </p:nvSpPr>
          <p:spPr>
            <a:xfrm>
              <a:off x="6425400" y="4632867"/>
              <a:ext cx="1413300" cy="821700"/>
            </a:xfrm>
            <a:prstGeom prst="rect">
              <a:avLst/>
            </a:prstGeom>
            <a:solidFill>
              <a:schemeClr val="lt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T</a:t>
              </a:r>
              <a:r>
                <a:rPr lang="en-GB"/>
                <a:t>ính các khoản phải trả </a:t>
              </a:r>
              <a:endParaRPr/>
            </a:p>
          </p:txBody>
        </p:sp>
        <p:cxnSp>
          <p:nvCxnSpPr>
            <p:cNvPr id="262" name="Google Shape;262;p36"/>
            <p:cNvCxnSpPr>
              <a:stCxn id="256" idx="2"/>
              <a:endCxn id="257" idx="0"/>
            </p:cNvCxnSpPr>
            <p:nvPr/>
          </p:nvCxnSpPr>
          <p:spPr>
            <a:xfrm flipH="1">
              <a:off x="4295150" y="1282533"/>
              <a:ext cx="1793400" cy="1342500"/>
            </a:xfrm>
            <a:prstGeom prst="straightConnector1">
              <a:avLst/>
            </a:prstGeom>
            <a:noFill/>
            <a:ln cap="flat" cmpd="sng" w="9525">
              <a:solidFill>
                <a:schemeClr val="dk2"/>
              </a:solidFill>
              <a:prstDash val="solid"/>
              <a:round/>
              <a:headEnd len="med" w="med" type="none"/>
              <a:tailEnd len="med" w="med" type="triangle"/>
            </a:ln>
          </p:spPr>
        </p:cxnSp>
        <p:cxnSp>
          <p:nvCxnSpPr>
            <p:cNvPr id="263" name="Google Shape;263;p36"/>
            <p:cNvCxnSpPr>
              <a:stCxn id="256" idx="2"/>
              <a:endCxn id="258" idx="0"/>
            </p:cNvCxnSpPr>
            <p:nvPr/>
          </p:nvCxnSpPr>
          <p:spPr>
            <a:xfrm>
              <a:off x="6088550" y="1282533"/>
              <a:ext cx="0" cy="1342500"/>
            </a:xfrm>
            <a:prstGeom prst="straightConnector1">
              <a:avLst/>
            </a:prstGeom>
            <a:noFill/>
            <a:ln cap="flat" cmpd="sng" w="9525">
              <a:solidFill>
                <a:schemeClr val="dk2"/>
              </a:solidFill>
              <a:prstDash val="solid"/>
              <a:round/>
              <a:headEnd len="med" w="med" type="none"/>
              <a:tailEnd len="med" w="med" type="triangle"/>
            </a:ln>
          </p:spPr>
        </p:cxnSp>
        <p:cxnSp>
          <p:nvCxnSpPr>
            <p:cNvPr id="264" name="Google Shape;264;p36"/>
            <p:cNvCxnSpPr>
              <a:stCxn id="256" idx="2"/>
              <a:endCxn id="259" idx="0"/>
            </p:cNvCxnSpPr>
            <p:nvPr/>
          </p:nvCxnSpPr>
          <p:spPr>
            <a:xfrm>
              <a:off x="6088550" y="1282533"/>
              <a:ext cx="1678500" cy="1342500"/>
            </a:xfrm>
            <a:prstGeom prst="straightConnector1">
              <a:avLst/>
            </a:prstGeom>
            <a:noFill/>
            <a:ln cap="flat" cmpd="sng" w="9525">
              <a:solidFill>
                <a:schemeClr val="dk2"/>
              </a:solidFill>
              <a:prstDash val="solid"/>
              <a:round/>
              <a:headEnd len="med" w="med" type="none"/>
              <a:tailEnd len="med" w="med" type="triangle"/>
            </a:ln>
          </p:spPr>
        </p:cxnSp>
        <p:cxnSp>
          <p:nvCxnSpPr>
            <p:cNvPr id="265" name="Google Shape;265;p36"/>
            <p:cNvCxnSpPr>
              <a:stCxn id="258" idx="2"/>
              <a:endCxn id="260" idx="0"/>
            </p:cNvCxnSpPr>
            <p:nvPr/>
          </p:nvCxnSpPr>
          <p:spPr>
            <a:xfrm flipH="1">
              <a:off x="5072750" y="3446733"/>
              <a:ext cx="1015800" cy="1186200"/>
            </a:xfrm>
            <a:prstGeom prst="straightConnector1">
              <a:avLst/>
            </a:prstGeom>
            <a:noFill/>
            <a:ln cap="flat" cmpd="sng" w="9525">
              <a:solidFill>
                <a:schemeClr val="dk2"/>
              </a:solidFill>
              <a:prstDash val="solid"/>
              <a:round/>
              <a:headEnd len="med" w="med" type="none"/>
              <a:tailEnd len="med" w="med" type="triangle"/>
            </a:ln>
          </p:spPr>
        </p:cxnSp>
        <p:cxnSp>
          <p:nvCxnSpPr>
            <p:cNvPr id="266" name="Google Shape;266;p36"/>
            <p:cNvCxnSpPr>
              <a:stCxn id="258" idx="2"/>
              <a:endCxn id="261" idx="0"/>
            </p:cNvCxnSpPr>
            <p:nvPr/>
          </p:nvCxnSpPr>
          <p:spPr>
            <a:xfrm>
              <a:off x="6088550" y="3446733"/>
              <a:ext cx="1043400" cy="1186200"/>
            </a:xfrm>
            <a:prstGeom prst="straightConnector1">
              <a:avLst/>
            </a:prstGeom>
            <a:noFill/>
            <a:ln cap="flat" cmpd="sng" w="9525">
              <a:solidFill>
                <a:schemeClr val="dk2"/>
              </a:solidFill>
              <a:prstDash val="solid"/>
              <a:round/>
              <a:headEnd len="med" w="med" type="none"/>
              <a:tailEnd len="med" w="med" type="triangle"/>
            </a:ln>
          </p:spPr>
        </p:cxnSp>
        <p:sp>
          <p:nvSpPr>
            <p:cNvPr id="267" name="Google Shape;267;p36"/>
            <p:cNvSpPr txBox="1"/>
            <p:nvPr/>
          </p:nvSpPr>
          <p:spPr>
            <a:xfrm>
              <a:off x="4148350" y="1205800"/>
              <a:ext cx="1011300" cy="876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t>Th</a:t>
              </a:r>
              <a:r>
                <a:rPr lang="en-GB" sz="1000"/>
                <a:t>ông tin lịch làm việc Đã được kiểm tra</a:t>
              </a:r>
              <a:endParaRPr sz="1000"/>
            </a:p>
          </p:txBody>
        </p:sp>
        <p:cxnSp>
          <p:nvCxnSpPr>
            <p:cNvPr id="268" name="Google Shape;268;p36"/>
            <p:cNvCxnSpPr/>
            <p:nvPr/>
          </p:nvCxnSpPr>
          <p:spPr>
            <a:xfrm flipH="1" rot="10800000">
              <a:off x="5069675" y="1511433"/>
              <a:ext cx="320400" cy="230100"/>
            </a:xfrm>
            <a:prstGeom prst="straightConnector1">
              <a:avLst/>
            </a:prstGeom>
            <a:noFill/>
            <a:ln cap="flat" cmpd="sng" w="9525">
              <a:solidFill>
                <a:schemeClr val="dk2"/>
              </a:solidFill>
              <a:prstDash val="solid"/>
              <a:round/>
              <a:headEnd len="med" w="med" type="oval"/>
              <a:tailEnd len="med" w="med" type="triangle"/>
            </a:ln>
          </p:spPr>
        </p:cxnSp>
        <p:sp>
          <p:nvSpPr>
            <p:cNvPr id="269" name="Google Shape;269;p36"/>
            <p:cNvSpPr txBox="1"/>
            <p:nvPr/>
          </p:nvSpPr>
          <p:spPr>
            <a:xfrm>
              <a:off x="5182850" y="1723700"/>
              <a:ext cx="937800" cy="876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t>L</a:t>
              </a:r>
              <a:r>
                <a:rPr lang="en-GB" sz="1000"/>
                <a:t>ịch làm việc Đã được kiểm tra</a:t>
              </a:r>
              <a:endParaRPr sz="1000"/>
            </a:p>
          </p:txBody>
        </p:sp>
        <p:sp>
          <p:nvSpPr>
            <p:cNvPr id="270" name="Google Shape;270;p36"/>
            <p:cNvSpPr txBox="1"/>
            <p:nvPr/>
          </p:nvSpPr>
          <p:spPr>
            <a:xfrm>
              <a:off x="6139550" y="1741533"/>
              <a:ext cx="834600" cy="75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t>Danh sách sao kê các khoản</a:t>
              </a:r>
              <a:endParaRPr sz="1000"/>
            </a:p>
          </p:txBody>
        </p:sp>
        <p:sp>
          <p:nvSpPr>
            <p:cNvPr id="271" name="Google Shape;271;p36"/>
            <p:cNvSpPr txBox="1"/>
            <p:nvPr/>
          </p:nvSpPr>
          <p:spPr>
            <a:xfrm>
              <a:off x="7177475" y="1468800"/>
              <a:ext cx="738600" cy="587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t>Thông tin sao kê</a:t>
              </a:r>
              <a:endParaRPr sz="1000"/>
            </a:p>
          </p:txBody>
        </p:sp>
        <p:sp>
          <p:nvSpPr>
            <p:cNvPr id="272" name="Google Shape;272;p36"/>
            <p:cNvSpPr txBox="1"/>
            <p:nvPr/>
          </p:nvSpPr>
          <p:spPr>
            <a:xfrm>
              <a:off x="4510150" y="3476533"/>
              <a:ext cx="1116600" cy="69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t>Mức lương/mức thuế của nhân viên</a:t>
              </a:r>
              <a:endParaRPr sz="1000"/>
            </a:p>
          </p:txBody>
        </p:sp>
        <p:sp>
          <p:nvSpPr>
            <p:cNvPr id="273" name="Google Shape;273;p36"/>
            <p:cNvSpPr txBox="1"/>
            <p:nvPr/>
          </p:nvSpPr>
          <p:spPr>
            <a:xfrm>
              <a:off x="5824075" y="3941967"/>
              <a:ext cx="738600" cy="37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t>Các hệ số</a:t>
              </a:r>
              <a:endParaRPr sz="1000"/>
            </a:p>
          </p:txBody>
        </p:sp>
        <p:sp>
          <p:nvSpPr>
            <p:cNvPr id="274" name="Google Shape;274;p36"/>
            <p:cNvSpPr txBox="1"/>
            <p:nvPr/>
          </p:nvSpPr>
          <p:spPr>
            <a:xfrm>
              <a:off x="6575150" y="3530600"/>
              <a:ext cx="1011300" cy="876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t>Danh sách sao kê các khoản</a:t>
              </a:r>
              <a:endParaRPr sz="1000"/>
            </a:p>
          </p:txBody>
        </p:sp>
        <p:cxnSp>
          <p:nvCxnSpPr>
            <p:cNvPr id="275" name="Google Shape;275;p36"/>
            <p:cNvCxnSpPr/>
            <p:nvPr/>
          </p:nvCxnSpPr>
          <p:spPr>
            <a:xfrm>
              <a:off x="5998125" y="2133100"/>
              <a:ext cx="8100" cy="296100"/>
            </a:xfrm>
            <a:prstGeom prst="straightConnector1">
              <a:avLst/>
            </a:prstGeom>
            <a:noFill/>
            <a:ln cap="flat" cmpd="sng" w="9525">
              <a:solidFill>
                <a:schemeClr val="dk2"/>
              </a:solidFill>
              <a:prstDash val="solid"/>
              <a:round/>
              <a:headEnd len="med" w="med" type="oval"/>
              <a:tailEnd len="med" w="med" type="triangle"/>
            </a:ln>
          </p:spPr>
        </p:cxnSp>
        <p:cxnSp>
          <p:nvCxnSpPr>
            <p:cNvPr id="276" name="Google Shape;276;p36"/>
            <p:cNvCxnSpPr/>
            <p:nvPr/>
          </p:nvCxnSpPr>
          <p:spPr>
            <a:xfrm>
              <a:off x="6150525" y="1929900"/>
              <a:ext cx="8100" cy="296100"/>
            </a:xfrm>
            <a:prstGeom prst="straightConnector1">
              <a:avLst/>
            </a:prstGeom>
            <a:noFill/>
            <a:ln cap="flat" cmpd="sng" w="9525">
              <a:solidFill>
                <a:schemeClr val="dk2"/>
              </a:solidFill>
              <a:prstDash val="solid"/>
              <a:round/>
              <a:headEnd len="med" w="med" type="triangle"/>
              <a:tailEnd len="med" w="med" type="oval"/>
            </a:ln>
          </p:spPr>
        </p:cxnSp>
        <p:cxnSp>
          <p:nvCxnSpPr>
            <p:cNvPr id="277" name="Google Shape;277;p36"/>
            <p:cNvCxnSpPr/>
            <p:nvPr/>
          </p:nvCxnSpPr>
          <p:spPr>
            <a:xfrm>
              <a:off x="7064800" y="1748600"/>
              <a:ext cx="230100" cy="186300"/>
            </a:xfrm>
            <a:prstGeom prst="straightConnector1">
              <a:avLst/>
            </a:prstGeom>
            <a:noFill/>
            <a:ln cap="flat" cmpd="sng" w="9525">
              <a:solidFill>
                <a:schemeClr val="dk2"/>
              </a:solidFill>
              <a:prstDash val="solid"/>
              <a:round/>
              <a:headEnd len="med" w="med" type="oval"/>
              <a:tailEnd len="med" w="med" type="triangle"/>
            </a:ln>
          </p:spPr>
        </p:cxnSp>
        <p:cxnSp>
          <p:nvCxnSpPr>
            <p:cNvPr id="278" name="Google Shape;278;p36"/>
            <p:cNvCxnSpPr/>
            <p:nvPr/>
          </p:nvCxnSpPr>
          <p:spPr>
            <a:xfrm flipH="1" rot="10800000">
              <a:off x="5526875" y="3594033"/>
              <a:ext cx="241200" cy="281100"/>
            </a:xfrm>
            <a:prstGeom prst="straightConnector1">
              <a:avLst/>
            </a:prstGeom>
            <a:noFill/>
            <a:ln cap="flat" cmpd="sng" w="9525">
              <a:solidFill>
                <a:schemeClr val="dk2"/>
              </a:solidFill>
              <a:prstDash val="solid"/>
              <a:round/>
              <a:headEnd len="med" w="med" type="oval"/>
              <a:tailEnd len="med" w="med" type="triangle"/>
            </a:ln>
          </p:spPr>
        </p:cxnSp>
        <p:cxnSp>
          <p:nvCxnSpPr>
            <p:cNvPr id="279" name="Google Shape;279;p36"/>
            <p:cNvCxnSpPr/>
            <p:nvPr/>
          </p:nvCxnSpPr>
          <p:spPr>
            <a:xfrm>
              <a:off x="6384300" y="3999400"/>
              <a:ext cx="230100" cy="252000"/>
            </a:xfrm>
            <a:prstGeom prst="straightConnector1">
              <a:avLst/>
            </a:prstGeom>
            <a:noFill/>
            <a:ln cap="flat" cmpd="sng" w="9525">
              <a:solidFill>
                <a:schemeClr val="dk2"/>
              </a:solidFill>
              <a:prstDash val="solid"/>
              <a:round/>
              <a:headEnd len="med" w="med" type="oval"/>
              <a:tailEnd len="med" w="med" type="triangle"/>
            </a:ln>
          </p:spPr>
        </p:cxnSp>
        <p:cxnSp>
          <p:nvCxnSpPr>
            <p:cNvPr id="280" name="Google Shape;280;p36"/>
            <p:cNvCxnSpPr/>
            <p:nvPr/>
          </p:nvCxnSpPr>
          <p:spPr>
            <a:xfrm rot="10800000">
              <a:off x="6532175" y="3706700"/>
              <a:ext cx="189000" cy="197100"/>
            </a:xfrm>
            <a:prstGeom prst="straightConnector1">
              <a:avLst/>
            </a:prstGeom>
            <a:noFill/>
            <a:ln cap="flat" cmpd="sng" w="9525">
              <a:solidFill>
                <a:schemeClr val="dk2"/>
              </a:solidFill>
              <a:prstDash val="solid"/>
              <a:round/>
              <a:headEnd len="med" w="med" type="oval"/>
              <a:tailEnd len="med" w="med" type="triangle"/>
            </a:ln>
          </p:spPr>
        </p:cxnSp>
      </p:grpSp>
      <p:sp>
        <p:nvSpPr>
          <p:cNvPr id="281" name="Google Shape;281;p3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82" name="Google Shape;282;p36"/>
          <p:cNvSpPr txBox="1"/>
          <p:nvPr>
            <p:ph idx="4294967295" type="title"/>
          </p:nvPr>
        </p:nvSpPr>
        <p:spPr>
          <a:xfrm>
            <a:off x="311700" y="231271"/>
            <a:ext cx="7993200" cy="69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800"/>
              <a:t>C</a:t>
            </a:r>
            <a:r>
              <a:rPr lang="en-GB" sz="2800"/>
              <a:t>ách tiếp cận hướng cấu trúc</a:t>
            </a:r>
            <a:r>
              <a:rPr baseline="-25000" lang="en-GB" sz="2800"/>
              <a:t>(5)</a:t>
            </a:r>
            <a:endParaRPr baseline="-25000" sz="2800"/>
          </a:p>
        </p:txBody>
      </p:sp>
      <p:sp>
        <p:nvSpPr>
          <p:cNvPr id="283" name="Google Shape;283;p36"/>
          <p:cNvSpPr txBox="1"/>
          <p:nvPr>
            <p:ph idx="4294967295" type="body"/>
          </p:nvPr>
        </p:nvSpPr>
        <p:spPr>
          <a:xfrm>
            <a:off x="311700" y="1167000"/>
            <a:ext cx="3856200" cy="19716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Th</a:t>
            </a:r>
            <a:r>
              <a:rPr lang="en-GB"/>
              <a:t>iết kế hướng cấu trúc</a:t>
            </a:r>
            <a:endParaRPr/>
          </a:p>
          <a:p>
            <a:pPr indent="-368300" lvl="1" marL="914400" rtl="0" algn="l">
              <a:spcBef>
                <a:spcPts val="0"/>
              </a:spcBef>
              <a:spcAft>
                <a:spcPts val="0"/>
              </a:spcAft>
              <a:buSzPts val="2200"/>
              <a:buChar char="○"/>
            </a:pPr>
            <a:r>
              <a:rPr lang="en-GB"/>
              <a:t>Biểu diễn các thành phần cùng với dữ liệu liên quan.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ách tiếp cận hướng cấu trúc</a:t>
            </a:r>
            <a:r>
              <a:rPr baseline="-25000" lang="en-GB"/>
              <a:t>(6)</a:t>
            </a:r>
            <a:endParaRPr baseline="-25000"/>
          </a:p>
        </p:txBody>
      </p:sp>
      <p:sp>
        <p:nvSpPr>
          <p:cNvPr id="289" name="Google Shape;289;p37"/>
          <p:cNvSpPr txBox="1"/>
          <p:nvPr>
            <p:ph idx="1" type="body"/>
          </p:nvPr>
        </p:nvSpPr>
        <p:spPr>
          <a:xfrm>
            <a:off x="311700" y="1536633"/>
            <a:ext cx="8520600" cy="5967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K</a:t>
            </a:r>
            <a:r>
              <a:rPr lang="en-GB"/>
              <a:t>ết hợp các thành phần</a:t>
            </a:r>
            <a:endParaRPr/>
          </a:p>
        </p:txBody>
      </p:sp>
      <p:sp>
        <p:nvSpPr>
          <p:cNvPr id="290" name="Google Shape;290;p37"/>
          <p:cNvSpPr/>
          <p:nvPr/>
        </p:nvSpPr>
        <p:spPr>
          <a:xfrm>
            <a:off x="512650" y="2121800"/>
            <a:ext cx="8520600" cy="4254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7"/>
          <p:cNvSpPr/>
          <p:nvPr/>
        </p:nvSpPr>
        <p:spPr>
          <a:xfrm>
            <a:off x="579925" y="2275000"/>
            <a:ext cx="2341200" cy="1543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54000" spcFirstLastPara="1" rIns="54000" wrap="square" tIns="91425">
            <a:noAutofit/>
          </a:bodyPr>
          <a:lstStyle/>
          <a:p>
            <a:pPr indent="0" lvl="0" marL="0" rtl="0" algn="ctr">
              <a:spcBef>
                <a:spcPts val="0"/>
              </a:spcBef>
              <a:spcAft>
                <a:spcPts val="0"/>
              </a:spcAft>
              <a:buNone/>
            </a:pPr>
            <a:r>
              <a:rPr b="1" lang="en-GB" sz="1600">
                <a:latin typeface="Times New Roman"/>
                <a:ea typeface="Times New Roman"/>
                <a:cs typeface="Times New Roman"/>
                <a:sym typeface="Times New Roman"/>
              </a:rPr>
              <a:t>Ph</a:t>
            </a:r>
            <a:r>
              <a:rPr b="1" lang="en-GB" sz="1600">
                <a:latin typeface="Times New Roman"/>
                <a:ea typeface="Times New Roman"/>
                <a:cs typeface="Times New Roman"/>
                <a:sym typeface="Times New Roman"/>
              </a:rPr>
              <a:t>ân tích hướng cấu trúc</a:t>
            </a:r>
            <a:endParaRPr b="1" sz="1600">
              <a:latin typeface="Times New Roman"/>
              <a:ea typeface="Times New Roman"/>
              <a:cs typeface="Times New Roman"/>
              <a:sym typeface="Times New Roman"/>
            </a:endParaRPr>
          </a:p>
          <a:p>
            <a:pPr indent="0" lvl="0" marL="0" rtl="0" algn="ctr">
              <a:spcBef>
                <a:spcPts val="0"/>
              </a:spcBef>
              <a:spcAft>
                <a:spcPts val="0"/>
              </a:spcAft>
              <a:buNone/>
            </a:pPr>
            <a:r>
              <a:t/>
            </a:r>
            <a:endParaRPr sz="1600">
              <a:latin typeface="Times New Roman"/>
              <a:ea typeface="Times New Roman"/>
              <a:cs typeface="Times New Roman"/>
              <a:sym typeface="Times New Roman"/>
            </a:endParaRPr>
          </a:p>
          <a:p>
            <a:pPr indent="0" lvl="0" marL="0" rtl="0" algn="ctr">
              <a:spcBef>
                <a:spcPts val="0"/>
              </a:spcBef>
              <a:spcAft>
                <a:spcPts val="0"/>
              </a:spcAft>
              <a:buNone/>
            </a:pPr>
            <a:r>
              <a:rPr lang="en-GB" sz="1600">
                <a:latin typeface="Times New Roman"/>
                <a:ea typeface="Times New Roman"/>
                <a:cs typeface="Times New Roman"/>
                <a:sym typeface="Times New Roman"/>
              </a:rPr>
              <a:t>Sự kiện</a:t>
            </a:r>
            <a:endParaRPr sz="1600">
              <a:latin typeface="Times New Roman"/>
              <a:ea typeface="Times New Roman"/>
              <a:cs typeface="Times New Roman"/>
              <a:sym typeface="Times New Roman"/>
            </a:endParaRPr>
          </a:p>
          <a:p>
            <a:pPr indent="0" lvl="0" marL="0" rtl="0" algn="ctr">
              <a:spcBef>
                <a:spcPts val="0"/>
              </a:spcBef>
              <a:spcAft>
                <a:spcPts val="0"/>
              </a:spcAft>
              <a:buNone/>
            </a:pPr>
            <a:r>
              <a:rPr lang="en-GB" sz="1600">
                <a:latin typeface="Times New Roman"/>
                <a:ea typeface="Times New Roman"/>
                <a:cs typeface="Times New Roman"/>
                <a:sym typeface="Times New Roman"/>
              </a:rPr>
              <a:t>Sơ đồ</a:t>
            </a:r>
            <a:r>
              <a:rPr lang="en-GB" sz="1600">
                <a:latin typeface="Times New Roman"/>
                <a:ea typeface="Times New Roman"/>
                <a:cs typeface="Times New Roman"/>
                <a:sym typeface="Times New Roman"/>
              </a:rPr>
              <a:t> luồng dữ liệu</a:t>
            </a:r>
            <a:endParaRPr sz="1600">
              <a:latin typeface="Times New Roman"/>
              <a:ea typeface="Times New Roman"/>
              <a:cs typeface="Times New Roman"/>
              <a:sym typeface="Times New Roman"/>
            </a:endParaRPr>
          </a:p>
          <a:p>
            <a:pPr indent="0" lvl="0" marL="0" rtl="0" algn="ctr">
              <a:spcBef>
                <a:spcPts val="0"/>
              </a:spcBef>
              <a:spcAft>
                <a:spcPts val="0"/>
              </a:spcAft>
              <a:buNone/>
            </a:pPr>
            <a:r>
              <a:rPr lang="en-GB" sz="1600">
                <a:latin typeface="Times New Roman"/>
                <a:ea typeface="Times New Roman"/>
                <a:cs typeface="Times New Roman"/>
                <a:sym typeface="Times New Roman"/>
              </a:rPr>
              <a:t>Sơ đồ</a:t>
            </a:r>
            <a:r>
              <a:rPr lang="en-GB" sz="1600">
                <a:latin typeface="Times New Roman"/>
                <a:ea typeface="Times New Roman"/>
                <a:cs typeface="Times New Roman"/>
                <a:sym typeface="Times New Roman"/>
              </a:rPr>
              <a:t> thực thể-liên kết</a:t>
            </a:r>
            <a:endParaRPr sz="1600">
              <a:latin typeface="Times New Roman"/>
              <a:ea typeface="Times New Roman"/>
              <a:cs typeface="Times New Roman"/>
              <a:sym typeface="Times New Roman"/>
            </a:endParaRPr>
          </a:p>
        </p:txBody>
      </p:sp>
      <p:sp>
        <p:nvSpPr>
          <p:cNvPr id="292" name="Google Shape;292;p37"/>
          <p:cNvSpPr/>
          <p:nvPr/>
        </p:nvSpPr>
        <p:spPr>
          <a:xfrm>
            <a:off x="3325100" y="3448900"/>
            <a:ext cx="2553000" cy="1543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GB" sz="1600">
                <a:latin typeface="Times New Roman"/>
                <a:ea typeface="Times New Roman"/>
                <a:cs typeface="Times New Roman"/>
                <a:sym typeface="Times New Roman"/>
              </a:rPr>
              <a:t>Th</a:t>
            </a:r>
            <a:r>
              <a:rPr b="1" lang="en-GB" sz="1600">
                <a:latin typeface="Times New Roman"/>
                <a:ea typeface="Times New Roman"/>
                <a:cs typeface="Times New Roman"/>
                <a:sym typeface="Times New Roman"/>
              </a:rPr>
              <a:t>iết kế</a:t>
            </a:r>
            <a:r>
              <a:rPr b="1" lang="en-GB" sz="1600">
                <a:latin typeface="Times New Roman"/>
                <a:ea typeface="Times New Roman"/>
                <a:cs typeface="Times New Roman"/>
                <a:sym typeface="Times New Roman"/>
              </a:rPr>
              <a:t> hướng cấu trúc</a:t>
            </a:r>
            <a:endParaRPr b="1" sz="1600">
              <a:latin typeface="Times New Roman"/>
              <a:ea typeface="Times New Roman"/>
              <a:cs typeface="Times New Roman"/>
              <a:sym typeface="Times New Roman"/>
            </a:endParaRPr>
          </a:p>
          <a:p>
            <a:pPr indent="0" lvl="0" marL="0" rtl="0" algn="ctr">
              <a:spcBef>
                <a:spcPts val="0"/>
              </a:spcBef>
              <a:spcAft>
                <a:spcPts val="0"/>
              </a:spcAft>
              <a:buNone/>
            </a:pPr>
            <a:r>
              <a:rPr lang="en-GB" sz="1600">
                <a:latin typeface="Times New Roman"/>
                <a:ea typeface="Times New Roman"/>
                <a:cs typeface="Times New Roman"/>
                <a:sym typeface="Times New Roman"/>
              </a:rPr>
              <a:t>Sơ đồ cấu trúc</a:t>
            </a:r>
            <a:endParaRPr sz="1600">
              <a:latin typeface="Times New Roman"/>
              <a:ea typeface="Times New Roman"/>
              <a:cs typeface="Times New Roman"/>
              <a:sym typeface="Times New Roman"/>
            </a:endParaRPr>
          </a:p>
          <a:p>
            <a:pPr indent="0" lvl="0" marL="0" rtl="0" algn="ctr">
              <a:spcBef>
                <a:spcPts val="0"/>
              </a:spcBef>
              <a:spcAft>
                <a:spcPts val="0"/>
              </a:spcAft>
              <a:buNone/>
            </a:pPr>
            <a:r>
              <a:rPr lang="en-GB" sz="1600">
                <a:latin typeface="Times New Roman"/>
                <a:ea typeface="Times New Roman"/>
                <a:cs typeface="Times New Roman"/>
                <a:sym typeface="Times New Roman"/>
              </a:rPr>
              <a:t>(1 sơ đồ cho </a:t>
            </a:r>
            <a:r>
              <a:rPr lang="en-GB" sz="1600">
                <a:solidFill>
                  <a:schemeClr val="dk1"/>
                </a:solidFill>
                <a:latin typeface="Times New Roman"/>
                <a:ea typeface="Times New Roman"/>
                <a:cs typeface="Times New Roman"/>
                <a:sym typeface="Times New Roman"/>
              </a:rPr>
              <a:t>mỗi sự kiện </a:t>
            </a:r>
            <a:r>
              <a:rPr lang="en-GB" sz="1600">
                <a:latin typeface="Times New Roman"/>
                <a:ea typeface="Times New Roman"/>
                <a:cs typeface="Times New Roman"/>
                <a:sym typeface="Times New Roman"/>
              </a:rPr>
              <a:t>)</a:t>
            </a:r>
            <a:endParaRPr sz="1600">
              <a:latin typeface="Times New Roman"/>
              <a:ea typeface="Times New Roman"/>
              <a:cs typeface="Times New Roman"/>
              <a:sym typeface="Times New Roman"/>
            </a:endParaRPr>
          </a:p>
          <a:p>
            <a:pPr indent="0" lvl="0" marL="0" rtl="0" algn="ctr">
              <a:spcBef>
                <a:spcPts val="0"/>
              </a:spcBef>
              <a:spcAft>
                <a:spcPts val="0"/>
              </a:spcAft>
              <a:buNone/>
            </a:pPr>
            <a:r>
              <a:rPr lang="en-GB" sz="1600">
                <a:latin typeface="Times New Roman"/>
                <a:ea typeface="Times New Roman"/>
                <a:cs typeface="Times New Roman"/>
                <a:sym typeface="Times New Roman"/>
              </a:rPr>
              <a:t>định nghĩa các mô-đun dựa trên sơ đồ luồng dữ liệu</a:t>
            </a:r>
            <a:endParaRPr sz="1600">
              <a:latin typeface="Times New Roman"/>
              <a:ea typeface="Times New Roman"/>
              <a:cs typeface="Times New Roman"/>
              <a:sym typeface="Times New Roman"/>
            </a:endParaRPr>
          </a:p>
        </p:txBody>
      </p:sp>
      <p:sp>
        <p:nvSpPr>
          <p:cNvPr id="293" name="Google Shape;293;p37"/>
          <p:cNvSpPr/>
          <p:nvPr/>
        </p:nvSpPr>
        <p:spPr>
          <a:xfrm>
            <a:off x="6520100" y="4715500"/>
            <a:ext cx="2408400" cy="1543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GB" sz="1600">
                <a:latin typeface="Times New Roman"/>
                <a:ea typeface="Times New Roman"/>
                <a:cs typeface="Times New Roman"/>
                <a:sym typeface="Times New Roman"/>
              </a:rPr>
              <a:t>L</a:t>
            </a:r>
            <a:r>
              <a:rPr b="1" lang="en-GB" sz="1600">
                <a:latin typeface="Times New Roman"/>
                <a:ea typeface="Times New Roman"/>
                <a:cs typeface="Times New Roman"/>
                <a:sym typeface="Times New Roman"/>
              </a:rPr>
              <a:t>ập trình</a:t>
            </a:r>
            <a:r>
              <a:rPr b="1" lang="en-GB" sz="1600">
                <a:latin typeface="Times New Roman"/>
                <a:ea typeface="Times New Roman"/>
                <a:cs typeface="Times New Roman"/>
                <a:sym typeface="Times New Roman"/>
              </a:rPr>
              <a:t> hướng cấu trúc</a:t>
            </a:r>
            <a:endParaRPr b="1" sz="1600">
              <a:latin typeface="Times New Roman"/>
              <a:ea typeface="Times New Roman"/>
              <a:cs typeface="Times New Roman"/>
              <a:sym typeface="Times New Roman"/>
            </a:endParaRPr>
          </a:p>
          <a:p>
            <a:pPr indent="0" lvl="0" marL="0" rtl="0" algn="ctr">
              <a:spcBef>
                <a:spcPts val="0"/>
              </a:spcBef>
              <a:spcAft>
                <a:spcPts val="0"/>
              </a:spcAft>
              <a:buNone/>
            </a:pPr>
            <a:r>
              <a:t/>
            </a:r>
            <a:endParaRPr sz="1600">
              <a:latin typeface="Times New Roman"/>
              <a:ea typeface="Times New Roman"/>
              <a:cs typeface="Times New Roman"/>
              <a:sym typeface="Times New Roman"/>
            </a:endParaRPr>
          </a:p>
          <a:p>
            <a:pPr indent="0" lvl="0" marL="0" rtl="0" algn="ctr">
              <a:spcBef>
                <a:spcPts val="0"/>
              </a:spcBef>
              <a:spcAft>
                <a:spcPts val="0"/>
              </a:spcAft>
              <a:buNone/>
            </a:pPr>
            <a:r>
              <a:rPr lang="en-GB" sz="1600">
                <a:latin typeface="Times New Roman"/>
                <a:ea typeface="Times New Roman"/>
                <a:cs typeface="Times New Roman"/>
                <a:sym typeface="Times New Roman"/>
              </a:rPr>
              <a:t>L</a:t>
            </a:r>
            <a:r>
              <a:rPr lang="en-GB" sz="1600">
                <a:latin typeface="Times New Roman"/>
                <a:ea typeface="Times New Roman"/>
                <a:cs typeface="Times New Roman"/>
                <a:sym typeface="Times New Roman"/>
              </a:rPr>
              <a:t>ập trình các mô-đun dựa trên mô thức lập trình hướng cấu trúc, ví dụ C</a:t>
            </a:r>
            <a:endParaRPr sz="1600">
              <a:latin typeface="Times New Roman"/>
              <a:ea typeface="Times New Roman"/>
              <a:cs typeface="Times New Roman"/>
              <a:sym typeface="Times New Roman"/>
            </a:endParaRPr>
          </a:p>
        </p:txBody>
      </p:sp>
      <p:sp>
        <p:nvSpPr>
          <p:cNvPr id="294" name="Google Shape;294;p37"/>
          <p:cNvSpPr/>
          <p:nvPr/>
        </p:nvSpPr>
        <p:spPr>
          <a:xfrm rot="2431202">
            <a:off x="2872325" y="3039431"/>
            <a:ext cx="665370" cy="308483"/>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7"/>
          <p:cNvSpPr/>
          <p:nvPr/>
        </p:nvSpPr>
        <p:spPr>
          <a:xfrm rot="2431202">
            <a:off x="5844125" y="4360231"/>
            <a:ext cx="665370" cy="308483"/>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02" name="Google Shape;302;p38"/>
          <p:cNvSpPr/>
          <p:nvPr/>
        </p:nvSpPr>
        <p:spPr>
          <a:xfrm>
            <a:off x="3190450" y="184867"/>
            <a:ext cx="5559000" cy="6134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3" name="Google Shape;303;p38"/>
          <p:cNvGrpSpPr/>
          <p:nvPr/>
        </p:nvGrpSpPr>
        <p:grpSpPr>
          <a:xfrm>
            <a:off x="3515164" y="1251667"/>
            <a:ext cx="4918936" cy="4710333"/>
            <a:chOff x="3515164" y="1251667"/>
            <a:chExt cx="4918936" cy="4710333"/>
          </a:xfrm>
        </p:grpSpPr>
        <p:pic>
          <p:nvPicPr>
            <p:cNvPr id="304" name="Google Shape;304;p38"/>
            <p:cNvPicPr preferRelativeResize="0"/>
            <p:nvPr/>
          </p:nvPicPr>
          <p:blipFill>
            <a:blip r:embed="rId3">
              <a:alphaModFix/>
            </a:blip>
            <a:stretch>
              <a:fillRect/>
            </a:stretch>
          </p:blipFill>
          <p:spPr>
            <a:xfrm>
              <a:off x="3557788" y="1251667"/>
              <a:ext cx="4824325" cy="4482575"/>
            </a:xfrm>
            <a:prstGeom prst="rect">
              <a:avLst/>
            </a:prstGeom>
            <a:noFill/>
            <a:ln>
              <a:noFill/>
            </a:ln>
          </p:spPr>
        </p:pic>
        <p:pic>
          <p:nvPicPr>
            <p:cNvPr id="305" name="Google Shape;305;p38"/>
            <p:cNvPicPr preferRelativeResize="0"/>
            <p:nvPr/>
          </p:nvPicPr>
          <p:blipFill>
            <a:blip r:embed="rId3">
              <a:alphaModFix/>
            </a:blip>
            <a:stretch>
              <a:fillRect/>
            </a:stretch>
          </p:blipFill>
          <p:spPr>
            <a:xfrm>
              <a:off x="3515164" y="1277667"/>
              <a:ext cx="4909599" cy="4561801"/>
            </a:xfrm>
            <a:prstGeom prst="rect">
              <a:avLst/>
            </a:prstGeom>
            <a:noFill/>
            <a:ln>
              <a:noFill/>
            </a:ln>
          </p:spPr>
        </p:pic>
        <p:sp>
          <p:nvSpPr>
            <p:cNvPr id="306" name="Google Shape;306;p38"/>
            <p:cNvSpPr/>
            <p:nvPr/>
          </p:nvSpPr>
          <p:spPr>
            <a:xfrm>
              <a:off x="5143600" y="1333067"/>
              <a:ext cx="1599600" cy="895500"/>
            </a:xfrm>
            <a:prstGeom prst="ellipse">
              <a:avLst/>
            </a:prstGeom>
            <a:solidFill>
              <a:schemeClr val="lt2"/>
            </a:solidFill>
            <a:ln>
              <a:noFill/>
            </a:ln>
          </p:spPr>
          <p:txBody>
            <a:bodyPr anchorCtr="0" anchor="ctr" bIns="18000" lIns="18000" spcFirstLastPara="1" rIns="18000" wrap="square" tIns="18000">
              <a:noAutofit/>
            </a:bodyPr>
            <a:lstStyle/>
            <a:p>
              <a:pPr indent="0" lvl="0" marL="0" rtl="0" algn="ctr">
                <a:spcBef>
                  <a:spcPts val="0"/>
                </a:spcBef>
                <a:spcAft>
                  <a:spcPts val="0"/>
                </a:spcAft>
                <a:buNone/>
              </a:pPr>
              <a:r>
                <a:rPr lang="en-GB" sz="800"/>
                <a:t>T</a:t>
              </a:r>
              <a:r>
                <a:rPr lang="en-GB" sz="800"/>
                <a:t>ạo một đơn hàng cho Susan gồm một bàn làm việc và một ghế làm việc</a:t>
              </a:r>
              <a:endParaRPr sz="800"/>
            </a:p>
          </p:txBody>
        </p:sp>
        <p:sp>
          <p:nvSpPr>
            <p:cNvPr id="307" name="Google Shape;307;p38"/>
            <p:cNvSpPr/>
            <p:nvPr/>
          </p:nvSpPr>
          <p:spPr>
            <a:xfrm>
              <a:off x="5391100" y="2408533"/>
              <a:ext cx="1290300" cy="836700"/>
            </a:xfrm>
            <a:prstGeom prst="ellipse">
              <a:avLst/>
            </a:prstGeom>
            <a:solidFill>
              <a:schemeClr val="lt2"/>
            </a:solidFill>
            <a:ln>
              <a:noFill/>
            </a:ln>
          </p:spPr>
          <p:txBody>
            <a:bodyPr anchorCtr="0" anchor="ctr" bIns="18000" lIns="18000" spcFirstLastPara="1" rIns="18000" wrap="square" tIns="18000">
              <a:noAutofit/>
            </a:bodyPr>
            <a:lstStyle/>
            <a:p>
              <a:pPr indent="0" lvl="0" marL="0" rtl="0" algn="ctr">
                <a:spcBef>
                  <a:spcPts val="0"/>
                </a:spcBef>
                <a:spcAft>
                  <a:spcPts val="0"/>
                </a:spcAft>
                <a:buNone/>
              </a:pPr>
              <a:r>
                <a:rPr lang="en-GB" sz="800"/>
                <a:t>Bàn làm việc #18899, hãy tự thêm vào đơn hàng</a:t>
              </a:r>
              <a:endParaRPr sz="800"/>
            </a:p>
          </p:txBody>
        </p:sp>
        <p:sp>
          <p:nvSpPr>
            <p:cNvPr id="308" name="Google Shape;308;p38"/>
            <p:cNvSpPr/>
            <p:nvPr/>
          </p:nvSpPr>
          <p:spPr>
            <a:xfrm>
              <a:off x="7329800" y="1902067"/>
              <a:ext cx="1028100" cy="657600"/>
            </a:xfrm>
            <a:prstGeom prst="ellipse">
              <a:avLst/>
            </a:prstGeom>
            <a:solidFill>
              <a:schemeClr val="lt2"/>
            </a:solidFill>
            <a:ln>
              <a:noFill/>
            </a:ln>
          </p:spPr>
          <p:txBody>
            <a:bodyPr anchorCtr="0" anchor="ctr" bIns="18000" lIns="18000" spcFirstLastPara="1" rIns="18000" wrap="square" tIns="18000">
              <a:noAutofit/>
            </a:bodyPr>
            <a:lstStyle/>
            <a:p>
              <a:pPr indent="0" lvl="0" marL="0" rtl="0" algn="ctr">
                <a:spcBef>
                  <a:spcPts val="0"/>
                </a:spcBef>
                <a:spcAft>
                  <a:spcPts val="0"/>
                </a:spcAft>
                <a:buNone/>
              </a:pPr>
              <a:r>
                <a:rPr lang="en-GB" sz="800"/>
                <a:t>Ok</a:t>
              </a:r>
              <a:endParaRPr sz="800"/>
            </a:p>
          </p:txBody>
        </p:sp>
        <p:sp>
          <p:nvSpPr>
            <p:cNvPr id="309" name="Google Shape;309;p38"/>
            <p:cNvSpPr/>
            <p:nvPr/>
          </p:nvSpPr>
          <p:spPr>
            <a:xfrm>
              <a:off x="3714700" y="3399133"/>
              <a:ext cx="1290300" cy="836700"/>
            </a:xfrm>
            <a:prstGeom prst="ellipse">
              <a:avLst/>
            </a:prstGeom>
            <a:solidFill>
              <a:schemeClr val="lt2"/>
            </a:solidFill>
            <a:ln>
              <a:noFill/>
            </a:ln>
          </p:spPr>
          <p:txBody>
            <a:bodyPr anchorCtr="0" anchor="ctr" bIns="18000" lIns="18000" spcFirstLastPara="1" rIns="18000" wrap="square" tIns="18000">
              <a:noAutofit/>
            </a:bodyPr>
            <a:lstStyle/>
            <a:p>
              <a:pPr indent="0" lvl="0" marL="0" rtl="0" algn="ctr">
                <a:spcBef>
                  <a:spcPts val="0"/>
                </a:spcBef>
                <a:spcAft>
                  <a:spcPts val="0"/>
                </a:spcAft>
                <a:buNone/>
              </a:pPr>
              <a:r>
                <a:rPr lang="en-GB" sz="800"/>
                <a:t>Ok, đây là chi tiết đơn hàng 888...</a:t>
              </a:r>
              <a:endParaRPr sz="800"/>
            </a:p>
          </p:txBody>
        </p:sp>
        <p:sp>
          <p:nvSpPr>
            <p:cNvPr id="310" name="Google Shape;310;p38"/>
            <p:cNvSpPr/>
            <p:nvPr/>
          </p:nvSpPr>
          <p:spPr>
            <a:xfrm>
              <a:off x="5162500" y="4161133"/>
              <a:ext cx="1290300" cy="836700"/>
            </a:xfrm>
            <a:prstGeom prst="ellipse">
              <a:avLst/>
            </a:prstGeom>
            <a:solidFill>
              <a:schemeClr val="lt2"/>
            </a:solidFill>
            <a:ln>
              <a:noFill/>
            </a:ln>
          </p:spPr>
          <p:txBody>
            <a:bodyPr anchorCtr="0" anchor="ctr" bIns="18000" lIns="18000" spcFirstLastPara="1" rIns="18000" wrap="square" tIns="18000">
              <a:noAutofit/>
            </a:bodyPr>
            <a:lstStyle/>
            <a:p>
              <a:pPr indent="0" lvl="0" marL="0" rtl="0" algn="ctr">
                <a:spcBef>
                  <a:spcPts val="0"/>
                </a:spcBef>
                <a:spcAft>
                  <a:spcPts val="0"/>
                </a:spcAft>
                <a:buNone/>
              </a:pPr>
              <a:r>
                <a:rPr lang="en-GB" sz="800"/>
                <a:t>Khách hàng Susan, hãy tự thêm vào đơn hàng này</a:t>
              </a:r>
              <a:endParaRPr sz="800"/>
            </a:p>
          </p:txBody>
        </p:sp>
        <p:sp>
          <p:nvSpPr>
            <p:cNvPr id="311" name="Google Shape;311;p38"/>
            <p:cNvSpPr/>
            <p:nvPr/>
          </p:nvSpPr>
          <p:spPr>
            <a:xfrm>
              <a:off x="6534100" y="3475333"/>
              <a:ext cx="1290300" cy="836700"/>
            </a:xfrm>
            <a:prstGeom prst="ellipse">
              <a:avLst/>
            </a:prstGeom>
            <a:solidFill>
              <a:schemeClr val="lt2"/>
            </a:solidFill>
            <a:ln>
              <a:noFill/>
            </a:ln>
          </p:spPr>
          <p:txBody>
            <a:bodyPr anchorCtr="0" anchor="ctr" bIns="18000" lIns="18000" spcFirstLastPara="1" rIns="18000" wrap="square" tIns="18000">
              <a:noAutofit/>
            </a:bodyPr>
            <a:lstStyle/>
            <a:p>
              <a:pPr indent="0" lvl="0" marL="0" rtl="0" algn="ctr">
                <a:spcBef>
                  <a:spcPts val="0"/>
                </a:spcBef>
                <a:spcAft>
                  <a:spcPts val="0"/>
                </a:spcAft>
                <a:buNone/>
              </a:pPr>
              <a:r>
                <a:rPr lang="en-GB" sz="800"/>
                <a:t>Ghế làm việc #76532, hãy tự thêm vào đơn hàng này</a:t>
              </a:r>
              <a:endParaRPr sz="800"/>
            </a:p>
          </p:txBody>
        </p:sp>
        <p:sp>
          <p:nvSpPr>
            <p:cNvPr id="312" name="Google Shape;312;p38"/>
            <p:cNvSpPr/>
            <p:nvPr/>
          </p:nvSpPr>
          <p:spPr>
            <a:xfrm>
              <a:off x="7406000" y="4188067"/>
              <a:ext cx="1028100" cy="657600"/>
            </a:xfrm>
            <a:prstGeom prst="ellipse">
              <a:avLst/>
            </a:prstGeom>
            <a:solidFill>
              <a:schemeClr val="lt2"/>
            </a:solidFill>
            <a:ln>
              <a:noFill/>
            </a:ln>
          </p:spPr>
          <p:txBody>
            <a:bodyPr anchorCtr="0" anchor="ctr" bIns="18000" lIns="18000" spcFirstLastPara="1" rIns="18000" wrap="square" tIns="18000">
              <a:noAutofit/>
            </a:bodyPr>
            <a:lstStyle/>
            <a:p>
              <a:pPr indent="0" lvl="0" marL="0" rtl="0" algn="ctr">
                <a:spcBef>
                  <a:spcPts val="0"/>
                </a:spcBef>
                <a:spcAft>
                  <a:spcPts val="0"/>
                </a:spcAft>
                <a:buNone/>
              </a:pPr>
              <a:r>
                <a:rPr lang="en-GB" sz="800"/>
                <a:t>Ok</a:t>
              </a:r>
              <a:endParaRPr sz="800"/>
            </a:p>
          </p:txBody>
        </p:sp>
        <p:sp>
          <p:nvSpPr>
            <p:cNvPr id="313" name="Google Shape;313;p38"/>
            <p:cNvSpPr/>
            <p:nvPr/>
          </p:nvSpPr>
          <p:spPr>
            <a:xfrm>
              <a:off x="5272400" y="5178667"/>
              <a:ext cx="972600" cy="657600"/>
            </a:xfrm>
            <a:prstGeom prst="ellipse">
              <a:avLst/>
            </a:prstGeom>
            <a:solidFill>
              <a:schemeClr val="lt2"/>
            </a:solidFill>
            <a:ln>
              <a:noFill/>
            </a:ln>
          </p:spPr>
          <p:txBody>
            <a:bodyPr anchorCtr="0" anchor="ctr" bIns="18000" lIns="18000" spcFirstLastPara="1" rIns="18000" wrap="square" tIns="18000">
              <a:noAutofit/>
            </a:bodyPr>
            <a:lstStyle/>
            <a:p>
              <a:pPr indent="0" lvl="0" marL="0" rtl="0" algn="ctr">
                <a:spcBef>
                  <a:spcPts val="0"/>
                </a:spcBef>
                <a:spcAft>
                  <a:spcPts val="0"/>
                </a:spcAft>
                <a:buNone/>
              </a:pPr>
              <a:r>
                <a:rPr lang="en-GB" sz="800"/>
                <a:t>Ok</a:t>
              </a:r>
              <a:endParaRPr sz="800"/>
            </a:p>
          </p:txBody>
        </p:sp>
        <p:sp>
          <p:nvSpPr>
            <p:cNvPr id="314" name="Google Shape;314;p38"/>
            <p:cNvSpPr/>
            <p:nvPr/>
          </p:nvSpPr>
          <p:spPr>
            <a:xfrm>
              <a:off x="5004999" y="3238725"/>
              <a:ext cx="1443300" cy="895500"/>
            </a:xfrm>
            <a:prstGeom prst="roundRect">
              <a:avLst>
                <a:gd fmla="val 16667" name="adj"/>
              </a:avLst>
            </a:prstGeom>
            <a:solidFill>
              <a:srgbClr val="FFFFFF"/>
            </a:solidFill>
            <a:ln>
              <a:noFill/>
            </a:ln>
          </p:spPr>
          <p:txBody>
            <a:bodyPr anchorCtr="0" anchor="ctr" bIns="18000" lIns="3600" spcFirstLastPara="1" rIns="18000" wrap="square" tIns="18000">
              <a:noAutofit/>
            </a:bodyPr>
            <a:lstStyle/>
            <a:p>
              <a:pPr indent="0" lvl="0" marL="0" rtl="0" algn="ctr">
                <a:spcBef>
                  <a:spcPts val="0"/>
                </a:spcBef>
                <a:spcAft>
                  <a:spcPts val="0"/>
                </a:spcAft>
                <a:buNone/>
              </a:pPr>
              <a:r>
                <a:rPr b="1" lang="en-GB" sz="1000"/>
                <a:t>Đối tượng đơn hàng</a:t>
              </a:r>
              <a:endParaRPr b="1" sz="1000"/>
            </a:p>
            <a:p>
              <a:pPr indent="0" lvl="0" marL="0" rtl="0" algn="ctr">
                <a:spcBef>
                  <a:spcPts val="0"/>
                </a:spcBef>
                <a:spcAft>
                  <a:spcPts val="0"/>
                </a:spcAft>
                <a:buNone/>
              </a:pPr>
              <a:r>
                <a:rPr lang="en-GB" sz="1000"/>
                <a:t>mã đơn hàng 888</a:t>
              </a:r>
              <a:endParaRPr sz="1000"/>
            </a:p>
            <a:p>
              <a:pPr indent="0" lvl="0" marL="0" rtl="0" algn="ctr">
                <a:spcBef>
                  <a:spcPts val="0"/>
                </a:spcBef>
                <a:spcAft>
                  <a:spcPts val="0"/>
                </a:spcAft>
                <a:buNone/>
              </a:pPr>
              <a:r>
                <a:rPr lang="en-GB" sz="1000"/>
                <a:t>ngày 29/2/2020</a:t>
              </a:r>
              <a:endParaRPr sz="1000"/>
            </a:p>
          </p:txBody>
        </p:sp>
        <p:sp>
          <p:nvSpPr>
            <p:cNvPr id="315" name="Google Shape;315;p38"/>
            <p:cNvSpPr/>
            <p:nvPr/>
          </p:nvSpPr>
          <p:spPr>
            <a:xfrm>
              <a:off x="6961600" y="2560925"/>
              <a:ext cx="1396200" cy="788100"/>
            </a:xfrm>
            <a:prstGeom prst="roundRect">
              <a:avLst>
                <a:gd fmla="val 16667" name="adj"/>
              </a:avLst>
            </a:prstGeom>
            <a:solidFill>
              <a:srgbClr val="FFFFFF"/>
            </a:solidFill>
            <a:ln>
              <a:noFill/>
            </a:ln>
          </p:spPr>
          <p:txBody>
            <a:bodyPr anchorCtr="0" anchor="ctr" bIns="18000" lIns="3600" spcFirstLastPara="1" rIns="18000" wrap="square" tIns="18000">
              <a:noAutofit/>
            </a:bodyPr>
            <a:lstStyle/>
            <a:p>
              <a:pPr indent="0" lvl="0" marL="0" rtl="0" algn="ctr">
                <a:spcBef>
                  <a:spcPts val="0"/>
                </a:spcBef>
                <a:spcAft>
                  <a:spcPts val="0"/>
                </a:spcAft>
                <a:buNone/>
              </a:pPr>
              <a:r>
                <a:rPr b="1" lang="en-GB" sz="1000"/>
                <a:t>Đối tượng sản phẩm:</a:t>
              </a:r>
              <a:endParaRPr b="1" sz="1000"/>
            </a:p>
            <a:p>
              <a:pPr indent="0" lvl="0" marL="0" rtl="0" algn="ctr">
                <a:spcBef>
                  <a:spcPts val="0"/>
                </a:spcBef>
                <a:spcAft>
                  <a:spcPts val="0"/>
                </a:spcAft>
                <a:buNone/>
              </a:pPr>
              <a:r>
                <a:rPr lang="en-GB" sz="1000"/>
                <a:t>Bàn làm việc</a:t>
              </a:r>
              <a:endParaRPr sz="1000"/>
            </a:p>
            <a:p>
              <a:pPr indent="0" lvl="0" marL="0" rtl="0" algn="ctr">
                <a:spcBef>
                  <a:spcPts val="0"/>
                </a:spcBef>
                <a:spcAft>
                  <a:spcPts val="0"/>
                </a:spcAft>
                <a:buNone/>
              </a:pPr>
              <a:r>
                <a:rPr lang="en-GB" sz="1000"/>
                <a:t>Mã số 18899</a:t>
              </a:r>
              <a:endParaRPr sz="1000"/>
            </a:p>
          </p:txBody>
        </p:sp>
        <p:sp>
          <p:nvSpPr>
            <p:cNvPr id="316" name="Google Shape;316;p38"/>
            <p:cNvSpPr/>
            <p:nvPr/>
          </p:nvSpPr>
          <p:spPr>
            <a:xfrm>
              <a:off x="6181925" y="4845533"/>
              <a:ext cx="1599600" cy="1085100"/>
            </a:xfrm>
            <a:prstGeom prst="roundRect">
              <a:avLst>
                <a:gd fmla="val 16667" name="adj"/>
              </a:avLst>
            </a:prstGeom>
            <a:solidFill>
              <a:srgbClr val="FFFFFF"/>
            </a:solidFill>
            <a:ln>
              <a:noFill/>
            </a:ln>
          </p:spPr>
          <p:txBody>
            <a:bodyPr anchorCtr="0" anchor="ctr" bIns="18000" lIns="3600" spcFirstLastPara="1" rIns="18000" wrap="square" tIns="18000">
              <a:noAutofit/>
            </a:bodyPr>
            <a:lstStyle/>
            <a:p>
              <a:pPr indent="0" lvl="0" marL="0" rtl="0" algn="ctr">
                <a:spcBef>
                  <a:spcPts val="0"/>
                </a:spcBef>
                <a:spcAft>
                  <a:spcPts val="0"/>
                </a:spcAft>
                <a:buNone/>
              </a:pPr>
              <a:r>
                <a:rPr b="1" lang="en-GB" sz="1000"/>
                <a:t>Đ</a:t>
              </a:r>
              <a:r>
                <a:rPr b="1" lang="en-GB" sz="1000"/>
                <a:t>ối tượng sản phẩm:</a:t>
              </a:r>
              <a:endParaRPr b="1" sz="1000"/>
            </a:p>
            <a:p>
              <a:pPr indent="0" lvl="0" marL="0" rtl="0" algn="ctr">
                <a:spcBef>
                  <a:spcPts val="0"/>
                </a:spcBef>
                <a:spcAft>
                  <a:spcPts val="0"/>
                </a:spcAft>
                <a:buNone/>
              </a:pPr>
              <a:r>
                <a:rPr lang="en-GB" sz="1000"/>
                <a:t>Gh</a:t>
              </a:r>
              <a:r>
                <a:rPr lang="en-GB" sz="1000"/>
                <a:t>ế làm việc </a:t>
              </a:r>
              <a:r>
                <a:rPr lang="en-GB" sz="1000"/>
                <a:t>Mã số 76532</a:t>
              </a:r>
              <a:endParaRPr sz="1000"/>
            </a:p>
          </p:txBody>
        </p:sp>
        <p:sp>
          <p:nvSpPr>
            <p:cNvPr id="317" name="Google Shape;317;p38"/>
            <p:cNvSpPr/>
            <p:nvPr/>
          </p:nvSpPr>
          <p:spPr>
            <a:xfrm>
              <a:off x="3652825" y="4876900"/>
              <a:ext cx="1619700" cy="1085100"/>
            </a:xfrm>
            <a:prstGeom prst="roundRect">
              <a:avLst>
                <a:gd fmla="val 16667" name="adj"/>
              </a:avLst>
            </a:prstGeom>
            <a:solidFill>
              <a:srgbClr val="FFFFFF"/>
            </a:solidFill>
            <a:ln>
              <a:noFill/>
            </a:ln>
          </p:spPr>
          <p:txBody>
            <a:bodyPr anchorCtr="0" anchor="ctr" bIns="18000" lIns="3600" spcFirstLastPara="1" rIns="18000" wrap="square" tIns="18000">
              <a:noAutofit/>
            </a:bodyPr>
            <a:lstStyle/>
            <a:p>
              <a:pPr indent="0" lvl="0" marL="0" rtl="0" algn="ctr">
                <a:spcBef>
                  <a:spcPts val="0"/>
                </a:spcBef>
                <a:spcAft>
                  <a:spcPts val="0"/>
                </a:spcAft>
                <a:buNone/>
              </a:pPr>
              <a:r>
                <a:rPr b="1" lang="en-GB" sz="1000"/>
                <a:t>Đ</a:t>
              </a:r>
              <a:r>
                <a:rPr b="1" lang="en-GB" sz="1000"/>
                <a:t>ối tượng kh</a:t>
              </a:r>
              <a:r>
                <a:rPr b="1" lang="en-GB" sz="1000"/>
                <a:t>ách hàng:</a:t>
              </a:r>
              <a:endParaRPr b="1" sz="1000"/>
            </a:p>
            <a:p>
              <a:pPr indent="0" lvl="0" marL="0" rtl="0" algn="ctr">
                <a:spcBef>
                  <a:spcPts val="0"/>
                </a:spcBef>
                <a:spcAft>
                  <a:spcPts val="0"/>
                </a:spcAft>
                <a:buNone/>
              </a:pPr>
              <a:r>
                <a:rPr lang="en-GB" sz="1000"/>
                <a:t>S</a:t>
              </a:r>
              <a:r>
                <a:rPr lang="en-GB" sz="1000"/>
                <a:t>usan,</a:t>
              </a:r>
              <a:endParaRPr sz="1000"/>
            </a:p>
            <a:p>
              <a:pPr indent="0" lvl="0" marL="0" rtl="0" algn="ctr">
                <a:spcBef>
                  <a:spcPts val="0"/>
                </a:spcBef>
                <a:spcAft>
                  <a:spcPts val="0"/>
                </a:spcAft>
                <a:buNone/>
              </a:pPr>
              <a:r>
                <a:rPr lang="en-GB" sz="1000"/>
                <a:t>mã khách hàng 386</a:t>
              </a:r>
              <a:endParaRPr sz="1000"/>
            </a:p>
            <a:p>
              <a:pPr indent="0" lvl="0" marL="0" rtl="0" algn="ctr">
                <a:spcBef>
                  <a:spcPts val="0"/>
                </a:spcBef>
                <a:spcAft>
                  <a:spcPts val="0"/>
                </a:spcAft>
                <a:buNone/>
              </a:pPr>
              <a:r>
                <a:rPr lang="en-GB" sz="1000"/>
                <a:t>Seattle, WA</a:t>
              </a:r>
              <a:endParaRPr sz="1000"/>
            </a:p>
          </p:txBody>
        </p:sp>
      </p:grpSp>
      <p:sp>
        <p:nvSpPr>
          <p:cNvPr id="318" name="Google Shape;318;p38"/>
          <p:cNvSpPr txBox="1"/>
          <p:nvPr>
            <p:ph idx="4294967295" type="title"/>
          </p:nvPr>
        </p:nvSpPr>
        <p:spPr>
          <a:xfrm>
            <a:off x="235500" y="207400"/>
            <a:ext cx="6236700" cy="71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ách tiếp cận hướng đối tượng</a:t>
            </a:r>
            <a:endParaRPr baseline="-25000"/>
          </a:p>
        </p:txBody>
      </p:sp>
      <p:sp>
        <p:nvSpPr>
          <p:cNvPr id="319" name="Google Shape;319;p38"/>
          <p:cNvSpPr txBox="1"/>
          <p:nvPr>
            <p:ph idx="4294967295" type="body"/>
          </p:nvPr>
        </p:nvSpPr>
        <p:spPr>
          <a:xfrm>
            <a:off x="311700" y="1090800"/>
            <a:ext cx="3246900" cy="42393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Gần với tư duy hợp tác và phân chia công việc</a:t>
            </a:r>
            <a:endParaRPr/>
          </a:p>
          <a:p>
            <a:pPr indent="-393700" lvl="0" marL="457200" rtl="0" algn="l">
              <a:spcBef>
                <a:spcPts val="0"/>
              </a:spcBef>
              <a:spcAft>
                <a:spcPts val="0"/>
              </a:spcAft>
              <a:buSzPts val="2600"/>
              <a:buChar char="●"/>
            </a:pPr>
            <a:r>
              <a:rPr lang="en-GB"/>
              <a:t>Các đối tượng tương tác để hoàn thành công việc</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25" name="Google Shape;325;p3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a:t>
            </a:r>
            <a:r>
              <a:rPr lang="en-GB"/>
              <a:t>í dụ mô hình hướng đối tượng</a:t>
            </a:r>
            <a:endParaRPr/>
          </a:p>
        </p:txBody>
      </p:sp>
      <p:sp>
        <p:nvSpPr>
          <p:cNvPr id="326" name="Google Shape;326;p39"/>
          <p:cNvSpPr/>
          <p:nvPr/>
        </p:nvSpPr>
        <p:spPr>
          <a:xfrm>
            <a:off x="639825" y="1529400"/>
            <a:ext cx="169800" cy="159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327" name="Google Shape;327;p39"/>
          <p:cNvCxnSpPr>
            <a:stCxn id="326" idx="4"/>
          </p:cNvCxnSpPr>
          <p:nvPr/>
        </p:nvCxnSpPr>
        <p:spPr>
          <a:xfrm flipH="1">
            <a:off x="719625" y="1689000"/>
            <a:ext cx="5100" cy="409500"/>
          </a:xfrm>
          <a:prstGeom prst="straightConnector1">
            <a:avLst/>
          </a:prstGeom>
          <a:noFill/>
          <a:ln cap="flat" cmpd="sng" w="9525">
            <a:solidFill>
              <a:schemeClr val="dk2"/>
            </a:solidFill>
            <a:prstDash val="solid"/>
            <a:round/>
            <a:headEnd len="med" w="med" type="none"/>
            <a:tailEnd len="med" w="med" type="none"/>
          </a:ln>
        </p:spPr>
      </p:cxnSp>
      <p:cxnSp>
        <p:nvCxnSpPr>
          <p:cNvPr id="328" name="Google Shape;328;p39"/>
          <p:cNvCxnSpPr/>
          <p:nvPr/>
        </p:nvCxnSpPr>
        <p:spPr>
          <a:xfrm>
            <a:off x="729665" y="2088417"/>
            <a:ext cx="199500" cy="219600"/>
          </a:xfrm>
          <a:prstGeom prst="straightConnector1">
            <a:avLst/>
          </a:prstGeom>
          <a:noFill/>
          <a:ln cap="flat" cmpd="sng" w="9525">
            <a:solidFill>
              <a:schemeClr val="dk2"/>
            </a:solidFill>
            <a:prstDash val="solid"/>
            <a:round/>
            <a:headEnd len="med" w="med" type="none"/>
            <a:tailEnd len="med" w="med" type="none"/>
          </a:ln>
        </p:spPr>
      </p:cxnSp>
      <p:cxnSp>
        <p:nvCxnSpPr>
          <p:cNvPr id="329" name="Google Shape;329;p39"/>
          <p:cNvCxnSpPr/>
          <p:nvPr/>
        </p:nvCxnSpPr>
        <p:spPr>
          <a:xfrm flipH="1">
            <a:off x="530083" y="2078425"/>
            <a:ext cx="189600" cy="249600"/>
          </a:xfrm>
          <a:prstGeom prst="straightConnector1">
            <a:avLst/>
          </a:prstGeom>
          <a:noFill/>
          <a:ln cap="flat" cmpd="sng" w="9525">
            <a:solidFill>
              <a:schemeClr val="dk2"/>
            </a:solidFill>
            <a:prstDash val="solid"/>
            <a:round/>
            <a:headEnd len="med" w="med" type="none"/>
            <a:tailEnd len="med" w="med" type="none"/>
          </a:ln>
        </p:spPr>
      </p:cxnSp>
      <p:cxnSp>
        <p:nvCxnSpPr>
          <p:cNvPr id="330" name="Google Shape;330;p39"/>
          <p:cNvCxnSpPr/>
          <p:nvPr/>
        </p:nvCxnSpPr>
        <p:spPr>
          <a:xfrm>
            <a:off x="729665" y="1783617"/>
            <a:ext cx="199500" cy="219600"/>
          </a:xfrm>
          <a:prstGeom prst="straightConnector1">
            <a:avLst/>
          </a:prstGeom>
          <a:noFill/>
          <a:ln cap="flat" cmpd="sng" w="9525">
            <a:solidFill>
              <a:schemeClr val="dk2"/>
            </a:solidFill>
            <a:prstDash val="solid"/>
            <a:round/>
            <a:headEnd len="med" w="med" type="none"/>
            <a:tailEnd len="med" w="med" type="none"/>
          </a:ln>
        </p:spPr>
      </p:cxnSp>
      <p:cxnSp>
        <p:nvCxnSpPr>
          <p:cNvPr id="331" name="Google Shape;331;p39"/>
          <p:cNvCxnSpPr/>
          <p:nvPr/>
        </p:nvCxnSpPr>
        <p:spPr>
          <a:xfrm flipH="1">
            <a:off x="530083" y="1773625"/>
            <a:ext cx="189600" cy="249600"/>
          </a:xfrm>
          <a:prstGeom prst="straightConnector1">
            <a:avLst/>
          </a:prstGeom>
          <a:noFill/>
          <a:ln cap="flat" cmpd="sng" w="9525">
            <a:solidFill>
              <a:schemeClr val="dk2"/>
            </a:solidFill>
            <a:prstDash val="solid"/>
            <a:round/>
            <a:headEnd len="med" w="med" type="none"/>
            <a:tailEnd len="med" w="med" type="none"/>
          </a:ln>
        </p:spPr>
      </p:cxnSp>
      <p:sp>
        <p:nvSpPr>
          <p:cNvPr id="332" name="Google Shape;332;p39"/>
          <p:cNvSpPr txBox="1"/>
          <p:nvPr/>
        </p:nvSpPr>
        <p:spPr>
          <a:xfrm>
            <a:off x="200575" y="2209200"/>
            <a:ext cx="11082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:Ban đào tạo</a:t>
            </a:r>
            <a:endParaRPr>
              <a:solidFill>
                <a:schemeClr val="dk2"/>
              </a:solidFill>
              <a:latin typeface="Times New Roman"/>
              <a:ea typeface="Times New Roman"/>
              <a:cs typeface="Times New Roman"/>
              <a:sym typeface="Times New Roman"/>
            </a:endParaRPr>
          </a:p>
        </p:txBody>
      </p:sp>
      <p:sp>
        <p:nvSpPr>
          <p:cNvPr id="333" name="Google Shape;333;p39"/>
          <p:cNvSpPr/>
          <p:nvPr/>
        </p:nvSpPr>
        <p:spPr>
          <a:xfrm>
            <a:off x="1706625" y="1529400"/>
            <a:ext cx="169800" cy="159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334" name="Google Shape;334;p39"/>
          <p:cNvCxnSpPr>
            <a:stCxn id="333" idx="4"/>
          </p:cNvCxnSpPr>
          <p:nvPr/>
        </p:nvCxnSpPr>
        <p:spPr>
          <a:xfrm flipH="1">
            <a:off x="1786425" y="1689000"/>
            <a:ext cx="5100" cy="409500"/>
          </a:xfrm>
          <a:prstGeom prst="straightConnector1">
            <a:avLst/>
          </a:prstGeom>
          <a:noFill/>
          <a:ln cap="flat" cmpd="sng" w="9525">
            <a:solidFill>
              <a:schemeClr val="dk2"/>
            </a:solidFill>
            <a:prstDash val="solid"/>
            <a:round/>
            <a:headEnd len="med" w="med" type="none"/>
            <a:tailEnd len="med" w="med" type="none"/>
          </a:ln>
        </p:spPr>
      </p:cxnSp>
      <p:cxnSp>
        <p:nvCxnSpPr>
          <p:cNvPr id="335" name="Google Shape;335;p39"/>
          <p:cNvCxnSpPr/>
          <p:nvPr/>
        </p:nvCxnSpPr>
        <p:spPr>
          <a:xfrm>
            <a:off x="1796465" y="2088417"/>
            <a:ext cx="199500" cy="219600"/>
          </a:xfrm>
          <a:prstGeom prst="straightConnector1">
            <a:avLst/>
          </a:prstGeom>
          <a:noFill/>
          <a:ln cap="flat" cmpd="sng" w="9525">
            <a:solidFill>
              <a:schemeClr val="dk2"/>
            </a:solidFill>
            <a:prstDash val="solid"/>
            <a:round/>
            <a:headEnd len="med" w="med" type="none"/>
            <a:tailEnd len="med" w="med" type="none"/>
          </a:ln>
        </p:spPr>
      </p:cxnSp>
      <p:cxnSp>
        <p:nvCxnSpPr>
          <p:cNvPr id="336" name="Google Shape;336;p39"/>
          <p:cNvCxnSpPr/>
          <p:nvPr/>
        </p:nvCxnSpPr>
        <p:spPr>
          <a:xfrm flipH="1">
            <a:off x="1596883" y="2078425"/>
            <a:ext cx="189600" cy="249600"/>
          </a:xfrm>
          <a:prstGeom prst="straightConnector1">
            <a:avLst/>
          </a:prstGeom>
          <a:noFill/>
          <a:ln cap="flat" cmpd="sng" w="9525">
            <a:solidFill>
              <a:schemeClr val="dk2"/>
            </a:solidFill>
            <a:prstDash val="solid"/>
            <a:round/>
            <a:headEnd len="med" w="med" type="none"/>
            <a:tailEnd len="med" w="med" type="none"/>
          </a:ln>
        </p:spPr>
      </p:cxnSp>
      <p:cxnSp>
        <p:nvCxnSpPr>
          <p:cNvPr id="337" name="Google Shape;337;p39"/>
          <p:cNvCxnSpPr/>
          <p:nvPr/>
        </p:nvCxnSpPr>
        <p:spPr>
          <a:xfrm>
            <a:off x="1796465" y="1783617"/>
            <a:ext cx="199500" cy="219600"/>
          </a:xfrm>
          <a:prstGeom prst="straightConnector1">
            <a:avLst/>
          </a:prstGeom>
          <a:noFill/>
          <a:ln cap="flat" cmpd="sng" w="9525">
            <a:solidFill>
              <a:schemeClr val="dk2"/>
            </a:solidFill>
            <a:prstDash val="solid"/>
            <a:round/>
            <a:headEnd len="med" w="med" type="none"/>
            <a:tailEnd len="med" w="med" type="none"/>
          </a:ln>
        </p:spPr>
      </p:cxnSp>
      <p:cxnSp>
        <p:nvCxnSpPr>
          <p:cNvPr id="338" name="Google Shape;338;p39"/>
          <p:cNvCxnSpPr/>
          <p:nvPr/>
        </p:nvCxnSpPr>
        <p:spPr>
          <a:xfrm flipH="1">
            <a:off x="1596883" y="1773625"/>
            <a:ext cx="189600" cy="249600"/>
          </a:xfrm>
          <a:prstGeom prst="straightConnector1">
            <a:avLst/>
          </a:prstGeom>
          <a:noFill/>
          <a:ln cap="flat" cmpd="sng" w="9525">
            <a:solidFill>
              <a:schemeClr val="dk2"/>
            </a:solidFill>
            <a:prstDash val="solid"/>
            <a:round/>
            <a:headEnd len="med" w="med" type="none"/>
            <a:tailEnd len="med" w="med" type="none"/>
          </a:ln>
        </p:spPr>
      </p:cxnSp>
      <p:sp>
        <p:nvSpPr>
          <p:cNvPr id="339" name="Google Shape;339;p39"/>
          <p:cNvSpPr txBox="1"/>
          <p:nvPr/>
        </p:nvSpPr>
        <p:spPr>
          <a:xfrm>
            <a:off x="1418452" y="2209200"/>
            <a:ext cx="8484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a:t>
            </a:r>
            <a:r>
              <a:rPr lang="en-GB">
                <a:solidFill>
                  <a:schemeClr val="dk2"/>
                </a:solidFill>
                <a:latin typeface="Times New Roman"/>
                <a:ea typeface="Times New Roman"/>
                <a:cs typeface="Times New Roman"/>
                <a:sym typeface="Times New Roman"/>
              </a:rPr>
              <a:t>Cán bộ</a:t>
            </a:r>
            <a:endParaRPr>
              <a:solidFill>
                <a:schemeClr val="dk2"/>
              </a:solidFill>
              <a:latin typeface="Times New Roman"/>
              <a:ea typeface="Times New Roman"/>
              <a:cs typeface="Times New Roman"/>
              <a:sym typeface="Times New Roman"/>
            </a:endParaRPr>
          </a:p>
        </p:txBody>
      </p:sp>
      <p:sp>
        <p:nvSpPr>
          <p:cNvPr id="340" name="Google Shape;340;p39"/>
          <p:cNvSpPr/>
          <p:nvPr/>
        </p:nvSpPr>
        <p:spPr>
          <a:xfrm>
            <a:off x="2773425" y="1529400"/>
            <a:ext cx="169800" cy="159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341" name="Google Shape;341;p39"/>
          <p:cNvCxnSpPr>
            <a:stCxn id="340" idx="4"/>
          </p:cNvCxnSpPr>
          <p:nvPr/>
        </p:nvCxnSpPr>
        <p:spPr>
          <a:xfrm flipH="1">
            <a:off x="2853225" y="1689000"/>
            <a:ext cx="5100" cy="409500"/>
          </a:xfrm>
          <a:prstGeom prst="straightConnector1">
            <a:avLst/>
          </a:prstGeom>
          <a:noFill/>
          <a:ln cap="flat" cmpd="sng" w="9525">
            <a:solidFill>
              <a:schemeClr val="dk2"/>
            </a:solidFill>
            <a:prstDash val="solid"/>
            <a:round/>
            <a:headEnd len="med" w="med" type="none"/>
            <a:tailEnd len="med" w="med" type="none"/>
          </a:ln>
        </p:spPr>
      </p:cxnSp>
      <p:cxnSp>
        <p:nvCxnSpPr>
          <p:cNvPr id="342" name="Google Shape;342;p39"/>
          <p:cNvCxnSpPr/>
          <p:nvPr/>
        </p:nvCxnSpPr>
        <p:spPr>
          <a:xfrm>
            <a:off x="2863265" y="2088417"/>
            <a:ext cx="199500" cy="219600"/>
          </a:xfrm>
          <a:prstGeom prst="straightConnector1">
            <a:avLst/>
          </a:prstGeom>
          <a:noFill/>
          <a:ln cap="flat" cmpd="sng" w="9525">
            <a:solidFill>
              <a:schemeClr val="dk2"/>
            </a:solidFill>
            <a:prstDash val="solid"/>
            <a:round/>
            <a:headEnd len="med" w="med" type="none"/>
            <a:tailEnd len="med" w="med" type="none"/>
          </a:ln>
        </p:spPr>
      </p:cxnSp>
      <p:cxnSp>
        <p:nvCxnSpPr>
          <p:cNvPr id="343" name="Google Shape;343;p39"/>
          <p:cNvCxnSpPr/>
          <p:nvPr/>
        </p:nvCxnSpPr>
        <p:spPr>
          <a:xfrm flipH="1">
            <a:off x="2663683" y="2078425"/>
            <a:ext cx="189600" cy="249600"/>
          </a:xfrm>
          <a:prstGeom prst="straightConnector1">
            <a:avLst/>
          </a:prstGeom>
          <a:noFill/>
          <a:ln cap="flat" cmpd="sng" w="9525">
            <a:solidFill>
              <a:schemeClr val="dk2"/>
            </a:solidFill>
            <a:prstDash val="solid"/>
            <a:round/>
            <a:headEnd len="med" w="med" type="none"/>
            <a:tailEnd len="med" w="med" type="none"/>
          </a:ln>
        </p:spPr>
      </p:cxnSp>
      <p:cxnSp>
        <p:nvCxnSpPr>
          <p:cNvPr id="344" name="Google Shape;344;p39"/>
          <p:cNvCxnSpPr/>
          <p:nvPr/>
        </p:nvCxnSpPr>
        <p:spPr>
          <a:xfrm>
            <a:off x="2863265" y="1783617"/>
            <a:ext cx="199500" cy="219600"/>
          </a:xfrm>
          <a:prstGeom prst="straightConnector1">
            <a:avLst/>
          </a:prstGeom>
          <a:noFill/>
          <a:ln cap="flat" cmpd="sng" w="9525">
            <a:solidFill>
              <a:schemeClr val="dk2"/>
            </a:solidFill>
            <a:prstDash val="solid"/>
            <a:round/>
            <a:headEnd len="med" w="med" type="none"/>
            <a:tailEnd len="med" w="med" type="none"/>
          </a:ln>
        </p:spPr>
      </p:cxnSp>
      <p:cxnSp>
        <p:nvCxnSpPr>
          <p:cNvPr id="345" name="Google Shape;345;p39"/>
          <p:cNvCxnSpPr/>
          <p:nvPr/>
        </p:nvCxnSpPr>
        <p:spPr>
          <a:xfrm flipH="1">
            <a:off x="2663683" y="1773625"/>
            <a:ext cx="189600" cy="249600"/>
          </a:xfrm>
          <a:prstGeom prst="straightConnector1">
            <a:avLst/>
          </a:prstGeom>
          <a:noFill/>
          <a:ln cap="flat" cmpd="sng" w="9525">
            <a:solidFill>
              <a:schemeClr val="dk2"/>
            </a:solidFill>
            <a:prstDash val="solid"/>
            <a:round/>
            <a:headEnd len="med" w="med" type="none"/>
            <a:tailEnd len="med" w="med" type="none"/>
          </a:ln>
        </p:spPr>
      </p:cxnSp>
      <p:sp>
        <p:nvSpPr>
          <p:cNvPr id="346" name="Google Shape;346;p39"/>
          <p:cNvSpPr txBox="1"/>
          <p:nvPr/>
        </p:nvSpPr>
        <p:spPr>
          <a:xfrm>
            <a:off x="2376525" y="2209200"/>
            <a:ext cx="9570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a:t>
            </a:r>
            <a:r>
              <a:rPr lang="en-GB">
                <a:solidFill>
                  <a:schemeClr val="dk2"/>
                </a:solidFill>
                <a:latin typeface="Times New Roman"/>
                <a:ea typeface="Times New Roman"/>
                <a:cs typeface="Times New Roman"/>
                <a:sym typeface="Times New Roman"/>
              </a:rPr>
              <a:t>Sinh viên</a:t>
            </a:r>
            <a:endParaRPr>
              <a:solidFill>
                <a:schemeClr val="dk2"/>
              </a:solidFill>
              <a:latin typeface="Times New Roman"/>
              <a:ea typeface="Times New Roman"/>
              <a:cs typeface="Times New Roman"/>
              <a:sym typeface="Times New Roman"/>
            </a:endParaRPr>
          </a:p>
        </p:txBody>
      </p:sp>
      <p:sp>
        <p:nvSpPr>
          <p:cNvPr id="347" name="Google Shape;347;p39"/>
          <p:cNvSpPr/>
          <p:nvPr/>
        </p:nvSpPr>
        <p:spPr>
          <a:xfrm>
            <a:off x="3930075" y="1689000"/>
            <a:ext cx="1377600" cy="469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:Kế hoạch học tập</a:t>
            </a:r>
            <a:endParaRPr>
              <a:latin typeface="Times New Roman"/>
              <a:ea typeface="Times New Roman"/>
              <a:cs typeface="Times New Roman"/>
              <a:sym typeface="Times New Roman"/>
            </a:endParaRPr>
          </a:p>
        </p:txBody>
      </p:sp>
      <p:sp>
        <p:nvSpPr>
          <p:cNvPr id="348" name="Google Shape;348;p39"/>
          <p:cNvSpPr/>
          <p:nvPr/>
        </p:nvSpPr>
        <p:spPr>
          <a:xfrm>
            <a:off x="5606475" y="1689000"/>
            <a:ext cx="1377600" cy="469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:Đăng ký học tập</a:t>
            </a:r>
            <a:endParaRPr>
              <a:latin typeface="Times New Roman"/>
              <a:ea typeface="Times New Roman"/>
              <a:cs typeface="Times New Roman"/>
              <a:sym typeface="Times New Roman"/>
            </a:endParaRPr>
          </a:p>
        </p:txBody>
      </p:sp>
      <p:sp>
        <p:nvSpPr>
          <p:cNvPr id="349" name="Google Shape;349;p39"/>
          <p:cNvSpPr/>
          <p:nvPr/>
        </p:nvSpPr>
        <p:spPr>
          <a:xfrm>
            <a:off x="7282875" y="1689000"/>
            <a:ext cx="1377600" cy="469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a:t>
            </a:r>
            <a:r>
              <a:rPr lang="en-GB">
                <a:latin typeface="Times New Roman"/>
                <a:ea typeface="Times New Roman"/>
                <a:cs typeface="Times New Roman"/>
                <a:sym typeface="Times New Roman"/>
              </a:rPr>
              <a:t>Lớp học</a:t>
            </a:r>
            <a:endParaRPr>
              <a:latin typeface="Times New Roman"/>
              <a:ea typeface="Times New Roman"/>
              <a:cs typeface="Times New Roman"/>
              <a:sym typeface="Times New Roman"/>
            </a:endParaRPr>
          </a:p>
        </p:txBody>
      </p:sp>
      <p:cxnSp>
        <p:nvCxnSpPr>
          <p:cNvPr id="350" name="Google Shape;350;p39"/>
          <p:cNvCxnSpPr>
            <a:stCxn id="347" idx="2"/>
          </p:cNvCxnSpPr>
          <p:nvPr/>
        </p:nvCxnSpPr>
        <p:spPr>
          <a:xfrm>
            <a:off x="4618875" y="2158200"/>
            <a:ext cx="0" cy="4332600"/>
          </a:xfrm>
          <a:prstGeom prst="straightConnector1">
            <a:avLst/>
          </a:prstGeom>
          <a:noFill/>
          <a:ln cap="flat" cmpd="sng" w="9525">
            <a:solidFill>
              <a:schemeClr val="dk2"/>
            </a:solidFill>
            <a:prstDash val="dash"/>
            <a:round/>
            <a:headEnd len="med" w="med" type="none"/>
            <a:tailEnd len="med" w="med" type="none"/>
          </a:ln>
        </p:spPr>
      </p:cxnSp>
      <p:cxnSp>
        <p:nvCxnSpPr>
          <p:cNvPr id="351" name="Google Shape;351;p39"/>
          <p:cNvCxnSpPr>
            <a:stCxn id="348" idx="2"/>
          </p:cNvCxnSpPr>
          <p:nvPr/>
        </p:nvCxnSpPr>
        <p:spPr>
          <a:xfrm flipH="1">
            <a:off x="6279975" y="2158200"/>
            <a:ext cx="15300" cy="4282500"/>
          </a:xfrm>
          <a:prstGeom prst="straightConnector1">
            <a:avLst/>
          </a:prstGeom>
          <a:noFill/>
          <a:ln cap="flat" cmpd="sng" w="9525">
            <a:solidFill>
              <a:schemeClr val="dk2"/>
            </a:solidFill>
            <a:prstDash val="dash"/>
            <a:round/>
            <a:headEnd len="med" w="med" type="none"/>
            <a:tailEnd len="med" w="med" type="none"/>
          </a:ln>
        </p:spPr>
      </p:cxnSp>
      <p:cxnSp>
        <p:nvCxnSpPr>
          <p:cNvPr id="352" name="Google Shape;352;p39"/>
          <p:cNvCxnSpPr>
            <a:stCxn id="349" idx="2"/>
          </p:cNvCxnSpPr>
          <p:nvPr/>
        </p:nvCxnSpPr>
        <p:spPr>
          <a:xfrm>
            <a:off x="7971675" y="2158200"/>
            <a:ext cx="0" cy="4192800"/>
          </a:xfrm>
          <a:prstGeom prst="straightConnector1">
            <a:avLst/>
          </a:prstGeom>
          <a:noFill/>
          <a:ln cap="flat" cmpd="sng" w="9525">
            <a:solidFill>
              <a:schemeClr val="dk2"/>
            </a:solidFill>
            <a:prstDash val="dash"/>
            <a:round/>
            <a:headEnd len="med" w="med" type="none"/>
            <a:tailEnd len="med" w="med" type="none"/>
          </a:ln>
        </p:spPr>
      </p:cxnSp>
      <p:cxnSp>
        <p:nvCxnSpPr>
          <p:cNvPr id="353" name="Google Shape;353;p39"/>
          <p:cNvCxnSpPr>
            <a:stCxn id="332" idx="2"/>
          </p:cNvCxnSpPr>
          <p:nvPr/>
        </p:nvCxnSpPr>
        <p:spPr>
          <a:xfrm>
            <a:off x="754675" y="2618700"/>
            <a:ext cx="0" cy="3931800"/>
          </a:xfrm>
          <a:prstGeom prst="straightConnector1">
            <a:avLst/>
          </a:prstGeom>
          <a:noFill/>
          <a:ln cap="flat" cmpd="sng" w="9525">
            <a:solidFill>
              <a:schemeClr val="dk2"/>
            </a:solidFill>
            <a:prstDash val="dash"/>
            <a:round/>
            <a:headEnd len="med" w="med" type="none"/>
            <a:tailEnd len="med" w="med" type="none"/>
          </a:ln>
        </p:spPr>
      </p:cxnSp>
      <p:cxnSp>
        <p:nvCxnSpPr>
          <p:cNvPr id="354" name="Google Shape;354;p39"/>
          <p:cNvCxnSpPr>
            <a:stCxn id="339" idx="2"/>
          </p:cNvCxnSpPr>
          <p:nvPr/>
        </p:nvCxnSpPr>
        <p:spPr>
          <a:xfrm>
            <a:off x="1842652" y="2618700"/>
            <a:ext cx="0" cy="3872100"/>
          </a:xfrm>
          <a:prstGeom prst="straightConnector1">
            <a:avLst/>
          </a:prstGeom>
          <a:noFill/>
          <a:ln cap="flat" cmpd="sng" w="9525">
            <a:solidFill>
              <a:schemeClr val="dk2"/>
            </a:solidFill>
            <a:prstDash val="dash"/>
            <a:round/>
            <a:headEnd len="med" w="med" type="none"/>
            <a:tailEnd len="med" w="med" type="none"/>
          </a:ln>
        </p:spPr>
      </p:cxnSp>
      <p:cxnSp>
        <p:nvCxnSpPr>
          <p:cNvPr id="355" name="Google Shape;355;p39"/>
          <p:cNvCxnSpPr>
            <a:stCxn id="346" idx="2"/>
          </p:cNvCxnSpPr>
          <p:nvPr/>
        </p:nvCxnSpPr>
        <p:spPr>
          <a:xfrm>
            <a:off x="2855025" y="2618700"/>
            <a:ext cx="0" cy="3882000"/>
          </a:xfrm>
          <a:prstGeom prst="straightConnector1">
            <a:avLst/>
          </a:prstGeom>
          <a:noFill/>
          <a:ln cap="flat" cmpd="sng" w="9525">
            <a:solidFill>
              <a:schemeClr val="dk2"/>
            </a:solidFill>
            <a:prstDash val="dash"/>
            <a:round/>
            <a:headEnd len="med" w="med" type="none"/>
            <a:tailEnd len="med" w="med" type="none"/>
          </a:ln>
        </p:spPr>
      </p:cxnSp>
      <p:sp>
        <p:nvSpPr>
          <p:cNvPr id="356" name="Google Shape;356;p39"/>
          <p:cNvSpPr/>
          <p:nvPr/>
        </p:nvSpPr>
        <p:spPr>
          <a:xfrm>
            <a:off x="4552975" y="2697350"/>
            <a:ext cx="139800" cy="67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357" name="Google Shape;357;p39"/>
          <p:cNvCxnSpPr/>
          <p:nvPr/>
        </p:nvCxnSpPr>
        <p:spPr>
          <a:xfrm>
            <a:off x="773250" y="2857075"/>
            <a:ext cx="3774600" cy="0"/>
          </a:xfrm>
          <a:prstGeom prst="straightConnector1">
            <a:avLst/>
          </a:prstGeom>
          <a:noFill/>
          <a:ln cap="flat" cmpd="sng" w="9525">
            <a:solidFill>
              <a:schemeClr val="dk2"/>
            </a:solidFill>
            <a:prstDash val="solid"/>
            <a:round/>
            <a:headEnd len="med" w="med" type="none"/>
            <a:tailEnd len="med" w="med" type="triangle"/>
          </a:ln>
        </p:spPr>
      </p:cxnSp>
      <p:sp>
        <p:nvSpPr>
          <p:cNvPr id="358" name="Google Shape;358;p39"/>
          <p:cNvSpPr txBox="1"/>
          <p:nvPr/>
        </p:nvSpPr>
        <p:spPr>
          <a:xfrm>
            <a:off x="1862025" y="2531300"/>
            <a:ext cx="1200900" cy="3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Mở lớp()</a:t>
            </a:r>
            <a:endParaRPr>
              <a:solidFill>
                <a:schemeClr val="dk2"/>
              </a:solidFill>
              <a:latin typeface="Times New Roman"/>
              <a:ea typeface="Times New Roman"/>
              <a:cs typeface="Times New Roman"/>
              <a:sym typeface="Times New Roman"/>
            </a:endParaRPr>
          </a:p>
        </p:txBody>
      </p:sp>
      <p:cxnSp>
        <p:nvCxnSpPr>
          <p:cNvPr id="359" name="Google Shape;359;p39"/>
          <p:cNvCxnSpPr/>
          <p:nvPr/>
        </p:nvCxnSpPr>
        <p:spPr>
          <a:xfrm rot="10800000">
            <a:off x="763375" y="3223850"/>
            <a:ext cx="3783300" cy="0"/>
          </a:xfrm>
          <a:prstGeom prst="straightConnector1">
            <a:avLst/>
          </a:prstGeom>
          <a:noFill/>
          <a:ln cap="flat" cmpd="sng" w="9525">
            <a:solidFill>
              <a:schemeClr val="dk2"/>
            </a:solidFill>
            <a:prstDash val="dash"/>
            <a:round/>
            <a:headEnd len="med" w="med" type="none"/>
            <a:tailEnd len="med" w="med" type="triangle"/>
          </a:ln>
        </p:spPr>
      </p:cxnSp>
      <p:sp>
        <p:nvSpPr>
          <p:cNvPr id="360" name="Google Shape;360;p39"/>
          <p:cNvSpPr txBox="1"/>
          <p:nvPr/>
        </p:nvSpPr>
        <p:spPr>
          <a:xfrm>
            <a:off x="1785825" y="2912300"/>
            <a:ext cx="2208000" cy="3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Lớp được mở</a:t>
            </a:r>
            <a:endParaRPr>
              <a:solidFill>
                <a:schemeClr val="dk2"/>
              </a:solidFill>
              <a:latin typeface="Times New Roman"/>
              <a:ea typeface="Times New Roman"/>
              <a:cs typeface="Times New Roman"/>
              <a:sym typeface="Times New Roman"/>
            </a:endParaRPr>
          </a:p>
        </p:txBody>
      </p:sp>
      <p:sp>
        <p:nvSpPr>
          <p:cNvPr id="361" name="Google Shape;361;p39"/>
          <p:cNvSpPr/>
          <p:nvPr/>
        </p:nvSpPr>
        <p:spPr>
          <a:xfrm>
            <a:off x="6229375" y="3459350"/>
            <a:ext cx="139800" cy="67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362" name="Google Shape;362;p39"/>
          <p:cNvSpPr txBox="1"/>
          <p:nvPr/>
        </p:nvSpPr>
        <p:spPr>
          <a:xfrm>
            <a:off x="3386025" y="3217100"/>
            <a:ext cx="1200900" cy="3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Đăng ký</a:t>
            </a:r>
            <a:r>
              <a:rPr lang="en-GB">
                <a:solidFill>
                  <a:schemeClr val="dk2"/>
                </a:solidFill>
                <a:latin typeface="Times New Roman"/>
                <a:ea typeface="Times New Roman"/>
                <a:cs typeface="Times New Roman"/>
                <a:sym typeface="Times New Roman"/>
              </a:rPr>
              <a:t>()</a:t>
            </a:r>
            <a:endParaRPr>
              <a:solidFill>
                <a:schemeClr val="dk2"/>
              </a:solidFill>
              <a:latin typeface="Times New Roman"/>
              <a:ea typeface="Times New Roman"/>
              <a:cs typeface="Times New Roman"/>
              <a:sym typeface="Times New Roman"/>
            </a:endParaRPr>
          </a:p>
        </p:txBody>
      </p:sp>
      <p:cxnSp>
        <p:nvCxnSpPr>
          <p:cNvPr id="363" name="Google Shape;363;p39"/>
          <p:cNvCxnSpPr/>
          <p:nvPr/>
        </p:nvCxnSpPr>
        <p:spPr>
          <a:xfrm>
            <a:off x="2865925" y="3575825"/>
            <a:ext cx="3334200" cy="20100"/>
          </a:xfrm>
          <a:prstGeom prst="straightConnector1">
            <a:avLst/>
          </a:prstGeom>
          <a:noFill/>
          <a:ln cap="flat" cmpd="sng" w="9525">
            <a:solidFill>
              <a:schemeClr val="dk2"/>
            </a:solidFill>
            <a:prstDash val="solid"/>
            <a:round/>
            <a:headEnd len="med" w="med" type="none"/>
            <a:tailEnd len="med" w="med" type="triangle"/>
          </a:ln>
        </p:spPr>
      </p:cxnSp>
      <p:cxnSp>
        <p:nvCxnSpPr>
          <p:cNvPr id="364" name="Google Shape;364;p39"/>
          <p:cNvCxnSpPr/>
          <p:nvPr/>
        </p:nvCxnSpPr>
        <p:spPr>
          <a:xfrm rot="10800000">
            <a:off x="2865975" y="4005075"/>
            <a:ext cx="3344100" cy="0"/>
          </a:xfrm>
          <a:prstGeom prst="straightConnector1">
            <a:avLst/>
          </a:prstGeom>
          <a:noFill/>
          <a:ln cap="flat" cmpd="sng" w="9525">
            <a:solidFill>
              <a:schemeClr val="dk2"/>
            </a:solidFill>
            <a:prstDash val="lgDash"/>
            <a:round/>
            <a:headEnd len="med" w="med" type="none"/>
            <a:tailEnd len="med" w="med" type="triangle"/>
          </a:ln>
        </p:spPr>
      </p:cxnSp>
      <p:sp>
        <p:nvSpPr>
          <p:cNvPr id="365" name="Google Shape;365;p39"/>
          <p:cNvSpPr txBox="1"/>
          <p:nvPr/>
        </p:nvSpPr>
        <p:spPr>
          <a:xfrm>
            <a:off x="3538425" y="3674300"/>
            <a:ext cx="2208000" cy="3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Thông tin xác nhận</a:t>
            </a:r>
            <a:endParaRPr>
              <a:solidFill>
                <a:schemeClr val="dk2"/>
              </a:solidFill>
              <a:latin typeface="Times New Roman"/>
              <a:ea typeface="Times New Roman"/>
              <a:cs typeface="Times New Roman"/>
              <a:sym typeface="Times New Roman"/>
            </a:endParaRPr>
          </a:p>
        </p:txBody>
      </p:sp>
      <p:sp>
        <p:nvSpPr>
          <p:cNvPr id="366" name="Google Shape;366;p39"/>
          <p:cNvSpPr/>
          <p:nvPr/>
        </p:nvSpPr>
        <p:spPr>
          <a:xfrm>
            <a:off x="7905775" y="4221350"/>
            <a:ext cx="139800" cy="67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367" name="Google Shape;367;p39"/>
          <p:cNvCxnSpPr/>
          <p:nvPr/>
        </p:nvCxnSpPr>
        <p:spPr>
          <a:xfrm>
            <a:off x="1837725" y="4377075"/>
            <a:ext cx="6049500" cy="9900"/>
          </a:xfrm>
          <a:prstGeom prst="straightConnector1">
            <a:avLst/>
          </a:prstGeom>
          <a:noFill/>
          <a:ln cap="flat" cmpd="sng" w="9525">
            <a:solidFill>
              <a:schemeClr val="dk2"/>
            </a:solidFill>
            <a:prstDash val="solid"/>
            <a:round/>
            <a:headEnd len="med" w="med" type="none"/>
            <a:tailEnd len="med" w="med" type="triangle"/>
          </a:ln>
        </p:spPr>
      </p:cxnSp>
      <p:sp>
        <p:nvSpPr>
          <p:cNvPr id="368" name="Google Shape;368;p39"/>
          <p:cNvSpPr txBox="1"/>
          <p:nvPr/>
        </p:nvSpPr>
        <p:spPr>
          <a:xfrm>
            <a:off x="3919425" y="4055300"/>
            <a:ext cx="1688100" cy="3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Xếp phòng học()</a:t>
            </a:r>
            <a:endParaRPr>
              <a:solidFill>
                <a:schemeClr val="dk2"/>
              </a:solidFill>
              <a:latin typeface="Times New Roman"/>
              <a:ea typeface="Times New Roman"/>
              <a:cs typeface="Times New Roman"/>
              <a:sym typeface="Times New Roman"/>
            </a:endParaRPr>
          </a:p>
        </p:txBody>
      </p:sp>
      <p:cxnSp>
        <p:nvCxnSpPr>
          <p:cNvPr id="369" name="Google Shape;369;p39"/>
          <p:cNvCxnSpPr/>
          <p:nvPr/>
        </p:nvCxnSpPr>
        <p:spPr>
          <a:xfrm rot="10800000">
            <a:off x="1847775" y="4767075"/>
            <a:ext cx="6038700" cy="0"/>
          </a:xfrm>
          <a:prstGeom prst="straightConnector1">
            <a:avLst/>
          </a:prstGeom>
          <a:noFill/>
          <a:ln cap="flat" cmpd="sng" w="9525">
            <a:solidFill>
              <a:schemeClr val="dk2"/>
            </a:solidFill>
            <a:prstDash val="lgDash"/>
            <a:round/>
            <a:headEnd len="med" w="med" type="none"/>
            <a:tailEnd len="med" w="med" type="triangle"/>
          </a:ln>
        </p:spPr>
      </p:cxnSp>
      <p:sp>
        <p:nvSpPr>
          <p:cNvPr id="370" name="Google Shape;370;p39"/>
          <p:cNvSpPr txBox="1"/>
          <p:nvPr/>
        </p:nvSpPr>
        <p:spPr>
          <a:xfrm>
            <a:off x="3919425" y="4436300"/>
            <a:ext cx="2208000" cy="3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Thông tin </a:t>
            </a:r>
            <a:r>
              <a:rPr lang="en-GB">
                <a:solidFill>
                  <a:schemeClr val="dk2"/>
                </a:solidFill>
                <a:latin typeface="Times New Roman"/>
                <a:ea typeface="Times New Roman"/>
                <a:cs typeface="Times New Roman"/>
                <a:sym typeface="Times New Roman"/>
              </a:rPr>
              <a:t>lớp học</a:t>
            </a:r>
            <a:endParaRPr>
              <a:solidFill>
                <a:schemeClr val="dk2"/>
              </a:solidFill>
              <a:latin typeface="Times New Roman"/>
              <a:ea typeface="Times New Roman"/>
              <a:cs typeface="Times New Roman"/>
              <a:sym typeface="Times New Roman"/>
            </a:endParaRPr>
          </a:p>
        </p:txBody>
      </p:sp>
      <p:sp>
        <p:nvSpPr>
          <p:cNvPr id="371" name="Google Shape;371;p39"/>
          <p:cNvSpPr/>
          <p:nvPr/>
        </p:nvSpPr>
        <p:spPr>
          <a:xfrm>
            <a:off x="7905775" y="5135750"/>
            <a:ext cx="139800" cy="67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cxnSp>
        <p:nvCxnSpPr>
          <p:cNvPr id="372" name="Google Shape;372;p39"/>
          <p:cNvCxnSpPr/>
          <p:nvPr/>
        </p:nvCxnSpPr>
        <p:spPr>
          <a:xfrm>
            <a:off x="2845950" y="5239250"/>
            <a:ext cx="5051100" cy="0"/>
          </a:xfrm>
          <a:prstGeom prst="straightConnector1">
            <a:avLst/>
          </a:prstGeom>
          <a:noFill/>
          <a:ln cap="flat" cmpd="sng" w="9525">
            <a:solidFill>
              <a:schemeClr val="dk2"/>
            </a:solidFill>
            <a:prstDash val="solid"/>
            <a:round/>
            <a:headEnd len="med" w="med" type="none"/>
            <a:tailEnd len="med" w="med" type="triangle"/>
          </a:ln>
        </p:spPr>
      </p:cxnSp>
      <p:sp>
        <p:nvSpPr>
          <p:cNvPr id="373" name="Google Shape;373;p39"/>
          <p:cNvSpPr txBox="1"/>
          <p:nvPr/>
        </p:nvSpPr>
        <p:spPr>
          <a:xfrm>
            <a:off x="4681425" y="4893500"/>
            <a:ext cx="2208000" cy="3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Tra cứu lịch học()</a:t>
            </a:r>
            <a:endParaRPr>
              <a:solidFill>
                <a:schemeClr val="dk2"/>
              </a:solidFill>
              <a:latin typeface="Times New Roman"/>
              <a:ea typeface="Times New Roman"/>
              <a:cs typeface="Times New Roman"/>
              <a:sym typeface="Times New Roman"/>
            </a:endParaRPr>
          </a:p>
        </p:txBody>
      </p:sp>
      <p:cxnSp>
        <p:nvCxnSpPr>
          <p:cNvPr id="374" name="Google Shape;374;p39"/>
          <p:cNvCxnSpPr/>
          <p:nvPr/>
        </p:nvCxnSpPr>
        <p:spPr>
          <a:xfrm rot="10800000">
            <a:off x="2855925" y="5702100"/>
            <a:ext cx="5041200" cy="0"/>
          </a:xfrm>
          <a:prstGeom prst="straightConnector1">
            <a:avLst/>
          </a:prstGeom>
          <a:noFill/>
          <a:ln cap="flat" cmpd="sng" w="9525">
            <a:solidFill>
              <a:schemeClr val="dk2"/>
            </a:solidFill>
            <a:prstDash val="dash"/>
            <a:round/>
            <a:headEnd len="med" w="med" type="none"/>
            <a:tailEnd len="med" w="med" type="triangle"/>
          </a:ln>
        </p:spPr>
      </p:cxnSp>
      <p:sp>
        <p:nvSpPr>
          <p:cNvPr id="375" name="Google Shape;375;p39"/>
          <p:cNvSpPr txBox="1"/>
          <p:nvPr/>
        </p:nvSpPr>
        <p:spPr>
          <a:xfrm>
            <a:off x="4910025" y="5350700"/>
            <a:ext cx="2208000" cy="3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latin typeface="Times New Roman"/>
                <a:ea typeface="Times New Roman"/>
                <a:cs typeface="Times New Roman"/>
                <a:sym typeface="Times New Roman"/>
              </a:rPr>
              <a:t>Lịch học</a:t>
            </a:r>
            <a:endParaRPr>
              <a:solidFill>
                <a:schemeClr val="dk2"/>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81" name="Google Shape;381;p4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Một số thành phần và tính năng cơ bản</a:t>
            </a:r>
            <a:endParaRPr/>
          </a:p>
        </p:txBody>
      </p:sp>
      <p:sp>
        <p:nvSpPr>
          <p:cNvPr id="382" name="Google Shape;382;p40"/>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Đ</a:t>
            </a:r>
            <a:r>
              <a:rPr lang="en-GB"/>
              <a:t>ối tượng và lớp</a:t>
            </a:r>
            <a:endParaRPr/>
          </a:p>
          <a:p>
            <a:pPr indent="-393700" lvl="0" marL="457200" rtl="0" algn="l">
              <a:spcBef>
                <a:spcPts val="0"/>
              </a:spcBef>
              <a:spcAft>
                <a:spcPts val="0"/>
              </a:spcAft>
              <a:buSzPts val="2600"/>
              <a:buChar char="●"/>
            </a:pPr>
            <a:r>
              <a:rPr lang="en-GB"/>
              <a:t>Thông điệp và phương thức</a:t>
            </a:r>
            <a:endParaRPr/>
          </a:p>
          <a:p>
            <a:pPr indent="-393700" lvl="0" marL="457200" rtl="0" algn="l">
              <a:spcBef>
                <a:spcPts val="0"/>
              </a:spcBef>
              <a:spcAft>
                <a:spcPts val="0"/>
              </a:spcAft>
              <a:buSzPts val="2600"/>
              <a:buChar char="●"/>
            </a:pPr>
            <a:r>
              <a:rPr lang="en-GB"/>
              <a:t>Đóng gói và ẩn dữ liệu</a:t>
            </a:r>
            <a:endParaRPr/>
          </a:p>
          <a:p>
            <a:pPr indent="-393700" lvl="0" marL="457200" rtl="0" algn="l">
              <a:spcBef>
                <a:spcPts val="0"/>
              </a:spcBef>
              <a:spcAft>
                <a:spcPts val="0"/>
              </a:spcAft>
              <a:buSzPts val="2600"/>
              <a:buChar char="●"/>
            </a:pPr>
            <a:r>
              <a:rPr lang="en-GB"/>
              <a:t>Kế thừa</a:t>
            </a:r>
            <a:endParaRPr/>
          </a:p>
          <a:p>
            <a:pPr indent="-393700" lvl="0" marL="457200" rtl="0" algn="l">
              <a:spcBef>
                <a:spcPts val="0"/>
              </a:spcBef>
              <a:spcAft>
                <a:spcPts val="0"/>
              </a:spcAft>
              <a:buSzPts val="2600"/>
              <a:buChar char="●"/>
            </a:pPr>
            <a:r>
              <a:rPr lang="en-GB"/>
              <a:t>Đa hình và phân giải động</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1"/>
          <p:cNvSpPr txBox="1"/>
          <p:nvPr>
            <p:ph idx="4294967295" type="title"/>
          </p:nvPr>
        </p:nvSpPr>
        <p:spPr>
          <a:xfrm>
            <a:off x="311700" y="440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Kế thừa</a:t>
            </a:r>
            <a:endParaRPr/>
          </a:p>
        </p:txBody>
      </p:sp>
      <p:sp>
        <p:nvSpPr>
          <p:cNvPr id="388" name="Google Shape;388;p4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389" name="Google Shape;389;p41"/>
          <p:cNvPicPr preferRelativeResize="0"/>
          <p:nvPr/>
        </p:nvPicPr>
        <p:blipFill>
          <a:blip r:embed="rId3">
            <a:alphaModFix/>
          </a:blip>
          <a:stretch>
            <a:fillRect/>
          </a:stretch>
        </p:blipFill>
        <p:spPr>
          <a:xfrm>
            <a:off x="1815675" y="1076225"/>
            <a:ext cx="5445775" cy="4767550"/>
          </a:xfrm>
          <a:prstGeom prst="rect">
            <a:avLst/>
          </a:prstGeom>
          <a:noFill/>
          <a:ln>
            <a:noFill/>
          </a:ln>
        </p:spPr>
      </p:pic>
      <p:sp>
        <p:nvSpPr>
          <p:cNvPr id="390" name="Google Shape;390;p41"/>
          <p:cNvSpPr txBox="1"/>
          <p:nvPr/>
        </p:nvSpPr>
        <p:spPr>
          <a:xfrm>
            <a:off x="873650" y="1968950"/>
            <a:ext cx="15954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Lớp trừu tượng</a:t>
            </a:r>
            <a:endParaRPr sz="1800">
              <a:latin typeface="Times New Roman"/>
              <a:ea typeface="Times New Roman"/>
              <a:cs typeface="Times New Roman"/>
              <a:sym typeface="Times New Roman"/>
            </a:endParaRPr>
          </a:p>
        </p:txBody>
      </p:sp>
      <p:sp>
        <p:nvSpPr>
          <p:cNvPr id="391" name="Google Shape;391;p41"/>
          <p:cNvSpPr txBox="1"/>
          <p:nvPr/>
        </p:nvSpPr>
        <p:spPr>
          <a:xfrm>
            <a:off x="6930025" y="5159525"/>
            <a:ext cx="15954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Lớp </a:t>
            </a:r>
            <a:r>
              <a:rPr lang="en-GB" sz="1800">
                <a:latin typeface="Times New Roman"/>
                <a:ea typeface="Times New Roman"/>
                <a:cs typeface="Times New Roman"/>
                <a:sym typeface="Times New Roman"/>
              </a:rPr>
              <a:t>cụ thể</a:t>
            </a:r>
            <a:endParaRPr sz="1800">
              <a:latin typeface="Times New Roman"/>
              <a:ea typeface="Times New Roman"/>
              <a:cs typeface="Times New Roman"/>
              <a:sym typeface="Times New Roman"/>
            </a:endParaRPr>
          </a:p>
        </p:txBody>
      </p:sp>
      <p:cxnSp>
        <p:nvCxnSpPr>
          <p:cNvPr id="392" name="Google Shape;392;p41"/>
          <p:cNvCxnSpPr>
            <a:stCxn id="390" idx="3"/>
          </p:cNvCxnSpPr>
          <p:nvPr/>
        </p:nvCxnSpPr>
        <p:spPr>
          <a:xfrm flipH="1" rot="10800000">
            <a:off x="2469050" y="1609100"/>
            <a:ext cx="2111100" cy="622200"/>
          </a:xfrm>
          <a:prstGeom prst="straightConnector1">
            <a:avLst/>
          </a:prstGeom>
          <a:noFill/>
          <a:ln cap="flat" cmpd="sng" w="9525">
            <a:solidFill>
              <a:schemeClr val="dk2"/>
            </a:solidFill>
            <a:prstDash val="solid"/>
            <a:round/>
            <a:headEnd len="med" w="med" type="none"/>
            <a:tailEnd len="med" w="med" type="triangle"/>
          </a:ln>
        </p:spPr>
      </p:cxnSp>
      <p:cxnSp>
        <p:nvCxnSpPr>
          <p:cNvPr id="393" name="Google Shape;393;p41"/>
          <p:cNvCxnSpPr/>
          <p:nvPr/>
        </p:nvCxnSpPr>
        <p:spPr>
          <a:xfrm>
            <a:off x="2320325" y="2391225"/>
            <a:ext cx="969600" cy="1024500"/>
          </a:xfrm>
          <a:prstGeom prst="straightConnector1">
            <a:avLst/>
          </a:prstGeom>
          <a:noFill/>
          <a:ln cap="flat" cmpd="sng" w="9525">
            <a:solidFill>
              <a:schemeClr val="dk2"/>
            </a:solidFill>
            <a:prstDash val="solid"/>
            <a:round/>
            <a:headEnd len="med" w="med" type="none"/>
            <a:tailEnd len="med" w="med" type="triangle"/>
          </a:ln>
        </p:spPr>
      </p:cxnSp>
      <p:cxnSp>
        <p:nvCxnSpPr>
          <p:cNvPr id="394" name="Google Shape;394;p41"/>
          <p:cNvCxnSpPr/>
          <p:nvPr/>
        </p:nvCxnSpPr>
        <p:spPr>
          <a:xfrm rot="10800000">
            <a:off x="6589925" y="4291550"/>
            <a:ext cx="696000" cy="985200"/>
          </a:xfrm>
          <a:prstGeom prst="straightConnector1">
            <a:avLst/>
          </a:prstGeom>
          <a:noFill/>
          <a:ln cap="flat" cmpd="sng" w="9525">
            <a:solidFill>
              <a:schemeClr val="dk2"/>
            </a:solidFill>
            <a:prstDash val="solid"/>
            <a:round/>
            <a:headEnd len="med" w="med" type="none"/>
            <a:tailEnd len="med" w="med" type="triangle"/>
          </a:ln>
        </p:spPr>
      </p:cxnSp>
      <p:cxnSp>
        <p:nvCxnSpPr>
          <p:cNvPr id="395" name="Google Shape;395;p41"/>
          <p:cNvCxnSpPr/>
          <p:nvPr/>
        </p:nvCxnSpPr>
        <p:spPr>
          <a:xfrm rot="10800000">
            <a:off x="5456125" y="5362775"/>
            <a:ext cx="1473900" cy="59100"/>
          </a:xfrm>
          <a:prstGeom prst="straightConnector1">
            <a:avLst/>
          </a:prstGeom>
          <a:noFill/>
          <a:ln cap="flat" cmpd="sng" w="9525">
            <a:solidFill>
              <a:schemeClr val="dk2"/>
            </a:solidFill>
            <a:prstDash val="solid"/>
            <a:round/>
            <a:headEnd len="med" w="med" type="none"/>
            <a:tailEnd len="med" w="med" type="triangle"/>
          </a:ln>
        </p:spPr>
      </p:cxnSp>
      <p:sp>
        <p:nvSpPr>
          <p:cNvPr id="396" name="Google Shape;396;p41"/>
          <p:cNvSpPr txBox="1"/>
          <p:nvPr/>
        </p:nvSpPr>
        <p:spPr>
          <a:xfrm>
            <a:off x="689700" y="5991600"/>
            <a:ext cx="64587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600">
                <a:solidFill>
                  <a:schemeClr val="dk2"/>
                </a:solidFill>
                <a:latin typeface="Times New Roman"/>
                <a:ea typeface="Times New Roman"/>
                <a:cs typeface="Times New Roman"/>
                <a:sym typeface="Times New Roman"/>
              </a:rPr>
              <a:t>Lớp dưới có các phần tử của lớp trên</a:t>
            </a:r>
            <a:endParaRPr i="1" sz="2600">
              <a:solidFill>
                <a:schemeClr val="dk2"/>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02" name="Google Shape;402;p42"/>
          <p:cNvSpPr txBox="1"/>
          <p:nvPr>
            <p:ph idx="4294967295" type="title"/>
          </p:nvPr>
        </p:nvSpPr>
        <p:spPr>
          <a:xfrm>
            <a:off x="311700" y="440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Đa hình</a:t>
            </a:r>
            <a:endParaRPr/>
          </a:p>
        </p:txBody>
      </p:sp>
      <p:pic>
        <p:nvPicPr>
          <p:cNvPr id="403" name="Google Shape;403;p42"/>
          <p:cNvPicPr preferRelativeResize="0"/>
          <p:nvPr/>
        </p:nvPicPr>
        <p:blipFill>
          <a:blip r:embed="rId3">
            <a:alphaModFix/>
          </a:blip>
          <a:stretch>
            <a:fillRect/>
          </a:stretch>
        </p:blipFill>
        <p:spPr>
          <a:xfrm>
            <a:off x="897025" y="1418047"/>
            <a:ext cx="7349649" cy="3571800"/>
          </a:xfrm>
          <a:prstGeom prst="rect">
            <a:avLst/>
          </a:prstGeom>
          <a:noFill/>
          <a:ln>
            <a:noFill/>
          </a:ln>
        </p:spPr>
      </p:pic>
      <p:sp>
        <p:nvSpPr>
          <p:cNvPr id="404" name="Google Shape;404;p42"/>
          <p:cNvSpPr txBox="1"/>
          <p:nvPr/>
        </p:nvSpPr>
        <p:spPr>
          <a:xfrm>
            <a:off x="689700" y="5991600"/>
            <a:ext cx="79860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600">
                <a:solidFill>
                  <a:schemeClr val="dk2"/>
                </a:solidFill>
                <a:latin typeface="Times New Roman"/>
                <a:ea typeface="Times New Roman"/>
                <a:cs typeface="Times New Roman"/>
                <a:sym typeface="Times New Roman"/>
              </a:rPr>
              <a:t>Một thông điệp có thể được xử lý theo nhiều cách</a:t>
            </a:r>
            <a:endParaRPr i="1" sz="2600">
              <a:solidFill>
                <a:schemeClr val="dk2"/>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3"/>
          <p:cNvSpPr txBox="1"/>
          <p:nvPr>
            <p:ph type="title"/>
          </p:nvPr>
        </p:nvSpPr>
        <p:spPr>
          <a:xfrm>
            <a:off x="311700" y="288567"/>
            <a:ext cx="8520600" cy="120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a:t>
            </a:r>
            <a:r>
              <a:rPr lang="en-GB"/>
              <a:t>ân tích &amp; Thiết kế Hệ thống </a:t>
            </a:r>
            <a:endParaRPr/>
          </a:p>
          <a:p>
            <a:pPr indent="0" lvl="0" marL="0" rtl="0" algn="l">
              <a:spcBef>
                <a:spcPts val="0"/>
              </a:spcBef>
              <a:spcAft>
                <a:spcPts val="0"/>
              </a:spcAft>
              <a:buNone/>
            </a:pPr>
            <a:r>
              <a:rPr lang="en-GB"/>
              <a:t>   theo phương pháp Hướng Đối Tượng</a:t>
            </a:r>
            <a:endParaRPr/>
          </a:p>
        </p:txBody>
      </p:sp>
      <p:sp>
        <p:nvSpPr>
          <p:cNvPr id="410" name="Google Shape;410;p43"/>
          <p:cNvSpPr txBox="1"/>
          <p:nvPr>
            <p:ph idx="1" type="body"/>
          </p:nvPr>
        </p:nvSpPr>
        <p:spPr>
          <a:xfrm>
            <a:off x="311700" y="1565250"/>
            <a:ext cx="8520600" cy="51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Object-Oriented Systems Analysis and Design (OOSAD)</a:t>
            </a:r>
            <a:endParaRPr/>
          </a:p>
          <a:p>
            <a:pPr indent="-393700" lvl="0" marL="457200" rtl="0" algn="l">
              <a:spcBef>
                <a:spcPts val="0"/>
              </a:spcBef>
              <a:spcAft>
                <a:spcPts val="0"/>
              </a:spcAft>
              <a:buSzPts val="2600"/>
              <a:buChar char="●"/>
            </a:pPr>
            <a:r>
              <a:rPr lang="en-GB"/>
              <a:t>Thường sử dụng :</a:t>
            </a:r>
            <a:endParaRPr/>
          </a:p>
          <a:p>
            <a:pPr indent="-368300" lvl="1" marL="914400" rtl="0" algn="l">
              <a:spcBef>
                <a:spcPts val="0"/>
              </a:spcBef>
              <a:spcAft>
                <a:spcPts val="0"/>
              </a:spcAft>
              <a:buSzPts val="2200"/>
              <a:buChar char="○"/>
            </a:pPr>
            <a:r>
              <a:rPr lang="en-GB"/>
              <a:t>Ngôn ngữ mô hình hóa hướng đối tượng</a:t>
            </a:r>
            <a:endParaRPr/>
          </a:p>
          <a:p>
            <a:pPr indent="-342900" lvl="2" marL="1371600" rtl="0" algn="l">
              <a:spcBef>
                <a:spcPts val="0"/>
              </a:spcBef>
              <a:spcAft>
                <a:spcPts val="0"/>
              </a:spcAft>
              <a:buSzPts val="1800"/>
              <a:buChar char="■"/>
            </a:pPr>
            <a:r>
              <a:rPr lang="en-GB"/>
              <a:t>UML - Unified Modeling Language</a:t>
            </a:r>
            <a:endParaRPr/>
          </a:p>
          <a:p>
            <a:pPr indent="-342900" lvl="2" marL="1371600" rtl="0" algn="l">
              <a:spcBef>
                <a:spcPts val="0"/>
              </a:spcBef>
              <a:spcAft>
                <a:spcPts val="0"/>
              </a:spcAft>
              <a:buSzPts val="1800"/>
              <a:buChar char="■"/>
            </a:pPr>
            <a:r>
              <a:rPr lang="en-GB"/>
              <a:t>Thiết kế tương tác: IFML</a:t>
            </a:r>
            <a:endParaRPr/>
          </a:p>
          <a:p>
            <a:pPr indent="-342900" lvl="2" marL="1371600" rtl="0" algn="l">
              <a:spcBef>
                <a:spcPts val="0"/>
              </a:spcBef>
              <a:spcAft>
                <a:spcPts val="0"/>
              </a:spcAft>
              <a:buSzPts val="1800"/>
              <a:buChar char="■"/>
            </a:pPr>
            <a:r>
              <a:rPr lang="en-GB"/>
              <a:t>Mô tả ràng buộc: OCL</a:t>
            </a:r>
            <a:endParaRPr/>
          </a:p>
          <a:p>
            <a:pPr indent="-342900" lvl="2" marL="1371600" rtl="0" algn="l">
              <a:spcBef>
                <a:spcPts val="0"/>
              </a:spcBef>
              <a:spcAft>
                <a:spcPts val="0"/>
              </a:spcAft>
              <a:buSzPts val="1800"/>
              <a:buChar char="■"/>
            </a:pPr>
            <a:r>
              <a:rPr lang="en-GB"/>
              <a:t>v.v..</a:t>
            </a:r>
            <a:endParaRPr/>
          </a:p>
          <a:p>
            <a:pPr indent="-368300" lvl="1" marL="914400" rtl="0" algn="l">
              <a:spcBef>
                <a:spcPts val="0"/>
              </a:spcBef>
              <a:spcAft>
                <a:spcPts val="0"/>
              </a:spcAft>
              <a:buSzPts val="2200"/>
              <a:buChar char="○"/>
            </a:pPr>
            <a:r>
              <a:rPr lang="en-GB"/>
              <a:t>và tiến trình hợp nhất (Unified Process)</a:t>
            </a:r>
            <a:endParaRPr/>
          </a:p>
          <a:p>
            <a:pPr indent="-393700" lvl="0" marL="457200" rtl="0" algn="l">
              <a:spcBef>
                <a:spcPts val="0"/>
              </a:spcBef>
              <a:spcAft>
                <a:spcPts val="0"/>
              </a:spcAft>
              <a:buSzPts val="2600"/>
              <a:buChar char="●"/>
            </a:pPr>
            <a:r>
              <a:rPr lang="en-GB"/>
              <a:t>Các đặc điểm cơ bản của OOSAD</a:t>
            </a:r>
            <a:endParaRPr/>
          </a:p>
          <a:p>
            <a:pPr indent="-368300" lvl="1" marL="914400" rtl="0" algn="l">
              <a:spcBef>
                <a:spcPts val="0"/>
              </a:spcBef>
              <a:spcAft>
                <a:spcPts val="0"/>
              </a:spcAft>
              <a:buSzPts val="2200"/>
              <a:buChar char="○"/>
            </a:pPr>
            <a:r>
              <a:rPr lang="en-GB"/>
              <a:t>Dẫn dắt bởi ca sử dụng</a:t>
            </a:r>
            <a:endParaRPr/>
          </a:p>
          <a:p>
            <a:pPr indent="-368300" lvl="1" marL="914400" rtl="0" algn="l">
              <a:spcBef>
                <a:spcPts val="0"/>
              </a:spcBef>
              <a:spcAft>
                <a:spcPts val="0"/>
              </a:spcAft>
              <a:buSzPts val="2200"/>
              <a:buChar char="○"/>
            </a:pPr>
            <a:r>
              <a:rPr lang="en-GB"/>
              <a:t>Kiến trúc khung</a:t>
            </a:r>
            <a:endParaRPr/>
          </a:p>
          <a:p>
            <a:pPr indent="-368300" lvl="1" marL="914400" rtl="0" algn="l">
              <a:spcBef>
                <a:spcPts val="0"/>
              </a:spcBef>
              <a:spcAft>
                <a:spcPts val="0"/>
              </a:spcAft>
              <a:buSzPts val="2200"/>
              <a:buChar char="○"/>
            </a:pPr>
            <a:r>
              <a:rPr lang="en-GB"/>
              <a:t>Lặp và tăng dần</a:t>
            </a:r>
            <a:endParaRPr/>
          </a:p>
          <a:p>
            <a:pPr indent="0" lvl="0" marL="0" rtl="0" algn="r">
              <a:spcBef>
                <a:spcPts val="0"/>
              </a:spcBef>
              <a:spcAft>
                <a:spcPts val="1600"/>
              </a:spcAft>
              <a:buNone/>
            </a:pPr>
            <a:r>
              <a:rPr lang="en-GB" sz="2200"/>
              <a:t>[Grady Booch, Ivar Jacobson, and James Rumbaugh]</a:t>
            </a:r>
            <a:endParaRPr sz="2200"/>
          </a:p>
        </p:txBody>
      </p:sp>
      <p:sp>
        <p:nvSpPr>
          <p:cNvPr id="411" name="Google Shape;411;p4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Dẫn dắt bởi ca sử dụng</a:t>
            </a:r>
            <a:endParaRPr/>
          </a:p>
        </p:txBody>
      </p:sp>
      <p:sp>
        <p:nvSpPr>
          <p:cNvPr id="417" name="Google Shape;417;p44"/>
          <p:cNvSpPr txBox="1"/>
          <p:nvPr>
            <p:ph idx="4294967295" type="body"/>
          </p:nvPr>
        </p:nvSpPr>
        <p:spPr>
          <a:xfrm>
            <a:off x="311700" y="1266825"/>
            <a:ext cx="8520600" cy="547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Use-Case Driven</a:t>
            </a:r>
            <a:endParaRPr i="1"/>
          </a:p>
          <a:p>
            <a:pPr indent="-393700" lvl="0" marL="457200" rtl="0" algn="l">
              <a:spcBef>
                <a:spcPts val="1600"/>
              </a:spcBef>
              <a:spcAft>
                <a:spcPts val="0"/>
              </a:spcAft>
              <a:buSzPts val="2600"/>
              <a:buChar char="●"/>
            </a:pPr>
            <a:r>
              <a:rPr lang="en-GB"/>
              <a:t>Ca sử dụng là phương tiện chính để mô hình hóa hành vi của hệ thống</a:t>
            </a:r>
            <a:endParaRPr/>
          </a:p>
          <a:p>
            <a:pPr indent="-368300" lvl="1" marL="914400" rtl="0" algn="l">
              <a:spcBef>
                <a:spcPts val="0"/>
              </a:spcBef>
              <a:spcAft>
                <a:spcPts val="0"/>
              </a:spcAft>
              <a:buSzPts val="2200"/>
              <a:buChar char="○"/>
            </a:pPr>
            <a:r>
              <a:rPr lang="en-GB"/>
              <a:t>Đóng gói các tương tác giữa người dùng và hệ thống.</a:t>
            </a:r>
            <a:endParaRPr/>
          </a:p>
          <a:p>
            <a:pPr indent="-368300" lvl="1" marL="914400" rtl="0" algn="l">
              <a:spcBef>
                <a:spcPts val="0"/>
              </a:spcBef>
              <a:spcAft>
                <a:spcPts val="0"/>
              </a:spcAft>
              <a:buSzPts val="2200"/>
              <a:buChar char="○"/>
            </a:pPr>
            <a:r>
              <a:rPr i="1" lang="en-GB"/>
              <a:t>Mỗi ca sử dụng thường tập trung vào 1 quy trình nghiệp vụ cơ bản.</a:t>
            </a:r>
            <a:endParaRPr i="1"/>
          </a:p>
          <a:p>
            <a:pPr indent="-393700" lvl="0" marL="457200" rtl="0" algn="just">
              <a:spcBef>
                <a:spcPts val="0"/>
              </a:spcBef>
              <a:spcAft>
                <a:spcPts val="0"/>
              </a:spcAft>
              <a:buSzPts val="2600"/>
              <a:buChar char="●"/>
            </a:pPr>
            <a:r>
              <a:rPr lang="en-GB"/>
              <a:t>Có thể tập trung vào 1 hoạt động ở 1 thời điểm.</a:t>
            </a:r>
            <a:endParaRPr/>
          </a:p>
        </p:txBody>
      </p:sp>
      <p:sp>
        <p:nvSpPr>
          <p:cNvPr id="418" name="Google Shape;418;p4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Kiến trúc khung</a:t>
            </a:r>
            <a:endParaRPr/>
          </a:p>
        </p:txBody>
      </p:sp>
      <p:sp>
        <p:nvSpPr>
          <p:cNvPr id="424" name="Google Shape;424;p45"/>
          <p:cNvSpPr txBox="1"/>
          <p:nvPr>
            <p:ph idx="4294967295" type="body"/>
          </p:nvPr>
        </p:nvSpPr>
        <p:spPr>
          <a:xfrm>
            <a:off x="311700" y="1266825"/>
            <a:ext cx="8520600" cy="547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Architecture Centric</a:t>
            </a:r>
            <a:endParaRPr i="1"/>
          </a:p>
          <a:p>
            <a:pPr indent="-393700" lvl="0" marL="457200" rtl="0" algn="just">
              <a:spcBef>
                <a:spcPts val="1600"/>
              </a:spcBef>
              <a:spcAft>
                <a:spcPts val="0"/>
              </a:spcAft>
              <a:buSzPts val="2600"/>
              <a:buChar char="●"/>
            </a:pPr>
            <a:r>
              <a:rPr lang="en-GB"/>
              <a:t>Khung kiến trúc</a:t>
            </a:r>
            <a:r>
              <a:rPr lang="en-GB"/>
              <a:t> được áp dụng cho đặc tả, xây dựng và tài liệu của hệ thống.</a:t>
            </a:r>
            <a:endParaRPr/>
          </a:p>
          <a:p>
            <a:pPr indent="-393700" lvl="0" marL="457200" rtl="0" algn="just">
              <a:spcBef>
                <a:spcPts val="0"/>
              </a:spcBef>
              <a:spcAft>
                <a:spcPts val="0"/>
              </a:spcAft>
              <a:buSzPts val="2600"/>
              <a:buChar char="●"/>
            </a:pPr>
            <a:r>
              <a:rPr lang="en-GB"/>
              <a:t>Cách tiếp cận hướng đối tượng </a:t>
            </a:r>
            <a:r>
              <a:rPr lang="en-GB"/>
              <a:t>nên</a:t>
            </a:r>
            <a:r>
              <a:rPr lang="en-GB"/>
              <a:t> hỗ trợ tối thiểu 3 khung nhìn kiến trúc riêng biệt nhưng có quan hệ mật thiết:</a:t>
            </a:r>
            <a:endParaRPr/>
          </a:p>
          <a:p>
            <a:pPr indent="-368300" lvl="1" marL="914400" rtl="0" algn="just">
              <a:spcBef>
                <a:spcPts val="0"/>
              </a:spcBef>
              <a:spcAft>
                <a:spcPts val="0"/>
              </a:spcAft>
              <a:buSzPts val="2200"/>
              <a:buChar char="○"/>
            </a:pPr>
            <a:r>
              <a:rPr lang="en-GB"/>
              <a:t>Khung nhìn chức năng (từ bên ngoài): Tập trung vào góc nhìn người dùng</a:t>
            </a:r>
            <a:endParaRPr/>
          </a:p>
          <a:p>
            <a:pPr indent="-368300" lvl="1" marL="914400" rtl="0" algn="just">
              <a:spcBef>
                <a:spcPts val="0"/>
              </a:spcBef>
              <a:spcAft>
                <a:spcPts val="0"/>
              </a:spcAft>
              <a:buSzPts val="2200"/>
              <a:buChar char="○"/>
            </a:pPr>
            <a:r>
              <a:rPr lang="en-GB"/>
              <a:t>Khung nhìn cấu trúc (tĩnh): Tập trung vào các thuộc tính, phương thức, lớp và các mối quan hệ</a:t>
            </a:r>
            <a:endParaRPr/>
          </a:p>
          <a:p>
            <a:pPr indent="-368300" lvl="1" marL="914400" rtl="0" algn="just">
              <a:spcBef>
                <a:spcPts val="0"/>
              </a:spcBef>
              <a:spcAft>
                <a:spcPts val="0"/>
              </a:spcAft>
              <a:buSzPts val="2200"/>
              <a:buChar char="○"/>
            </a:pPr>
            <a:r>
              <a:rPr lang="en-GB"/>
              <a:t>Khung nhìn hành vi (động): Tập trung vào các thông điệp giữa các lớp và các hành vi phát sinh</a:t>
            </a:r>
            <a:endParaRPr/>
          </a:p>
        </p:txBody>
      </p:sp>
      <p:sp>
        <p:nvSpPr>
          <p:cNvPr id="425" name="Google Shape;425;p4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4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Lặp và tăng dần</a:t>
            </a:r>
            <a:endParaRPr/>
          </a:p>
        </p:txBody>
      </p:sp>
      <p:sp>
        <p:nvSpPr>
          <p:cNvPr id="431" name="Google Shape;431;p4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32" name="Google Shape;432;p46"/>
          <p:cNvSpPr txBox="1"/>
          <p:nvPr>
            <p:ph idx="4294967295" type="body"/>
          </p:nvPr>
        </p:nvSpPr>
        <p:spPr>
          <a:xfrm>
            <a:off x="311700" y="1319400"/>
            <a:ext cx="7837200" cy="15315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i="1" lang="en-GB"/>
              <a:t>Iterative and Incremental</a:t>
            </a:r>
            <a:endParaRPr i="1"/>
          </a:p>
          <a:p>
            <a:pPr indent="-393700" lvl="0" marL="457200" rtl="0" algn="just">
              <a:spcBef>
                <a:spcPts val="1600"/>
              </a:spcBef>
              <a:spcAft>
                <a:spcPts val="0"/>
              </a:spcAft>
              <a:buSzPts val="2600"/>
              <a:buChar char="●"/>
            </a:pPr>
            <a:r>
              <a:rPr lang="en-GB"/>
              <a:t>Trải qua kiểm thử và </a:t>
            </a:r>
            <a:r>
              <a:rPr lang="en-GB"/>
              <a:t>tinh</a:t>
            </a:r>
            <a:r>
              <a:rPr lang="en-GB"/>
              <a:t> chỉnh liên tục</a:t>
            </a:r>
            <a:endParaRPr/>
          </a:p>
          <a:p>
            <a:pPr indent="-393700" lvl="0" marL="457200" rtl="0" algn="just">
              <a:spcBef>
                <a:spcPts val="0"/>
              </a:spcBef>
              <a:spcAft>
                <a:spcPts val="0"/>
              </a:spcAft>
              <a:buSzPts val="2600"/>
              <a:buChar char="●"/>
            </a:pPr>
            <a:r>
              <a:rPr lang="en-GB"/>
              <a:t>Sau mỗi bước n</a:t>
            </a:r>
            <a:r>
              <a:rPr lang="en-GB"/>
              <a:t>gười phân tích càng hiểu rõ hơn về hệ thống</a:t>
            </a:r>
            <a:endParaRPr/>
          </a:p>
        </p:txBody>
      </p:sp>
      <p:sp>
        <p:nvSpPr>
          <p:cNvPr id="433" name="Google Shape;433;p46"/>
          <p:cNvSpPr/>
          <p:nvPr/>
        </p:nvSpPr>
        <p:spPr>
          <a:xfrm>
            <a:off x="2090150" y="3026977"/>
            <a:ext cx="5147700" cy="3303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46"/>
          <p:cNvSpPr/>
          <p:nvPr/>
        </p:nvSpPr>
        <p:spPr>
          <a:xfrm>
            <a:off x="4089250" y="3177775"/>
            <a:ext cx="1491600" cy="8085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GB"/>
              <a:t>Khung nhìn chức năng</a:t>
            </a:r>
            <a:endParaRPr/>
          </a:p>
        </p:txBody>
      </p:sp>
      <p:sp>
        <p:nvSpPr>
          <p:cNvPr id="435" name="Google Shape;435;p46"/>
          <p:cNvSpPr/>
          <p:nvPr/>
        </p:nvSpPr>
        <p:spPr>
          <a:xfrm>
            <a:off x="2761400" y="5076175"/>
            <a:ext cx="1491600" cy="8085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GB"/>
              <a:t>Khung nhìn </a:t>
            </a:r>
            <a:endParaRPr/>
          </a:p>
          <a:p>
            <a:pPr indent="0" lvl="0" marL="0" rtl="0" algn="ctr">
              <a:spcBef>
                <a:spcPts val="0"/>
              </a:spcBef>
              <a:spcAft>
                <a:spcPts val="0"/>
              </a:spcAft>
              <a:buNone/>
            </a:pPr>
            <a:r>
              <a:rPr lang="en-GB"/>
              <a:t>cấu trúc</a:t>
            </a:r>
            <a:endParaRPr/>
          </a:p>
        </p:txBody>
      </p:sp>
      <p:sp>
        <p:nvSpPr>
          <p:cNvPr id="436" name="Google Shape;436;p46"/>
          <p:cNvSpPr/>
          <p:nvPr/>
        </p:nvSpPr>
        <p:spPr>
          <a:xfrm>
            <a:off x="5412975" y="5076175"/>
            <a:ext cx="1491600" cy="8085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GB"/>
              <a:t>Khung nhìn hành vi</a:t>
            </a:r>
            <a:endParaRPr/>
          </a:p>
        </p:txBody>
      </p:sp>
      <p:cxnSp>
        <p:nvCxnSpPr>
          <p:cNvPr id="437" name="Google Shape;437;p46"/>
          <p:cNvCxnSpPr>
            <a:stCxn id="434" idx="1"/>
            <a:endCxn id="435" idx="0"/>
          </p:cNvCxnSpPr>
          <p:nvPr/>
        </p:nvCxnSpPr>
        <p:spPr>
          <a:xfrm flipH="1">
            <a:off x="3507250" y="3582025"/>
            <a:ext cx="582000" cy="1494300"/>
          </a:xfrm>
          <a:prstGeom prst="curvedConnector2">
            <a:avLst/>
          </a:prstGeom>
          <a:noFill/>
          <a:ln cap="flat" cmpd="sng" w="9525">
            <a:solidFill>
              <a:schemeClr val="dk2"/>
            </a:solidFill>
            <a:prstDash val="solid"/>
            <a:round/>
            <a:headEnd len="med" w="med" type="triangle"/>
            <a:tailEnd len="med" w="med" type="triangle"/>
          </a:ln>
        </p:spPr>
      </p:cxnSp>
      <p:cxnSp>
        <p:nvCxnSpPr>
          <p:cNvPr id="438" name="Google Shape;438;p46"/>
          <p:cNvCxnSpPr>
            <a:stCxn id="434" idx="3"/>
            <a:endCxn id="436" idx="0"/>
          </p:cNvCxnSpPr>
          <p:nvPr/>
        </p:nvCxnSpPr>
        <p:spPr>
          <a:xfrm>
            <a:off x="5580850" y="3582025"/>
            <a:ext cx="577800" cy="1494300"/>
          </a:xfrm>
          <a:prstGeom prst="curvedConnector2">
            <a:avLst/>
          </a:prstGeom>
          <a:noFill/>
          <a:ln cap="flat" cmpd="sng" w="9525">
            <a:solidFill>
              <a:schemeClr val="dk2"/>
            </a:solidFill>
            <a:prstDash val="solid"/>
            <a:round/>
            <a:headEnd len="med" w="med" type="triangle"/>
            <a:tailEnd len="med" w="med" type="triangle"/>
          </a:ln>
        </p:spPr>
      </p:cxnSp>
      <p:cxnSp>
        <p:nvCxnSpPr>
          <p:cNvPr id="439" name="Google Shape;439;p46"/>
          <p:cNvCxnSpPr>
            <a:stCxn id="435" idx="3"/>
            <a:endCxn id="436" idx="1"/>
          </p:cNvCxnSpPr>
          <p:nvPr/>
        </p:nvCxnSpPr>
        <p:spPr>
          <a:xfrm>
            <a:off x="4253000" y="5480425"/>
            <a:ext cx="1160100" cy="0"/>
          </a:xfrm>
          <a:prstGeom prst="straightConnector1">
            <a:avLst/>
          </a:prstGeom>
          <a:noFill/>
          <a:ln cap="flat" cmpd="sng" w="9525">
            <a:solidFill>
              <a:schemeClr val="dk2"/>
            </a:solidFill>
            <a:prstDash val="solid"/>
            <a:round/>
            <a:headEnd len="med" w="med" type="triangle"/>
            <a:tailEnd len="med" w="med" type="triangl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Mô hình kiến trúc 4 + 1 khung nhìn</a:t>
            </a:r>
            <a:endParaRPr/>
          </a:p>
        </p:txBody>
      </p:sp>
      <p:sp>
        <p:nvSpPr>
          <p:cNvPr id="445" name="Google Shape;445;p4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46" name="Google Shape;446;p47"/>
          <p:cNvSpPr/>
          <p:nvPr/>
        </p:nvSpPr>
        <p:spPr>
          <a:xfrm>
            <a:off x="755275" y="1356875"/>
            <a:ext cx="7057500" cy="486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47"/>
          <p:cNvSpPr/>
          <p:nvPr/>
        </p:nvSpPr>
        <p:spPr>
          <a:xfrm>
            <a:off x="1762325" y="2153225"/>
            <a:ext cx="2148900" cy="12033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GB" sz="2200"/>
              <a:t>Khung nhìn </a:t>
            </a:r>
            <a:r>
              <a:rPr lang="en-GB" sz="2200"/>
              <a:t>lô-gic</a:t>
            </a:r>
            <a:endParaRPr sz="2200"/>
          </a:p>
        </p:txBody>
      </p:sp>
      <p:sp>
        <p:nvSpPr>
          <p:cNvPr id="448" name="Google Shape;448;p47"/>
          <p:cNvSpPr/>
          <p:nvPr/>
        </p:nvSpPr>
        <p:spPr>
          <a:xfrm>
            <a:off x="1762325" y="3859863"/>
            <a:ext cx="2148900" cy="12033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GB" sz="2200"/>
              <a:t>Khung nhìn </a:t>
            </a:r>
            <a:endParaRPr sz="2200"/>
          </a:p>
          <a:p>
            <a:pPr indent="0" lvl="0" marL="0" rtl="0" algn="ctr">
              <a:spcBef>
                <a:spcPts val="0"/>
              </a:spcBef>
              <a:spcAft>
                <a:spcPts val="0"/>
              </a:spcAft>
              <a:buNone/>
            </a:pPr>
            <a:r>
              <a:rPr lang="en-GB" sz="2200"/>
              <a:t>tiến trình</a:t>
            </a:r>
            <a:endParaRPr sz="2200"/>
          </a:p>
        </p:txBody>
      </p:sp>
      <p:sp>
        <p:nvSpPr>
          <p:cNvPr id="449" name="Google Shape;449;p47"/>
          <p:cNvSpPr/>
          <p:nvPr/>
        </p:nvSpPr>
        <p:spPr>
          <a:xfrm>
            <a:off x="4872373" y="2153225"/>
            <a:ext cx="2148900" cy="12033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GB" sz="2200"/>
              <a:t>Khung nhìn </a:t>
            </a:r>
            <a:r>
              <a:rPr lang="en-GB" sz="2200"/>
              <a:t>phát triển</a:t>
            </a:r>
            <a:endParaRPr sz="2200"/>
          </a:p>
        </p:txBody>
      </p:sp>
      <p:sp>
        <p:nvSpPr>
          <p:cNvPr id="450" name="Google Shape;450;p47"/>
          <p:cNvSpPr/>
          <p:nvPr/>
        </p:nvSpPr>
        <p:spPr>
          <a:xfrm>
            <a:off x="4872370" y="3859863"/>
            <a:ext cx="2148900" cy="12033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GB" sz="2200"/>
              <a:t>Khung nhìn </a:t>
            </a:r>
            <a:endParaRPr sz="2200"/>
          </a:p>
          <a:p>
            <a:pPr indent="0" lvl="0" marL="0" rtl="0" algn="ctr">
              <a:spcBef>
                <a:spcPts val="0"/>
              </a:spcBef>
              <a:spcAft>
                <a:spcPts val="0"/>
              </a:spcAft>
              <a:buNone/>
            </a:pPr>
            <a:r>
              <a:rPr lang="en-GB" sz="2200"/>
              <a:t>vật lý</a:t>
            </a:r>
            <a:endParaRPr sz="2200"/>
          </a:p>
        </p:txBody>
      </p:sp>
      <p:sp>
        <p:nvSpPr>
          <p:cNvPr id="451" name="Google Shape;451;p47"/>
          <p:cNvSpPr/>
          <p:nvPr/>
        </p:nvSpPr>
        <p:spPr>
          <a:xfrm>
            <a:off x="3343461" y="3092595"/>
            <a:ext cx="2148900" cy="11445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Times New Roman"/>
                <a:ea typeface="Times New Roman"/>
                <a:cs typeface="Times New Roman"/>
                <a:sym typeface="Times New Roman"/>
              </a:rPr>
              <a:t>Các kịch bản</a:t>
            </a:r>
            <a:endParaRPr sz="2200">
              <a:latin typeface="Times New Roman"/>
              <a:ea typeface="Times New Roman"/>
              <a:cs typeface="Times New Roman"/>
              <a:sym typeface="Times New Roman"/>
            </a:endParaRPr>
          </a:p>
        </p:txBody>
      </p:sp>
      <p:sp>
        <p:nvSpPr>
          <p:cNvPr id="452" name="Google Shape;452;p47"/>
          <p:cNvSpPr txBox="1"/>
          <p:nvPr/>
        </p:nvSpPr>
        <p:spPr>
          <a:xfrm>
            <a:off x="1415800" y="1456850"/>
            <a:ext cx="2241300" cy="69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Times New Roman"/>
                <a:ea typeface="Times New Roman"/>
                <a:cs typeface="Times New Roman"/>
                <a:sym typeface="Times New Roman"/>
              </a:rPr>
              <a:t>Người dùng cuối</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GB" sz="1800">
                <a:solidFill>
                  <a:schemeClr val="dk1"/>
                </a:solidFill>
                <a:latin typeface="Times New Roman"/>
                <a:ea typeface="Times New Roman"/>
                <a:cs typeface="Times New Roman"/>
                <a:sym typeface="Times New Roman"/>
              </a:rPr>
              <a:t>Chức năng</a:t>
            </a:r>
            <a:endParaRPr sz="1800">
              <a:solidFill>
                <a:schemeClr val="dk1"/>
              </a:solidFill>
              <a:latin typeface="Times New Roman"/>
              <a:ea typeface="Times New Roman"/>
              <a:cs typeface="Times New Roman"/>
              <a:sym typeface="Times New Roman"/>
            </a:endParaRPr>
          </a:p>
        </p:txBody>
      </p:sp>
      <p:sp>
        <p:nvSpPr>
          <p:cNvPr id="453" name="Google Shape;453;p47"/>
          <p:cNvSpPr txBox="1"/>
          <p:nvPr/>
        </p:nvSpPr>
        <p:spPr>
          <a:xfrm>
            <a:off x="1415800" y="5114450"/>
            <a:ext cx="2241300" cy="9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Times New Roman"/>
                <a:ea typeface="Times New Roman"/>
                <a:cs typeface="Times New Roman"/>
                <a:sym typeface="Times New Roman"/>
              </a:rPr>
              <a:t>Tích hợp</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GB" sz="1800">
                <a:solidFill>
                  <a:schemeClr val="dk1"/>
                </a:solidFill>
                <a:latin typeface="Times New Roman"/>
                <a:ea typeface="Times New Roman"/>
                <a:cs typeface="Times New Roman"/>
                <a:sym typeface="Times New Roman"/>
              </a:rPr>
              <a:t>Hiệu năng</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GB" sz="1800">
                <a:solidFill>
                  <a:schemeClr val="dk1"/>
                </a:solidFill>
                <a:latin typeface="Times New Roman"/>
                <a:ea typeface="Times New Roman"/>
                <a:cs typeface="Times New Roman"/>
                <a:sym typeface="Times New Roman"/>
              </a:rPr>
              <a:t>Mở rộng</a:t>
            </a:r>
            <a:endParaRPr sz="1800">
              <a:solidFill>
                <a:schemeClr val="dk1"/>
              </a:solidFill>
              <a:latin typeface="Times New Roman"/>
              <a:ea typeface="Times New Roman"/>
              <a:cs typeface="Times New Roman"/>
              <a:sym typeface="Times New Roman"/>
            </a:endParaRPr>
          </a:p>
        </p:txBody>
      </p:sp>
      <p:sp>
        <p:nvSpPr>
          <p:cNvPr id="454" name="Google Shape;454;p47"/>
          <p:cNvSpPr txBox="1"/>
          <p:nvPr/>
        </p:nvSpPr>
        <p:spPr>
          <a:xfrm>
            <a:off x="5073400" y="1456850"/>
            <a:ext cx="2241300" cy="6963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GB" sz="1800">
                <a:solidFill>
                  <a:schemeClr val="dk1"/>
                </a:solidFill>
                <a:latin typeface="Times New Roman"/>
                <a:ea typeface="Times New Roman"/>
                <a:cs typeface="Times New Roman"/>
                <a:sym typeface="Times New Roman"/>
              </a:rPr>
              <a:t>Lập trình viên</a:t>
            </a:r>
            <a:endParaRPr sz="1800">
              <a:solidFill>
                <a:schemeClr val="dk1"/>
              </a:solidFill>
              <a:latin typeface="Times New Roman"/>
              <a:ea typeface="Times New Roman"/>
              <a:cs typeface="Times New Roman"/>
              <a:sym typeface="Times New Roman"/>
            </a:endParaRPr>
          </a:p>
          <a:p>
            <a:pPr indent="0" lvl="0" marL="0" rtl="0" algn="r">
              <a:spcBef>
                <a:spcPts val="0"/>
              </a:spcBef>
              <a:spcAft>
                <a:spcPts val="0"/>
              </a:spcAft>
              <a:buNone/>
            </a:pPr>
            <a:r>
              <a:rPr lang="en-GB" sz="1800">
                <a:solidFill>
                  <a:schemeClr val="dk1"/>
                </a:solidFill>
                <a:latin typeface="Times New Roman"/>
                <a:ea typeface="Times New Roman"/>
                <a:cs typeface="Times New Roman"/>
                <a:sym typeface="Times New Roman"/>
              </a:rPr>
              <a:t>Quản lý phần mềm</a:t>
            </a:r>
            <a:endParaRPr sz="1800">
              <a:solidFill>
                <a:schemeClr val="dk1"/>
              </a:solidFill>
              <a:latin typeface="Times New Roman"/>
              <a:ea typeface="Times New Roman"/>
              <a:cs typeface="Times New Roman"/>
              <a:sym typeface="Times New Roman"/>
            </a:endParaRPr>
          </a:p>
        </p:txBody>
      </p:sp>
      <p:sp>
        <p:nvSpPr>
          <p:cNvPr id="455" name="Google Shape;455;p47"/>
          <p:cNvSpPr txBox="1"/>
          <p:nvPr/>
        </p:nvSpPr>
        <p:spPr>
          <a:xfrm>
            <a:off x="5073400" y="5114450"/>
            <a:ext cx="2241300" cy="915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GB" sz="1800">
                <a:solidFill>
                  <a:schemeClr val="dk1"/>
                </a:solidFill>
                <a:latin typeface="Times New Roman"/>
                <a:ea typeface="Times New Roman"/>
                <a:cs typeface="Times New Roman"/>
                <a:sym typeface="Times New Roman"/>
              </a:rPr>
              <a:t>Kĩ sư hệ thống</a:t>
            </a:r>
            <a:endParaRPr sz="1800">
              <a:solidFill>
                <a:schemeClr val="dk1"/>
              </a:solidFill>
              <a:latin typeface="Times New Roman"/>
              <a:ea typeface="Times New Roman"/>
              <a:cs typeface="Times New Roman"/>
              <a:sym typeface="Times New Roman"/>
            </a:endParaRPr>
          </a:p>
          <a:p>
            <a:pPr indent="0" lvl="0" marL="0" rtl="0" algn="r">
              <a:spcBef>
                <a:spcPts val="0"/>
              </a:spcBef>
              <a:spcAft>
                <a:spcPts val="0"/>
              </a:spcAft>
              <a:buNone/>
            </a:pPr>
            <a:r>
              <a:rPr lang="en-GB" sz="1800">
                <a:solidFill>
                  <a:schemeClr val="dk1"/>
                </a:solidFill>
                <a:latin typeface="Times New Roman"/>
                <a:ea typeface="Times New Roman"/>
                <a:cs typeface="Times New Roman"/>
                <a:sym typeface="Times New Roman"/>
              </a:rPr>
              <a:t>Hình trạng mạng</a:t>
            </a:r>
            <a:endParaRPr sz="1800">
              <a:solidFill>
                <a:schemeClr val="dk1"/>
              </a:solidFill>
              <a:latin typeface="Times New Roman"/>
              <a:ea typeface="Times New Roman"/>
              <a:cs typeface="Times New Roman"/>
              <a:sym typeface="Times New Roman"/>
            </a:endParaRPr>
          </a:p>
          <a:p>
            <a:pPr indent="0" lvl="0" marL="0" rtl="0" algn="r">
              <a:spcBef>
                <a:spcPts val="0"/>
              </a:spcBef>
              <a:spcAft>
                <a:spcPts val="0"/>
              </a:spcAft>
              <a:buNone/>
            </a:pPr>
            <a:r>
              <a:rPr lang="en-GB" sz="1800">
                <a:solidFill>
                  <a:schemeClr val="dk1"/>
                </a:solidFill>
                <a:latin typeface="Times New Roman"/>
                <a:ea typeface="Times New Roman"/>
                <a:cs typeface="Times New Roman"/>
                <a:sym typeface="Times New Roman"/>
              </a:rPr>
              <a:t>Trao đổi dữ liệu</a:t>
            </a:r>
            <a:endParaRPr sz="1800">
              <a:solidFill>
                <a:schemeClr val="dk1"/>
              </a:solidFill>
              <a:latin typeface="Times New Roman"/>
              <a:ea typeface="Times New Roman"/>
              <a:cs typeface="Times New Roman"/>
              <a:sym typeface="Times New Roman"/>
            </a:endParaRPr>
          </a:p>
        </p:txBody>
      </p:sp>
      <p:sp>
        <p:nvSpPr>
          <p:cNvPr id="456" name="Google Shape;456;p47"/>
          <p:cNvSpPr txBox="1"/>
          <p:nvPr/>
        </p:nvSpPr>
        <p:spPr>
          <a:xfrm>
            <a:off x="5267400" y="6128675"/>
            <a:ext cx="28494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chemeClr val="dk2"/>
                </a:solidFill>
                <a:latin typeface="Times New Roman"/>
                <a:ea typeface="Times New Roman"/>
                <a:cs typeface="Times New Roman"/>
                <a:sym typeface="Times New Roman"/>
              </a:rPr>
              <a:t>[Philippe Kruchten]</a:t>
            </a:r>
            <a:endParaRPr i="1" sz="2400">
              <a:solidFill>
                <a:schemeClr val="dk2"/>
              </a:solidFill>
              <a:latin typeface="Times New Roman"/>
              <a:ea typeface="Times New Roman"/>
              <a:cs typeface="Times New Roman"/>
              <a:sym typeface="Times New Roman"/>
            </a:endParaRPr>
          </a:p>
        </p:txBody>
      </p:sp>
      <p:cxnSp>
        <p:nvCxnSpPr>
          <p:cNvPr id="457" name="Google Shape;457;p47"/>
          <p:cNvCxnSpPr>
            <a:stCxn id="447" idx="3"/>
            <a:endCxn id="449" idx="1"/>
          </p:cNvCxnSpPr>
          <p:nvPr/>
        </p:nvCxnSpPr>
        <p:spPr>
          <a:xfrm>
            <a:off x="3911225" y="2754875"/>
            <a:ext cx="961200" cy="0"/>
          </a:xfrm>
          <a:prstGeom prst="straightConnector1">
            <a:avLst/>
          </a:prstGeom>
          <a:noFill/>
          <a:ln cap="flat" cmpd="sng" w="28575">
            <a:solidFill>
              <a:schemeClr val="dk2"/>
            </a:solidFill>
            <a:prstDash val="solid"/>
            <a:round/>
            <a:headEnd len="med" w="med" type="none"/>
            <a:tailEnd len="med" w="med" type="triangle"/>
          </a:ln>
        </p:spPr>
      </p:cxnSp>
      <p:cxnSp>
        <p:nvCxnSpPr>
          <p:cNvPr id="458" name="Google Shape;458;p47"/>
          <p:cNvCxnSpPr>
            <a:stCxn id="447" idx="2"/>
            <a:endCxn id="448" idx="0"/>
          </p:cNvCxnSpPr>
          <p:nvPr/>
        </p:nvCxnSpPr>
        <p:spPr>
          <a:xfrm>
            <a:off x="2836775" y="3356525"/>
            <a:ext cx="0" cy="503400"/>
          </a:xfrm>
          <a:prstGeom prst="straightConnector1">
            <a:avLst/>
          </a:prstGeom>
          <a:noFill/>
          <a:ln cap="flat" cmpd="sng" w="28575">
            <a:solidFill>
              <a:schemeClr val="dk2"/>
            </a:solidFill>
            <a:prstDash val="solid"/>
            <a:round/>
            <a:headEnd len="med" w="med" type="none"/>
            <a:tailEnd len="med" w="med" type="triangle"/>
          </a:ln>
        </p:spPr>
      </p:cxnSp>
      <p:cxnSp>
        <p:nvCxnSpPr>
          <p:cNvPr id="459" name="Google Shape;459;p47"/>
          <p:cNvCxnSpPr>
            <a:stCxn id="448" idx="3"/>
            <a:endCxn id="450" idx="1"/>
          </p:cNvCxnSpPr>
          <p:nvPr/>
        </p:nvCxnSpPr>
        <p:spPr>
          <a:xfrm>
            <a:off x="3911225" y="4461513"/>
            <a:ext cx="961200" cy="0"/>
          </a:xfrm>
          <a:prstGeom prst="straightConnector1">
            <a:avLst/>
          </a:prstGeom>
          <a:noFill/>
          <a:ln cap="flat" cmpd="sng" w="28575">
            <a:solidFill>
              <a:schemeClr val="dk2"/>
            </a:solidFill>
            <a:prstDash val="solid"/>
            <a:round/>
            <a:headEnd len="med" w="med" type="none"/>
            <a:tailEnd len="med" w="med" type="triangle"/>
          </a:ln>
        </p:spPr>
      </p:cxnSp>
      <p:cxnSp>
        <p:nvCxnSpPr>
          <p:cNvPr id="460" name="Google Shape;460;p47"/>
          <p:cNvCxnSpPr>
            <a:stCxn id="449" idx="2"/>
            <a:endCxn id="450" idx="0"/>
          </p:cNvCxnSpPr>
          <p:nvPr/>
        </p:nvCxnSpPr>
        <p:spPr>
          <a:xfrm>
            <a:off x="5946823" y="3356525"/>
            <a:ext cx="0" cy="5034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4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khung nhìn</a:t>
            </a:r>
            <a:endParaRPr/>
          </a:p>
        </p:txBody>
      </p:sp>
      <p:sp>
        <p:nvSpPr>
          <p:cNvPr id="466" name="Google Shape;466;p4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67" name="Google Shape;467;p48"/>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Các khung nhìn đáp ứng các nhu cầu thông tin khác nhau của các đối tượng người dùng khác nhau.</a:t>
            </a:r>
            <a:endParaRPr/>
          </a:p>
          <a:p>
            <a:pPr indent="-393700" lvl="0" marL="457200" rtl="0" algn="l">
              <a:spcBef>
                <a:spcPts val="0"/>
              </a:spcBef>
              <a:spcAft>
                <a:spcPts val="0"/>
              </a:spcAft>
              <a:buSzPts val="2600"/>
              <a:buChar char="●"/>
            </a:pPr>
            <a:r>
              <a:rPr lang="en-GB"/>
              <a:t>Liên hệ với mô hình 4 + 1:</a:t>
            </a:r>
            <a:endParaRPr/>
          </a:p>
          <a:p>
            <a:pPr indent="-368300" lvl="1" marL="914400" rtl="0" algn="l">
              <a:spcBef>
                <a:spcPts val="0"/>
              </a:spcBef>
              <a:spcAft>
                <a:spcPts val="0"/>
              </a:spcAft>
              <a:buSzPts val="2200"/>
              <a:buChar char="○"/>
            </a:pPr>
            <a:r>
              <a:rPr lang="en-GB"/>
              <a:t>Các kịch bản sử dụng hệ thống được mô tả trong các ca sử dụng và được sử dụng trong các giai đoạn sau đó.</a:t>
            </a:r>
            <a:endParaRPr/>
          </a:p>
          <a:p>
            <a:pPr indent="-342900" lvl="2" marL="1371600" rtl="0" algn="l">
              <a:spcBef>
                <a:spcPts val="0"/>
              </a:spcBef>
              <a:spcAft>
                <a:spcPts val="0"/>
              </a:spcAft>
              <a:buSzPts val="1800"/>
              <a:buChar char="■"/>
            </a:pPr>
            <a:r>
              <a:rPr lang="en-GB"/>
              <a:t>Mô hình hóa chức năng.</a:t>
            </a:r>
            <a:endParaRPr/>
          </a:p>
          <a:p>
            <a:pPr indent="-368300" lvl="1" marL="914400" rtl="0" algn="l">
              <a:spcBef>
                <a:spcPts val="0"/>
              </a:spcBef>
              <a:spcAft>
                <a:spcPts val="0"/>
              </a:spcAft>
              <a:buSzPts val="2200"/>
              <a:buChar char="○"/>
            </a:pPr>
            <a:r>
              <a:rPr lang="en-GB"/>
              <a:t>Nhiều mô hình được xây dựng trong giai đoạn Phân tích được coi là các khung nhìn lô-gic.</a:t>
            </a:r>
            <a:endParaRPr/>
          </a:p>
          <a:p>
            <a:pPr indent="-368300" lvl="1" marL="914400" rtl="0" algn="l">
              <a:spcBef>
                <a:spcPts val="0"/>
              </a:spcBef>
              <a:spcAft>
                <a:spcPts val="0"/>
              </a:spcAft>
              <a:buSzPts val="2200"/>
              <a:buChar char="○"/>
            </a:pPr>
            <a:r>
              <a:rPr lang="en-GB"/>
              <a:t>Nhiều mô hình được </a:t>
            </a:r>
            <a:r>
              <a:rPr lang="en-GB"/>
              <a:t>xây dựng trong thiết kế được coi là </a:t>
            </a:r>
            <a:r>
              <a:rPr lang="en-GB"/>
              <a:t>khung nhìn tiến trình, khung nhìn phát triển, hoặc khung nhìn vật l</a:t>
            </a:r>
            <a:r>
              <a:rPr lang="en-GB"/>
              <a:t>ý.</a:t>
            </a:r>
            <a:endParaRPr/>
          </a:p>
          <a:p>
            <a:pPr indent="-342900" lvl="2" marL="1371600" rtl="0" algn="just">
              <a:spcBef>
                <a:spcPts val="0"/>
              </a:spcBef>
              <a:spcAft>
                <a:spcPts val="0"/>
              </a:spcAft>
              <a:buSzPts val="1800"/>
              <a:buChar char="■"/>
            </a:pPr>
            <a:r>
              <a:rPr i="1" lang="en-GB"/>
              <a:t>Đối với khung nhìn tiến trình - Tuy chúng ta ít sử dụng các khái niệm tiến trình (process) và luồng (thread), tuy nhiên  hệ thống được chia nhỏ thành các thành phần, các gói, các cấu phần.</a:t>
            </a:r>
            <a:endParaRPr i="1"/>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4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73" name="Google Shape;473;p49"/>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93700" lvl="0" marL="457200" rtl="0" algn="just">
              <a:spcBef>
                <a:spcPts val="0"/>
              </a:spcBef>
              <a:spcAft>
                <a:spcPts val="0"/>
              </a:spcAft>
              <a:buSzPts val="2600"/>
              <a:buChar char="●"/>
            </a:pPr>
            <a:r>
              <a:rPr lang="en-GB"/>
              <a:t>Chia 1 hệ thống phức tạp thành nhiều cấu phần =&gt; dễ quản lý hơn</a:t>
            </a:r>
            <a:endParaRPr/>
          </a:p>
          <a:p>
            <a:pPr indent="-393700" lvl="0" marL="457200" rtl="0" algn="just">
              <a:spcBef>
                <a:spcPts val="0"/>
              </a:spcBef>
              <a:spcAft>
                <a:spcPts val="0"/>
              </a:spcAft>
              <a:buSzPts val="2600"/>
              <a:buChar char="●"/>
            </a:pPr>
            <a:r>
              <a:rPr lang="en-GB"/>
              <a:t>Làm việc với từng cấu phần =&gt; tập trung hơn</a:t>
            </a:r>
            <a:endParaRPr/>
          </a:p>
          <a:p>
            <a:pPr indent="-393700" lvl="0" marL="457200" rtl="0" algn="just">
              <a:spcBef>
                <a:spcPts val="0"/>
              </a:spcBef>
              <a:spcAft>
                <a:spcPts val="0"/>
              </a:spcAft>
              <a:buSzPts val="2600"/>
              <a:buChar char="●"/>
            </a:pPr>
            <a:r>
              <a:rPr lang="en-GB"/>
              <a:t>Sử dụng các vòng lặp =&gt; kịp thời thực hiện các thay đổi</a:t>
            </a:r>
            <a:endParaRPr/>
          </a:p>
        </p:txBody>
      </p:sp>
      <p:sp>
        <p:nvSpPr>
          <p:cNvPr id="474" name="Google Shape;474;p4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lợi ích của OOSAD</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5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480" name="Google Shape;480;p50"/>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Một số khái niệm cơ bản</a:t>
            </a:r>
            <a:endParaRPr/>
          </a:p>
          <a:p>
            <a:pPr indent="-393700" lvl="0" marL="457200" rtl="0" algn="l">
              <a:spcBef>
                <a:spcPts val="0"/>
              </a:spcBef>
              <a:spcAft>
                <a:spcPts val="0"/>
              </a:spcAft>
              <a:buSzPts val="2600"/>
              <a:buChar char="●"/>
            </a:pPr>
            <a:r>
              <a:rPr lang="en-GB"/>
              <a:t>Vòng đời phát triển hệ thống (SDLC)</a:t>
            </a:r>
            <a:endParaRPr/>
          </a:p>
          <a:p>
            <a:pPr indent="-393700" lvl="0" marL="457200" rtl="0" algn="l">
              <a:spcBef>
                <a:spcPts val="0"/>
              </a:spcBef>
              <a:spcAft>
                <a:spcPts val="0"/>
              </a:spcAft>
              <a:buSzPts val="2600"/>
              <a:buChar char="●"/>
            </a:pPr>
            <a:r>
              <a:rPr lang="en-GB"/>
              <a:t>Hai cách tiếp cận phát triển hệ thống</a:t>
            </a:r>
            <a:endParaRPr/>
          </a:p>
          <a:p>
            <a:pPr indent="-393700" lvl="0" marL="457200" rtl="0" algn="l">
              <a:spcBef>
                <a:spcPts val="0"/>
              </a:spcBef>
              <a:spcAft>
                <a:spcPts val="0"/>
              </a:spcAft>
              <a:buSzPts val="2600"/>
              <a:buChar char="●"/>
            </a:pPr>
            <a:r>
              <a:rPr lang="en-GB"/>
              <a:t>Ngôn ngữ mô hình hóa hợp nhất (UML)</a:t>
            </a:r>
            <a:endParaRPr/>
          </a:p>
          <a:p>
            <a:pPr indent="-393700" lvl="0" marL="457200" rtl="0" algn="l">
              <a:spcBef>
                <a:spcPts val="0"/>
              </a:spcBef>
              <a:spcAft>
                <a:spcPts val="0"/>
              </a:spcAft>
              <a:buSzPts val="2600"/>
              <a:buChar char="●"/>
            </a:pPr>
            <a:r>
              <a:rPr lang="en-GB"/>
              <a:t>Môi trường &amp; Nhu cầu</a:t>
            </a:r>
            <a:endParaRPr/>
          </a:p>
          <a:p>
            <a:pPr indent="-393700" lvl="0" marL="457200" rtl="0" algn="l">
              <a:spcBef>
                <a:spcPts val="0"/>
              </a:spcBef>
              <a:spcAft>
                <a:spcPts val="0"/>
              </a:spcAft>
              <a:buSzPts val="2600"/>
              <a:buChar char="●"/>
            </a:pPr>
            <a:r>
              <a:rPr lang="en-GB"/>
              <a:t>Xác định yêu cầu</a:t>
            </a:r>
            <a:endParaRPr/>
          </a:p>
        </p:txBody>
      </p:sp>
      <p:sp>
        <p:nvSpPr>
          <p:cNvPr id="481" name="Google Shape;481;p5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82" name="Google Shape;482;p50"/>
          <p:cNvSpPr/>
          <p:nvPr/>
        </p:nvSpPr>
        <p:spPr>
          <a:xfrm>
            <a:off x="350875" y="2857325"/>
            <a:ext cx="7169400" cy="763500"/>
          </a:xfrm>
          <a:prstGeom prst="rightArrow">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51"/>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Ng</a:t>
            </a:r>
            <a:r>
              <a:rPr lang="en-GB"/>
              <a:t>ôn ngữ mô hình hóa hợp nhất</a:t>
            </a:r>
            <a:endParaRPr/>
          </a:p>
        </p:txBody>
      </p:sp>
      <p:sp>
        <p:nvSpPr>
          <p:cNvPr id="488" name="Google Shape;488;p51"/>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Unified Modeling Language (UML)</a:t>
            </a:r>
            <a:endParaRPr/>
          </a:p>
          <a:p>
            <a:pPr indent="-393700" lvl="0" marL="457200" rtl="0" algn="l">
              <a:spcBef>
                <a:spcPts val="0"/>
              </a:spcBef>
              <a:spcAft>
                <a:spcPts val="0"/>
              </a:spcAft>
              <a:buSzPts val="2600"/>
              <a:buChar char="●"/>
            </a:pPr>
            <a:r>
              <a:rPr lang="en-GB"/>
              <a:t>Ngôn ngữ trực quan, cung cấp nhiều </a:t>
            </a:r>
            <a:r>
              <a:rPr lang="en-GB"/>
              <a:t>sơ đồ</a:t>
            </a:r>
            <a:r>
              <a:rPr lang="en-GB"/>
              <a:t> hữu ích cho các hoạt động phân tích &amp; thiết kế hệ thống</a:t>
            </a:r>
            <a:endParaRPr/>
          </a:p>
          <a:p>
            <a:pPr indent="-368300" lvl="1" marL="914400" rtl="0" algn="l">
              <a:spcBef>
                <a:spcPts val="0"/>
              </a:spcBef>
              <a:spcAft>
                <a:spcPts val="0"/>
              </a:spcAft>
              <a:buSzPts val="2200"/>
              <a:buChar char="○"/>
            </a:pPr>
            <a:r>
              <a:rPr lang="en-GB"/>
              <a:t>Nhưng không phải tất cả,</a:t>
            </a:r>
            <a:endParaRPr/>
          </a:p>
          <a:p>
            <a:pPr indent="-393700" lvl="0" marL="457200" rtl="0" algn="l">
              <a:spcBef>
                <a:spcPts val="0"/>
              </a:spcBef>
              <a:spcAft>
                <a:spcPts val="0"/>
              </a:spcAft>
              <a:buSzPts val="2600"/>
              <a:buChar char="●"/>
            </a:pPr>
            <a:r>
              <a:rPr lang="en-GB"/>
              <a:t>Quy chuẩn OMG (từ 1997) và ISO (từ 2005)</a:t>
            </a:r>
            <a:endParaRPr/>
          </a:p>
          <a:p>
            <a:pPr indent="-368300" lvl="1" marL="914400" rtl="0" algn="l">
              <a:spcBef>
                <a:spcPts val="0"/>
              </a:spcBef>
              <a:spcAft>
                <a:spcPts val="0"/>
              </a:spcAft>
              <a:buSzPts val="2200"/>
              <a:buChar char="○"/>
            </a:pPr>
            <a:r>
              <a:rPr lang="en-GB"/>
              <a:t>omg.org</a:t>
            </a:r>
            <a:endParaRPr/>
          </a:p>
          <a:p>
            <a:pPr indent="-368300" lvl="1" marL="914400" rtl="0" algn="l">
              <a:spcBef>
                <a:spcPts val="0"/>
              </a:spcBef>
              <a:spcAft>
                <a:spcPts val="0"/>
              </a:spcAft>
              <a:buSzPts val="2200"/>
              <a:buChar char="○"/>
            </a:pPr>
            <a:r>
              <a:rPr lang="en-GB"/>
              <a:t>iso.org</a:t>
            </a:r>
            <a:endParaRPr/>
          </a:p>
          <a:p>
            <a:pPr indent="-368300" lvl="1" marL="914400" rtl="0" algn="l">
              <a:spcBef>
                <a:spcPts val="0"/>
              </a:spcBef>
              <a:spcAft>
                <a:spcPts val="0"/>
              </a:spcAft>
              <a:buSzPts val="2200"/>
              <a:buChar char="○"/>
            </a:pPr>
            <a:r>
              <a:rPr lang="en-GB"/>
              <a:t>uml.org</a:t>
            </a:r>
            <a:endParaRPr/>
          </a:p>
          <a:p>
            <a:pPr indent="-393700" lvl="0" marL="457200" rtl="0" algn="l">
              <a:spcBef>
                <a:spcPts val="0"/>
              </a:spcBef>
              <a:spcAft>
                <a:spcPts val="0"/>
              </a:spcAft>
              <a:buSzPts val="2600"/>
              <a:buChar char="●"/>
            </a:pPr>
            <a:r>
              <a:rPr lang="en-GB"/>
              <a:t>Có nhiều phiên bản</a:t>
            </a:r>
            <a:endParaRPr/>
          </a:p>
        </p:txBody>
      </p:sp>
      <p:sp>
        <p:nvSpPr>
          <p:cNvPr id="489" name="Google Shape;489;p5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52"/>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Khung v</a:t>
            </a:r>
            <a:r>
              <a:rPr lang="en-GB"/>
              <a:t>à tiêu đề </a:t>
            </a:r>
            <a:r>
              <a:rPr lang="en-GB"/>
              <a:t>sơ đồ</a:t>
            </a:r>
            <a:endParaRPr/>
          </a:p>
        </p:txBody>
      </p:sp>
      <p:sp>
        <p:nvSpPr>
          <p:cNvPr id="495" name="Google Shape;495;p5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96" name="Google Shape;496;p52"/>
          <p:cNvSpPr/>
          <p:nvPr/>
        </p:nvSpPr>
        <p:spPr>
          <a:xfrm>
            <a:off x="2999125" y="1590125"/>
            <a:ext cx="3485100" cy="1742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a:p>
        </p:txBody>
      </p:sp>
      <p:sp>
        <p:nvSpPr>
          <p:cNvPr id="497" name="Google Shape;497;p52"/>
          <p:cNvSpPr/>
          <p:nvPr/>
        </p:nvSpPr>
        <p:spPr>
          <a:xfrm rot="10800000">
            <a:off x="2999125" y="1581500"/>
            <a:ext cx="1466475" cy="474450"/>
          </a:xfrm>
          <a:prstGeom prst="flowChartPunchedCar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52"/>
          <p:cNvSpPr txBox="1"/>
          <p:nvPr/>
        </p:nvSpPr>
        <p:spPr>
          <a:xfrm>
            <a:off x="2974675" y="1582950"/>
            <a:ext cx="1491000" cy="47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latin typeface="Times New Roman"/>
                <a:ea typeface="Times New Roman"/>
                <a:cs typeface="Times New Roman"/>
                <a:sym typeface="Times New Roman"/>
              </a:rPr>
              <a:t>&lt;tiêu đề&gt;</a:t>
            </a:r>
            <a:endParaRPr sz="2200">
              <a:latin typeface="Times New Roman"/>
              <a:ea typeface="Times New Roman"/>
              <a:cs typeface="Times New Roman"/>
              <a:sym typeface="Times New Roman"/>
            </a:endParaRPr>
          </a:p>
        </p:txBody>
      </p:sp>
      <p:sp>
        <p:nvSpPr>
          <p:cNvPr id="499" name="Google Shape;499;p52"/>
          <p:cNvSpPr txBox="1"/>
          <p:nvPr/>
        </p:nvSpPr>
        <p:spPr>
          <a:xfrm>
            <a:off x="3730900" y="2176625"/>
            <a:ext cx="2157900" cy="47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latin typeface="Times New Roman"/>
                <a:ea typeface="Times New Roman"/>
                <a:cs typeface="Times New Roman"/>
                <a:sym typeface="Times New Roman"/>
              </a:rPr>
              <a:t>&lt;vùng nội dung&gt;</a:t>
            </a:r>
            <a:endParaRPr sz="2200">
              <a:latin typeface="Times New Roman"/>
              <a:ea typeface="Times New Roman"/>
              <a:cs typeface="Times New Roman"/>
              <a:sym typeface="Times New Roman"/>
            </a:endParaRPr>
          </a:p>
        </p:txBody>
      </p:sp>
      <p:sp>
        <p:nvSpPr>
          <p:cNvPr id="500" name="Google Shape;500;p52"/>
          <p:cNvSpPr txBox="1"/>
          <p:nvPr/>
        </p:nvSpPr>
        <p:spPr>
          <a:xfrm>
            <a:off x="603850" y="3459200"/>
            <a:ext cx="8186400" cy="2846700"/>
          </a:xfrm>
          <a:prstGeom prst="rect">
            <a:avLst/>
          </a:prstGeom>
          <a:noFill/>
          <a:ln>
            <a:noFill/>
          </a:ln>
        </p:spPr>
        <p:txBody>
          <a:bodyPr anchorCtr="0" anchor="t" bIns="91425" lIns="91425" spcFirstLastPara="1" rIns="91425" wrap="square" tIns="91425">
            <a:noAutofit/>
          </a:bodyPr>
          <a:lstStyle/>
          <a:p>
            <a:pPr indent="-393700" lvl="0" marL="457200" rtl="0" algn="l">
              <a:lnSpc>
                <a:spcPct val="115000"/>
              </a:lnSpc>
              <a:spcBef>
                <a:spcPts val="0"/>
              </a:spcBef>
              <a:spcAft>
                <a:spcPts val="0"/>
              </a:spcAft>
              <a:buClr>
                <a:srgbClr val="434343"/>
              </a:buClr>
              <a:buSzPts val="2600"/>
              <a:buFont typeface="Times New Roman"/>
              <a:buChar char="●"/>
            </a:pPr>
            <a:r>
              <a:rPr lang="en-GB" sz="2600">
                <a:solidFill>
                  <a:srgbClr val="434343"/>
                </a:solidFill>
                <a:latin typeface="Times New Roman"/>
                <a:ea typeface="Times New Roman"/>
                <a:cs typeface="Times New Roman"/>
                <a:sym typeface="Times New Roman"/>
              </a:rPr>
              <a:t>Mỗi </a:t>
            </a:r>
            <a:r>
              <a:rPr lang="en-GB" sz="2600">
                <a:solidFill>
                  <a:srgbClr val="434343"/>
                </a:solidFill>
                <a:latin typeface="Times New Roman"/>
                <a:ea typeface="Times New Roman"/>
                <a:cs typeface="Times New Roman"/>
                <a:sym typeface="Times New Roman"/>
              </a:rPr>
              <a:t>sơ đồ</a:t>
            </a:r>
            <a:r>
              <a:rPr lang="en-GB" sz="2600">
                <a:solidFill>
                  <a:srgbClr val="434343"/>
                </a:solidFill>
                <a:latin typeface="Times New Roman"/>
                <a:ea typeface="Times New Roman"/>
                <a:cs typeface="Times New Roman"/>
                <a:sym typeface="Times New Roman"/>
              </a:rPr>
              <a:t> có thể được đặt trong 1 khung có tiêu đề</a:t>
            </a:r>
            <a:endParaRPr sz="2600">
              <a:solidFill>
                <a:srgbClr val="434343"/>
              </a:solidFill>
              <a:latin typeface="Times New Roman"/>
              <a:ea typeface="Times New Roman"/>
              <a:cs typeface="Times New Roman"/>
              <a:sym typeface="Times New Roman"/>
            </a:endParaRPr>
          </a:p>
          <a:p>
            <a:pPr indent="-368300" lvl="1" marL="914400" rtl="0" algn="l">
              <a:lnSpc>
                <a:spcPct val="115000"/>
              </a:lnSpc>
              <a:spcBef>
                <a:spcPts val="0"/>
              </a:spcBef>
              <a:spcAft>
                <a:spcPts val="0"/>
              </a:spcAft>
              <a:buClr>
                <a:srgbClr val="434343"/>
              </a:buClr>
              <a:buSzPts val="2200"/>
              <a:buFont typeface="Times New Roman"/>
              <a:buChar char="○"/>
            </a:pPr>
            <a:r>
              <a:rPr i="1" lang="en-GB" sz="2200">
                <a:solidFill>
                  <a:srgbClr val="434343"/>
                </a:solidFill>
                <a:latin typeface="Times New Roman"/>
                <a:ea typeface="Times New Roman"/>
                <a:cs typeface="Times New Roman"/>
                <a:sym typeface="Times New Roman"/>
              </a:rPr>
              <a:t>(Không bắt buộc phải đặt trong khung)</a:t>
            </a:r>
            <a:endParaRPr i="1" sz="2200">
              <a:solidFill>
                <a:srgbClr val="434343"/>
              </a:solidFill>
              <a:latin typeface="Times New Roman"/>
              <a:ea typeface="Times New Roman"/>
              <a:cs typeface="Times New Roman"/>
              <a:sym typeface="Times New Roman"/>
            </a:endParaRPr>
          </a:p>
          <a:p>
            <a:pPr indent="-393700" lvl="0" marL="457200" rtl="0" algn="l">
              <a:lnSpc>
                <a:spcPct val="115000"/>
              </a:lnSpc>
              <a:spcBef>
                <a:spcPts val="0"/>
              </a:spcBef>
              <a:spcAft>
                <a:spcPts val="0"/>
              </a:spcAft>
              <a:buClr>
                <a:srgbClr val="434343"/>
              </a:buClr>
              <a:buSzPts val="2600"/>
              <a:buFont typeface="Times New Roman"/>
              <a:buChar char="●"/>
            </a:pPr>
            <a:r>
              <a:rPr lang="en-GB" sz="2600">
                <a:solidFill>
                  <a:srgbClr val="434343"/>
                </a:solidFill>
                <a:latin typeface="Times New Roman"/>
                <a:ea typeface="Times New Roman"/>
                <a:cs typeface="Times New Roman"/>
                <a:sym typeface="Times New Roman"/>
              </a:rPr>
              <a:t>Tiêu đề trong trường hợp sử dụng khung có định dạng:</a:t>
            </a:r>
            <a:endParaRPr sz="2600">
              <a:solidFill>
                <a:srgbClr val="434343"/>
              </a:solidFill>
              <a:latin typeface="Times New Roman"/>
              <a:ea typeface="Times New Roman"/>
              <a:cs typeface="Times New Roman"/>
              <a:sym typeface="Times New Roman"/>
            </a:endParaRPr>
          </a:p>
          <a:p>
            <a:pPr indent="-368300" lvl="1" marL="914400" rtl="0" algn="l">
              <a:lnSpc>
                <a:spcPct val="115000"/>
              </a:lnSpc>
              <a:spcBef>
                <a:spcPts val="0"/>
              </a:spcBef>
              <a:spcAft>
                <a:spcPts val="0"/>
              </a:spcAft>
              <a:buClr>
                <a:srgbClr val="434343"/>
              </a:buClr>
              <a:buSzPts val="2200"/>
              <a:buFont typeface="Times New Roman"/>
              <a:buChar char="○"/>
            </a:pPr>
            <a:r>
              <a:rPr lang="en-GB" sz="2200">
                <a:solidFill>
                  <a:srgbClr val="434343"/>
                </a:solidFill>
                <a:latin typeface="Times New Roman"/>
                <a:ea typeface="Times New Roman"/>
                <a:cs typeface="Times New Roman"/>
                <a:sym typeface="Times New Roman"/>
              </a:rPr>
              <a:t>[&lt;phân loại&gt;][&lt;tên&gt;][&lt;tham số&gt;]</a:t>
            </a:r>
            <a:endParaRPr sz="2200">
              <a:solidFill>
                <a:srgbClr val="434343"/>
              </a:solidFill>
              <a:latin typeface="Times New Roman"/>
              <a:ea typeface="Times New Roman"/>
              <a:cs typeface="Times New Roman"/>
              <a:sym typeface="Times New Roman"/>
            </a:endParaRPr>
          </a:p>
          <a:p>
            <a:pPr indent="-368300" lvl="1" marL="914400" rtl="0" algn="l">
              <a:lnSpc>
                <a:spcPct val="115000"/>
              </a:lnSpc>
              <a:spcBef>
                <a:spcPts val="0"/>
              </a:spcBef>
              <a:spcAft>
                <a:spcPts val="0"/>
              </a:spcAft>
              <a:buClr>
                <a:srgbClr val="434343"/>
              </a:buClr>
              <a:buSzPts val="2200"/>
              <a:buFont typeface="Times New Roman"/>
              <a:buChar char="○"/>
            </a:pPr>
            <a:r>
              <a:rPr lang="en-GB" sz="2200">
                <a:solidFill>
                  <a:srgbClr val="434343"/>
                </a:solidFill>
                <a:latin typeface="Times New Roman"/>
                <a:ea typeface="Times New Roman"/>
                <a:cs typeface="Times New Roman"/>
                <a:sym typeface="Times New Roman"/>
              </a:rPr>
              <a:t>Có thể mô tả không gian tên của vùng nội dung </a:t>
            </a:r>
            <a:endParaRPr sz="2200">
              <a:solidFill>
                <a:srgbClr val="434343"/>
              </a:solidFill>
              <a:latin typeface="Times New Roman"/>
              <a:ea typeface="Times New Roman"/>
              <a:cs typeface="Times New Roman"/>
              <a:sym typeface="Times New Roman"/>
            </a:endParaRPr>
          </a:p>
          <a:p>
            <a:pPr indent="-368300" lvl="1" marL="914400" rtl="0" algn="l">
              <a:lnSpc>
                <a:spcPct val="115000"/>
              </a:lnSpc>
              <a:spcBef>
                <a:spcPts val="0"/>
              </a:spcBef>
              <a:spcAft>
                <a:spcPts val="0"/>
              </a:spcAft>
              <a:buClr>
                <a:srgbClr val="434343"/>
              </a:buClr>
              <a:buSzPts val="2200"/>
              <a:buFont typeface="Times New Roman"/>
              <a:buChar char="○"/>
            </a:pPr>
            <a:r>
              <a:rPr lang="en-GB" sz="2200">
                <a:solidFill>
                  <a:srgbClr val="434343"/>
                </a:solidFill>
                <a:latin typeface="Times New Roman"/>
                <a:ea typeface="Times New Roman"/>
                <a:cs typeface="Times New Roman"/>
                <a:sym typeface="Times New Roman"/>
              </a:rPr>
              <a:t>… hoặc thành phần của mô hình sở hữu các thành phần được biểu diễn trong vùng nội dung.</a:t>
            </a:r>
            <a:endParaRPr sz="2200">
              <a:solidFill>
                <a:srgbClr val="434343"/>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53"/>
          <p:cNvSpPr txBox="1"/>
          <p:nvPr>
            <p:ph idx="4294967295"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Phân loại </a:t>
            </a:r>
            <a:r>
              <a:rPr lang="en-GB"/>
              <a:t>sơ đồ</a:t>
            </a:r>
            <a:endParaRPr/>
          </a:p>
        </p:txBody>
      </p:sp>
      <p:sp>
        <p:nvSpPr>
          <p:cNvPr id="506" name="Google Shape;506;p5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07" name="Google Shape;507;p53"/>
          <p:cNvSpPr txBox="1"/>
          <p:nvPr>
            <p:ph idx="4294967295" type="body"/>
          </p:nvPr>
        </p:nvSpPr>
        <p:spPr>
          <a:xfrm>
            <a:off x="387900" y="1231832"/>
            <a:ext cx="8520600" cy="70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 loại </a:t>
            </a:r>
            <a:r>
              <a:rPr lang="en-GB"/>
              <a:t>sơ đồ</a:t>
            </a:r>
            <a:r>
              <a:rPr lang="en-GB"/>
              <a:t> sau được sử dụng trong tiêu đề khung:</a:t>
            </a:r>
            <a:endParaRPr/>
          </a:p>
        </p:txBody>
      </p:sp>
      <p:graphicFrame>
        <p:nvGraphicFramePr>
          <p:cNvPr id="508" name="Google Shape;508;p53"/>
          <p:cNvGraphicFramePr/>
          <p:nvPr/>
        </p:nvGraphicFramePr>
        <p:xfrm>
          <a:off x="521175" y="1861825"/>
          <a:ext cx="3000000" cy="3000000"/>
        </p:xfrm>
        <a:graphic>
          <a:graphicData uri="http://schemas.openxmlformats.org/drawingml/2006/table">
            <a:tbl>
              <a:tblPr>
                <a:noFill/>
                <a:tableStyleId>{FB86B068-0AB8-465F-A198-9472E0B8EB98}</a:tableStyleId>
              </a:tblPr>
              <a:tblGrid>
                <a:gridCol w="2668900"/>
                <a:gridCol w="2668900"/>
                <a:gridCol w="2668900"/>
              </a:tblGrid>
              <a:tr h="775">
                <a:tc>
                  <a:txBody>
                    <a:bodyPr/>
                    <a:lstStyle/>
                    <a:p>
                      <a:pPr indent="0" lvl="0" marL="0" rtl="0" algn="l">
                        <a:spcBef>
                          <a:spcPts val="0"/>
                        </a:spcBef>
                        <a:spcAft>
                          <a:spcPts val="0"/>
                        </a:spcAft>
                        <a:buNone/>
                      </a:pPr>
                      <a:r>
                        <a:rPr b="1" lang="en-GB" sz="2200">
                          <a:solidFill>
                            <a:srgbClr val="434343"/>
                          </a:solidFill>
                        </a:rPr>
                        <a:t>Tên tiếng Anh</a:t>
                      </a:r>
                      <a:endParaRPr b="1" sz="2200">
                        <a:solidFill>
                          <a:srgbClr val="434343"/>
                        </a:solidFill>
                      </a:endParaRPr>
                    </a:p>
                  </a:txBody>
                  <a:tcPr marT="54000" marB="54000" marR="54000" marL="54000"/>
                </a:tc>
                <a:tc>
                  <a:txBody>
                    <a:bodyPr/>
                    <a:lstStyle/>
                    <a:p>
                      <a:pPr indent="0" lvl="0" marL="0" rtl="0" algn="l">
                        <a:spcBef>
                          <a:spcPts val="0"/>
                        </a:spcBef>
                        <a:spcAft>
                          <a:spcPts val="0"/>
                        </a:spcAft>
                        <a:buNone/>
                      </a:pPr>
                      <a:r>
                        <a:rPr b="1" lang="en-GB" sz="2200">
                          <a:solidFill>
                            <a:srgbClr val="434343"/>
                          </a:solidFill>
                        </a:rPr>
                        <a:t>Tên rút gọn</a:t>
                      </a:r>
                      <a:endParaRPr b="1" sz="2200">
                        <a:solidFill>
                          <a:srgbClr val="434343"/>
                        </a:solidFill>
                      </a:endParaRPr>
                    </a:p>
                  </a:txBody>
                  <a:tcPr marT="54000" marB="54000" marR="54000" marL="54000"/>
                </a:tc>
                <a:tc>
                  <a:txBody>
                    <a:bodyPr/>
                    <a:lstStyle/>
                    <a:p>
                      <a:pPr indent="0" lvl="0" marL="0" rtl="0" algn="l">
                        <a:spcBef>
                          <a:spcPts val="0"/>
                        </a:spcBef>
                        <a:spcAft>
                          <a:spcPts val="0"/>
                        </a:spcAft>
                        <a:buNone/>
                      </a:pPr>
                      <a:r>
                        <a:rPr b="1" lang="en-GB" sz="2200">
                          <a:solidFill>
                            <a:srgbClr val="434343"/>
                          </a:solidFill>
                        </a:rPr>
                        <a:t>Tên tiếng Việt</a:t>
                      </a:r>
                      <a:endParaRPr b="1" sz="2200">
                        <a:solidFill>
                          <a:srgbClr val="434343"/>
                        </a:solidFill>
                      </a:endParaRPr>
                    </a:p>
                  </a:txBody>
                  <a:tcPr marT="54000" marB="54000" marR="54000" marL="54000"/>
                </a:tc>
              </a:tr>
              <a:tr h="425">
                <a:tc>
                  <a:txBody>
                    <a:bodyPr/>
                    <a:lstStyle/>
                    <a:p>
                      <a:pPr indent="0" lvl="0" marL="0" rtl="0" algn="l">
                        <a:spcBef>
                          <a:spcPts val="0"/>
                        </a:spcBef>
                        <a:spcAft>
                          <a:spcPts val="0"/>
                        </a:spcAft>
                        <a:buNone/>
                      </a:pPr>
                      <a:r>
                        <a:rPr lang="en-GB" sz="2200">
                          <a:solidFill>
                            <a:srgbClr val="434343"/>
                          </a:solidFill>
                        </a:rPr>
                        <a:t>activity</a:t>
                      </a:r>
                      <a:endParaRPr sz="2200">
                        <a:solidFill>
                          <a:srgbClr val="434343"/>
                        </a:solidFill>
                      </a:endParaRPr>
                    </a:p>
                  </a:txBody>
                  <a:tcPr marT="54000" marB="54000" marR="54000" marL="54000"/>
                </a:tc>
                <a:tc>
                  <a:txBody>
                    <a:bodyPr/>
                    <a:lstStyle/>
                    <a:p>
                      <a:pPr indent="0" lvl="0" marL="0" rtl="0" algn="l">
                        <a:spcBef>
                          <a:spcPts val="0"/>
                        </a:spcBef>
                        <a:spcAft>
                          <a:spcPts val="0"/>
                        </a:spcAft>
                        <a:buNone/>
                      </a:pPr>
                      <a:r>
                        <a:rPr lang="en-GB" sz="2200">
                          <a:solidFill>
                            <a:srgbClr val="434343"/>
                          </a:solidFill>
                        </a:rPr>
                        <a:t>act</a:t>
                      </a:r>
                      <a:endParaRPr sz="2200">
                        <a:solidFill>
                          <a:srgbClr val="434343"/>
                        </a:solidFill>
                      </a:endParaRPr>
                    </a:p>
                  </a:txBody>
                  <a:tcPr marT="54000" marB="54000" marR="54000" marL="54000"/>
                </a:tc>
                <a:tc>
                  <a:txBody>
                    <a:bodyPr/>
                    <a:lstStyle/>
                    <a:p>
                      <a:pPr indent="0" lvl="0" marL="0" rtl="0" algn="l">
                        <a:spcBef>
                          <a:spcPts val="0"/>
                        </a:spcBef>
                        <a:spcAft>
                          <a:spcPts val="0"/>
                        </a:spcAft>
                        <a:buNone/>
                      </a:pPr>
                      <a:r>
                        <a:rPr lang="en-GB" sz="2200">
                          <a:solidFill>
                            <a:srgbClr val="434343"/>
                          </a:solidFill>
                        </a:rPr>
                        <a:t>hoạt động</a:t>
                      </a:r>
                      <a:endParaRPr sz="2200">
                        <a:solidFill>
                          <a:srgbClr val="434343"/>
                        </a:solidFill>
                      </a:endParaRPr>
                    </a:p>
                  </a:txBody>
                  <a:tcPr marT="54000" marB="54000" marR="54000" marL="54000"/>
                </a:tc>
              </a:tr>
              <a:tr h="425">
                <a:tc>
                  <a:txBody>
                    <a:bodyPr/>
                    <a:lstStyle/>
                    <a:p>
                      <a:pPr indent="0" lvl="0" marL="0" rtl="0" algn="l">
                        <a:spcBef>
                          <a:spcPts val="0"/>
                        </a:spcBef>
                        <a:spcAft>
                          <a:spcPts val="0"/>
                        </a:spcAft>
                        <a:buNone/>
                      </a:pPr>
                      <a:r>
                        <a:rPr lang="en-GB" sz="2200">
                          <a:solidFill>
                            <a:srgbClr val="434343"/>
                          </a:solidFill>
                        </a:rPr>
                        <a:t>class</a:t>
                      </a:r>
                      <a:endParaRPr sz="2200">
                        <a:solidFill>
                          <a:srgbClr val="434343"/>
                        </a:solidFill>
                      </a:endParaRPr>
                    </a:p>
                  </a:txBody>
                  <a:tcPr marT="54000" marB="54000" marR="54000" marL="54000"/>
                </a:tc>
                <a:tc>
                  <a:txBody>
                    <a:bodyPr/>
                    <a:lstStyle/>
                    <a:p>
                      <a:pPr indent="0" lvl="0" marL="0" rtl="0" algn="l">
                        <a:spcBef>
                          <a:spcPts val="0"/>
                        </a:spcBef>
                        <a:spcAft>
                          <a:spcPts val="0"/>
                        </a:spcAft>
                        <a:buNone/>
                      </a:pPr>
                      <a:r>
                        <a:rPr lang="en-GB" sz="2200">
                          <a:solidFill>
                            <a:srgbClr val="434343"/>
                          </a:solidFill>
                        </a:rPr>
                        <a:t>--</a:t>
                      </a:r>
                      <a:endParaRPr sz="2200">
                        <a:solidFill>
                          <a:srgbClr val="434343"/>
                        </a:solidFill>
                      </a:endParaRPr>
                    </a:p>
                  </a:txBody>
                  <a:tcPr marT="54000" marB="54000" marR="54000" marL="54000"/>
                </a:tc>
                <a:tc>
                  <a:txBody>
                    <a:bodyPr/>
                    <a:lstStyle/>
                    <a:p>
                      <a:pPr indent="0" lvl="0" marL="0" rtl="0" algn="l">
                        <a:spcBef>
                          <a:spcPts val="0"/>
                        </a:spcBef>
                        <a:spcAft>
                          <a:spcPts val="0"/>
                        </a:spcAft>
                        <a:buNone/>
                      </a:pPr>
                      <a:r>
                        <a:rPr lang="en-GB" sz="2200">
                          <a:solidFill>
                            <a:srgbClr val="434343"/>
                          </a:solidFill>
                        </a:rPr>
                        <a:t>lớp</a:t>
                      </a:r>
                      <a:endParaRPr sz="2200">
                        <a:solidFill>
                          <a:srgbClr val="434343"/>
                        </a:solidFill>
                      </a:endParaRPr>
                    </a:p>
                  </a:txBody>
                  <a:tcPr marT="54000" marB="54000" marR="54000" marL="54000"/>
                </a:tc>
              </a:tr>
              <a:tr h="425">
                <a:tc>
                  <a:txBody>
                    <a:bodyPr/>
                    <a:lstStyle/>
                    <a:p>
                      <a:pPr indent="0" lvl="0" marL="0" rtl="0" algn="l">
                        <a:spcBef>
                          <a:spcPts val="0"/>
                        </a:spcBef>
                        <a:spcAft>
                          <a:spcPts val="0"/>
                        </a:spcAft>
                        <a:buNone/>
                      </a:pPr>
                      <a:r>
                        <a:rPr lang="en-GB" sz="2200">
                          <a:solidFill>
                            <a:srgbClr val="434343"/>
                          </a:solidFill>
                        </a:rPr>
                        <a:t>component</a:t>
                      </a:r>
                      <a:endParaRPr sz="2200">
                        <a:solidFill>
                          <a:srgbClr val="434343"/>
                        </a:solidFill>
                      </a:endParaRPr>
                    </a:p>
                  </a:txBody>
                  <a:tcPr marT="54000" marB="54000" marR="54000" marL="54000"/>
                </a:tc>
                <a:tc>
                  <a:txBody>
                    <a:bodyPr/>
                    <a:lstStyle/>
                    <a:p>
                      <a:pPr indent="0" lvl="0" marL="0" rtl="0" algn="l">
                        <a:spcBef>
                          <a:spcPts val="0"/>
                        </a:spcBef>
                        <a:spcAft>
                          <a:spcPts val="0"/>
                        </a:spcAft>
                        <a:buNone/>
                      </a:pPr>
                      <a:r>
                        <a:rPr lang="en-GB" sz="2200">
                          <a:solidFill>
                            <a:srgbClr val="434343"/>
                          </a:solidFill>
                        </a:rPr>
                        <a:t>cmp</a:t>
                      </a:r>
                      <a:endParaRPr sz="2200">
                        <a:solidFill>
                          <a:srgbClr val="434343"/>
                        </a:solidFill>
                      </a:endParaRPr>
                    </a:p>
                  </a:txBody>
                  <a:tcPr marT="54000" marB="54000" marR="54000" marL="54000"/>
                </a:tc>
                <a:tc>
                  <a:txBody>
                    <a:bodyPr/>
                    <a:lstStyle/>
                    <a:p>
                      <a:pPr indent="0" lvl="0" marL="0" rtl="0" algn="l">
                        <a:spcBef>
                          <a:spcPts val="0"/>
                        </a:spcBef>
                        <a:spcAft>
                          <a:spcPts val="0"/>
                        </a:spcAft>
                        <a:buNone/>
                      </a:pPr>
                      <a:r>
                        <a:rPr lang="en-GB" sz="2200">
                          <a:solidFill>
                            <a:srgbClr val="434343"/>
                          </a:solidFill>
                        </a:rPr>
                        <a:t>thành phần</a:t>
                      </a:r>
                      <a:endParaRPr sz="2200">
                        <a:solidFill>
                          <a:srgbClr val="434343"/>
                        </a:solidFill>
                      </a:endParaRPr>
                    </a:p>
                  </a:txBody>
                  <a:tcPr marT="54000" marB="54000" marR="54000" marL="54000"/>
                </a:tc>
              </a:tr>
              <a:tr h="425">
                <a:tc>
                  <a:txBody>
                    <a:bodyPr/>
                    <a:lstStyle/>
                    <a:p>
                      <a:pPr indent="0" lvl="0" marL="0" rtl="0" algn="l">
                        <a:spcBef>
                          <a:spcPts val="0"/>
                        </a:spcBef>
                        <a:spcAft>
                          <a:spcPts val="0"/>
                        </a:spcAft>
                        <a:buNone/>
                      </a:pPr>
                      <a:r>
                        <a:rPr lang="en-GB" sz="2200">
                          <a:solidFill>
                            <a:srgbClr val="434343"/>
                          </a:solidFill>
                        </a:rPr>
                        <a:t>deployment</a:t>
                      </a:r>
                      <a:endParaRPr sz="2200">
                        <a:solidFill>
                          <a:srgbClr val="434343"/>
                        </a:solidFill>
                      </a:endParaRPr>
                    </a:p>
                  </a:txBody>
                  <a:tcPr marT="54000" marB="54000" marR="54000" marL="54000"/>
                </a:tc>
                <a:tc>
                  <a:txBody>
                    <a:bodyPr/>
                    <a:lstStyle/>
                    <a:p>
                      <a:pPr indent="0" lvl="0" marL="0" rtl="0" algn="l">
                        <a:spcBef>
                          <a:spcPts val="0"/>
                        </a:spcBef>
                        <a:spcAft>
                          <a:spcPts val="0"/>
                        </a:spcAft>
                        <a:buNone/>
                      </a:pPr>
                      <a:r>
                        <a:rPr lang="en-GB" sz="2200">
                          <a:solidFill>
                            <a:srgbClr val="434343"/>
                          </a:solidFill>
                        </a:rPr>
                        <a:t>dep</a:t>
                      </a:r>
                      <a:endParaRPr sz="2200">
                        <a:solidFill>
                          <a:srgbClr val="434343"/>
                        </a:solidFill>
                      </a:endParaRPr>
                    </a:p>
                  </a:txBody>
                  <a:tcPr marT="54000" marB="54000" marR="54000" marL="54000"/>
                </a:tc>
                <a:tc>
                  <a:txBody>
                    <a:bodyPr/>
                    <a:lstStyle/>
                    <a:p>
                      <a:pPr indent="0" lvl="0" marL="0" rtl="0" algn="l">
                        <a:spcBef>
                          <a:spcPts val="0"/>
                        </a:spcBef>
                        <a:spcAft>
                          <a:spcPts val="0"/>
                        </a:spcAft>
                        <a:buNone/>
                      </a:pPr>
                      <a:r>
                        <a:rPr lang="en-GB" sz="2200">
                          <a:solidFill>
                            <a:srgbClr val="434343"/>
                          </a:solidFill>
                        </a:rPr>
                        <a:t>triển khai</a:t>
                      </a:r>
                      <a:endParaRPr sz="2200">
                        <a:solidFill>
                          <a:srgbClr val="434343"/>
                        </a:solidFill>
                      </a:endParaRPr>
                    </a:p>
                  </a:txBody>
                  <a:tcPr marT="54000" marB="54000" marR="54000" marL="54000"/>
                </a:tc>
              </a:tr>
              <a:tr h="425">
                <a:tc>
                  <a:txBody>
                    <a:bodyPr/>
                    <a:lstStyle/>
                    <a:p>
                      <a:pPr indent="0" lvl="0" marL="0" rtl="0" algn="l">
                        <a:spcBef>
                          <a:spcPts val="0"/>
                        </a:spcBef>
                        <a:spcAft>
                          <a:spcPts val="0"/>
                        </a:spcAft>
                        <a:buNone/>
                      </a:pPr>
                      <a:r>
                        <a:rPr lang="en-GB" sz="2200">
                          <a:solidFill>
                            <a:srgbClr val="434343"/>
                          </a:solidFill>
                        </a:rPr>
                        <a:t>interaction</a:t>
                      </a:r>
                      <a:endParaRPr sz="2200">
                        <a:solidFill>
                          <a:srgbClr val="434343"/>
                        </a:solidFill>
                      </a:endParaRPr>
                    </a:p>
                  </a:txBody>
                  <a:tcPr marT="54000" marB="54000" marR="54000" marL="54000"/>
                </a:tc>
                <a:tc>
                  <a:txBody>
                    <a:bodyPr/>
                    <a:lstStyle/>
                    <a:p>
                      <a:pPr indent="0" lvl="0" marL="0" rtl="0" algn="l">
                        <a:spcBef>
                          <a:spcPts val="0"/>
                        </a:spcBef>
                        <a:spcAft>
                          <a:spcPts val="0"/>
                        </a:spcAft>
                        <a:buNone/>
                      </a:pPr>
                      <a:r>
                        <a:rPr lang="en-GB" sz="2200">
                          <a:solidFill>
                            <a:srgbClr val="434343"/>
                          </a:solidFill>
                        </a:rPr>
                        <a:t>sd</a:t>
                      </a:r>
                      <a:endParaRPr sz="2200">
                        <a:solidFill>
                          <a:srgbClr val="434343"/>
                        </a:solidFill>
                      </a:endParaRPr>
                    </a:p>
                  </a:txBody>
                  <a:tcPr marT="54000" marB="54000" marR="54000" marL="54000"/>
                </a:tc>
                <a:tc>
                  <a:txBody>
                    <a:bodyPr/>
                    <a:lstStyle/>
                    <a:p>
                      <a:pPr indent="0" lvl="0" marL="0" rtl="0" algn="l">
                        <a:spcBef>
                          <a:spcPts val="0"/>
                        </a:spcBef>
                        <a:spcAft>
                          <a:spcPts val="0"/>
                        </a:spcAft>
                        <a:buNone/>
                      </a:pPr>
                      <a:r>
                        <a:rPr lang="en-GB" sz="2200">
                          <a:solidFill>
                            <a:srgbClr val="434343"/>
                          </a:solidFill>
                        </a:rPr>
                        <a:t>tương tác</a:t>
                      </a:r>
                      <a:endParaRPr sz="2200">
                        <a:solidFill>
                          <a:srgbClr val="434343"/>
                        </a:solidFill>
                      </a:endParaRPr>
                    </a:p>
                  </a:txBody>
                  <a:tcPr marT="54000" marB="54000" marR="54000" marL="54000"/>
                </a:tc>
              </a:tr>
              <a:tr h="425">
                <a:tc>
                  <a:txBody>
                    <a:bodyPr/>
                    <a:lstStyle/>
                    <a:p>
                      <a:pPr indent="0" lvl="0" marL="0" rtl="0" algn="l">
                        <a:spcBef>
                          <a:spcPts val="0"/>
                        </a:spcBef>
                        <a:spcAft>
                          <a:spcPts val="0"/>
                        </a:spcAft>
                        <a:buNone/>
                      </a:pPr>
                      <a:r>
                        <a:rPr lang="en-GB" sz="2200">
                          <a:solidFill>
                            <a:srgbClr val="434343"/>
                          </a:solidFill>
                        </a:rPr>
                        <a:t>package</a:t>
                      </a:r>
                      <a:endParaRPr sz="2200">
                        <a:solidFill>
                          <a:srgbClr val="434343"/>
                        </a:solidFill>
                      </a:endParaRPr>
                    </a:p>
                  </a:txBody>
                  <a:tcPr marT="54000" marB="54000" marR="54000" marL="54000"/>
                </a:tc>
                <a:tc>
                  <a:txBody>
                    <a:bodyPr/>
                    <a:lstStyle/>
                    <a:p>
                      <a:pPr indent="0" lvl="0" marL="0" rtl="0" algn="l">
                        <a:spcBef>
                          <a:spcPts val="0"/>
                        </a:spcBef>
                        <a:spcAft>
                          <a:spcPts val="0"/>
                        </a:spcAft>
                        <a:buNone/>
                      </a:pPr>
                      <a:r>
                        <a:rPr lang="en-GB" sz="2200">
                          <a:solidFill>
                            <a:srgbClr val="434343"/>
                          </a:solidFill>
                        </a:rPr>
                        <a:t>pkg</a:t>
                      </a:r>
                      <a:endParaRPr sz="2200">
                        <a:solidFill>
                          <a:srgbClr val="434343"/>
                        </a:solidFill>
                      </a:endParaRPr>
                    </a:p>
                  </a:txBody>
                  <a:tcPr marT="54000" marB="54000" marR="54000" marL="54000"/>
                </a:tc>
                <a:tc>
                  <a:txBody>
                    <a:bodyPr/>
                    <a:lstStyle/>
                    <a:p>
                      <a:pPr indent="0" lvl="0" marL="0" rtl="0" algn="l">
                        <a:spcBef>
                          <a:spcPts val="0"/>
                        </a:spcBef>
                        <a:spcAft>
                          <a:spcPts val="0"/>
                        </a:spcAft>
                        <a:buNone/>
                      </a:pPr>
                      <a:r>
                        <a:rPr lang="en-GB" sz="2200">
                          <a:solidFill>
                            <a:srgbClr val="434343"/>
                          </a:solidFill>
                        </a:rPr>
                        <a:t>gói</a:t>
                      </a:r>
                      <a:endParaRPr sz="2200">
                        <a:solidFill>
                          <a:srgbClr val="434343"/>
                        </a:solidFill>
                      </a:endParaRPr>
                    </a:p>
                  </a:txBody>
                  <a:tcPr marT="54000" marB="54000" marR="54000" marL="54000"/>
                </a:tc>
              </a:tr>
              <a:tr h="425">
                <a:tc>
                  <a:txBody>
                    <a:bodyPr/>
                    <a:lstStyle/>
                    <a:p>
                      <a:pPr indent="0" lvl="0" marL="0" rtl="0" algn="l">
                        <a:spcBef>
                          <a:spcPts val="0"/>
                        </a:spcBef>
                        <a:spcAft>
                          <a:spcPts val="0"/>
                        </a:spcAft>
                        <a:buNone/>
                      </a:pPr>
                      <a:r>
                        <a:rPr lang="en-GB" sz="2200">
                          <a:solidFill>
                            <a:srgbClr val="434343"/>
                          </a:solidFill>
                        </a:rPr>
                        <a:t>state machine</a:t>
                      </a:r>
                      <a:endParaRPr sz="2200">
                        <a:solidFill>
                          <a:srgbClr val="434343"/>
                        </a:solidFill>
                      </a:endParaRPr>
                    </a:p>
                  </a:txBody>
                  <a:tcPr marT="54000" marB="54000" marR="54000" marL="54000"/>
                </a:tc>
                <a:tc>
                  <a:txBody>
                    <a:bodyPr/>
                    <a:lstStyle/>
                    <a:p>
                      <a:pPr indent="0" lvl="0" marL="0" rtl="0" algn="l">
                        <a:spcBef>
                          <a:spcPts val="0"/>
                        </a:spcBef>
                        <a:spcAft>
                          <a:spcPts val="0"/>
                        </a:spcAft>
                        <a:buNone/>
                      </a:pPr>
                      <a:r>
                        <a:rPr lang="en-GB" sz="2200">
                          <a:solidFill>
                            <a:srgbClr val="434343"/>
                          </a:solidFill>
                        </a:rPr>
                        <a:t>stm</a:t>
                      </a:r>
                      <a:endParaRPr sz="2200">
                        <a:solidFill>
                          <a:srgbClr val="434343"/>
                        </a:solidFill>
                      </a:endParaRPr>
                    </a:p>
                  </a:txBody>
                  <a:tcPr marT="54000" marB="54000" marR="54000" marL="54000"/>
                </a:tc>
                <a:tc>
                  <a:txBody>
                    <a:bodyPr/>
                    <a:lstStyle/>
                    <a:p>
                      <a:pPr indent="0" lvl="0" marL="0" rtl="0" algn="l">
                        <a:spcBef>
                          <a:spcPts val="0"/>
                        </a:spcBef>
                        <a:spcAft>
                          <a:spcPts val="0"/>
                        </a:spcAft>
                        <a:buNone/>
                      </a:pPr>
                      <a:r>
                        <a:rPr lang="en-GB" sz="2200">
                          <a:solidFill>
                            <a:srgbClr val="434343"/>
                          </a:solidFill>
                        </a:rPr>
                        <a:t>máy trạng thái</a:t>
                      </a:r>
                      <a:endParaRPr sz="2200">
                        <a:solidFill>
                          <a:srgbClr val="434343"/>
                        </a:solidFill>
                      </a:endParaRPr>
                    </a:p>
                  </a:txBody>
                  <a:tcPr marT="54000" marB="54000" marR="54000" marL="54000"/>
                </a:tc>
              </a:tr>
              <a:tr h="425">
                <a:tc>
                  <a:txBody>
                    <a:bodyPr/>
                    <a:lstStyle/>
                    <a:p>
                      <a:pPr indent="0" lvl="0" marL="0" rtl="0" algn="l">
                        <a:spcBef>
                          <a:spcPts val="0"/>
                        </a:spcBef>
                        <a:spcAft>
                          <a:spcPts val="0"/>
                        </a:spcAft>
                        <a:buNone/>
                      </a:pPr>
                      <a:r>
                        <a:rPr lang="en-GB" sz="2200">
                          <a:solidFill>
                            <a:srgbClr val="434343"/>
                          </a:solidFill>
                        </a:rPr>
                        <a:t>use case</a:t>
                      </a:r>
                      <a:endParaRPr sz="2200">
                        <a:solidFill>
                          <a:srgbClr val="434343"/>
                        </a:solidFill>
                      </a:endParaRPr>
                    </a:p>
                  </a:txBody>
                  <a:tcPr marT="54000" marB="54000" marR="54000" marL="54000"/>
                </a:tc>
                <a:tc>
                  <a:txBody>
                    <a:bodyPr/>
                    <a:lstStyle/>
                    <a:p>
                      <a:pPr indent="0" lvl="0" marL="0" rtl="0" algn="l">
                        <a:spcBef>
                          <a:spcPts val="0"/>
                        </a:spcBef>
                        <a:spcAft>
                          <a:spcPts val="0"/>
                        </a:spcAft>
                        <a:buNone/>
                      </a:pPr>
                      <a:r>
                        <a:rPr lang="en-GB" sz="2200">
                          <a:solidFill>
                            <a:srgbClr val="434343"/>
                          </a:solidFill>
                        </a:rPr>
                        <a:t>uc</a:t>
                      </a:r>
                      <a:endParaRPr sz="2200">
                        <a:solidFill>
                          <a:srgbClr val="434343"/>
                        </a:solidFill>
                      </a:endParaRPr>
                    </a:p>
                  </a:txBody>
                  <a:tcPr marT="54000" marB="54000" marR="54000" marL="54000"/>
                </a:tc>
                <a:tc>
                  <a:txBody>
                    <a:bodyPr/>
                    <a:lstStyle/>
                    <a:p>
                      <a:pPr indent="0" lvl="0" marL="0" rtl="0" algn="l">
                        <a:spcBef>
                          <a:spcPts val="0"/>
                        </a:spcBef>
                        <a:spcAft>
                          <a:spcPts val="0"/>
                        </a:spcAft>
                        <a:buNone/>
                      </a:pPr>
                      <a:r>
                        <a:rPr lang="en-GB" sz="2200">
                          <a:solidFill>
                            <a:srgbClr val="434343"/>
                          </a:solidFill>
                        </a:rPr>
                        <a:t>ca sử dụng</a:t>
                      </a:r>
                      <a:endParaRPr sz="2200">
                        <a:solidFill>
                          <a:srgbClr val="434343"/>
                        </a:solidFill>
                      </a:endParaRPr>
                    </a:p>
                  </a:txBody>
                  <a:tcPr marT="54000" marB="54000" marR="54000" marL="54000"/>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5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14" name="Google Shape;514;p54"/>
          <p:cNvSpPr txBox="1"/>
          <p:nvPr>
            <p:ph idx="4294967295"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1.1. Khung và tiêu đề</a:t>
            </a:r>
            <a:endParaRPr/>
          </a:p>
        </p:txBody>
      </p:sp>
      <p:sp>
        <p:nvSpPr>
          <p:cNvPr id="515" name="Google Shape;515;p54"/>
          <p:cNvSpPr/>
          <p:nvPr/>
        </p:nvSpPr>
        <p:spPr>
          <a:xfrm>
            <a:off x="783575" y="1291075"/>
            <a:ext cx="3485100" cy="1524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a:p>
        </p:txBody>
      </p:sp>
      <p:sp>
        <p:nvSpPr>
          <p:cNvPr id="516" name="Google Shape;516;p54"/>
          <p:cNvSpPr/>
          <p:nvPr/>
        </p:nvSpPr>
        <p:spPr>
          <a:xfrm rot="10800000">
            <a:off x="783575" y="1296974"/>
            <a:ext cx="1466475" cy="474450"/>
          </a:xfrm>
          <a:prstGeom prst="flowChartPunchedCard">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54"/>
          <p:cNvSpPr txBox="1"/>
          <p:nvPr/>
        </p:nvSpPr>
        <p:spPr>
          <a:xfrm>
            <a:off x="823750" y="1288410"/>
            <a:ext cx="1491000" cy="47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200">
                <a:latin typeface="Times New Roman"/>
                <a:ea typeface="Times New Roman"/>
                <a:cs typeface="Times New Roman"/>
                <a:sym typeface="Times New Roman"/>
              </a:rPr>
              <a:t>package</a:t>
            </a:r>
            <a:r>
              <a:rPr lang="en-GB" sz="2200">
                <a:latin typeface="Times New Roman"/>
                <a:ea typeface="Times New Roman"/>
                <a:cs typeface="Times New Roman"/>
                <a:sym typeface="Times New Roman"/>
              </a:rPr>
              <a:t> P</a:t>
            </a:r>
            <a:endParaRPr sz="2200">
              <a:latin typeface="Times New Roman"/>
              <a:ea typeface="Times New Roman"/>
              <a:cs typeface="Times New Roman"/>
              <a:sym typeface="Times New Roman"/>
            </a:endParaRPr>
          </a:p>
        </p:txBody>
      </p:sp>
      <p:sp>
        <p:nvSpPr>
          <p:cNvPr id="518" name="Google Shape;518;p54"/>
          <p:cNvSpPr/>
          <p:nvPr/>
        </p:nvSpPr>
        <p:spPr>
          <a:xfrm>
            <a:off x="1296850" y="1874800"/>
            <a:ext cx="828000" cy="319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C</a:t>
            </a:r>
            <a:endParaRPr/>
          </a:p>
        </p:txBody>
      </p:sp>
      <p:sp>
        <p:nvSpPr>
          <p:cNvPr id="519" name="Google Shape;519;p54"/>
          <p:cNvSpPr/>
          <p:nvPr/>
        </p:nvSpPr>
        <p:spPr>
          <a:xfrm>
            <a:off x="3049450" y="1874800"/>
            <a:ext cx="828000" cy="319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D</a:t>
            </a:r>
            <a:endParaRPr/>
          </a:p>
        </p:txBody>
      </p:sp>
      <p:sp>
        <p:nvSpPr>
          <p:cNvPr id="520" name="Google Shape;520;p54"/>
          <p:cNvSpPr/>
          <p:nvPr/>
        </p:nvSpPr>
        <p:spPr>
          <a:xfrm>
            <a:off x="1296850" y="2196850"/>
            <a:ext cx="828000" cy="419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1" name="Google Shape;521;p54"/>
          <p:cNvSpPr/>
          <p:nvPr/>
        </p:nvSpPr>
        <p:spPr>
          <a:xfrm>
            <a:off x="3049450" y="2196850"/>
            <a:ext cx="828000" cy="419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22" name="Google Shape;522;p54"/>
          <p:cNvCxnSpPr>
            <a:stCxn id="520" idx="3"/>
            <a:endCxn id="521" idx="1"/>
          </p:cNvCxnSpPr>
          <p:nvPr/>
        </p:nvCxnSpPr>
        <p:spPr>
          <a:xfrm>
            <a:off x="2124850" y="2406700"/>
            <a:ext cx="924600" cy="0"/>
          </a:xfrm>
          <a:prstGeom prst="straightConnector1">
            <a:avLst/>
          </a:prstGeom>
          <a:noFill/>
          <a:ln cap="flat" cmpd="sng" w="9525">
            <a:solidFill>
              <a:schemeClr val="dk2"/>
            </a:solidFill>
            <a:prstDash val="solid"/>
            <a:round/>
            <a:headEnd len="med" w="med" type="none"/>
            <a:tailEnd len="med" w="med" type="none"/>
          </a:ln>
        </p:spPr>
      </p:cxnSp>
      <p:sp>
        <p:nvSpPr>
          <p:cNvPr id="523" name="Google Shape;523;p54"/>
          <p:cNvSpPr/>
          <p:nvPr/>
        </p:nvSpPr>
        <p:spPr>
          <a:xfrm>
            <a:off x="4898375" y="1478050"/>
            <a:ext cx="3485100" cy="13371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2400"/>
              <a:t>P</a:t>
            </a:r>
            <a:endParaRPr sz="2400"/>
          </a:p>
        </p:txBody>
      </p:sp>
      <p:sp>
        <p:nvSpPr>
          <p:cNvPr id="524" name="Google Shape;524;p54"/>
          <p:cNvSpPr/>
          <p:nvPr/>
        </p:nvSpPr>
        <p:spPr>
          <a:xfrm>
            <a:off x="5411650" y="1874800"/>
            <a:ext cx="828000" cy="319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C</a:t>
            </a:r>
            <a:endParaRPr/>
          </a:p>
        </p:txBody>
      </p:sp>
      <p:sp>
        <p:nvSpPr>
          <p:cNvPr id="525" name="Google Shape;525;p54"/>
          <p:cNvSpPr/>
          <p:nvPr/>
        </p:nvSpPr>
        <p:spPr>
          <a:xfrm>
            <a:off x="7164250" y="1874800"/>
            <a:ext cx="828000" cy="319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D</a:t>
            </a:r>
            <a:endParaRPr/>
          </a:p>
        </p:txBody>
      </p:sp>
      <p:sp>
        <p:nvSpPr>
          <p:cNvPr id="526" name="Google Shape;526;p54"/>
          <p:cNvSpPr/>
          <p:nvPr/>
        </p:nvSpPr>
        <p:spPr>
          <a:xfrm>
            <a:off x="5411650" y="2196850"/>
            <a:ext cx="828000" cy="419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7" name="Google Shape;527;p54"/>
          <p:cNvSpPr/>
          <p:nvPr/>
        </p:nvSpPr>
        <p:spPr>
          <a:xfrm>
            <a:off x="7164250" y="2196850"/>
            <a:ext cx="828000" cy="419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28" name="Google Shape;528;p54"/>
          <p:cNvCxnSpPr>
            <a:stCxn id="526" idx="3"/>
            <a:endCxn id="527" idx="1"/>
          </p:cNvCxnSpPr>
          <p:nvPr/>
        </p:nvCxnSpPr>
        <p:spPr>
          <a:xfrm>
            <a:off x="6239650" y="2406700"/>
            <a:ext cx="924600" cy="0"/>
          </a:xfrm>
          <a:prstGeom prst="straightConnector1">
            <a:avLst/>
          </a:prstGeom>
          <a:noFill/>
          <a:ln cap="flat" cmpd="sng" w="9525">
            <a:solidFill>
              <a:schemeClr val="dk2"/>
            </a:solidFill>
            <a:prstDash val="solid"/>
            <a:round/>
            <a:headEnd len="med" w="med" type="none"/>
            <a:tailEnd len="med" w="med" type="none"/>
          </a:ln>
        </p:spPr>
      </p:cxnSp>
      <p:sp>
        <p:nvSpPr>
          <p:cNvPr id="529" name="Google Shape;529;p54"/>
          <p:cNvSpPr/>
          <p:nvPr/>
        </p:nvSpPr>
        <p:spPr>
          <a:xfrm>
            <a:off x="4902700" y="1282450"/>
            <a:ext cx="828000" cy="195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0" name="Google Shape;530;p54"/>
          <p:cNvSpPr/>
          <p:nvPr/>
        </p:nvSpPr>
        <p:spPr>
          <a:xfrm>
            <a:off x="783575" y="3424675"/>
            <a:ext cx="3485100" cy="2721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a:p>
        </p:txBody>
      </p:sp>
      <p:sp>
        <p:nvSpPr>
          <p:cNvPr id="531" name="Google Shape;531;p54"/>
          <p:cNvSpPr/>
          <p:nvPr/>
        </p:nvSpPr>
        <p:spPr>
          <a:xfrm flipH="1" rot="10800000">
            <a:off x="776375" y="3420375"/>
            <a:ext cx="1845900" cy="419700"/>
          </a:xfrm>
          <a:prstGeom prst="snip1Rect">
            <a:avLst>
              <a:gd fmla="val 3252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54"/>
          <p:cNvSpPr txBox="1"/>
          <p:nvPr/>
        </p:nvSpPr>
        <p:spPr>
          <a:xfrm>
            <a:off x="793625" y="3420375"/>
            <a:ext cx="1785600" cy="41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New Roman"/>
                <a:ea typeface="Times New Roman"/>
                <a:cs typeface="Times New Roman"/>
                <a:sym typeface="Times New Roman"/>
              </a:rPr>
              <a:t>uc </a:t>
            </a:r>
            <a:r>
              <a:rPr lang="en-GB" sz="1800">
                <a:latin typeface="Times New Roman"/>
                <a:ea typeface="Times New Roman"/>
                <a:cs typeface="Times New Roman"/>
                <a:sym typeface="Times New Roman"/>
              </a:rPr>
              <a:t>Tạo đơn hàng</a:t>
            </a:r>
            <a:endParaRPr sz="1800">
              <a:latin typeface="Times New Roman"/>
              <a:ea typeface="Times New Roman"/>
              <a:cs typeface="Times New Roman"/>
              <a:sym typeface="Times New Roman"/>
            </a:endParaRPr>
          </a:p>
        </p:txBody>
      </p:sp>
      <p:sp>
        <p:nvSpPr>
          <p:cNvPr id="533" name="Google Shape;533;p54"/>
          <p:cNvSpPr/>
          <p:nvPr/>
        </p:nvSpPr>
        <p:spPr>
          <a:xfrm>
            <a:off x="931650" y="4100432"/>
            <a:ext cx="195600" cy="195600"/>
          </a:xfrm>
          <a:prstGeom prst="ellipse">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54"/>
          <p:cNvSpPr/>
          <p:nvPr/>
        </p:nvSpPr>
        <p:spPr>
          <a:xfrm>
            <a:off x="1552750" y="3912075"/>
            <a:ext cx="1647600" cy="5781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Lựa chọn sản phẩm</a:t>
            </a:r>
            <a:endParaRPr sz="1800"/>
          </a:p>
        </p:txBody>
      </p:sp>
      <p:sp>
        <p:nvSpPr>
          <p:cNvPr id="535" name="Google Shape;535;p54"/>
          <p:cNvSpPr/>
          <p:nvPr/>
        </p:nvSpPr>
        <p:spPr>
          <a:xfrm>
            <a:off x="1552750" y="4674075"/>
            <a:ext cx="1647600" cy="5781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Điền thông tin nhận hàng</a:t>
            </a:r>
            <a:endParaRPr sz="1800"/>
          </a:p>
        </p:txBody>
      </p:sp>
      <p:sp>
        <p:nvSpPr>
          <p:cNvPr id="536" name="Google Shape;536;p54"/>
          <p:cNvSpPr/>
          <p:nvPr/>
        </p:nvSpPr>
        <p:spPr>
          <a:xfrm>
            <a:off x="1552750" y="5436075"/>
            <a:ext cx="1647600" cy="5781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Gửi yêu cầu đặt hàng</a:t>
            </a:r>
            <a:endParaRPr sz="1800"/>
          </a:p>
        </p:txBody>
      </p:sp>
      <p:sp>
        <p:nvSpPr>
          <p:cNvPr id="537" name="Google Shape;537;p54"/>
          <p:cNvSpPr/>
          <p:nvPr/>
        </p:nvSpPr>
        <p:spPr>
          <a:xfrm>
            <a:off x="3598650" y="5633058"/>
            <a:ext cx="195600" cy="195600"/>
          </a:xfrm>
          <a:prstGeom prst="ellipse">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8" name="Google Shape;538;p54"/>
          <p:cNvCxnSpPr>
            <a:stCxn id="533" idx="6"/>
            <a:endCxn id="534" idx="1"/>
          </p:cNvCxnSpPr>
          <p:nvPr/>
        </p:nvCxnSpPr>
        <p:spPr>
          <a:xfrm>
            <a:off x="1127250" y="4198232"/>
            <a:ext cx="425400" cy="3000"/>
          </a:xfrm>
          <a:prstGeom prst="straightConnector1">
            <a:avLst/>
          </a:prstGeom>
          <a:noFill/>
          <a:ln cap="flat" cmpd="sng" w="9525">
            <a:solidFill>
              <a:schemeClr val="dk2"/>
            </a:solidFill>
            <a:prstDash val="solid"/>
            <a:round/>
            <a:headEnd len="med" w="med" type="none"/>
            <a:tailEnd len="med" w="med" type="triangle"/>
          </a:ln>
        </p:spPr>
      </p:cxnSp>
      <p:cxnSp>
        <p:nvCxnSpPr>
          <p:cNvPr id="539" name="Google Shape;539;p54"/>
          <p:cNvCxnSpPr>
            <a:stCxn id="534" idx="2"/>
            <a:endCxn id="535" idx="0"/>
          </p:cNvCxnSpPr>
          <p:nvPr/>
        </p:nvCxnSpPr>
        <p:spPr>
          <a:xfrm>
            <a:off x="2376550" y="4490175"/>
            <a:ext cx="0" cy="183900"/>
          </a:xfrm>
          <a:prstGeom prst="straightConnector1">
            <a:avLst/>
          </a:prstGeom>
          <a:noFill/>
          <a:ln cap="flat" cmpd="sng" w="9525">
            <a:solidFill>
              <a:schemeClr val="dk2"/>
            </a:solidFill>
            <a:prstDash val="solid"/>
            <a:round/>
            <a:headEnd len="med" w="med" type="none"/>
            <a:tailEnd len="med" w="med" type="triangle"/>
          </a:ln>
        </p:spPr>
      </p:cxnSp>
      <p:cxnSp>
        <p:nvCxnSpPr>
          <p:cNvPr id="540" name="Google Shape;540;p54"/>
          <p:cNvCxnSpPr>
            <a:stCxn id="535" idx="2"/>
            <a:endCxn id="536" idx="0"/>
          </p:cNvCxnSpPr>
          <p:nvPr/>
        </p:nvCxnSpPr>
        <p:spPr>
          <a:xfrm>
            <a:off x="2376550" y="5252175"/>
            <a:ext cx="0" cy="183900"/>
          </a:xfrm>
          <a:prstGeom prst="straightConnector1">
            <a:avLst/>
          </a:prstGeom>
          <a:noFill/>
          <a:ln cap="flat" cmpd="sng" w="9525">
            <a:solidFill>
              <a:schemeClr val="dk2"/>
            </a:solidFill>
            <a:prstDash val="solid"/>
            <a:round/>
            <a:headEnd len="med" w="med" type="none"/>
            <a:tailEnd len="med" w="med" type="triangle"/>
          </a:ln>
        </p:spPr>
      </p:cxnSp>
      <p:cxnSp>
        <p:nvCxnSpPr>
          <p:cNvPr id="541" name="Google Shape;541;p54"/>
          <p:cNvCxnSpPr>
            <a:stCxn id="536" idx="3"/>
            <a:endCxn id="537" idx="2"/>
          </p:cNvCxnSpPr>
          <p:nvPr/>
        </p:nvCxnSpPr>
        <p:spPr>
          <a:xfrm>
            <a:off x="3200350" y="5725125"/>
            <a:ext cx="398400" cy="5700"/>
          </a:xfrm>
          <a:prstGeom prst="straightConnector1">
            <a:avLst/>
          </a:prstGeom>
          <a:noFill/>
          <a:ln cap="flat" cmpd="sng" w="9525">
            <a:solidFill>
              <a:schemeClr val="dk2"/>
            </a:solidFill>
            <a:prstDash val="solid"/>
            <a:round/>
            <a:headEnd len="med" w="med" type="none"/>
            <a:tailEnd len="med" w="med" type="triangle"/>
          </a:ln>
        </p:spPr>
      </p:cxnSp>
      <p:sp>
        <p:nvSpPr>
          <p:cNvPr id="542" name="Google Shape;542;p54"/>
          <p:cNvSpPr/>
          <p:nvPr/>
        </p:nvSpPr>
        <p:spPr>
          <a:xfrm>
            <a:off x="4970250" y="3643232"/>
            <a:ext cx="195600" cy="195600"/>
          </a:xfrm>
          <a:prstGeom prst="ellipse">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54"/>
          <p:cNvSpPr/>
          <p:nvPr/>
        </p:nvSpPr>
        <p:spPr>
          <a:xfrm>
            <a:off x="5591350" y="3454875"/>
            <a:ext cx="1647600" cy="5781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Lựa chọn sản phẩm</a:t>
            </a:r>
            <a:endParaRPr sz="1800"/>
          </a:p>
        </p:txBody>
      </p:sp>
      <p:sp>
        <p:nvSpPr>
          <p:cNvPr id="544" name="Google Shape;544;p54"/>
          <p:cNvSpPr/>
          <p:nvPr/>
        </p:nvSpPr>
        <p:spPr>
          <a:xfrm>
            <a:off x="5591350" y="4216875"/>
            <a:ext cx="1647600" cy="5781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Điền thông tin nhận hàng</a:t>
            </a:r>
            <a:endParaRPr sz="1800"/>
          </a:p>
        </p:txBody>
      </p:sp>
      <p:sp>
        <p:nvSpPr>
          <p:cNvPr id="545" name="Google Shape;545;p54"/>
          <p:cNvSpPr/>
          <p:nvPr/>
        </p:nvSpPr>
        <p:spPr>
          <a:xfrm>
            <a:off x="5591350" y="4978875"/>
            <a:ext cx="1647600" cy="5781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t>Gửi yêu cầu đặt hàng</a:t>
            </a:r>
            <a:endParaRPr sz="1800"/>
          </a:p>
        </p:txBody>
      </p:sp>
      <p:sp>
        <p:nvSpPr>
          <p:cNvPr id="546" name="Google Shape;546;p54"/>
          <p:cNvSpPr/>
          <p:nvPr/>
        </p:nvSpPr>
        <p:spPr>
          <a:xfrm>
            <a:off x="7637250" y="5175858"/>
            <a:ext cx="195600" cy="195600"/>
          </a:xfrm>
          <a:prstGeom prst="ellipse">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7" name="Google Shape;547;p54"/>
          <p:cNvCxnSpPr>
            <a:stCxn id="542" idx="6"/>
            <a:endCxn id="543" idx="1"/>
          </p:cNvCxnSpPr>
          <p:nvPr/>
        </p:nvCxnSpPr>
        <p:spPr>
          <a:xfrm>
            <a:off x="5165850" y="3741032"/>
            <a:ext cx="425400" cy="3000"/>
          </a:xfrm>
          <a:prstGeom prst="straightConnector1">
            <a:avLst/>
          </a:prstGeom>
          <a:noFill/>
          <a:ln cap="flat" cmpd="sng" w="9525">
            <a:solidFill>
              <a:schemeClr val="dk2"/>
            </a:solidFill>
            <a:prstDash val="solid"/>
            <a:round/>
            <a:headEnd len="med" w="med" type="none"/>
            <a:tailEnd len="med" w="med" type="triangle"/>
          </a:ln>
        </p:spPr>
      </p:cxnSp>
      <p:cxnSp>
        <p:nvCxnSpPr>
          <p:cNvPr id="548" name="Google Shape;548;p54"/>
          <p:cNvCxnSpPr>
            <a:stCxn id="543" idx="2"/>
            <a:endCxn id="544" idx="0"/>
          </p:cNvCxnSpPr>
          <p:nvPr/>
        </p:nvCxnSpPr>
        <p:spPr>
          <a:xfrm>
            <a:off x="6415150" y="4032975"/>
            <a:ext cx="0" cy="183900"/>
          </a:xfrm>
          <a:prstGeom prst="straightConnector1">
            <a:avLst/>
          </a:prstGeom>
          <a:noFill/>
          <a:ln cap="flat" cmpd="sng" w="9525">
            <a:solidFill>
              <a:schemeClr val="dk2"/>
            </a:solidFill>
            <a:prstDash val="solid"/>
            <a:round/>
            <a:headEnd len="med" w="med" type="none"/>
            <a:tailEnd len="med" w="med" type="triangle"/>
          </a:ln>
        </p:spPr>
      </p:cxnSp>
      <p:cxnSp>
        <p:nvCxnSpPr>
          <p:cNvPr id="549" name="Google Shape;549;p54"/>
          <p:cNvCxnSpPr>
            <a:stCxn id="544" idx="2"/>
            <a:endCxn id="545" idx="0"/>
          </p:cNvCxnSpPr>
          <p:nvPr/>
        </p:nvCxnSpPr>
        <p:spPr>
          <a:xfrm>
            <a:off x="6415150" y="4794975"/>
            <a:ext cx="0" cy="183900"/>
          </a:xfrm>
          <a:prstGeom prst="straightConnector1">
            <a:avLst/>
          </a:prstGeom>
          <a:noFill/>
          <a:ln cap="flat" cmpd="sng" w="9525">
            <a:solidFill>
              <a:schemeClr val="dk2"/>
            </a:solidFill>
            <a:prstDash val="solid"/>
            <a:round/>
            <a:headEnd len="med" w="med" type="none"/>
            <a:tailEnd len="med" w="med" type="triangle"/>
          </a:ln>
        </p:spPr>
      </p:cxnSp>
      <p:cxnSp>
        <p:nvCxnSpPr>
          <p:cNvPr id="550" name="Google Shape;550;p54"/>
          <p:cNvCxnSpPr>
            <a:stCxn id="545" idx="3"/>
            <a:endCxn id="546" idx="2"/>
          </p:cNvCxnSpPr>
          <p:nvPr/>
        </p:nvCxnSpPr>
        <p:spPr>
          <a:xfrm>
            <a:off x="7238950" y="5267925"/>
            <a:ext cx="398400" cy="5700"/>
          </a:xfrm>
          <a:prstGeom prst="straightConnector1">
            <a:avLst/>
          </a:prstGeom>
          <a:noFill/>
          <a:ln cap="flat" cmpd="sng" w="9525">
            <a:solidFill>
              <a:schemeClr val="dk2"/>
            </a:solidFill>
            <a:prstDash val="solid"/>
            <a:round/>
            <a:headEnd len="med" w="med" type="none"/>
            <a:tailEnd len="med" w="med" type="triangle"/>
          </a:ln>
        </p:spPr>
      </p:cxnSp>
      <p:sp>
        <p:nvSpPr>
          <p:cNvPr id="551" name="Google Shape;551;p54"/>
          <p:cNvSpPr txBox="1"/>
          <p:nvPr/>
        </p:nvSpPr>
        <p:spPr>
          <a:xfrm>
            <a:off x="750500" y="727500"/>
            <a:ext cx="3518100" cy="5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600">
                <a:latin typeface="Times New Roman"/>
                <a:ea typeface="Times New Roman"/>
                <a:cs typeface="Times New Roman"/>
                <a:sym typeface="Times New Roman"/>
              </a:rPr>
              <a:t>Sử dụng khung</a:t>
            </a:r>
            <a:endParaRPr b="1" sz="2600">
              <a:latin typeface="Times New Roman"/>
              <a:ea typeface="Times New Roman"/>
              <a:cs typeface="Times New Roman"/>
              <a:sym typeface="Times New Roman"/>
            </a:endParaRPr>
          </a:p>
        </p:txBody>
      </p:sp>
      <p:sp>
        <p:nvSpPr>
          <p:cNvPr id="552" name="Google Shape;552;p54"/>
          <p:cNvSpPr txBox="1"/>
          <p:nvPr/>
        </p:nvSpPr>
        <p:spPr>
          <a:xfrm>
            <a:off x="4873926" y="727500"/>
            <a:ext cx="3518100" cy="5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600">
                <a:latin typeface="Times New Roman"/>
                <a:ea typeface="Times New Roman"/>
                <a:cs typeface="Times New Roman"/>
                <a:sym typeface="Times New Roman"/>
              </a:rPr>
              <a:t>Không s</a:t>
            </a:r>
            <a:r>
              <a:rPr b="1" lang="en-GB" sz="2600">
                <a:latin typeface="Times New Roman"/>
                <a:ea typeface="Times New Roman"/>
                <a:cs typeface="Times New Roman"/>
                <a:sym typeface="Times New Roman"/>
              </a:rPr>
              <a:t>ử dụng khung</a:t>
            </a:r>
            <a:endParaRPr b="1" sz="2600">
              <a:latin typeface="Times New Roman"/>
              <a:ea typeface="Times New Roman"/>
              <a:cs typeface="Times New Roman"/>
              <a:sym typeface="Times New Roman"/>
            </a:endParaRPr>
          </a:p>
        </p:txBody>
      </p:sp>
      <p:sp>
        <p:nvSpPr>
          <p:cNvPr id="553" name="Google Shape;553;p54"/>
          <p:cNvSpPr txBox="1"/>
          <p:nvPr/>
        </p:nvSpPr>
        <p:spPr>
          <a:xfrm>
            <a:off x="750500" y="2736150"/>
            <a:ext cx="7632900" cy="47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sz="2200">
                <a:latin typeface="Times New Roman"/>
                <a:ea typeface="Times New Roman"/>
                <a:cs typeface="Times New Roman"/>
                <a:sym typeface="Times New Roman"/>
              </a:rPr>
              <a:t>Sơ đồ</a:t>
            </a:r>
            <a:r>
              <a:rPr i="1" lang="en-GB" sz="2200">
                <a:latin typeface="Times New Roman"/>
                <a:ea typeface="Times New Roman"/>
                <a:cs typeface="Times New Roman"/>
                <a:sym typeface="Times New Roman"/>
              </a:rPr>
              <a:t> lớp với các lớp trong gói P</a:t>
            </a:r>
            <a:endParaRPr i="1" sz="2200">
              <a:latin typeface="Times New Roman"/>
              <a:ea typeface="Times New Roman"/>
              <a:cs typeface="Times New Roman"/>
              <a:sym typeface="Times New Roman"/>
            </a:endParaRPr>
          </a:p>
        </p:txBody>
      </p:sp>
      <p:sp>
        <p:nvSpPr>
          <p:cNvPr id="554" name="Google Shape;554;p54"/>
          <p:cNvSpPr txBox="1"/>
          <p:nvPr/>
        </p:nvSpPr>
        <p:spPr>
          <a:xfrm>
            <a:off x="750500" y="6088950"/>
            <a:ext cx="8134800" cy="47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sz="2200">
                <a:latin typeface="Times New Roman"/>
                <a:ea typeface="Times New Roman"/>
                <a:cs typeface="Times New Roman"/>
                <a:sym typeface="Times New Roman"/>
              </a:rPr>
              <a:t>Sơ đồ</a:t>
            </a:r>
            <a:r>
              <a:rPr i="1" lang="en-GB" sz="2200">
                <a:latin typeface="Times New Roman"/>
                <a:ea typeface="Times New Roman"/>
                <a:cs typeface="Times New Roman"/>
                <a:sym typeface="Times New Roman"/>
              </a:rPr>
              <a:t> hoạt động của 1 kịch bản tương tác trong CSD Tạo đơn hàng</a:t>
            </a:r>
            <a:endParaRPr i="1" sz="2200">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55"/>
          <p:cNvSpPr txBox="1"/>
          <p:nvPr>
            <p:ph idx="4294967295" type="title"/>
          </p:nvPr>
        </p:nvSpPr>
        <p:spPr>
          <a:xfrm>
            <a:off x="311700" y="2885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loại </a:t>
            </a:r>
            <a:r>
              <a:rPr lang="en-GB"/>
              <a:t>sơ đồ</a:t>
            </a:r>
            <a:r>
              <a:rPr lang="en-GB"/>
              <a:t> UML</a:t>
            </a:r>
            <a:endParaRPr/>
          </a:p>
        </p:txBody>
      </p:sp>
      <p:sp>
        <p:nvSpPr>
          <p:cNvPr id="560" name="Google Shape;560;p5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561" name="Google Shape;561;p55"/>
          <p:cNvGraphicFramePr/>
          <p:nvPr/>
        </p:nvGraphicFramePr>
        <p:xfrm>
          <a:off x="311700" y="1001370"/>
          <a:ext cx="3000000" cy="3000000"/>
        </p:xfrm>
        <a:graphic>
          <a:graphicData uri="http://schemas.openxmlformats.org/drawingml/2006/table">
            <a:tbl>
              <a:tblPr>
                <a:noFill/>
                <a:tableStyleId>{FB86B068-0AB8-465F-A198-9472E0B8EB98}</a:tableStyleId>
              </a:tblPr>
              <a:tblGrid>
                <a:gridCol w="2344475"/>
                <a:gridCol w="4359250"/>
                <a:gridCol w="1816875"/>
              </a:tblGrid>
              <a:tr h="340550">
                <a:tc>
                  <a:txBody>
                    <a:bodyPr/>
                    <a:lstStyle/>
                    <a:p>
                      <a:pPr indent="0" lvl="0" marL="0" rtl="0" algn="l">
                        <a:spcBef>
                          <a:spcPts val="0"/>
                        </a:spcBef>
                        <a:spcAft>
                          <a:spcPts val="0"/>
                        </a:spcAft>
                        <a:buNone/>
                      </a:pPr>
                      <a:r>
                        <a:rPr b="1" lang="en-GB"/>
                        <a:t>Loại </a:t>
                      </a:r>
                      <a:r>
                        <a:rPr b="1" lang="en-GB"/>
                        <a:t>sơ đồ</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GB"/>
                        <a:t>Biểu diễn</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GB"/>
                        <a:t>Từ phiên bản</a:t>
                      </a:r>
                      <a:endParaRPr b="1"/>
                    </a:p>
                  </a:txBody>
                  <a:tcPr marT="91425" marB="91425" marR="91425" marL="91425">
                    <a:lnB cap="flat" cmpd="sng" w="9525">
                      <a:solidFill>
                        <a:srgbClr val="9E9E9E"/>
                      </a:solidFill>
                      <a:prstDash val="solid"/>
                      <a:round/>
                      <a:headEnd len="sm" w="sm" type="none"/>
                      <a:tailEnd len="sm" w="sm" type="none"/>
                    </a:lnB>
                  </a:tcPr>
                </a:tc>
              </a:tr>
              <a:tr h="523950">
                <a:tc>
                  <a:txBody>
                    <a:bodyPr/>
                    <a:lstStyle/>
                    <a:p>
                      <a:pPr indent="0" lvl="0" marL="0" rtl="0" algn="l">
                        <a:spcBef>
                          <a:spcPts val="0"/>
                        </a:spcBef>
                        <a:spcAft>
                          <a:spcPts val="0"/>
                        </a:spcAft>
                        <a:buNone/>
                      </a:pPr>
                      <a:r>
                        <a:rPr lang="en-GB"/>
                        <a:t>Lớp/Class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Lớp, kiểu, giao diện, và các mối quan hệ giữa các thành phần này.</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UML 1.x</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23950">
                <a:tc>
                  <a:txBody>
                    <a:bodyPr/>
                    <a:lstStyle/>
                    <a:p>
                      <a:pPr indent="0" lvl="0" marL="0" rtl="0" algn="l">
                        <a:spcBef>
                          <a:spcPts val="0"/>
                        </a:spcBef>
                        <a:spcAft>
                          <a:spcPts val="0"/>
                        </a:spcAft>
                        <a:buNone/>
                      </a:pPr>
                      <a:r>
                        <a:rPr lang="en-GB"/>
                        <a:t>Đối tượng/Object</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Các đối tượng/thực bản của các lớp trong </a:t>
                      </a:r>
                      <a:r>
                        <a:rPr lang="en-GB"/>
                        <a:t>sơ đồ</a:t>
                      </a:r>
                      <a:r>
                        <a:rPr lang="en-GB"/>
                        <a:t> lớp</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UML 1.x</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23950">
                <a:tc>
                  <a:txBody>
                    <a:bodyPr/>
                    <a:lstStyle/>
                    <a:p>
                      <a:pPr indent="0" lvl="0" marL="0" rtl="0" algn="l">
                        <a:spcBef>
                          <a:spcPts val="0"/>
                        </a:spcBef>
                        <a:spcAft>
                          <a:spcPts val="0"/>
                        </a:spcAft>
                        <a:buNone/>
                      </a:pPr>
                      <a:r>
                        <a:rPr lang="en-GB"/>
                        <a:t>Gói/Package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Cấu trúc phân cấp của các nhóm lớp và các thành phần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UML 2.x</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23950">
                <a:tc>
                  <a:txBody>
                    <a:bodyPr/>
                    <a:lstStyle/>
                    <a:p>
                      <a:pPr indent="0" lvl="0" marL="0" rtl="0" algn="l">
                        <a:spcBef>
                          <a:spcPts val="0"/>
                        </a:spcBef>
                        <a:spcAft>
                          <a:spcPts val="0"/>
                        </a:spcAft>
                        <a:buNone/>
                      </a:pPr>
                      <a:r>
                        <a:rPr lang="en-GB"/>
                        <a:t>Kết cấu/Composite structure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Biểu diễn bên trong của 1 lớp hoặc 1 thành phần, và có thể mô tả các mối quan hệ của lớp trong 1 ngữ cảnh xác định</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UML 2.x</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23950">
                <a:tc>
                  <a:txBody>
                    <a:bodyPr/>
                    <a:lstStyle/>
                    <a:p>
                      <a:pPr indent="0" lvl="0" marL="0" rtl="0" algn="l">
                        <a:spcBef>
                          <a:spcPts val="0"/>
                        </a:spcBef>
                        <a:spcAft>
                          <a:spcPts val="0"/>
                        </a:spcAft>
                        <a:buNone/>
                      </a:pPr>
                      <a:r>
                        <a:rPr lang="en-GB"/>
                        <a:t>Thành phần/Component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Các thành phần quan trọng trong hệ thống và các giao diện được sử dụng để tương tác với các thành phần khác</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UML 1.x, được cập nhật trong UML 2.0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890750">
                <a:tc>
                  <a:txBody>
                    <a:bodyPr/>
                    <a:lstStyle/>
                    <a:p>
                      <a:pPr indent="0" lvl="0" marL="0" rtl="0" algn="l">
                        <a:spcBef>
                          <a:spcPts val="0"/>
                        </a:spcBef>
                        <a:spcAft>
                          <a:spcPts val="0"/>
                        </a:spcAft>
                        <a:buNone/>
                      </a:pPr>
                      <a:r>
                        <a:rPr lang="en-GB"/>
                        <a:t>Triển khai/Deployment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Cách hệ thống sẽ được triển khai trong môi trường thực tế</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UML 1.x</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40550">
                <a:tc>
                  <a:txBody>
                    <a:bodyPr/>
                    <a:lstStyle/>
                    <a:p>
                      <a:pPr indent="0" lvl="0" marL="0" rtl="0" algn="l">
                        <a:spcBef>
                          <a:spcPts val="0"/>
                        </a:spcBef>
                        <a:spcAft>
                          <a:spcPts val="0"/>
                        </a:spcAft>
                        <a:buNone/>
                      </a:pPr>
                      <a:r>
                        <a:rPr lang="en-GB"/>
                        <a:t>Hồ sơ/Profile</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GB"/>
                        <a:t>Mở rộng và tùy chỉnh UML với các thành phần và thuộc tính mới</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GB"/>
                        <a:t>UML 2.x</a:t>
                      </a:r>
                      <a:endParaRPr/>
                    </a:p>
                  </a:txBody>
                  <a:tcPr marT="91425" marB="91425" marR="91425" marL="91425">
                    <a:lnT cap="flat" cmpd="sng" w="9525">
                      <a:solidFill>
                        <a:srgbClr val="9E9E9E"/>
                      </a:solidFill>
                      <a:prstDash val="solid"/>
                      <a:round/>
                      <a:headEnd len="sm" w="sm" type="none"/>
                      <a:tailEnd len="sm" w="sm" type="none"/>
                    </a:lnT>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56"/>
          <p:cNvSpPr txBox="1"/>
          <p:nvPr>
            <p:ph idx="4294967295" type="title"/>
          </p:nvPr>
        </p:nvSpPr>
        <p:spPr>
          <a:xfrm>
            <a:off x="311700" y="2885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a:t>
            </a:r>
            <a:r>
              <a:rPr lang="en-GB"/>
              <a:t>loại</a:t>
            </a:r>
            <a:r>
              <a:rPr lang="en-GB"/>
              <a:t> </a:t>
            </a:r>
            <a:r>
              <a:rPr lang="en-GB"/>
              <a:t>sơ đồ</a:t>
            </a:r>
            <a:r>
              <a:rPr lang="en-GB"/>
              <a:t> UML</a:t>
            </a:r>
            <a:r>
              <a:rPr baseline="-25000" lang="en-GB"/>
              <a:t>(2)</a:t>
            </a:r>
            <a:endParaRPr baseline="-25000"/>
          </a:p>
        </p:txBody>
      </p:sp>
      <p:sp>
        <p:nvSpPr>
          <p:cNvPr id="567" name="Google Shape;567;p5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568" name="Google Shape;568;p56"/>
          <p:cNvGraphicFramePr/>
          <p:nvPr/>
        </p:nvGraphicFramePr>
        <p:xfrm>
          <a:off x="311700" y="1001370"/>
          <a:ext cx="3000000" cy="3000000"/>
        </p:xfrm>
        <a:graphic>
          <a:graphicData uri="http://schemas.openxmlformats.org/drawingml/2006/table">
            <a:tbl>
              <a:tblPr>
                <a:noFill/>
                <a:tableStyleId>{FB86B068-0AB8-465F-A198-9472E0B8EB98}</a:tableStyleId>
              </a:tblPr>
              <a:tblGrid>
                <a:gridCol w="2344475"/>
                <a:gridCol w="4359250"/>
                <a:gridCol w="1816875"/>
              </a:tblGrid>
              <a:tr h="340550">
                <a:tc>
                  <a:txBody>
                    <a:bodyPr/>
                    <a:lstStyle/>
                    <a:p>
                      <a:pPr indent="0" lvl="0" marL="0" rtl="0" algn="l">
                        <a:spcBef>
                          <a:spcPts val="0"/>
                        </a:spcBef>
                        <a:spcAft>
                          <a:spcPts val="0"/>
                        </a:spcAft>
                        <a:buNone/>
                      </a:pPr>
                      <a:r>
                        <a:rPr b="1" lang="en-GB"/>
                        <a:t>Loại </a:t>
                      </a:r>
                      <a:r>
                        <a:rPr b="1" lang="en-GB"/>
                        <a:t>sơ đồ</a:t>
                      </a:r>
                      <a:endParaRPr b="1"/>
                    </a:p>
                  </a:txBody>
                  <a:tcPr marT="91425" marB="91425" marR="91425" marL="91425"/>
                </a:tc>
                <a:tc>
                  <a:txBody>
                    <a:bodyPr/>
                    <a:lstStyle/>
                    <a:p>
                      <a:pPr indent="0" lvl="0" marL="0" rtl="0" algn="l">
                        <a:spcBef>
                          <a:spcPts val="0"/>
                        </a:spcBef>
                        <a:spcAft>
                          <a:spcPts val="0"/>
                        </a:spcAft>
                        <a:buNone/>
                      </a:pPr>
                      <a:r>
                        <a:rPr b="1" lang="en-GB"/>
                        <a:t>Biểu diễn</a:t>
                      </a:r>
                      <a:endParaRPr b="1"/>
                    </a:p>
                  </a:txBody>
                  <a:tcPr marT="91425" marB="91425" marR="91425" marL="91425"/>
                </a:tc>
                <a:tc>
                  <a:txBody>
                    <a:bodyPr/>
                    <a:lstStyle/>
                    <a:p>
                      <a:pPr indent="0" lvl="0" marL="0" rtl="0" algn="l">
                        <a:spcBef>
                          <a:spcPts val="0"/>
                        </a:spcBef>
                        <a:spcAft>
                          <a:spcPts val="0"/>
                        </a:spcAft>
                        <a:buNone/>
                      </a:pPr>
                      <a:r>
                        <a:rPr b="1" lang="en-GB"/>
                        <a:t>Từ phiên bản</a:t>
                      </a:r>
                      <a:endParaRPr b="1"/>
                    </a:p>
                  </a:txBody>
                  <a:tcPr marT="91425" marB="91425" marR="91425" marL="91425"/>
                </a:tc>
              </a:tr>
              <a:tr h="523950">
                <a:tc>
                  <a:txBody>
                    <a:bodyPr/>
                    <a:lstStyle/>
                    <a:p>
                      <a:pPr indent="0" lvl="0" marL="0" rtl="0" algn="l">
                        <a:spcBef>
                          <a:spcPts val="0"/>
                        </a:spcBef>
                        <a:spcAft>
                          <a:spcPts val="0"/>
                        </a:spcAft>
                        <a:buNone/>
                      </a:pPr>
                      <a:r>
                        <a:rPr lang="en-GB"/>
                        <a:t>Ca sử dụng/Use Case</a:t>
                      </a:r>
                      <a:endParaRPr/>
                    </a:p>
                  </a:txBody>
                  <a:tcPr marT="91425" marB="91425" marR="91425" marL="91425"/>
                </a:tc>
                <a:tc>
                  <a:txBody>
                    <a:bodyPr/>
                    <a:lstStyle/>
                    <a:p>
                      <a:pPr indent="0" lvl="0" marL="0" rtl="0" algn="l">
                        <a:spcBef>
                          <a:spcPts val="0"/>
                        </a:spcBef>
                        <a:spcAft>
                          <a:spcPts val="0"/>
                        </a:spcAft>
                        <a:buNone/>
                      </a:pPr>
                      <a:r>
                        <a:rPr lang="en-GB"/>
                        <a:t>Tương tác giữa hệ thống với người dùng và các hệ thống ngoại.</a:t>
                      </a:r>
                      <a:endParaRPr/>
                    </a:p>
                  </a:txBody>
                  <a:tcPr marT="91425" marB="91425" marR="91425" marL="91425"/>
                </a:tc>
                <a:tc>
                  <a:txBody>
                    <a:bodyPr/>
                    <a:lstStyle/>
                    <a:p>
                      <a:pPr indent="0" lvl="0" marL="0" rtl="0" algn="l">
                        <a:spcBef>
                          <a:spcPts val="0"/>
                        </a:spcBef>
                        <a:spcAft>
                          <a:spcPts val="0"/>
                        </a:spcAft>
                        <a:buNone/>
                      </a:pPr>
                      <a:r>
                        <a:rPr lang="en-GB"/>
                        <a:t>UML 1.x</a:t>
                      </a:r>
                      <a:endParaRPr/>
                    </a:p>
                  </a:txBody>
                  <a:tcPr marT="91425" marB="91425" marR="91425" marL="91425"/>
                </a:tc>
              </a:tr>
              <a:tr h="523950">
                <a:tc>
                  <a:txBody>
                    <a:bodyPr/>
                    <a:lstStyle/>
                    <a:p>
                      <a:pPr indent="0" lvl="0" marL="0" rtl="0" algn="l">
                        <a:spcBef>
                          <a:spcPts val="0"/>
                        </a:spcBef>
                        <a:spcAft>
                          <a:spcPts val="0"/>
                        </a:spcAft>
                        <a:buNone/>
                      </a:pPr>
                      <a:r>
                        <a:rPr lang="en-GB"/>
                        <a:t>Hoạt động/Activity</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Các hoạt động tuần tự và song song diễn ra trong hệ thống</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UML 1.x</a:t>
                      </a:r>
                      <a:endParaRPr/>
                    </a:p>
                  </a:txBody>
                  <a:tcPr marT="91425" marB="91425" marR="91425" marL="91425">
                    <a:lnB cap="flat" cmpd="sng" w="9525">
                      <a:solidFill>
                        <a:srgbClr val="9E9E9E"/>
                      </a:solidFill>
                      <a:prstDash val="solid"/>
                      <a:round/>
                      <a:headEnd len="sm" w="sm" type="none"/>
                      <a:tailEnd len="sm" w="sm" type="none"/>
                    </a:lnB>
                  </a:tcPr>
                </a:tc>
              </a:tr>
              <a:tr h="523950">
                <a:tc>
                  <a:txBody>
                    <a:bodyPr/>
                    <a:lstStyle/>
                    <a:p>
                      <a:pPr indent="0" lvl="0" marL="0" rtl="0" algn="l">
                        <a:spcBef>
                          <a:spcPts val="0"/>
                        </a:spcBef>
                        <a:spcAft>
                          <a:spcPts val="0"/>
                        </a:spcAft>
                        <a:buNone/>
                      </a:pPr>
                      <a:r>
                        <a:rPr lang="en-GB"/>
                        <a:t>Máy trạng thái/State Machine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Trạng thái của đối tượng trong suốt thời gian tồn tại và các sự kiện làm thay đổi trạng thái của đối tượng</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UML 1.x</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23950">
                <a:tc>
                  <a:txBody>
                    <a:bodyPr/>
                    <a:lstStyle/>
                    <a:p>
                      <a:pPr indent="0" lvl="0" marL="0" rtl="0" algn="l">
                        <a:spcBef>
                          <a:spcPts val="0"/>
                        </a:spcBef>
                        <a:spcAft>
                          <a:spcPts val="0"/>
                        </a:spcAft>
                        <a:buNone/>
                      </a:pPr>
                      <a:r>
                        <a:rPr lang="en-GB"/>
                        <a:t>Tuần tự/Sequence</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GB"/>
                        <a:t>Tương tác giữa các đối tượng trong trường hợp thứ tự tương tác có ý nghĩa quan trọng.</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GB"/>
                        <a:t>UML 1.x</a:t>
                      </a:r>
                      <a:endParaRPr/>
                    </a:p>
                  </a:txBody>
                  <a:tcPr marT="91425" marB="91425" marR="91425" marL="91425">
                    <a:lnT cap="flat" cmpd="sng" w="9525">
                      <a:solidFill>
                        <a:srgbClr val="9E9E9E"/>
                      </a:solidFill>
                      <a:prstDash val="solid"/>
                      <a:round/>
                      <a:headEnd len="sm" w="sm" type="none"/>
                      <a:tailEnd len="sm" w="sm" type="none"/>
                    </a:lnT>
                  </a:tcPr>
                </a:tc>
              </a:tr>
              <a:tr h="890750">
                <a:tc>
                  <a:txBody>
                    <a:bodyPr/>
                    <a:lstStyle/>
                    <a:p>
                      <a:pPr indent="0" lvl="0" marL="0" rtl="0" algn="l">
                        <a:spcBef>
                          <a:spcPts val="0"/>
                        </a:spcBef>
                        <a:spcAft>
                          <a:spcPts val="0"/>
                        </a:spcAft>
                        <a:buNone/>
                      </a:pPr>
                      <a:r>
                        <a:rPr lang="en-GB"/>
                        <a:t>Giao tiếp/Communication</a:t>
                      </a:r>
                      <a:endParaRPr/>
                    </a:p>
                  </a:txBody>
                  <a:tcPr marT="91425" marB="91425" marR="91425" marL="91425"/>
                </a:tc>
                <a:tc>
                  <a:txBody>
                    <a:bodyPr/>
                    <a:lstStyle/>
                    <a:p>
                      <a:pPr indent="0" lvl="0" marL="0" rtl="0" algn="l">
                        <a:spcBef>
                          <a:spcPts val="0"/>
                        </a:spcBef>
                        <a:spcAft>
                          <a:spcPts val="0"/>
                        </a:spcAft>
                        <a:buNone/>
                      </a:pPr>
                      <a:r>
                        <a:rPr lang="en-GB"/>
                        <a:t>Cách các đối tượng tương tác và các liên kết cần thiết để thực hiện các tương tác</a:t>
                      </a:r>
                      <a:endParaRPr/>
                    </a:p>
                  </a:txBody>
                  <a:tcPr marT="91425" marB="91425" marR="91425" marL="91425"/>
                </a:tc>
                <a:tc>
                  <a:txBody>
                    <a:bodyPr/>
                    <a:lstStyle/>
                    <a:p>
                      <a:pPr indent="0" lvl="0" marL="0" rtl="0" algn="l">
                        <a:spcBef>
                          <a:spcPts val="0"/>
                        </a:spcBef>
                        <a:spcAft>
                          <a:spcPts val="0"/>
                        </a:spcAft>
                        <a:buNone/>
                      </a:pPr>
                      <a:r>
                        <a:rPr lang="en-GB"/>
                        <a:t>Đổi tên </a:t>
                      </a:r>
                      <a:r>
                        <a:rPr lang="en-GB"/>
                        <a:t>sơ đồ</a:t>
                      </a:r>
                      <a:r>
                        <a:rPr lang="en-GB"/>
                        <a:t> cộng tác/collaboration, UML 1.x</a:t>
                      </a:r>
                      <a:endParaRPr/>
                    </a:p>
                  </a:txBody>
                  <a:tcPr marT="91425" marB="91425" marR="91425" marL="91425"/>
                </a:tc>
              </a:tr>
              <a:tr h="340550">
                <a:tc>
                  <a:txBody>
                    <a:bodyPr/>
                    <a:lstStyle/>
                    <a:p>
                      <a:pPr indent="0" lvl="0" marL="0" rtl="0" algn="l">
                        <a:spcBef>
                          <a:spcPts val="0"/>
                        </a:spcBef>
                        <a:spcAft>
                          <a:spcPts val="0"/>
                        </a:spcAft>
                        <a:buNone/>
                      </a:pPr>
                      <a:r>
                        <a:rPr lang="en-GB"/>
                        <a:t>Tính giờ/Timing</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Tương tác giữa các đối tượng trong trường hợp thời gian là yếu tố quan trọng</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UML 2.x</a:t>
                      </a:r>
                      <a:endParaRPr/>
                    </a:p>
                  </a:txBody>
                  <a:tcPr marT="91425" marB="91425" marR="91425" marL="91425">
                    <a:lnB cap="flat" cmpd="sng" w="9525">
                      <a:solidFill>
                        <a:srgbClr val="9E9E9E"/>
                      </a:solidFill>
                      <a:prstDash val="solid"/>
                      <a:round/>
                      <a:headEnd len="sm" w="sm" type="none"/>
                      <a:tailEnd len="sm" w="sm" type="none"/>
                    </a:lnB>
                  </a:tcPr>
                </a:tc>
              </a:tr>
              <a:tr h="340550">
                <a:tc>
                  <a:txBody>
                    <a:bodyPr/>
                    <a:lstStyle/>
                    <a:p>
                      <a:pPr indent="0" lvl="0" marL="0" rtl="0" algn="l">
                        <a:spcBef>
                          <a:spcPts val="0"/>
                        </a:spcBef>
                        <a:spcAft>
                          <a:spcPts val="0"/>
                        </a:spcAft>
                        <a:buNone/>
                      </a:pPr>
                      <a:r>
                        <a:rPr lang="en-GB"/>
                        <a:t>Tương tác tổng quan/Interaction Overview</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Được sử dụng để tổng hợp các </a:t>
                      </a:r>
                      <a:r>
                        <a:rPr lang="en-GB"/>
                        <a:t>sơ đồ</a:t>
                      </a:r>
                      <a:r>
                        <a:rPr lang="en-GB"/>
                        <a:t> tuần tự, giao tiếp, và tính giờ để tìm tương tác quan trọng diễn ra trong hệ thống</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UML 2.x</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5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574" name="Google Shape;574;p57"/>
          <p:cNvPicPr preferRelativeResize="0"/>
          <p:nvPr/>
        </p:nvPicPr>
        <p:blipFill>
          <a:blip r:embed="rId3">
            <a:alphaModFix/>
          </a:blip>
          <a:stretch>
            <a:fillRect/>
          </a:stretch>
        </p:blipFill>
        <p:spPr>
          <a:xfrm>
            <a:off x="152400" y="1225175"/>
            <a:ext cx="8839199" cy="4517701"/>
          </a:xfrm>
          <a:prstGeom prst="rect">
            <a:avLst/>
          </a:prstGeom>
          <a:noFill/>
          <a:ln>
            <a:noFill/>
          </a:ln>
        </p:spPr>
      </p:pic>
      <p:sp>
        <p:nvSpPr>
          <p:cNvPr id="575" name="Google Shape;575;p57"/>
          <p:cNvSpPr txBox="1"/>
          <p:nvPr>
            <p:ph idx="4294967295" type="title"/>
          </p:nvPr>
        </p:nvSpPr>
        <p:spPr>
          <a:xfrm>
            <a:off x="311700" y="364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Phân loại </a:t>
            </a:r>
            <a:r>
              <a:rPr lang="en-GB"/>
              <a:t>sơ đồ</a:t>
            </a:r>
            <a:r>
              <a:rPr lang="en-GB"/>
              <a:t> UML 2.5</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5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581" name="Google Shape;581;p58"/>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Một số khái niệm cơ bản</a:t>
            </a:r>
            <a:endParaRPr/>
          </a:p>
          <a:p>
            <a:pPr indent="-393700" lvl="0" marL="457200" rtl="0" algn="l">
              <a:spcBef>
                <a:spcPts val="0"/>
              </a:spcBef>
              <a:spcAft>
                <a:spcPts val="0"/>
              </a:spcAft>
              <a:buSzPts val="2600"/>
              <a:buChar char="●"/>
            </a:pPr>
            <a:r>
              <a:rPr lang="en-GB"/>
              <a:t>Vòng đời phát triển hệ thống (SDLC)</a:t>
            </a:r>
            <a:endParaRPr/>
          </a:p>
          <a:p>
            <a:pPr indent="-393700" lvl="0" marL="457200" rtl="0" algn="l">
              <a:spcBef>
                <a:spcPts val="0"/>
              </a:spcBef>
              <a:spcAft>
                <a:spcPts val="0"/>
              </a:spcAft>
              <a:buSzPts val="2600"/>
              <a:buChar char="●"/>
            </a:pPr>
            <a:r>
              <a:rPr lang="en-GB"/>
              <a:t>Hai cách tiếp cận phát triển hệ thống</a:t>
            </a:r>
            <a:endParaRPr/>
          </a:p>
          <a:p>
            <a:pPr indent="-393700" lvl="0" marL="457200" rtl="0" algn="l">
              <a:spcBef>
                <a:spcPts val="0"/>
              </a:spcBef>
              <a:spcAft>
                <a:spcPts val="0"/>
              </a:spcAft>
              <a:buSzPts val="2600"/>
              <a:buChar char="●"/>
            </a:pPr>
            <a:r>
              <a:rPr lang="en-GB"/>
              <a:t>Ngôn ngữ mô hình hóa hợp nhất (UML)</a:t>
            </a:r>
            <a:endParaRPr/>
          </a:p>
          <a:p>
            <a:pPr indent="-393700" lvl="0" marL="457200" rtl="0" algn="l">
              <a:spcBef>
                <a:spcPts val="0"/>
              </a:spcBef>
              <a:spcAft>
                <a:spcPts val="0"/>
              </a:spcAft>
              <a:buSzPts val="2600"/>
              <a:buChar char="●"/>
            </a:pPr>
            <a:r>
              <a:rPr lang="en-GB"/>
              <a:t>Môi trường &amp; Nhu cầu</a:t>
            </a:r>
            <a:endParaRPr/>
          </a:p>
          <a:p>
            <a:pPr indent="-393700" lvl="0" marL="457200" rtl="0" algn="l">
              <a:spcBef>
                <a:spcPts val="0"/>
              </a:spcBef>
              <a:spcAft>
                <a:spcPts val="0"/>
              </a:spcAft>
              <a:buSzPts val="2600"/>
              <a:buChar char="●"/>
            </a:pPr>
            <a:r>
              <a:rPr lang="en-GB"/>
              <a:t>Xác định yêu cầu</a:t>
            </a:r>
            <a:endParaRPr/>
          </a:p>
        </p:txBody>
      </p:sp>
      <p:sp>
        <p:nvSpPr>
          <p:cNvPr id="582" name="Google Shape;582;p5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83" name="Google Shape;583;p58"/>
          <p:cNvSpPr/>
          <p:nvPr/>
        </p:nvSpPr>
        <p:spPr>
          <a:xfrm>
            <a:off x="350875" y="3312547"/>
            <a:ext cx="4178100" cy="723900"/>
          </a:xfrm>
          <a:prstGeom prst="rightArrow">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5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Tạo lập dự án</a:t>
            </a:r>
            <a:endParaRPr/>
          </a:p>
        </p:txBody>
      </p:sp>
      <p:sp>
        <p:nvSpPr>
          <p:cNvPr id="589" name="Google Shape;589;p59"/>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Dự án thường được phát sinh từ các nhu cầu nghiệp vụ</a:t>
            </a:r>
            <a:endParaRPr/>
          </a:p>
          <a:p>
            <a:pPr indent="-393700" lvl="0" marL="457200" rtl="0" algn="l">
              <a:spcBef>
                <a:spcPts val="0"/>
              </a:spcBef>
              <a:spcAft>
                <a:spcPts val="0"/>
              </a:spcAft>
              <a:buSzPts val="2600"/>
              <a:buChar char="●"/>
            </a:pPr>
            <a:r>
              <a:rPr lang="en-GB"/>
              <a:t>Có thể được xác định bởi người làm nghiệp vụ</a:t>
            </a:r>
            <a:endParaRPr/>
          </a:p>
          <a:p>
            <a:pPr indent="-393700" lvl="0" marL="457200" rtl="0" algn="l">
              <a:spcBef>
                <a:spcPts val="0"/>
              </a:spcBef>
              <a:spcAft>
                <a:spcPts val="0"/>
              </a:spcAft>
              <a:buSzPts val="2600"/>
              <a:buChar char="●"/>
            </a:pPr>
            <a:r>
              <a:rPr lang="en-GB"/>
              <a:t>Có thể được xác định bởi người làm CNTT</a:t>
            </a:r>
            <a:endParaRPr/>
          </a:p>
          <a:p>
            <a:pPr indent="-393700" lvl="0" marL="457200" rtl="0" algn="l">
              <a:spcBef>
                <a:spcPts val="0"/>
              </a:spcBef>
              <a:spcAft>
                <a:spcPts val="0"/>
              </a:spcAft>
              <a:buSzPts val="2600"/>
              <a:buChar char="●"/>
            </a:pPr>
            <a:r>
              <a:rPr lang="en-GB"/>
              <a:t>Hoặc (tốt hơn nữa) được xác định đồng thời bởi cả </a:t>
            </a:r>
            <a:r>
              <a:rPr lang="en-GB"/>
              <a:t>2 bên</a:t>
            </a:r>
            <a:r>
              <a:rPr lang="en-GB"/>
              <a:t>.</a:t>
            </a:r>
            <a:endParaRPr/>
          </a:p>
        </p:txBody>
      </p:sp>
      <p:sp>
        <p:nvSpPr>
          <p:cNvPr id="590" name="Google Shape;590;p5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6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Tạo lập dự án</a:t>
            </a:r>
            <a:r>
              <a:rPr baseline="-25000" lang="en-GB"/>
              <a:t>(2)</a:t>
            </a:r>
            <a:endParaRPr baseline="-25000"/>
          </a:p>
        </p:txBody>
      </p:sp>
      <p:sp>
        <p:nvSpPr>
          <p:cNvPr id="596" name="Google Shape;596;p60"/>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dự án phát triển Hệ thống thông tin thường:</a:t>
            </a:r>
            <a:endParaRPr/>
          </a:p>
          <a:p>
            <a:pPr indent="-393700" lvl="0" marL="457200" rtl="0" algn="l">
              <a:spcBef>
                <a:spcPts val="0"/>
              </a:spcBef>
              <a:spcAft>
                <a:spcPts val="0"/>
              </a:spcAft>
              <a:buSzPts val="2600"/>
              <a:buChar char="●"/>
            </a:pPr>
            <a:r>
              <a:rPr lang="en-GB"/>
              <a:t>Khai thác 1 tiềm năng</a:t>
            </a:r>
            <a:endParaRPr/>
          </a:p>
          <a:p>
            <a:pPr indent="-368300" lvl="1" marL="914400" rtl="0" algn="l">
              <a:spcBef>
                <a:spcPts val="0"/>
              </a:spcBef>
              <a:spcAft>
                <a:spcPts val="0"/>
              </a:spcAft>
              <a:buSzPts val="2200"/>
              <a:buChar char="○"/>
            </a:pPr>
            <a:r>
              <a:rPr lang="en-GB"/>
              <a:t>Bước đi chiến lược</a:t>
            </a:r>
            <a:endParaRPr/>
          </a:p>
          <a:p>
            <a:pPr indent="-368300" lvl="1" marL="914400" rtl="0" algn="l">
              <a:spcBef>
                <a:spcPts val="0"/>
              </a:spcBef>
              <a:spcAft>
                <a:spcPts val="0"/>
              </a:spcAft>
              <a:buSzPts val="2200"/>
              <a:buChar char="○"/>
            </a:pPr>
            <a:r>
              <a:rPr lang="en-GB"/>
              <a:t>Đem lại lợi thế cạnh tranh</a:t>
            </a:r>
            <a:endParaRPr/>
          </a:p>
          <a:p>
            <a:pPr indent="-393700" lvl="0" marL="457200" rtl="0" algn="l">
              <a:spcBef>
                <a:spcPts val="0"/>
              </a:spcBef>
              <a:spcAft>
                <a:spcPts val="0"/>
              </a:spcAft>
              <a:buSzPts val="2600"/>
              <a:buChar char="●"/>
            </a:pPr>
            <a:r>
              <a:rPr lang="en-GB"/>
              <a:t>Giải quyết 1 vấn đề:</a:t>
            </a:r>
            <a:endParaRPr/>
          </a:p>
          <a:p>
            <a:pPr indent="-368300" lvl="1" marL="914400" rtl="0" algn="l">
              <a:spcBef>
                <a:spcPts val="0"/>
              </a:spcBef>
              <a:spcAft>
                <a:spcPts val="0"/>
              </a:spcAft>
              <a:buSzPts val="2200"/>
              <a:buChar char="○"/>
            </a:pPr>
            <a:r>
              <a:rPr lang="en-GB"/>
              <a:t>Hệ thống hiện tại liên tục phát sinh sự cố vận hành</a:t>
            </a:r>
            <a:endParaRPr/>
          </a:p>
          <a:p>
            <a:pPr indent="-368300" lvl="1" marL="914400" rtl="0" algn="l">
              <a:spcBef>
                <a:spcPts val="0"/>
              </a:spcBef>
              <a:spcAft>
                <a:spcPts val="0"/>
              </a:spcAft>
              <a:buSzPts val="2200"/>
              <a:buChar char="○"/>
            </a:pPr>
            <a:r>
              <a:rPr lang="en-GB"/>
              <a:t>Nhu cầu người dùng không được đáp ứng</a:t>
            </a:r>
            <a:endParaRPr/>
          </a:p>
          <a:p>
            <a:pPr indent="-393700" lvl="0" marL="457200" rtl="0" algn="l">
              <a:spcBef>
                <a:spcPts val="0"/>
              </a:spcBef>
              <a:spcAft>
                <a:spcPts val="0"/>
              </a:spcAft>
              <a:buSzPts val="2600"/>
              <a:buChar char="●"/>
            </a:pPr>
            <a:r>
              <a:rPr lang="en-GB"/>
              <a:t>Đáp ứng 1 chỉ thị từ bên ngoài</a:t>
            </a:r>
            <a:endParaRPr/>
          </a:p>
          <a:p>
            <a:pPr indent="-368300" lvl="1" marL="914400" rtl="0" algn="l">
              <a:spcBef>
                <a:spcPts val="0"/>
              </a:spcBef>
              <a:spcAft>
                <a:spcPts val="0"/>
              </a:spcAft>
              <a:buSzPts val="2200"/>
              <a:buChar char="○"/>
            </a:pPr>
            <a:r>
              <a:rPr lang="en-GB"/>
              <a:t>Tạo lập các biểu mẫu báo cáo theo quy định của pháp luật</a:t>
            </a:r>
            <a:endParaRPr/>
          </a:p>
        </p:txBody>
      </p:sp>
      <p:sp>
        <p:nvSpPr>
          <p:cNvPr id="597" name="Google Shape;597;p6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61"/>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Tạo lập dự án</a:t>
            </a:r>
            <a:r>
              <a:rPr baseline="-25000" lang="en-GB"/>
              <a:t>(3)</a:t>
            </a:r>
            <a:endParaRPr baseline="-25000"/>
          </a:p>
        </p:txBody>
      </p:sp>
      <p:sp>
        <p:nvSpPr>
          <p:cNvPr id="603" name="Google Shape;603;p61"/>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Có thể chia các giá trị mà dự án sẽ tạo ra thành 2 nhóm:</a:t>
            </a:r>
            <a:endParaRPr/>
          </a:p>
          <a:p>
            <a:pPr indent="-393700" lvl="0" marL="457200" rtl="0" algn="l">
              <a:spcBef>
                <a:spcPts val="0"/>
              </a:spcBef>
              <a:spcAft>
                <a:spcPts val="0"/>
              </a:spcAft>
              <a:buSzPts val="2600"/>
              <a:buChar char="●"/>
            </a:pPr>
            <a:r>
              <a:rPr lang="en-GB"/>
              <a:t>Giá trị hữu hình</a:t>
            </a:r>
            <a:endParaRPr/>
          </a:p>
          <a:p>
            <a:pPr indent="-368300" lvl="1" marL="914400" rtl="0" algn="l">
              <a:spcBef>
                <a:spcPts val="0"/>
              </a:spcBef>
              <a:spcAft>
                <a:spcPts val="0"/>
              </a:spcAft>
              <a:buSzPts val="2200"/>
              <a:buChar char="○"/>
            </a:pPr>
            <a:r>
              <a:rPr lang="en-GB"/>
              <a:t>Có thể định lượng và đo đếm trực tiếp được</a:t>
            </a:r>
            <a:endParaRPr/>
          </a:p>
          <a:p>
            <a:pPr indent="-368300" lvl="1" marL="914400" rtl="0" algn="l">
              <a:spcBef>
                <a:spcPts val="0"/>
              </a:spcBef>
              <a:spcAft>
                <a:spcPts val="0"/>
              </a:spcAft>
              <a:buSzPts val="2200"/>
              <a:buChar char="○"/>
            </a:pPr>
            <a:r>
              <a:rPr lang="en-GB"/>
              <a:t>Ví dụ: giảm 2% trong chi phí vận hành</a:t>
            </a:r>
            <a:endParaRPr/>
          </a:p>
          <a:p>
            <a:pPr indent="-393700" lvl="0" marL="457200" rtl="0" algn="l">
              <a:spcBef>
                <a:spcPts val="0"/>
              </a:spcBef>
              <a:spcAft>
                <a:spcPts val="0"/>
              </a:spcAft>
              <a:buSzPts val="2600"/>
              <a:buChar char="●"/>
            </a:pPr>
            <a:r>
              <a:rPr lang="en-GB"/>
              <a:t>Giá trị vô hình</a:t>
            </a:r>
            <a:endParaRPr/>
          </a:p>
          <a:p>
            <a:pPr indent="-368300" lvl="1" marL="914400" rtl="0" algn="just">
              <a:spcBef>
                <a:spcPts val="0"/>
              </a:spcBef>
              <a:spcAft>
                <a:spcPts val="0"/>
              </a:spcAft>
              <a:buSzPts val="2200"/>
              <a:buChar char="○"/>
            </a:pPr>
            <a:r>
              <a:rPr lang="en-GB"/>
              <a:t>Chúng ta biết nó sẽ tạo ra giá trị và tiết kiệm thời gian, nhưng chúng ta có thể không định lượng được hoặc đo được những lợi ích của nó</a:t>
            </a:r>
            <a:endParaRPr/>
          </a:p>
          <a:p>
            <a:pPr indent="-368300" lvl="1" marL="914400" rtl="0" algn="just">
              <a:spcBef>
                <a:spcPts val="0"/>
              </a:spcBef>
              <a:spcAft>
                <a:spcPts val="0"/>
              </a:spcAft>
              <a:buSzPts val="2200"/>
              <a:buChar char="○"/>
            </a:pPr>
            <a:r>
              <a:rPr lang="en-GB"/>
              <a:t>Ví dụ: Làm khách hàng hài lòng hơn; nâng cao trình độ chuyên môn trong bộ phận IT; v.v.</a:t>
            </a:r>
            <a:endParaRPr/>
          </a:p>
        </p:txBody>
      </p:sp>
      <p:sp>
        <p:nvSpPr>
          <p:cNvPr id="604" name="Google Shape;604;p6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62"/>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Đánh giá tính khả thi</a:t>
            </a:r>
            <a:endParaRPr/>
          </a:p>
        </p:txBody>
      </p:sp>
      <p:sp>
        <p:nvSpPr>
          <p:cNvPr id="610" name="Google Shape;610;p62"/>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Dự án này có khả thi hay không?</a:t>
            </a:r>
            <a:endParaRPr/>
          </a:p>
          <a:p>
            <a:pPr indent="-368300" lvl="1" marL="914400" rtl="0" algn="l">
              <a:spcBef>
                <a:spcPts val="0"/>
              </a:spcBef>
              <a:spcAft>
                <a:spcPts val="0"/>
              </a:spcAft>
              <a:buSzPts val="2200"/>
              <a:buChar char="○"/>
            </a:pPr>
            <a:r>
              <a:rPr lang="en-GB"/>
              <a:t>Các rủi ro là gì?</a:t>
            </a:r>
            <a:endParaRPr/>
          </a:p>
          <a:p>
            <a:pPr indent="-368300" lvl="1" marL="914400" rtl="0" algn="l">
              <a:spcBef>
                <a:spcPts val="0"/>
              </a:spcBef>
              <a:spcAft>
                <a:spcPts val="0"/>
              </a:spcAft>
              <a:buSzPts val="2200"/>
              <a:buChar char="○"/>
            </a:pPr>
            <a:r>
              <a:rPr lang="en-GB"/>
              <a:t>Có tránh được những rủi ro đó hay không?</a:t>
            </a:r>
            <a:endParaRPr/>
          </a:p>
          <a:p>
            <a:pPr indent="-393700" lvl="0" marL="457200" rtl="0" algn="l">
              <a:spcBef>
                <a:spcPts val="0"/>
              </a:spcBef>
              <a:spcAft>
                <a:spcPts val="0"/>
              </a:spcAft>
              <a:buSzPts val="2600"/>
              <a:buChar char="●"/>
            </a:pPr>
            <a:r>
              <a:rPr lang="en-GB"/>
              <a:t>Các thành phần chính:</a:t>
            </a:r>
            <a:endParaRPr/>
          </a:p>
          <a:p>
            <a:pPr indent="-368300" lvl="1" marL="914400" rtl="0" algn="l">
              <a:spcBef>
                <a:spcPts val="0"/>
              </a:spcBef>
              <a:spcAft>
                <a:spcPts val="0"/>
              </a:spcAft>
              <a:buSzPts val="2200"/>
              <a:buChar char="○"/>
            </a:pPr>
            <a:r>
              <a:rPr lang="en-GB"/>
              <a:t>Tính khả thi kỹ thuật (Có đủ khả năng xây dựng nó?)</a:t>
            </a:r>
            <a:endParaRPr/>
          </a:p>
          <a:p>
            <a:pPr indent="-368300" lvl="1" marL="914400" rtl="0" algn="l">
              <a:spcBef>
                <a:spcPts val="0"/>
              </a:spcBef>
              <a:spcAft>
                <a:spcPts val="0"/>
              </a:spcAft>
              <a:buSzPts val="2200"/>
              <a:buChar char="○"/>
            </a:pPr>
            <a:r>
              <a:rPr lang="en-GB"/>
              <a:t>Tính khả thi kinh tế (Có lợi khi xây dựng nó?)</a:t>
            </a:r>
            <a:endParaRPr/>
          </a:p>
          <a:p>
            <a:pPr indent="-368300" lvl="1" marL="914400" rtl="0" algn="l">
              <a:spcBef>
                <a:spcPts val="0"/>
              </a:spcBef>
              <a:spcAft>
                <a:spcPts val="0"/>
              </a:spcAft>
              <a:buSzPts val="2200"/>
              <a:buChar char="○"/>
            </a:pPr>
            <a:r>
              <a:rPr lang="en-GB"/>
              <a:t>Tính khả thi tổ chức (Mọi người sẽ sử dụng nó?)</a:t>
            </a:r>
            <a:endParaRPr/>
          </a:p>
        </p:txBody>
      </p:sp>
      <p:sp>
        <p:nvSpPr>
          <p:cNvPr id="611" name="Google Shape;611;p6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63"/>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Tính khả thi kỹ thuật</a:t>
            </a:r>
            <a:endParaRPr/>
          </a:p>
        </p:txBody>
      </p:sp>
      <p:sp>
        <p:nvSpPr>
          <p:cNvPr id="617" name="Google Shape;617;p63"/>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Xác định rủi ro trong những mảng sau:</a:t>
            </a:r>
            <a:endParaRPr/>
          </a:p>
          <a:p>
            <a:pPr indent="-393700" lvl="0" marL="457200" rtl="0" algn="l">
              <a:spcBef>
                <a:spcPts val="0"/>
              </a:spcBef>
              <a:spcAft>
                <a:spcPts val="0"/>
              </a:spcAft>
              <a:buSzPts val="2600"/>
              <a:buChar char="●"/>
            </a:pPr>
            <a:r>
              <a:rPr lang="en-GB"/>
              <a:t>Mảng chức năng: Những người phân tích có kinh nghiệm trong lĩnh vực nghiệp vụ này không?</a:t>
            </a:r>
            <a:endParaRPr/>
          </a:p>
          <a:p>
            <a:pPr indent="-393700" lvl="0" marL="457200" rtl="0" algn="l">
              <a:spcBef>
                <a:spcPts val="0"/>
              </a:spcBef>
              <a:spcAft>
                <a:spcPts val="0"/>
              </a:spcAft>
              <a:buSzPts val="2600"/>
              <a:buChar char="●"/>
            </a:pPr>
            <a:r>
              <a:rPr lang="en-GB"/>
              <a:t>Công nghệ: Càng ít kinh nghiệm với công nghệ được lựa chọn thì rủi ro càng cao</a:t>
            </a:r>
            <a:endParaRPr/>
          </a:p>
          <a:p>
            <a:pPr indent="-393700" lvl="0" marL="457200" rtl="0" algn="l">
              <a:spcBef>
                <a:spcPts val="0"/>
              </a:spcBef>
              <a:spcAft>
                <a:spcPts val="0"/>
              </a:spcAft>
              <a:buSzPts val="2600"/>
              <a:buChar char="●"/>
            </a:pPr>
            <a:r>
              <a:rPr lang="en-GB"/>
              <a:t>Quy mô dự án: Dự án càng lớn thì càng có nhiều rủi ro</a:t>
            </a:r>
            <a:endParaRPr/>
          </a:p>
          <a:p>
            <a:pPr indent="-393700" lvl="0" marL="457200" rtl="0" algn="l">
              <a:spcBef>
                <a:spcPts val="0"/>
              </a:spcBef>
              <a:spcAft>
                <a:spcPts val="0"/>
              </a:spcAft>
              <a:buSzPts val="2600"/>
              <a:buChar char="●"/>
            </a:pPr>
            <a:r>
              <a:rPr lang="en-GB"/>
              <a:t>Tính tương thích: Càng khó tích hợp thì rủi ro càng cao</a:t>
            </a:r>
            <a:endParaRPr/>
          </a:p>
        </p:txBody>
      </p:sp>
      <p:sp>
        <p:nvSpPr>
          <p:cNvPr id="618" name="Google Shape;618;p6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6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Tính khả thi kinh tế </a:t>
            </a:r>
            <a:r>
              <a:rPr lang="en-GB" sz="2400"/>
              <a:t>(Phân tích Chi phí-Lợi ích)</a:t>
            </a:r>
            <a:endParaRPr sz="2400"/>
          </a:p>
        </p:txBody>
      </p:sp>
      <p:sp>
        <p:nvSpPr>
          <p:cNvPr id="624" name="Google Shape;624;p6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Xác định các khoản chi phí </a:t>
            </a:r>
            <a:r>
              <a:rPr lang="en-GB"/>
              <a:t>và </a:t>
            </a:r>
            <a:r>
              <a:rPr lang="en-GB"/>
              <a:t>các lợi ích</a:t>
            </a:r>
            <a:endParaRPr/>
          </a:p>
          <a:p>
            <a:pPr indent="-393700" lvl="0" marL="457200" rtl="0" algn="l">
              <a:spcBef>
                <a:spcPts val="0"/>
              </a:spcBef>
              <a:spcAft>
                <a:spcPts val="0"/>
              </a:spcAft>
              <a:buSzPts val="2600"/>
              <a:buChar char="●"/>
            </a:pPr>
            <a:r>
              <a:rPr lang="en-GB"/>
              <a:t>Gán giá trị cho các khoản chi phí và các lợi ích</a:t>
            </a:r>
            <a:endParaRPr/>
          </a:p>
          <a:p>
            <a:pPr indent="-393700" lvl="0" marL="457200" rtl="0" algn="l">
              <a:spcBef>
                <a:spcPts val="0"/>
              </a:spcBef>
              <a:spcAft>
                <a:spcPts val="0"/>
              </a:spcAft>
              <a:buSzPts val="2600"/>
              <a:buChar char="●"/>
            </a:pPr>
            <a:r>
              <a:rPr lang="en-GB"/>
              <a:t>Xác định dòng tiền</a:t>
            </a:r>
            <a:endParaRPr/>
          </a:p>
          <a:p>
            <a:pPr indent="-393700" lvl="0" marL="457200" rtl="0" algn="l">
              <a:spcBef>
                <a:spcPts val="0"/>
              </a:spcBef>
              <a:spcAft>
                <a:spcPts val="0"/>
              </a:spcAft>
              <a:buSzPts val="2600"/>
              <a:buChar char="●"/>
            </a:pPr>
            <a:r>
              <a:rPr lang="en-GB"/>
              <a:t>Xác định giá trị bằng </a:t>
            </a:r>
            <a:r>
              <a:rPr lang="en-GB"/>
              <a:t>1</a:t>
            </a:r>
            <a:r>
              <a:rPr lang="en-GB"/>
              <a:t> hoặc nhiều phương pháp</a:t>
            </a:r>
            <a:endParaRPr/>
          </a:p>
          <a:p>
            <a:pPr indent="-368300" lvl="1" marL="914400" rtl="0" algn="l">
              <a:spcBef>
                <a:spcPts val="0"/>
              </a:spcBef>
              <a:spcAft>
                <a:spcPts val="0"/>
              </a:spcAft>
              <a:buSzPts val="2200"/>
              <a:buChar char="○"/>
            </a:pPr>
            <a:r>
              <a:rPr lang="en-GB"/>
              <a:t>Giá trị </a:t>
            </a:r>
            <a:r>
              <a:rPr lang="en-GB"/>
              <a:t>thuần </a:t>
            </a:r>
            <a:r>
              <a:rPr lang="en-GB"/>
              <a:t>hiện tại (NPV)</a:t>
            </a:r>
            <a:endParaRPr/>
          </a:p>
          <a:p>
            <a:pPr indent="-368300" lvl="1" marL="914400" rtl="0" algn="l">
              <a:spcBef>
                <a:spcPts val="0"/>
              </a:spcBef>
              <a:spcAft>
                <a:spcPts val="0"/>
              </a:spcAft>
              <a:buSzPts val="2200"/>
              <a:buChar char="○"/>
            </a:pPr>
            <a:r>
              <a:rPr lang="en-GB"/>
              <a:t>Tỷ lệ hoàn vốn đầu tư (ROI)</a:t>
            </a:r>
            <a:endParaRPr/>
          </a:p>
          <a:p>
            <a:pPr indent="-368300" lvl="1" marL="914400" rtl="0" algn="l">
              <a:spcBef>
                <a:spcPts val="0"/>
              </a:spcBef>
              <a:spcAft>
                <a:spcPts val="0"/>
              </a:spcAft>
              <a:buSzPts val="2200"/>
              <a:buChar char="○"/>
            </a:pPr>
            <a:r>
              <a:rPr lang="en-GB"/>
              <a:t> Điểm hòa vốn</a:t>
            </a:r>
            <a:endParaRPr/>
          </a:p>
        </p:txBody>
      </p:sp>
      <p:sp>
        <p:nvSpPr>
          <p:cNvPr id="625" name="Google Shape;625;p6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6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Tính khả thi tổ chức</a:t>
            </a:r>
            <a:endParaRPr/>
          </a:p>
        </p:txBody>
      </p:sp>
      <p:sp>
        <p:nvSpPr>
          <p:cNvPr id="631" name="Google Shape;631;p65"/>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Người dùng sẽ đón nhận hệ thống?</a:t>
            </a:r>
            <a:endParaRPr/>
          </a:p>
          <a:p>
            <a:pPr indent="-393700" lvl="0" marL="457200" rtl="0" algn="l">
              <a:spcBef>
                <a:spcPts val="0"/>
              </a:spcBef>
              <a:spcAft>
                <a:spcPts val="0"/>
              </a:spcAft>
              <a:buSzPts val="2600"/>
              <a:buChar char="●"/>
            </a:pPr>
            <a:r>
              <a:rPr lang="en-GB"/>
              <a:t>Dự án có thuận theo chiến lược chung?</a:t>
            </a:r>
            <a:endParaRPr/>
          </a:p>
          <a:p>
            <a:pPr indent="-393700" lvl="0" marL="457200" rtl="0" algn="l">
              <a:spcBef>
                <a:spcPts val="0"/>
              </a:spcBef>
              <a:spcAft>
                <a:spcPts val="0"/>
              </a:spcAft>
              <a:buSzPts val="2600"/>
              <a:buChar char="●"/>
            </a:pPr>
            <a:r>
              <a:rPr lang="en-GB"/>
              <a:t>Phân tích các bên liên quan:</a:t>
            </a:r>
            <a:endParaRPr/>
          </a:p>
          <a:p>
            <a:pPr indent="-368300" lvl="1" marL="914400" rtl="0" algn="l">
              <a:spcBef>
                <a:spcPts val="0"/>
              </a:spcBef>
              <a:spcAft>
                <a:spcPts val="0"/>
              </a:spcAft>
              <a:buSzPts val="2200"/>
              <a:buChar char="○"/>
            </a:pPr>
            <a:r>
              <a:rPr lang="en-GB"/>
              <a:t>Người ủng hộ dự án</a:t>
            </a:r>
            <a:endParaRPr/>
          </a:p>
          <a:p>
            <a:pPr indent="-368300" lvl="1" marL="914400" rtl="0" algn="l">
              <a:spcBef>
                <a:spcPts val="0"/>
              </a:spcBef>
              <a:spcAft>
                <a:spcPts val="0"/>
              </a:spcAft>
              <a:buSzPts val="2200"/>
              <a:buChar char="○"/>
            </a:pPr>
            <a:r>
              <a:rPr lang="en-GB"/>
              <a:t>Ban quản lý</a:t>
            </a:r>
            <a:endParaRPr/>
          </a:p>
          <a:p>
            <a:pPr indent="-368300" lvl="1" marL="914400" rtl="0" algn="l">
              <a:spcBef>
                <a:spcPts val="0"/>
              </a:spcBef>
              <a:spcAft>
                <a:spcPts val="0"/>
              </a:spcAft>
              <a:buSzPts val="2200"/>
              <a:buChar char="○"/>
            </a:pPr>
            <a:r>
              <a:rPr lang="en-GB"/>
              <a:t>Người dùng hệ thống</a:t>
            </a:r>
            <a:endParaRPr/>
          </a:p>
          <a:p>
            <a:pPr indent="-368300" lvl="1" marL="914400" rtl="0" algn="l">
              <a:spcBef>
                <a:spcPts val="0"/>
              </a:spcBef>
              <a:spcAft>
                <a:spcPts val="0"/>
              </a:spcAft>
              <a:buSzPts val="2200"/>
              <a:buChar char="○"/>
            </a:pPr>
            <a:r>
              <a:rPr lang="en-GB"/>
              <a:t>v.v..</a:t>
            </a:r>
            <a:endParaRPr/>
          </a:p>
        </p:txBody>
      </p:sp>
      <p:sp>
        <p:nvSpPr>
          <p:cNvPr id="632" name="Google Shape;632;p6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6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Lựa chọn dự án</a:t>
            </a:r>
            <a:endParaRPr/>
          </a:p>
        </p:txBody>
      </p:sp>
      <p:sp>
        <p:nvSpPr>
          <p:cNvPr id="638" name="Google Shape;638;p66"/>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Các dự án được phê duyệt, từ chối hoặc tạm hoãn dựa trên các kết quả đánh giá thực trạng</a:t>
            </a:r>
            <a:endParaRPr/>
          </a:p>
          <a:p>
            <a:pPr indent="-393700" lvl="0" marL="457200" rtl="0" algn="l">
              <a:spcBef>
                <a:spcPts val="0"/>
              </a:spcBef>
              <a:spcAft>
                <a:spcPts val="0"/>
              </a:spcAft>
              <a:buSzPts val="2600"/>
              <a:buChar char="●"/>
            </a:pPr>
            <a:r>
              <a:rPr lang="en-GB"/>
              <a:t>Các dự án được lựa chọn được đưa vào quy trình quản lý dự án</a:t>
            </a:r>
            <a:endParaRPr/>
          </a:p>
        </p:txBody>
      </p:sp>
      <p:sp>
        <p:nvSpPr>
          <p:cNvPr id="639" name="Google Shape;639;p6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6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645" name="Google Shape;645;p67"/>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Một số khái niệm cơ bản</a:t>
            </a:r>
            <a:endParaRPr/>
          </a:p>
          <a:p>
            <a:pPr indent="-393700" lvl="0" marL="457200" rtl="0" algn="l">
              <a:spcBef>
                <a:spcPts val="0"/>
              </a:spcBef>
              <a:spcAft>
                <a:spcPts val="0"/>
              </a:spcAft>
              <a:buSzPts val="2600"/>
              <a:buChar char="●"/>
            </a:pPr>
            <a:r>
              <a:rPr lang="en-GB"/>
              <a:t>Vòng đời phát triển hệ thống (SDLC)</a:t>
            </a:r>
            <a:endParaRPr/>
          </a:p>
          <a:p>
            <a:pPr indent="-393700" lvl="0" marL="457200" rtl="0" algn="l">
              <a:spcBef>
                <a:spcPts val="0"/>
              </a:spcBef>
              <a:spcAft>
                <a:spcPts val="0"/>
              </a:spcAft>
              <a:buSzPts val="2600"/>
              <a:buChar char="●"/>
            </a:pPr>
            <a:r>
              <a:rPr lang="en-GB"/>
              <a:t>Hai cách tiếp cận phát triển hệ thống</a:t>
            </a:r>
            <a:endParaRPr/>
          </a:p>
          <a:p>
            <a:pPr indent="-393700" lvl="0" marL="457200" rtl="0" algn="l">
              <a:spcBef>
                <a:spcPts val="0"/>
              </a:spcBef>
              <a:spcAft>
                <a:spcPts val="0"/>
              </a:spcAft>
              <a:buSzPts val="2600"/>
              <a:buChar char="●"/>
            </a:pPr>
            <a:r>
              <a:rPr lang="en-GB"/>
              <a:t>Ngôn ngữ mô hình hóa hợp nhất (UML)</a:t>
            </a:r>
            <a:endParaRPr/>
          </a:p>
          <a:p>
            <a:pPr indent="-393700" lvl="0" marL="457200" rtl="0" algn="l">
              <a:spcBef>
                <a:spcPts val="0"/>
              </a:spcBef>
              <a:spcAft>
                <a:spcPts val="0"/>
              </a:spcAft>
              <a:buSzPts val="2600"/>
              <a:buChar char="●"/>
            </a:pPr>
            <a:r>
              <a:rPr lang="en-GB"/>
              <a:t>Môi trường &amp; Nhu cầu</a:t>
            </a:r>
            <a:endParaRPr/>
          </a:p>
          <a:p>
            <a:pPr indent="-393700" lvl="0" marL="457200" rtl="0" algn="l">
              <a:spcBef>
                <a:spcPts val="0"/>
              </a:spcBef>
              <a:spcAft>
                <a:spcPts val="0"/>
              </a:spcAft>
              <a:buSzPts val="2600"/>
              <a:buChar char="●"/>
            </a:pPr>
            <a:r>
              <a:rPr lang="en-GB"/>
              <a:t>Xác định yêu cầu</a:t>
            </a:r>
            <a:endParaRPr/>
          </a:p>
        </p:txBody>
      </p:sp>
      <p:sp>
        <p:nvSpPr>
          <p:cNvPr id="646" name="Google Shape;646;p6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47" name="Google Shape;647;p67"/>
          <p:cNvSpPr/>
          <p:nvPr/>
        </p:nvSpPr>
        <p:spPr>
          <a:xfrm>
            <a:off x="350875" y="3778374"/>
            <a:ext cx="4178100" cy="723900"/>
          </a:xfrm>
          <a:prstGeom prst="rightArrow">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68"/>
          <p:cNvSpPr txBox="1"/>
          <p:nvPr>
            <p:ph idx="4294967295"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Tổng quan về xác định yêu cầu</a:t>
            </a:r>
            <a:endParaRPr/>
          </a:p>
        </p:txBody>
      </p:sp>
      <p:sp>
        <p:nvSpPr>
          <p:cNvPr id="653" name="Google Shape;653;p68"/>
          <p:cNvSpPr txBox="1"/>
          <p:nvPr>
            <p:ph idx="4294967295" type="body"/>
          </p:nvPr>
        </p:nvSpPr>
        <p:spPr>
          <a:xfrm>
            <a:off x="311700" y="975875"/>
            <a:ext cx="8520600" cy="5588700"/>
          </a:xfrm>
          <a:prstGeom prst="rect">
            <a:avLst/>
          </a:prstGeom>
        </p:spPr>
        <p:txBody>
          <a:bodyPr anchorCtr="0" anchor="t" bIns="91425" lIns="91425" spcFirstLastPara="1" rIns="91425" wrap="square" tIns="91425">
            <a:noAutofit/>
          </a:bodyPr>
          <a:lstStyle/>
          <a:p>
            <a:pPr indent="-393700" lvl="0" marL="457200" rtl="0" algn="just">
              <a:spcBef>
                <a:spcPts val="0"/>
              </a:spcBef>
              <a:spcAft>
                <a:spcPts val="0"/>
              </a:spcAft>
              <a:buSzPts val="2600"/>
              <a:buChar char="●"/>
            </a:pPr>
            <a:r>
              <a:rPr lang="en-GB"/>
              <a:t>Mục đích: Chuyển đổi các nhu cầu nghiệp vụ thành các yêu cầu chi tiết hơn.</a:t>
            </a:r>
            <a:endParaRPr/>
          </a:p>
          <a:p>
            <a:pPr indent="-393700" lvl="0" marL="457200" rtl="0" algn="just">
              <a:spcBef>
                <a:spcPts val="0"/>
              </a:spcBef>
              <a:spcAft>
                <a:spcPts val="0"/>
              </a:spcAft>
              <a:buSzPts val="2600"/>
              <a:buChar char="●"/>
            </a:pPr>
            <a:r>
              <a:rPr lang="en-GB"/>
              <a:t>Một bước rất quan trọng có tầm ảnh hưởng trên toàn bộ SDLC</a:t>
            </a:r>
            <a:endParaRPr/>
          </a:p>
          <a:p>
            <a:pPr indent="-393700" lvl="0" marL="457200" rtl="0" algn="just">
              <a:spcBef>
                <a:spcPts val="0"/>
              </a:spcBef>
              <a:spcAft>
                <a:spcPts val="0"/>
              </a:spcAft>
              <a:buSzPts val="2600"/>
              <a:buChar char="●"/>
            </a:pPr>
            <a:r>
              <a:rPr lang="en-GB"/>
              <a:t>Thay đổi liên quan đến yêu cầu có thể dễ dàng được thực hiện ở giai đoạn bắt đầu dự án nhưng càng về sau càng khó thực hiện </a:t>
            </a:r>
            <a:endParaRPr/>
          </a:p>
          <a:p>
            <a:pPr indent="-393700" lvl="0" marL="457200" rtl="0" algn="just">
              <a:spcBef>
                <a:spcPts val="0"/>
              </a:spcBef>
              <a:spcAft>
                <a:spcPts val="0"/>
              </a:spcAft>
              <a:buSzPts val="2600"/>
              <a:buChar char="●"/>
            </a:pPr>
            <a:r>
              <a:rPr lang="en-GB"/>
              <a:t>Hầu hết (&gt;50%) dự án thất bại có nguyên nhân liên quan đến yêu cầu</a:t>
            </a:r>
            <a:endParaRPr/>
          </a:p>
          <a:p>
            <a:pPr indent="-393700" lvl="0" marL="457200" rtl="0" algn="just">
              <a:spcBef>
                <a:spcPts val="0"/>
              </a:spcBef>
              <a:spcAft>
                <a:spcPts val="0"/>
              </a:spcAft>
              <a:buSzPts val="2600"/>
              <a:buChar char="●"/>
            </a:pPr>
            <a:r>
              <a:rPr lang="en-GB"/>
              <a:t>Tính lặp và tăng dần </a:t>
            </a:r>
            <a:r>
              <a:rPr lang="en-GB"/>
              <a:t>hiệu quả bởi vì:</a:t>
            </a:r>
            <a:endParaRPr/>
          </a:p>
          <a:p>
            <a:pPr indent="-368300" lvl="1" marL="914400" rtl="0" algn="just">
              <a:spcBef>
                <a:spcPts val="0"/>
              </a:spcBef>
              <a:spcAft>
                <a:spcPts val="0"/>
              </a:spcAft>
              <a:buSzPts val="2200"/>
              <a:buChar char="○"/>
            </a:pPr>
            <a:r>
              <a:rPr lang="en-GB"/>
              <a:t>Mỗi vòng lặp xác định và triển khai </a:t>
            </a:r>
            <a:r>
              <a:rPr lang="en-GB"/>
              <a:t>từng</a:t>
            </a:r>
            <a:r>
              <a:rPr lang="en-GB"/>
              <a:t> gói yêu cầu nhỏ</a:t>
            </a:r>
            <a:endParaRPr/>
          </a:p>
          <a:p>
            <a:pPr indent="-368300" lvl="1" marL="914400" rtl="0" algn="just">
              <a:spcBef>
                <a:spcPts val="0"/>
              </a:spcBef>
              <a:spcAft>
                <a:spcPts val="0"/>
              </a:spcAft>
              <a:buSzPts val="2200"/>
              <a:buChar char="○"/>
            </a:pPr>
            <a:r>
              <a:rPr lang="en-GB"/>
              <a:t>Hệ thống phát triển tăng dần theo thời gian</a:t>
            </a:r>
            <a:endParaRPr/>
          </a:p>
        </p:txBody>
      </p:sp>
      <p:sp>
        <p:nvSpPr>
          <p:cNvPr id="654" name="Google Shape;654;p6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6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Khái niệm yêu cầu</a:t>
            </a:r>
            <a:endParaRPr baseline="-25000"/>
          </a:p>
        </p:txBody>
      </p:sp>
      <p:sp>
        <p:nvSpPr>
          <p:cNvPr id="660" name="Google Shape;660;p69"/>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Yêu cầu là gì?</a:t>
            </a:r>
            <a:endParaRPr/>
          </a:p>
          <a:p>
            <a:pPr indent="-368300" lvl="1" marL="914400" rtl="0" algn="l">
              <a:spcBef>
                <a:spcPts val="0"/>
              </a:spcBef>
              <a:spcAft>
                <a:spcPts val="0"/>
              </a:spcAft>
              <a:buSzPts val="2200"/>
              <a:buChar char="○"/>
            </a:pPr>
            <a:r>
              <a:rPr lang="en-GB"/>
              <a:t>Yêu cầu cho biết</a:t>
            </a:r>
            <a:r>
              <a:rPr lang="en-GB"/>
              <a:t> những gì hệ thống phải làm hoặc đặc điểm mà nó phải có,</a:t>
            </a:r>
            <a:endParaRPr/>
          </a:p>
          <a:p>
            <a:pPr indent="-368300" lvl="1" marL="914400" rtl="0" algn="l">
              <a:spcBef>
                <a:spcPts val="0"/>
              </a:spcBef>
              <a:spcAft>
                <a:spcPts val="0"/>
              </a:spcAft>
              <a:buSzPts val="2200"/>
              <a:buChar char="○"/>
            </a:pPr>
            <a:r>
              <a:rPr lang="en-GB"/>
              <a:t>cung cấp thông tin cần thiết cho các chuỗi công việc tiếp theo, </a:t>
            </a:r>
            <a:endParaRPr/>
          </a:p>
          <a:p>
            <a:pPr indent="-368300" lvl="1" marL="914400" rtl="0" algn="l">
              <a:spcBef>
                <a:spcPts val="0"/>
              </a:spcBef>
              <a:spcAft>
                <a:spcPts val="0"/>
              </a:spcAft>
              <a:buSzPts val="2200"/>
              <a:buChar char="○"/>
            </a:pPr>
            <a:r>
              <a:rPr lang="en-GB"/>
              <a:t>là cơ sở của những đặc tả kỹ thuật về cách triển khai hệ thống,</a:t>
            </a:r>
            <a:endParaRPr/>
          </a:p>
          <a:p>
            <a:pPr indent="-368300" lvl="1" marL="914400" rtl="0" algn="l">
              <a:spcBef>
                <a:spcPts val="0"/>
              </a:spcBef>
              <a:spcAft>
                <a:spcPts val="0"/>
              </a:spcAft>
              <a:buSzPts val="2200"/>
              <a:buChar char="○"/>
            </a:pPr>
            <a:r>
              <a:rPr lang="en-GB"/>
              <a:t>xác định phạm vi hệ thống.</a:t>
            </a:r>
            <a:endParaRPr/>
          </a:p>
          <a:p>
            <a:pPr indent="-393700" lvl="0" marL="457200" rtl="0" algn="l">
              <a:spcBef>
                <a:spcPts val="0"/>
              </a:spcBef>
              <a:spcAft>
                <a:spcPts val="0"/>
              </a:spcAft>
              <a:buSzPts val="2600"/>
              <a:buChar char="●"/>
            </a:pPr>
            <a:r>
              <a:rPr lang="en-GB"/>
              <a:t>Các loại yêu cầu:</a:t>
            </a:r>
            <a:endParaRPr/>
          </a:p>
          <a:p>
            <a:pPr indent="-368300" lvl="1" marL="914400" rtl="0" algn="l">
              <a:spcBef>
                <a:spcPts val="0"/>
              </a:spcBef>
              <a:spcAft>
                <a:spcPts val="0"/>
              </a:spcAft>
              <a:buSzPts val="2200"/>
              <a:buChar char="○"/>
            </a:pPr>
            <a:r>
              <a:rPr lang="en-GB"/>
              <a:t>Chức năng: Liên quan đến xử lý hoặc dữ liệu</a:t>
            </a:r>
            <a:endParaRPr/>
          </a:p>
          <a:p>
            <a:pPr indent="-368300" lvl="1" marL="914400" rtl="0" algn="l">
              <a:spcBef>
                <a:spcPts val="0"/>
              </a:spcBef>
              <a:spcAft>
                <a:spcPts val="0"/>
              </a:spcAft>
              <a:buSzPts val="2200"/>
              <a:buChar char="○"/>
            </a:pPr>
            <a:r>
              <a:rPr lang="en-GB"/>
              <a:t>Phi chức năng: Liên quan đến hiệu năng hoặc đặc điểm sử dụng</a:t>
            </a:r>
            <a:endParaRPr/>
          </a:p>
          <a:p>
            <a:pPr indent="-393700" lvl="0" marL="457200" rtl="0" algn="l">
              <a:spcBef>
                <a:spcPts val="0"/>
              </a:spcBef>
              <a:spcAft>
                <a:spcPts val="0"/>
              </a:spcAft>
              <a:buSzPts val="2600"/>
              <a:buChar char="●"/>
            </a:pPr>
            <a:r>
              <a:rPr lang="en-GB"/>
              <a:t>Các yêu cầu thường được liệt kê theo danh mục</a:t>
            </a:r>
            <a:endParaRPr/>
          </a:p>
          <a:p>
            <a:pPr indent="-393700" lvl="0" marL="457200" rtl="0" algn="l">
              <a:spcBef>
                <a:spcPts val="0"/>
              </a:spcBef>
              <a:spcAft>
                <a:spcPts val="0"/>
              </a:spcAft>
              <a:buSzPts val="2600"/>
              <a:buChar char="●"/>
            </a:pPr>
            <a:r>
              <a:rPr lang="en-GB"/>
              <a:t>Có thể được đánh giá mức ưu tiên</a:t>
            </a:r>
            <a:endParaRPr/>
          </a:p>
        </p:txBody>
      </p:sp>
      <p:sp>
        <p:nvSpPr>
          <p:cNvPr id="661" name="Google Shape;661;p6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70"/>
          <p:cNvSpPr txBox="1"/>
          <p:nvPr>
            <p:ph idx="4294967295" type="title"/>
          </p:nvPr>
        </p:nvSpPr>
        <p:spPr>
          <a:xfrm>
            <a:off x="311700" y="5940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Khái niệm yêu cầu</a:t>
            </a:r>
            <a:r>
              <a:rPr baseline="-25000" lang="en-GB"/>
              <a:t>(2)</a:t>
            </a:r>
            <a:endParaRPr baseline="-25000"/>
          </a:p>
        </p:txBody>
      </p:sp>
      <p:sp>
        <p:nvSpPr>
          <p:cNvPr id="667" name="Google Shape;667;p70"/>
          <p:cNvSpPr txBox="1"/>
          <p:nvPr>
            <p:ph idx="4294967295" type="body"/>
          </p:nvPr>
        </p:nvSpPr>
        <p:spPr>
          <a:xfrm>
            <a:off x="229175" y="1537200"/>
            <a:ext cx="8792100" cy="4513800"/>
          </a:xfrm>
          <a:prstGeom prst="rect">
            <a:avLst/>
          </a:prstGeom>
        </p:spPr>
        <p:txBody>
          <a:bodyPr anchorCtr="0" anchor="t" bIns="91425" lIns="91425" spcFirstLastPara="1" rIns="91425" wrap="square" tIns="91425">
            <a:noAutofit/>
          </a:bodyPr>
          <a:lstStyle/>
          <a:p>
            <a:pPr indent="-393700" lvl="0" marL="457200" rtl="0" algn="just">
              <a:spcBef>
                <a:spcPts val="0"/>
              </a:spcBef>
              <a:spcAft>
                <a:spcPts val="0"/>
              </a:spcAft>
              <a:buSzPts val="2600"/>
              <a:buChar char="●"/>
            </a:pPr>
            <a:r>
              <a:rPr lang="en-GB"/>
              <a:t>Yêu cầu chức năng có liên quan chặt chẽ với các quy trình nghiệp vụ và các quy định của tổ chức, và được tập trung nghiên cứu ở pha phân tích</a:t>
            </a:r>
            <a:endParaRPr/>
          </a:p>
          <a:p>
            <a:pPr indent="-368300" lvl="1" marL="914400" rtl="0" algn="just">
              <a:spcBef>
                <a:spcPts val="0"/>
              </a:spcBef>
              <a:spcAft>
                <a:spcPts val="0"/>
              </a:spcAft>
              <a:buSzPts val="2200"/>
              <a:buChar char="○"/>
            </a:pPr>
            <a:r>
              <a:rPr lang="en-GB"/>
              <a:t>Được mô tả chủ yếu bằng các ca sử dụng: </a:t>
            </a:r>
            <a:r>
              <a:rPr lang="en-GB"/>
              <a:t>Đ</a:t>
            </a:r>
            <a:r>
              <a:rPr lang="en-GB"/>
              <a:t>ặc tả chi tiết </a:t>
            </a:r>
            <a:r>
              <a:rPr lang="en-GB"/>
              <a:t>bằng lời và sơ đồ</a:t>
            </a:r>
            <a:r>
              <a:rPr lang="en-GB"/>
              <a:t>.</a:t>
            </a:r>
            <a:endParaRPr/>
          </a:p>
          <a:p>
            <a:pPr indent="-393700" lvl="0" marL="457200" rtl="0" algn="just">
              <a:spcBef>
                <a:spcPts val="0"/>
              </a:spcBef>
              <a:spcAft>
                <a:spcPts val="0"/>
              </a:spcAft>
              <a:buSzPts val="2600"/>
              <a:buChar char="●"/>
            </a:pPr>
            <a:r>
              <a:rPr lang="en-GB"/>
              <a:t>Yêu cầu phi chức năng được tập trung nghiên cứu ở pha thiết kế và có thể tiếp tục được phân loại thành:</a:t>
            </a:r>
            <a:endParaRPr/>
          </a:p>
          <a:p>
            <a:pPr indent="-368300" lvl="1" marL="914400" rtl="0" algn="just">
              <a:spcBef>
                <a:spcPts val="0"/>
              </a:spcBef>
              <a:spcAft>
                <a:spcPts val="0"/>
              </a:spcAft>
              <a:buSzPts val="2200"/>
              <a:buChar char="○"/>
            </a:pPr>
            <a:r>
              <a:rPr lang="en-GB"/>
              <a:t>(Các yêu cầu) vận hành: Các đặc điểm liên quan đến cách sử dụng </a:t>
            </a:r>
            <a:endParaRPr/>
          </a:p>
          <a:p>
            <a:pPr indent="-368300" lvl="1" marL="914400" rtl="0" algn="just">
              <a:spcBef>
                <a:spcPts val="0"/>
              </a:spcBef>
              <a:spcAft>
                <a:spcPts val="0"/>
              </a:spcAft>
              <a:buSzPts val="2200"/>
              <a:buChar char="○"/>
            </a:pPr>
            <a:r>
              <a:rPr lang="en-GB"/>
              <a:t>Độ tin cậy: Các lỗi có thể phát sinh và khả năng khắc phục</a:t>
            </a:r>
            <a:endParaRPr/>
          </a:p>
          <a:p>
            <a:pPr indent="-368300" lvl="1" marL="914400" rtl="0" algn="just">
              <a:spcBef>
                <a:spcPts val="0"/>
              </a:spcBef>
              <a:spcAft>
                <a:spcPts val="0"/>
              </a:spcAft>
              <a:buSzPts val="2200"/>
              <a:buChar char="○"/>
            </a:pPr>
            <a:r>
              <a:rPr lang="en-GB"/>
              <a:t>Hiệu năng: Tải và thời gian phản hồi</a:t>
            </a:r>
            <a:endParaRPr/>
          </a:p>
          <a:p>
            <a:pPr indent="-368300" lvl="1" marL="914400" rtl="0" algn="just">
              <a:spcBef>
                <a:spcPts val="0"/>
              </a:spcBef>
              <a:spcAft>
                <a:spcPts val="0"/>
              </a:spcAft>
              <a:buSzPts val="2200"/>
              <a:buChar char="○"/>
            </a:pPr>
            <a:r>
              <a:rPr lang="en-GB"/>
              <a:t>Bảo mật: Kiểm soát truy cập và bảo vệ dữ liệu.</a:t>
            </a:r>
            <a:endParaRPr/>
          </a:p>
        </p:txBody>
      </p:sp>
      <p:sp>
        <p:nvSpPr>
          <p:cNvPr id="668" name="Google Shape;668;p7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7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74" name="Google Shape;674;p71"/>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thuật ngữ</a:t>
            </a:r>
            <a:endParaRPr/>
          </a:p>
        </p:txBody>
      </p:sp>
      <p:sp>
        <p:nvSpPr>
          <p:cNvPr id="675" name="Google Shape;675;p71"/>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Yêu cầu chức năng: </a:t>
            </a:r>
            <a:r>
              <a:rPr b="1" lang="en-GB"/>
              <a:t>F</a:t>
            </a:r>
            <a:r>
              <a:rPr lang="en-GB"/>
              <a:t>unctional requirements</a:t>
            </a:r>
            <a:endParaRPr/>
          </a:p>
          <a:p>
            <a:pPr indent="-393700" lvl="0" marL="457200" rtl="0" algn="l">
              <a:spcBef>
                <a:spcPts val="0"/>
              </a:spcBef>
              <a:spcAft>
                <a:spcPts val="0"/>
              </a:spcAft>
              <a:buSzPts val="2600"/>
              <a:buChar char="●"/>
            </a:pPr>
            <a:r>
              <a:rPr lang="en-GB"/>
              <a:t>Yêu cầu phi chức năng: Non-functional </a:t>
            </a:r>
            <a:endParaRPr/>
          </a:p>
          <a:p>
            <a:pPr indent="-368300" lvl="1" marL="914400" rtl="0" algn="l">
              <a:spcBef>
                <a:spcPts val="0"/>
              </a:spcBef>
              <a:spcAft>
                <a:spcPts val="0"/>
              </a:spcAft>
              <a:buSzPts val="2200"/>
              <a:buChar char="○"/>
            </a:pPr>
            <a:r>
              <a:rPr lang="en-GB"/>
              <a:t>Vận hành/sử dụng: </a:t>
            </a:r>
            <a:r>
              <a:rPr b="1" lang="en-GB"/>
              <a:t>U</a:t>
            </a:r>
            <a:r>
              <a:rPr lang="en-GB"/>
              <a:t>sability</a:t>
            </a:r>
            <a:endParaRPr/>
          </a:p>
          <a:p>
            <a:pPr indent="-368300" lvl="1" marL="914400" rtl="0" algn="l">
              <a:spcBef>
                <a:spcPts val="0"/>
              </a:spcBef>
              <a:spcAft>
                <a:spcPts val="0"/>
              </a:spcAft>
              <a:buSzPts val="2200"/>
              <a:buChar char="○"/>
            </a:pPr>
            <a:r>
              <a:rPr lang="en-GB"/>
              <a:t>Độ tin cậy: </a:t>
            </a:r>
            <a:r>
              <a:rPr b="1" lang="en-GB"/>
              <a:t>R</a:t>
            </a:r>
            <a:r>
              <a:rPr lang="en-GB"/>
              <a:t>eliability</a:t>
            </a:r>
            <a:endParaRPr/>
          </a:p>
          <a:p>
            <a:pPr indent="-368300" lvl="1" marL="914400" rtl="0" algn="l">
              <a:spcBef>
                <a:spcPts val="0"/>
              </a:spcBef>
              <a:spcAft>
                <a:spcPts val="0"/>
              </a:spcAft>
              <a:buSzPts val="2200"/>
              <a:buChar char="○"/>
            </a:pPr>
            <a:r>
              <a:rPr lang="en-GB"/>
              <a:t>Hiệu năng: </a:t>
            </a:r>
            <a:r>
              <a:rPr b="1" lang="en-GB"/>
              <a:t>P</a:t>
            </a:r>
            <a:r>
              <a:rPr lang="en-GB"/>
              <a:t>erformance</a:t>
            </a:r>
            <a:endParaRPr/>
          </a:p>
          <a:p>
            <a:pPr indent="-368300" lvl="1" marL="914400" rtl="0" algn="l">
              <a:spcBef>
                <a:spcPts val="0"/>
              </a:spcBef>
              <a:spcAft>
                <a:spcPts val="0"/>
              </a:spcAft>
              <a:buSzPts val="2200"/>
              <a:buChar char="○"/>
            </a:pPr>
            <a:r>
              <a:rPr lang="en-GB"/>
              <a:t>Bảo mật: </a:t>
            </a:r>
            <a:r>
              <a:rPr b="1" lang="en-GB"/>
              <a:t>S</a:t>
            </a:r>
            <a:r>
              <a:rPr lang="en-GB"/>
              <a:t>ecurity</a:t>
            </a:r>
            <a:endParaRPr/>
          </a:p>
          <a:p>
            <a:pPr indent="-393700" lvl="0" marL="457200" rtl="0" algn="l">
              <a:spcBef>
                <a:spcPts val="0"/>
              </a:spcBef>
              <a:spcAft>
                <a:spcPts val="0"/>
              </a:spcAft>
              <a:buSzPts val="2600"/>
              <a:buChar char="●"/>
            </a:pPr>
            <a:r>
              <a:rPr lang="en-GB"/>
              <a:t>Phân loại FURPS (</a:t>
            </a:r>
            <a:r>
              <a:rPr b="1" lang="en-GB"/>
              <a:t>F</a:t>
            </a:r>
            <a:r>
              <a:rPr lang="en-GB"/>
              <a:t>unctions, </a:t>
            </a:r>
            <a:r>
              <a:rPr b="1" lang="en-GB"/>
              <a:t>U</a:t>
            </a:r>
            <a:r>
              <a:rPr lang="en-GB"/>
              <a:t>sability, </a:t>
            </a:r>
            <a:r>
              <a:rPr b="1" lang="en-GB"/>
              <a:t>R</a:t>
            </a:r>
            <a:r>
              <a:rPr lang="en-GB"/>
              <a:t>eliability, </a:t>
            </a:r>
            <a:r>
              <a:rPr b="1" lang="en-GB"/>
              <a:t>P</a:t>
            </a:r>
            <a:r>
              <a:rPr lang="en-GB"/>
              <a:t>erformance, </a:t>
            </a:r>
            <a:r>
              <a:rPr b="1" lang="en-GB"/>
              <a:t>S</a:t>
            </a:r>
            <a:r>
              <a:rPr lang="en-GB"/>
              <a:t>ecurity Requirements).</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7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81" name="Google Shape;681;p72"/>
          <p:cNvSpPr txBox="1"/>
          <p:nvPr>
            <p:ph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a:t>
            </a:r>
            <a:r>
              <a:rPr lang="en-GB"/>
              <a:t>1.2.</a:t>
            </a:r>
            <a:r>
              <a:rPr lang="en-GB"/>
              <a:t> Các yêu cầu hệ thống</a:t>
            </a:r>
            <a:endParaRPr/>
          </a:p>
        </p:txBody>
      </p:sp>
      <p:sp>
        <p:nvSpPr>
          <p:cNvPr id="682" name="Google Shape;682;p72"/>
          <p:cNvSpPr txBox="1"/>
          <p:nvPr>
            <p:ph idx="1" type="body"/>
          </p:nvPr>
        </p:nvSpPr>
        <p:spPr>
          <a:xfrm>
            <a:off x="311700" y="718675"/>
            <a:ext cx="8520600" cy="57360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Yêu cầu chức năng:</a:t>
            </a:r>
            <a:endParaRPr/>
          </a:p>
          <a:p>
            <a:pPr indent="-368300" lvl="1" marL="914400" rtl="0" algn="l">
              <a:spcBef>
                <a:spcPts val="0"/>
              </a:spcBef>
              <a:spcAft>
                <a:spcPts val="0"/>
              </a:spcAft>
              <a:buSzPts val="2200"/>
              <a:buChar char="○"/>
            </a:pPr>
            <a:r>
              <a:rPr lang="en-GB"/>
              <a:t>Tạo phiếu mượn sách (trong thư viện)</a:t>
            </a:r>
            <a:endParaRPr/>
          </a:p>
          <a:p>
            <a:pPr indent="-368300" lvl="1" marL="914400" rtl="0" algn="l">
              <a:spcBef>
                <a:spcPts val="0"/>
              </a:spcBef>
              <a:spcAft>
                <a:spcPts val="0"/>
              </a:spcAft>
              <a:buSzPts val="2200"/>
              <a:buChar char="○"/>
            </a:pPr>
            <a:r>
              <a:rPr lang="en-GB"/>
              <a:t>Tra cứu ghế trống (trong rạp chiếu phim)</a:t>
            </a:r>
            <a:endParaRPr/>
          </a:p>
          <a:p>
            <a:pPr indent="-393700" lvl="0" marL="457200" rtl="0" algn="l">
              <a:spcBef>
                <a:spcPts val="0"/>
              </a:spcBef>
              <a:spcAft>
                <a:spcPts val="0"/>
              </a:spcAft>
              <a:buSzPts val="2600"/>
              <a:buChar char="●"/>
            </a:pPr>
            <a:r>
              <a:rPr lang="en-GB"/>
              <a:t>Yêu cầu phi chức năng:</a:t>
            </a:r>
            <a:endParaRPr/>
          </a:p>
          <a:p>
            <a:pPr indent="-368300" lvl="1" marL="914400" rtl="0" algn="l">
              <a:spcBef>
                <a:spcPts val="0"/>
              </a:spcBef>
              <a:spcAft>
                <a:spcPts val="0"/>
              </a:spcAft>
              <a:buSzPts val="2200"/>
              <a:buChar char="○"/>
            </a:pPr>
            <a:r>
              <a:rPr lang="en-GB"/>
              <a:t>Vận hành: </a:t>
            </a:r>
            <a:endParaRPr/>
          </a:p>
          <a:p>
            <a:pPr indent="-342900" lvl="2" marL="1371600" rtl="0" algn="l">
              <a:spcBef>
                <a:spcPts val="0"/>
              </a:spcBef>
              <a:spcAft>
                <a:spcPts val="0"/>
              </a:spcAft>
              <a:buSzPts val="1800"/>
              <a:buChar char="■"/>
            </a:pPr>
            <a:r>
              <a:rPr lang="en-GB"/>
              <a:t>Nhân viên sử dụng máy tính bảng để phục vụ gọi món tại bàn.</a:t>
            </a:r>
            <a:endParaRPr/>
          </a:p>
          <a:p>
            <a:pPr indent="-368300" lvl="1" marL="914400" rtl="0" algn="l">
              <a:spcBef>
                <a:spcPts val="0"/>
              </a:spcBef>
              <a:spcAft>
                <a:spcPts val="0"/>
              </a:spcAft>
              <a:buSzPts val="2200"/>
              <a:buChar char="○"/>
            </a:pPr>
            <a:r>
              <a:rPr lang="en-GB"/>
              <a:t>Độ tin cậy: </a:t>
            </a:r>
            <a:endParaRPr/>
          </a:p>
          <a:p>
            <a:pPr indent="-342900" lvl="2" marL="1371600" rtl="0" algn="l">
              <a:spcBef>
                <a:spcPts val="0"/>
              </a:spcBef>
              <a:spcAft>
                <a:spcPts val="0"/>
              </a:spcAft>
              <a:buSzPts val="1800"/>
              <a:buChar char="■"/>
            </a:pPr>
            <a:r>
              <a:rPr lang="en-GB"/>
              <a:t>Thông tin được bảo toàn trong trường hợp phát sinh sự cố đột ngột.</a:t>
            </a:r>
            <a:endParaRPr/>
          </a:p>
          <a:p>
            <a:pPr indent="-368300" lvl="1" marL="914400" rtl="0" algn="l">
              <a:spcBef>
                <a:spcPts val="0"/>
              </a:spcBef>
              <a:spcAft>
                <a:spcPts val="0"/>
              </a:spcAft>
              <a:buSzPts val="2200"/>
              <a:buChar char="○"/>
            </a:pPr>
            <a:r>
              <a:rPr lang="en-GB"/>
              <a:t>Hiệu năng:</a:t>
            </a:r>
            <a:endParaRPr/>
          </a:p>
          <a:p>
            <a:pPr indent="-342900" lvl="2" marL="1371600" rtl="0" algn="l">
              <a:spcBef>
                <a:spcPts val="0"/>
              </a:spcBef>
              <a:spcAft>
                <a:spcPts val="0"/>
              </a:spcAft>
              <a:buSzPts val="1800"/>
              <a:buChar char="■"/>
            </a:pPr>
            <a:r>
              <a:rPr lang="en-GB"/>
              <a:t>Có khả năng đáp ứng yêu cầu của 1000 người dùng sử dụng đồng thời</a:t>
            </a:r>
            <a:endParaRPr/>
          </a:p>
          <a:p>
            <a:pPr indent="-342900" lvl="2" marL="1371600" rtl="0" algn="l">
              <a:spcBef>
                <a:spcPts val="0"/>
              </a:spcBef>
              <a:spcAft>
                <a:spcPts val="0"/>
              </a:spcAft>
              <a:buSzPts val="1800"/>
              <a:buChar char="■"/>
            </a:pPr>
            <a:r>
              <a:rPr lang="en-GB"/>
              <a:t>Thời gian phản hồi cho mỗi thao tác không quá 0.5 s.</a:t>
            </a:r>
            <a:endParaRPr/>
          </a:p>
          <a:p>
            <a:pPr indent="-368300" lvl="1" marL="914400" rtl="0" algn="l">
              <a:spcBef>
                <a:spcPts val="0"/>
              </a:spcBef>
              <a:spcAft>
                <a:spcPts val="0"/>
              </a:spcAft>
              <a:buSzPts val="2200"/>
              <a:buChar char="○"/>
            </a:pPr>
            <a:r>
              <a:rPr lang="en-GB"/>
              <a:t>Bảo mật</a:t>
            </a:r>
            <a:endParaRPr/>
          </a:p>
          <a:p>
            <a:pPr indent="-342900" lvl="2" marL="1371600" rtl="0" algn="l">
              <a:spcBef>
                <a:spcPts val="0"/>
              </a:spcBef>
              <a:spcAft>
                <a:spcPts val="0"/>
              </a:spcAft>
              <a:buSzPts val="1800"/>
              <a:buChar char="■"/>
            </a:pPr>
            <a:r>
              <a:rPr lang="en-GB"/>
              <a:t>Dữ liệu được gửi từ người dùng phải được mã hóa.</a:t>
            </a:r>
            <a:endParaRPr/>
          </a:p>
          <a:p>
            <a:pPr indent="-342900" lvl="2" marL="1371600" rtl="0" algn="l">
              <a:spcBef>
                <a:spcPts val="0"/>
              </a:spcBef>
              <a:spcAft>
                <a:spcPts val="0"/>
              </a:spcAft>
              <a:buSzPts val="1800"/>
              <a:buChar char="■"/>
            </a:pPr>
            <a:r>
              <a:rPr lang="en-GB"/>
              <a:t>Sử dụng giao thức HTTPS cho kết nối giữa người dùng và hệ thống.</a:t>
            </a:r>
            <a:endParaRPr/>
          </a:p>
        </p:txBody>
      </p:sp>
      <p:sp>
        <p:nvSpPr>
          <p:cNvPr id="683" name="Google Shape;683;p72"/>
          <p:cNvSpPr txBox="1"/>
          <p:nvPr/>
        </p:nvSpPr>
        <p:spPr>
          <a:xfrm>
            <a:off x="918150" y="5907125"/>
            <a:ext cx="647700" cy="45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600">
                <a:solidFill>
                  <a:srgbClr val="1155CC"/>
                </a:solidFill>
                <a:latin typeface="Times New Roman"/>
                <a:ea typeface="Times New Roman"/>
                <a:cs typeface="Times New Roman"/>
                <a:sym typeface="Times New Roman"/>
              </a:rPr>
              <a:t>…</a:t>
            </a:r>
            <a:endParaRPr sz="2600">
              <a:solidFill>
                <a:srgbClr val="1155CC"/>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73"/>
          <p:cNvSpPr txBox="1"/>
          <p:nvPr>
            <p:ph idx="4294967295"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mô hình</a:t>
            </a:r>
            <a:endParaRPr/>
          </a:p>
        </p:txBody>
      </p:sp>
      <p:sp>
        <p:nvSpPr>
          <p:cNvPr id="689" name="Google Shape;689;p73"/>
          <p:cNvSpPr txBox="1"/>
          <p:nvPr>
            <p:ph idx="4294967295" type="body"/>
          </p:nvPr>
        </p:nvSpPr>
        <p:spPr>
          <a:xfrm>
            <a:off x="311700" y="1038850"/>
            <a:ext cx="8520600" cy="55548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Mỗi mô hình biểu diễn </a:t>
            </a:r>
            <a:r>
              <a:rPr lang="en-GB"/>
              <a:t>1</a:t>
            </a:r>
            <a:r>
              <a:rPr lang="en-GB"/>
              <a:t> khía cạnh của hệ thống</a:t>
            </a:r>
            <a:endParaRPr/>
          </a:p>
          <a:p>
            <a:pPr indent="-368300" lvl="1" marL="914400" rtl="0" algn="l">
              <a:spcBef>
                <a:spcPts val="0"/>
              </a:spcBef>
              <a:spcAft>
                <a:spcPts val="0"/>
              </a:spcAft>
              <a:buSzPts val="2200"/>
              <a:buChar char="○"/>
            </a:pPr>
            <a:r>
              <a:rPr lang="en-GB"/>
              <a:t>Người phân tích tạo các mô hình và sử dụng </a:t>
            </a:r>
            <a:r>
              <a:rPr lang="en-GB"/>
              <a:t>chúng </a:t>
            </a:r>
            <a:r>
              <a:rPr lang="en-GB"/>
              <a:t>như </a:t>
            </a:r>
            <a:r>
              <a:rPr lang="en-GB"/>
              <a:t>phương tiện </a:t>
            </a:r>
            <a:r>
              <a:rPr lang="en-GB"/>
              <a:t>trao đổi hiểu biết hiện tại về hệ thống với khách hàng và những người cùng phát triển hệ thống.</a:t>
            </a:r>
            <a:endParaRPr/>
          </a:p>
          <a:p>
            <a:pPr indent="-342900" lvl="2" marL="1371600" rtl="0" algn="l">
              <a:spcBef>
                <a:spcPts val="0"/>
              </a:spcBef>
              <a:spcAft>
                <a:spcPts val="0"/>
              </a:spcAft>
              <a:buSzPts val="1800"/>
              <a:buChar char="■"/>
            </a:pPr>
            <a:r>
              <a:rPr lang="en-GB"/>
              <a:t>Để xác nhận tính đúng đắn và sử dụng cho những hoạt động tiếp theo trong SDLC</a:t>
            </a:r>
            <a:endParaRPr/>
          </a:p>
          <a:p>
            <a:pPr indent="-342900" lvl="2" marL="1371600" rtl="0" algn="l">
              <a:spcBef>
                <a:spcPts val="0"/>
              </a:spcBef>
              <a:spcAft>
                <a:spcPts val="0"/>
              </a:spcAft>
              <a:buSzPts val="1800"/>
              <a:buChar char="■"/>
            </a:pPr>
            <a:r>
              <a:rPr lang="en-GB"/>
              <a:t>Có thể được tạo bằng nhiều vòng lặp</a:t>
            </a:r>
            <a:endParaRPr/>
          </a:p>
          <a:p>
            <a:pPr indent="-393700" lvl="0" marL="457200" rtl="0" algn="l">
              <a:spcBef>
                <a:spcPts val="0"/>
              </a:spcBef>
              <a:spcAft>
                <a:spcPts val="0"/>
              </a:spcAft>
              <a:buSzPts val="2600"/>
              <a:buChar char="●"/>
            </a:pPr>
            <a:r>
              <a:rPr lang="en-GB"/>
              <a:t>Các mô hình trong phân tích &amp; thiết kế có thể được </a:t>
            </a:r>
            <a:r>
              <a:rPr lang="en-GB"/>
              <a:t>phân loại </a:t>
            </a:r>
            <a:r>
              <a:rPr lang="en-GB"/>
              <a:t>thành:</a:t>
            </a:r>
            <a:endParaRPr/>
          </a:p>
          <a:p>
            <a:pPr indent="-368300" lvl="1" marL="914400" rtl="0" algn="l">
              <a:spcBef>
                <a:spcPts val="0"/>
              </a:spcBef>
              <a:spcAft>
                <a:spcPts val="0"/>
              </a:spcAft>
              <a:buSzPts val="2200"/>
              <a:buChar char="○"/>
            </a:pPr>
            <a:r>
              <a:rPr lang="en-GB"/>
              <a:t>Văn bản: Ví dụ, các đặc tả ca sử dụng.</a:t>
            </a:r>
            <a:endParaRPr/>
          </a:p>
          <a:p>
            <a:pPr indent="-368300" lvl="1" marL="914400" rtl="0" algn="l">
              <a:spcBef>
                <a:spcPts val="0"/>
              </a:spcBef>
              <a:spcAft>
                <a:spcPts val="0"/>
              </a:spcAft>
              <a:buSzPts val="2200"/>
              <a:buChar char="○"/>
            </a:pPr>
            <a:r>
              <a:rPr lang="en-GB"/>
              <a:t>Hình vẽ: Ví dụ, các </a:t>
            </a:r>
            <a:r>
              <a:rPr lang="en-GB"/>
              <a:t>sơ đồ</a:t>
            </a:r>
            <a:r>
              <a:rPr lang="en-GB"/>
              <a:t> UML</a:t>
            </a:r>
            <a:endParaRPr/>
          </a:p>
          <a:p>
            <a:pPr indent="-368300" lvl="1" marL="914400" rtl="0" algn="l">
              <a:spcBef>
                <a:spcPts val="0"/>
              </a:spcBef>
              <a:spcAft>
                <a:spcPts val="0"/>
              </a:spcAft>
              <a:buSzPts val="2200"/>
              <a:buChar char="○"/>
            </a:pPr>
            <a:r>
              <a:rPr lang="en-GB"/>
              <a:t>Toán học: Ví dụ, công thức tính giá khuyến mãi cho đơn hàng</a:t>
            </a:r>
            <a:endParaRPr/>
          </a:p>
        </p:txBody>
      </p:sp>
      <p:sp>
        <p:nvSpPr>
          <p:cNvPr id="690" name="Google Shape;690;p7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74"/>
          <p:cNvSpPr/>
          <p:nvPr/>
        </p:nvSpPr>
        <p:spPr>
          <a:xfrm>
            <a:off x="6947300" y="1204475"/>
            <a:ext cx="2054100" cy="18630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74"/>
          <p:cNvSpPr/>
          <p:nvPr/>
        </p:nvSpPr>
        <p:spPr>
          <a:xfrm>
            <a:off x="4633043" y="1219862"/>
            <a:ext cx="2214600" cy="18630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74"/>
          <p:cNvSpPr/>
          <p:nvPr/>
        </p:nvSpPr>
        <p:spPr>
          <a:xfrm>
            <a:off x="2499457" y="1219862"/>
            <a:ext cx="2054100" cy="18630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74"/>
          <p:cNvSpPr/>
          <p:nvPr/>
        </p:nvSpPr>
        <p:spPr>
          <a:xfrm>
            <a:off x="274775" y="1219862"/>
            <a:ext cx="2130900" cy="18630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74"/>
          <p:cNvSpPr/>
          <p:nvPr/>
        </p:nvSpPr>
        <p:spPr>
          <a:xfrm>
            <a:off x="6947301" y="3791725"/>
            <a:ext cx="2054100" cy="19422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74"/>
          <p:cNvSpPr/>
          <p:nvPr/>
        </p:nvSpPr>
        <p:spPr>
          <a:xfrm>
            <a:off x="4633044" y="3807766"/>
            <a:ext cx="2214600" cy="19422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74"/>
          <p:cNvSpPr/>
          <p:nvPr/>
        </p:nvSpPr>
        <p:spPr>
          <a:xfrm>
            <a:off x="2499457" y="3807766"/>
            <a:ext cx="2054100" cy="19422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74"/>
          <p:cNvSpPr/>
          <p:nvPr/>
        </p:nvSpPr>
        <p:spPr>
          <a:xfrm>
            <a:off x="274775" y="3807766"/>
            <a:ext cx="2130900" cy="19422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7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04" name="Google Shape;704;p74"/>
          <p:cNvSpPr txBox="1"/>
          <p:nvPr>
            <p:ph idx="4294967295"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1.</a:t>
            </a:r>
            <a:r>
              <a:rPr lang="en-GB"/>
              <a:t>3</a:t>
            </a:r>
            <a:r>
              <a:rPr lang="en-GB"/>
              <a:t>. Các mô hình</a:t>
            </a:r>
            <a:endParaRPr/>
          </a:p>
        </p:txBody>
      </p:sp>
      <p:sp>
        <p:nvSpPr>
          <p:cNvPr id="705" name="Google Shape;705;p74"/>
          <p:cNvSpPr/>
          <p:nvPr/>
        </p:nvSpPr>
        <p:spPr>
          <a:xfrm>
            <a:off x="377300" y="1440425"/>
            <a:ext cx="1921200" cy="1444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600"/>
              <a:t>1. Mua ô-tô mới</a:t>
            </a:r>
            <a:endParaRPr sz="1600"/>
          </a:p>
          <a:p>
            <a:pPr indent="0" lvl="0" marL="0" rtl="0" algn="l">
              <a:spcBef>
                <a:spcPts val="0"/>
              </a:spcBef>
              <a:spcAft>
                <a:spcPts val="0"/>
              </a:spcAft>
              <a:buNone/>
            </a:pPr>
            <a:r>
              <a:rPr lang="en-GB" sz="1600"/>
              <a:t>2. Bán ô-tô</a:t>
            </a:r>
            <a:endParaRPr sz="1600"/>
          </a:p>
          <a:p>
            <a:pPr indent="0" lvl="0" marL="0" rtl="0" algn="l">
              <a:spcBef>
                <a:spcPts val="0"/>
              </a:spcBef>
              <a:spcAft>
                <a:spcPts val="0"/>
              </a:spcAft>
              <a:buNone/>
            </a:pPr>
            <a:r>
              <a:rPr lang="en-GB" sz="1600"/>
              <a:t>3. Bảo dưỡng ô-tô</a:t>
            </a:r>
            <a:endParaRPr sz="1600"/>
          </a:p>
          <a:p>
            <a:pPr indent="0" lvl="0" marL="0" rtl="0" algn="l">
              <a:spcBef>
                <a:spcPts val="0"/>
              </a:spcBef>
              <a:spcAft>
                <a:spcPts val="0"/>
              </a:spcAft>
              <a:buNone/>
            </a:pPr>
            <a:r>
              <a:rPr lang="en-GB" sz="1600"/>
              <a:t>4. Thanh toán</a:t>
            </a:r>
            <a:endParaRPr sz="1600"/>
          </a:p>
          <a:p>
            <a:pPr indent="0" lvl="0" marL="0" rtl="0" algn="l">
              <a:spcBef>
                <a:spcPts val="0"/>
              </a:spcBef>
              <a:spcAft>
                <a:spcPts val="0"/>
              </a:spcAft>
              <a:buNone/>
            </a:pPr>
            <a:r>
              <a:rPr lang="en-GB" sz="1600"/>
              <a:t>5. Mượn ô-tô</a:t>
            </a:r>
            <a:endParaRPr sz="1600"/>
          </a:p>
        </p:txBody>
      </p:sp>
      <p:sp>
        <p:nvSpPr>
          <p:cNvPr id="706" name="Google Shape;706;p74"/>
          <p:cNvSpPr txBox="1"/>
          <p:nvPr/>
        </p:nvSpPr>
        <p:spPr>
          <a:xfrm>
            <a:off x="340075" y="3080375"/>
            <a:ext cx="1950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Danh sách sự kiện</a:t>
            </a:r>
            <a:endParaRPr sz="1800">
              <a:latin typeface="Times New Roman"/>
              <a:ea typeface="Times New Roman"/>
              <a:cs typeface="Times New Roman"/>
              <a:sym typeface="Times New Roman"/>
            </a:endParaRPr>
          </a:p>
        </p:txBody>
      </p:sp>
      <p:pic>
        <p:nvPicPr>
          <p:cNvPr id="707" name="Google Shape;707;p74"/>
          <p:cNvPicPr preferRelativeResize="0"/>
          <p:nvPr/>
        </p:nvPicPr>
        <p:blipFill>
          <a:blip r:embed="rId3">
            <a:alphaModFix/>
          </a:blip>
          <a:stretch>
            <a:fillRect/>
          </a:stretch>
        </p:blipFill>
        <p:spPr>
          <a:xfrm>
            <a:off x="2534121" y="1433075"/>
            <a:ext cx="1950900" cy="1322531"/>
          </a:xfrm>
          <a:prstGeom prst="rect">
            <a:avLst/>
          </a:prstGeom>
          <a:noFill/>
          <a:ln>
            <a:noFill/>
          </a:ln>
        </p:spPr>
      </p:pic>
      <p:sp>
        <p:nvSpPr>
          <p:cNvPr id="708" name="Google Shape;708;p74"/>
          <p:cNvSpPr txBox="1"/>
          <p:nvPr/>
        </p:nvSpPr>
        <p:spPr>
          <a:xfrm>
            <a:off x="2473675" y="3080375"/>
            <a:ext cx="1950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Sơ đồ</a:t>
            </a:r>
            <a:r>
              <a:rPr lang="en-GB" sz="1800">
                <a:latin typeface="Times New Roman"/>
                <a:ea typeface="Times New Roman"/>
                <a:cs typeface="Times New Roman"/>
                <a:sym typeface="Times New Roman"/>
              </a:rPr>
              <a:t> ca sử dụng</a:t>
            </a:r>
            <a:endParaRPr sz="1800">
              <a:latin typeface="Times New Roman"/>
              <a:ea typeface="Times New Roman"/>
              <a:cs typeface="Times New Roman"/>
              <a:sym typeface="Times New Roman"/>
            </a:endParaRPr>
          </a:p>
        </p:txBody>
      </p:sp>
      <p:pic>
        <p:nvPicPr>
          <p:cNvPr id="709" name="Google Shape;709;p74"/>
          <p:cNvPicPr preferRelativeResize="0"/>
          <p:nvPr/>
        </p:nvPicPr>
        <p:blipFill>
          <a:blip r:embed="rId4">
            <a:alphaModFix/>
          </a:blip>
          <a:stretch>
            <a:fillRect/>
          </a:stretch>
        </p:blipFill>
        <p:spPr>
          <a:xfrm>
            <a:off x="4821700" y="1442204"/>
            <a:ext cx="1869754" cy="1411350"/>
          </a:xfrm>
          <a:prstGeom prst="rect">
            <a:avLst/>
          </a:prstGeom>
          <a:noFill/>
          <a:ln>
            <a:noFill/>
          </a:ln>
        </p:spPr>
      </p:pic>
      <p:sp>
        <p:nvSpPr>
          <p:cNvPr id="710" name="Google Shape;710;p74"/>
          <p:cNvSpPr txBox="1"/>
          <p:nvPr/>
        </p:nvSpPr>
        <p:spPr>
          <a:xfrm>
            <a:off x="4745500" y="3067225"/>
            <a:ext cx="1869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Đặc tả ca sử dụng</a:t>
            </a:r>
            <a:endParaRPr sz="1800">
              <a:latin typeface="Times New Roman"/>
              <a:ea typeface="Times New Roman"/>
              <a:cs typeface="Times New Roman"/>
              <a:sym typeface="Times New Roman"/>
            </a:endParaRPr>
          </a:p>
        </p:txBody>
      </p:sp>
      <p:pic>
        <p:nvPicPr>
          <p:cNvPr id="711" name="Google Shape;711;p74"/>
          <p:cNvPicPr preferRelativeResize="0"/>
          <p:nvPr/>
        </p:nvPicPr>
        <p:blipFill>
          <a:blip r:embed="rId5">
            <a:alphaModFix/>
          </a:blip>
          <a:stretch>
            <a:fillRect/>
          </a:stretch>
        </p:blipFill>
        <p:spPr>
          <a:xfrm>
            <a:off x="7338736" y="1440425"/>
            <a:ext cx="1196739" cy="1444500"/>
          </a:xfrm>
          <a:prstGeom prst="rect">
            <a:avLst/>
          </a:prstGeom>
          <a:noFill/>
          <a:ln>
            <a:noFill/>
          </a:ln>
        </p:spPr>
      </p:pic>
      <p:sp>
        <p:nvSpPr>
          <p:cNvPr id="712" name="Google Shape;712;p74"/>
          <p:cNvSpPr txBox="1"/>
          <p:nvPr/>
        </p:nvSpPr>
        <p:spPr>
          <a:xfrm>
            <a:off x="7088725" y="3080375"/>
            <a:ext cx="1869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Sơ đồ</a:t>
            </a:r>
            <a:r>
              <a:rPr lang="en-GB" sz="1800">
                <a:latin typeface="Times New Roman"/>
                <a:ea typeface="Times New Roman"/>
                <a:cs typeface="Times New Roman"/>
                <a:sym typeface="Times New Roman"/>
              </a:rPr>
              <a:t> hoạt động</a:t>
            </a:r>
            <a:endParaRPr sz="1800">
              <a:latin typeface="Times New Roman"/>
              <a:ea typeface="Times New Roman"/>
              <a:cs typeface="Times New Roman"/>
              <a:sym typeface="Times New Roman"/>
            </a:endParaRPr>
          </a:p>
        </p:txBody>
      </p:sp>
      <p:pic>
        <p:nvPicPr>
          <p:cNvPr id="713" name="Google Shape;713;p74"/>
          <p:cNvPicPr preferRelativeResize="0"/>
          <p:nvPr/>
        </p:nvPicPr>
        <p:blipFill>
          <a:blip r:embed="rId6">
            <a:alphaModFix/>
          </a:blip>
          <a:stretch>
            <a:fillRect/>
          </a:stretch>
        </p:blipFill>
        <p:spPr>
          <a:xfrm>
            <a:off x="377300" y="3989975"/>
            <a:ext cx="1921200" cy="1582993"/>
          </a:xfrm>
          <a:prstGeom prst="rect">
            <a:avLst/>
          </a:prstGeom>
          <a:noFill/>
          <a:ln>
            <a:noFill/>
          </a:ln>
        </p:spPr>
      </p:pic>
      <p:sp>
        <p:nvSpPr>
          <p:cNvPr id="714" name="Google Shape;714;p74"/>
          <p:cNvSpPr txBox="1"/>
          <p:nvPr/>
        </p:nvSpPr>
        <p:spPr>
          <a:xfrm>
            <a:off x="311700" y="5807275"/>
            <a:ext cx="1950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Sơ đồ</a:t>
            </a:r>
            <a:r>
              <a:rPr lang="en-GB" sz="1800">
                <a:latin typeface="Times New Roman"/>
                <a:ea typeface="Times New Roman"/>
                <a:cs typeface="Times New Roman"/>
                <a:sym typeface="Times New Roman"/>
              </a:rPr>
              <a:t> lớp</a:t>
            </a:r>
            <a:endParaRPr sz="1800">
              <a:latin typeface="Times New Roman"/>
              <a:ea typeface="Times New Roman"/>
              <a:cs typeface="Times New Roman"/>
              <a:sym typeface="Times New Roman"/>
            </a:endParaRPr>
          </a:p>
        </p:txBody>
      </p:sp>
      <p:pic>
        <p:nvPicPr>
          <p:cNvPr id="715" name="Google Shape;715;p74"/>
          <p:cNvPicPr preferRelativeResize="0"/>
          <p:nvPr/>
        </p:nvPicPr>
        <p:blipFill>
          <a:blip r:embed="rId7">
            <a:alphaModFix/>
          </a:blip>
          <a:stretch>
            <a:fillRect/>
          </a:stretch>
        </p:blipFill>
        <p:spPr>
          <a:xfrm>
            <a:off x="2661700" y="3989975"/>
            <a:ext cx="1574850" cy="1583000"/>
          </a:xfrm>
          <a:prstGeom prst="rect">
            <a:avLst/>
          </a:prstGeom>
          <a:noFill/>
          <a:ln>
            <a:noFill/>
          </a:ln>
        </p:spPr>
      </p:pic>
      <p:sp>
        <p:nvSpPr>
          <p:cNvPr id="716" name="Google Shape;716;p74"/>
          <p:cNvSpPr txBox="1"/>
          <p:nvPr/>
        </p:nvSpPr>
        <p:spPr>
          <a:xfrm>
            <a:off x="2397475" y="5807275"/>
            <a:ext cx="1950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Sơ đồ</a:t>
            </a:r>
            <a:r>
              <a:rPr lang="en-GB" sz="1800">
                <a:latin typeface="Times New Roman"/>
                <a:ea typeface="Times New Roman"/>
                <a:cs typeface="Times New Roman"/>
                <a:sym typeface="Times New Roman"/>
              </a:rPr>
              <a:t> tuần tự</a:t>
            </a:r>
            <a:endParaRPr sz="1800">
              <a:latin typeface="Times New Roman"/>
              <a:ea typeface="Times New Roman"/>
              <a:cs typeface="Times New Roman"/>
              <a:sym typeface="Times New Roman"/>
            </a:endParaRPr>
          </a:p>
        </p:txBody>
      </p:sp>
      <p:pic>
        <p:nvPicPr>
          <p:cNvPr id="717" name="Google Shape;717;p74"/>
          <p:cNvPicPr preferRelativeResize="0"/>
          <p:nvPr/>
        </p:nvPicPr>
        <p:blipFill>
          <a:blip r:embed="rId8">
            <a:alphaModFix/>
          </a:blip>
          <a:stretch>
            <a:fillRect/>
          </a:stretch>
        </p:blipFill>
        <p:spPr>
          <a:xfrm>
            <a:off x="4674213" y="3989975"/>
            <a:ext cx="2130801" cy="987443"/>
          </a:xfrm>
          <a:prstGeom prst="rect">
            <a:avLst/>
          </a:prstGeom>
          <a:noFill/>
          <a:ln>
            <a:noFill/>
          </a:ln>
        </p:spPr>
      </p:pic>
      <p:sp>
        <p:nvSpPr>
          <p:cNvPr id="718" name="Google Shape;718;p74"/>
          <p:cNvSpPr txBox="1"/>
          <p:nvPr/>
        </p:nvSpPr>
        <p:spPr>
          <a:xfrm>
            <a:off x="4689700" y="5801550"/>
            <a:ext cx="1950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Sơ đồ</a:t>
            </a:r>
            <a:r>
              <a:rPr lang="en-GB" sz="1800">
                <a:latin typeface="Times New Roman"/>
                <a:ea typeface="Times New Roman"/>
                <a:cs typeface="Times New Roman"/>
                <a:sym typeface="Times New Roman"/>
              </a:rPr>
              <a:t> giao tiếp</a:t>
            </a:r>
            <a:endParaRPr sz="1800">
              <a:latin typeface="Times New Roman"/>
              <a:ea typeface="Times New Roman"/>
              <a:cs typeface="Times New Roman"/>
              <a:sym typeface="Times New Roman"/>
            </a:endParaRPr>
          </a:p>
        </p:txBody>
      </p:sp>
      <p:pic>
        <p:nvPicPr>
          <p:cNvPr id="719" name="Google Shape;719;p74"/>
          <p:cNvPicPr preferRelativeResize="0"/>
          <p:nvPr/>
        </p:nvPicPr>
        <p:blipFill>
          <a:blip r:embed="rId9">
            <a:alphaModFix/>
          </a:blip>
          <a:stretch>
            <a:fillRect/>
          </a:stretch>
        </p:blipFill>
        <p:spPr>
          <a:xfrm>
            <a:off x="7066275" y="3989975"/>
            <a:ext cx="1816150" cy="588325"/>
          </a:xfrm>
          <a:prstGeom prst="rect">
            <a:avLst/>
          </a:prstGeom>
          <a:noFill/>
          <a:ln>
            <a:noFill/>
          </a:ln>
        </p:spPr>
      </p:pic>
      <p:sp>
        <p:nvSpPr>
          <p:cNvPr id="720" name="Google Shape;720;p74"/>
          <p:cNvSpPr txBox="1"/>
          <p:nvPr/>
        </p:nvSpPr>
        <p:spPr>
          <a:xfrm>
            <a:off x="6988341" y="5801550"/>
            <a:ext cx="1950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Sơ đồ</a:t>
            </a:r>
            <a:r>
              <a:rPr lang="en-GB" sz="1800">
                <a:latin typeface="Times New Roman"/>
                <a:ea typeface="Times New Roman"/>
                <a:cs typeface="Times New Roman"/>
                <a:sym typeface="Times New Roman"/>
              </a:rPr>
              <a:t> máy trạng thái</a:t>
            </a:r>
            <a:endParaRPr sz="1800">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7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Kỹ năng xác định yêu cầu</a:t>
            </a:r>
            <a:endParaRPr/>
          </a:p>
        </p:txBody>
      </p:sp>
      <p:sp>
        <p:nvSpPr>
          <p:cNvPr id="726" name="Google Shape;726;p75"/>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Kết hợp hiểu biết về</a:t>
            </a:r>
            <a:r>
              <a:rPr lang="en-GB"/>
              <a:t> CNTT </a:t>
            </a:r>
            <a:r>
              <a:rPr lang="en-GB"/>
              <a:t>và</a:t>
            </a:r>
            <a:r>
              <a:rPr lang="en-GB"/>
              <a:t> nghiệp vụ</a:t>
            </a:r>
            <a:endParaRPr/>
          </a:p>
          <a:p>
            <a:pPr indent="-393700" lvl="0" marL="457200" rtl="0" algn="l">
              <a:spcBef>
                <a:spcPts val="0"/>
              </a:spcBef>
              <a:spcAft>
                <a:spcPts val="0"/>
              </a:spcAft>
              <a:buSzPts val="2600"/>
              <a:buChar char="●"/>
            </a:pPr>
            <a:r>
              <a:rPr lang="en-GB"/>
              <a:t>Các yêu cầu được xác định tốt nhất </a:t>
            </a:r>
            <a:r>
              <a:rPr lang="en-GB"/>
              <a:t>khi có</a:t>
            </a:r>
            <a:r>
              <a:rPr lang="en-GB"/>
              <a:t> người phân tích hệ thống và người làm nghiệp vụ làm việc cùng nhau</a:t>
            </a:r>
            <a:endParaRPr/>
          </a:p>
          <a:p>
            <a:pPr indent="-393700" lvl="0" marL="457200" rtl="0" algn="l">
              <a:spcBef>
                <a:spcPts val="0"/>
              </a:spcBef>
              <a:spcAft>
                <a:spcPts val="0"/>
              </a:spcAft>
              <a:buSzPts val="2600"/>
              <a:buChar char="●"/>
            </a:pPr>
            <a:r>
              <a:rPr lang="en-GB"/>
              <a:t>Cần </a:t>
            </a:r>
            <a:r>
              <a:rPr lang="en-GB"/>
              <a:t>sử dụng </a:t>
            </a:r>
            <a:r>
              <a:rPr lang="en-GB"/>
              <a:t>các kỹ năng phân tích vấn đề và thu thập thông tin.</a:t>
            </a:r>
            <a:endParaRPr/>
          </a:p>
        </p:txBody>
      </p:sp>
      <p:sp>
        <p:nvSpPr>
          <p:cNvPr id="727" name="Google Shape;727;p7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7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khó khăn trong xác định yêu cầu</a:t>
            </a:r>
            <a:endParaRPr/>
          </a:p>
        </p:txBody>
      </p:sp>
      <p:sp>
        <p:nvSpPr>
          <p:cNvPr id="733" name="Google Shape;733;p76"/>
          <p:cNvSpPr txBox="1"/>
          <p:nvPr>
            <p:ph idx="1" type="body"/>
          </p:nvPr>
        </p:nvSpPr>
        <p:spPr>
          <a:xfrm>
            <a:off x="311700" y="1536625"/>
            <a:ext cx="8642400" cy="45552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Người phân tích có thể không tiếp cận được đúng người dùng</a:t>
            </a:r>
            <a:endParaRPr/>
          </a:p>
          <a:p>
            <a:pPr indent="-393700" lvl="0" marL="457200" rtl="0" algn="l">
              <a:spcBef>
                <a:spcPts val="0"/>
              </a:spcBef>
              <a:spcAft>
                <a:spcPts val="0"/>
              </a:spcAft>
              <a:buSzPts val="2600"/>
              <a:buChar char="●"/>
            </a:pPr>
            <a:r>
              <a:rPr lang="en-GB"/>
              <a:t>Các đặc tả yêu cầu có thể không đầy đủ</a:t>
            </a:r>
            <a:endParaRPr/>
          </a:p>
          <a:p>
            <a:pPr indent="-393700" lvl="0" marL="457200" rtl="0" algn="l">
              <a:spcBef>
                <a:spcPts val="0"/>
              </a:spcBef>
              <a:spcAft>
                <a:spcPts val="0"/>
              </a:spcAft>
              <a:buSzPts val="2600"/>
              <a:buChar char="●"/>
            </a:pPr>
            <a:r>
              <a:rPr lang="en-GB"/>
              <a:t>Yêu cầu có thể không được phát hiện từ ban đầu</a:t>
            </a:r>
            <a:endParaRPr/>
          </a:p>
          <a:p>
            <a:pPr indent="-368300" lvl="1" marL="914400" rtl="0" algn="l">
              <a:spcBef>
                <a:spcPts val="0"/>
              </a:spcBef>
              <a:spcAft>
                <a:spcPts val="0"/>
              </a:spcAft>
              <a:buSzPts val="2200"/>
              <a:buChar char="○"/>
            </a:pPr>
            <a:r>
              <a:rPr lang="en-GB"/>
              <a:t>Cần cố gắng phát hiện tất cả các yêu cầu (các yêu cầu được phát hiện sau trong tiến trình phát triển thường khó kết hợp)</a:t>
            </a:r>
            <a:endParaRPr/>
          </a:p>
          <a:p>
            <a:pPr indent="-393700" lvl="0" marL="457200" rtl="0" algn="l">
              <a:spcBef>
                <a:spcPts val="0"/>
              </a:spcBef>
              <a:spcAft>
                <a:spcPts val="0"/>
              </a:spcAft>
              <a:buSzPts val="2600"/>
              <a:buChar char="●"/>
            </a:pPr>
            <a:r>
              <a:rPr lang="en-GB"/>
              <a:t>Có thể gặp khó khăn trong kiểm tra và đánh giá các yêu cầu.</a:t>
            </a:r>
            <a:endParaRPr/>
          </a:p>
        </p:txBody>
      </p:sp>
      <p:sp>
        <p:nvSpPr>
          <p:cNvPr id="734" name="Google Shape;734;p7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7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Tổng quan về các chiến lược phân tích vấn đề</a:t>
            </a:r>
            <a:endParaRPr/>
          </a:p>
        </p:txBody>
      </p:sp>
      <p:sp>
        <p:nvSpPr>
          <p:cNvPr id="740" name="Google Shape;740;p77"/>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Phân tích nguyên nhân gốc - Tập trung vào nguyên nhân của 1 vấn đề - không phải cách giải quyết nó</a:t>
            </a:r>
            <a:endParaRPr/>
          </a:p>
          <a:p>
            <a:pPr indent="-368300" lvl="1" marL="914400" rtl="0" algn="l">
              <a:spcBef>
                <a:spcPts val="0"/>
              </a:spcBef>
              <a:spcAft>
                <a:spcPts val="0"/>
              </a:spcAft>
              <a:buSzPts val="2200"/>
              <a:buChar char="○"/>
            </a:pPr>
            <a:r>
              <a:rPr lang="en-GB"/>
              <a:t>Tìm hiểu nguyên nhân của các vấn đề và xây dựng giải pháp sau khi các nguyên nhân đã được làm rõ</a:t>
            </a:r>
            <a:endParaRPr/>
          </a:p>
          <a:p>
            <a:pPr indent="-393700" lvl="0" marL="457200" rtl="0" algn="l">
              <a:spcBef>
                <a:spcPts val="0"/>
              </a:spcBef>
              <a:spcAft>
                <a:spcPts val="0"/>
              </a:spcAft>
              <a:buSzPts val="2600"/>
              <a:buChar char="●"/>
            </a:pPr>
            <a:r>
              <a:rPr lang="en-GB"/>
              <a:t>Phân tích thời lượng - Xác định thời gian cần thiết để hoàn thành mỗi bước trong 1 quy trình nghiệp vụ</a:t>
            </a:r>
            <a:endParaRPr/>
          </a:p>
          <a:p>
            <a:pPr indent="-368300" lvl="1" marL="914400" rtl="0" algn="l">
              <a:spcBef>
                <a:spcPts val="0"/>
              </a:spcBef>
              <a:spcAft>
                <a:spcPts val="0"/>
              </a:spcAft>
              <a:buSzPts val="2200"/>
              <a:buChar char="○"/>
            </a:pPr>
            <a:r>
              <a:rPr lang="en-GB"/>
              <a:t>So sánh với tổng thời gian cần cho toàn bộ tiến trình</a:t>
            </a:r>
            <a:endParaRPr/>
          </a:p>
          <a:p>
            <a:pPr indent="-368300" lvl="1" marL="914400" rtl="0" algn="l">
              <a:spcBef>
                <a:spcPts val="0"/>
              </a:spcBef>
              <a:spcAft>
                <a:spcPts val="0"/>
              </a:spcAft>
              <a:buSzPts val="2200"/>
              <a:buChar char="○"/>
            </a:pPr>
            <a:r>
              <a:rPr lang="en-GB"/>
              <a:t>Khác biệt lớn cho thấy rằng các vấn đề có thể được giải quyết bằng cách:</a:t>
            </a:r>
            <a:endParaRPr/>
          </a:p>
          <a:p>
            <a:pPr indent="-342900" lvl="2" marL="1371600" rtl="0" algn="l">
              <a:spcBef>
                <a:spcPts val="0"/>
              </a:spcBef>
              <a:spcAft>
                <a:spcPts val="0"/>
              </a:spcAft>
              <a:buSzPts val="1800"/>
              <a:buChar char="■"/>
            </a:pPr>
            <a:r>
              <a:rPr lang="en-GB"/>
              <a:t>Kết hợp </a:t>
            </a:r>
            <a:r>
              <a:rPr lang="en-GB"/>
              <a:t>nhiều</a:t>
            </a:r>
            <a:r>
              <a:rPr lang="en-GB"/>
              <a:t> bước</a:t>
            </a:r>
            <a:endParaRPr/>
          </a:p>
          <a:p>
            <a:pPr indent="-342900" lvl="2" marL="1371600" rtl="0" algn="l">
              <a:spcBef>
                <a:spcPts val="0"/>
              </a:spcBef>
              <a:spcAft>
                <a:spcPts val="0"/>
              </a:spcAft>
              <a:buSzPts val="1800"/>
              <a:buChar char="■"/>
            </a:pPr>
            <a:r>
              <a:rPr lang="en-GB"/>
              <a:t>Thực hiện </a:t>
            </a:r>
            <a:r>
              <a:rPr lang="en-GB"/>
              <a:t>nhiều</a:t>
            </a:r>
            <a:r>
              <a:rPr lang="en-GB"/>
              <a:t> bước đồng thời (song song)</a:t>
            </a:r>
            <a:endParaRPr/>
          </a:p>
        </p:txBody>
      </p:sp>
      <p:sp>
        <p:nvSpPr>
          <p:cNvPr id="741" name="Google Shape;741;p7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7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Tổng quan về các chiến lược phân tích vấn đề</a:t>
            </a:r>
            <a:r>
              <a:rPr baseline="-25000" lang="en-GB"/>
              <a:t>(2)</a:t>
            </a:r>
            <a:endParaRPr baseline="-25000"/>
          </a:p>
        </p:txBody>
      </p:sp>
      <p:sp>
        <p:nvSpPr>
          <p:cNvPr id="747" name="Google Shape;747;p78"/>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Chi phí dựa trên hoạt động - Tương tự như thời lượng nhưng áp dụng cho các chi phí</a:t>
            </a:r>
            <a:endParaRPr/>
          </a:p>
          <a:p>
            <a:pPr indent="-393700" lvl="0" marL="457200" rtl="0" algn="l">
              <a:spcBef>
                <a:spcPts val="0"/>
              </a:spcBef>
              <a:spcAft>
                <a:spcPts val="0"/>
              </a:spcAft>
              <a:buSzPts val="2600"/>
              <a:buChar char="●"/>
            </a:pPr>
            <a:r>
              <a:rPr lang="en-GB"/>
              <a:t>Đánh giá </a:t>
            </a:r>
            <a:r>
              <a:rPr lang="en-GB"/>
              <a:t>gián tiếp</a:t>
            </a:r>
            <a:r>
              <a:rPr lang="en-GB"/>
              <a:t> - Tham khảo quy trình tương tự ở môi trường khác.</a:t>
            </a:r>
            <a:endParaRPr/>
          </a:p>
          <a:p>
            <a:pPr indent="-393700" lvl="0" marL="457200" rtl="0" algn="l">
              <a:spcBef>
                <a:spcPts val="0"/>
              </a:spcBef>
              <a:spcAft>
                <a:spcPts val="0"/>
              </a:spcAft>
              <a:buSzPts val="2600"/>
              <a:buChar char="●"/>
            </a:pPr>
            <a:r>
              <a:rPr lang="en-GB"/>
              <a:t>Phân tích đầu ra - Kết quả cuối cùng mà khách hàng muốn </a:t>
            </a:r>
            <a:r>
              <a:rPr lang="en-GB"/>
              <a:t>đạt được.</a:t>
            </a:r>
            <a:endParaRPr/>
          </a:p>
          <a:p>
            <a:pPr indent="-393700" lvl="0" marL="457200" rtl="0" algn="l">
              <a:spcBef>
                <a:spcPts val="0"/>
              </a:spcBef>
              <a:spcAft>
                <a:spcPts val="0"/>
              </a:spcAft>
              <a:buSzPts val="2600"/>
              <a:buChar char="●"/>
            </a:pPr>
            <a:r>
              <a:rPr lang="en-GB"/>
              <a:t>Phân tích công nghệ - Giả định áp dụng công nghệ mới vào quy trình nghiệp vụ và xác định các lợi ích </a:t>
            </a:r>
            <a:r>
              <a:rPr lang="en-GB"/>
              <a:t>thu được.</a:t>
            </a:r>
            <a:endParaRPr/>
          </a:p>
          <a:p>
            <a:pPr indent="-393700" lvl="0" marL="457200" rtl="0" algn="l">
              <a:spcBef>
                <a:spcPts val="0"/>
              </a:spcBef>
              <a:spcAft>
                <a:spcPts val="0"/>
              </a:spcAft>
              <a:buSzPts val="2600"/>
              <a:buChar char="●"/>
            </a:pPr>
            <a:r>
              <a:rPr lang="en-GB"/>
              <a:t>Loại bỏ hoạt động - Thử loại bỏ từng hoạt động trong quy trình nghiệp vụ, và quan sát tiến trình trong điều kiện đó, tìm hiểu các hiệu ứng mà nó tạo ra.</a:t>
            </a:r>
            <a:endParaRPr/>
          </a:p>
        </p:txBody>
      </p:sp>
      <p:sp>
        <p:nvSpPr>
          <p:cNvPr id="748" name="Google Shape;748;p7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7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Tổng quan về các kỹ thuật thu thập thông tin</a:t>
            </a:r>
            <a:endParaRPr/>
          </a:p>
        </p:txBody>
      </p:sp>
      <p:sp>
        <p:nvSpPr>
          <p:cNvPr id="754" name="Google Shape;754;p79"/>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Phỏng vấn - Kỹ thuật thông dụng nhất - hỏi ai đó khi cần biết về điều gì đó</a:t>
            </a:r>
            <a:endParaRPr/>
          </a:p>
          <a:p>
            <a:pPr indent="-393700" lvl="0" marL="457200" rtl="0" algn="l">
              <a:spcBef>
                <a:spcPts val="0"/>
              </a:spcBef>
              <a:spcAft>
                <a:spcPts val="0"/>
              </a:spcAft>
              <a:buSzPts val="2600"/>
              <a:buChar char="●"/>
            </a:pPr>
            <a:r>
              <a:rPr lang="en-GB"/>
              <a:t>Hội thảo liên kết (JAD) - Cuộc họp bao gồm cả người dùng và người phân tích để thảo luận về các vấn đề phát triển hệ thống.</a:t>
            </a:r>
            <a:endParaRPr/>
          </a:p>
          <a:p>
            <a:pPr indent="-393700" lvl="0" marL="457200" rtl="0" algn="l">
              <a:spcBef>
                <a:spcPts val="0"/>
              </a:spcBef>
              <a:spcAft>
                <a:spcPts val="0"/>
              </a:spcAft>
              <a:buSzPts val="2600"/>
              <a:buChar char="●"/>
            </a:pPr>
            <a:r>
              <a:rPr lang="en-GB"/>
              <a:t>Khảo sát - Sử dụng 1 tập câu hỏi để thu thập thông tin từ nhiều người.</a:t>
            </a:r>
            <a:endParaRPr/>
          </a:p>
          <a:p>
            <a:pPr indent="-393700" lvl="0" marL="457200" rtl="0" algn="l">
              <a:spcBef>
                <a:spcPts val="0"/>
              </a:spcBef>
              <a:spcAft>
                <a:spcPts val="0"/>
              </a:spcAft>
              <a:buSzPts val="2600"/>
              <a:buChar char="●"/>
            </a:pPr>
            <a:r>
              <a:rPr lang="en-GB"/>
              <a:t>Phân tích tài liệu - Tìm hiểu các tài liệu kỹ thuật, các biểu mẫu, báo cáo, các quy định và điều khoản. v.v..</a:t>
            </a:r>
            <a:endParaRPr/>
          </a:p>
          <a:p>
            <a:pPr indent="-393700" lvl="0" marL="457200" rtl="0" algn="l">
              <a:spcBef>
                <a:spcPts val="0"/>
              </a:spcBef>
              <a:spcAft>
                <a:spcPts val="0"/>
              </a:spcAft>
              <a:buSzPts val="2600"/>
              <a:buChar char="●"/>
            </a:pPr>
            <a:r>
              <a:rPr lang="en-GB"/>
              <a:t>Quan sát - Quan sát diễn biến thực tế của các hoạt động.</a:t>
            </a:r>
            <a:endParaRPr/>
          </a:p>
        </p:txBody>
      </p:sp>
      <p:sp>
        <p:nvSpPr>
          <p:cNvPr id="755" name="Google Shape;755;p7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80"/>
          <p:cNvSpPr/>
          <p:nvPr/>
        </p:nvSpPr>
        <p:spPr>
          <a:xfrm>
            <a:off x="189600" y="879900"/>
            <a:ext cx="8738700" cy="5516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80"/>
          <p:cNvSpPr txBox="1"/>
          <p:nvPr>
            <p:ph idx="4294967295" type="title"/>
          </p:nvPr>
        </p:nvSpPr>
        <p:spPr>
          <a:xfrm>
            <a:off x="311700" y="186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So sánh các kỹ thuật thu thập thông tin</a:t>
            </a:r>
            <a:endParaRPr/>
          </a:p>
        </p:txBody>
      </p:sp>
      <p:sp>
        <p:nvSpPr>
          <p:cNvPr id="762" name="Google Shape;762;p8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763" name="Google Shape;763;p80"/>
          <p:cNvGraphicFramePr/>
          <p:nvPr/>
        </p:nvGraphicFramePr>
        <p:xfrm>
          <a:off x="311700" y="997237"/>
          <a:ext cx="3000000" cy="3000000"/>
        </p:xfrm>
        <a:graphic>
          <a:graphicData uri="http://schemas.openxmlformats.org/drawingml/2006/table">
            <a:tbl>
              <a:tblPr>
                <a:noFill/>
                <a:tableStyleId>{FB86B068-0AB8-465F-A198-9472E0B8EB98}</a:tableStyleId>
              </a:tblPr>
              <a:tblGrid>
                <a:gridCol w="1816200"/>
                <a:gridCol w="1178950"/>
                <a:gridCol w="1472225"/>
                <a:gridCol w="1316550"/>
                <a:gridCol w="1437350"/>
                <a:gridCol w="1299300"/>
              </a:tblGrid>
              <a:tr h="726150">
                <a:tc>
                  <a:txBody>
                    <a:bodyPr/>
                    <a:lstStyle/>
                    <a:p>
                      <a:pPr indent="0" lvl="0" marL="0" rtl="0" algn="ctr">
                        <a:spcBef>
                          <a:spcPts val="0"/>
                        </a:spcBef>
                        <a:spcAft>
                          <a:spcPts val="0"/>
                        </a:spcAft>
                        <a:buNone/>
                      </a:pPr>
                      <a:r>
                        <a:t/>
                      </a:r>
                      <a:endParaRPr sz="1800"/>
                    </a:p>
                  </a:txBody>
                  <a:tcPr marT="50400" marB="50400" marR="54000" marL="54000" anchor="b">
                    <a:solidFill>
                      <a:srgbClr val="CFE2F3"/>
                    </a:solidFill>
                  </a:tcPr>
                </a:tc>
                <a:tc>
                  <a:txBody>
                    <a:bodyPr/>
                    <a:lstStyle/>
                    <a:p>
                      <a:pPr indent="0" lvl="0" marL="0" rtl="0" algn="ctr">
                        <a:spcBef>
                          <a:spcPts val="0"/>
                        </a:spcBef>
                        <a:spcAft>
                          <a:spcPts val="0"/>
                        </a:spcAft>
                        <a:buNone/>
                      </a:pPr>
                      <a:r>
                        <a:rPr b="1" lang="en-GB" sz="1800"/>
                        <a:t>Phỏng vấn</a:t>
                      </a:r>
                      <a:endParaRPr b="1" sz="1800"/>
                    </a:p>
                  </a:txBody>
                  <a:tcPr marT="50400" marB="50400" marR="54000" marL="54000" anchor="b">
                    <a:solidFill>
                      <a:srgbClr val="CFE2F3"/>
                    </a:solidFill>
                  </a:tcPr>
                </a:tc>
                <a:tc>
                  <a:txBody>
                    <a:bodyPr/>
                    <a:lstStyle/>
                    <a:p>
                      <a:pPr indent="0" lvl="0" marL="0" rtl="0" algn="ctr">
                        <a:spcBef>
                          <a:spcPts val="0"/>
                        </a:spcBef>
                        <a:spcAft>
                          <a:spcPts val="0"/>
                        </a:spcAft>
                        <a:buNone/>
                      </a:pPr>
                      <a:r>
                        <a:rPr b="1" lang="en-GB" sz="1800"/>
                        <a:t>Hội thảo liên kết</a:t>
                      </a:r>
                      <a:endParaRPr b="1" sz="1800"/>
                    </a:p>
                  </a:txBody>
                  <a:tcPr marT="50400" marB="50400" marR="54000" marL="54000" anchor="b">
                    <a:solidFill>
                      <a:srgbClr val="CFE2F3"/>
                    </a:solidFill>
                  </a:tcPr>
                </a:tc>
                <a:tc>
                  <a:txBody>
                    <a:bodyPr/>
                    <a:lstStyle/>
                    <a:p>
                      <a:pPr indent="0" lvl="0" marL="0" rtl="0" algn="ctr">
                        <a:spcBef>
                          <a:spcPts val="0"/>
                        </a:spcBef>
                        <a:spcAft>
                          <a:spcPts val="0"/>
                        </a:spcAft>
                        <a:buNone/>
                      </a:pPr>
                      <a:r>
                        <a:rPr b="1" lang="en-GB" sz="1800"/>
                        <a:t>Khảo sát</a:t>
                      </a:r>
                      <a:endParaRPr b="1" sz="1800"/>
                    </a:p>
                  </a:txBody>
                  <a:tcPr marT="50400" marB="50400" marR="54000" marL="54000" anchor="b">
                    <a:solidFill>
                      <a:srgbClr val="CFE2F3"/>
                    </a:solidFill>
                  </a:tcPr>
                </a:tc>
                <a:tc>
                  <a:txBody>
                    <a:bodyPr/>
                    <a:lstStyle/>
                    <a:p>
                      <a:pPr indent="0" lvl="0" marL="0" rtl="0" algn="ctr">
                        <a:spcBef>
                          <a:spcPts val="0"/>
                        </a:spcBef>
                        <a:spcAft>
                          <a:spcPts val="0"/>
                        </a:spcAft>
                        <a:buNone/>
                      </a:pPr>
                      <a:r>
                        <a:rPr b="1" lang="en-GB" sz="1800"/>
                        <a:t>Phân tích tài liệu</a:t>
                      </a:r>
                      <a:endParaRPr b="1" sz="1800"/>
                    </a:p>
                  </a:txBody>
                  <a:tcPr marT="50400" marB="50400" marR="54000" marL="54000" anchor="b">
                    <a:solidFill>
                      <a:srgbClr val="CFE2F3"/>
                    </a:solidFill>
                  </a:tcPr>
                </a:tc>
                <a:tc>
                  <a:txBody>
                    <a:bodyPr/>
                    <a:lstStyle/>
                    <a:p>
                      <a:pPr indent="0" lvl="0" marL="0" rtl="0" algn="ctr">
                        <a:spcBef>
                          <a:spcPts val="0"/>
                        </a:spcBef>
                        <a:spcAft>
                          <a:spcPts val="0"/>
                        </a:spcAft>
                        <a:buNone/>
                      </a:pPr>
                      <a:r>
                        <a:rPr b="1" lang="en-GB" sz="1800"/>
                        <a:t>Quan sát</a:t>
                      </a:r>
                      <a:endParaRPr b="1" sz="1800"/>
                    </a:p>
                  </a:txBody>
                  <a:tcPr marT="50400" marB="50400" marR="54000" marL="54000" anchor="b">
                    <a:solidFill>
                      <a:srgbClr val="CFE2F3"/>
                    </a:solidFill>
                  </a:tcPr>
                </a:tc>
              </a:tr>
              <a:tr h="955700">
                <a:tc>
                  <a:txBody>
                    <a:bodyPr/>
                    <a:lstStyle/>
                    <a:p>
                      <a:pPr indent="0" lvl="0" marL="0" rtl="0" algn="l">
                        <a:spcBef>
                          <a:spcPts val="0"/>
                        </a:spcBef>
                        <a:spcAft>
                          <a:spcPts val="0"/>
                        </a:spcAft>
                        <a:buNone/>
                      </a:pPr>
                      <a:r>
                        <a:rPr b="1" lang="en-GB" sz="1800"/>
                        <a:t>Loại thông tin</a:t>
                      </a:r>
                      <a:endParaRPr b="1" sz="1800"/>
                    </a:p>
                  </a:txBody>
                  <a:tcPr marT="50400" marB="50400" marR="54000" marL="54000"/>
                </a:tc>
                <a:tc>
                  <a:txBody>
                    <a:bodyPr/>
                    <a:lstStyle/>
                    <a:p>
                      <a:pPr indent="0" lvl="0" marL="0" rtl="0" algn="ctr">
                        <a:spcBef>
                          <a:spcPts val="0"/>
                        </a:spcBef>
                        <a:spcAft>
                          <a:spcPts val="0"/>
                        </a:spcAft>
                        <a:buNone/>
                      </a:pPr>
                      <a:r>
                        <a:rPr lang="en-GB" sz="1800"/>
                        <a:t>Đang có, cải tiến, sẽ có</a:t>
                      </a:r>
                      <a:endParaRPr sz="1800"/>
                    </a:p>
                  </a:txBody>
                  <a:tcPr marT="50400" marB="50400" marR="54000" marL="54000"/>
                </a:tc>
                <a:tc>
                  <a:txBody>
                    <a:bodyPr/>
                    <a:lstStyle/>
                    <a:p>
                      <a:pPr indent="0" lvl="0" marL="0" rtl="0" algn="ctr">
                        <a:spcBef>
                          <a:spcPts val="0"/>
                        </a:spcBef>
                        <a:spcAft>
                          <a:spcPts val="0"/>
                        </a:spcAft>
                        <a:buNone/>
                      </a:pPr>
                      <a:r>
                        <a:rPr lang="en-GB" sz="1800"/>
                        <a:t>Đang có, cải tiến, sẽ có</a:t>
                      </a:r>
                      <a:endParaRPr sz="1800"/>
                    </a:p>
                  </a:txBody>
                  <a:tcPr marT="50400" marB="50400" marR="54000" marL="54000"/>
                </a:tc>
                <a:tc>
                  <a:txBody>
                    <a:bodyPr/>
                    <a:lstStyle/>
                    <a:p>
                      <a:pPr indent="0" lvl="0" marL="0" rtl="0" algn="ctr">
                        <a:spcBef>
                          <a:spcPts val="0"/>
                        </a:spcBef>
                        <a:spcAft>
                          <a:spcPts val="0"/>
                        </a:spcAft>
                        <a:buNone/>
                      </a:pPr>
                      <a:r>
                        <a:rPr lang="en-GB" sz="1800"/>
                        <a:t>Đang có, cải tiến</a:t>
                      </a:r>
                      <a:endParaRPr sz="1800"/>
                    </a:p>
                  </a:txBody>
                  <a:tcPr marT="50400" marB="50400" marR="54000" marL="54000"/>
                </a:tc>
                <a:tc>
                  <a:txBody>
                    <a:bodyPr/>
                    <a:lstStyle/>
                    <a:p>
                      <a:pPr indent="0" lvl="0" marL="0" rtl="0" algn="ctr">
                        <a:spcBef>
                          <a:spcPts val="0"/>
                        </a:spcBef>
                        <a:spcAft>
                          <a:spcPts val="0"/>
                        </a:spcAft>
                        <a:buNone/>
                      </a:pPr>
                      <a:r>
                        <a:rPr lang="en-GB" sz="1800"/>
                        <a:t>Đang có</a:t>
                      </a:r>
                      <a:endParaRPr sz="1800"/>
                    </a:p>
                  </a:txBody>
                  <a:tcPr marT="50400" marB="50400" marR="54000" marL="54000"/>
                </a:tc>
                <a:tc>
                  <a:txBody>
                    <a:bodyPr/>
                    <a:lstStyle/>
                    <a:p>
                      <a:pPr indent="0" lvl="0" marL="0" rtl="0" algn="ctr">
                        <a:spcBef>
                          <a:spcPts val="0"/>
                        </a:spcBef>
                        <a:spcAft>
                          <a:spcPts val="0"/>
                        </a:spcAft>
                        <a:buNone/>
                      </a:pPr>
                      <a:r>
                        <a:rPr lang="en-GB" sz="1800"/>
                        <a:t>Đang có</a:t>
                      </a:r>
                      <a:endParaRPr sz="1800"/>
                    </a:p>
                  </a:txBody>
                  <a:tcPr marT="50400" marB="50400" marR="54000" marL="54000"/>
                </a:tc>
              </a:tr>
              <a:tr h="556475">
                <a:tc>
                  <a:txBody>
                    <a:bodyPr/>
                    <a:lstStyle/>
                    <a:p>
                      <a:pPr indent="0" lvl="0" marL="0" rtl="0" algn="l">
                        <a:spcBef>
                          <a:spcPts val="0"/>
                        </a:spcBef>
                        <a:spcAft>
                          <a:spcPts val="0"/>
                        </a:spcAft>
                        <a:buNone/>
                      </a:pPr>
                      <a:r>
                        <a:rPr b="1" lang="en-GB" sz="1800"/>
                        <a:t>Độ sâu thông tin</a:t>
                      </a:r>
                      <a:endParaRPr b="1" sz="1800"/>
                    </a:p>
                  </a:txBody>
                  <a:tcPr marT="50400" marB="50400" marR="54000" marL="54000"/>
                </a:tc>
                <a:tc>
                  <a:txBody>
                    <a:bodyPr/>
                    <a:lstStyle/>
                    <a:p>
                      <a:pPr indent="0" lvl="0" marL="0" rtl="0" algn="ctr">
                        <a:spcBef>
                          <a:spcPts val="0"/>
                        </a:spcBef>
                        <a:spcAft>
                          <a:spcPts val="0"/>
                        </a:spcAft>
                        <a:buNone/>
                      </a:pPr>
                      <a:r>
                        <a:rPr lang="en-GB" sz="1800"/>
                        <a:t>Cao</a:t>
                      </a:r>
                      <a:endParaRPr sz="1800"/>
                    </a:p>
                  </a:txBody>
                  <a:tcPr marT="50400" marB="50400" marR="54000" marL="54000"/>
                </a:tc>
                <a:tc>
                  <a:txBody>
                    <a:bodyPr/>
                    <a:lstStyle/>
                    <a:p>
                      <a:pPr indent="0" lvl="0" marL="0" rtl="0" algn="ctr">
                        <a:spcBef>
                          <a:spcPts val="0"/>
                        </a:spcBef>
                        <a:spcAft>
                          <a:spcPts val="0"/>
                        </a:spcAft>
                        <a:buNone/>
                      </a:pPr>
                      <a:r>
                        <a:rPr lang="en-GB" sz="1800"/>
                        <a:t>Cao</a:t>
                      </a:r>
                      <a:endParaRPr sz="1800"/>
                    </a:p>
                  </a:txBody>
                  <a:tcPr marT="50400" marB="50400" marR="54000" marL="54000"/>
                </a:tc>
                <a:tc>
                  <a:txBody>
                    <a:bodyPr/>
                    <a:lstStyle/>
                    <a:p>
                      <a:pPr indent="0" lvl="0" marL="0" rtl="0" algn="ctr">
                        <a:spcBef>
                          <a:spcPts val="0"/>
                        </a:spcBef>
                        <a:spcAft>
                          <a:spcPts val="0"/>
                        </a:spcAft>
                        <a:buNone/>
                      </a:pPr>
                      <a:r>
                        <a:rPr lang="en-GB" sz="1800"/>
                        <a:t>Trung bình</a:t>
                      </a:r>
                      <a:endParaRPr sz="1800"/>
                    </a:p>
                  </a:txBody>
                  <a:tcPr marT="50400" marB="50400" marR="54000" marL="54000"/>
                </a:tc>
                <a:tc>
                  <a:txBody>
                    <a:bodyPr/>
                    <a:lstStyle/>
                    <a:p>
                      <a:pPr indent="0" lvl="0" marL="0" rtl="0" algn="ctr">
                        <a:spcBef>
                          <a:spcPts val="0"/>
                        </a:spcBef>
                        <a:spcAft>
                          <a:spcPts val="0"/>
                        </a:spcAft>
                        <a:buNone/>
                      </a:pPr>
                      <a:r>
                        <a:rPr lang="en-GB" sz="1800"/>
                        <a:t>Thấp</a:t>
                      </a:r>
                      <a:endParaRPr sz="1800"/>
                    </a:p>
                  </a:txBody>
                  <a:tcPr marT="50400" marB="50400" marR="54000" marL="54000"/>
                </a:tc>
                <a:tc>
                  <a:txBody>
                    <a:bodyPr/>
                    <a:lstStyle/>
                    <a:p>
                      <a:pPr indent="0" lvl="0" marL="0" rtl="0" algn="ctr">
                        <a:spcBef>
                          <a:spcPts val="0"/>
                        </a:spcBef>
                        <a:spcAft>
                          <a:spcPts val="0"/>
                        </a:spcAft>
                        <a:buNone/>
                      </a:pPr>
                      <a:r>
                        <a:rPr lang="en-GB" sz="1800"/>
                        <a:t>Thấp</a:t>
                      </a:r>
                      <a:endParaRPr sz="1800"/>
                    </a:p>
                  </a:txBody>
                  <a:tcPr marT="50400" marB="50400" marR="54000" marL="54000"/>
                </a:tc>
              </a:tr>
              <a:tr h="556475">
                <a:tc>
                  <a:txBody>
                    <a:bodyPr/>
                    <a:lstStyle/>
                    <a:p>
                      <a:pPr indent="0" lvl="0" marL="0" rtl="0" algn="l">
                        <a:spcBef>
                          <a:spcPts val="0"/>
                        </a:spcBef>
                        <a:spcAft>
                          <a:spcPts val="0"/>
                        </a:spcAft>
                        <a:buNone/>
                      </a:pPr>
                      <a:r>
                        <a:rPr b="1" lang="en-GB" sz="1800"/>
                        <a:t>Độ rộng thông tin</a:t>
                      </a:r>
                      <a:endParaRPr b="1" sz="1800"/>
                    </a:p>
                  </a:txBody>
                  <a:tcPr marT="50400" marB="50400" marR="54000" marL="54000"/>
                </a:tc>
                <a:tc>
                  <a:txBody>
                    <a:bodyPr/>
                    <a:lstStyle/>
                    <a:p>
                      <a:pPr indent="0" lvl="0" marL="0" rtl="0" algn="ctr">
                        <a:spcBef>
                          <a:spcPts val="0"/>
                        </a:spcBef>
                        <a:spcAft>
                          <a:spcPts val="0"/>
                        </a:spcAft>
                        <a:buNone/>
                      </a:pPr>
                      <a:r>
                        <a:rPr lang="en-GB" sz="1800"/>
                        <a:t>Thấp</a:t>
                      </a:r>
                      <a:endParaRPr sz="1800"/>
                    </a:p>
                  </a:txBody>
                  <a:tcPr marT="50400" marB="50400" marR="54000" marL="54000"/>
                </a:tc>
                <a:tc>
                  <a:txBody>
                    <a:bodyPr/>
                    <a:lstStyle/>
                    <a:p>
                      <a:pPr indent="0" lvl="0" marL="0" rtl="0" algn="ctr">
                        <a:spcBef>
                          <a:spcPts val="0"/>
                        </a:spcBef>
                        <a:spcAft>
                          <a:spcPts val="0"/>
                        </a:spcAft>
                        <a:buNone/>
                      </a:pPr>
                      <a:r>
                        <a:rPr lang="en-GB" sz="1800"/>
                        <a:t>Trung bình</a:t>
                      </a:r>
                      <a:endParaRPr sz="1800"/>
                    </a:p>
                  </a:txBody>
                  <a:tcPr marT="50400" marB="50400" marR="54000" marL="54000"/>
                </a:tc>
                <a:tc>
                  <a:txBody>
                    <a:bodyPr/>
                    <a:lstStyle/>
                    <a:p>
                      <a:pPr indent="0" lvl="0" marL="0" rtl="0" algn="ctr">
                        <a:spcBef>
                          <a:spcPts val="0"/>
                        </a:spcBef>
                        <a:spcAft>
                          <a:spcPts val="0"/>
                        </a:spcAft>
                        <a:buNone/>
                      </a:pPr>
                      <a:r>
                        <a:rPr lang="en-GB" sz="1800"/>
                        <a:t>Cao</a:t>
                      </a:r>
                      <a:endParaRPr sz="1800"/>
                    </a:p>
                  </a:txBody>
                  <a:tcPr marT="50400" marB="50400" marR="54000" marL="54000"/>
                </a:tc>
                <a:tc>
                  <a:txBody>
                    <a:bodyPr/>
                    <a:lstStyle/>
                    <a:p>
                      <a:pPr indent="0" lvl="0" marL="0" rtl="0" algn="ctr">
                        <a:spcBef>
                          <a:spcPts val="0"/>
                        </a:spcBef>
                        <a:spcAft>
                          <a:spcPts val="0"/>
                        </a:spcAft>
                        <a:buNone/>
                      </a:pPr>
                      <a:r>
                        <a:rPr lang="en-GB" sz="1800"/>
                        <a:t>Cao</a:t>
                      </a:r>
                      <a:endParaRPr sz="1800"/>
                    </a:p>
                  </a:txBody>
                  <a:tcPr marT="50400" marB="50400" marR="54000" marL="54000"/>
                </a:tc>
                <a:tc>
                  <a:txBody>
                    <a:bodyPr/>
                    <a:lstStyle/>
                    <a:p>
                      <a:pPr indent="0" lvl="0" marL="0" rtl="0" algn="ctr">
                        <a:spcBef>
                          <a:spcPts val="0"/>
                        </a:spcBef>
                        <a:spcAft>
                          <a:spcPts val="0"/>
                        </a:spcAft>
                        <a:buNone/>
                      </a:pPr>
                      <a:r>
                        <a:rPr lang="en-GB" sz="1800"/>
                        <a:t>Thấp</a:t>
                      </a:r>
                      <a:endParaRPr sz="1800"/>
                    </a:p>
                  </a:txBody>
                  <a:tcPr marT="50400" marB="50400" marR="54000" marL="54000"/>
                </a:tc>
              </a:tr>
              <a:tr h="556475">
                <a:tc>
                  <a:txBody>
                    <a:bodyPr/>
                    <a:lstStyle/>
                    <a:p>
                      <a:pPr indent="0" lvl="0" marL="0" rtl="0" algn="l">
                        <a:spcBef>
                          <a:spcPts val="0"/>
                        </a:spcBef>
                        <a:spcAft>
                          <a:spcPts val="0"/>
                        </a:spcAft>
                        <a:buNone/>
                      </a:pPr>
                      <a:r>
                        <a:rPr b="1" lang="en-GB" sz="1800"/>
                        <a:t>Tích hợp thông tin</a:t>
                      </a:r>
                      <a:endParaRPr b="1" sz="1800"/>
                    </a:p>
                  </a:txBody>
                  <a:tcPr marT="50400" marB="50400" marR="54000" marL="54000"/>
                </a:tc>
                <a:tc>
                  <a:txBody>
                    <a:bodyPr/>
                    <a:lstStyle/>
                    <a:p>
                      <a:pPr indent="0" lvl="0" marL="0" rtl="0" algn="ctr">
                        <a:spcBef>
                          <a:spcPts val="0"/>
                        </a:spcBef>
                        <a:spcAft>
                          <a:spcPts val="0"/>
                        </a:spcAft>
                        <a:buNone/>
                      </a:pPr>
                      <a:r>
                        <a:rPr lang="en-GB" sz="1800"/>
                        <a:t>Thấp</a:t>
                      </a:r>
                      <a:endParaRPr sz="1800"/>
                    </a:p>
                  </a:txBody>
                  <a:tcPr marT="50400" marB="50400" marR="54000" marL="54000"/>
                </a:tc>
                <a:tc>
                  <a:txBody>
                    <a:bodyPr/>
                    <a:lstStyle/>
                    <a:p>
                      <a:pPr indent="0" lvl="0" marL="0" rtl="0" algn="ctr">
                        <a:spcBef>
                          <a:spcPts val="0"/>
                        </a:spcBef>
                        <a:spcAft>
                          <a:spcPts val="0"/>
                        </a:spcAft>
                        <a:buNone/>
                      </a:pPr>
                      <a:r>
                        <a:rPr lang="en-GB" sz="1800"/>
                        <a:t>Cao</a:t>
                      </a:r>
                      <a:endParaRPr sz="1800"/>
                    </a:p>
                  </a:txBody>
                  <a:tcPr marT="50400" marB="50400" marR="54000" marL="54000"/>
                </a:tc>
                <a:tc>
                  <a:txBody>
                    <a:bodyPr/>
                    <a:lstStyle/>
                    <a:p>
                      <a:pPr indent="0" lvl="0" marL="0" rtl="0" algn="ctr">
                        <a:spcBef>
                          <a:spcPts val="0"/>
                        </a:spcBef>
                        <a:spcAft>
                          <a:spcPts val="0"/>
                        </a:spcAft>
                        <a:buNone/>
                      </a:pPr>
                      <a:r>
                        <a:rPr lang="en-GB" sz="1800"/>
                        <a:t>Thấp</a:t>
                      </a:r>
                      <a:endParaRPr sz="1800"/>
                    </a:p>
                  </a:txBody>
                  <a:tcPr marT="50400" marB="50400" marR="54000" marL="54000"/>
                </a:tc>
                <a:tc>
                  <a:txBody>
                    <a:bodyPr/>
                    <a:lstStyle/>
                    <a:p>
                      <a:pPr indent="0" lvl="0" marL="0" rtl="0" algn="ctr">
                        <a:spcBef>
                          <a:spcPts val="0"/>
                        </a:spcBef>
                        <a:spcAft>
                          <a:spcPts val="0"/>
                        </a:spcAft>
                        <a:buNone/>
                      </a:pPr>
                      <a:r>
                        <a:rPr lang="en-GB" sz="1800"/>
                        <a:t>Thấp</a:t>
                      </a:r>
                      <a:endParaRPr sz="1800"/>
                    </a:p>
                  </a:txBody>
                  <a:tcPr marT="50400" marB="50400" marR="54000" marL="54000"/>
                </a:tc>
                <a:tc>
                  <a:txBody>
                    <a:bodyPr/>
                    <a:lstStyle/>
                    <a:p>
                      <a:pPr indent="0" lvl="0" marL="0" rtl="0" algn="ctr">
                        <a:spcBef>
                          <a:spcPts val="0"/>
                        </a:spcBef>
                        <a:spcAft>
                          <a:spcPts val="0"/>
                        </a:spcAft>
                        <a:buNone/>
                      </a:pPr>
                      <a:r>
                        <a:rPr lang="en-GB" sz="1800"/>
                        <a:t>Thấp</a:t>
                      </a:r>
                      <a:endParaRPr sz="1800"/>
                    </a:p>
                  </a:txBody>
                  <a:tcPr marT="50400" marB="50400" marR="54000" marL="54000"/>
                </a:tc>
              </a:tr>
              <a:tr h="726150">
                <a:tc>
                  <a:txBody>
                    <a:bodyPr/>
                    <a:lstStyle/>
                    <a:p>
                      <a:pPr indent="0" lvl="0" marL="0" rtl="0" algn="l">
                        <a:spcBef>
                          <a:spcPts val="0"/>
                        </a:spcBef>
                        <a:spcAft>
                          <a:spcPts val="0"/>
                        </a:spcAft>
                        <a:buNone/>
                      </a:pPr>
                      <a:r>
                        <a:rPr b="1" lang="en-GB" sz="1800"/>
                        <a:t>Người dùng tham gia</a:t>
                      </a:r>
                      <a:endParaRPr b="1" sz="1800"/>
                    </a:p>
                  </a:txBody>
                  <a:tcPr marT="50400" marB="50400" marR="54000" marL="54000"/>
                </a:tc>
                <a:tc>
                  <a:txBody>
                    <a:bodyPr/>
                    <a:lstStyle/>
                    <a:p>
                      <a:pPr indent="0" lvl="0" marL="0" rtl="0" algn="ctr">
                        <a:spcBef>
                          <a:spcPts val="0"/>
                        </a:spcBef>
                        <a:spcAft>
                          <a:spcPts val="0"/>
                        </a:spcAft>
                        <a:buNone/>
                      </a:pPr>
                      <a:r>
                        <a:rPr lang="en-GB" sz="1800"/>
                        <a:t>Trung bình</a:t>
                      </a:r>
                      <a:endParaRPr sz="1800"/>
                    </a:p>
                  </a:txBody>
                  <a:tcPr marT="50400" marB="50400" marR="54000" marL="54000"/>
                </a:tc>
                <a:tc>
                  <a:txBody>
                    <a:bodyPr/>
                    <a:lstStyle/>
                    <a:p>
                      <a:pPr indent="0" lvl="0" marL="0" rtl="0" algn="ctr">
                        <a:spcBef>
                          <a:spcPts val="0"/>
                        </a:spcBef>
                        <a:spcAft>
                          <a:spcPts val="0"/>
                        </a:spcAft>
                        <a:buNone/>
                      </a:pPr>
                      <a:r>
                        <a:rPr lang="en-GB" sz="1800"/>
                        <a:t>Cao</a:t>
                      </a:r>
                      <a:endParaRPr sz="1800"/>
                    </a:p>
                  </a:txBody>
                  <a:tcPr marT="50400" marB="50400" marR="54000" marL="54000"/>
                </a:tc>
                <a:tc>
                  <a:txBody>
                    <a:bodyPr/>
                    <a:lstStyle/>
                    <a:p>
                      <a:pPr indent="0" lvl="0" marL="0" rtl="0" algn="ctr">
                        <a:spcBef>
                          <a:spcPts val="0"/>
                        </a:spcBef>
                        <a:spcAft>
                          <a:spcPts val="0"/>
                        </a:spcAft>
                        <a:buNone/>
                      </a:pPr>
                      <a:r>
                        <a:rPr lang="en-GB" sz="1800"/>
                        <a:t>Thấp</a:t>
                      </a:r>
                      <a:endParaRPr sz="1800"/>
                    </a:p>
                  </a:txBody>
                  <a:tcPr marT="50400" marB="50400" marR="54000" marL="54000"/>
                </a:tc>
                <a:tc>
                  <a:txBody>
                    <a:bodyPr/>
                    <a:lstStyle/>
                    <a:p>
                      <a:pPr indent="0" lvl="0" marL="0" rtl="0" algn="ctr">
                        <a:spcBef>
                          <a:spcPts val="0"/>
                        </a:spcBef>
                        <a:spcAft>
                          <a:spcPts val="0"/>
                        </a:spcAft>
                        <a:buNone/>
                      </a:pPr>
                      <a:r>
                        <a:rPr lang="en-GB" sz="1800"/>
                        <a:t>Thấp</a:t>
                      </a:r>
                      <a:endParaRPr sz="1800"/>
                    </a:p>
                  </a:txBody>
                  <a:tcPr marT="50400" marB="50400" marR="54000" marL="54000"/>
                </a:tc>
                <a:tc>
                  <a:txBody>
                    <a:bodyPr/>
                    <a:lstStyle/>
                    <a:p>
                      <a:pPr indent="0" lvl="0" marL="0" rtl="0" algn="ctr">
                        <a:spcBef>
                          <a:spcPts val="0"/>
                        </a:spcBef>
                        <a:spcAft>
                          <a:spcPts val="0"/>
                        </a:spcAft>
                        <a:buNone/>
                      </a:pPr>
                      <a:r>
                        <a:rPr lang="en-GB" sz="1800"/>
                        <a:t>Thấp</a:t>
                      </a:r>
                      <a:endParaRPr sz="1800"/>
                    </a:p>
                  </a:txBody>
                  <a:tcPr marT="50400" marB="50400" marR="54000" marL="54000"/>
                </a:tc>
              </a:tr>
              <a:tr h="726150">
                <a:tc>
                  <a:txBody>
                    <a:bodyPr/>
                    <a:lstStyle/>
                    <a:p>
                      <a:pPr indent="0" lvl="0" marL="0" rtl="0" algn="l">
                        <a:spcBef>
                          <a:spcPts val="0"/>
                        </a:spcBef>
                        <a:spcAft>
                          <a:spcPts val="0"/>
                        </a:spcAft>
                        <a:buNone/>
                      </a:pPr>
                      <a:r>
                        <a:rPr b="1" lang="en-GB" sz="1800"/>
                        <a:t>Chi phí</a:t>
                      </a:r>
                      <a:endParaRPr b="1" sz="1800"/>
                    </a:p>
                  </a:txBody>
                  <a:tcPr marT="50400" marB="50400" marR="54000" marL="54000"/>
                </a:tc>
                <a:tc>
                  <a:txBody>
                    <a:bodyPr/>
                    <a:lstStyle/>
                    <a:p>
                      <a:pPr indent="0" lvl="0" marL="0" rtl="0" algn="ctr">
                        <a:spcBef>
                          <a:spcPts val="0"/>
                        </a:spcBef>
                        <a:spcAft>
                          <a:spcPts val="0"/>
                        </a:spcAft>
                        <a:buNone/>
                      </a:pPr>
                      <a:r>
                        <a:rPr lang="en-GB" sz="1800"/>
                        <a:t>Trung bình</a:t>
                      </a:r>
                      <a:endParaRPr sz="1800"/>
                    </a:p>
                  </a:txBody>
                  <a:tcPr marT="50400" marB="50400" marR="54000" marL="54000"/>
                </a:tc>
                <a:tc>
                  <a:txBody>
                    <a:bodyPr/>
                    <a:lstStyle/>
                    <a:p>
                      <a:pPr indent="0" lvl="0" marL="0" rtl="0" algn="ctr">
                        <a:spcBef>
                          <a:spcPts val="0"/>
                        </a:spcBef>
                        <a:spcAft>
                          <a:spcPts val="0"/>
                        </a:spcAft>
                        <a:buNone/>
                      </a:pPr>
                      <a:r>
                        <a:rPr lang="en-GB" sz="1800"/>
                        <a:t>Thấp-Trung bình</a:t>
                      </a:r>
                      <a:endParaRPr sz="1800"/>
                    </a:p>
                  </a:txBody>
                  <a:tcPr marT="50400" marB="50400" marR="54000" marL="54000"/>
                </a:tc>
                <a:tc>
                  <a:txBody>
                    <a:bodyPr/>
                    <a:lstStyle/>
                    <a:p>
                      <a:pPr indent="0" lvl="0" marL="0" rtl="0" algn="ctr">
                        <a:spcBef>
                          <a:spcPts val="0"/>
                        </a:spcBef>
                        <a:spcAft>
                          <a:spcPts val="0"/>
                        </a:spcAft>
                        <a:buNone/>
                      </a:pPr>
                      <a:r>
                        <a:rPr lang="en-GB" sz="1800"/>
                        <a:t>Thấp</a:t>
                      </a:r>
                      <a:endParaRPr sz="1800"/>
                    </a:p>
                  </a:txBody>
                  <a:tcPr marT="50400" marB="50400" marR="54000" marL="54000"/>
                </a:tc>
                <a:tc>
                  <a:txBody>
                    <a:bodyPr/>
                    <a:lstStyle/>
                    <a:p>
                      <a:pPr indent="0" lvl="0" marL="0" rtl="0" algn="ctr">
                        <a:spcBef>
                          <a:spcPts val="0"/>
                        </a:spcBef>
                        <a:spcAft>
                          <a:spcPts val="0"/>
                        </a:spcAft>
                        <a:buNone/>
                      </a:pPr>
                      <a:r>
                        <a:rPr lang="en-GB" sz="1800"/>
                        <a:t>Thấp</a:t>
                      </a:r>
                      <a:endParaRPr sz="1800"/>
                    </a:p>
                  </a:txBody>
                  <a:tcPr marT="50400" marB="50400" marR="54000" marL="54000"/>
                </a:tc>
                <a:tc>
                  <a:txBody>
                    <a:bodyPr/>
                    <a:lstStyle/>
                    <a:p>
                      <a:pPr indent="0" lvl="0" marL="0" rtl="0" algn="ctr">
                        <a:spcBef>
                          <a:spcPts val="0"/>
                        </a:spcBef>
                        <a:spcAft>
                          <a:spcPts val="0"/>
                        </a:spcAft>
                        <a:buNone/>
                      </a:pPr>
                      <a:r>
                        <a:rPr lang="en-GB" sz="1800"/>
                        <a:t>Thấp tới Trung bình</a:t>
                      </a:r>
                      <a:endParaRPr sz="1800"/>
                    </a:p>
                  </a:txBody>
                  <a:tcPr marT="50400" marB="50400" marR="54000" marL="54000"/>
                </a:tc>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81"/>
          <p:cNvSpPr/>
          <p:nvPr/>
        </p:nvSpPr>
        <p:spPr>
          <a:xfrm>
            <a:off x="452150" y="2392101"/>
            <a:ext cx="8520600" cy="411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81"/>
          <p:cNvSpPr txBox="1"/>
          <p:nvPr>
            <p:ph idx="4294967295"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kỹ thuật khác</a:t>
            </a:r>
            <a:endParaRPr baseline="-25000"/>
          </a:p>
        </p:txBody>
      </p:sp>
      <p:sp>
        <p:nvSpPr>
          <p:cNvPr id="770" name="Google Shape;770;p81"/>
          <p:cNvSpPr txBox="1"/>
          <p:nvPr>
            <p:ph idx="4294967295" type="body"/>
          </p:nvPr>
        </p:nvSpPr>
        <p:spPr>
          <a:xfrm>
            <a:off x="311700" y="927033"/>
            <a:ext cx="8520600" cy="12927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GB"/>
              <a:t>Sơ đồ khái niệm</a:t>
            </a:r>
            <a:endParaRPr/>
          </a:p>
          <a:p>
            <a:pPr indent="-368300" lvl="1" marL="914400" rtl="0" algn="l">
              <a:spcBef>
                <a:spcPts val="0"/>
              </a:spcBef>
              <a:spcAft>
                <a:spcPts val="0"/>
              </a:spcAft>
              <a:buSzPts val="2200"/>
              <a:buChar char="○"/>
            </a:pPr>
            <a:r>
              <a:rPr lang="en-GB"/>
              <a:t>Biểu diễn trực quan mối quan hệ  giữa các khái niệm</a:t>
            </a:r>
            <a:endParaRPr/>
          </a:p>
          <a:p>
            <a:pPr indent="-368300" lvl="1" marL="914400" rtl="0" algn="l">
              <a:spcBef>
                <a:spcPts val="0"/>
              </a:spcBef>
              <a:spcAft>
                <a:spcPts val="0"/>
              </a:spcAft>
              <a:buSzPts val="2200"/>
              <a:buChar char="○"/>
            </a:pPr>
            <a:r>
              <a:rPr lang="en-GB"/>
              <a:t>Tập trung </a:t>
            </a:r>
            <a:r>
              <a:rPr lang="en-GB"/>
              <a:t>nguồn lực </a:t>
            </a:r>
            <a:r>
              <a:rPr lang="en-GB"/>
              <a:t>vào một lượng nhỏ những ý tưởng chính</a:t>
            </a:r>
            <a:endParaRPr/>
          </a:p>
        </p:txBody>
      </p:sp>
      <p:sp>
        <p:nvSpPr>
          <p:cNvPr id="771" name="Google Shape;771;p8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pSp>
        <p:nvGrpSpPr>
          <p:cNvPr id="772" name="Google Shape;772;p81"/>
          <p:cNvGrpSpPr/>
          <p:nvPr/>
        </p:nvGrpSpPr>
        <p:grpSpPr>
          <a:xfrm>
            <a:off x="544625" y="2637887"/>
            <a:ext cx="8341450" cy="3534400"/>
            <a:chOff x="544625" y="2637887"/>
            <a:chExt cx="8341450" cy="3534400"/>
          </a:xfrm>
        </p:grpSpPr>
        <p:sp>
          <p:nvSpPr>
            <p:cNvPr id="773" name="Google Shape;773;p81"/>
            <p:cNvSpPr/>
            <p:nvPr/>
          </p:nvSpPr>
          <p:spPr>
            <a:xfrm>
              <a:off x="5460075" y="2637887"/>
              <a:ext cx="954900" cy="435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300"/>
                <a:t>Yêu cầu</a:t>
              </a:r>
              <a:endParaRPr sz="1300"/>
            </a:p>
          </p:txBody>
        </p:sp>
        <p:sp>
          <p:nvSpPr>
            <p:cNvPr id="774" name="Google Shape;774;p81"/>
            <p:cNvSpPr/>
            <p:nvPr/>
          </p:nvSpPr>
          <p:spPr>
            <a:xfrm>
              <a:off x="2412075" y="3349087"/>
              <a:ext cx="1240800" cy="524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300"/>
                <a:t>Các yêu cầu phi chức năng</a:t>
              </a:r>
              <a:endParaRPr sz="1300"/>
            </a:p>
          </p:txBody>
        </p:sp>
        <p:sp>
          <p:nvSpPr>
            <p:cNvPr id="775" name="Google Shape;775;p81"/>
            <p:cNvSpPr/>
            <p:nvPr/>
          </p:nvSpPr>
          <p:spPr>
            <a:xfrm>
              <a:off x="7315475" y="3349087"/>
              <a:ext cx="1118400" cy="524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300"/>
                <a:t>Các yêu cầu chức năng</a:t>
              </a:r>
              <a:endParaRPr sz="1300"/>
            </a:p>
          </p:txBody>
        </p:sp>
        <p:sp>
          <p:nvSpPr>
            <p:cNvPr id="776" name="Google Shape;776;p81"/>
            <p:cNvSpPr/>
            <p:nvPr/>
          </p:nvSpPr>
          <p:spPr>
            <a:xfrm>
              <a:off x="610075" y="4568287"/>
              <a:ext cx="1118400" cy="588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300"/>
                <a:t>Các yêu cầu vận hành</a:t>
              </a:r>
              <a:endParaRPr sz="1300"/>
            </a:p>
          </p:txBody>
        </p:sp>
        <p:sp>
          <p:nvSpPr>
            <p:cNvPr id="777" name="Google Shape;777;p81"/>
            <p:cNvSpPr/>
            <p:nvPr/>
          </p:nvSpPr>
          <p:spPr>
            <a:xfrm>
              <a:off x="1821450" y="4568287"/>
              <a:ext cx="1118400" cy="588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300"/>
                <a:t>Các yêu cầu hiệu năng</a:t>
              </a:r>
              <a:endParaRPr sz="1300"/>
            </a:p>
          </p:txBody>
        </p:sp>
        <p:sp>
          <p:nvSpPr>
            <p:cNvPr id="778" name="Google Shape;778;p81"/>
            <p:cNvSpPr/>
            <p:nvPr/>
          </p:nvSpPr>
          <p:spPr>
            <a:xfrm>
              <a:off x="3040650" y="4568287"/>
              <a:ext cx="1118400" cy="588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300"/>
                <a:t>Các yêu cầu bảo mật</a:t>
              </a:r>
              <a:endParaRPr sz="1300"/>
            </a:p>
          </p:txBody>
        </p:sp>
        <p:sp>
          <p:nvSpPr>
            <p:cNvPr id="779" name="Google Shape;779;p81"/>
            <p:cNvSpPr/>
            <p:nvPr/>
          </p:nvSpPr>
          <p:spPr>
            <a:xfrm>
              <a:off x="4336050" y="4568287"/>
              <a:ext cx="1118400" cy="763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300"/>
                <a:t>Các yêu cầu văn hóa &amp; chính trị</a:t>
              </a:r>
              <a:endParaRPr sz="1300"/>
            </a:p>
          </p:txBody>
        </p:sp>
        <p:sp>
          <p:nvSpPr>
            <p:cNvPr id="780" name="Google Shape;780;p81"/>
            <p:cNvSpPr/>
            <p:nvPr/>
          </p:nvSpPr>
          <p:spPr>
            <a:xfrm>
              <a:off x="6324875" y="4669887"/>
              <a:ext cx="1118400" cy="524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300"/>
                <a:t>Tạo cuộc hẹn</a:t>
              </a:r>
              <a:endParaRPr sz="1300"/>
            </a:p>
          </p:txBody>
        </p:sp>
        <p:cxnSp>
          <p:nvCxnSpPr>
            <p:cNvPr id="781" name="Google Shape;781;p81"/>
            <p:cNvCxnSpPr>
              <a:stCxn id="775" idx="2"/>
              <a:endCxn id="780" idx="0"/>
            </p:cNvCxnSpPr>
            <p:nvPr/>
          </p:nvCxnSpPr>
          <p:spPr>
            <a:xfrm rot="5400000">
              <a:off x="6981275" y="3776587"/>
              <a:ext cx="796200" cy="990600"/>
            </a:xfrm>
            <a:prstGeom prst="bentConnector3">
              <a:avLst>
                <a:gd fmla="val 50000" name="adj1"/>
              </a:avLst>
            </a:prstGeom>
            <a:noFill/>
            <a:ln cap="flat" cmpd="sng" w="9525">
              <a:solidFill>
                <a:schemeClr val="dk2"/>
              </a:solidFill>
              <a:prstDash val="solid"/>
              <a:round/>
              <a:headEnd len="med" w="med" type="none"/>
              <a:tailEnd len="med" w="med" type="triangle"/>
            </a:ln>
          </p:spPr>
        </p:cxnSp>
        <p:sp>
          <p:nvSpPr>
            <p:cNvPr id="782" name="Google Shape;782;p81"/>
            <p:cNvSpPr/>
            <p:nvPr/>
          </p:nvSpPr>
          <p:spPr>
            <a:xfrm>
              <a:off x="1903800" y="5584287"/>
              <a:ext cx="1749000" cy="588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spcBef>
                  <a:spcPts val="0"/>
                </a:spcBef>
                <a:spcAft>
                  <a:spcPts val="0"/>
                </a:spcAft>
                <a:buNone/>
              </a:pPr>
              <a:r>
                <a:rPr lang="en-GB" sz="1300"/>
                <a:t>Hoàn thành Lưu cuộc hẹn trong 2 giây</a:t>
              </a:r>
              <a:endParaRPr sz="1300"/>
            </a:p>
          </p:txBody>
        </p:sp>
        <p:cxnSp>
          <p:nvCxnSpPr>
            <p:cNvPr id="783" name="Google Shape;783;p81"/>
            <p:cNvCxnSpPr>
              <a:stCxn id="777" idx="2"/>
              <a:endCxn id="782" idx="0"/>
            </p:cNvCxnSpPr>
            <p:nvPr/>
          </p:nvCxnSpPr>
          <p:spPr>
            <a:xfrm flipH="1" rot="-5400000">
              <a:off x="2365500" y="5171437"/>
              <a:ext cx="428100" cy="397800"/>
            </a:xfrm>
            <a:prstGeom prst="bentConnector3">
              <a:avLst>
                <a:gd fmla="val 50000" name="adj1"/>
              </a:avLst>
            </a:prstGeom>
            <a:noFill/>
            <a:ln cap="flat" cmpd="sng" w="9525">
              <a:solidFill>
                <a:schemeClr val="dk2"/>
              </a:solidFill>
              <a:prstDash val="solid"/>
              <a:round/>
              <a:headEnd len="med" w="med" type="none"/>
              <a:tailEnd len="med" w="med" type="triangle"/>
            </a:ln>
          </p:spPr>
        </p:cxnSp>
        <p:sp>
          <p:nvSpPr>
            <p:cNvPr id="784" name="Google Shape;784;p81"/>
            <p:cNvSpPr/>
            <p:nvPr/>
          </p:nvSpPr>
          <p:spPr>
            <a:xfrm>
              <a:off x="3681350" y="5197753"/>
              <a:ext cx="2874300" cy="819413"/>
            </a:xfrm>
            <a:custGeom>
              <a:rect b="b" l="l" r="r" t="t"/>
              <a:pathLst>
                <a:path extrusionOk="0" h="24583" w="114972">
                  <a:moveTo>
                    <a:pt x="0" y="22314"/>
                  </a:moveTo>
                  <a:lnTo>
                    <a:pt x="65428" y="24583"/>
                  </a:lnTo>
                  <a:lnTo>
                    <a:pt x="114972" y="0"/>
                  </a:lnTo>
                </a:path>
              </a:pathLst>
            </a:custGeom>
            <a:noFill/>
            <a:ln cap="flat" cmpd="sng" w="9525">
              <a:solidFill>
                <a:schemeClr val="dk2"/>
              </a:solidFill>
              <a:prstDash val="solid"/>
              <a:round/>
              <a:headEnd len="med" w="med" type="none"/>
              <a:tailEnd len="med" w="med" type="triangle"/>
            </a:ln>
          </p:spPr>
        </p:sp>
        <p:sp>
          <p:nvSpPr>
            <p:cNvPr id="785" name="Google Shape;785;p81"/>
            <p:cNvSpPr txBox="1"/>
            <p:nvPr/>
          </p:nvSpPr>
          <p:spPr>
            <a:xfrm>
              <a:off x="4576775" y="5498820"/>
              <a:ext cx="1118400" cy="588000"/>
            </a:xfrm>
            <a:prstGeom prst="rect">
              <a:avLst/>
            </a:prstGeom>
            <a:noFill/>
            <a:ln>
              <a:noFill/>
            </a:ln>
          </p:spPr>
          <p:txBody>
            <a:bodyPr anchorCtr="0" anchor="t" bIns="54000" lIns="54000" spcFirstLastPara="1" rIns="54000" wrap="square" tIns="54000">
              <a:noAutofit/>
            </a:bodyPr>
            <a:lstStyle/>
            <a:p>
              <a:pPr indent="0" lvl="0" marL="0" rtl="0" algn="l">
                <a:spcBef>
                  <a:spcPts val="0"/>
                </a:spcBef>
                <a:spcAft>
                  <a:spcPts val="0"/>
                </a:spcAft>
                <a:buNone/>
              </a:pPr>
              <a:r>
                <a:rPr lang="en-GB" sz="1300"/>
                <a:t>ảnh hưởng</a:t>
              </a:r>
              <a:endParaRPr sz="1300"/>
            </a:p>
          </p:txBody>
        </p:sp>
        <p:sp>
          <p:nvSpPr>
            <p:cNvPr id="786" name="Google Shape;786;p81"/>
            <p:cNvSpPr txBox="1"/>
            <p:nvPr/>
          </p:nvSpPr>
          <p:spPr>
            <a:xfrm>
              <a:off x="1313175" y="3732420"/>
              <a:ext cx="954900" cy="493500"/>
            </a:xfrm>
            <a:prstGeom prst="rect">
              <a:avLst/>
            </a:prstGeom>
            <a:noFill/>
            <a:ln>
              <a:noFill/>
            </a:ln>
          </p:spPr>
          <p:txBody>
            <a:bodyPr anchorCtr="0" anchor="t" bIns="54000" lIns="54000" spcFirstLastPara="1" rIns="54000" wrap="square" tIns="54000">
              <a:noAutofit/>
            </a:bodyPr>
            <a:lstStyle/>
            <a:p>
              <a:pPr indent="0" lvl="0" marL="0" rtl="0" algn="l">
                <a:spcBef>
                  <a:spcPts val="0"/>
                </a:spcBef>
                <a:spcAft>
                  <a:spcPts val="0"/>
                </a:spcAft>
                <a:buNone/>
              </a:pPr>
              <a:r>
                <a:rPr lang="en-GB" sz="1300"/>
                <a:t>bao gồm</a:t>
              </a:r>
              <a:endParaRPr sz="1300"/>
            </a:p>
          </p:txBody>
        </p:sp>
        <p:sp>
          <p:nvSpPr>
            <p:cNvPr id="787" name="Google Shape;787;p81"/>
            <p:cNvSpPr txBox="1"/>
            <p:nvPr/>
          </p:nvSpPr>
          <p:spPr>
            <a:xfrm>
              <a:off x="5460075" y="3293153"/>
              <a:ext cx="954900" cy="493500"/>
            </a:xfrm>
            <a:prstGeom prst="rect">
              <a:avLst/>
            </a:prstGeom>
            <a:noFill/>
            <a:ln>
              <a:noFill/>
            </a:ln>
          </p:spPr>
          <p:txBody>
            <a:bodyPr anchorCtr="0" anchor="t" bIns="54000" lIns="54000" spcFirstLastPara="1" rIns="54000" wrap="square" tIns="54000">
              <a:noAutofit/>
            </a:bodyPr>
            <a:lstStyle/>
            <a:p>
              <a:pPr indent="0" lvl="0" marL="0" rtl="0" algn="ctr">
                <a:spcBef>
                  <a:spcPts val="0"/>
                </a:spcBef>
                <a:spcAft>
                  <a:spcPts val="0"/>
                </a:spcAft>
                <a:buNone/>
              </a:pPr>
              <a:r>
                <a:rPr lang="en-GB" sz="1300"/>
                <a:t>bao gồm</a:t>
              </a:r>
              <a:endParaRPr sz="1300"/>
            </a:p>
          </p:txBody>
        </p:sp>
        <p:cxnSp>
          <p:nvCxnSpPr>
            <p:cNvPr id="788" name="Google Shape;788;p81"/>
            <p:cNvCxnSpPr>
              <a:stCxn id="773" idx="2"/>
              <a:endCxn id="787" idx="0"/>
            </p:cNvCxnSpPr>
            <p:nvPr/>
          </p:nvCxnSpPr>
          <p:spPr>
            <a:xfrm>
              <a:off x="5937525" y="3073487"/>
              <a:ext cx="0" cy="219600"/>
            </a:xfrm>
            <a:prstGeom prst="straightConnector1">
              <a:avLst/>
            </a:prstGeom>
            <a:noFill/>
            <a:ln cap="flat" cmpd="sng" w="9525">
              <a:solidFill>
                <a:schemeClr val="dk2"/>
              </a:solidFill>
              <a:prstDash val="solid"/>
              <a:round/>
              <a:headEnd len="med" w="med" type="none"/>
              <a:tailEnd len="med" w="med" type="none"/>
            </a:ln>
          </p:spPr>
        </p:cxnSp>
        <p:cxnSp>
          <p:nvCxnSpPr>
            <p:cNvPr id="789" name="Google Shape;789;p81"/>
            <p:cNvCxnSpPr>
              <a:stCxn id="787" idx="1"/>
              <a:endCxn id="774" idx="3"/>
            </p:cNvCxnSpPr>
            <p:nvPr/>
          </p:nvCxnSpPr>
          <p:spPr>
            <a:xfrm flipH="1">
              <a:off x="3652875" y="3539903"/>
              <a:ext cx="1807200" cy="71400"/>
            </a:xfrm>
            <a:prstGeom prst="straightConnector1">
              <a:avLst/>
            </a:prstGeom>
            <a:noFill/>
            <a:ln cap="flat" cmpd="sng" w="9525">
              <a:solidFill>
                <a:schemeClr val="dk2"/>
              </a:solidFill>
              <a:prstDash val="solid"/>
              <a:round/>
              <a:headEnd len="med" w="med" type="none"/>
              <a:tailEnd len="med" w="med" type="triangle"/>
            </a:ln>
          </p:spPr>
        </p:cxnSp>
        <p:cxnSp>
          <p:nvCxnSpPr>
            <p:cNvPr id="790" name="Google Shape;790;p81"/>
            <p:cNvCxnSpPr>
              <a:endCxn id="775" idx="1"/>
            </p:cNvCxnSpPr>
            <p:nvPr/>
          </p:nvCxnSpPr>
          <p:spPr>
            <a:xfrm>
              <a:off x="6414875" y="3539737"/>
              <a:ext cx="900600" cy="71700"/>
            </a:xfrm>
            <a:prstGeom prst="straightConnector1">
              <a:avLst/>
            </a:prstGeom>
            <a:noFill/>
            <a:ln cap="flat" cmpd="sng" w="9525">
              <a:solidFill>
                <a:schemeClr val="dk2"/>
              </a:solidFill>
              <a:prstDash val="solid"/>
              <a:round/>
              <a:headEnd len="med" w="med" type="none"/>
              <a:tailEnd len="med" w="med" type="triangle"/>
            </a:ln>
          </p:spPr>
        </p:cxnSp>
        <p:cxnSp>
          <p:nvCxnSpPr>
            <p:cNvPr id="791" name="Google Shape;791;p81"/>
            <p:cNvCxnSpPr>
              <a:endCxn id="786" idx="0"/>
            </p:cNvCxnSpPr>
            <p:nvPr/>
          </p:nvCxnSpPr>
          <p:spPr>
            <a:xfrm flipH="1">
              <a:off x="1790625" y="3611520"/>
              <a:ext cx="621600" cy="120900"/>
            </a:xfrm>
            <a:prstGeom prst="bentConnector2">
              <a:avLst/>
            </a:prstGeom>
            <a:noFill/>
            <a:ln cap="flat" cmpd="sng" w="9525">
              <a:solidFill>
                <a:schemeClr val="dk2"/>
              </a:solidFill>
              <a:prstDash val="solid"/>
              <a:round/>
              <a:headEnd len="med" w="med" type="none"/>
              <a:tailEnd len="med" w="med" type="none"/>
            </a:ln>
          </p:spPr>
        </p:cxnSp>
        <p:cxnSp>
          <p:nvCxnSpPr>
            <p:cNvPr id="792" name="Google Shape;792;p81"/>
            <p:cNvCxnSpPr>
              <a:stCxn id="786" idx="2"/>
              <a:endCxn id="776" idx="0"/>
            </p:cNvCxnSpPr>
            <p:nvPr/>
          </p:nvCxnSpPr>
          <p:spPr>
            <a:xfrm rot="5400000">
              <a:off x="1308825" y="4086420"/>
              <a:ext cx="342300" cy="621300"/>
            </a:xfrm>
            <a:prstGeom prst="bentConnector3">
              <a:avLst>
                <a:gd fmla="val 49981" name="adj1"/>
              </a:avLst>
            </a:prstGeom>
            <a:noFill/>
            <a:ln cap="flat" cmpd="sng" w="9525">
              <a:solidFill>
                <a:schemeClr val="dk2"/>
              </a:solidFill>
              <a:prstDash val="solid"/>
              <a:round/>
              <a:headEnd len="med" w="med" type="none"/>
              <a:tailEnd len="med" w="med" type="triangle"/>
            </a:ln>
          </p:spPr>
        </p:cxnSp>
        <p:cxnSp>
          <p:nvCxnSpPr>
            <p:cNvPr id="793" name="Google Shape;793;p81"/>
            <p:cNvCxnSpPr>
              <a:stCxn id="786" idx="2"/>
              <a:endCxn id="777" idx="0"/>
            </p:cNvCxnSpPr>
            <p:nvPr/>
          </p:nvCxnSpPr>
          <p:spPr>
            <a:xfrm flipH="1" rot="-5400000">
              <a:off x="1914525" y="4102020"/>
              <a:ext cx="342300" cy="590100"/>
            </a:xfrm>
            <a:prstGeom prst="bentConnector3">
              <a:avLst>
                <a:gd fmla="val 49981" name="adj1"/>
              </a:avLst>
            </a:prstGeom>
            <a:noFill/>
            <a:ln cap="flat" cmpd="sng" w="9525">
              <a:solidFill>
                <a:schemeClr val="dk2"/>
              </a:solidFill>
              <a:prstDash val="solid"/>
              <a:round/>
              <a:headEnd len="med" w="med" type="none"/>
              <a:tailEnd len="med" w="med" type="triangle"/>
            </a:ln>
          </p:spPr>
        </p:cxnSp>
        <p:cxnSp>
          <p:nvCxnSpPr>
            <p:cNvPr id="794" name="Google Shape;794;p81"/>
            <p:cNvCxnSpPr>
              <a:stCxn id="786" idx="2"/>
              <a:endCxn id="778" idx="0"/>
            </p:cNvCxnSpPr>
            <p:nvPr/>
          </p:nvCxnSpPr>
          <p:spPr>
            <a:xfrm flipH="1" rot="-5400000">
              <a:off x="2524125" y="3492420"/>
              <a:ext cx="342300" cy="1809300"/>
            </a:xfrm>
            <a:prstGeom prst="bentConnector3">
              <a:avLst>
                <a:gd fmla="val 49981" name="adj1"/>
              </a:avLst>
            </a:prstGeom>
            <a:noFill/>
            <a:ln cap="flat" cmpd="sng" w="9525">
              <a:solidFill>
                <a:schemeClr val="dk2"/>
              </a:solidFill>
              <a:prstDash val="solid"/>
              <a:round/>
              <a:headEnd len="med" w="med" type="none"/>
              <a:tailEnd len="med" w="med" type="triangle"/>
            </a:ln>
          </p:spPr>
        </p:cxnSp>
        <p:cxnSp>
          <p:nvCxnSpPr>
            <p:cNvPr id="795" name="Google Shape;795;p81"/>
            <p:cNvCxnSpPr>
              <a:stCxn id="786" idx="2"/>
              <a:endCxn id="779" idx="0"/>
            </p:cNvCxnSpPr>
            <p:nvPr/>
          </p:nvCxnSpPr>
          <p:spPr>
            <a:xfrm flipH="1" rot="-5400000">
              <a:off x="3171825" y="2844720"/>
              <a:ext cx="342300" cy="3104700"/>
            </a:xfrm>
            <a:prstGeom prst="bentConnector3">
              <a:avLst>
                <a:gd fmla="val 49981" name="adj1"/>
              </a:avLst>
            </a:prstGeom>
            <a:noFill/>
            <a:ln cap="flat" cmpd="sng" w="9525">
              <a:solidFill>
                <a:schemeClr val="dk2"/>
              </a:solidFill>
              <a:prstDash val="solid"/>
              <a:round/>
              <a:headEnd len="med" w="med" type="none"/>
              <a:tailEnd len="med" w="med" type="triangle"/>
            </a:ln>
          </p:spPr>
        </p:cxnSp>
        <p:sp>
          <p:nvSpPr>
            <p:cNvPr id="796" name="Google Shape;796;p81"/>
            <p:cNvSpPr txBox="1"/>
            <p:nvPr/>
          </p:nvSpPr>
          <p:spPr>
            <a:xfrm>
              <a:off x="6832150" y="3893887"/>
              <a:ext cx="954900" cy="493500"/>
            </a:xfrm>
            <a:prstGeom prst="rect">
              <a:avLst/>
            </a:prstGeom>
            <a:noFill/>
            <a:ln>
              <a:noFill/>
            </a:ln>
          </p:spPr>
          <p:txBody>
            <a:bodyPr anchorCtr="0" anchor="t" bIns="54000" lIns="54000" spcFirstLastPara="1" rIns="54000" wrap="square" tIns="54000">
              <a:noAutofit/>
            </a:bodyPr>
            <a:lstStyle/>
            <a:p>
              <a:pPr indent="0" lvl="0" marL="0" rtl="0" algn="ctr">
                <a:spcBef>
                  <a:spcPts val="0"/>
                </a:spcBef>
                <a:spcAft>
                  <a:spcPts val="0"/>
                </a:spcAft>
                <a:buNone/>
              </a:pPr>
              <a:r>
                <a:rPr lang="en-GB" sz="1300"/>
                <a:t>bao gồm</a:t>
              </a:r>
              <a:endParaRPr sz="1300"/>
            </a:p>
          </p:txBody>
        </p:sp>
        <p:sp>
          <p:nvSpPr>
            <p:cNvPr id="797" name="Google Shape;797;p81"/>
            <p:cNvSpPr txBox="1"/>
            <p:nvPr/>
          </p:nvSpPr>
          <p:spPr>
            <a:xfrm>
              <a:off x="1547950" y="5062020"/>
              <a:ext cx="954900" cy="493500"/>
            </a:xfrm>
            <a:prstGeom prst="rect">
              <a:avLst/>
            </a:prstGeom>
            <a:noFill/>
            <a:ln>
              <a:noFill/>
            </a:ln>
          </p:spPr>
          <p:txBody>
            <a:bodyPr anchorCtr="0" anchor="t" bIns="54000" lIns="54000" spcFirstLastPara="1" rIns="54000" wrap="square" tIns="54000">
              <a:noAutofit/>
            </a:bodyPr>
            <a:lstStyle/>
            <a:p>
              <a:pPr indent="0" lvl="0" marL="0" rtl="0" algn="ctr">
                <a:spcBef>
                  <a:spcPts val="0"/>
                </a:spcBef>
                <a:spcAft>
                  <a:spcPts val="0"/>
                </a:spcAft>
                <a:buNone/>
              </a:pPr>
              <a:r>
                <a:rPr lang="en-GB" sz="1300"/>
                <a:t>bao gồm</a:t>
              </a:r>
              <a:endParaRPr sz="1300"/>
            </a:p>
          </p:txBody>
        </p:sp>
        <p:sp>
          <p:nvSpPr>
            <p:cNvPr id="798" name="Google Shape;798;p81"/>
            <p:cNvSpPr txBox="1"/>
            <p:nvPr/>
          </p:nvSpPr>
          <p:spPr>
            <a:xfrm>
              <a:off x="7931175" y="4387487"/>
              <a:ext cx="954900" cy="4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a:t>
              </a:r>
              <a:endParaRPr/>
            </a:p>
          </p:txBody>
        </p:sp>
        <p:sp>
          <p:nvSpPr>
            <p:cNvPr id="799" name="Google Shape;799;p81"/>
            <p:cNvSpPr txBox="1"/>
            <p:nvPr/>
          </p:nvSpPr>
          <p:spPr>
            <a:xfrm>
              <a:off x="544625" y="2637900"/>
              <a:ext cx="2622900" cy="49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t>Ví dụ sơ đồ khái niệm</a:t>
              </a:r>
              <a:endParaRPr b="1" sz="1800"/>
            </a:p>
          </p:txBody>
        </p:sp>
      </p:gr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82"/>
          <p:cNvSpPr txBox="1"/>
          <p:nvPr>
            <p:ph idx="4294967295"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kỹ thuật khác</a:t>
            </a:r>
            <a:r>
              <a:rPr baseline="-25000" lang="en-GB"/>
              <a:t>(2)</a:t>
            </a:r>
            <a:endParaRPr baseline="-25000"/>
          </a:p>
        </p:txBody>
      </p:sp>
      <p:sp>
        <p:nvSpPr>
          <p:cNvPr id="805" name="Google Shape;805;p82"/>
          <p:cNvSpPr txBox="1"/>
          <p:nvPr>
            <p:ph idx="4294967295" type="body"/>
          </p:nvPr>
        </p:nvSpPr>
        <p:spPr>
          <a:xfrm>
            <a:off x="311700" y="1384227"/>
            <a:ext cx="8520600" cy="945000"/>
          </a:xfrm>
          <a:prstGeom prst="rect">
            <a:avLst/>
          </a:prstGeom>
        </p:spPr>
        <p:txBody>
          <a:bodyPr anchorCtr="0" anchor="t" bIns="91425" lIns="91425" spcFirstLastPara="1" rIns="91425" wrap="square" tIns="91425">
            <a:noAutofit/>
          </a:bodyPr>
          <a:lstStyle/>
          <a:p>
            <a:pPr indent="-393700" lvl="0" marL="457200" rtl="0" algn="l">
              <a:lnSpc>
                <a:spcPct val="100000"/>
              </a:lnSpc>
              <a:spcBef>
                <a:spcPts val="0"/>
              </a:spcBef>
              <a:spcAft>
                <a:spcPts val="0"/>
              </a:spcAft>
              <a:buSzPts val="2600"/>
              <a:buChar char="●"/>
            </a:pPr>
            <a:r>
              <a:rPr lang="en-GB">
                <a:solidFill>
                  <a:schemeClr val="dk1"/>
                </a:solidFill>
              </a:rPr>
              <a:t>Các thẻ câu chuyện &amp; các danh sách nhiệm vụ</a:t>
            </a:r>
            <a:endParaRPr sz="1800"/>
          </a:p>
          <a:p>
            <a:pPr indent="-368300" lvl="1" marL="914400" rtl="0" algn="l">
              <a:spcBef>
                <a:spcPts val="0"/>
              </a:spcBef>
              <a:spcAft>
                <a:spcPts val="0"/>
              </a:spcAft>
              <a:buSzPts val="2200"/>
              <a:buChar char="○"/>
            </a:pPr>
            <a:r>
              <a:rPr lang="en-GB"/>
              <a:t>Mô tả yêu cầu người dùng theo cách tự nhiên nhất</a:t>
            </a:r>
            <a:endParaRPr/>
          </a:p>
          <a:p>
            <a:pPr indent="0" lvl="0" marL="0" rtl="0" algn="l">
              <a:spcBef>
                <a:spcPts val="1600"/>
              </a:spcBef>
              <a:spcAft>
                <a:spcPts val="1600"/>
              </a:spcAft>
              <a:buNone/>
            </a:pPr>
            <a:r>
              <a:t/>
            </a:r>
            <a:endParaRPr/>
          </a:p>
        </p:txBody>
      </p:sp>
      <p:sp>
        <p:nvSpPr>
          <p:cNvPr id="806" name="Google Shape;806;p8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07" name="Google Shape;807;p82"/>
          <p:cNvSpPr/>
          <p:nvPr/>
        </p:nvSpPr>
        <p:spPr>
          <a:xfrm>
            <a:off x="675300" y="2271625"/>
            <a:ext cx="7478700" cy="41751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82"/>
          <p:cNvSpPr/>
          <p:nvPr/>
        </p:nvSpPr>
        <p:spPr>
          <a:xfrm>
            <a:off x="1029125" y="2523375"/>
            <a:ext cx="3374400" cy="2779500"/>
          </a:xfrm>
          <a:prstGeom prst="round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GB" sz="2200">
                <a:solidFill>
                  <a:srgbClr val="434343"/>
                </a:solidFill>
              </a:rPr>
              <a:t>1. Là </a:t>
            </a:r>
            <a:r>
              <a:rPr lang="en-GB" sz="2200">
                <a:solidFill>
                  <a:srgbClr val="434343"/>
                </a:solidFill>
              </a:rPr>
              <a:t>nhân viên tiếp nhận bệnh nhân</a:t>
            </a:r>
            <a:r>
              <a:rPr lang="en-GB" sz="2200">
                <a:solidFill>
                  <a:srgbClr val="434343"/>
                </a:solidFill>
              </a:rPr>
              <a:t>, tôi mong muốn có </a:t>
            </a:r>
            <a:r>
              <a:rPr lang="en-GB" sz="2200">
                <a:solidFill>
                  <a:srgbClr val="434343"/>
                </a:solidFill>
              </a:rPr>
              <a:t>phương tiện</a:t>
            </a:r>
            <a:r>
              <a:rPr lang="en-GB" sz="2200">
                <a:solidFill>
                  <a:srgbClr val="434343"/>
                </a:solidFill>
              </a:rPr>
              <a:t> lập lịch hẹn để có thể đáp ứng tốt nhất các nhu cầu khám chữa bệnh </a:t>
            </a:r>
            <a:r>
              <a:rPr lang="en-GB" sz="2200">
                <a:solidFill>
                  <a:srgbClr val="434343"/>
                </a:solidFill>
              </a:rPr>
              <a:t>của bệnh nhân</a:t>
            </a:r>
            <a:r>
              <a:rPr lang="en-GB" sz="2200">
                <a:solidFill>
                  <a:srgbClr val="434343"/>
                </a:solidFill>
              </a:rPr>
              <a:t>.</a:t>
            </a:r>
            <a:endParaRPr sz="2200">
              <a:solidFill>
                <a:srgbClr val="434343"/>
              </a:solidFill>
            </a:endParaRPr>
          </a:p>
        </p:txBody>
      </p:sp>
      <p:sp>
        <p:nvSpPr>
          <p:cNvPr id="809" name="Google Shape;809;p82"/>
          <p:cNvSpPr/>
          <p:nvPr/>
        </p:nvSpPr>
        <p:spPr>
          <a:xfrm>
            <a:off x="4782875" y="2950225"/>
            <a:ext cx="3074400" cy="2935800"/>
          </a:xfrm>
          <a:prstGeom prst="round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GB" sz="2200">
                <a:solidFill>
                  <a:srgbClr val="434343"/>
                </a:solidFill>
              </a:rPr>
              <a:t>2. Tôi mong muốn hệ thống có kết nối không dây với máy in để nhiều máy tính có thể dùng chung 1 máy in mà không cần đến những </a:t>
            </a:r>
            <a:r>
              <a:rPr lang="en-GB" sz="2200">
                <a:solidFill>
                  <a:srgbClr val="434343"/>
                </a:solidFill>
              </a:rPr>
              <a:t>đường</a:t>
            </a:r>
            <a:r>
              <a:rPr lang="en-GB" sz="2200">
                <a:solidFill>
                  <a:srgbClr val="434343"/>
                </a:solidFill>
              </a:rPr>
              <a:t> cáp kết nối phức tạp.</a:t>
            </a:r>
            <a:endParaRPr sz="2200">
              <a:solidFill>
                <a:srgbClr val="434343"/>
              </a:solidFill>
            </a:endParaRPr>
          </a:p>
        </p:txBody>
      </p:sp>
      <p:sp>
        <p:nvSpPr>
          <p:cNvPr id="810" name="Google Shape;810;p82"/>
          <p:cNvSpPr txBox="1"/>
          <p:nvPr/>
        </p:nvSpPr>
        <p:spPr>
          <a:xfrm>
            <a:off x="3243525" y="5886075"/>
            <a:ext cx="1613100" cy="42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t>v.v…</a:t>
            </a:r>
            <a:endParaRPr sz="2200"/>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83"/>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Th</a:t>
            </a:r>
            <a:r>
              <a:rPr b="1" lang="en-GB"/>
              <a:t>am khảo</a:t>
            </a:r>
            <a:endParaRPr b="1"/>
          </a:p>
        </p:txBody>
      </p:sp>
      <p:sp>
        <p:nvSpPr>
          <p:cNvPr id="816" name="Google Shape;816;p83"/>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[1] </a:t>
            </a:r>
            <a:r>
              <a:rPr lang="en-GB"/>
              <a:t>Satzinger, Jackson, Burd. Systems Analysis and Design in a changing world, 7th edition.</a:t>
            </a:r>
            <a:endParaRPr/>
          </a:p>
          <a:p>
            <a:pPr indent="0" lvl="0" marL="0" rtl="0" algn="l">
              <a:spcBef>
                <a:spcPts val="1600"/>
              </a:spcBef>
              <a:spcAft>
                <a:spcPts val="1600"/>
              </a:spcAft>
              <a:buNone/>
            </a:pPr>
            <a:r>
              <a:rPr lang="en-GB"/>
              <a:t>[2] Dennis, Wixon, Tegarden. Systems Analysis &amp; Design: An object-oriented approach with UML, 5th edition.</a:t>
            </a:r>
            <a:endParaRPr/>
          </a:p>
        </p:txBody>
      </p:sp>
      <p:sp>
        <p:nvSpPr>
          <p:cNvPr id="817" name="Google Shape;817;p8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8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23" name="Google Shape;823;p84"/>
          <p:cNvSpPr/>
          <p:nvPr/>
        </p:nvSpPr>
        <p:spPr>
          <a:xfrm>
            <a:off x="3000550" y="1138675"/>
            <a:ext cx="2950250" cy="4477125"/>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lt2"/>
                </a:solidFill>
                <a:latin typeface="Arial"/>
              </a:rPr>
              <a:t>?</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