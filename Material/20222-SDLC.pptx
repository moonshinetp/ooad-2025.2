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D9C94B-5686-4416-A883-DD0BA2579C08}">
  <a:tblStyle styleId="{3BD9C94B-5686-4416-A883-DD0BA2579C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d0d106feaa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d0d106fe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d0d13cd312_0_4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d0d13cd31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31a29648b4_0_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31a29648b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5bf6884c7_0_4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35bf6884c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37aadec5fd_0_13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37aadec5f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7bceda932_1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7bceda93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37aadec5fd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37aadec5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7aadec5fd_0_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37aadec5f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37aadec5fd_0_1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37aadec5f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37aadec5fd_0_21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37aadec5f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37b03388e2_0_99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37b03388e2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37aadec5fd_0_3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37aadec5f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37bceda932_1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37bceda932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948bd6ded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948bd6d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37aadec5fd_0_6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37aadec5f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37aadec5fd_0_7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37aadec5f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37aadec5fd_0_81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37aadec5f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37bceda932_2_153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37bceda932_2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37bceda932_1_2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37bceda932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137bceda932_1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137bceda932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37bceda932_2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37bceda932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37bceda932_2_1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137bceda932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37bceda932_2_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137bceda932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37bceda932_2_10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37bceda932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37bceda932_2_9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37bceda932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37bceda932_2_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37bceda932_2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37bceda932_2_1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37bceda932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37e0f51b55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37e0f51b5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37bceda932_2_1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137bceda932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37bceda932_2_1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37bceda932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137bceda932_2_14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137bceda932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57c83d9393_0_7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57c83d939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57c83d9393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57c83d93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7c83d9393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57c83d939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57c83d9393_0_3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57c83d939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57c83d9393_0_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57c83d939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57c83d9393_0_4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57c83d939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57c83d9393_0_4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57c83d939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57c83d9393_0_7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57c83d939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12f7f353c56_0_2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12f7f353c56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42900" lvl="2" marL="13716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68300" lvl="1" marL="9144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42900" lvl="2" marL="13716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17500" lvl="3" marL="18288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algn="just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77075"/>
            <a:ext cx="8520600" cy="206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200"/>
              <a:t>Phân tích v</a:t>
            </a:r>
            <a:r>
              <a:rPr lang="en-GB" sz="4200"/>
              <a:t>à</a:t>
            </a:r>
            <a:r>
              <a:rPr lang="en-GB" sz="4200"/>
              <a:t> thiết kế </a:t>
            </a:r>
            <a:r>
              <a:rPr lang="en-GB" sz="4200"/>
              <a:t>h</a:t>
            </a:r>
            <a:r>
              <a:rPr lang="en-GB" sz="4200"/>
              <a:t>ệ thống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78827"/>
            <a:ext cx="8520600" cy="8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Giảng viên: Nguyễn Bá Ngọc</a:t>
            </a:r>
            <a:endParaRPr sz="2600"/>
          </a:p>
        </p:txBody>
      </p:sp>
      <p:sp>
        <p:nvSpPr>
          <p:cNvPr id="56" name="Google Shape;56;p13"/>
          <p:cNvSpPr txBox="1"/>
          <p:nvPr/>
        </p:nvSpPr>
        <p:spPr>
          <a:xfrm>
            <a:off x="125" y="6116250"/>
            <a:ext cx="91440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Hà Nội-2022</a:t>
            </a:r>
            <a:endParaRPr sz="2600"/>
          </a:p>
        </p:txBody>
      </p:sp>
      <p:sp>
        <p:nvSpPr>
          <p:cNvPr id="57" name="Google Shape;57;p13"/>
          <p:cNvSpPr txBox="1"/>
          <p:nvPr/>
        </p:nvSpPr>
        <p:spPr>
          <a:xfrm>
            <a:off x="491750" y="4667625"/>
            <a:ext cx="3857100" cy="10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mô hình vòng đời phát triển hệ thống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mô hình SDLC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mô hình phát triển linh hoạt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Quy trình thống nhất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mô hình SDLC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mô hình phát triển linh hoạt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Quy trình thống nhất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357900" y="826494"/>
            <a:ext cx="6629700" cy="831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307850" y="1155549"/>
            <a:ext cx="8413500" cy="437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>
                <a:solidFill>
                  <a:schemeClr val="dk2"/>
                </a:solidFill>
              </a:rPr>
              <a:t>Các pha SDLC và thành phẩm</a:t>
            </a:r>
            <a:endParaRPr sz="3800"/>
          </a:p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86" name="Google Shape;86;p17"/>
          <p:cNvGraphicFramePr/>
          <p:nvPr/>
        </p:nvGraphicFramePr>
        <p:xfrm>
          <a:off x="525275" y="140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{3BD9C94B-5686-4416-A883-DD0BA2579C08}</a:tableStyleId>
              </a:tblPr>
              <a:tblGrid>
                <a:gridCol w="3073475"/>
                <a:gridCol w="4914600"/>
              </a:tblGrid>
              <a:tr h="566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/>
                        <a:t>Pha</a:t>
                      </a:r>
                      <a:endParaRPr b="1" sz="2400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2400"/>
                        <a:t>Thành</a:t>
                      </a:r>
                      <a:r>
                        <a:rPr b="1" lang="en-GB" sz="2400"/>
                        <a:t> phẩm</a:t>
                      </a:r>
                      <a:endParaRPr b="1" sz="2400"/>
                    </a:p>
                  </a:txBody>
                  <a:tcPr marT="121900" marB="121900" marR="91425" marL="91425"/>
                </a:tc>
              </a:tr>
              <a:tr h="77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Lập kế hoạch      ⇒</a:t>
                      </a:r>
                      <a:endParaRPr sz="2400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Kế hoạch dự án</a:t>
                      </a:r>
                      <a:endParaRPr sz="2400"/>
                    </a:p>
                  </a:txBody>
                  <a:tcPr marT="121900" marB="121900" marR="91425" marL="91425"/>
                </a:tc>
              </a:tr>
              <a:tr h="77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Phân tích</a:t>
                      </a:r>
                      <a:r>
                        <a:rPr lang="en-GB" sz="2400">
                          <a:solidFill>
                            <a:srgbClr val="000000"/>
                          </a:solidFill>
                        </a:rPr>
                        <a:t>             ⇒</a:t>
                      </a:r>
                      <a:endParaRPr sz="2400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Đề xuất hệ thống</a:t>
                      </a:r>
                      <a:endParaRPr sz="2400"/>
                    </a:p>
                  </a:txBody>
                  <a:tcPr marT="121900" marB="121900" marR="91425" marL="91425"/>
                </a:tc>
              </a:tr>
              <a:tr h="77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Thiết kế</a:t>
                      </a:r>
                      <a:r>
                        <a:rPr lang="en-GB" sz="2400">
                          <a:solidFill>
                            <a:srgbClr val="000000"/>
                          </a:solidFill>
                        </a:rPr>
                        <a:t>               ⇒</a:t>
                      </a:r>
                      <a:endParaRPr sz="2400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Đặc tả hệ thống</a:t>
                      </a:r>
                      <a:endParaRPr sz="2400"/>
                    </a:p>
                  </a:txBody>
                  <a:tcPr marT="121900" marB="121900" marR="91425" marL="91425"/>
                </a:tc>
              </a:tr>
              <a:tr h="77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Xây dựng</a:t>
                      </a:r>
                      <a:r>
                        <a:rPr lang="en-GB" sz="2400">
                          <a:solidFill>
                            <a:srgbClr val="000000"/>
                          </a:solidFill>
                        </a:rPr>
                        <a:t>           </a:t>
                      </a:r>
                      <a:r>
                        <a:rPr lang="en-GB" sz="2400"/>
                        <a:t> </a:t>
                      </a:r>
                      <a:r>
                        <a:rPr lang="en-GB" sz="2400">
                          <a:solidFill>
                            <a:srgbClr val="000000"/>
                          </a:solidFill>
                        </a:rPr>
                        <a:t>⇒</a:t>
                      </a:r>
                      <a:endParaRPr sz="2400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/>
                        <a:t>Hệ thống</a:t>
                      </a:r>
                      <a:endParaRPr sz="2400"/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  <p:sp>
        <p:nvSpPr>
          <p:cNvPr id="87" name="Google Shape;87;p17"/>
          <p:cNvSpPr txBox="1"/>
          <p:nvPr/>
        </p:nvSpPr>
        <p:spPr>
          <a:xfrm>
            <a:off x="326975" y="5638625"/>
            <a:ext cx="84135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434343"/>
                </a:solidFill>
              </a:rPr>
              <a:t>* SDLC (Chương 1 - Tổng quan)</a:t>
            </a:r>
            <a:endParaRPr i="1"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mô hình SDLC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Có 2 cách tiếp cận tổng quát đối với SDLC khác nhau về </a:t>
            </a:r>
            <a:r>
              <a:rPr i="1" lang="en-GB"/>
              <a:t>sự nối tiếp của các giai đoạn và khả năng tiếp nhận thay đổi</a:t>
            </a:r>
            <a:r>
              <a:rPr i="1" lang="en-GB"/>
              <a:t>:</a:t>
            </a:r>
            <a:endParaRPr i="1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Cách tiếp cận </a:t>
            </a:r>
            <a:r>
              <a:rPr lang="en-GB"/>
              <a:t>theo cấu trúc</a:t>
            </a:r>
            <a:r>
              <a:rPr lang="en-GB"/>
              <a:t> - </a:t>
            </a:r>
            <a:r>
              <a:rPr lang="en-GB" sz="2200"/>
              <a:t>cổ điển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Dự án được </a:t>
            </a:r>
            <a:r>
              <a:rPr lang="en-GB"/>
              <a:t>thực hiện tuần tự các bước, trong đó đầu ra của 1 bước xác định phạm vi của bước tiếp theo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Không thể (hoặc rất khó) </a:t>
            </a:r>
            <a:r>
              <a:rPr lang="en-GB"/>
              <a:t>quay lại các bước trước đó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Cách tiếp cận linh hoạt - </a:t>
            </a:r>
            <a:r>
              <a:rPr lang="en-GB" sz="2200"/>
              <a:t>mới hơn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Dự án có thể được điều chỉnh linh hoạt để đáp ứng những thay đổi cần thiết theo tiến trình phát triển dự án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Linh hoạt đối với các thay đổi nhưng khó lập kế hoạch tổng thể từ đầu.</a:t>
            </a:r>
            <a:endParaRPr/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SDLC: </a:t>
            </a:r>
            <a:r>
              <a:rPr lang="en-GB"/>
              <a:t>Mô hình</a:t>
            </a:r>
            <a:r>
              <a:rPr lang="en-GB"/>
              <a:t> thác nước</a:t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808575" y="142842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Lập kế hoạch</a:t>
            </a:r>
            <a:endParaRPr sz="1800"/>
          </a:p>
        </p:txBody>
      </p:sp>
      <p:sp>
        <p:nvSpPr>
          <p:cNvPr id="102" name="Google Shape;102;p19"/>
          <p:cNvSpPr/>
          <p:nvPr/>
        </p:nvSpPr>
        <p:spPr>
          <a:xfrm>
            <a:off x="2256375" y="249522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Phân tích</a:t>
            </a:r>
            <a:endParaRPr sz="1800"/>
          </a:p>
        </p:txBody>
      </p:sp>
      <p:sp>
        <p:nvSpPr>
          <p:cNvPr id="103" name="Google Shape;103;p19"/>
          <p:cNvSpPr/>
          <p:nvPr/>
        </p:nvSpPr>
        <p:spPr>
          <a:xfrm>
            <a:off x="3780375" y="356202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104" name="Google Shape;104;p19"/>
          <p:cNvSpPr/>
          <p:nvPr/>
        </p:nvSpPr>
        <p:spPr>
          <a:xfrm>
            <a:off x="5456775" y="455262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sp>
        <p:nvSpPr>
          <p:cNvPr id="105" name="Google Shape;105;p19"/>
          <p:cNvSpPr/>
          <p:nvPr/>
        </p:nvSpPr>
        <p:spPr>
          <a:xfrm>
            <a:off x="6987475" y="5477825"/>
            <a:ext cx="1601400" cy="62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Hệ thống</a:t>
            </a:r>
            <a:endParaRPr sz="1800"/>
          </a:p>
        </p:txBody>
      </p:sp>
      <p:cxnSp>
        <p:nvCxnSpPr>
          <p:cNvPr id="106" name="Google Shape;106;p19"/>
          <p:cNvCxnSpPr>
            <a:stCxn id="101" idx="4"/>
            <a:endCxn id="102" idx="1"/>
          </p:cNvCxnSpPr>
          <p:nvPr/>
        </p:nvCxnSpPr>
        <p:spPr>
          <a:xfrm>
            <a:off x="2567255" y="1768885"/>
            <a:ext cx="568500" cy="786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9"/>
          <p:cNvCxnSpPr>
            <a:stCxn id="102" idx="4"/>
            <a:endCxn id="103" idx="1"/>
          </p:cNvCxnSpPr>
          <p:nvPr/>
        </p:nvCxnSpPr>
        <p:spPr>
          <a:xfrm>
            <a:off x="4015055" y="2835685"/>
            <a:ext cx="644700" cy="786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9"/>
          <p:cNvCxnSpPr>
            <a:stCxn id="103" idx="4"/>
            <a:endCxn id="104" idx="1"/>
          </p:cNvCxnSpPr>
          <p:nvPr/>
        </p:nvCxnSpPr>
        <p:spPr>
          <a:xfrm>
            <a:off x="5539055" y="3902485"/>
            <a:ext cx="797100" cy="7107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9"/>
          <p:cNvCxnSpPr>
            <a:stCxn id="104" idx="3"/>
            <a:endCxn id="105" idx="0"/>
          </p:cNvCxnSpPr>
          <p:nvPr/>
        </p:nvCxnSpPr>
        <p:spPr>
          <a:xfrm flipH="1" rot="-5400000">
            <a:off x="6909715" y="4599425"/>
            <a:ext cx="304800" cy="14520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9"/>
          <p:cNvCxnSpPr>
            <a:stCxn id="102" idx="2"/>
            <a:endCxn id="101" idx="3"/>
          </p:cNvCxnSpPr>
          <p:nvPr/>
        </p:nvCxnSpPr>
        <p:spPr>
          <a:xfrm rot="10800000">
            <a:off x="1687875" y="2048785"/>
            <a:ext cx="568500" cy="786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1" name="Google Shape;111;p19"/>
          <p:cNvCxnSpPr>
            <a:stCxn id="103" idx="2"/>
            <a:endCxn id="102" idx="3"/>
          </p:cNvCxnSpPr>
          <p:nvPr/>
        </p:nvCxnSpPr>
        <p:spPr>
          <a:xfrm rot="10800000">
            <a:off x="3135675" y="3115585"/>
            <a:ext cx="644700" cy="786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12" name="Google Shape;112;p19"/>
          <p:cNvCxnSpPr>
            <a:stCxn id="104" idx="2"/>
            <a:endCxn id="103" idx="3"/>
          </p:cNvCxnSpPr>
          <p:nvPr/>
        </p:nvCxnSpPr>
        <p:spPr>
          <a:xfrm rot="10800000">
            <a:off x="4659675" y="4182385"/>
            <a:ext cx="797100" cy="710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13" name="Google Shape;113;p19"/>
          <p:cNvSpPr/>
          <p:nvPr/>
        </p:nvSpPr>
        <p:spPr>
          <a:xfrm>
            <a:off x="3446625" y="1438550"/>
            <a:ext cx="2175300" cy="8985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Bước chuyển tuần tự / Chuyển sang pha tiếp theo sau khi hoàn thành.</a:t>
            </a:r>
            <a:endParaRPr i="1"/>
          </a:p>
        </p:txBody>
      </p:sp>
      <p:cxnSp>
        <p:nvCxnSpPr>
          <p:cNvPr id="114" name="Google Shape;114;p19"/>
          <p:cNvCxnSpPr>
            <a:endCxn id="113" idx="1"/>
          </p:cNvCxnSpPr>
          <p:nvPr/>
        </p:nvCxnSpPr>
        <p:spPr>
          <a:xfrm flipH="1" rot="10800000">
            <a:off x="3135525" y="1887800"/>
            <a:ext cx="311100" cy="30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5" name="Google Shape;115;p19"/>
          <p:cNvSpPr/>
          <p:nvPr/>
        </p:nvSpPr>
        <p:spPr>
          <a:xfrm>
            <a:off x="709700" y="3971300"/>
            <a:ext cx="2083800" cy="7635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Rất khó di chuyển theo hướng này (quay lại / điều chỉnh kế hoạch)</a:t>
            </a:r>
            <a:endParaRPr i="1"/>
          </a:p>
        </p:txBody>
      </p:sp>
      <p:cxnSp>
        <p:nvCxnSpPr>
          <p:cNvPr id="116" name="Google Shape;116;p19"/>
          <p:cNvCxnSpPr/>
          <p:nvPr/>
        </p:nvCxnSpPr>
        <p:spPr>
          <a:xfrm flipH="1" rot="10800000">
            <a:off x="2791825" y="3706500"/>
            <a:ext cx="553200" cy="42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7" name="Google Shape;117;p19"/>
          <p:cNvSpPr txBox="1"/>
          <p:nvPr/>
        </p:nvSpPr>
        <p:spPr>
          <a:xfrm>
            <a:off x="5592025" y="930600"/>
            <a:ext cx="33702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Waterfall development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SDLC: Mô hình song song</a:t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427575" y="1047425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Lập kế hoạch</a:t>
            </a:r>
            <a:endParaRPr sz="1800"/>
          </a:p>
        </p:txBody>
      </p:sp>
      <p:sp>
        <p:nvSpPr>
          <p:cNvPr id="125" name="Google Shape;125;p20"/>
          <p:cNvSpPr/>
          <p:nvPr/>
        </p:nvSpPr>
        <p:spPr>
          <a:xfrm>
            <a:off x="1659473" y="1761970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Phân tích</a:t>
            </a:r>
            <a:endParaRPr sz="1800"/>
          </a:p>
        </p:txBody>
      </p:sp>
      <p:sp>
        <p:nvSpPr>
          <p:cNvPr id="126" name="Google Shape;126;p20"/>
          <p:cNvSpPr/>
          <p:nvPr/>
        </p:nvSpPr>
        <p:spPr>
          <a:xfrm>
            <a:off x="2818907" y="2541473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127" name="Google Shape;127;p20"/>
          <p:cNvSpPr/>
          <p:nvPr/>
        </p:nvSpPr>
        <p:spPr>
          <a:xfrm>
            <a:off x="5819839" y="5003638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sp>
        <p:nvSpPr>
          <p:cNvPr id="128" name="Google Shape;128;p20"/>
          <p:cNvSpPr/>
          <p:nvPr/>
        </p:nvSpPr>
        <p:spPr>
          <a:xfrm>
            <a:off x="7046902" y="5944749"/>
            <a:ext cx="1522800" cy="52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Hệ thống</a:t>
            </a:r>
            <a:endParaRPr sz="1800"/>
          </a:p>
        </p:txBody>
      </p:sp>
      <p:cxnSp>
        <p:nvCxnSpPr>
          <p:cNvPr id="129" name="Google Shape;129;p20"/>
          <p:cNvCxnSpPr>
            <a:stCxn id="124" idx="4"/>
            <a:endCxn id="125" idx="1"/>
          </p:cNvCxnSpPr>
          <p:nvPr/>
        </p:nvCxnSpPr>
        <p:spPr>
          <a:xfrm>
            <a:off x="2106081" y="1337672"/>
            <a:ext cx="392700" cy="4758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20"/>
          <p:cNvCxnSpPr>
            <a:stCxn id="125" idx="4"/>
            <a:endCxn id="126" idx="1"/>
          </p:cNvCxnSpPr>
          <p:nvPr/>
        </p:nvCxnSpPr>
        <p:spPr>
          <a:xfrm>
            <a:off x="3337979" y="2052217"/>
            <a:ext cx="320100" cy="540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20"/>
          <p:cNvCxnSpPr>
            <a:stCxn id="127" idx="3"/>
            <a:endCxn id="128" idx="0"/>
          </p:cNvCxnSpPr>
          <p:nvPr/>
        </p:nvCxnSpPr>
        <p:spPr>
          <a:xfrm flipH="1" rot="-5400000">
            <a:off x="7027642" y="5163988"/>
            <a:ext cx="412200" cy="11493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0"/>
          <p:cNvCxnSpPr>
            <a:stCxn id="125" idx="2"/>
            <a:endCxn id="124" idx="3"/>
          </p:cNvCxnSpPr>
          <p:nvPr/>
        </p:nvCxnSpPr>
        <p:spPr>
          <a:xfrm rot="10800000">
            <a:off x="1266773" y="1576417"/>
            <a:ext cx="392700" cy="475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133" name="Google Shape;133;p20"/>
          <p:cNvCxnSpPr>
            <a:stCxn id="126" idx="2"/>
            <a:endCxn id="125" idx="3"/>
          </p:cNvCxnSpPr>
          <p:nvPr/>
        </p:nvCxnSpPr>
        <p:spPr>
          <a:xfrm rot="10800000">
            <a:off x="2498807" y="2290820"/>
            <a:ext cx="320100" cy="540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34" name="Google Shape;134;p20"/>
          <p:cNvSpPr/>
          <p:nvPr/>
        </p:nvSpPr>
        <p:spPr>
          <a:xfrm>
            <a:off x="3961907" y="3379673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135" name="Google Shape;135;p20"/>
          <p:cNvSpPr/>
          <p:nvPr/>
        </p:nvSpPr>
        <p:spPr>
          <a:xfrm>
            <a:off x="4753039" y="4216487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sp>
        <p:nvSpPr>
          <p:cNvPr id="136" name="Google Shape;136;p20"/>
          <p:cNvSpPr/>
          <p:nvPr/>
        </p:nvSpPr>
        <p:spPr>
          <a:xfrm>
            <a:off x="1523507" y="4065473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137" name="Google Shape;137;p20"/>
          <p:cNvSpPr/>
          <p:nvPr/>
        </p:nvSpPr>
        <p:spPr>
          <a:xfrm>
            <a:off x="2314639" y="4902287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sp>
        <p:nvSpPr>
          <p:cNvPr id="138" name="Google Shape;138;p20"/>
          <p:cNvSpPr/>
          <p:nvPr/>
        </p:nvSpPr>
        <p:spPr>
          <a:xfrm>
            <a:off x="6400307" y="3074873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139" name="Google Shape;139;p20"/>
          <p:cNvSpPr/>
          <p:nvPr/>
        </p:nvSpPr>
        <p:spPr>
          <a:xfrm>
            <a:off x="7191439" y="3911687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cxnSp>
        <p:nvCxnSpPr>
          <p:cNvPr id="140" name="Google Shape;140;p20"/>
          <p:cNvCxnSpPr/>
          <p:nvPr/>
        </p:nvCxnSpPr>
        <p:spPr>
          <a:xfrm>
            <a:off x="4292550" y="3076875"/>
            <a:ext cx="670800" cy="34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0"/>
          <p:cNvCxnSpPr/>
          <p:nvPr/>
        </p:nvCxnSpPr>
        <p:spPr>
          <a:xfrm>
            <a:off x="4497413" y="2755520"/>
            <a:ext cx="1902900" cy="53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0"/>
          <p:cNvCxnSpPr>
            <a:stCxn id="126" idx="3"/>
            <a:endCxn id="136" idx="1"/>
          </p:cNvCxnSpPr>
          <p:nvPr/>
        </p:nvCxnSpPr>
        <p:spPr>
          <a:xfrm flipH="1">
            <a:off x="2362760" y="3070373"/>
            <a:ext cx="1295400" cy="1046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0"/>
          <p:cNvCxnSpPr/>
          <p:nvPr/>
        </p:nvCxnSpPr>
        <p:spPr>
          <a:xfrm>
            <a:off x="2591360" y="4594373"/>
            <a:ext cx="791100" cy="35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0"/>
          <p:cNvCxnSpPr/>
          <p:nvPr/>
        </p:nvCxnSpPr>
        <p:spPr>
          <a:xfrm>
            <a:off x="3993144" y="5116334"/>
            <a:ext cx="1826700" cy="10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0"/>
          <p:cNvCxnSpPr>
            <a:stCxn id="138" idx="3"/>
            <a:endCxn id="139" idx="1"/>
          </p:cNvCxnSpPr>
          <p:nvPr/>
        </p:nvCxnSpPr>
        <p:spPr>
          <a:xfrm>
            <a:off x="7239560" y="3603773"/>
            <a:ext cx="791100" cy="35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20"/>
          <p:cNvCxnSpPr/>
          <p:nvPr/>
        </p:nvCxnSpPr>
        <p:spPr>
          <a:xfrm flipH="1">
            <a:off x="7040092" y="4440587"/>
            <a:ext cx="1371600" cy="61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5029760" y="3908573"/>
            <a:ext cx="791100" cy="35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5826775" y="4762025"/>
            <a:ext cx="737700" cy="30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20"/>
          <p:cNvCxnSpPr/>
          <p:nvPr/>
        </p:nvCxnSpPr>
        <p:spPr>
          <a:xfrm flipH="1" rot="10800000">
            <a:off x="2037275" y="3077000"/>
            <a:ext cx="1224000" cy="10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20"/>
          <p:cNvCxnSpPr/>
          <p:nvPr/>
        </p:nvCxnSpPr>
        <p:spPr>
          <a:xfrm rot="10800000">
            <a:off x="3828400" y="3076825"/>
            <a:ext cx="791100" cy="34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4577650" y="2996225"/>
            <a:ext cx="1836000" cy="5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0"/>
          <p:cNvCxnSpPr/>
          <p:nvPr/>
        </p:nvCxnSpPr>
        <p:spPr>
          <a:xfrm rot="10800000">
            <a:off x="2259125" y="4577600"/>
            <a:ext cx="645600" cy="3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0"/>
          <p:cNvCxnSpPr/>
          <p:nvPr/>
        </p:nvCxnSpPr>
        <p:spPr>
          <a:xfrm rot="10800000">
            <a:off x="5332175" y="4753675"/>
            <a:ext cx="762900" cy="29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0"/>
          <p:cNvCxnSpPr/>
          <p:nvPr/>
        </p:nvCxnSpPr>
        <p:spPr>
          <a:xfrm rot="10800000">
            <a:off x="3990775" y="5255975"/>
            <a:ext cx="1836000" cy="14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0"/>
          <p:cNvCxnSpPr/>
          <p:nvPr/>
        </p:nvCxnSpPr>
        <p:spPr>
          <a:xfrm rot="10800000">
            <a:off x="4679650" y="3915225"/>
            <a:ext cx="645600" cy="33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0"/>
          <p:cNvCxnSpPr/>
          <p:nvPr/>
        </p:nvCxnSpPr>
        <p:spPr>
          <a:xfrm rot="10800000">
            <a:off x="7008975" y="3647025"/>
            <a:ext cx="586800" cy="28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0"/>
          <p:cNvCxnSpPr/>
          <p:nvPr/>
        </p:nvCxnSpPr>
        <p:spPr>
          <a:xfrm flipH="1" rot="10800000">
            <a:off x="6749000" y="4451975"/>
            <a:ext cx="1140300" cy="55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58" name="Google Shape;158;p20"/>
          <p:cNvSpPr/>
          <p:nvPr/>
        </p:nvSpPr>
        <p:spPr>
          <a:xfrm rot="1810088">
            <a:off x="1633139" y="3930314"/>
            <a:ext cx="2438019" cy="1541372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 rot="1810088">
            <a:off x="4071539" y="3244514"/>
            <a:ext cx="2438019" cy="1541372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 rot="1810088">
            <a:off x="6509939" y="2939714"/>
            <a:ext cx="2438019" cy="1541372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365825" y="3338275"/>
            <a:ext cx="21828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Dự án thành phần</a:t>
            </a:r>
            <a:endParaRPr i="1" sz="1800"/>
          </a:p>
        </p:txBody>
      </p:sp>
      <p:cxnSp>
        <p:nvCxnSpPr>
          <p:cNvPr id="162" name="Google Shape;162;p20"/>
          <p:cNvCxnSpPr/>
          <p:nvPr/>
        </p:nvCxnSpPr>
        <p:spPr>
          <a:xfrm rot="10800000">
            <a:off x="1534225" y="3772775"/>
            <a:ext cx="477900" cy="13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3" name="Google Shape;163;p20"/>
          <p:cNvSpPr txBox="1"/>
          <p:nvPr/>
        </p:nvSpPr>
        <p:spPr>
          <a:xfrm>
            <a:off x="4906225" y="1083000"/>
            <a:ext cx="33702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Parallel</a:t>
            </a:r>
            <a:r>
              <a:rPr lang="en-GB" sz="2400"/>
              <a:t> development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SDLC: Mô hình chia pha</a:t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427575" y="1047425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Lập kế hoạch</a:t>
            </a:r>
            <a:endParaRPr sz="1800"/>
          </a:p>
        </p:txBody>
      </p:sp>
      <p:sp>
        <p:nvSpPr>
          <p:cNvPr id="171" name="Google Shape;171;p21"/>
          <p:cNvSpPr/>
          <p:nvPr/>
        </p:nvSpPr>
        <p:spPr>
          <a:xfrm>
            <a:off x="1659473" y="1761970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Phân tích</a:t>
            </a:r>
            <a:endParaRPr sz="1800"/>
          </a:p>
        </p:txBody>
      </p:sp>
      <p:cxnSp>
        <p:nvCxnSpPr>
          <p:cNvPr id="172" name="Google Shape;172;p21"/>
          <p:cNvCxnSpPr>
            <a:stCxn id="170" idx="4"/>
            <a:endCxn id="171" idx="1"/>
          </p:cNvCxnSpPr>
          <p:nvPr/>
        </p:nvCxnSpPr>
        <p:spPr>
          <a:xfrm>
            <a:off x="2106081" y="1337672"/>
            <a:ext cx="392700" cy="4758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1"/>
          <p:cNvCxnSpPr>
            <a:stCxn id="171" idx="2"/>
            <a:endCxn id="170" idx="3"/>
          </p:cNvCxnSpPr>
          <p:nvPr/>
        </p:nvCxnSpPr>
        <p:spPr>
          <a:xfrm rot="10800000">
            <a:off x="1266773" y="1576417"/>
            <a:ext cx="392700" cy="4758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74" name="Google Shape;174;p21"/>
          <p:cNvSpPr/>
          <p:nvPr/>
        </p:nvSpPr>
        <p:spPr>
          <a:xfrm>
            <a:off x="5463407" y="2153673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175" name="Google Shape;175;p21"/>
          <p:cNvSpPr/>
          <p:nvPr/>
        </p:nvSpPr>
        <p:spPr>
          <a:xfrm>
            <a:off x="6887689" y="3015287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sp>
        <p:nvSpPr>
          <p:cNvPr id="176" name="Google Shape;176;p21"/>
          <p:cNvSpPr/>
          <p:nvPr/>
        </p:nvSpPr>
        <p:spPr>
          <a:xfrm>
            <a:off x="4041448" y="1311120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Phân tích</a:t>
            </a:r>
            <a:endParaRPr sz="1800"/>
          </a:p>
        </p:txBody>
      </p:sp>
      <p:sp>
        <p:nvSpPr>
          <p:cNvPr id="177" name="Google Shape;177;p21"/>
          <p:cNvSpPr/>
          <p:nvPr/>
        </p:nvSpPr>
        <p:spPr>
          <a:xfrm>
            <a:off x="7427902" y="3887349"/>
            <a:ext cx="1522800" cy="52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Phiên bản 1</a:t>
            </a:r>
            <a:endParaRPr sz="1800"/>
          </a:p>
        </p:txBody>
      </p:sp>
      <p:sp>
        <p:nvSpPr>
          <p:cNvPr id="178" name="Google Shape;178;p21"/>
          <p:cNvSpPr/>
          <p:nvPr/>
        </p:nvSpPr>
        <p:spPr>
          <a:xfrm>
            <a:off x="4320407" y="3677673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179" name="Google Shape;179;p21"/>
          <p:cNvSpPr/>
          <p:nvPr/>
        </p:nvSpPr>
        <p:spPr>
          <a:xfrm>
            <a:off x="5744689" y="4539287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sp>
        <p:nvSpPr>
          <p:cNvPr id="180" name="Google Shape;180;p21"/>
          <p:cNvSpPr/>
          <p:nvPr/>
        </p:nvSpPr>
        <p:spPr>
          <a:xfrm>
            <a:off x="2898448" y="2835120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Phân tích</a:t>
            </a:r>
            <a:endParaRPr sz="1800"/>
          </a:p>
        </p:txBody>
      </p:sp>
      <p:sp>
        <p:nvSpPr>
          <p:cNvPr id="181" name="Google Shape;181;p21"/>
          <p:cNvSpPr/>
          <p:nvPr/>
        </p:nvSpPr>
        <p:spPr>
          <a:xfrm>
            <a:off x="6284902" y="5411349"/>
            <a:ext cx="1522800" cy="52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Phiên bản 2</a:t>
            </a:r>
            <a:endParaRPr sz="1800"/>
          </a:p>
        </p:txBody>
      </p:sp>
      <p:sp>
        <p:nvSpPr>
          <p:cNvPr id="182" name="Google Shape;182;p21"/>
          <p:cNvSpPr/>
          <p:nvPr/>
        </p:nvSpPr>
        <p:spPr>
          <a:xfrm>
            <a:off x="1958207" y="4439673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183" name="Google Shape;183;p21"/>
          <p:cNvSpPr/>
          <p:nvPr/>
        </p:nvSpPr>
        <p:spPr>
          <a:xfrm>
            <a:off x="3382489" y="5301287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sp>
        <p:nvSpPr>
          <p:cNvPr id="184" name="Google Shape;184;p21"/>
          <p:cNvSpPr/>
          <p:nvPr/>
        </p:nvSpPr>
        <p:spPr>
          <a:xfrm>
            <a:off x="536248" y="3597120"/>
            <a:ext cx="1730100" cy="5289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Phân tích</a:t>
            </a:r>
            <a:endParaRPr sz="1800"/>
          </a:p>
        </p:txBody>
      </p:sp>
      <p:sp>
        <p:nvSpPr>
          <p:cNvPr id="185" name="Google Shape;185;p21"/>
          <p:cNvSpPr/>
          <p:nvPr/>
        </p:nvSpPr>
        <p:spPr>
          <a:xfrm>
            <a:off x="3922702" y="6173349"/>
            <a:ext cx="1522800" cy="52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Phiên bản 3</a:t>
            </a:r>
            <a:endParaRPr sz="1800"/>
          </a:p>
        </p:txBody>
      </p:sp>
      <p:cxnSp>
        <p:nvCxnSpPr>
          <p:cNvPr id="186" name="Google Shape;186;p21"/>
          <p:cNvCxnSpPr>
            <a:stCxn id="171" idx="4"/>
            <a:endCxn id="176" idx="2"/>
          </p:cNvCxnSpPr>
          <p:nvPr/>
        </p:nvCxnSpPr>
        <p:spPr>
          <a:xfrm flipH="1" rot="10800000">
            <a:off x="3337979" y="1601317"/>
            <a:ext cx="703500" cy="45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1"/>
          <p:cNvCxnSpPr>
            <a:stCxn id="176" idx="4"/>
            <a:endCxn id="174" idx="1"/>
          </p:cNvCxnSpPr>
          <p:nvPr/>
        </p:nvCxnSpPr>
        <p:spPr>
          <a:xfrm>
            <a:off x="5719954" y="1601367"/>
            <a:ext cx="582600" cy="603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1"/>
          <p:cNvCxnSpPr>
            <a:stCxn id="174" idx="4"/>
            <a:endCxn id="175" idx="1"/>
          </p:cNvCxnSpPr>
          <p:nvPr/>
        </p:nvCxnSpPr>
        <p:spPr>
          <a:xfrm>
            <a:off x="7141913" y="2443920"/>
            <a:ext cx="585000" cy="6231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1"/>
          <p:cNvCxnSpPr>
            <a:stCxn id="174" idx="2"/>
            <a:endCxn id="176" idx="3"/>
          </p:cNvCxnSpPr>
          <p:nvPr/>
        </p:nvCxnSpPr>
        <p:spPr>
          <a:xfrm rot="10800000">
            <a:off x="4880807" y="1840020"/>
            <a:ext cx="582600" cy="603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1"/>
          <p:cNvCxnSpPr>
            <a:stCxn id="175" idx="2"/>
            <a:endCxn id="174" idx="3"/>
          </p:cNvCxnSpPr>
          <p:nvPr/>
        </p:nvCxnSpPr>
        <p:spPr>
          <a:xfrm rot="10800000">
            <a:off x="6302689" y="2682434"/>
            <a:ext cx="585000" cy="623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1"/>
          <p:cNvCxnSpPr>
            <a:stCxn id="175" idx="3"/>
            <a:endCxn id="177" idx="0"/>
          </p:cNvCxnSpPr>
          <p:nvPr/>
        </p:nvCxnSpPr>
        <p:spPr>
          <a:xfrm>
            <a:off x="7726942" y="3544187"/>
            <a:ext cx="462300" cy="34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1"/>
          <p:cNvCxnSpPr>
            <a:stCxn id="177" idx="1"/>
            <a:endCxn id="180" idx="0"/>
          </p:cNvCxnSpPr>
          <p:nvPr/>
        </p:nvCxnSpPr>
        <p:spPr>
          <a:xfrm rot="10800000">
            <a:off x="3789202" y="2835099"/>
            <a:ext cx="3638700" cy="1316700"/>
          </a:xfrm>
          <a:prstGeom prst="curvedConnector4">
            <a:avLst>
              <a:gd fmla="val 38466" name="adj1"/>
              <a:gd fmla="val 118083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1"/>
          <p:cNvCxnSpPr>
            <a:stCxn id="180" idx="4"/>
            <a:endCxn id="178" idx="1"/>
          </p:cNvCxnSpPr>
          <p:nvPr/>
        </p:nvCxnSpPr>
        <p:spPr>
          <a:xfrm>
            <a:off x="4576954" y="3125367"/>
            <a:ext cx="582600" cy="603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1"/>
          <p:cNvCxnSpPr>
            <a:stCxn id="178" idx="4"/>
            <a:endCxn id="179" idx="1"/>
          </p:cNvCxnSpPr>
          <p:nvPr/>
        </p:nvCxnSpPr>
        <p:spPr>
          <a:xfrm>
            <a:off x="5998913" y="3967920"/>
            <a:ext cx="585000" cy="6231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5" name="Google Shape;195;p21"/>
          <p:cNvCxnSpPr>
            <a:stCxn id="184" idx="4"/>
            <a:endCxn id="182" idx="1"/>
          </p:cNvCxnSpPr>
          <p:nvPr/>
        </p:nvCxnSpPr>
        <p:spPr>
          <a:xfrm>
            <a:off x="2214754" y="3887367"/>
            <a:ext cx="582600" cy="603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21"/>
          <p:cNvCxnSpPr>
            <a:stCxn id="182" idx="4"/>
            <a:endCxn id="183" idx="1"/>
          </p:cNvCxnSpPr>
          <p:nvPr/>
        </p:nvCxnSpPr>
        <p:spPr>
          <a:xfrm>
            <a:off x="3636713" y="4729920"/>
            <a:ext cx="585000" cy="6231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1"/>
          <p:cNvCxnSpPr>
            <a:stCxn id="181" idx="1"/>
            <a:endCxn id="184" idx="0"/>
          </p:cNvCxnSpPr>
          <p:nvPr/>
        </p:nvCxnSpPr>
        <p:spPr>
          <a:xfrm rot="10800000">
            <a:off x="1427002" y="3597099"/>
            <a:ext cx="4857900" cy="2078700"/>
          </a:xfrm>
          <a:prstGeom prst="curvedConnector4">
            <a:avLst>
              <a:gd fmla="val 41361" name="adj1"/>
              <a:gd fmla="val 111454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8" name="Google Shape;198;p21"/>
          <p:cNvCxnSpPr>
            <a:stCxn id="179" idx="2"/>
            <a:endCxn id="178" idx="3"/>
          </p:cNvCxnSpPr>
          <p:nvPr/>
        </p:nvCxnSpPr>
        <p:spPr>
          <a:xfrm rot="10800000">
            <a:off x="5159689" y="4206434"/>
            <a:ext cx="585000" cy="623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21"/>
          <p:cNvCxnSpPr>
            <a:stCxn id="178" idx="2"/>
            <a:endCxn id="180" idx="3"/>
          </p:cNvCxnSpPr>
          <p:nvPr/>
        </p:nvCxnSpPr>
        <p:spPr>
          <a:xfrm rot="10800000">
            <a:off x="3737807" y="3364020"/>
            <a:ext cx="582600" cy="603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1"/>
          <p:cNvCxnSpPr>
            <a:stCxn id="182" idx="2"/>
            <a:endCxn id="184" idx="3"/>
          </p:cNvCxnSpPr>
          <p:nvPr/>
        </p:nvCxnSpPr>
        <p:spPr>
          <a:xfrm rot="10800000">
            <a:off x="1375607" y="4126020"/>
            <a:ext cx="582600" cy="603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1"/>
          <p:cNvCxnSpPr>
            <a:stCxn id="183" idx="2"/>
            <a:endCxn id="182" idx="3"/>
          </p:cNvCxnSpPr>
          <p:nvPr/>
        </p:nvCxnSpPr>
        <p:spPr>
          <a:xfrm rot="10800000">
            <a:off x="2797489" y="4968434"/>
            <a:ext cx="585000" cy="6231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1"/>
          <p:cNvCxnSpPr>
            <a:stCxn id="179" idx="3"/>
            <a:endCxn id="181" idx="0"/>
          </p:cNvCxnSpPr>
          <p:nvPr/>
        </p:nvCxnSpPr>
        <p:spPr>
          <a:xfrm>
            <a:off x="6583942" y="5068187"/>
            <a:ext cx="462300" cy="34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1"/>
          <p:cNvCxnSpPr>
            <a:stCxn id="183" idx="3"/>
            <a:endCxn id="185" idx="0"/>
          </p:cNvCxnSpPr>
          <p:nvPr/>
        </p:nvCxnSpPr>
        <p:spPr>
          <a:xfrm>
            <a:off x="4221742" y="5830187"/>
            <a:ext cx="462300" cy="343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4" name="Google Shape;204;p21"/>
          <p:cNvSpPr/>
          <p:nvPr/>
        </p:nvSpPr>
        <p:spPr>
          <a:xfrm rot="2073963">
            <a:off x="269436" y="4090610"/>
            <a:ext cx="5540438" cy="1876993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 rot="2073963">
            <a:off x="2555436" y="3328610"/>
            <a:ext cx="5540438" cy="1876993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 rot="2073963">
            <a:off x="3774636" y="1804610"/>
            <a:ext cx="5540438" cy="1876993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452500" y="644800"/>
            <a:ext cx="32025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Phased Development</a:t>
            </a:r>
            <a:endParaRPr sz="2400"/>
          </a:p>
        </p:txBody>
      </p:sp>
      <p:sp>
        <p:nvSpPr>
          <p:cNvPr id="208" name="Google Shape;208;p21"/>
          <p:cNvSpPr txBox="1"/>
          <p:nvPr/>
        </p:nvSpPr>
        <p:spPr>
          <a:xfrm>
            <a:off x="1490100" y="5978800"/>
            <a:ext cx="1055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…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/>
          <p:nvPr/>
        </p:nvSpPr>
        <p:spPr>
          <a:xfrm>
            <a:off x="2246775" y="353742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sp>
        <p:nvSpPr>
          <p:cNvPr id="214" name="Google Shape;214;p22"/>
          <p:cNvSpPr/>
          <p:nvPr/>
        </p:nvSpPr>
        <p:spPr>
          <a:xfrm>
            <a:off x="2246775" y="2982782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215" name="Google Shape;215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p22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SDLC: Mô hình nguyên mẫu hệ thống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427575" y="135222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Lập kế hoạch</a:t>
            </a:r>
            <a:endParaRPr sz="1800"/>
          </a:p>
        </p:txBody>
      </p:sp>
      <p:sp>
        <p:nvSpPr>
          <p:cNvPr id="218" name="Google Shape;218;p22"/>
          <p:cNvSpPr/>
          <p:nvPr/>
        </p:nvSpPr>
        <p:spPr>
          <a:xfrm>
            <a:off x="2246775" y="241897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Phân tích</a:t>
            </a:r>
            <a:endParaRPr sz="1800"/>
          </a:p>
        </p:txBody>
      </p:sp>
      <p:sp>
        <p:nvSpPr>
          <p:cNvPr id="219" name="Google Shape;219;p22"/>
          <p:cNvSpPr/>
          <p:nvPr/>
        </p:nvSpPr>
        <p:spPr>
          <a:xfrm>
            <a:off x="4636250" y="3007927"/>
            <a:ext cx="1601400" cy="62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Nguyên mẫu hệ thống</a:t>
            </a:r>
            <a:endParaRPr sz="1800"/>
          </a:p>
        </p:txBody>
      </p:sp>
      <p:cxnSp>
        <p:nvCxnSpPr>
          <p:cNvPr id="220" name="Google Shape;220;p22"/>
          <p:cNvCxnSpPr>
            <a:stCxn id="217" idx="4"/>
            <a:endCxn id="218" idx="1"/>
          </p:cNvCxnSpPr>
          <p:nvPr/>
        </p:nvCxnSpPr>
        <p:spPr>
          <a:xfrm>
            <a:off x="2186255" y="1692685"/>
            <a:ext cx="939900" cy="786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2"/>
          <p:cNvCxnSpPr>
            <a:stCxn id="218" idx="2"/>
            <a:endCxn id="217" idx="3"/>
          </p:cNvCxnSpPr>
          <p:nvPr/>
        </p:nvCxnSpPr>
        <p:spPr>
          <a:xfrm rot="10800000">
            <a:off x="1306875" y="1972535"/>
            <a:ext cx="939900" cy="786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22" name="Google Shape;222;p22"/>
          <p:cNvSpPr/>
          <p:nvPr/>
        </p:nvSpPr>
        <p:spPr>
          <a:xfrm>
            <a:off x="6905122" y="4207750"/>
            <a:ext cx="1601400" cy="62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Hệ thống</a:t>
            </a:r>
            <a:endParaRPr sz="1800"/>
          </a:p>
        </p:txBody>
      </p:sp>
      <p:sp>
        <p:nvSpPr>
          <p:cNvPr id="223" name="Google Shape;223;p22"/>
          <p:cNvSpPr/>
          <p:nvPr/>
        </p:nvSpPr>
        <p:spPr>
          <a:xfrm>
            <a:off x="6807925" y="298277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cxnSp>
        <p:nvCxnSpPr>
          <p:cNvPr id="224" name="Google Shape;224;p22"/>
          <p:cNvCxnSpPr>
            <a:stCxn id="214" idx="4"/>
            <a:endCxn id="219" idx="1"/>
          </p:cNvCxnSpPr>
          <p:nvPr/>
        </p:nvCxnSpPr>
        <p:spPr>
          <a:xfrm flipH="1" rot="10800000">
            <a:off x="4005455" y="3318142"/>
            <a:ext cx="630900" cy="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2"/>
          <p:cNvCxnSpPr>
            <a:stCxn id="219" idx="3"/>
            <a:endCxn id="223" idx="2"/>
          </p:cNvCxnSpPr>
          <p:nvPr/>
        </p:nvCxnSpPr>
        <p:spPr>
          <a:xfrm>
            <a:off x="6237650" y="3318127"/>
            <a:ext cx="570300" cy="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2"/>
          <p:cNvCxnSpPr>
            <a:stCxn id="223" idx="3"/>
            <a:endCxn id="222" idx="0"/>
          </p:cNvCxnSpPr>
          <p:nvPr/>
        </p:nvCxnSpPr>
        <p:spPr>
          <a:xfrm>
            <a:off x="7687265" y="3603175"/>
            <a:ext cx="186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2"/>
          <p:cNvCxnSpPr>
            <a:stCxn id="219" idx="2"/>
            <a:endCxn id="213" idx="3"/>
          </p:cNvCxnSpPr>
          <p:nvPr/>
        </p:nvCxnSpPr>
        <p:spPr>
          <a:xfrm rot="5400000">
            <a:off x="4016750" y="2737627"/>
            <a:ext cx="529500" cy="2310900"/>
          </a:xfrm>
          <a:prstGeom prst="bentConnector3">
            <a:avLst>
              <a:gd fmla="val 14497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22"/>
          <p:cNvSpPr/>
          <p:nvPr/>
        </p:nvSpPr>
        <p:spPr>
          <a:xfrm>
            <a:off x="2381025" y="2372625"/>
            <a:ext cx="125700" cy="1936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9" name="Google Shape;229;p22"/>
          <p:cNvCxnSpPr>
            <a:stCxn id="228" idx="2"/>
            <a:endCxn id="230" idx="0"/>
          </p:cNvCxnSpPr>
          <p:nvPr/>
        </p:nvCxnSpPr>
        <p:spPr>
          <a:xfrm flipH="1">
            <a:off x="2032875" y="4309425"/>
            <a:ext cx="411000" cy="67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2"/>
          <p:cNvCxnSpPr>
            <a:endCxn id="232" idx="0"/>
          </p:cNvCxnSpPr>
          <p:nvPr/>
        </p:nvCxnSpPr>
        <p:spPr>
          <a:xfrm>
            <a:off x="5793175" y="3621900"/>
            <a:ext cx="559800" cy="159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33" name="Google Shape;233;p22"/>
          <p:cNvSpPr txBox="1"/>
          <p:nvPr/>
        </p:nvSpPr>
        <p:spPr>
          <a:xfrm>
            <a:off x="5334375" y="946625"/>
            <a:ext cx="28674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System prototyping</a:t>
            </a:r>
            <a:endParaRPr sz="2400"/>
          </a:p>
        </p:txBody>
      </p:sp>
      <p:sp>
        <p:nvSpPr>
          <p:cNvPr id="234" name="Google Shape;234;p22"/>
          <p:cNvSpPr/>
          <p:nvPr/>
        </p:nvSpPr>
        <p:spPr>
          <a:xfrm>
            <a:off x="1188850" y="5009075"/>
            <a:ext cx="1980300" cy="9027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1"/>
                </a:solidFill>
              </a:rPr>
              <a:t>Được </a:t>
            </a:r>
            <a:r>
              <a:rPr i="1" lang="en-GB">
                <a:solidFill>
                  <a:schemeClr val="dk1"/>
                </a:solidFill>
              </a:rPr>
              <a:t>thực hiện</a:t>
            </a:r>
            <a:r>
              <a:rPr i="1" lang="en-GB">
                <a:solidFill>
                  <a:schemeClr val="dk1"/>
                </a:solidFill>
              </a:rPr>
              <a:t> t</a:t>
            </a:r>
            <a:r>
              <a:rPr i="1" lang="en-GB">
                <a:solidFill>
                  <a:schemeClr val="dk1"/>
                </a:solidFill>
              </a:rPr>
              <a:t>ự do</a:t>
            </a:r>
            <a:r>
              <a:rPr i="1" lang="en-GB">
                <a:solidFill>
                  <a:schemeClr val="dk1"/>
                </a:solidFill>
              </a:rPr>
              <a:t>, không quy định thứ tự tuần tự</a:t>
            </a:r>
            <a:endParaRPr i="1"/>
          </a:p>
        </p:txBody>
      </p:sp>
      <p:sp>
        <p:nvSpPr>
          <p:cNvPr id="235" name="Google Shape;235;p22"/>
          <p:cNvSpPr/>
          <p:nvPr/>
        </p:nvSpPr>
        <p:spPr>
          <a:xfrm>
            <a:off x="5587725" y="5161475"/>
            <a:ext cx="1539000" cy="678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chemeClr val="dk1"/>
                </a:solidFill>
              </a:rPr>
              <a:t>Có thể tiềm ẩn nhiều lỗi</a:t>
            </a:r>
            <a:endParaRPr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/>
          <p:nvPr/>
        </p:nvSpPr>
        <p:spPr>
          <a:xfrm>
            <a:off x="2246775" y="437562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sp>
        <p:nvSpPr>
          <p:cNvPr id="241" name="Google Shape;241;p23"/>
          <p:cNvSpPr/>
          <p:nvPr/>
        </p:nvSpPr>
        <p:spPr>
          <a:xfrm>
            <a:off x="2246775" y="3820982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242" name="Google Shape;242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3" name="Google Shape;243;p23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SDLC: Mô hình nguyên mẫu </a:t>
            </a:r>
            <a:r>
              <a:rPr lang="en-GB"/>
              <a:t>thiết kế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427575" y="135222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Lập kế hoạch</a:t>
            </a:r>
            <a:endParaRPr sz="1800"/>
          </a:p>
        </p:txBody>
      </p:sp>
      <p:sp>
        <p:nvSpPr>
          <p:cNvPr id="245" name="Google Shape;245;p23"/>
          <p:cNvSpPr/>
          <p:nvPr/>
        </p:nvSpPr>
        <p:spPr>
          <a:xfrm>
            <a:off x="1713375" y="219037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Phân tích</a:t>
            </a:r>
            <a:endParaRPr sz="1800"/>
          </a:p>
        </p:txBody>
      </p:sp>
      <p:sp>
        <p:nvSpPr>
          <p:cNvPr id="246" name="Google Shape;246;p23"/>
          <p:cNvSpPr/>
          <p:nvPr/>
        </p:nvSpPr>
        <p:spPr>
          <a:xfrm>
            <a:off x="4636250" y="3846127"/>
            <a:ext cx="1601400" cy="62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Nguyên mẫu </a:t>
            </a:r>
            <a:r>
              <a:rPr lang="en-GB" sz="1800"/>
              <a:t>thiết kế</a:t>
            </a:r>
            <a:endParaRPr sz="1800"/>
          </a:p>
        </p:txBody>
      </p:sp>
      <p:cxnSp>
        <p:nvCxnSpPr>
          <p:cNvPr id="247" name="Google Shape;247;p23"/>
          <p:cNvCxnSpPr>
            <a:stCxn id="244" idx="4"/>
            <a:endCxn id="245" idx="1"/>
          </p:cNvCxnSpPr>
          <p:nvPr/>
        </p:nvCxnSpPr>
        <p:spPr>
          <a:xfrm>
            <a:off x="2186255" y="1692685"/>
            <a:ext cx="406500" cy="5583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p23"/>
          <p:cNvCxnSpPr>
            <a:stCxn id="245" idx="2"/>
            <a:endCxn id="244" idx="3"/>
          </p:cNvCxnSpPr>
          <p:nvPr/>
        </p:nvCxnSpPr>
        <p:spPr>
          <a:xfrm rot="10800000">
            <a:off x="1306875" y="1972535"/>
            <a:ext cx="406500" cy="5583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249" name="Google Shape;249;p23"/>
          <p:cNvSpPr/>
          <p:nvPr/>
        </p:nvSpPr>
        <p:spPr>
          <a:xfrm>
            <a:off x="6905122" y="5045950"/>
            <a:ext cx="1601400" cy="62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Hệ thống</a:t>
            </a:r>
            <a:endParaRPr sz="1800"/>
          </a:p>
        </p:txBody>
      </p:sp>
      <p:sp>
        <p:nvSpPr>
          <p:cNvPr id="250" name="Google Shape;250;p23"/>
          <p:cNvSpPr/>
          <p:nvPr/>
        </p:nvSpPr>
        <p:spPr>
          <a:xfrm>
            <a:off x="6807925" y="382097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cxnSp>
        <p:nvCxnSpPr>
          <p:cNvPr id="251" name="Google Shape;251;p23"/>
          <p:cNvCxnSpPr>
            <a:stCxn id="241" idx="4"/>
            <a:endCxn id="246" idx="1"/>
          </p:cNvCxnSpPr>
          <p:nvPr/>
        </p:nvCxnSpPr>
        <p:spPr>
          <a:xfrm flipH="1" rot="10800000">
            <a:off x="4005455" y="4156342"/>
            <a:ext cx="630900" cy="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23"/>
          <p:cNvCxnSpPr>
            <a:stCxn id="250" idx="3"/>
            <a:endCxn id="249" idx="0"/>
          </p:cNvCxnSpPr>
          <p:nvPr/>
        </p:nvCxnSpPr>
        <p:spPr>
          <a:xfrm>
            <a:off x="7687265" y="4441375"/>
            <a:ext cx="18600" cy="60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23"/>
          <p:cNvCxnSpPr>
            <a:stCxn id="246" idx="2"/>
            <a:endCxn id="240" idx="3"/>
          </p:cNvCxnSpPr>
          <p:nvPr/>
        </p:nvCxnSpPr>
        <p:spPr>
          <a:xfrm rot="5400000">
            <a:off x="4016750" y="3575827"/>
            <a:ext cx="529500" cy="2310900"/>
          </a:xfrm>
          <a:prstGeom prst="bentConnector3">
            <a:avLst>
              <a:gd fmla="val 14497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p23"/>
          <p:cNvSpPr/>
          <p:nvPr/>
        </p:nvSpPr>
        <p:spPr>
          <a:xfrm>
            <a:off x="4636350" y="2784357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cxnSp>
        <p:nvCxnSpPr>
          <p:cNvPr id="255" name="Google Shape;255;p23"/>
          <p:cNvCxnSpPr>
            <a:endCxn id="254" idx="2"/>
          </p:cNvCxnSpPr>
          <p:nvPr/>
        </p:nvCxnSpPr>
        <p:spPr>
          <a:xfrm flipH="1" rot="10800000">
            <a:off x="4007550" y="3124817"/>
            <a:ext cx="628800" cy="82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6" name="Google Shape;256;p23"/>
          <p:cNvCxnSpPr>
            <a:stCxn id="254" idx="4"/>
            <a:endCxn id="250" idx="1"/>
          </p:cNvCxnSpPr>
          <p:nvPr/>
        </p:nvCxnSpPr>
        <p:spPr>
          <a:xfrm>
            <a:off x="6395030" y="3124817"/>
            <a:ext cx="1292100" cy="7566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23"/>
          <p:cNvCxnSpPr/>
          <p:nvPr/>
        </p:nvCxnSpPr>
        <p:spPr>
          <a:xfrm flipH="1" rot="5400000">
            <a:off x="6241775" y="3424600"/>
            <a:ext cx="570000" cy="545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58" name="Google Shape;258;p23"/>
          <p:cNvSpPr/>
          <p:nvPr/>
        </p:nvSpPr>
        <p:spPr>
          <a:xfrm>
            <a:off x="2246775" y="325717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Phân tích</a:t>
            </a:r>
            <a:endParaRPr sz="1800"/>
          </a:p>
        </p:txBody>
      </p:sp>
      <p:cxnSp>
        <p:nvCxnSpPr>
          <p:cNvPr id="259" name="Google Shape;259;p23"/>
          <p:cNvCxnSpPr>
            <a:stCxn id="245" idx="5"/>
          </p:cNvCxnSpPr>
          <p:nvPr/>
        </p:nvCxnSpPr>
        <p:spPr>
          <a:xfrm>
            <a:off x="3532575" y="2470315"/>
            <a:ext cx="206700" cy="807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3"/>
          <p:cNvCxnSpPr>
            <a:stCxn id="258" idx="1"/>
            <a:endCxn id="245" idx="3"/>
          </p:cNvCxnSpPr>
          <p:nvPr/>
        </p:nvCxnSpPr>
        <p:spPr>
          <a:xfrm flipH="1" rot="5400000">
            <a:off x="2605915" y="2797495"/>
            <a:ext cx="507000" cy="533400"/>
          </a:xfrm>
          <a:prstGeom prst="curvedConnector3">
            <a:avLst>
              <a:gd fmla="val 55961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61" name="Google Shape;261;p23"/>
          <p:cNvSpPr txBox="1"/>
          <p:nvPr/>
        </p:nvSpPr>
        <p:spPr>
          <a:xfrm>
            <a:off x="4770425" y="1006075"/>
            <a:ext cx="3303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Design Prototyping</a:t>
            </a:r>
            <a:endParaRPr sz="2400"/>
          </a:p>
        </p:txBody>
      </p:sp>
      <p:cxnSp>
        <p:nvCxnSpPr>
          <p:cNvPr id="262" name="Google Shape;262;p23"/>
          <p:cNvCxnSpPr/>
          <p:nvPr/>
        </p:nvCxnSpPr>
        <p:spPr>
          <a:xfrm>
            <a:off x="5759725" y="4460225"/>
            <a:ext cx="8400" cy="14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3" name="Google Shape;263;p23"/>
          <p:cNvSpPr/>
          <p:nvPr/>
        </p:nvSpPr>
        <p:spPr>
          <a:xfrm>
            <a:off x="4749925" y="5390075"/>
            <a:ext cx="1995900" cy="7566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</a:rPr>
              <a:t>Sử dụng kết quả thiết kế, loại bỏ nguyên mẫu hệ thống</a:t>
            </a:r>
            <a:endParaRPr i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9" name="Google Shape;269;p24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SDLC: Mô hình linh hoạt</a:t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2932575" y="422322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Xây dựng</a:t>
            </a:r>
            <a:endParaRPr sz="1800"/>
          </a:p>
        </p:txBody>
      </p:sp>
      <p:sp>
        <p:nvSpPr>
          <p:cNvPr id="271" name="Google Shape;271;p24"/>
          <p:cNvSpPr/>
          <p:nvPr/>
        </p:nvSpPr>
        <p:spPr>
          <a:xfrm>
            <a:off x="2932575" y="3668582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Thiết kế</a:t>
            </a:r>
            <a:endParaRPr sz="1800"/>
          </a:p>
        </p:txBody>
      </p:sp>
      <p:sp>
        <p:nvSpPr>
          <p:cNvPr id="272" name="Google Shape;272;p24"/>
          <p:cNvSpPr/>
          <p:nvPr/>
        </p:nvSpPr>
        <p:spPr>
          <a:xfrm>
            <a:off x="2932575" y="310477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Phân tích</a:t>
            </a:r>
            <a:endParaRPr sz="1800"/>
          </a:p>
        </p:txBody>
      </p:sp>
      <p:sp>
        <p:nvSpPr>
          <p:cNvPr id="273" name="Google Shape;273;p24"/>
          <p:cNvSpPr/>
          <p:nvPr/>
        </p:nvSpPr>
        <p:spPr>
          <a:xfrm>
            <a:off x="5322050" y="3693727"/>
            <a:ext cx="1601400" cy="62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Hệ thống</a:t>
            </a:r>
            <a:endParaRPr sz="1800"/>
          </a:p>
        </p:txBody>
      </p:sp>
      <p:cxnSp>
        <p:nvCxnSpPr>
          <p:cNvPr id="274" name="Google Shape;274;p24"/>
          <p:cNvCxnSpPr>
            <a:stCxn id="273" idx="0"/>
            <a:endCxn id="275" idx="1"/>
          </p:cNvCxnSpPr>
          <p:nvPr/>
        </p:nvCxnSpPr>
        <p:spPr>
          <a:xfrm flipH="1" rot="5400000">
            <a:off x="4429550" y="2000527"/>
            <a:ext cx="1075500" cy="2310900"/>
          </a:xfrm>
          <a:prstGeom prst="bentConnector3">
            <a:avLst>
              <a:gd fmla="val 141197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24"/>
          <p:cNvSpPr/>
          <p:nvPr/>
        </p:nvSpPr>
        <p:spPr>
          <a:xfrm>
            <a:off x="4072875" y="3143025"/>
            <a:ext cx="108900" cy="837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24"/>
          <p:cNvCxnSpPr>
            <a:stCxn id="270" idx="3"/>
            <a:endCxn id="273" idx="2"/>
          </p:cNvCxnSpPr>
          <p:nvPr/>
        </p:nvCxnSpPr>
        <p:spPr>
          <a:xfrm rot="-5400000">
            <a:off x="4702615" y="3423425"/>
            <a:ext cx="529500" cy="2310900"/>
          </a:xfrm>
          <a:prstGeom prst="bentConnector3">
            <a:avLst>
              <a:gd fmla="val -4497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5" name="Google Shape;275;p24"/>
          <p:cNvSpPr/>
          <p:nvPr/>
        </p:nvSpPr>
        <p:spPr>
          <a:xfrm>
            <a:off x="2932575" y="2557825"/>
            <a:ext cx="1819200" cy="620400"/>
          </a:xfrm>
          <a:prstGeom prst="cube">
            <a:avLst>
              <a:gd fmla="val 975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Lập kế hoạch</a:t>
            </a:r>
            <a:endParaRPr sz="1800"/>
          </a:p>
        </p:txBody>
      </p:sp>
      <p:sp>
        <p:nvSpPr>
          <p:cNvPr id="278" name="Google Shape;278;p24"/>
          <p:cNvSpPr txBox="1"/>
          <p:nvPr/>
        </p:nvSpPr>
        <p:spPr>
          <a:xfrm>
            <a:off x="4585975" y="1006075"/>
            <a:ext cx="32613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Agile Development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Khả năng tiếp nhận thay đổi &amp; tính tuần tự</a:t>
            </a:r>
            <a:endParaRPr/>
          </a:p>
        </p:txBody>
      </p:sp>
      <p:sp>
        <p:nvSpPr>
          <p:cNvPr id="284" name="Google Shape;284;p25"/>
          <p:cNvSpPr txBox="1"/>
          <p:nvPr>
            <p:ph idx="1" type="body"/>
          </p:nvPr>
        </p:nvSpPr>
        <p:spPr>
          <a:xfrm>
            <a:off x="311700" y="950475"/>
            <a:ext cx="8520600" cy="565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Sử dụng đầu ra của mỗi pha SDLC như đầu vào của pha tiếp theo tạo thành 1 tiến trình tuần tự</a:t>
            </a:r>
            <a:endParaRPr i="1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Khả năng quay lại điều chỉnh pha trước đó thấp ≈ </a:t>
            </a:r>
            <a:r>
              <a:rPr lang="en-GB"/>
              <a:t>Tính tuần tự mạnh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Dựa trên k</a:t>
            </a:r>
            <a:r>
              <a:rPr lang="en-GB"/>
              <a:t>hả năng tiếp nhận các thay đổi</a:t>
            </a:r>
            <a:r>
              <a:rPr lang="en-GB"/>
              <a:t>, chúng ta có thể phân lớp các mô hình SDLC theo 3 lớp: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Phát triển theo cấu trúc (khả năng thay đổi thấp):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Mô hình thác nước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Mô hình song song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Phát triển nhanh (khả năng thay đổi trung bình)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Mô hình chia pha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Các mô hình nguyên mẫu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Phát triển linh hoạt (sẵn sàng thay đổi)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XP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SCRUM</a:t>
            </a:r>
            <a:endParaRPr/>
          </a:p>
        </p:txBody>
      </p:sp>
      <p:sp>
        <p:nvSpPr>
          <p:cNvPr id="285" name="Google Shape;285;p2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mô hình SDLC</a:t>
            </a:r>
            <a:endParaRPr baseline="-25000"/>
          </a:p>
        </p:txBody>
      </p:sp>
      <p:sp>
        <p:nvSpPr>
          <p:cNvPr id="291" name="Google Shape;291;p26"/>
          <p:cNvSpPr txBox="1"/>
          <p:nvPr>
            <p:ph idx="4294967295" type="body"/>
          </p:nvPr>
        </p:nvSpPr>
        <p:spPr>
          <a:xfrm>
            <a:off x="311700" y="927025"/>
            <a:ext cx="8520600" cy="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Các dự án thực tế nằm trên một miền liên tục tuy nhiên khả năng xuất hiện các thay đổi khác nhau</a:t>
            </a:r>
            <a:endParaRPr i="1"/>
          </a:p>
        </p:txBody>
      </p:sp>
      <p:sp>
        <p:nvSpPr>
          <p:cNvPr id="292" name="Google Shape;292;p26"/>
          <p:cNvSpPr/>
          <p:nvPr/>
        </p:nvSpPr>
        <p:spPr>
          <a:xfrm>
            <a:off x="508675" y="2427200"/>
            <a:ext cx="8323500" cy="3644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899375" y="2574110"/>
            <a:ext cx="75732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Lựa chọn mô hình SDLC dựa trên tính ổn định của </a:t>
            </a:r>
            <a:r>
              <a:rPr lang="en-GB" sz="1800"/>
              <a:t>các quyết định </a:t>
            </a:r>
            <a:r>
              <a:rPr lang="en-GB" sz="1800"/>
              <a:t>dự án</a:t>
            </a:r>
            <a:endParaRPr sz="1800"/>
          </a:p>
        </p:txBody>
      </p:sp>
      <p:sp>
        <p:nvSpPr>
          <p:cNvPr id="294" name="Google Shape;294;p26"/>
          <p:cNvSpPr/>
          <p:nvPr/>
        </p:nvSpPr>
        <p:spPr>
          <a:xfrm>
            <a:off x="672750" y="3054900"/>
            <a:ext cx="8014800" cy="809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672750" y="3995575"/>
            <a:ext cx="13536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SDLC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Tuần tự</a:t>
            </a:r>
            <a:endParaRPr sz="1800"/>
          </a:p>
        </p:txBody>
      </p:sp>
      <p:sp>
        <p:nvSpPr>
          <p:cNvPr id="296" name="Google Shape;296;p26"/>
          <p:cNvSpPr txBox="1"/>
          <p:nvPr/>
        </p:nvSpPr>
        <p:spPr>
          <a:xfrm>
            <a:off x="7343165" y="3958000"/>
            <a:ext cx="13536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SDLC</a:t>
            </a:r>
            <a:endParaRPr sz="1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Linh hoạt</a:t>
            </a:r>
            <a:endParaRPr sz="1800"/>
          </a:p>
        </p:txBody>
      </p:sp>
      <p:sp>
        <p:nvSpPr>
          <p:cNvPr id="297" name="Google Shape;297;p26"/>
          <p:cNvSpPr/>
          <p:nvPr/>
        </p:nvSpPr>
        <p:spPr>
          <a:xfrm>
            <a:off x="4087513" y="3875233"/>
            <a:ext cx="1164900" cy="1343100"/>
          </a:xfrm>
          <a:prstGeom prst="triangl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682450" y="3196000"/>
            <a:ext cx="1285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9999" lvl="0" marL="179999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Ổn định</a:t>
            </a:r>
            <a:endParaRPr sz="1800"/>
          </a:p>
        </p:txBody>
      </p:sp>
      <p:sp>
        <p:nvSpPr>
          <p:cNvPr id="299" name="Google Shape;299;p26"/>
          <p:cNvSpPr txBox="1"/>
          <p:nvPr/>
        </p:nvSpPr>
        <p:spPr>
          <a:xfrm>
            <a:off x="7295825" y="3119800"/>
            <a:ext cx="1353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Nhiều thay đổi </a:t>
            </a:r>
            <a:endParaRPr sz="1800"/>
          </a:p>
        </p:txBody>
      </p:sp>
      <p:sp>
        <p:nvSpPr>
          <p:cNvPr id="300" name="Google Shape;300;p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4025550" y="5214775"/>
            <a:ext cx="13536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SDLC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Nhanh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 txBox="1"/>
          <p:nvPr>
            <p:ph idx="4294967295" type="title"/>
          </p:nvPr>
        </p:nvSpPr>
        <p:spPr>
          <a:xfrm>
            <a:off x="311700" y="212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</a:t>
            </a:r>
            <a:r>
              <a:rPr lang="en-GB"/>
              <a:t> mô hình SDLC</a:t>
            </a:r>
            <a:endParaRPr baseline="-25000"/>
          </a:p>
        </p:txBody>
      </p:sp>
      <p:sp>
        <p:nvSpPr>
          <p:cNvPr id="307" name="Google Shape;307;p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308" name="Google Shape;308;p27"/>
          <p:cNvGraphicFramePr/>
          <p:nvPr/>
        </p:nvGraphicFramePr>
        <p:xfrm>
          <a:off x="262425" y="173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{3BD9C94B-5686-4416-A883-DD0BA2579C08}</a:tableStyleId>
              </a:tblPr>
              <a:tblGrid>
                <a:gridCol w="1761625"/>
                <a:gridCol w="708600"/>
                <a:gridCol w="705600"/>
                <a:gridCol w="970175"/>
                <a:gridCol w="1361375"/>
                <a:gridCol w="1290275"/>
                <a:gridCol w="973550"/>
                <a:gridCol w="924675"/>
              </a:tblGrid>
              <a:tr h="21607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Vấn đề/</a:t>
                      </a:r>
                      <a:r>
                        <a:rPr b="1" lang="en-GB" sz="1600"/>
                        <a:t>SDLC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Theo cấu trúc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Phát triển nhanh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Linh hoạt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  <a:tc hMerge="1"/>
              </a:tr>
              <a:tr h="216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Thác nước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Song song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Chia pha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Nguyên mẫu hệ thống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Nguyên mẫu thiết kế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XP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600"/>
                        <a:t>SCRUM</a:t>
                      </a:r>
                      <a:endParaRPr b="1" sz="1600"/>
                    </a:p>
                  </a:txBody>
                  <a:tcPr marT="36000" marB="36000" marR="36000" marL="36000">
                    <a:solidFill>
                      <a:srgbClr val="A4C2F4"/>
                    </a:solidFill>
                  </a:tcPr>
                </a:tc>
              </a:tr>
              <a:tr h="21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Y</a:t>
                      </a:r>
                      <a:r>
                        <a:rPr lang="en-GB" sz="1600"/>
                        <a:t>êu cầu không </a:t>
                      </a:r>
                      <a:r>
                        <a:rPr lang="en-GB" sz="1600"/>
                        <a:t>chắc chắn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Kém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Kém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</a:tr>
              <a:tr h="12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C</a:t>
                      </a:r>
                      <a:r>
                        <a:rPr lang="en-GB" sz="1600"/>
                        <a:t>ông nghệ mới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Kém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Kém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Kém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</a:tr>
              <a:tr h="12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Hệ thống phức tạp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Kém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</a:tr>
              <a:tr h="12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Hệ thống tin cậy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Kém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</a:tr>
              <a:tr h="12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Thời gian ngắn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Kém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</a:tr>
              <a:tr h="12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Theo sát kế hoạch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Kém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Kém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Tốt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GB" sz="1600"/>
                        <a:t>Tuyệt vời</a:t>
                      </a:r>
                      <a:endParaRPr sz="1600"/>
                    </a:p>
                  </a:txBody>
                  <a:tcPr marT="36000" marB="36000" marR="36000" marL="36000"/>
                </a:tc>
              </a:tr>
            </a:tbl>
          </a:graphicData>
        </a:graphic>
      </p:graphicFrame>
      <p:sp>
        <p:nvSpPr>
          <p:cNvPr id="309" name="Google Shape;309;p27"/>
          <p:cNvSpPr txBox="1"/>
          <p:nvPr/>
        </p:nvSpPr>
        <p:spPr>
          <a:xfrm>
            <a:off x="262275" y="1049025"/>
            <a:ext cx="8695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rgbClr val="666666"/>
                </a:solidFill>
              </a:rPr>
              <a:t>Các vấn đề dự án tiêu biểu và khả năng xử lý trong SDLC:</a:t>
            </a:r>
            <a:endParaRPr i="1" sz="24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8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Người phân tích hệ thống</a:t>
            </a:r>
            <a:endParaRPr/>
          </a:p>
        </p:txBody>
      </p:sp>
      <p:sp>
        <p:nvSpPr>
          <p:cNvPr id="315" name="Google Shape;315;p28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Người phân tích tìm cách nâng cao hiệu quả hoạt động của tổ chức</a:t>
            </a:r>
            <a:endParaRPr i="1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kỹ năng </a:t>
            </a:r>
            <a:r>
              <a:rPr lang="en-GB"/>
              <a:t>và kiến thức </a:t>
            </a:r>
            <a:r>
              <a:rPr lang="en-GB"/>
              <a:t>cần có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Kỹ thuật: Phải hiểu công nghệ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Kinh doanh: Phải hiểu các </a:t>
            </a:r>
            <a:r>
              <a:rPr lang="en-GB"/>
              <a:t>hoạt động kinh doanh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Phân tích: Phải có khả năng giải quyết vấn đề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Giao tiếp: Môi trường kỹ thuật &amp; phi kỹ thuật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Tương tác</a:t>
            </a:r>
            <a:r>
              <a:rPr lang="en-GB"/>
              <a:t>: Lãnh đạo &amp; quản lý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Quy tắc </a:t>
            </a:r>
            <a:r>
              <a:rPr lang="en-GB"/>
              <a:t>tác nghiệp</a:t>
            </a:r>
            <a:r>
              <a:rPr lang="en-GB"/>
              <a:t>: Giao dịch trung thực và bảo vệ thông tin mật</a:t>
            </a:r>
            <a:endParaRPr/>
          </a:p>
        </p:txBody>
      </p:sp>
      <p:sp>
        <p:nvSpPr>
          <p:cNvPr id="316" name="Google Shape;316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Người phân tích hệ thống: </a:t>
            </a:r>
            <a:r>
              <a:rPr lang="en-GB"/>
              <a:t>Các vai trò</a:t>
            </a:r>
            <a:endParaRPr baseline="-25000"/>
          </a:p>
        </p:txBody>
      </p:sp>
      <p:sp>
        <p:nvSpPr>
          <p:cNvPr id="322" name="Google Shape;322;p29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Phân tích nghiệp vụ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Tập trung vào các vấn đề </a:t>
            </a:r>
            <a:r>
              <a:rPr lang="en-GB"/>
              <a:t>nghiệp vụ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Phân tích hệ thống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Tập trung vào các vấn đề </a:t>
            </a:r>
            <a:r>
              <a:rPr lang="en-GB"/>
              <a:t>trong</a:t>
            </a:r>
            <a:r>
              <a:rPr lang="en-GB"/>
              <a:t> hệ thống thông tin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Phân tích hạ tầng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Tập trung vào các vấn đề kỹ thuật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Phân tích quản lý thay đổi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Tập trung vào các vấn đề nhân lực và quản lý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Quản lý dự án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Đảm bảo dự án hoàn thành đúng thời hạn, trong giới hạn kinh phí, </a:t>
            </a:r>
            <a:r>
              <a:rPr lang="en-GB"/>
              <a:t>và đáp ứng được các yêu cầu</a:t>
            </a:r>
            <a:endParaRPr/>
          </a:p>
        </p:txBody>
      </p:sp>
      <p:sp>
        <p:nvSpPr>
          <p:cNvPr id="323" name="Google Shape;323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329" name="Google Shape;329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0" name="Google Shape;330;p30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mô hình SDLC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mô hình phát triển linh hoạt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Quy trình thống nhất</a:t>
            </a:r>
            <a:endParaRPr/>
          </a:p>
        </p:txBody>
      </p:sp>
      <p:sp>
        <p:nvSpPr>
          <p:cNvPr id="331" name="Google Shape;331;p30"/>
          <p:cNvSpPr/>
          <p:nvPr/>
        </p:nvSpPr>
        <p:spPr>
          <a:xfrm>
            <a:off x="357900" y="1239429"/>
            <a:ext cx="6629700" cy="831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37" name="Google Shape;337;p31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Phát triển linh hoạt</a:t>
            </a:r>
            <a:endParaRPr/>
          </a:p>
        </p:txBody>
      </p:sp>
      <p:sp>
        <p:nvSpPr>
          <p:cNvPr id="338" name="Google Shape;338;p31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hướng dẫn phát triển hệ thống thông tin trong môi trường với các yêu cầu không chắc chắn, thường xuyên thay đổi.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giá trị trong phát triển linh hoạt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Ưu tiên đáp ứng thay đổi hơn giữ vững kế hoạch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Ưu tiên các cá nhân và tương tác hơn các quy trình và công cụ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Ưu tiên phần mềm tốt hơn tài liệu đầy đủ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Ưu tiên hợp tác với khách hàng hơn thỏa thuận hợp đồng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380125" y="4888775"/>
            <a:ext cx="83733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/>
              <a:t>[Manifesto for Agile Software Development]</a:t>
            </a:r>
            <a:endParaRPr sz="24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https://agilemanifesto.org/</a:t>
            </a:r>
            <a:endParaRPr sz="2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/>
          <p:nvPr>
            <p:ph idx="4294967295"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nguyên lý mô hình hóa Linh hoạt</a:t>
            </a:r>
            <a:endParaRPr/>
          </a:p>
        </p:txBody>
      </p:sp>
      <p:sp>
        <p:nvSpPr>
          <p:cNvPr id="345" name="Google Shape;345;p32"/>
          <p:cNvSpPr txBox="1"/>
          <p:nvPr>
            <p:ph idx="4294967295" type="body"/>
          </p:nvPr>
        </p:nvSpPr>
        <p:spPr>
          <a:xfrm>
            <a:off x="311700" y="874275"/>
            <a:ext cx="8642400" cy="13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Mô hình hóa linh hoạt / Agile Modeling (AM) (12 nguyên lý)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Định hướng chung: Chỉ xây dựng các mô hình cần thiết và hữu ích ở mức chi tiết vừa đủ.</a:t>
            </a:r>
            <a:endParaRPr/>
          </a:p>
        </p:txBody>
      </p:sp>
      <p:sp>
        <p:nvSpPr>
          <p:cNvPr id="346" name="Google Shape;346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370300" y="3210871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Phần mềm là mục tiêu chính </a:t>
            </a:r>
            <a:endParaRPr sz="1600"/>
          </a:p>
        </p:txBody>
      </p:sp>
      <p:sp>
        <p:nvSpPr>
          <p:cNvPr id="348" name="Google Shape;348;p32"/>
          <p:cNvSpPr/>
          <p:nvPr/>
        </p:nvSpPr>
        <p:spPr>
          <a:xfrm>
            <a:off x="370300" y="4682647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Phiên bản tiếp theo là mục tiêu thứ 2</a:t>
            </a:r>
            <a:endParaRPr sz="1600"/>
          </a:p>
        </p:txBody>
      </p:sp>
      <p:sp>
        <p:nvSpPr>
          <p:cNvPr id="349" name="Google Shape;349;p32"/>
          <p:cNvSpPr/>
          <p:nvPr/>
        </p:nvSpPr>
        <p:spPr>
          <a:xfrm>
            <a:off x="1727052" y="3956036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Đón nhận thay đổi, thay đổi từng bước</a:t>
            </a:r>
            <a:endParaRPr sz="1600"/>
          </a:p>
        </p:txBody>
      </p:sp>
      <p:sp>
        <p:nvSpPr>
          <p:cNvPr id="350" name="Google Shape;350;p32"/>
          <p:cNvSpPr/>
          <p:nvPr/>
        </p:nvSpPr>
        <p:spPr>
          <a:xfrm>
            <a:off x="1736802" y="2485050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Mô hình hóa tối thiểu</a:t>
            </a:r>
            <a:endParaRPr sz="1600"/>
          </a:p>
        </p:txBody>
      </p:sp>
      <p:sp>
        <p:nvSpPr>
          <p:cNvPr id="351" name="Google Shape;351;p32"/>
          <p:cNvSpPr/>
          <p:nvPr/>
        </p:nvSpPr>
        <p:spPr>
          <a:xfrm>
            <a:off x="3093554" y="3229426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Mô hình hóa có mục đích</a:t>
            </a:r>
            <a:endParaRPr sz="1600"/>
          </a:p>
        </p:txBody>
      </p:sp>
      <p:sp>
        <p:nvSpPr>
          <p:cNvPr id="352" name="Google Shape;352;p32"/>
          <p:cNvSpPr/>
          <p:nvPr/>
        </p:nvSpPr>
        <p:spPr>
          <a:xfrm>
            <a:off x="3084599" y="4700412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Tạo nhiều mô hình</a:t>
            </a:r>
            <a:endParaRPr sz="1600"/>
          </a:p>
        </p:txBody>
      </p:sp>
      <p:sp>
        <p:nvSpPr>
          <p:cNvPr id="353" name="Google Shape;353;p32"/>
          <p:cNvSpPr/>
          <p:nvPr/>
        </p:nvSpPr>
        <p:spPr>
          <a:xfrm>
            <a:off x="4459260" y="3973802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0" spcFirstLastPara="1" rIns="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Tập trung vào nội dung chứ không phải hình thức</a:t>
            </a:r>
            <a:endParaRPr sz="1600"/>
          </a:p>
        </p:txBody>
      </p:sp>
      <p:sp>
        <p:nvSpPr>
          <p:cNvPr id="354" name="Google Shape;354;p32"/>
          <p:cNvSpPr/>
          <p:nvPr/>
        </p:nvSpPr>
        <p:spPr>
          <a:xfrm>
            <a:off x="4459251" y="2502828"/>
            <a:ext cx="1730695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0" spcFirstLastPara="1" rIns="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Mô hình chất lượng, tiếp nhận phản hồi</a:t>
            </a:r>
            <a:endParaRPr sz="1600"/>
          </a:p>
        </p:txBody>
      </p:sp>
      <p:sp>
        <p:nvSpPr>
          <p:cNvPr id="355" name="Google Shape;355;p32"/>
          <p:cNvSpPr/>
          <p:nvPr/>
        </p:nvSpPr>
        <p:spPr>
          <a:xfrm>
            <a:off x="5824966" y="3238309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Trao đổi và học hỏi lẫn nhau</a:t>
            </a:r>
            <a:endParaRPr sz="1600"/>
          </a:p>
        </p:txBody>
      </p:sp>
      <p:sp>
        <p:nvSpPr>
          <p:cNvPr id="356" name="Google Shape;356;p32"/>
          <p:cNvSpPr/>
          <p:nvPr/>
        </p:nvSpPr>
        <p:spPr>
          <a:xfrm>
            <a:off x="5824966" y="4700412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Hiểu mô hình và cách sử dụng chúng</a:t>
            </a:r>
            <a:endParaRPr sz="1600"/>
          </a:p>
        </p:txBody>
      </p:sp>
      <p:sp>
        <p:nvSpPr>
          <p:cNvPr id="357" name="Google Shape;357;p32"/>
          <p:cNvSpPr/>
          <p:nvPr/>
        </p:nvSpPr>
        <p:spPr>
          <a:xfrm>
            <a:off x="7190673" y="3973802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Cực đại hóa tỉ lệ lợi nhuận (ROI) của cổ đông</a:t>
            </a:r>
            <a:endParaRPr sz="1600"/>
          </a:p>
        </p:txBody>
      </p:sp>
      <p:sp>
        <p:nvSpPr>
          <p:cNvPr id="358" name="Google Shape;358;p32"/>
          <p:cNvSpPr/>
          <p:nvPr/>
        </p:nvSpPr>
        <p:spPr>
          <a:xfrm>
            <a:off x="7181718" y="2511698"/>
            <a:ext cx="1700227" cy="1468213"/>
          </a:xfrm>
          <a:prstGeom prst="flowChartPrepa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000" lIns="18000" spcFirstLastPara="1" rIns="18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Thích nghi với các nhu cầu dự án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4" name="Google Shape;364;p33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nguyên lý Mô hình hóa Linh hoạt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Phần mềm là mục tiêu chính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Không để bị phân tán bởi tài liệu hoặc mô hình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Phiên bản tiếp theo là mục tiêu thứ 2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Quan tâm tới phiên bản tiếp theo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Cực tiểu hóa hoạt động mô hình hóa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Chỉ tạo các mô hình giúp dự án tiến triển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Mô hình hóa có mục đích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Mô hình hóa để hiểu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Mô hình hóa để trao đổi thông tin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Tạo nhiều mô hình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Phân tích vấn đề từ nhiều góc độ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Tạo các mô hình chất lượng cao và lấy phản hồi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1" name="Google Shape;371;p34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nguyên lý </a:t>
            </a:r>
            <a:r>
              <a:rPr lang="en-GB"/>
              <a:t>Mô hình hóa </a:t>
            </a:r>
            <a:r>
              <a:rPr lang="en-GB"/>
              <a:t>Linh hoạt</a:t>
            </a:r>
            <a:r>
              <a:rPr baseline="-25000" lang="en-GB"/>
              <a:t>(3)</a:t>
            </a:r>
            <a:endParaRPr baseline="-25000"/>
          </a:p>
        </p:txBody>
      </p:sp>
      <p:sp>
        <p:nvSpPr>
          <p:cNvPr id="372" name="Google Shape;372;p34"/>
          <p:cNvSpPr txBox="1"/>
          <p:nvPr>
            <p:ph idx="1" type="body"/>
          </p:nvPr>
        </p:nvSpPr>
        <p:spPr>
          <a:xfrm>
            <a:off x="311700" y="950475"/>
            <a:ext cx="8520600" cy="55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Tập trung vào nội dung chứ không phải hình thức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mô hình vẽ bằng tay đôi khi cũng tốt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Luôn tập trung vào nhu cầu của cổ đông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Học hỏi lẫn nhau qua giao tiếp cởi mở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Hiểu mô hình và cách sử dụng chúng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Thích nghi với các nhu cầu dự án cụ thể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Cực đại hóa tỉ lệ lợi nhuận (ROI) của cổ đông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Lập trình mạo hiểm</a:t>
            </a:r>
            <a:endParaRPr/>
          </a:p>
        </p:txBody>
      </p:sp>
      <p:sp>
        <p:nvSpPr>
          <p:cNvPr id="378" name="Google Shape;378;p35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Lập trình mạo hiểm / Extreme Programming (XP)</a:t>
            </a:r>
            <a:endParaRPr i="1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Sử dụng các kỹ thuật phát triển phần mềm tốt nhất và mở rộng chúng 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Tập chung chủ yếu vào các kỹ thuật đã được kiểm chứng trong thực tế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Kết hợp chúng theo cách hợp lý để có kết quả tốt nhất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giá trị cốt lõi của XP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Giao tiếp / Communication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Đơn giản / Simplicity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Phản hồi / Feedback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Can đảm / Courage</a:t>
            </a:r>
            <a:endParaRPr/>
          </a:p>
        </p:txBody>
      </p:sp>
      <p:sp>
        <p:nvSpPr>
          <p:cNvPr id="379" name="Google Shape;379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 txBox="1"/>
          <p:nvPr>
            <p:ph idx="4294967295"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giá trị cốt lõi và thông lệ của XP</a:t>
            </a:r>
            <a:endParaRPr/>
          </a:p>
        </p:txBody>
      </p:sp>
      <p:sp>
        <p:nvSpPr>
          <p:cNvPr id="385" name="Google Shape;385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86" name="Google Shape;386;p36"/>
          <p:cNvSpPr/>
          <p:nvPr/>
        </p:nvSpPr>
        <p:spPr>
          <a:xfrm>
            <a:off x="3380263" y="1700710"/>
            <a:ext cx="770100" cy="77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Đơn giản</a:t>
            </a:r>
            <a:endParaRPr/>
          </a:p>
        </p:txBody>
      </p:sp>
      <p:sp>
        <p:nvSpPr>
          <p:cNvPr id="387" name="Google Shape;387;p36"/>
          <p:cNvSpPr/>
          <p:nvPr/>
        </p:nvSpPr>
        <p:spPr>
          <a:xfrm>
            <a:off x="4186945" y="816275"/>
            <a:ext cx="770100" cy="77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Giao tiếp</a:t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4993628" y="1700710"/>
            <a:ext cx="770100" cy="77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Phản hồi</a:t>
            </a:r>
            <a:endParaRPr/>
          </a:p>
        </p:txBody>
      </p:sp>
      <p:sp>
        <p:nvSpPr>
          <p:cNvPr id="389" name="Google Shape;389;p36"/>
          <p:cNvSpPr/>
          <p:nvPr/>
        </p:nvSpPr>
        <p:spPr>
          <a:xfrm>
            <a:off x="4186945" y="2517112"/>
            <a:ext cx="770100" cy="779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đảm</a:t>
            </a:r>
            <a:endParaRPr/>
          </a:p>
        </p:txBody>
      </p:sp>
      <p:sp>
        <p:nvSpPr>
          <p:cNvPr id="390" name="Google Shape;390;p36"/>
          <p:cNvSpPr txBox="1"/>
          <p:nvPr/>
        </p:nvSpPr>
        <p:spPr>
          <a:xfrm>
            <a:off x="4150422" y="1661964"/>
            <a:ext cx="843300" cy="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4000" spcFirstLastPara="1" rIns="540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giá trị cốt lõi của XP</a:t>
            </a:r>
            <a:endParaRPr/>
          </a:p>
        </p:txBody>
      </p:sp>
      <p:cxnSp>
        <p:nvCxnSpPr>
          <p:cNvPr id="391" name="Google Shape;391;p36"/>
          <p:cNvCxnSpPr>
            <a:stCxn id="386" idx="0"/>
            <a:endCxn id="387" idx="2"/>
          </p:cNvCxnSpPr>
          <p:nvPr/>
        </p:nvCxnSpPr>
        <p:spPr>
          <a:xfrm rot="-5400000">
            <a:off x="3728713" y="1242610"/>
            <a:ext cx="494700" cy="421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36"/>
          <p:cNvCxnSpPr>
            <a:stCxn id="387" idx="6"/>
            <a:endCxn id="388" idx="0"/>
          </p:cNvCxnSpPr>
          <p:nvPr/>
        </p:nvCxnSpPr>
        <p:spPr>
          <a:xfrm>
            <a:off x="4957045" y="1205975"/>
            <a:ext cx="421500" cy="494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6"/>
          <p:cNvCxnSpPr>
            <a:stCxn id="386" idx="4"/>
            <a:endCxn id="389" idx="2"/>
          </p:cNvCxnSpPr>
          <p:nvPr/>
        </p:nvCxnSpPr>
        <p:spPr>
          <a:xfrm flipH="1" rot="-5400000">
            <a:off x="3762763" y="2482660"/>
            <a:ext cx="426600" cy="421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36"/>
          <p:cNvCxnSpPr>
            <a:stCxn id="388" idx="4"/>
            <a:endCxn id="389" idx="6"/>
          </p:cNvCxnSpPr>
          <p:nvPr/>
        </p:nvCxnSpPr>
        <p:spPr>
          <a:xfrm rot="5400000">
            <a:off x="4954628" y="2482660"/>
            <a:ext cx="426600" cy="421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95" name="Google Shape;395;p36"/>
          <p:cNvGraphicFramePr/>
          <p:nvPr/>
        </p:nvGraphicFramePr>
        <p:xfrm>
          <a:off x="952500" y="393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{3BD9C94B-5686-4416-A883-DD0BA2579C08}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/>
                        <a:t>Các thông lệ XP</a:t>
                      </a:r>
                      <a:endParaRPr b="1" sz="18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Lập kế hoạch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Kiểm thử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Lập trình theo cặp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Thiết kế đơn giản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Tái cấu trúc mã nguồn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Đồng sở hữu mã nguồn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Tích hợp liên tục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Khách hàng thường trực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Hình tượng hệ thống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Phiên bản nhỏ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Tuần làm việc 40 giờ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Quy chuẩn mã nguồn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96" name="Google Shape;396;p36"/>
          <p:cNvSpPr/>
          <p:nvPr/>
        </p:nvSpPr>
        <p:spPr>
          <a:xfrm>
            <a:off x="4394850" y="3370075"/>
            <a:ext cx="354300" cy="524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7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thông lệ lập trình mạo hiểm</a:t>
            </a:r>
            <a:endParaRPr/>
          </a:p>
        </p:txBody>
      </p:sp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Lập kế hoạch - Dựa trên các câu chuyện người dùng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Kiểm thử - Kiểm thử kỹ lưỡng tất cả các bước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Lập trình theo cặp - Theo dõi, kiểm tra, cân đối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Thiết kế đơn giản - Các nguyên lý mô hình hóa Linh hoạt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Tái cấu trúc - Viết lại mã nguồn theo cách tốt hơn (nếu có) cùng với việc phát triển các tính năng mới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Đồng sở hữu mã nguồn - Bất kỳ ai cũng có thể kiểm tra và làm mã nguồn tốt hơn.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Tích hợp liên tục - Phần mềm được phát triển </a:t>
            </a:r>
            <a:r>
              <a:rPr lang="en-GB"/>
              <a:t>liên tục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Khách hàng thường trực - Khách hàng tham gia vào tiến trình phát triển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Hình tượng hệ thống - Quen thuộc với các thành viên trong dự án và mô phỏng hệ thống thực tế</a:t>
            </a:r>
            <a:endParaRPr/>
          </a:p>
        </p:txBody>
      </p:sp>
      <p:sp>
        <p:nvSpPr>
          <p:cNvPr id="403" name="Google Shape;403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8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thông lệ lập trình mạo hiểm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409" name="Google Shape;409;p38"/>
          <p:cNvSpPr txBox="1"/>
          <p:nvPr>
            <p:ph idx="1" type="body"/>
          </p:nvPr>
        </p:nvSpPr>
        <p:spPr>
          <a:xfrm>
            <a:off x="311700" y="904825"/>
            <a:ext cx="8520600" cy="51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Phiên bản nhỏ - Thường xuyên phát hành các phiên bản mới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Tuần làm việc 40 giờ - Không làm quá tải người lập trình.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Quy chuẩn mã nguồn - Tương thích với các quy chuẩn mã nguồn</a:t>
            </a:r>
            <a:endParaRPr/>
          </a:p>
        </p:txBody>
      </p:sp>
      <p:sp>
        <p:nvSpPr>
          <p:cNvPr id="410" name="Google Shape;410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6" name="Google Shape;416;p39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Mô hình XP</a:t>
            </a:r>
            <a:endParaRPr/>
          </a:p>
        </p:txBody>
      </p:sp>
      <p:sp>
        <p:nvSpPr>
          <p:cNvPr id="417" name="Google Shape;417;p39"/>
          <p:cNvSpPr txBox="1"/>
          <p:nvPr>
            <p:ph idx="1" type="body"/>
          </p:nvPr>
        </p:nvSpPr>
        <p:spPr>
          <a:xfrm>
            <a:off x="311700" y="950475"/>
            <a:ext cx="8520600" cy="51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Mô hình 3 tầng (3 vòng xuyến)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Vòng xuyến ngoài cùng - Biên soạn các câu chuyện người dùng và xác định các kiểm thử tiếp nhận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Tầng hệ thống / System level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Vòng xuyến ở giữa - </a:t>
            </a:r>
            <a:r>
              <a:rPr lang="en-GB"/>
              <a:t>Xây dựng</a:t>
            </a:r>
            <a:r>
              <a:rPr lang="en-GB"/>
              <a:t> kiểm thử và lập kế hoạch tổng thể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Tầng xuất / Release level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Vòng xuyến ở trong - Các vòng lặp lập trình và kiểm thử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Tầng lặp / Iteration level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3" name="Google Shape;423;p40"/>
          <p:cNvSpPr/>
          <p:nvPr/>
        </p:nvSpPr>
        <p:spPr>
          <a:xfrm>
            <a:off x="2581800" y="1009850"/>
            <a:ext cx="5047200" cy="5047200"/>
          </a:xfrm>
          <a:prstGeom prst="ellipse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0"/>
          <p:cNvSpPr txBox="1"/>
          <p:nvPr>
            <p:ph idx="4294967295"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Mô hình XP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425" name="Google Shape;425;p40"/>
          <p:cNvSpPr/>
          <p:nvPr/>
        </p:nvSpPr>
        <p:spPr>
          <a:xfrm>
            <a:off x="3420309" y="1890402"/>
            <a:ext cx="3370200" cy="3370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0"/>
          <p:cNvSpPr/>
          <p:nvPr/>
        </p:nvSpPr>
        <p:spPr>
          <a:xfrm>
            <a:off x="4149591" y="2619690"/>
            <a:ext cx="1911600" cy="19116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40"/>
          <p:cNvSpPr/>
          <p:nvPr/>
        </p:nvSpPr>
        <p:spPr>
          <a:xfrm>
            <a:off x="4669500" y="3139600"/>
            <a:ext cx="871800" cy="87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0"/>
          <p:cNvSpPr/>
          <p:nvPr/>
        </p:nvSpPr>
        <p:spPr>
          <a:xfrm>
            <a:off x="1975425" y="4528050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0"/>
          <p:cNvSpPr txBox="1"/>
          <p:nvPr/>
        </p:nvSpPr>
        <p:spPr>
          <a:xfrm>
            <a:off x="1294850" y="4267375"/>
            <a:ext cx="8718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Bắt đầu</a:t>
            </a:r>
            <a:endParaRPr sz="1600"/>
          </a:p>
        </p:txBody>
      </p:sp>
      <p:sp>
        <p:nvSpPr>
          <p:cNvPr id="430" name="Google Shape;430;p40"/>
          <p:cNvSpPr txBox="1"/>
          <p:nvPr/>
        </p:nvSpPr>
        <p:spPr>
          <a:xfrm rot="-5000220">
            <a:off x="2202478" y="3207497"/>
            <a:ext cx="1693539" cy="528292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Soạn câu chuyện người dùng</a:t>
            </a:r>
            <a:endParaRPr/>
          </a:p>
        </p:txBody>
      </p:sp>
      <p:sp>
        <p:nvSpPr>
          <p:cNvPr id="431" name="Google Shape;431;p40"/>
          <p:cNvSpPr txBox="1"/>
          <p:nvPr/>
        </p:nvSpPr>
        <p:spPr>
          <a:xfrm rot="-2700465">
            <a:off x="2983040" y="1728218"/>
            <a:ext cx="1567019" cy="528209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Tạo hình tượng hệ thống</a:t>
            </a:r>
            <a:endParaRPr/>
          </a:p>
        </p:txBody>
      </p:sp>
      <p:sp>
        <p:nvSpPr>
          <p:cNvPr id="432" name="Google Shape;432;p40"/>
          <p:cNvSpPr txBox="1"/>
          <p:nvPr/>
        </p:nvSpPr>
        <p:spPr>
          <a:xfrm rot="235149">
            <a:off x="4659378" y="1271008"/>
            <a:ext cx="1566964" cy="528348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Tạo </a:t>
            </a:r>
            <a:r>
              <a:rPr lang="en-GB"/>
              <a:t>kịch bản kiểm thử tiếp nhận</a:t>
            </a:r>
            <a:endParaRPr/>
          </a:p>
        </p:txBody>
      </p:sp>
      <p:sp>
        <p:nvSpPr>
          <p:cNvPr id="433" name="Google Shape;433;p40"/>
          <p:cNvSpPr txBox="1"/>
          <p:nvPr/>
        </p:nvSpPr>
        <p:spPr>
          <a:xfrm rot="3714838">
            <a:off x="6107259" y="2337829"/>
            <a:ext cx="1566918" cy="528388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Xuất kế hoạch</a:t>
            </a:r>
            <a:endParaRPr/>
          </a:p>
        </p:txBody>
      </p:sp>
      <p:sp>
        <p:nvSpPr>
          <p:cNvPr id="434" name="Google Shape;434;p40"/>
          <p:cNvSpPr txBox="1"/>
          <p:nvPr/>
        </p:nvSpPr>
        <p:spPr>
          <a:xfrm rot="-2700000">
            <a:off x="3599458" y="2416745"/>
            <a:ext cx="1090783" cy="528209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Kiểm thử tiếp nhận</a:t>
            </a:r>
            <a:endParaRPr/>
          </a:p>
        </p:txBody>
      </p:sp>
      <p:sp>
        <p:nvSpPr>
          <p:cNvPr id="435" name="Google Shape;435;p40"/>
          <p:cNvSpPr txBox="1"/>
          <p:nvPr/>
        </p:nvSpPr>
        <p:spPr>
          <a:xfrm rot="475079">
            <a:off x="4755515" y="1909241"/>
            <a:ext cx="1180353" cy="52825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bắt đầu phiên bản mới</a:t>
            </a:r>
            <a:endParaRPr sz="1200"/>
          </a:p>
        </p:txBody>
      </p:sp>
      <p:sp>
        <p:nvSpPr>
          <p:cNvPr id="436" name="Google Shape;436;p40"/>
          <p:cNvSpPr txBox="1"/>
          <p:nvPr/>
        </p:nvSpPr>
        <p:spPr>
          <a:xfrm rot="3755359">
            <a:off x="5766433" y="2780919"/>
            <a:ext cx="1090873" cy="52853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Kế hoạch vòng lặp </a:t>
            </a:r>
            <a:endParaRPr/>
          </a:p>
        </p:txBody>
      </p:sp>
      <p:sp>
        <p:nvSpPr>
          <p:cNvPr id="437" name="Google Shape;437;p40"/>
          <p:cNvSpPr txBox="1"/>
          <p:nvPr/>
        </p:nvSpPr>
        <p:spPr>
          <a:xfrm rot="3246911">
            <a:off x="4035029" y="3641290"/>
            <a:ext cx="886451" cy="527901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Kiểm thử tích hợp</a:t>
            </a:r>
            <a:endParaRPr sz="1200"/>
          </a:p>
        </p:txBody>
      </p:sp>
      <p:sp>
        <p:nvSpPr>
          <p:cNvPr id="438" name="Google Shape;438;p40"/>
          <p:cNvSpPr txBox="1"/>
          <p:nvPr/>
        </p:nvSpPr>
        <p:spPr>
          <a:xfrm rot="475079">
            <a:off x="4619883" y="2704776"/>
            <a:ext cx="1180353" cy="528254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/>
              <a:t>bắt đầu </a:t>
            </a:r>
            <a:r>
              <a:rPr lang="en-GB" sz="800"/>
              <a:t>vòng lặp </a:t>
            </a:r>
            <a:r>
              <a:rPr lang="en-GB" sz="800"/>
              <a:t>mới</a:t>
            </a:r>
            <a:endParaRPr sz="800"/>
          </a:p>
        </p:txBody>
      </p:sp>
      <p:sp>
        <p:nvSpPr>
          <p:cNvPr id="439" name="Google Shape;439;p40"/>
          <p:cNvSpPr txBox="1"/>
          <p:nvPr/>
        </p:nvSpPr>
        <p:spPr>
          <a:xfrm rot="-404698">
            <a:off x="4797059" y="3954356"/>
            <a:ext cx="886335" cy="528029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Kiểm thử </a:t>
            </a:r>
            <a:r>
              <a:rPr lang="en-GB" sz="1200"/>
              <a:t>đơn vị</a:t>
            </a:r>
            <a:endParaRPr sz="1200"/>
          </a:p>
        </p:txBody>
      </p:sp>
      <p:sp>
        <p:nvSpPr>
          <p:cNvPr id="440" name="Google Shape;440;p40"/>
          <p:cNvSpPr txBox="1"/>
          <p:nvPr/>
        </p:nvSpPr>
        <p:spPr>
          <a:xfrm rot="-2991941">
            <a:off x="5463290" y="3421843"/>
            <a:ext cx="662755" cy="528393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Lập trình</a:t>
            </a:r>
            <a:endParaRPr sz="1200"/>
          </a:p>
        </p:txBody>
      </p:sp>
      <p:sp>
        <p:nvSpPr>
          <p:cNvPr id="441" name="Google Shape;441;p40"/>
          <p:cNvSpPr/>
          <p:nvPr/>
        </p:nvSpPr>
        <p:spPr>
          <a:xfrm>
            <a:off x="3042225" y="3994650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2" name="Google Shape;442;p40"/>
          <p:cNvCxnSpPr>
            <a:endCxn id="441" idx="4"/>
          </p:cNvCxnSpPr>
          <p:nvPr/>
        </p:nvCxnSpPr>
        <p:spPr>
          <a:xfrm flipH="1" rot="10800000">
            <a:off x="2089875" y="4128750"/>
            <a:ext cx="1019400" cy="5139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40"/>
          <p:cNvCxnSpPr/>
          <p:nvPr/>
        </p:nvCxnSpPr>
        <p:spPr>
          <a:xfrm flipH="1" rot="10800000">
            <a:off x="3216225" y="2488675"/>
            <a:ext cx="108900" cy="22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40"/>
          <p:cNvCxnSpPr/>
          <p:nvPr/>
        </p:nvCxnSpPr>
        <p:spPr>
          <a:xfrm flipH="1" rot="10800000">
            <a:off x="4348050" y="1499275"/>
            <a:ext cx="259800" cy="12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40"/>
          <p:cNvCxnSpPr/>
          <p:nvPr/>
        </p:nvCxnSpPr>
        <p:spPr>
          <a:xfrm>
            <a:off x="6234425" y="1725575"/>
            <a:ext cx="352200" cy="23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40"/>
          <p:cNvSpPr/>
          <p:nvPr/>
        </p:nvSpPr>
        <p:spPr>
          <a:xfrm>
            <a:off x="4185225" y="3537450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0"/>
          <p:cNvSpPr/>
          <p:nvPr/>
        </p:nvSpPr>
        <p:spPr>
          <a:xfrm>
            <a:off x="3744793" y="2902698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0"/>
          <p:cNvSpPr/>
          <p:nvPr/>
        </p:nvSpPr>
        <p:spPr>
          <a:xfrm>
            <a:off x="4378799" y="2360169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0"/>
          <p:cNvSpPr/>
          <p:nvPr/>
        </p:nvSpPr>
        <p:spPr>
          <a:xfrm>
            <a:off x="6008598" y="2544968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0"/>
          <p:cNvSpPr/>
          <p:nvPr/>
        </p:nvSpPr>
        <p:spPr>
          <a:xfrm>
            <a:off x="4896922" y="641850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0"/>
          <p:cNvSpPr txBox="1"/>
          <p:nvPr/>
        </p:nvSpPr>
        <p:spPr>
          <a:xfrm>
            <a:off x="4647650" y="457375"/>
            <a:ext cx="8718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4000" lIns="54000" spcFirstLastPara="1" rIns="54000" wrap="square" tIns="5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Kết thúc</a:t>
            </a:r>
            <a:endParaRPr sz="1600"/>
          </a:p>
        </p:txBody>
      </p:sp>
      <p:cxnSp>
        <p:nvCxnSpPr>
          <p:cNvPr id="452" name="Google Shape;452;p40"/>
          <p:cNvCxnSpPr>
            <a:stCxn id="446" idx="2"/>
            <a:endCxn id="447" idx="4"/>
          </p:cNvCxnSpPr>
          <p:nvPr/>
        </p:nvCxnSpPr>
        <p:spPr>
          <a:xfrm rot="10800000">
            <a:off x="3811725" y="3036900"/>
            <a:ext cx="373500" cy="5676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40"/>
          <p:cNvCxnSpPr>
            <a:stCxn id="448" idx="0"/>
            <a:endCxn id="449" idx="0"/>
          </p:cNvCxnSpPr>
          <p:nvPr/>
        </p:nvCxnSpPr>
        <p:spPr>
          <a:xfrm flipH="1" rot="-5400000">
            <a:off x="5168399" y="1637619"/>
            <a:ext cx="184800" cy="1629900"/>
          </a:xfrm>
          <a:prstGeom prst="curvedConnector3">
            <a:avLst>
              <a:gd fmla="val -12885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4" name="Google Shape;454;p40"/>
          <p:cNvSpPr/>
          <p:nvPr/>
        </p:nvSpPr>
        <p:spPr>
          <a:xfrm>
            <a:off x="5785425" y="3385050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5" name="Google Shape;455;p40"/>
          <p:cNvCxnSpPr>
            <a:stCxn id="446" idx="0"/>
            <a:endCxn id="454" idx="0"/>
          </p:cNvCxnSpPr>
          <p:nvPr/>
        </p:nvCxnSpPr>
        <p:spPr>
          <a:xfrm rot="-5400000">
            <a:off x="4976175" y="2661150"/>
            <a:ext cx="152400" cy="1600200"/>
          </a:xfrm>
          <a:prstGeom prst="curvedConnector3">
            <a:avLst>
              <a:gd fmla="val 36920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6" name="Google Shape;456;p40"/>
          <p:cNvSpPr/>
          <p:nvPr/>
        </p:nvSpPr>
        <p:spPr>
          <a:xfrm>
            <a:off x="7227798" y="3137800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7" name="Google Shape;457;p40"/>
          <p:cNvCxnSpPr>
            <a:stCxn id="456" idx="2"/>
            <a:endCxn id="449" idx="7"/>
          </p:cNvCxnSpPr>
          <p:nvPr/>
        </p:nvCxnSpPr>
        <p:spPr>
          <a:xfrm rot="10800000">
            <a:off x="6123198" y="2564650"/>
            <a:ext cx="1104600" cy="640200"/>
          </a:xfrm>
          <a:prstGeom prst="curvedConnector4">
            <a:avLst>
              <a:gd fmla="val 49117" name="adj1"/>
              <a:gd fmla="val 14027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40"/>
          <p:cNvCxnSpPr/>
          <p:nvPr/>
        </p:nvCxnSpPr>
        <p:spPr>
          <a:xfrm flipH="1">
            <a:off x="5605725" y="3863475"/>
            <a:ext cx="108900" cy="23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40"/>
          <p:cNvCxnSpPr/>
          <p:nvPr/>
        </p:nvCxnSpPr>
        <p:spPr>
          <a:xfrm rot="10800000">
            <a:off x="4725250" y="4165369"/>
            <a:ext cx="201300" cy="10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40"/>
          <p:cNvSpPr/>
          <p:nvPr/>
        </p:nvSpPr>
        <p:spPr>
          <a:xfrm>
            <a:off x="6465798" y="3383168"/>
            <a:ext cx="134100" cy="1341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61" name="Google Shape;461;p40"/>
          <p:cNvCxnSpPr>
            <a:stCxn id="460" idx="3"/>
            <a:endCxn id="454" idx="6"/>
          </p:cNvCxnSpPr>
          <p:nvPr/>
        </p:nvCxnSpPr>
        <p:spPr>
          <a:xfrm flipH="1" rot="5400000">
            <a:off x="6179737" y="3191929"/>
            <a:ext cx="45600" cy="565800"/>
          </a:xfrm>
          <a:prstGeom prst="curvedConnector4">
            <a:avLst>
              <a:gd fmla="val -565271" name="adj1"/>
              <a:gd fmla="val 51745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2" name="Google Shape;462;p40"/>
          <p:cNvCxnSpPr>
            <a:stCxn id="448" idx="0"/>
          </p:cNvCxnSpPr>
          <p:nvPr/>
        </p:nvCxnSpPr>
        <p:spPr>
          <a:xfrm rot="-5400000">
            <a:off x="3903749" y="1362369"/>
            <a:ext cx="1539900" cy="4557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463" name="Google Shape;463;p40"/>
          <p:cNvSpPr/>
          <p:nvPr/>
        </p:nvSpPr>
        <p:spPr>
          <a:xfrm>
            <a:off x="1512825" y="5127950"/>
            <a:ext cx="871800" cy="513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Tầng hệ thống</a:t>
            </a:r>
            <a:endParaRPr/>
          </a:p>
        </p:txBody>
      </p:sp>
      <p:cxnSp>
        <p:nvCxnSpPr>
          <p:cNvPr id="464" name="Google Shape;464;p40"/>
          <p:cNvCxnSpPr>
            <a:stCxn id="463" idx="3"/>
          </p:cNvCxnSpPr>
          <p:nvPr/>
        </p:nvCxnSpPr>
        <p:spPr>
          <a:xfrm flipH="1" rot="10800000">
            <a:off x="2384625" y="4953500"/>
            <a:ext cx="806400" cy="43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40"/>
          <p:cNvSpPr/>
          <p:nvPr/>
        </p:nvSpPr>
        <p:spPr>
          <a:xfrm>
            <a:off x="3494025" y="6042350"/>
            <a:ext cx="871800" cy="513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Tầng </a:t>
            </a:r>
            <a:r>
              <a:rPr lang="en-GB"/>
              <a:t>lặp</a:t>
            </a:r>
            <a:endParaRPr/>
          </a:p>
        </p:txBody>
      </p:sp>
      <p:sp>
        <p:nvSpPr>
          <p:cNvPr id="466" name="Google Shape;466;p40"/>
          <p:cNvSpPr/>
          <p:nvPr/>
        </p:nvSpPr>
        <p:spPr>
          <a:xfrm>
            <a:off x="2503425" y="5585150"/>
            <a:ext cx="871800" cy="5139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Tầng </a:t>
            </a:r>
            <a:r>
              <a:rPr lang="en-GB"/>
              <a:t>xuất</a:t>
            </a:r>
            <a:endParaRPr/>
          </a:p>
        </p:txBody>
      </p:sp>
      <p:cxnSp>
        <p:nvCxnSpPr>
          <p:cNvPr id="467" name="Google Shape;467;p40"/>
          <p:cNvCxnSpPr>
            <a:stCxn id="466" idx="3"/>
          </p:cNvCxnSpPr>
          <p:nvPr/>
        </p:nvCxnSpPr>
        <p:spPr>
          <a:xfrm flipH="1" rot="10800000">
            <a:off x="3375225" y="4886300"/>
            <a:ext cx="1048200" cy="95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" name="Google Shape;468;p40"/>
          <p:cNvCxnSpPr>
            <a:stCxn id="465" idx="0"/>
          </p:cNvCxnSpPr>
          <p:nvPr/>
        </p:nvCxnSpPr>
        <p:spPr>
          <a:xfrm flipH="1" rot="10800000">
            <a:off x="3929925" y="4450250"/>
            <a:ext cx="1021800" cy="15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40"/>
          <p:cNvSpPr/>
          <p:nvPr/>
        </p:nvSpPr>
        <p:spPr>
          <a:xfrm>
            <a:off x="6531025" y="744075"/>
            <a:ext cx="1781700" cy="563700"/>
          </a:xfrm>
          <a:prstGeom prst="foldedCorner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Bước chuyển sau nhiều vòng lặp</a:t>
            </a:r>
            <a:endParaRPr/>
          </a:p>
        </p:txBody>
      </p:sp>
      <p:cxnSp>
        <p:nvCxnSpPr>
          <p:cNvPr id="470" name="Google Shape;470;p40"/>
          <p:cNvCxnSpPr>
            <a:endCxn id="469" idx="1"/>
          </p:cNvCxnSpPr>
          <p:nvPr/>
        </p:nvCxnSpPr>
        <p:spPr>
          <a:xfrm flipH="1" rot="10800000">
            <a:off x="4879525" y="1025925"/>
            <a:ext cx="1651500" cy="13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76" name="Google Shape;476;p41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SCRUM</a:t>
            </a:r>
            <a:endParaRPr/>
          </a:p>
        </p:txBody>
      </p:sp>
      <p:sp>
        <p:nvSpPr>
          <p:cNvPr id="477" name="Google Shape;477;p41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Kết hợp các nguyên lý trong thể thao và phát triển linh hoạt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Môn bóng bầu dục / Rugby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Nguồn việc / Backlog sản phẩm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Danh sách yêu cầu có thứ tự ưu tiên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Người sở hữu sản phẩm / Product owner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Quản lý nguồn việc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Chuyên gia Scrum / Scrum master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Người thiết lập Scrum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Người phát triển / Developer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Thực hiện</a:t>
            </a:r>
            <a:r>
              <a:rPr lang="en-GB"/>
              <a:t> các công việc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21" y="2515221"/>
            <a:ext cx="8723276" cy="305315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2"/>
          <p:cNvSpPr txBox="1"/>
          <p:nvPr>
            <p:ph idx="4294967295"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Scrum Sprint</a:t>
            </a:r>
            <a:endParaRPr/>
          </a:p>
        </p:txBody>
      </p:sp>
      <p:sp>
        <p:nvSpPr>
          <p:cNvPr id="484" name="Google Shape;484;p42"/>
          <p:cNvSpPr txBox="1"/>
          <p:nvPr>
            <p:ph idx="4294967295" type="body"/>
          </p:nvPr>
        </p:nvSpPr>
        <p:spPr>
          <a:xfrm>
            <a:off x="311700" y="1049075"/>
            <a:ext cx="8520600" cy="14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Vòng Scrum / Scrum Sprint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Giống như 1 dự án nhỏ trong giới hạn thời gian (thường &lt;= 1 tháng) để triển khai 1 phần hệ thống</a:t>
            </a:r>
            <a:endParaRPr/>
          </a:p>
        </p:txBody>
      </p:sp>
      <p:sp>
        <p:nvSpPr>
          <p:cNvPr id="485" name="Google Shape;485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6" name="Google Shape;486;p42"/>
          <p:cNvSpPr txBox="1"/>
          <p:nvPr/>
        </p:nvSpPr>
        <p:spPr>
          <a:xfrm>
            <a:off x="2612304" y="3827229"/>
            <a:ext cx="880200" cy="76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Hội ý kế hoạch Scrum</a:t>
            </a:r>
            <a:endParaRPr/>
          </a:p>
        </p:txBody>
      </p:sp>
      <p:sp>
        <p:nvSpPr>
          <p:cNvPr id="487" name="Google Shape;487;p42"/>
          <p:cNvSpPr txBox="1"/>
          <p:nvPr/>
        </p:nvSpPr>
        <p:spPr>
          <a:xfrm>
            <a:off x="3881100" y="3350150"/>
            <a:ext cx="1728600" cy="52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Chuyên gia Scrum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Đội Scrum</a:t>
            </a:r>
            <a:endParaRPr/>
          </a:p>
        </p:txBody>
      </p:sp>
      <p:sp>
        <p:nvSpPr>
          <p:cNvPr id="488" name="Google Shape;488;p42"/>
          <p:cNvSpPr txBox="1"/>
          <p:nvPr/>
        </p:nvSpPr>
        <p:spPr>
          <a:xfrm>
            <a:off x="7530675" y="3045350"/>
            <a:ext cx="1492500" cy="52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Kết quả phần mềm tăng thêm</a:t>
            </a:r>
            <a:endParaRPr/>
          </a:p>
        </p:txBody>
      </p:sp>
      <p:sp>
        <p:nvSpPr>
          <p:cNvPr id="489" name="Google Shape;489;p42"/>
          <p:cNvSpPr txBox="1"/>
          <p:nvPr/>
        </p:nvSpPr>
        <p:spPr>
          <a:xfrm>
            <a:off x="6180775" y="3151575"/>
            <a:ext cx="880200" cy="76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Vòng Scrum 30-ngày</a:t>
            </a:r>
            <a:endParaRPr/>
          </a:p>
        </p:txBody>
      </p:sp>
      <p:sp>
        <p:nvSpPr>
          <p:cNvPr id="490" name="Google Shape;490;p42"/>
          <p:cNvSpPr txBox="1"/>
          <p:nvPr/>
        </p:nvSpPr>
        <p:spPr>
          <a:xfrm>
            <a:off x="3970975" y="4599375"/>
            <a:ext cx="1327500" cy="4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Nguồn việc trong Vòng</a:t>
            </a:r>
            <a:endParaRPr/>
          </a:p>
        </p:txBody>
      </p:sp>
      <p:sp>
        <p:nvSpPr>
          <p:cNvPr id="491" name="Google Shape;491;p42"/>
          <p:cNvSpPr txBox="1"/>
          <p:nvPr/>
        </p:nvSpPr>
        <p:spPr>
          <a:xfrm>
            <a:off x="5818400" y="4844750"/>
            <a:ext cx="1385100" cy="35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Scrum hàng ngày</a:t>
            </a:r>
            <a:endParaRPr/>
          </a:p>
        </p:txBody>
      </p:sp>
      <p:sp>
        <p:nvSpPr>
          <p:cNvPr id="492" name="Google Shape;492;p42"/>
          <p:cNvSpPr txBox="1"/>
          <p:nvPr/>
        </p:nvSpPr>
        <p:spPr>
          <a:xfrm>
            <a:off x="541975" y="4904175"/>
            <a:ext cx="1327500" cy="4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Nguồn việc </a:t>
            </a:r>
            <a:r>
              <a:rPr lang="en-GB"/>
              <a:t>Sản phẩm</a:t>
            </a:r>
            <a:endParaRPr/>
          </a:p>
        </p:txBody>
      </p:sp>
      <p:sp>
        <p:nvSpPr>
          <p:cNvPr id="493" name="Google Shape;493;p42"/>
          <p:cNvSpPr txBox="1"/>
          <p:nvPr/>
        </p:nvSpPr>
        <p:spPr>
          <a:xfrm>
            <a:off x="541975" y="2999175"/>
            <a:ext cx="1327500" cy="47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Người sở hữu sản phẩm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9" name="Google Shape;499;p43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thông lệ Scrum</a:t>
            </a:r>
            <a:endParaRPr/>
          </a:p>
        </p:txBody>
      </p:sp>
      <p:sp>
        <p:nvSpPr>
          <p:cNvPr id="500" name="Google Shape;500;p43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Phạm vi của mỗi vòng được đóng băng (nhưng có thể được cắt giảm nếu cần)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Khoảng thời gian được duy trì cố định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Hội ý Scrum hàng ngày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Bạn đã làm gì kể từ cuộc họp trước (trong 24 giờ qua)?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Bạn sẽ làm gì tới cuộc họp kế tiếp?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Điều gì khiến bạn chưa hoàn thành công việc của mình?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4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Nội dung</a:t>
            </a:r>
            <a:endParaRPr/>
          </a:p>
        </p:txBody>
      </p:sp>
      <p:sp>
        <p:nvSpPr>
          <p:cNvPr id="506" name="Google Shape;506;p4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7" name="Google Shape;507;p44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mô hình SDLC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mô hình phát triển linh hoạt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Quy trình thống nhất</a:t>
            </a:r>
            <a:endParaRPr/>
          </a:p>
        </p:txBody>
      </p:sp>
      <p:sp>
        <p:nvSpPr>
          <p:cNvPr id="508" name="Google Shape;508;p44"/>
          <p:cNvSpPr/>
          <p:nvPr/>
        </p:nvSpPr>
        <p:spPr>
          <a:xfrm>
            <a:off x="357900" y="1676664"/>
            <a:ext cx="6629700" cy="8319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45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Quy trình thống nhất</a:t>
            </a:r>
            <a:endParaRPr/>
          </a:p>
        </p:txBody>
      </p:sp>
      <p:sp>
        <p:nvSpPr>
          <p:cNvPr id="514" name="Google Shape;514;p45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The Unified Process (UP)</a:t>
            </a:r>
            <a:endParaRPr i="1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UP tiên phong trong các mô hình thích nghi linh hoạt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UP và UML được phát triển cùng nhau</a:t>
            </a:r>
            <a:endParaRPr/>
          </a:p>
        </p:txBody>
      </p:sp>
      <p:sp>
        <p:nvSpPr>
          <p:cNvPr id="515" name="Google Shape;515;p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"/>
          <p:cNvSpPr txBox="1"/>
          <p:nvPr>
            <p:ph idx="4294967295"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pha trong quy trình thống nhất</a:t>
            </a:r>
            <a:endParaRPr/>
          </a:p>
        </p:txBody>
      </p:sp>
      <p:sp>
        <p:nvSpPr>
          <p:cNvPr id="521" name="Google Shape;521;p46"/>
          <p:cNvSpPr txBox="1"/>
          <p:nvPr>
            <p:ph idx="4294967295" type="body"/>
          </p:nvPr>
        </p:nvSpPr>
        <p:spPr>
          <a:xfrm>
            <a:off x="311700" y="950475"/>
            <a:ext cx="8520600" cy="10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UP chia SDLC thành 4 pha </a:t>
            </a:r>
            <a:r>
              <a:rPr lang="en-GB"/>
              <a:t>tương ứng với 4 giai đoạn của dự án</a:t>
            </a:r>
            <a:r>
              <a:rPr lang="en-GB"/>
              <a:t>, mỗi pha bao gồm nhiều </a:t>
            </a:r>
            <a:r>
              <a:rPr lang="en-GB"/>
              <a:t>bước</a:t>
            </a:r>
            <a:r>
              <a:rPr lang="en-GB"/>
              <a:t> lặp.</a:t>
            </a:r>
            <a:endParaRPr/>
          </a:p>
        </p:txBody>
      </p:sp>
      <p:sp>
        <p:nvSpPr>
          <p:cNvPr id="522" name="Google Shape;522;p4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23" name="Google Shape;523;p46"/>
          <p:cNvSpPr/>
          <p:nvPr/>
        </p:nvSpPr>
        <p:spPr>
          <a:xfrm>
            <a:off x="399450" y="3448950"/>
            <a:ext cx="1032600" cy="60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6"/>
          <p:cNvSpPr/>
          <p:nvPr/>
        </p:nvSpPr>
        <p:spPr>
          <a:xfrm>
            <a:off x="1790238" y="3448950"/>
            <a:ext cx="807300" cy="60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/>
          <p:nvPr/>
        </p:nvSpPr>
        <p:spPr>
          <a:xfrm>
            <a:off x="2600726" y="3448950"/>
            <a:ext cx="807300" cy="60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6"/>
          <p:cNvSpPr/>
          <p:nvPr/>
        </p:nvSpPr>
        <p:spPr>
          <a:xfrm>
            <a:off x="3411214" y="3448950"/>
            <a:ext cx="807300" cy="60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46"/>
          <p:cNvSpPr/>
          <p:nvPr/>
        </p:nvSpPr>
        <p:spPr>
          <a:xfrm>
            <a:off x="4590812" y="3448950"/>
            <a:ext cx="851100" cy="60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6"/>
          <p:cNvSpPr/>
          <p:nvPr/>
        </p:nvSpPr>
        <p:spPr>
          <a:xfrm>
            <a:off x="5445621" y="3448950"/>
            <a:ext cx="851100" cy="60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46"/>
          <p:cNvSpPr/>
          <p:nvPr/>
        </p:nvSpPr>
        <p:spPr>
          <a:xfrm>
            <a:off x="6300429" y="3448950"/>
            <a:ext cx="851100" cy="60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6"/>
          <p:cNvSpPr/>
          <p:nvPr/>
        </p:nvSpPr>
        <p:spPr>
          <a:xfrm>
            <a:off x="7486050" y="3448950"/>
            <a:ext cx="1235400" cy="60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6"/>
          <p:cNvSpPr/>
          <p:nvPr/>
        </p:nvSpPr>
        <p:spPr>
          <a:xfrm rot="5400000">
            <a:off x="2891528" y="2039500"/>
            <a:ext cx="171600" cy="2607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6"/>
          <p:cNvSpPr txBox="1"/>
          <p:nvPr/>
        </p:nvSpPr>
        <p:spPr>
          <a:xfrm>
            <a:off x="2469630" y="2895400"/>
            <a:ext cx="9687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/>
              <a:t>Pha</a:t>
            </a:r>
            <a:endParaRPr i="1" sz="1600"/>
          </a:p>
        </p:txBody>
      </p:sp>
      <p:sp>
        <p:nvSpPr>
          <p:cNvPr id="533" name="Google Shape;533;p46"/>
          <p:cNvSpPr/>
          <p:nvPr/>
        </p:nvSpPr>
        <p:spPr>
          <a:xfrm rot="5400000">
            <a:off x="4422925" y="-1447750"/>
            <a:ext cx="308700" cy="8367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6"/>
          <p:cNvSpPr txBox="1"/>
          <p:nvPr/>
        </p:nvSpPr>
        <p:spPr>
          <a:xfrm>
            <a:off x="2452175" y="2163025"/>
            <a:ext cx="43395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/>
              <a:t>Vòng đời phát triển hệ thống theo UP</a:t>
            </a:r>
            <a:endParaRPr i="1" sz="1800"/>
          </a:p>
        </p:txBody>
      </p:sp>
      <p:sp>
        <p:nvSpPr>
          <p:cNvPr id="535" name="Google Shape;535;p46"/>
          <p:cNvSpPr txBox="1"/>
          <p:nvPr/>
        </p:nvSpPr>
        <p:spPr>
          <a:xfrm>
            <a:off x="190600" y="4114250"/>
            <a:ext cx="13773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</a:rPr>
              <a:t>Khởi đầu/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Inception</a:t>
            </a:r>
            <a:endParaRPr sz="1600"/>
          </a:p>
        </p:txBody>
      </p:sp>
      <p:sp>
        <p:nvSpPr>
          <p:cNvPr id="536" name="Google Shape;536;p46"/>
          <p:cNvSpPr txBox="1"/>
          <p:nvPr/>
        </p:nvSpPr>
        <p:spPr>
          <a:xfrm>
            <a:off x="2077300" y="4150520"/>
            <a:ext cx="17469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Đặc tả</a:t>
            </a:r>
            <a:r>
              <a:rPr lang="en-GB" sz="1600"/>
              <a:t>/ </a:t>
            </a:r>
            <a:r>
              <a:rPr lang="en-GB" sz="1600"/>
              <a:t>Elaboration</a:t>
            </a:r>
            <a:endParaRPr sz="1600"/>
          </a:p>
        </p:txBody>
      </p:sp>
      <p:sp>
        <p:nvSpPr>
          <p:cNvPr id="537" name="Google Shape;537;p46"/>
          <p:cNvSpPr txBox="1"/>
          <p:nvPr/>
        </p:nvSpPr>
        <p:spPr>
          <a:xfrm>
            <a:off x="5027700" y="4114250"/>
            <a:ext cx="17469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Xây dựng</a:t>
            </a:r>
            <a:r>
              <a:rPr lang="en-GB" sz="1600"/>
              <a:t>/ </a:t>
            </a:r>
            <a:r>
              <a:rPr lang="en-GB" sz="1600"/>
              <a:t>Construction</a:t>
            </a:r>
            <a:endParaRPr sz="1600"/>
          </a:p>
        </p:txBody>
      </p:sp>
      <p:sp>
        <p:nvSpPr>
          <p:cNvPr id="538" name="Google Shape;538;p46"/>
          <p:cNvSpPr txBox="1"/>
          <p:nvPr/>
        </p:nvSpPr>
        <p:spPr>
          <a:xfrm>
            <a:off x="7313908" y="4132850"/>
            <a:ext cx="15699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</a:rPr>
              <a:t>Chuyển giao</a:t>
            </a:r>
            <a:r>
              <a:rPr lang="en-GB" sz="1600"/>
              <a:t>/ </a:t>
            </a:r>
            <a:r>
              <a:rPr lang="en-GB" sz="1600"/>
              <a:t>Transition</a:t>
            </a:r>
            <a:endParaRPr sz="1600"/>
          </a:p>
        </p:txBody>
      </p:sp>
      <p:sp>
        <p:nvSpPr>
          <p:cNvPr id="539" name="Google Shape;539;p46"/>
          <p:cNvSpPr/>
          <p:nvPr/>
        </p:nvSpPr>
        <p:spPr>
          <a:xfrm rot="5400000">
            <a:off x="4953917" y="2893150"/>
            <a:ext cx="93000" cy="821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6"/>
          <p:cNvSpPr txBox="1"/>
          <p:nvPr/>
        </p:nvSpPr>
        <p:spPr>
          <a:xfrm>
            <a:off x="4518548" y="2895400"/>
            <a:ext cx="11472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/>
              <a:t>Bước</a:t>
            </a:r>
            <a:r>
              <a:rPr i="1" lang="en-GB" sz="1600"/>
              <a:t> lặp</a:t>
            </a:r>
            <a:endParaRPr i="1" sz="16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7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pha trong quy trình thống nhất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546" name="Google Shape;546;p47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Khởi đầu - Bắt đầu thực hiện dự án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Phân tích tính khả thi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Thu thập các yêu cầu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v.v..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Đặc tả - Hiểu các yêu cầu hệ thống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Phân tích và thiết kế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v.v..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Xây dựng</a:t>
            </a:r>
            <a:r>
              <a:rPr lang="en-GB"/>
              <a:t> -</a:t>
            </a:r>
            <a:r>
              <a:rPr lang="en-GB"/>
              <a:t>Tạo dựng</a:t>
            </a:r>
            <a:r>
              <a:rPr lang="en-GB"/>
              <a:t> hệ thống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Lập trình và kiểm thử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v.v..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Chuyển giao - Chuẩn bị và triển khai hệ thống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Kiểm thử tổng thể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Triển khai hệ thống, đưa hệ thống vào </a:t>
            </a:r>
            <a:r>
              <a:rPr lang="en-GB"/>
              <a:t>khai thác và sử dụng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v.v..</a:t>
            </a:r>
            <a:endParaRPr/>
          </a:p>
        </p:txBody>
      </p:sp>
      <p:sp>
        <p:nvSpPr>
          <p:cNvPr id="547" name="Google Shape;547;p4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8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luồng công việc trong UP</a:t>
            </a:r>
            <a:endParaRPr/>
          </a:p>
        </p:txBody>
      </p:sp>
      <p:sp>
        <p:nvSpPr>
          <p:cNvPr id="553" name="Google Shape;553;p48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Luồng công việc / Workflow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Luồng công việc là 1 tập các hoạt động gần nhau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Các </a:t>
            </a:r>
            <a:r>
              <a:rPr lang="en-GB"/>
              <a:t>hoạt động</a:t>
            </a:r>
            <a:r>
              <a:rPr lang="en-GB"/>
              <a:t> liên quan trong 1 luồng công việc cùng hướng tới đạt 1 mục đích chung trong phát triển dự án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Được thực hiện xuyên suốt các bước lặp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Phân</a:t>
            </a:r>
            <a:r>
              <a:rPr lang="en-GB"/>
              <a:t> loại luồng công việc - 2 </a:t>
            </a:r>
            <a:r>
              <a:rPr lang="en-GB"/>
              <a:t>nhóm lớn: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Luồng phát triển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Luồng quản lý</a:t>
            </a:r>
            <a:endParaRPr/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/>
              <a:t>Lập kế hoạch và điều hành</a:t>
            </a:r>
            <a:endParaRPr/>
          </a:p>
        </p:txBody>
      </p:sp>
      <p:sp>
        <p:nvSpPr>
          <p:cNvPr id="554" name="Google Shape;554;p4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9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luồng công việc trong UP</a:t>
            </a:r>
            <a:r>
              <a:rPr baseline="-25000" lang="en-GB"/>
              <a:t>(2)</a:t>
            </a:r>
            <a:endParaRPr baseline="-25000"/>
          </a:p>
        </p:txBody>
      </p:sp>
      <p:sp>
        <p:nvSpPr>
          <p:cNvPr id="560" name="Google Shape;560;p49"/>
          <p:cNvSpPr txBox="1"/>
          <p:nvPr>
            <p:ph idx="1" type="body"/>
          </p:nvPr>
        </p:nvSpPr>
        <p:spPr>
          <a:xfrm>
            <a:off x="311700" y="950475"/>
            <a:ext cx="8520600" cy="54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luồng phát triển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Mô hình hóa nghiệp vụ / Business modeling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Yêu cầu / Requirements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Thiết kế / Design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Lập trình</a:t>
            </a:r>
            <a:r>
              <a:rPr lang="en-GB"/>
              <a:t> / Implementation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Kiểm thử / Testing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Phân phối / Deployment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Các luồng quản lý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Quản lý cấu hình và thay đổi / Configuration and Change Management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Quản lý dự án / Project Management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Môi trường / Environment</a:t>
            </a:r>
            <a:endParaRPr/>
          </a:p>
        </p:txBody>
      </p:sp>
      <p:sp>
        <p:nvSpPr>
          <p:cNvPr id="561" name="Google Shape;561;p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0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luồng công việc trong UP</a:t>
            </a:r>
            <a:r>
              <a:rPr baseline="-25000" lang="en-GB"/>
              <a:t>(3)</a:t>
            </a:r>
            <a:endParaRPr baseline="-25000"/>
          </a:p>
        </p:txBody>
      </p:sp>
      <p:sp>
        <p:nvSpPr>
          <p:cNvPr id="567" name="Google Shape;567;p5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68" name="Google Shape;56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3250" y="1377774"/>
            <a:ext cx="5066098" cy="4325975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50"/>
          <p:cNvSpPr txBox="1"/>
          <p:nvPr/>
        </p:nvSpPr>
        <p:spPr>
          <a:xfrm>
            <a:off x="2082250" y="1252299"/>
            <a:ext cx="1472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</a:t>
            </a:r>
            <a:r>
              <a:rPr lang="en-GB"/>
              <a:t>Bước</a:t>
            </a:r>
            <a:r>
              <a:rPr lang="en-GB"/>
              <a:t> lặp</a:t>
            </a:r>
            <a:endParaRPr/>
          </a:p>
        </p:txBody>
      </p:sp>
      <p:sp>
        <p:nvSpPr>
          <p:cNvPr id="570" name="Google Shape;570;p50"/>
          <p:cNvSpPr txBox="1"/>
          <p:nvPr/>
        </p:nvSpPr>
        <p:spPr>
          <a:xfrm>
            <a:off x="3732839" y="1015924"/>
            <a:ext cx="44073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1 </a:t>
            </a:r>
            <a:r>
              <a:rPr i="1" lang="en-GB"/>
              <a:t>bước</a:t>
            </a:r>
            <a:r>
              <a:rPr i="1" lang="en-GB"/>
              <a:t> lặp 4 tuần bao gồm tất cả các công việc trong các luồng, với đầu ra là 1 phiên bản h</a:t>
            </a:r>
            <a:r>
              <a:rPr i="1" lang="en-GB"/>
              <a:t>ệ thống</a:t>
            </a:r>
            <a:r>
              <a:rPr i="1" lang="en-GB"/>
              <a:t>.</a:t>
            </a:r>
            <a:endParaRPr i="1"/>
          </a:p>
        </p:txBody>
      </p:sp>
      <p:sp>
        <p:nvSpPr>
          <p:cNvPr id="571" name="Google Shape;571;p50"/>
          <p:cNvSpPr txBox="1"/>
          <p:nvPr/>
        </p:nvSpPr>
        <p:spPr>
          <a:xfrm>
            <a:off x="648476" y="1617752"/>
            <a:ext cx="19020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Các luồng công việc</a:t>
            </a:r>
            <a:endParaRPr/>
          </a:p>
        </p:txBody>
      </p:sp>
      <p:sp>
        <p:nvSpPr>
          <p:cNvPr id="572" name="Google Shape;572;p50"/>
          <p:cNvSpPr txBox="1"/>
          <p:nvPr/>
        </p:nvSpPr>
        <p:spPr>
          <a:xfrm>
            <a:off x="346800" y="2074951"/>
            <a:ext cx="2116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Mô hình hóa nghiệp vụ</a:t>
            </a:r>
            <a:endParaRPr/>
          </a:p>
        </p:txBody>
      </p:sp>
      <p:sp>
        <p:nvSpPr>
          <p:cNvPr id="573" name="Google Shape;573;p50"/>
          <p:cNvSpPr txBox="1"/>
          <p:nvPr/>
        </p:nvSpPr>
        <p:spPr>
          <a:xfrm>
            <a:off x="346800" y="2455951"/>
            <a:ext cx="2116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Yêu cầu</a:t>
            </a:r>
            <a:endParaRPr/>
          </a:p>
        </p:txBody>
      </p:sp>
      <p:sp>
        <p:nvSpPr>
          <p:cNvPr id="574" name="Google Shape;574;p50"/>
          <p:cNvSpPr txBox="1"/>
          <p:nvPr/>
        </p:nvSpPr>
        <p:spPr>
          <a:xfrm>
            <a:off x="346800" y="2821400"/>
            <a:ext cx="2116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Thiết kế</a:t>
            </a:r>
            <a:endParaRPr/>
          </a:p>
        </p:txBody>
      </p:sp>
      <p:sp>
        <p:nvSpPr>
          <p:cNvPr id="575" name="Google Shape;575;p50"/>
          <p:cNvSpPr txBox="1"/>
          <p:nvPr/>
        </p:nvSpPr>
        <p:spPr>
          <a:xfrm>
            <a:off x="346800" y="3199288"/>
            <a:ext cx="2116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Lập trình</a:t>
            </a:r>
            <a:endParaRPr/>
          </a:p>
        </p:txBody>
      </p:sp>
      <p:sp>
        <p:nvSpPr>
          <p:cNvPr id="576" name="Google Shape;576;p50"/>
          <p:cNvSpPr txBox="1"/>
          <p:nvPr/>
        </p:nvSpPr>
        <p:spPr>
          <a:xfrm>
            <a:off x="346800" y="3567849"/>
            <a:ext cx="2116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Kiểm thử</a:t>
            </a:r>
            <a:endParaRPr/>
          </a:p>
        </p:txBody>
      </p:sp>
      <p:sp>
        <p:nvSpPr>
          <p:cNvPr id="577" name="Google Shape;577;p50"/>
          <p:cNvSpPr txBox="1"/>
          <p:nvPr/>
        </p:nvSpPr>
        <p:spPr>
          <a:xfrm>
            <a:off x="346800" y="3925522"/>
            <a:ext cx="2116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Chuyển giao</a:t>
            </a:r>
            <a:endParaRPr/>
          </a:p>
        </p:txBody>
      </p:sp>
      <p:sp>
        <p:nvSpPr>
          <p:cNvPr id="578" name="Google Shape;578;p50"/>
          <p:cNvSpPr txBox="1"/>
          <p:nvPr/>
        </p:nvSpPr>
        <p:spPr>
          <a:xfrm>
            <a:off x="323473" y="4853396"/>
            <a:ext cx="2116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dự án</a:t>
            </a:r>
            <a:endParaRPr/>
          </a:p>
        </p:txBody>
      </p:sp>
      <p:sp>
        <p:nvSpPr>
          <p:cNvPr id="579" name="Google Shape;579;p50"/>
          <p:cNvSpPr txBox="1"/>
          <p:nvPr/>
        </p:nvSpPr>
        <p:spPr>
          <a:xfrm>
            <a:off x="595600" y="4388945"/>
            <a:ext cx="1835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Quản lý cấu hình &amp; thay đổi</a:t>
            </a:r>
            <a:endParaRPr/>
          </a:p>
        </p:txBody>
      </p:sp>
      <p:sp>
        <p:nvSpPr>
          <p:cNvPr id="580" name="Google Shape;580;p50"/>
          <p:cNvSpPr txBox="1"/>
          <p:nvPr/>
        </p:nvSpPr>
        <p:spPr>
          <a:xfrm>
            <a:off x="323473" y="5213147"/>
            <a:ext cx="2116500" cy="3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Môi trường</a:t>
            </a:r>
            <a:endParaRPr/>
          </a:p>
        </p:txBody>
      </p:sp>
      <p:sp>
        <p:nvSpPr>
          <p:cNvPr id="581" name="Google Shape;581;p50"/>
          <p:cNvSpPr txBox="1"/>
          <p:nvPr/>
        </p:nvSpPr>
        <p:spPr>
          <a:xfrm>
            <a:off x="323475" y="5737875"/>
            <a:ext cx="39915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Bước</a:t>
            </a:r>
            <a:r>
              <a:rPr i="1" lang="en-GB"/>
              <a:t> lặp 2 bao gồm các hoạt động mô hình hóa nghiệp vụ, </a:t>
            </a:r>
            <a:r>
              <a:rPr i="1" lang="en-GB"/>
              <a:t>thu thập </a:t>
            </a:r>
            <a:r>
              <a:rPr i="1" lang="en-GB"/>
              <a:t>yêu cầu với cường độ cao, và thiết kế, </a:t>
            </a:r>
            <a:r>
              <a:rPr i="1" lang="en-GB"/>
              <a:t>lập trình </a:t>
            </a:r>
            <a:r>
              <a:rPr i="1" lang="en-GB"/>
              <a:t>và kiểm thử ở mức trung bình-thấp.</a:t>
            </a:r>
            <a:endParaRPr i="1"/>
          </a:p>
        </p:txBody>
      </p:sp>
      <p:sp>
        <p:nvSpPr>
          <p:cNvPr id="582" name="Google Shape;582;p50"/>
          <p:cNvSpPr txBox="1"/>
          <p:nvPr/>
        </p:nvSpPr>
        <p:spPr>
          <a:xfrm>
            <a:off x="4572000" y="5735550"/>
            <a:ext cx="4134000" cy="9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Bước</a:t>
            </a:r>
            <a:r>
              <a:rPr i="1" lang="en-GB"/>
              <a:t> lặp 5 bao gồm các hoạt động mô hình hóa nghiệp vụ, </a:t>
            </a:r>
            <a:r>
              <a:rPr i="1" lang="en-GB"/>
              <a:t>thu thập </a:t>
            </a:r>
            <a:r>
              <a:rPr i="1" lang="en-GB"/>
              <a:t>yêu cầu ở mức tối tiểu, một chút thiết kế, nhưng </a:t>
            </a:r>
            <a:r>
              <a:rPr i="1" lang="en-GB"/>
              <a:t>lập trình</a:t>
            </a:r>
            <a:r>
              <a:rPr i="1" lang="en-GB"/>
              <a:t> và kiểm thử được thực hiện với cường độ cao hơn nhiêu.</a:t>
            </a:r>
            <a:endParaRPr i="1"/>
          </a:p>
        </p:txBody>
      </p:sp>
      <p:cxnSp>
        <p:nvCxnSpPr>
          <p:cNvPr id="583" name="Google Shape;583;p50"/>
          <p:cNvCxnSpPr/>
          <p:nvPr/>
        </p:nvCxnSpPr>
        <p:spPr>
          <a:xfrm flipH="1">
            <a:off x="2606495" y="5685448"/>
            <a:ext cx="656100" cy="10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50"/>
          <p:cNvCxnSpPr>
            <a:endCxn id="582" idx="0"/>
          </p:cNvCxnSpPr>
          <p:nvPr/>
        </p:nvCxnSpPr>
        <p:spPr>
          <a:xfrm>
            <a:off x="6098400" y="5668650"/>
            <a:ext cx="540600" cy="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p50"/>
          <p:cNvCxnSpPr/>
          <p:nvPr/>
        </p:nvCxnSpPr>
        <p:spPr>
          <a:xfrm flipH="1">
            <a:off x="3642075" y="1295400"/>
            <a:ext cx="178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1"/>
          <p:cNvSpPr txBox="1"/>
          <p:nvPr>
            <p:ph type="title"/>
          </p:nvPr>
        </p:nvSpPr>
        <p:spPr>
          <a:xfrm>
            <a:off x="311700" y="186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Quy trình thống nhất tăng cường</a:t>
            </a:r>
            <a:endParaRPr/>
          </a:p>
        </p:txBody>
      </p:sp>
      <p:sp>
        <p:nvSpPr>
          <p:cNvPr id="591" name="Google Shape;591;p51"/>
          <p:cNvSpPr txBox="1"/>
          <p:nvPr>
            <p:ph idx="1" type="body"/>
          </p:nvPr>
        </p:nvSpPr>
        <p:spPr>
          <a:xfrm>
            <a:off x="311700" y="950475"/>
            <a:ext cx="8520600" cy="514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Mở rộng quy trình thống nhất:</a:t>
            </a:r>
            <a:endParaRPr i="1"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Thêm pha sản phẩm để xử lý các vấn đề sau khi đã chuyển giao sản phẩm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GB"/>
              <a:t>Bổ xung các luồng công việc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Vận hành &amp; Hỗ trợ / Operation &amp; Support</a:t>
            </a:r>
            <a:endParaRPr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GB"/>
              <a:t>Quản lý hạ tầng / Infrastructure Management</a:t>
            </a:r>
            <a:endParaRPr/>
          </a:p>
        </p:txBody>
      </p:sp>
      <p:sp>
        <p:nvSpPr>
          <p:cNvPr id="592" name="Google Shape;592;p5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5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98" name="Google Shape;59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680" y="1531800"/>
            <a:ext cx="3565079" cy="4103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