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A64552-8203-400F-93C4-24C0A9A211AB}">
  <a:tblStyle styleId="{63A64552-8203-400F-93C4-24C0A9A211A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d0d106fea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d0d106f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d0d13cd312_0_4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d0d13cd31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31a29648b4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31a29648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31a29648b4_0_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31a29648b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2ef87113cb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2ef87113c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d0d13cd312_0_9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d0d13cd31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d250ebcc97_0_1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d250ebcc97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32729d3902_0_13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32729d390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d0d106feaa_0_5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d0d106fea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2ef87113cb_1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2ef87113cb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2ef87113cb_1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2ef87113cb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2ef87113cb_1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2ef87113cb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2ef87113cb_1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2ef87113cb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ef87113cb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ef87113c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2ef87113cb_1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2ef87113c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2ff12cb12f_1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2ff12cb12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862fb36977_1_3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862fb36977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862fb36977_1_4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862fb36977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ef87113cb_1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ef87113cb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2ef87113cb_1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2ef87113cb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862fb36977_1_4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862fb36977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862fb36977_1_5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862fb36977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862fb36977_1_6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862fb36977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fa1ba565c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fa1ba56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2ef87113cb_1_9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2ef87113cb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2ef87113cb_1_1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2ef87113cb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2ef87113cb_1_1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2ef87113cb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32729d3902_0_15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32729d390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32729d3902_0_1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32729d390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32729d3902_0_1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32729d390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32729d3902_0_1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32729d3902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32729d3902_0_1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32729d3902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32729d3902_0_20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32729d390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32052a18e8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32052a18e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32052a18e8_0_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32052a18e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d0d13cd312_0_3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d0d13cd31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f41238eead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f41238eea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f41238eead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f41238eea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581319318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58131931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51e4d96e59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51e4d96e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51e4d96e59_0_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51e4d96e5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51e4d96e59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51e4d96e5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51e4d96e59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51e4d96e5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51e4d96e59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51e4d96e5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51e4d96e59_0_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51e4d96e5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51e4d96e59_0_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51e4d96e5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51e4d96e59_0_7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51e4d96e5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52c6838629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352c68386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51e4d96e59_0_8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51e4d96e5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51e4d96e59_0_1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51e4d96e5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52c6838629_0_1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52c683862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52c6838629_0_2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52c6838629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52c6838629_0_10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352c683862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52c6838629_0_3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352c6838629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51e4d96e59_0_39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51e4d96e59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51e4d96e59_0_17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1" name="Google Shape;1301;g351e4d96e59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51e4d96e59_0_1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351e4d96e59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5e031bc933_1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35e031bc933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35e031bc933_1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35e031bc93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51e4d96e59_0_1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351e4d96e5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351e4d96e59_0_1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351e4d96e5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51e4d96e59_0_1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351e4d96e5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3365bebf329_3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3365bebf32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g3b08cd38ec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8" name="Google Shape;1438;g3b08cd38e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g35f0f14c923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84" name="Google Shape;1484;g35f0f14c9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35e031bc933_1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35e031bc933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132052a18e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132052a18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12f7f353c56_0_2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7" name="Google Shape;1577;g12f7f353c5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8" name="Google Shape;18;p4"/>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869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None/>
              <a:defRPr sz="3200">
                <a:solidFill>
                  <a:schemeClr val="dk1"/>
                </a:solidFill>
              </a:defRPr>
            </a:lvl1pPr>
            <a:lvl2pPr lvl="1">
              <a:spcBef>
                <a:spcPts val="0"/>
              </a:spcBef>
              <a:spcAft>
                <a:spcPts val="0"/>
              </a:spcAft>
              <a:buClr>
                <a:schemeClr val="dk1"/>
              </a:buClr>
              <a:buSzPts val="3200"/>
              <a:buNone/>
              <a:defRPr sz="3200">
                <a:solidFill>
                  <a:schemeClr val="dk1"/>
                </a:solidFill>
              </a:defRPr>
            </a:lvl2pPr>
            <a:lvl3pPr lvl="2">
              <a:spcBef>
                <a:spcPts val="0"/>
              </a:spcBef>
              <a:spcAft>
                <a:spcPts val="0"/>
              </a:spcAft>
              <a:buClr>
                <a:schemeClr val="dk1"/>
              </a:buClr>
              <a:buSzPts val="3200"/>
              <a:buNone/>
              <a:defRPr sz="3200">
                <a:solidFill>
                  <a:schemeClr val="dk1"/>
                </a:solidFill>
              </a:defRPr>
            </a:lvl3pPr>
            <a:lvl4pPr lvl="3">
              <a:spcBef>
                <a:spcPts val="0"/>
              </a:spcBef>
              <a:spcAft>
                <a:spcPts val="0"/>
              </a:spcAft>
              <a:buClr>
                <a:schemeClr val="dk1"/>
              </a:buClr>
              <a:buSzPts val="3200"/>
              <a:buNone/>
              <a:defRPr sz="3200">
                <a:solidFill>
                  <a:schemeClr val="dk1"/>
                </a:solidFill>
              </a:defRPr>
            </a:lvl4pPr>
            <a:lvl5pPr lvl="4">
              <a:spcBef>
                <a:spcPts val="0"/>
              </a:spcBef>
              <a:spcAft>
                <a:spcPts val="0"/>
              </a:spcAft>
              <a:buClr>
                <a:schemeClr val="dk1"/>
              </a:buClr>
              <a:buSzPts val="3200"/>
              <a:buNone/>
              <a:defRPr sz="3200">
                <a:solidFill>
                  <a:schemeClr val="dk1"/>
                </a:solidFill>
              </a:defRPr>
            </a:lvl5pPr>
            <a:lvl6pPr lvl="5">
              <a:spcBef>
                <a:spcPts val="0"/>
              </a:spcBef>
              <a:spcAft>
                <a:spcPts val="0"/>
              </a:spcAft>
              <a:buClr>
                <a:schemeClr val="dk1"/>
              </a:buClr>
              <a:buSzPts val="3200"/>
              <a:buNone/>
              <a:defRPr sz="3200">
                <a:solidFill>
                  <a:schemeClr val="dk1"/>
                </a:solidFill>
              </a:defRPr>
            </a:lvl6pPr>
            <a:lvl7pPr lvl="6">
              <a:spcBef>
                <a:spcPts val="0"/>
              </a:spcBef>
              <a:spcAft>
                <a:spcPts val="0"/>
              </a:spcAft>
              <a:buClr>
                <a:schemeClr val="dk1"/>
              </a:buClr>
              <a:buSzPts val="3200"/>
              <a:buNone/>
              <a:defRPr sz="3200">
                <a:solidFill>
                  <a:schemeClr val="dk1"/>
                </a:solidFill>
              </a:defRPr>
            </a:lvl7pPr>
            <a:lvl8pPr lvl="7">
              <a:spcBef>
                <a:spcPts val="0"/>
              </a:spcBef>
              <a:spcAft>
                <a:spcPts val="0"/>
              </a:spcAft>
              <a:buClr>
                <a:schemeClr val="dk1"/>
              </a:buClr>
              <a:buSzPts val="3200"/>
              <a:buNone/>
              <a:defRPr sz="3200">
                <a:solidFill>
                  <a:schemeClr val="dk1"/>
                </a:solidFill>
              </a:defRPr>
            </a:lvl8pPr>
            <a:lvl9pPr lvl="8">
              <a:spcBef>
                <a:spcPts val="0"/>
              </a:spcBef>
              <a:spcAft>
                <a:spcPts val="0"/>
              </a:spcAft>
              <a:buClr>
                <a:schemeClr val="dk1"/>
              </a:buClr>
              <a:buSzPts val="3200"/>
              <a:buNone/>
              <a:defRPr sz="3200">
                <a:solidFill>
                  <a:schemeClr val="dk1"/>
                </a:solidFill>
              </a:defRPr>
            </a:lvl9pPr>
          </a:lstStyle>
          <a:p/>
        </p:txBody>
      </p:sp>
      <p:sp>
        <p:nvSpPr>
          <p:cNvPr id="7" name="Google Shape;7;p1"/>
          <p:cNvSpPr txBox="1"/>
          <p:nvPr>
            <p:ph idx="1" type="body"/>
          </p:nvPr>
        </p:nvSpPr>
        <p:spPr>
          <a:xfrm>
            <a:off x="311700" y="1088500"/>
            <a:ext cx="8520600" cy="50034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42900" lvl="2" marL="1371600">
              <a:lnSpc>
                <a:spcPct val="115000"/>
              </a:lnSpc>
              <a:spcBef>
                <a:spcPts val="0"/>
              </a:spcBef>
              <a:spcAft>
                <a:spcPts val="0"/>
              </a:spcAft>
              <a:buClr>
                <a:schemeClr val="dk2"/>
              </a:buClr>
              <a:buSzPts val="1800"/>
              <a:buChar char="■"/>
              <a:defRPr sz="1800">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8.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77075"/>
            <a:ext cx="8520600" cy="206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Phân tích </a:t>
            </a:r>
            <a:r>
              <a:rPr lang="en-GB" sz="4200"/>
              <a:t>và </a:t>
            </a:r>
            <a:r>
              <a:rPr lang="en-GB" sz="4200"/>
              <a:t>thiết kế hệ thống</a:t>
            </a:r>
            <a:endParaRPr sz="4200"/>
          </a:p>
        </p:txBody>
      </p:sp>
      <p:sp>
        <p:nvSpPr>
          <p:cNvPr id="55" name="Google Shape;55;p13"/>
          <p:cNvSpPr txBox="1"/>
          <p:nvPr>
            <p:ph idx="1" type="subTitle"/>
          </p:nvPr>
        </p:nvSpPr>
        <p:spPr>
          <a:xfrm>
            <a:off x="311700" y="3778827"/>
            <a:ext cx="8520600" cy="812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Giảng viên: Nguyễn Bá Ngọc</a:t>
            </a:r>
            <a:endParaRPr sz="2600"/>
          </a:p>
        </p:txBody>
      </p:sp>
      <p:sp>
        <p:nvSpPr>
          <p:cNvPr id="56" name="Google Shape;56;p13"/>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Nội-2021</a:t>
            </a:r>
            <a:endParaRPr sz="2600"/>
          </a:p>
        </p:txBody>
      </p:sp>
      <p:sp>
        <p:nvSpPr>
          <p:cNvPr id="57" name="Google Shape;57;p13"/>
          <p:cNvSpPr txBox="1"/>
          <p:nvPr/>
        </p:nvSpPr>
        <p:spPr>
          <a:xfrm>
            <a:off x="491750" y="4667625"/>
            <a:ext cx="38571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K</a:t>
            </a:r>
            <a:r>
              <a:rPr lang="en-GB"/>
              <a:t>iến trúc hệ thống</a:t>
            </a:r>
            <a:endParaRPr/>
          </a:p>
        </p:txBody>
      </p:sp>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69" name="Google Shape;69;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0" name="Google Shape;70;p15"/>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Mô-đun hóa hệ thống</a:t>
            </a:r>
            <a:endParaRPr/>
          </a:p>
          <a:p>
            <a:pPr indent="-381000" lvl="0" marL="457200" rtl="0" algn="l">
              <a:spcBef>
                <a:spcPts val="0"/>
              </a:spcBef>
              <a:spcAft>
                <a:spcPts val="0"/>
              </a:spcAft>
              <a:buSzPts val="2400"/>
              <a:buChar char="●"/>
            </a:pPr>
            <a:r>
              <a:rPr lang="en-GB"/>
              <a:t>Các thành phần kiến trúc hệ thống</a:t>
            </a:r>
            <a:endParaRPr/>
          </a:p>
          <a:p>
            <a:pPr indent="-381000" lvl="0" marL="457200" rtl="0" algn="l">
              <a:spcBef>
                <a:spcPts val="0"/>
              </a:spcBef>
              <a:spcAft>
                <a:spcPts val="0"/>
              </a:spcAft>
              <a:buSzPts val="2400"/>
              <a:buChar char="●"/>
            </a:pPr>
            <a:r>
              <a:rPr lang="en-GB"/>
              <a:t>Mẫu kiến trúc</a:t>
            </a:r>
            <a:endParaRPr/>
          </a:p>
          <a:p>
            <a:pPr indent="-381000" lvl="0" marL="457200" rtl="0" algn="l">
              <a:spcBef>
                <a:spcPts val="0"/>
              </a:spcBef>
              <a:spcAft>
                <a:spcPts val="0"/>
              </a:spcAft>
              <a:buSzPts val="2400"/>
              <a:buChar char="●"/>
            </a:pPr>
            <a:r>
              <a:rPr lang="en-GB"/>
              <a:t>Các sơ đồ UML</a:t>
            </a:r>
            <a:endParaRPr/>
          </a:p>
          <a:p>
            <a:pPr indent="-368300" lvl="1" marL="914400" rtl="0" algn="l">
              <a:spcBef>
                <a:spcPts val="0"/>
              </a:spcBef>
              <a:spcAft>
                <a:spcPts val="0"/>
              </a:spcAft>
              <a:buSzPts val="2200"/>
              <a:buChar char="○"/>
            </a:pPr>
            <a:r>
              <a:rPr lang="en-GB"/>
              <a:t>Sơ đồ gói</a:t>
            </a:r>
            <a:endParaRPr/>
          </a:p>
          <a:p>
            <a:pPr indent="-368300" lvl="1" marL="914400" rtl="0" algn="l">
              <a:spcBef>
                <a:spcPts val="0"/>
              </a:spcBef>
              <a:spcAft>
                <a:spcPts val="0"/>
              </a:spcAft>
              <a:buSzPts val="2200"/>
              <a:buChar char="○"/>
            </a:pPr>
            <a:r>
              <a:rPr lang="en-GB"/>
              <a:t>Sơ đồ thành phần</a:t>
            </a:r>
            <a:endParaRPr/>
          </a:p>
          <a:p>
            <a:pPr indent="-368300" lvl="1" marL="914400" rtl="0" algn="l">
              <a:spcBef>
                <a:spcPts val="0"/>
              </a:spcBef>
              <a:spcAft>
                <a:spcPts val="0"/>
              </a:spcAft>
              <a:buSzPts val="2200"/>
              <a:buChar char="○"/>
            </a:pPr>
            <a:r>
              <a:rPr lang="en-GB"/>
              <a:t>Sơ đồ triển khai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6" name="Google Shape;76;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 name="Google Shape;77;p1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Mô-đun hóa hệ thống</a:t>
            </a:r>
            <a:endParaRPr/>
          </a:p>
          <a:p>
            <a:pPr indent="-381000" lvl="0" marL="457200" rtl="0" algn="l">
              <a:spcBef>
                <a:spcPts val="0"/>
              </a:spcBef>
              <a:spcAft>
                <a:spcPts val="0"/>
              </a:spcAft>
              <a:buSzPts val="2400"/>
              <a:buChar char="●"/>
            </a:pPr>
            <a:r>
              <a:rPr lang="en-GB"/>
              <a:t>Các thành phần kiến trúc hệ thống</a:t>
            </a:r>
            <a:endParaRPr/>
          </a:p>
          <a:p>
            <a:pPr indent="-381000" lvl="0" marL="457200" rtl="0" algn="l">
              <a:spcBef>
                <a:spcPts val="0"/>
              </a:spcBef>
              <a:spcAft>
                <a:spcPts val="0"/>
              </a:spcAft>
              <a:buSzPts val="2400"/>
              <a:buChar char="●"/>
            </a:pPr>
            <a:r>
              <a:rPr lang="en-GB"/>
              <a:t>Mẫu kiến trúc</a:t>
            </a:r>
            <a:endParaRPr/>
          </a:p>
          <a:p>
            <a:pPr indent="-381000" lvl="0" marL="457200" rtl="0" algn="l">
              <a:spcBef>
                <a:spcPts val="0"/>
              </a:spcBef>
              <a:spcAft>
                <a:spcPts val="0"/>
              </a:spcAft>
              <a:buSzPts val="2400"/>
              <a:buChar char="●"/>
            </a:pPr>
            <a:r>
              <a:rPr lang="en-GB"/>
              <a:t>Các sơ đồ UML</a:t>
            </a:r>
            <a:endParaRPr/>
          </a:p>
        </p:txBody>
      </p:sp>
      <p:sp>
        <p:nvSpPr>
          <p:cNvPr id="78" name="Google Shape;78;p16"/>
          <p:cNvSpPr/>
          <p:nvPr/>
        </p:nvSpPr>
        <p:spPr>
          <a:xfrm>
            <a:off x="357900" y="767547"/>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Mô-đun hóa hệ thống</a:t>
            </a:r>
            <a:endParaRPr/>
          </a:p>
        </p:txBody>
      </p:sp>
      <p:sp>
        <p:nvSpPr>
          <p:cNvPr id="84" name="Google Shape;84;p17"/>
          <p:cNvSpPr txBox="1"/>
          <p:nvPr>
            <p:ph idx="4294967295" type="body"/>
          </p:nvPr>
        </p:nvSpPr>
        <p:spPr>
          <a:xfrm>
            <a:off x="311700" y="950475"/>
            <a:ext cx="8520600" cy="55950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Mô-đun hóa: Chia nhỏ hệ thống thành nhiều mô-đun - các cấu phần hệ thống.</a:t>
            </a:r>
            <a:endParaRPr/>
          </a:p>
          <a:p>
            <a:pPr indent="-381000" lvl="0" marL="457200" rtl="0" algn="just">
              <a:spcBef>
                <a:spcPts val="0"/>
              </a:spcBef>
              <a:spcAft>
                <a:spcPts val="0"/>
              </a:spcAft>
              <a:buSzPts val="2400"/>
              <a:buChar char="●"/>
            </a:pPr>
            <a:r>
              <a:rPr lang="en-GB"/>
              <a:t>Có thể vận dụng các nguyên lý thiết kế, và thử nghiệm với các kịch bản thay đổi.</a:t>
            </a:r>
            <a:endParaRPr/>
          </a:p>
          <a:p>
            <a:pPr indent="-381000" lvl="0" marL="457200" rtl="0" algn="just">
              <a:spcBef>
                <a:spcPts val="0"/>
              </a:spcBef>
              <a:spcAft>
                <a:spcPts val="0"/>
              </a:spcAft>
              <a:buSzPts val="2400"/>
              <a:buChar char="●"/>
            </a:pPr>
            <a:r>
              <a:rPr lang="en-GB"/>
              <a:t>Có thể dựa trên các tương tác và các mối liên hệ:</a:t>
            </a:r>
            <a:endParaRPr/>
          </a:p>
          <a:p>
            <a:pPr indent="-368300" lvl="1" marL="914400" rtl="0" algn="l">
              <a:spcBef>
                <a:spcPts val="0"/>
              </a:spcBef>
              <a:spcAft>
                <a:spcPts val="0"/>
              </a:spcAft>
              <a:buSzPts val="2200"/>
              <a:buChar char="○"/>
            </a:pPr>
            <a:r>
              <a:rPr lang="en-GB"/>
              <a:t>Các </a:t>
            </a:r>
            <a:r>
              <a:rPr lang="en-GB"/>
              <a:t>sơ đồ</a:t>
            </a:r>
            <a:r>
              <a:rPr lang="en-GB"/>
              <a:t> lớp</a:t>
            </a:r>
            <a:endParaRPr/>
          </a:p>
          <a:p>
            <a:pPr indent="-368300" lvl="1" marL="914400" rtl="0" algn="l">
              <a:spcBef>
                <a:spcPts val="0"/>
              </a:spcBef>
              <a:spcAft>
                <a:spcPts val="0"/>
              </a:spcAft>
              <a:buSzPts val="2200"/>
              <a:buChar char="○"/>
            </a:pPr>
            <a:r>
              <a:rPr lang="en-GB"/>
              <a:t>Các </a:t>
            </a:r>
            <a:r>
              <a:rPr lang="en-GB"/>
              <a:t>sơ đồ</a:t>
            </a:r>
            <a:r>
              <a:rPr lang="en-GB"/>
              <a:t> giao tiếp</a:t>
            </a:r>
            <a:endParaRPr/>
          </a:p>
          <a:p>
            <a:pPr indent="-342900" lvl="2" marL="1371600" rtl="0" algn="just">
              <a:spcBef>
                <a:spcPts val="0"/>
              </a:spcBef>
              <a:spcAft>
                <a:spcPts val="0"/>
              </a:spcAft>
              <a:buSzPts val="1800"/>
              <a:buChar char="■"/>
            </a:pPr>
            <a:r>
              <a:rPr lang="en-GB"/>
              <a:t>V</a:t>
            </a:r>
            <a:r>
              <a:rPr lang="en-GB"/>
              <a:t>í dụ, các thông điệp và liên kết trong sơ đồ giao tiếp</a:t>
            </a:r>
            <a:endParaRPr/>
          </a:p>
          <a:p>
            <a:pPr indent="-342900" lvl="2" marL="1371600" rtl="0" algn="just">
              <a:spcBef>
                <a:spcPts val="0"/>
              </a:spcBef>
              <a:spcAft>
                <a:spcPts val="0"/>
              </a:spcAft>
              <a:buSzPts val="1800"/>
              <a:buChar char="■"/>
            </a:pPr>
            <a:r>
              <a:rPr lang="en-GB"/>
              <a:t>Nếu có nhiều thông điệp được trao đổi giữa 2 lớp thì đưa cả 2 lớp vào cùng 1 mô-đun.</a:t>
            </a:r>
            <a:endParaRPr/>
          </a:p>
          <a:p>
            <a:pPr indent="-368300" lvl="1" marL="914400" rtl="0" algn="l">
              <a:spcBef>
                <a:spcPts val="0"/>
              </a:spcBef>
              <a:spcAft>
                <a:spcPts val="0"/>
              </a:spcAft>
              <a:buSzPts val="2200"/>
              <a:buChar char="○"/>
            </a:pPr>
            <a:r>
              <a:rPr lang="en-GB"/>
              <a:t>Ma trận CRUDE</a:t>
            </a:r>
            <a:endParaRPr/>
          </a:p>
          <a:p>
            <a:pPr indent="-368300" lvl="1" marL="914400" rtl="0" algn="l">
              <a:spcBef>
                <a:spcPts val="0"/>
              </a:spcBef>
              <a:spcAft>
                <a:spcPts val="0"/>
              </a:spcAft>
              <a:buSzPts val="2200"/>
              <a:buChar char="○"/>
            </a:pPr>
            <a:r>
              <a:rPr lang="en-GB"/>
              <a:t>v.v..</a:t>
            </a:r>
            <a:endParaRPr/>
          </a:p>
          <a:p>
            <a:pPr indent="-381000" lvl="0" marL="457200" rtl="0" algn="just">
              <a:spcBef>
                <a:spcPts val="0"/>
              </a:spcBef>
              <a:spcAft>
                <a:spcPts val="0"/>
              </a:spcAft>
              <a:buSzPts val="2400"/>
              <a:buChar char="●"/>
            </a:pPr>
            <a:r>
              <a:rPr lang="en-GB"/>
              <a:t>Tạo mô-đun từ các phần tử có bậc liên kết cao.</a:t>
            </a:r>
            <a:endParaRPr/>
          </a:p>
        </p:txBody>
      </p:sp>
      <p:sp>
        <p:nvSpPr>
          <p:cNvPr id="85" name="Google Shape;85;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 K</a:t>
            </a:r>
            <a:r>
              <a:rPr lang="en-GB"/>
              <a:t>iến trúc 5 tầng</a:t>
            </a:r>
            <a:endParaRPr/>
          </a:p>
        </p:txBody>
      </p:sp>
      <p:sp>
        <p:nvSpPr>
          <p:cNvPr id="91" name="Google Shape;91;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2" name="Google Shape;92;p18"/>
          <p:cNvSpPr/>
          <p:nvPr/>
        </p:nvSpPr>
        <p:spPr>
          <a:xfrm>
            <a:off x="4080850" y="1510500"/>
            <a:ext cx="2298600" cy="47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T</a:t>
            </a:r>
            <a:r>
              <a:rPr lang="en-GB" sz="1600"/>
              <a:t>ương tác người-máy</a:t>
            </a:r>
            <a:endParaRPr sz="1600"/>
          </a:p>
        </p:txBody>
      </p:sp>
      <p:sp>
        <p:nvSpPr>
          <p:cNvPr id="93" name="Google Shape;93;p18"/>
          <p:cNvSpPr/>
          <p:nvPr/>
        </p:nvSpPr>
        <p:spPr>
          <a:xfrm>
            <a:off x="4080850" y="1281900"/>
            <a:ext cx="882900" cy="228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8"/>
          <p:cNvSpPr/>
          <p:nvPr/>
        </p:nvSpPr>
        <p:spPr>
          <a:xfrm>
            <a:off x="4080850" y="2882100"/>
            <a:ext cx="2298600" cy="47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Lĩnh vực nghiệp vụ</a:t>
            </a:r>
            <a:endParaRPr sz="1600"/>
          </a:p>
        </p:txBody>
      </p:sp>
      <p:sp>
        <p:nvSpPr>
          <p:cNvPr id="95" name="Google Shape;95;p18"/>
          <p:cNvSpPr/>
          <p:nvPr/>
        </p:nvSpPr>
        <p:spPr>
          <a:xfrm>
            <a:off x="4080850" y="2653500"/>
            <a:ext cx="882900" cy="228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8"/>
          <p:cNvSpPr/>
          <p:nvPr/>
        </p:nvSpPr>
        <p:spPr>
          <a:xfrm>
            <a:off x="2175850" y="4329900"/>
            <a:ext cx="2006100" cy="47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Kiến trúc vật lý</a:t>
            </a:r>
            <a:endParaRPr sz="1600"/>
          </a:p>
        </p:txBody>
      </p:sp>
      <p:sp>
        <p:nvSpPr>
          <p:cNvPr id="97" name="Google Shape;97;p18"/>
          <p:cNvSpPr/>
          <p:nvPr/>
        </p:nvSpPr>
        <p:spPr>
          <a:xfrm>
            <a:off x="2175850" y="4101300"/>
            <a:ext cx="770700" cy="228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8"/>
          <p:cNvSpPr/>
          <p:nvPr/>
        </p:nvSpPr>
        <p:spPr>
          <a:xfrm>
            <a:off x="5544125" y="4329900"/>
            <a:ext cx="2006100" cy="47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Quản lý dữ liệu</a:t>
            </a:r>
            <a:endParaRPr sz="1600"/>
          </a:p>
        </p:txBody>
      </p:sp>
      <p:sp>
        <p:nvSpPr>
          <p:cNvPr id="99" name="Google Shape;99;p18"/>
          <p:cNvSpPr/>
          <p:nvPr/>
        </p:nvSpPr>
        <p:spPr>
          <a:xfrm>
            <a:off x="5544125" y="4101300"/>
            <a:ext cx="770400" cy="228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8"/>
          <p:cNvSpPr/>
          <p:nvPr/>
        </p:nvSpPr>
        <p:spPr>
          <a:xfrm>
            <a:off x="4004650" y="5853900"/>
            <a:ext cx="1631400" cy="47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Nền tảng</a:t>
            </a:r>
            <a:endParaRPr sz="1600"/>
          </a:p>
        </p:txBody>
      </p:sp>
      <p:sp>
        <p:nvSpPr>
          <p:cNvPr id="101" name="Google Shape;101;p18"/>
          <p:cNvSpPr/>
          <p:nvPr/>
        </p:nvSpPr>
        <p:spPr>
          <a:xfrm>
            <a:off x="4004650" y="5625300"/>
            <a:ext cx="626700" cy="228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2" name="Google Shape;102;p18"/>
          <p:cNvCxnSpPr/>
          <p:nvPr/>
        </p:nvCxnSpPr>
        <p:spPr>
          <a:xfrm>
            <a:off x="5744875" y="1991611"/>
            <a:ext cx="0" cy="891600"/>
          </a:xfrm>
          <a:prstGeom prst="straightConnector1">
            <a:avLst/>
          </a:prstGeom>
          <a:noFill/>
          <a:ln cap="flat" cmpd="sng" w="9525">
            <a:solidFill>
              <a:schemeClr val="dk2"/>
            </a:solidFill>
            <a:prstDash val="dash"/>
            <a:round/>
            <a:headEnd len="med" w="med" type="none"/>
            <a:tailEnd len="med" w="med" type="triangle"/>
          </a:ln>
        </p:spPr>
      </p:cxnSp>
      <p:cxnSp>
        <p:nvCxnSpPr>
          <p:cNvPr id="103" name="Google Shape;103;p18"/>
          <p:cNvCxnSpPr>
            <a:stCxn id="94" idx="3"/>
            <a:endCxn id="100" idx="3"/>
          </p:cNvCxnSpPr>
          <p:nvPr/>
        </p:nvCxnSpPr>
        <p:spPr>
          <a:xfrm flipH="1">
            <a:off x="5636050" y="3121050"/>
            <a:ext cx="743400" cy="2971800"/>
          </a:xfrm>
          <a:prstGeom prst="bentConnector3">
            <a:avLst>
              <a:gd fmla="val -178037" name="adj1"/>
            </a:avLst>
          </a:prstGeom>
          <a:noFill/>
          <a:ln cap="flat" cmpd="sng" w="9525">
            <a:solidFill>
              <a:schemeClr val="dk2"/>
            </a:solidFill>
            <a:prstDash val="dash"/>
            <a:round/>
            <a:headEnd len="med" w="med" type="none"/>
            <a:tailEnd len="med" w="med" type="triangle"/>
          </a:ln>
        </p:spPr>
      </p:cxnSp>
      <p:cxnSp>
        <p:nvCxnSpPr>
          <p:cNvPr id="104" name="Google Shape;104;p18"/>
          <p:cNvCxnSpPr>
            <a:stCxn id="92" idx="1"/>
            <a:endCxn id="100" idx="1"/>
          </p:cNvCxnSpPr>
          <p:nvPr/>
        </p:nvCxnSpPr>
        <p:spPr>
          <a:xfrm flipH="1">
            <a:off x="4004650" y="1749450"/>
            <a:ext cx="76200" cy="4343400"/>
          </a:xfrm>
          <a:prstGeom prst="bentConnector3">
            <a:avLst>
              <a:gd fmla="val 2678182" name="adj1"/>
            </a:avLst>
          </a:prstGeom>
          <a:noFill/>
          <a:ln cap="flat" cmpd="sng" w="9525">
            <a:solidFill>
              <a:schemeClr val="dk2"/>
            </a:solidFill>
            <a:prstDash val="dash"/>
            <a:round/>
            <a:headEnd len="med" w="med" type="none"/>
            <a:tailEnd len="med" w="med" type="triangle"/>
          </a:ln>
        </p:spPr>
      </p:cxnSp>
      <p:cxnSp>
        <p:nvCxnSpPr>
          <p:cNvPr id="105" name="Google Shape;105;p18"/>
          <p:cNvCxnSpPr>
            <a:stCxn id="96" idx="0"/>
            <a:endCxn id="106" idx="4"/>
          </p:cNvCxnSpPr>
          <p:nvPr/>
        </p:nvCxnSpPr>
        <p:spPr>
          <a:xfrm rot="-5400000">
            <a:off x="3379450" y="3159450"/>
            <a:ext cx="969900" cy="1371000"/>
          </a:xfrm>
          <a:prstGeom prst="bentConnector3">
            <a:avLst>
              <a:gd fmla="val 49999" name="adj1"/>
            </a:avLst>
          </a:prstGeom>
          <a:noFill/>
          <a:ln cap="flat" cmpd="sng" w="9525">
            <a:solidFill>
              <a:schemeClr val="dk2"/>
            </a:solidFill>
            <a:prstDash val="lgDash"/>
            <a:round/>
            <a:headEnd len="med" w="med" type="none"/>
            <a:tailEnd len="med" w="med" type="triangle"/>
          </a:ln>
        </p:spPr>
      </p:cxnSp>
      <p:sp>
        <p:nvSpPr>
          <p:cNvPr id="106" name="Google Shape;106;p18"/>
          <p:cNvSpPr/>
          <p:nvPr/>
        </p:nvSpPr>
        <p:spPr>
          <a:xfrm>
            <a:off x="4522200" y="3297025"/>
            <a:ext cx="55200" cy="63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8"/>
          <p:cNvSpPr/>
          <p:nvPr/>
        </p:nvSpPr>
        <p:spPr>
          <a:xfrm>
            <a:off x="5741400" y="3297025"/>
            <a:ext cx="55200" cy="63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8" name="Google Shape;108;p18"/>
          <p:cNvCxnSpPr>
            <a:stCxn id="98" idx="0"/>
            <a:endCxn id="107" idx="4"/>
          </p:cNvCxnSpPr>
          <p:nvPr/>
        </p:nvCxnSpPr>
        <p:spPr>
          <a:xfrm flipH="1" rot="5400000">
            <a:off x="5673125" y="3455850"/>
            <a:ext cx="969900" cy="778200"/>
          </a:xfrm>
          <a:prstGeom prst="bentConnector3">
            <a:avLst>
              <a:gd fmla="val 49999" name="adj1"/>
            </a:avLst>
          </a:prstGeom>
          <a:noFill/>
          <a:ln cap="flat" cmpd="sng" w="9525">
            <a:solidFill>
              <a:schemeClr val="dk2"/>
            </a:solidFill>
            <a:prstDash val="lgDash"/>
            <a:round/>
            <a:headEnd len="med" w="med" type="none"/>
            <a:tailEnd len="med" w="med" type="triangle"/>
          </a:ln>
        </p:spPr>
      </p:cxnSp>
      <p:sp>
        <p:nvSpPr>
          <p:cNvPr id="109" name="Google Shape;109;p18"/>
          <p:cNvSpPr/>
          <p:nvPr/>
        </p:nvSpPr>
        <p:spPr>
          <a:xfrm>
            <a:off x="4750800" y="5848397"/>
            <a:ext cx="55200" cy="63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8"/>
          <p:cNvSpPr/>
          <p:nvPr/>
        </p:nvSpPr>
        <p:spPr>
          <a:xfrm>
            <a:off x="5208000" y="5848397"/>
            <a:ext cx="55200" cy="63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8"/>
          <p:cNvSpPr/>
          <p:nvPr/>
        </p:nvSpPr>
        <p:spPr>
          <a:xfrm>
            <a:off x="4150393" y="4400597"/>
            <a:ext cx="55200" cy="63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8"/>
          <p:cNvSpPr/>
          <p:nvPr/>
        </p:nvSpPr>
        <p:spPr>
          <a:xfrm>
            <a:off x="4150393" y="4656776"/>
            <a:ext cx="55200" cy="63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8"/>
          <p:cNvSpPr/>
          <p:nvPr/>
        </p:nvSpPr>
        <p:spPr>
          <a:xfrm>
            <a:off x="5521993" y="4400597"/>
            <a:ext cx="55200" cy="63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8"/>
          <p:cNvSpPr/>
          <p:nvPr/>
        </p:nvSpPr>
        <p:spPr>
          <a:xfrm>
            <a:off x="5521993" y="4629197"/>
            <a:ext cx="55200" cy="63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5" name="Google Shape;115;p18"/>
          <p:cNvCxnSpPr>
            <a:stCxn id="96" idx="2"/>
            <a:endCxn id="109" idx="7"/>
          </p:cNvCxnSpPr>
          <p:nvPr/>
        </p:nvCxnSpPr>
        <p:spPr>
          <a:xfrm flipH="1" rot="-5400000">
            <a:off x="3463600" y="4523100"/>
            <a:ext cx="1049700" cy="1619100"/>
          </a:xfrm>
          <a:prstGeom prst="bentConnector3">
            <a:avLst>
              <a:gd fmla="val 49566" name="adj1"/>
            </a:avLst>
          </a:prstGeom>
          <a:noFill/>
          <a:ln cap="flat" cmpd="sng" w="9525">
            <a:solidFill>
              <a:schemeClr val="dk2"/>
            </a:solidFill>
            <a:prstDash val="lgDash"/>
            <a:round/>
            <a:headEnd len="med" w="med" type="none"/>
            <a:tailEnd len="med" w="med" type="triangle"/>
          </a:ln>
        </p:spPr>
      </p:cxnSp>
      <p:cxnSp>
        <p:nvCxnSpPr>
          <p:cNvPr id="116" name="Google Shape;116;p18"/>
          <p:cNvCxnSpPr>
            <a:stCxn id="98" idx="2"/>
            <a:endCxn id="110" idx="0"/>
          </p:cNvCxnSpPr>
          <p:nvPr/>
        </p:nvCxnSpPr>
        <p:spPr>
          <a:xfrm rot="5400000">
            <a:off x="5371025" y="4672350"/>
            <a:ext cx="1040700" cy="1311600"/>
          </a:xfrm>
          <a:prstGeom prst="bentConnector3">
            <a:avLst>
              <a:gd fmla="val 49995" name="adj1"/>
            </a:avLst>
          </a:prstGeom>
          <a:noFill/>
          <a:ln cap="flat" cmpd="sng" w="9525">
            <a:solidFill>
              <a:schemeClr val="dk2"/>
            </a:solidFill>
            <a:prstDash val="lgDash"/>
            <a:round/>
            <a:headEnd len="med" w="med" type="none"/>
            <a:tailEnd len="med" w="med" type="triangle"/>
          </a:ln>
        </p:spPr>
      </p:cxnSp>
      <p:cxnSp>
        <p:nvCxnSpPr>
          <p:cNvPr id="117" name="Google Shape;117;p18"/>
          <p:cNvCxnSpPr>
            <a:endCxn id="113" idx="2"/>
          </p:cNvCxnSpPr>
          <p:nvPr/>
        </p:nvCxnSpPr>
        <p:spPr>
          <a:xfrm>
            <a:off x="4205593" y="4432097"/>
            <a:ext cx="1316400" cy="0"/>
          </a:xfrm>
          <a:prstGeom prst="straightConnector1">
            <a:avLst/>
          </a:prstGeom>
          <a:noFill/>
          <a:ln cap="flat" cmpd="sng" w="9525">
            <a:solidFill>
              <a:schemeClr val="dk2"/>
            </a:solidFill>
            <a:prstDash val="lgDash"/>
            <a:round/>
            <a:headEnd len="med" w="med" type="none"/>
            <a:tailEnd len="med" w="med" type="triangle"/>
          </a:ln>
        </p:spPr>
      </p:cxnSp>
      <p:cxnSp>
        <p:nvCxnSpPr>
          <p:cNvPr id="118" name="Google Shape;118;p18"/>
          <p:cNvCxnSpPr>
            <a:stCxn id="114" idx="3"/>
            <a:endCxn id="112" idx="6"/>
          </p:cNvCxnSpPr>
          <p:nvPr/>
        </p:nvCxnSpPr>
        <p:spPr>
          <a:xfrm flipH="1">
            <a:off x="4205577" y="4682971"/>
            <a:ext cx="1324500" cy="5400"/>
          </a:xfrm>
          <a:prstGeom prst="straightConnector1">
            <a:avLst/>
          </a:prstGeom>
          <a:noFill/>
          <a:ln cap="flat" cmpd="sng" w="9525">
            <a:solidFill>
              <a:schemeClr val="dk2"/>
            </a:solidFill>
            <a:prstDash val="lgDash"/>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4" name="Google Shape;124;p1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 Kiến trúc 5 tầng</a:t>
            </a:r>
            <a:r>
              <a:rPr baseline="-25000" lang="en-GB"/>
              <a:t>(2)</a:t>
            </a:r>
            <a:endParaRPr baseline="-25000"/>
          </a:p>
        </p:txBody>
      </p:sp>
      <p:sp>
        <p:nvSpPr>
          <p:cNvPr id="125" name="Google Shape;125;p19"/>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b="1" lang="en-GB"/>
              <a:t>T</a:t>
            </a:r>
            <a:r>
              <a:rPr b="1" lang="en-GB"/>
              <a:t>ầng nền tảng:</a:t>
            </a:r>
            <a:r>
              <a:rPr lang="en-GB"/>
              <a:t> Cung cấp các phần tử cơ bản để xây dựng hệ thống. Ví dụ: Array, Map, …</a:t>
            </a:r>
            <a:endParaRPr/>
          </a:p>
          <a:p>
            <a:pPr indent="-381000" lvl="0" marL="457200" rtl="0" algn="just">
              <a:spcBef>
                <a:spcPts val="0"/>
              </a:spcBef>
              <a:spcAft>
                <a:spcPts val="0"/>
              </a:spcAft>
              <a:buSzPts val="2400"/>
              <a:buChar char="●"/>
            </a:pPr>
            <a:r>
              <a:rPr b="1" lang="en-GB"/>
              <a:t>Tầng nghiệp vụ:</a:t>
            </a:r>
            <a:r>
              <a:rPr lang="en-GB"/>
              <a:t> Các biểu diễn và xử lý nhằm đáp ứng các hoạt động nghiệp vụ, đã được đề cập tới ở pha phân tích, và tiếp tục được phát triển ở pha thiết kế. Ví dụ lớp: Order, Customer</a:t>
            </a:r>
            <a:endParaRPr/>
          </a:p>
          <a:p>
            <a:pPr indent="-381000" lvl="0" marL="457200" rtl="0" algn="just">
              <a:spcBef>
                <a:spcPts val="0"/>
              </a:spcBef>
              <a:spcAft>
                <a:spcPts val="0"/>
              </a:spcAft>
              <a:buSzPts val="2400"/>
              <a:buChar char="●"/>
            </a:pPr>
            <a:r>
              <a:rPr b="1" lang="en-GB"/>
              <a:t>Quản lý và truy cập dữ liệu:</a:t>
            </a:r>
            <a:r>
              <a:rPr lang="en-GB"/>
              <a:t> Các xử lý liên quan đến lưu trữ cố định. Ví dụ: CustomerDAM, FileInputStream</a:t>
            </a:r>
            <a:endParaRPr/>
          </a:p>
          <a:p>
            <a:pPr indent="-381000" lvl="0" marL="457200" rtl="0" algn="just">
              <a:spcBef>
                <a:spcPts val="0"/>
              </a:spcBef>
              <a:spcAft>
                <a:spcPts val="0"/>
              </a:spcAft>
              <a:buSzPts val="2400"/>
              <a:buChar char="●"/>
            </a:pPr>
            <a:r>
              <a:rPr b="1" lang="en-GB"/>
              <a:t>Tương tác người-máy:</a:t>
            </a:r>
            <a:r>
              <a:rPr lang="en-GB"/>
              <a:t> Các giao diện người dùng, thường là các giao diện đồ họa. Ví dụ: Form, Button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31" name="Google Shape;131;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2" name="Google Shape;132;p20"/>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Mô-đun hóa hệ thống</a:t>
            </a:r>
            <a:endParaRPr/>
          </a:p>
          <a:p>
            <a:pPr indent="-381000" lvl="0" marL="457200" rtl="0" algn="l">
              <a:spcBef>
                <a:spcPts val="0"/>
              </a:spcBef>
              <a:spcAft>
                <a:spcPts val="0"/>
              </a:spcAft>
              <a:buSzPts val="2400"/>
              <a:buChar char="●"/>
            </a:pPr>
            <a:r>
              <a:rPr lang="en-GB"/>
              <a:t>Các thành phần kiến trúc hệ thống</a:t>
            </a:r>
            <a:endParaRPr/>
          </a:p>
          <a:p>
            <a:pPr indent="-381000" lvl="0" marL="457200" rtl="0" algn="l">
              <a:spcBef>
                <a:spcPts val="0"/>
              </a:spcBef>
              <a:spcAft>
                <a:spcPts val="0"/>
              </a:spcAft>
              <a:buSzPts val="2400"/>
              <a:buChar char="●"/>
            </a:pPr>
            <a:r>
              <a:rPr lang="en-GB"/>
              <a:t>Mẫu kiến trúc</a:t>
            </a:r>
            <a:endParaRPr/>
          </a:p>
          <a:p>
            <a:pPr indent="-381000" lvl="0" marL="457200" rtl="0" algn="l">
              <a:spcBef>
                <a:spcPts val="0"/>
              </a:spcBef>
              <a:spcAft>
                <a:spcPts val="0"/>
              </a:spcAft>
              <a:buSzPts val="2400"/>
              <a:buChar char="●"/>
            </a:pPr>
            <a:r>
              <a:rPr lang="en-GB"/>
              <a:t>Các sơ đồ UML</a:t>
            </a:r>
            <a:endParaRPr/>
          </a:p>
        </p:txBody>
      </p:sp>
      <p:sp>
        <p:nvSpPr>
          <p:cNvPr id="133" name="Google Shape;133;p20"/>
          <p:cNvSpPr/>
          <p:nvPr/>
        </p:nvSpPr>
        <p:spPr>
          <a:xfrm>
            <a:off x="357900" y="1184332"/>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thành phần kiến trúc</a:t>
            </a:r>
            <a:endParaRPr/>
          </a:p>
        </p:txBody>
      </p:sp>
      <p:sp>
        <p:nvSpPr>
          <p:cNvPr id="139" name="Google Shape;139;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0" name="Google Shape;140;p21"/>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Hạ tầng</a:t>
            </a:r>
            <a:endParaRPr/>
          </a:p>
          <a:p>
            <a:pPr indent="-368300" lvl="1" marL="914400" rtl="0" algn="just">
              <a:spcBef>
                <a:spcPts val="0"/>
              </a:spcBef>
              <a:spcAft>
                <a:spcPts val="0"/>
              </a:spcAft>
              <a:buSzPts val="2200"/>
              <a:buChar char="○"/>
            </a:pPr>
            <a:r>
              <a:rPr lang="en-GB"/>
              <a:t>Máy tính, mạng máy tính và hình trạng mạng, và phần mềm hệ thống</a:t>
            </a:r>
            <a:endParaRPr/>
          </a:p>
          <a:p>
            <a:pPr indent="-368300" lvl="1" marL="914400" rtl="0" algn="just">
              <a:spcBef>
                <a:spcPts val="0"/>
              </a:spcBef>
              <a:spcAft>
                <a:spcPts val="0"/>
              </a:spcAft>
              <a:buSzPts val="2200"/>
              <a:buChar char="○"/>
            </a:pPr>
            <a:r>
              <a:rPr lang="en-GB"/>
              <a:t>Hình thành hạ tầng để triển khai phần mềm và cung cấp dịch vụ.</a:t>
            </a:r>
            <a:endParaRPr/>
          </a:p>
          <a:p>
            <a:pPr indent="-381000" lvl="0" marL="457200" rtl="0" algn="just">
              <a:spcBef>
                <a:spcPts val="0"/>
              </a:spcBef>
              <a:spcAft>
                <a:spcPts val="0"/>
              </a:spcAft>
              <a:buSzPts val="2400"/>
              <a:buChar char="●"/>
            </a:pPr>
            <a:r>
              <a:rPr lang="en-GB"/>
              <a:t>Phần mềm</a:t>
            </a:r>
            <a:endParaRPr/>
          </a:p>
          <a:p>
            <a:pPr indent="-368300" lvl="1" marL="914400" rtl="0" algn="just">
              <a:spcBef>
                <a:spcPts val="0"/>
              </a:spcBef>
              <a:spcAft>
                <a:spcPts val="0"/>
              </a:spcAft>
              <a:buSzPts val="2200"/>
              <a:buChar char="○"/>
            </a:pPr>
            <a:r>
              <a:rPr lang="en-GB"/>
              <a:t>Chương trình ứng dụng, dịch vụ Web, CSDL, v.v.., hỗ trợ tác nghiệp.</a:t>
            </a:r>
            <a:endParaRPr/>
          </a:p>
          <a:p>
            <a:pPr indent="-368300" lvl="1" marL="914400" rtl="0" algn="just">
              <a:spcBef>
                <a:spcPts val="0"/>
              </a:spcBef>
              <a:spcAft>
                <a:spcPts val="0"/>
              </a:spcAft>
              <a:buSzPts val="2200"/>
              <a:buChar char="○"/>
            </a:pPr>
            <a:r>
              <a:rPr lang="en-GB"/>
              <a:t>Được triển khai trên hạ tầng, cài đặt trên các thiết bị phần cứng và kết nối với nhau qua các giao thức và đường truyền mạng.</a:t>
            </a:r>
            <a:endParaRPr/>
          </a:p>
        </p:txBody>
      </p:sp>
      <p:sp>
        <p:nvSpPr>
          <p:cNvPr id="141" name="Google Shape;141;p21"/>
          <p:cNvSpPr txBox="1"/>
          <p:nvPr/>
        </p:nvSpPr>
        <p:spPr>
          <a:xfrm>
            <a:off x="432100" y="5473400"/>
            <a:ext cx="8400300" cy="92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200">
                <a:solidFill>
                  <a:srgbClr val="0B5394"/>
                </a:solidFill>
              </a:rPr>
              <a:t>Mục đích thiết kế kiến trúc tổng quan là xác định cách bố trí các thành phần phần mềm trong các thiết bị phần cứng.</a:t>
            </a:r>
            <a:endParaRPr i="1" sz="2200">
              <a:solidFill>
                <a:srgbClr val="0B539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Thiết bị tính toán</a:t>
            </a:r>
            <a:endParaRPr/>
          </a:p>
        </p:txBody>
      </p:sp>
      <p:sp>
        <p:nvSpPr>
          <p:cNvPr id="147" name="Google Shape;147;p22"/>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Máy chủ - Cung cấp các tài nguyên dùng chung cho người dùng và các máy tính khác.</a:t>
            </a:r>
            <a:endParaRPr/>
          </a:p>
          <a:p>
            <a:pPr indent="-368300" lvl="1" marL="914400" rtl="0" algn="just">
              <a:spcBef>
                <a:spcPts val="0"/>
              </a:spcBef>
              <a:spcAft>
                <a:spcPts val="0"/>
              </a:spcAft>
              <a:buSzPts val="2200"/>
              <a:buChar char="○"/>
            </a:pPr>
            <a:r>
              <a:rPr lang="en-GB"/>
              <a:t>Hoạt động liên tục, độ tin cậy cao.</a:t>
            </a:r>
            <a:endParaRPr/>
          </a:p>
          <a:p>
            <a:pPr indent="-381000" lvl="0" marL="457200" rtl="0" algn="just">
              <a:spcBef>
                <a:spcPts val="0"/>
              </a:spcBef>
              <a:spcAft>
                <a:spcPts val="0"/>
              </a:spcAft>
              <a:buSzPts val="2400"/>
              <a:buChar char="●"/>
            </a:pPr>
            <a:r>
              <a:rPr lang="en-GB"/>
              <a:t>Máy khách / Máy tính cá nhân</a:t>
            </a:r>
            <a:endParaRPr/>
          </a:p>
          <a:p>
            <a:pPr indent="-368300" lvl="1" marL="914400" rtl="0" algn="just">
              <a:spcBef>
                <a:spcPts val="0"/>
              </a:spcBef>
              <a:spcAft>
                <a:spcPts val="0"/>
              </a:spcAft>
              <a:buSzPts val="2200"/>
              <a:buChar char="○"/>
            </a:pPr>
            <a:r>
              <a:rPr lang="en-GB"/>
              <a:t>Máy bàn, máy tính xách tay, máy tính bảng, điện thoại thông minh, v.v</a:t>
            </a:r>
            <a:r>
              <a:rPr lang="en-GB"/>
              <a:t>..</a:t>
            </a:r>
            <a:endParaRPr/>
          </a:p>
          <a:p>
            <a:pPr indent="-368300" lvl="1" marL="914400" rtl="0" algn="just">
              <a:spcBef>
                <a:spcPts val="0"/>
              </a:spcBef>
              <a:spcAft>
                <a:spcPts val="0"/>
              </a:spcAft>
              <a:buSzPts val="2200"/>
              <a:buChar char="○"/>
            </a:pPr>
            <a:r>
              <a:rPr lang="en-GB"/>
              <a:t>Người dùng sử dụng để tương tác với hệ thống.</a:t>
            </a:r>
            <a:endParaRPr/>
          </a:p>
        </p:txBody>
      </p:sp>
      <p:sp>
        <p:nvSpPr>
          <p:cNvPr id="148" name="Google Shape;148;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Điện toán đám mây</a:t>
            </a:r>
            <a:endParaRPr/>
          </a:p>
        </p:txBody>
      </p:sp>
      <p:sp>
        <p:nvSpPr>
          <p:cNvPr id="154" name="Google Shape;154;p23"/>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 hình cho thuê phần cứng</a:t>
            </a:r>
            <a:endParaRPr/>
          </a:p>
          <a:p>
            <a:pPr indent="-368300" lvl="1" marL="914400" rtl="0" algn="l">
              <a:spcBef>
                <a:spcPts val="0"/>
              </a:spcBef>
              <a:spcAft>
                <a:spcPts val="0"/>
              </a:spcAft>
              <a:buSzPts val="2200"/>
              <a:buChar char="○"/>
            </a:pPr>
            <a:r>
              <a:rPr lang="en-GB"/>
              <a:t>Máy chủ ở trên ”Đám mây”</a:t>
            </a:r>
            <a:endParaRPr/>
          </a:p>
          <a:p>
            <a:pPr indent="-368300" lvl="1" marL="914400" rtl="0" algn="l">
              <a:spcBef>
                <a:spcPts val="0"/>
              </a:spcBef>
              <a:spcAft>
                <a:spcPts val="0"/>
              </a:spcAft>
              <a:buSzPts val="2200"/>
              <a:buChar char="○"/>
            </a:pPr>
            <a:r>
              <a:rPr lang="en-GB"/>
              <a:t>Máy khách là thiết bị của người dùng</a:t>
            </a:r>
            <a:endParaRPr/>
          </a:p>
          <a:p>
            <a:pPr indent="-381000" lvl="0" marL="457200" rtl="0" algn="l">
              <a:spcBef>
                <a:spcPts val="0"/>
              </a:spcBef>
              <a:spcAft>
                <a:spcPts val="0"/>
              </a:spcAft>
              <a:buSzPts val="2400"/>
              <a:buChar char="●"/>
            </a:pPr>
            <a:r>
              <a:rPr lang="en-GB" sz="2200"/>
              <a:t>”</a:t>
            </a:r>
            <a:r>
              <a:rPr lang="en-GB"/>
              <a:t>Đám mây</a:t>
            </a:r>
            <a:r>
              <a:rPr lang="en-GB" sz="2200"/>
              <a:t>”</a:t>
            </a:r>
            <a:endParaRPr/>
          </a:p>
          <a:p>
            <a:pPr indent="-368300" lvl="1" marL="914400" rtl="0" algn="l">
              <a:spcBef>
                <a:spcPts val="0"/>
              </a:spcBef>
              <a:spcAft>
                <a:spcPts val="0"/>
              </a:spcAft>
              <a:buSzPts val="2200"/>
              <a:buChar char="○"/>
            </a:pPr>
            <a:r>
              <a:rPr lang="en-GB"/>
              <a:t>Trung tâm dữ liệu, nội bộ hoặc công khai; hoặc</a:t>
            </a:r>
            <a:endParaRPr/>
          </a:p>
          <a:p>
            <a:pPr indent="-368300" lvl="1" marL="914400" rtl="0" algn="l">
              <a:spcBef>
                <a:spcPts val="0"/>
              </a:spcBef>
              <a:spcAft>
                <a:spcPts val="0"/>
              </a:spcAft>
              <a:buSzPts val="2200"/>
              <a:buChar char="○"/>
            </a:pPr>
            <a:r>
              <a:rPr lang="en-GB"/>
              <a:t>Dịch vụ được cung cấp bởi các đối tác.</a:t>
            </a:r>
            <a:endParaRPr/>
          </a:p>
          <a:p>
            <a:pPr indent="-368300" lvl="1" marL="914400" rtl="0" algn="l">
              <a:spcBef>
                <a:spcPts val="0"/>
              </a:spcBef>
              <a:spcAft>
                <a:spcPts val="0"/>
              </a:spcAft>
              <a:buSzPts val="2200"/>
              <a:buChar char="○"/>
            </a:pPr>
            <a:r>
              <a:rPr lang="en-GB"/>
              <a:t>Tích hợp nhiều công nghệ:</a:t>
            </a:r>
            <a:endParaRPr/>
          </a:p>
          <a:p>
            <a:pPr indent="-342900" lvl="2" marL="1371600" rtl="0" algn="l">
              <a:spcBef>
                <a:spcPts val="0"/>
              </a:spcBef>
              <a:spcAft>
                <a:spcPts val="0"/>
              </a:spcAft>
              <a:buSzPts val="1800"/>
              <a:buChar char="■"/>
            </a:pPr>
            <a:r>
              <a:rPr lang="en-GB"/>
              <a:t>Ảo hóa</a:t>
            </a:r>
            <a:endParaRPr/>
          </a:p>
          <a:p>
            <a:pPr indent="-342900" lvl="2" marL="1371600" rtl="0" algn="l">
              <a:spcBef>
                <a:spcPts val="0"/>
              </a:spcBef>
              <a:spcAft>
                <a:spcPts val="0"/>
              </a:spcAft>
              <a:buSzPts val="1800"/>
              <a:buChar char="■"/>
            </a:pPr>
            <a:r>
              <a:rPr lang="en-GB"/>
              <a:t>Kiến trúc hướng dịch vụ</a:t>
            </a:r>
            <a:endParaRPr/>
          </a:p>
          <a:p>
            <a:pPr indent="-342900" lvl="2" marL="1371600" rtl="0" algn="l">
              <a:spcBef>
                <a:spcPts val="0"/>
              </a:spcBef>
              <a:spcAft>
                <a:spcPts val="0"/>
              </a:spcAft>
              <a:buSzPts val="1800"/>
              <a:buChar char="■"/>
            </a:pPr>
            <a:r>
              <a:rPr lang="en-GB"/>
              <a:t>Mạng lưới tính toán / Grid computing</a:t>
            </a:r>
            <a:endParaRPr/>
          </a:p>
          <a:p>
            <a:pPr indent="-342900" lvl="2" marL="1371600" rtl="0" algn="l">
              <a:spcBef>
                <a:spcPts val="0"/>
              </a:spcBef>
              <a:spcAft>
                <a:spcPts val="0"/>
              </a:spcAft>
              <a:buSzPts val="1800"/>
              <a:buChar char="■"/>
            </a:pPr>
            <a:r>
              <a:rPr lang="en-GB"/>
              <a:t>v.v</a:t>
            </a:r>
            <a:r>
              <a:rPr lang="en-GB"/>
              <a:t>...</a:t>
            </a:r>
            <a:endParaRPr/>
          </a:p>
        </p:txBody>
      </p:sp>
      <p:sp>
        <p:nvSpPr>
          <p:cNvPr id="155" name="Google Shape;155;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Phần mềm như dịch vụ (SaaS)</a:t>
            </a:r>
            <a:endParaRPr/>
          </a:p>
        </p:txBody>
      </p:sp>
      <p:sp>
        <p:nvSpPr>
          <p:cNvPr id="161" name="Google Shape;161;p24"/>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Thường được thực hiện với hạ tầng điện toán đám mây</a:t>
            </a:r>
            <a:endParaRPr/>
          </a:p>
          <a:p>
            <a:pPr indent="-381000" lvl="0" marL="457200" rtl="0" algn="l">
              <a:spcBef>
                <a:spcPts val="0"/>
              </a:spcBef>
              <a:spcAft>
                <a:spcPts val="0"/>
              </a:spcAft>
              <a:buSzPts val="2400"/>
              <a:buChar char="●"/>
            </a:pPr>
            <a:r>
              <a:rPr lang="en-GB"/>
              <a:t>Phần mềm được triển khai trên máy chủ thay vì thiết bị của người dùng.</a:t>
            </a:r>
            <a:endParaRPr/>
          </a:p>
          <a:p>
            <a:pPr indent="-381000" lvl="0" marL="457200" rtl="0" algn="l">
              <a:spcBef>
                <a:spcPts val="0"/>
              </a:spcBef>
              <a:spcAft>
                <a:spcPts val="0"/>
              </a:spcAft>
              <a:buSzPts val="2400"/>
              <a:buChar char="●"/>
            </a:pPr>
            <a:r>
              <a:rPr lang="en-GB"/>
              <a:t>Các dịch vụ ứng dụng được truy cập từ xa (thường qua trình duyệt).</a:t>
            </a:r>
            <a:endParaRPr/>
          </a:p>
          <a:p>
            <a:pPr indent="-381000" lvl="0" marL="457200" rtl="0" algn="l">
              <a:spcBef>
                <a:spcPts val="0"/>
              </a:spcBef>
              <a:spcAft>
                <a:spcPts val="0"/>
              </a:spcAft>
              <a:buSzPts val="2400"/>
              <a:buChar char="●"/>
            </a:pPr>
            <a:r>
              <a:rPr lang="en-GB"/>
              <a:t>Dữ liệu người dùng được cô lập và được lưu trên máy chủ dịch vụ.</a:t>
            </a:r>
            <a:endParaRPr/>
          </a:p>
        </p:txBody>
      </p:sp>
      <p:sp>
        <p:nvSpPr>
          <p:cNvPr id="162" name="Google Shape;162;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Ứng dụng Web</a:t>
            </a:r>
            <a:endParaRPr/>
          </a:p>
        </p:txBody>
      </p:sp>
      <p:sp>
        <p:nvSpPr>
          <p:cNvPr id="168" name="Google Shape;168;p25"/>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Được triển khai dựa trên các quy chuẩn Web.</a:t>
            </a:r>
            <a:endParaRPr/>
          </a:p>
          <a:p>
            <a:pPr indent="-381000" lvl="0" marL="457200" rtl="0" algn="l">
              <a:spcBef>
                <a:spcPts val="0"/>
              </a:spcBef>
              <a:spcAft>
                <a:spcPts val="0"/>
              </a:spcAft>
              <a:buSzPts val="2400"/>
              <a:buChar char="●"/>
            </a:pPr>
            <a:r>
              <a:rPr lang="en-GB"/>
              <a:t>Truy cập qua URL.</a:t>
            </a:r>
            <a:endParaRPr/>
          </a:p>
          <a:p>
            <a:pPr indent="-381000" lvl="0" marL="457200" rtl="0" algn="l">
              <a:spcBef>
                <a:spcPts val="0"/>
              </a:spcBef>
              <a:spcAft>
                <a:spcPts val="0"/>
              </a:spcAft>
              <a:buSzPts val="2400"/>
              <a:buChar char="●"/>
            </a:pPr>
            <a:r>
              <a:rPr lang="en-GB"/>
              <a:t>Dữ liệu được trao đổi dựa trên giao thức mạng.</a:t>
            </a:r>
            <a:endParaRPr/>
          </a:p>
          <a:p>
            <a:pPr indent="-381000" lvl="0" marL="457200" rtl="0" algn="l">
              <a:spcBef>
                <a:spcPts val="0"/>
              </a:spcBef>
              <a:spcAft>
                <a:spcPts val="0"/>
              </a:spcAft>
              <a:buSzPts val="2400"/>
              <a:buChar char="●"/>
            </a:pPr>
            <a:r>
              <a:rPr lang="en-GB"/>
              <a:t>Các xử lý được thực hiện trên máy chủ.</a:t>
            </a:r>
            <a:endParaRPr/>
          </a:p>
          <a:p>
            <a:pPr indent="-381000" lvl="0" marL="457200" rtl="0" algn="l">
              <a:spcBef>
                <a:spcPts val="0"/>
              </a:spcBef>
              <a:spcAft>
                <a:spcPts val="0"/>
              </a:spcAft>
              <a:buSzPts val="2400"/>
              <a:buChar char="●"/>
            </a:pPr>
            <a:r>
              <a:rPr lang="en-GB"/>
              <a:t>Dữ liệu được trả về trong trang Web.</a:t>
            </a:r>
            <a:endParaRPr/>
          </a:p>
          <a:p>
            <a:pPr indent="-381000" lvl="0" marL="457200" rtl="0" algn="l">
              <a:spcBef>
                <a:spcPts val="0"/>
              </a:spcBef>
              <a:spcAft>
                <a:spcPts val="0"/>
              </a:spcAft>
              <a:buSzPts val="2400"/>
              <a:buChar char="●"/>
            </a:pPr>
            <a:r>
              <a:rPr lang="en-GB"/>
              <a:t>v.v..</a:t>
            </a:r>
            <a:endParaRPr/>
          </a:p>
        </p:txBody>
      </p:sp>
      <p:sp>
        <p:nvSpPr>
          <p:cNvPr id="169" name="Google Shape;169;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Hạ tầng mạng</a:t>
            </a:r>
            <a:endParaRPr/>
          </a:p>
        </p:txBody>
      </p:sp>
      <p:sp>
        <p:nvSpPr>
          <p:cNvPr id="175" name="Google Shape;175;p2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Bao gồm thiết bị mạng, phần mềm mạng.</a:t>
            </a:r>
            <a:endParaRPr/>
          </a:p>
          <a:p>
            <a:pPr indent="-381000" lvl="0" marL="457200" rtl="0" algn="just">
              <a:spcBef>
                <a:spcPts val="0"/>
              </a:spcBef>
              <a:spcAft>
                <a:spcPts val="0"/>
              </a:spcAft>
              <a:buSzPts val="2400"/>
              <a:buChar char="●"/>
            </a:pPr>
            <a:r>
              <a:rPr lang="en-GB"/>
              <a:t>Hạ tầng Internet</a:t>
            </a:r>
            <a:endParaRPr/>
          </a:p>
          <a:p>
            <a:pPr indent="-368300" lvl="1" marL="914400" rtl="0" algn="just">
              <a:spcBef>
                <a:spcPts val="0"/>
              </a:spcBef>
              <a:spcAft>
                <a:spcPts val="0"/>
              </a:spcAft>
              <a:buSzPts val="2200"/>
              <a:buChar char="○"/>
            </a:pPr>
            <a:r>
              <a:rPr lang="en-GB"/>
              <a:t>Các đường truyền băng thông lớn và máy tính tốc độ cao</a:t>
            </a:r>
            <a:endParaRPr/>
          </a:p>
          <a:p>
            <a:pPr indent="-368300" lvl="1" marL="914400" rtl="0" algn="just">
              <a:spcBef>
                <a:spcPts val="0"/>
              </a:spcBef>
              <a:spcAft>
                <a:spcPts val="0"/>
              </a:spcAft>
              <a:buSzPts val="2200"/>
              <a:buChar char="○"/>
            </a:pPr>
            <a:r>
              <a:rPr lang="en-GB"/>
              <a:t>Được sở hữu bởi các chính phủ và các công ty viễn thông</a:t>
            </a:r>
            <a:endParaRPr/>
          </a:p>
          <a:p>
            <a:pPr indent="-381000" lvl="0" marL="457200" rtl="0" algn="just">
              <a:spcBef>
                <a:spcPts val="0"/>
              </a:spcBef>
              <a:spcAft>
                <a:spcPts val="0"/>
              </a:spcAft>
              <a:buSzPts val="2400"/>
              <a:buChar char="●"/>
            </a:pPr>
            <a:r>
              <a:rPr lang="en-GB"/>
              <a:t>Mạng địa phương (LAN)</a:t>
            </a:r>
            <a:endParaRPr/>
          </a:p>
          <a:p>
            <a:pPr indent="-368300" lvl="1" marL="914400" rtl="0" algn="just">
              <a:spcBef>
                <a:spcPts val="0"/>
              </a:spcBef>
              <a:spcAft>
                <a:spcPts val="0"/>
              </a:spcAft>
              <a:buSzPts val="2200"/>
              <a:buChar char="○"/>
            </a:pPr>
            <a:r>
              <a:rPr lang="en-GB"/>
              <a:t>Mạng nhỏ cho 1 hệ thống thông tin nội bộ.</a:t>
            </a:r>
            <a:endParaRPr/>
          </a:p>
          <a:p>
            <a:pPr indent="-381000" lvl="0" marL="457200" rtl="0" algn="just">
              <a:spcBef>
                <a:spcPts val="0"/>
              </a:spcBef>
              <a:spcAft>
                <a:spcPts val="0"/>
              </a:spcAft>
              <a:buSzPts val="2400"/>
              <a:buChar char="●"/>
            </a:pPr>
            <a:r>
              <a:rPr lang="en-GB"/>
              <a:t>Mạng toàn cầu (WWW)</a:t>
            </a:r>
            <a:endParaRPr/>
          </a:p>
          <a:p>
            <a:pPr indent="-368300" lvl="1" marL="914400" rtl="0" algn="just">
              <a:spcBef>
                <a:spcPts val="0"/>
              </a:spcBef>
              <a:spcAft>
                <a:spcPts val="0"/>
              </a:spcAft>
              <a:buSzPts val="2200"/>
              <a:buChar char="○"/>
            </a:pPr>
            <a:r>
              <a:rPr lang="en-GB"/>
              <a:t>Tất cả các tài nguyên được kết nối và truy cập qua Internet.</a:t>
            </a:r>
            <a:endParaRPr/>
          </a:p>
        </p:txBody>
      </p:sp>
      <p:sp>
        <p:nvSpPr>
          <p:cNvPr id="176" name="Google Shape;176;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giao thức</a:t>
            </a:r>
            <a:endParaRPr/>
          </a:p>
        </p:txBody>
      </p:sp>
      <p:sp>
        <p:nvSpPr>
          <p:cNvPr id="182" name="Google Shape;182;p27"/>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Giao thức:</a:t>
            </a:r>
            <a:endParaRPr/>
          </a:p>
          <a:p>
            <a:pPr indent="-368300" lvl="1" marL="914400" rtl="0" algn="l">
              <a:spcBef>
                <a:spcPts val="0"/>
              </a:spcBef>
              <a:spcAft>
                <a:spcPts val="0"/>
              </a:spcAft>
              <a:buSzPts val="2200"/>
              <a:buChar char="○"/>
            </a:pPr>
            <a:r>
              <a:rPr lang="en-GB"/>
              <a:t>Một tập ngôn ngữ và quy tắc đảm bảo giao tiếp và trao đổi dữ liệu giữa phần cứng và phần mềm</a:t>
            </a:r>
            <a:endParaRPr/>
          </a:p>
          <a:p>
            <a:pPr indent="-381000" lvl="0" marL="457200" rtl="0" algn="l">
              <a:spcBef>
                <a:spcPts val="0"/>
              </a:spcBef>
              <a:spcAft>
                <a:spcPts val="0"/>
              </a:spcAft>
              <a:buSzPts val="2400"/>
              <a:buChar char="●"/>
            </a:pPr>
            <a:r>
              <a:rPr lang="en-GB"/>
              <a:t>Các giao thức mạng:</a:t>
            </a:r>
            <a:endParaRPr/>
          </a:p>
          <a:p>
            <a:pPr indent="-368300" lvl="1" marL="914400" rtl="0" algn="l">
              <a:spcBef>
                <a:spcPts val="0"/>
              </a:spcBef>
              <a:spcAft>
                <a:spcPts val="0"/>
              </a:spcAft>
              <a:buSzPts val="2200"/>
              <a:buChar char="○"/>
            </a:pPr>
            <a:r>
              <a:rPr lang="en-GB"/>
              <a:t>Mạng riêng tư ảo (VPN)</a:t>
            </a:r>
            <a:endParaRPr/>
          </a:p>
          <a:p>
            <a:pPr indent="-342900" lvl="2" marL="1371600" rtl="0" algn="l">
              <a:spcBef>
                <a:spcPts val="0"/>
              </a:spcBef>
              <a:spcAft>
                <a:spcPts val="0"/>
              </a:spcAft>
              <a:buSzPts val="1800"/>
              <a:buChar char="■"/>
            </a:pPr>
            <a:r>
              <a:rPr lang="en-GB"/>
              <a:t>Tạo mạng riêng tư trên Internet bằng cách sử dụng các công nghệ bảo mật và mã hóa</a:t>
            </a:r>
            <a:endParaRPr/>
          </a:p>
        </p:txBody>
      </p:sp>
      <p:sp>
        <p:nvSpPr>
          <p:cNvPr id="183" name="Google Shape;183;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a:t>
            </a:r>
            <a:r>
              <a:rPr lang="en-GB"/>
              <a:t>cấu phần hệ thống tiêu biểu</a:t>
            </a:r>
            <a:endParaRPr baseline="-25000"/>
          </a:p>
        </p:txBody>
      </p:sp>
      <p:sp>
        <p:nvSpPr>
          <p:cNvPr id="189" name="Google Shape;189;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0" name="Google Shape;190;p28"/>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Thiết bị p</a:t>
            </a:r>
            <a:r>
              <a:rPr lang="en-GB"/>
              <a:t>hần cứng</a:t>
            </a:r>
            <a:endParaRPr/>
          </a:p>
          <a:p>
            <a:pPr indent="-368300" lvl="1" marL="914400" rtl="0" algn="l">
              <a:spcBef>
                <a:spcPts val="0"/>
              </a:spcBef>
              <a:spcAft>
                <a:spcPts val="0"/>
              </a:spcAft>
              <a:buSzPts val="2200"/>
              <a:buChar char="○"/>
            </a:pPr>
            <a:r>
              <a:rPr lang="en-GB"/>
              <a:t>Máy khách / máy tính cá nhân</a:t>
            </a:r>
            <a:endParaRPr/>
          </a:p>
          <a:p>
            <a:pPr indent="-368300" lvl="1" marL="914400" rtl="0" algn="l">
              <a:spcBef>
                <a:spcPts val="0"/>
              </a:spcBef>
              <a:spcAft>
                <a:spcPts val="0"/>
              </a:spcAft>
              <a:buSzPts val="2200"/>
              <a:buChar char="○"/>
            </a:pPr>
            <a:r>
              <a:rPr lang="en-GB"/>
              <a:t>Máy chủ</a:t>
            </a:r>
            <a:endParaRPr/>
          </a:p>
          <a:p>
            <a:pPr indent="-368300" lvl="1" marL="914400" rtl="0" algn="l">
              <a:spcBef>
                <a:spcPts val="0"/>
              </a:spcBef>
              <a:spcAft>
                <a:spcPts val="0"/>
              </a:spcAft>
              <a:buSzPts val="2200"/>
              <a:buChar char="○"/>
            </a:pPr>
            <a:r>
              <a:rPr lang="en-GB"/>
              <a:t>Hạ tầng m</a:t>
            </a:r>
            <a:r>
              <a:rPr lang="en-GB"/>
              <a:t>ạng</a:t>
            </a:r>
            <a:endParaRPr/>
          </a:p>
          <a:p>
            <a:pPr indent="-381000" lvl="0" marL="457200" rtl="0" algn="l">
              <a:spcBef>
                <a:spcPts val="0"/>
              </a:spcBef>
              <a:spcAft>
                <a:spcPts val="0"/>
              </a:spcAft>
              <a:buSzPts val="2400"/>
              <a:buChar char="●"/>
            </a:pPr>
            <a:r>
              <a:rPr lang="en-GB"/>
              <a:t>Thành phần p</a:t>
            </a:r>
            <a:r>
              <a:rPr lang="en-GB"/>
              <a:t>hần mềm</a:t>
            </a:r>
            <a:endParaRPr/>
          </a:p>
          <a:p>
            <a:pPr indent="-368300" lvl="1" marL="914400" rtl="0" algn="l">
              <a:spcBef>
                <a:spcPts val="0"/>
              </a:spcBef>
              <a:spcAft>
                <a:spcPts val="0"/>
              </a:spcAft>
              <a:buSzPts val="2200"/>
              <a:buChar char="○"/>
            </a:pPr>
            <a:r>
              <a:rPr lang="en-GB"/>
              <a:t>Thành phần l</a:t>
            </a:r>
            <a:r>
              <a:rPr lang="en-GB"/>
              <a:t>ưu trữ dữ liệu</a:t>
            </a:r>
            <a:endParaRPr/>
          </a:p>
          <a:p>
            <a:pPr indent="-368300" lvl="1" marL="914400" rtl="0" algn="l">
              <a:spcBef>
                <a:spcPts val="0"/>
              </a:spcBef>
              <a:spcAft>
                <a:spcPts val="0"/>
              </a:spcAft>
              <a:buSzPts val="2200"/>
              <a:buChar char="○"/>
            </a:pPr>
            <a:r>
              <a:rPr lang="en-GB"/>
              <a:t>Thành phần truy cập dữ liệu</a:t>
            </a:r>
            <a:endParaRPr/>
          </a:p>
          <a:p>
            <a:pPr indent="-368300" lvl="1" marL="914400" rtl="0" algn="l">
              <a:spcBef>
                <a:spcPts val="0"/>
              </a:spcBef>
              <a:spcAft>
                <a:spcPts val="0"/>
              </a:spcAft>
              <a:buSzPts val="2200"/>
              <a:buChar char="○"/>
            </a:pPr>
            <a:r>
              <a:rPr lang="en-GB"/>
              <a:t>Thành phần ứng dụng</a:t>
            </a:r>
            <a:endParaRPr/>
          </a:p>
          <a:p>
            <a:pPr indent="-368300" lvl="1" marL="914400" rtl="0" algn="l">
              <a:spcBef>
                <a:spcPts val="0"/>
              </a:spcBef>
              <a:spcAft>
                <a:spcPts val="0"/>
              </a:spcAft>
              <a:buSzPts val="2200"/>
              <a:buChar char="○"/>
            </a:pPr>
            <a:r>
              <a:rPr lang="en-GB"/>
              <a:t>Thành phần trình diễn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96" name="Google Shape;196;p29"/>
          <p:cNvPicPr preferRelativeResize="0"/>
          <p:nvPr/>
        </p:nvPicPr>
        <p:blipFill rotWithShape="1">
          <a:blip r:embed="rId3">
            <a:alphaModFix/>
          </a:blip>
          <a:srcRect b="24818" l="30489" r="-610" t="19047"/>
          <a:stretch/>
        </p:blipFill>
        <p:spPr>
          <a:xfrm>
            <a:off x="905100" y="1859800"/>
            <a:ext cx="7619999" cy="3168800"/>
          </a:xfrm>
          <a:prstGeom prst="rect">
            <a:avLst/>
          </a:prstGeom>
          <a:noFill/>
          <a:ln>
            <a:noFill/>
          </a:ln>
        </p:spPr>
      </p:pic>
      <p:sp>
        <p:nvSpPr>
          <p:cNvPr id="197" name="Google Shape;197;p2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a:t>
            </a:r>
            <a:r>
              <a:rPr lang="en-GB"/>
              <a:t>iến trúc dựa trên máy chủ</a:t>
            </a:r>
            <a:endParaRPr/>
          </a:p>
        </p:txBody>
      </p:sp>
      <p:sp>
        <p:nvSpPr>
          <p:cNvPr id="198" name="Google Shape;198;p29"/>
          <p:cNvSpPr txBox="1"/>
          <p:nvPr/>
        </p:nvSpPr>
        <p:spPr>
          <a:xfrm>
            <a:off x="1204325" y="1187600"/>
            <a:ext cx="2237400" cy="67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t>M</a:t>
            </a:r>
            <a:r>
              <a:rPr lang="en-GB" sz="2000"/>
              <a:t>áy khách/Cổng thao tác</a:t>
            </a:r>
            <a:endParaRPr sz="2000"/>
          </a:p>
        </p:txBody>
      </p:sp>
      <p:sp>
        <p:nvSpPr>
          <p:cNvPr id="199" name="Google Shape;199;p29"/>
          <p:cNvSpPr txBox="1"/>
          <p:nvPr/>
        </p:nvSpPr>
        <p:spPr>
          <a:xfrm>
            <a:off x="6068575" y="5028600"/>
            <a:ext cx="2237400" cy="155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000">
                <a:solidFill>
                  <a:schemeClr val="dk2"/>
                </a:solidFill>
              </a:rPr>
              <a:t>Trình diễn</a:t>
            </a:r>
            <a:endParaRPr sz="2000">
              <a:solidFill>
                <a:schemeClr val="dk2"/>
              </a:solidFill>
            </a:endParaRPr>
          </a:p>
          <a:p>
            <a:pPr indent="0" lvl="0" marL="0" rtl="0" algn="l">
              <a:lnSpc>
                <a:spcPct val="115000"/>
              </a:lnSpc>
              <a:spcBef>
                <a:spcPts val="0"/>
              </a:spcBef>
              <a:spcAft>
                <a:spcPts val="0"/>
              </a:spcAft>
              <a:buNone/>
            </a:pPr>
            <a:r>
              <a:rPr lang="en-GB" sz="2000">
                <a:solidFill>
                  <a:schemeClr val="dk2"/>
                </a:solidFill>
              </a:rPr>
              <a:t>Ứng dụng</a:t>
            </a:r>
            <a:endParaRPr sz="2000">
              <a:solidFill>
                <a:schemeClr val="dk2"/>
              </a:solidFill>
            </a:endParaRPr>
          </a:p>
          <a:p>
            <a:pPr indent="0" lvl="0" marL="0" rtl="0" algn="l">
              <a:lnSpc>
                <a:spcPct val="115000"/>
              </a:lnSpc>
              <a:spcBef>
                <a:spcPts val="0"/>
              </a:spcBef>
              <a:spcAft>
                <a:spcPts val="0"/>
              </a:spcAft>
              <a:buNone/>
            </a:pPr>
            <a:r>
              <a:rPr lang="en-GB" sz="2000">
                <a:solidFill>
                  <a:schemeClr val="dk2"/>
                </a:solidFill>
              </a:rPr>
              <a:t>Truy cập dữ liệu</a:t>
            </a:r>
            <a:endParaRPr sz="20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en-GB" sz="2000">
                <a:solidFill>
                  <a:schemeClr val="dk2"/>
                </a:solidFill>
              </a:rPr>
              <a:t>Lưu trữ dữ liệu</a:t>
            </a:r>
            <a:endParaRPr sz="2000"/>
          </a:p>
        </p:txBody>
      </p:sp>
      <p:sp>
        <p:nvSpPr>
          <p:cNvPr id="200" name="Google Shape;200;p29"/>
          <p:cNvSpPr txBox="1"/>
          <p:nvPr/>
        </p:nvSpPr>
        <p:spPr>
          <a:xfrm>
            <a:off x="6141800" y="1190075"/>
            <a:ext cx="1792800" cy="59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t>M</a:t>
            </a:r>
            <a:r>
              <a:rPr lang="en-GB" sz="2000"/>
              <a:t>áy chủ</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6" name="Google Shape;206;p3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a:t>
            </a:r>
            <a:r>
              <a:rPr lang="en-GB"/>
              <a:t>iến trúc dựa trên máy khách</a:t>
            </a:r>
            <a:endParaRPr/>
          </a:p>
        </p:txBody>
      </p:sp>
      <p:sp>
        <p:nvSpPr>
          <p:cNvPr id="207" name="Google Shape;207;p30"/>
          <p:cNvSpPr txBox="1"/>
          <p:nvPr/>
        </p:nvSpPr>
        <p:spPr>
          <a:xfrm>
            <a:off x="1294775" y="832000"/>
            <a:ext cx="19839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Các m</a:t>
            </a:r>
            <a:r>
              <a:rPr lang="en-GB" sz="2000"/>
              <a:t>áy khách</a:t>
            </a:r>
            <a:endParaRPr sz="2000"/>
          </a:p>
        </p:txBody>
      </p:sp>
      <p:sp>
        <p:nvSpPr>
          <p:cNvPr id="208" name="Google Shape;208;p30"/>
          <p:cNvSpPr txBox="1"/>
          <p:nvPr/>
        </p:nvSpPr>
        <p:spPr>
          <a:xfrm>
            <a:off x="6068575" y="4596800"/>
            <a:ext cx="1951800" cy="72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000">
                <a:solidFill>
                  <a:schemeClr val="dk2"/>
                </a:solidFill>
              </a:rPr>
              <a:t>Lưu trữ dữ liệu</a:t>
            </a:r>
            <a:endParaRPr sz="2000"/>
          </a:p>
        </p:txBody>
      </p:sp>
      <p:sp>
        <p:nvSpPr>
          <p:cNvPr id="209" name="Google Shape;209;p30"/>
          <p:cNvSpPr txBox="1"/>
          <p:nvPr/>
        </p:nvSpPr>
        <p:spPr>
          <a:xfrm>
            <a:off x="6255375" y="758275"/>
            <a:ext cx="1409400" cy="59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t>Máy chủ</a:t>
            </a:r>
            <a:endParaRPr sz="2000"/>
          </a:p>
        </p:txBody>
      </p:sp>
      <p:sp>
        <p:nvSpPr>
          <p:cNvPr id="210" name="Google Shape;210;p30"/>
          <p:cNvSpPr txBox="1"/>
          <p:nvPr/>
        </p:nvSpPr>
        <p:spPr>
          <a:xfrm>
            <a:off x="716350" y="3122975"/>
            <a:ext cx="2786100" cy="874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000">
                <a:solidFill>
                  <a:schemeClr val="dk2"/>
                </a:solidFill>
              </a:rPr>
              <a:t>Trình diễn, ứng dụng,</a:t>
            </a:r>
            <a:endParaRPr sz="2000">
              <a:solidFill>
                <a:schemeClr val="dk2"/>
              </a:solidFill>
            </a:endParaRPr>
          </a:p>
          <a:p>
            <a:pPr indent="0" lvl="0" marL="0" rtl="0" algn="ctr">
              <a:lnSpc>
                <a:spcPct val="115000"/>
              </a:lnSpc>
              <a:spcBef>
                <a:spcPts val="0"/>
              </a:spcBef>
              <a:spcAft>
                <a:spcPts val="0"/>
              </a:spcAft>
              <a:buNone/>
            </a:pPr>
            <a:r>
              <a:rPr lang="en-GB" sz="2000">
                <a:solidFill>
                  <a:schemeClr val="dk2"/>
                </a:solidFill>
              </a:rPr>
              <a:t>t</a:t>
            </a:r>
            <a:r>
              <a:rPr lang="en-GB" sz="2000">
                <a:solidFill>
                  <a:schemeClr val="dk2"/>
                </a:solidFill>
              </a:rPr>
              <a:t>ruy cập dữ liệu</a:t>
            </a:r>
            <a:endParaRPr sz="2000"/>
          </a:p>
        </p:txBody>
      </p:sp>
      <p:pic>
        <p:nvPicPr>
          <p:cNvPr id="211" name="Google Shape;211;p30"/>
          <p:cNvPicPr preferRelativeResize="0"/>
          <p:nvPr/>
        </p:nvPicPr>
        <p:blipFill rotWithShape="1">
          <a:blip r:embed="rId3">
            <a:alphaModFix/>
          </a:blip>
          <a:srcRect b="24819" l="78848" r="3025" t="16892"/>
          <a:stretch/>
        </p:blipFill>
        <p:spPr>
          <a:xfrm>
            <a:off x="6160200" y="1204900"/>
            <a:ext cx="1969776" cy="3290300"/>
          </a:xfrm>
          <a:prstGeom prst="rect">
            <a:avLst/>
          </a:prstGeom>
          <a:noFill/>
          <a:ln>
            <a:noFill/>
          </a:ln>
        </p:spPr>
      </p:pic>
      <p:pic>
        <p:nvPicPr>
          <p:cNvPr id="212" name="Google Shape;212;p30"/>
          <p:cNvPicPr preferRelativeResize="0"/>
          <p:nvPr/>
        </p:nvPicPr>
        <p:blipFill rotWithShape="1">
          <a:blip r:embed="rId3">
            <a:alphaModFix/>
          </a:blip>
          <a:srcRect b="32678" l="30489" r="45990" t="19045"/>
          <a:stretch/>
        </p:blipFill>
        <p:spPr>
          <a:xfrm>
            <a:off x="1072200" y="3943321"/>
            <a:ext cx="1792449" cy="1910961"/>
          </a:xfrm>
          <a:prstGeom prst="rect">
            <a:avLst/>
          </a:prstGeom>
          <a:noFill/>
          <a:ln>
            <a:noFill/>
          </a:ln>
        </p:spPr>
      </p:pic>
      <p:pic>
        <p:nvPicPr>
          <p:cNvPr id="213" name="Google Shape;213;p30"/>
          <p:cNvPicPr preferRelativeResize="0"/>
          <p:nvPr/>
        </p:nvPicPr>
        <p:blipFill rotWithShape="1">
          <a:blip r:embed="rId3">
            <a:alphaModFix/>
          </a:blip>
          <a:srcRect b="32678" l="30489" r="45990" t="19045"/>
          <a:stretch/>
        </p:blipFill>
        <p:spPr>
          <a:xfrm>
            <a:off x="1224600" y="1288225"/>
            <a:ext cx="1792449" cy="1910961"/>
          </a:xfrm>
          <a:prstGeom prst="rect">
            <a:avLst/>
          </a:prstGeom>
          <a:noFill/>
          <a:ln>
            <a:noFill/>
          </a:ln>
        </p:spPr>
      </p:pic>
      <p:sp>
        <p:nvSpPr>
          <p:cNvPr id="214" name="Google Shape;214;p30"/>
          <p:cNvSpPr txBox="1"/>
          <p:nvPr/>
        </p:nvSpPr>
        <p:spPr>
          <a:xfrm>
            <a:off x="716350" y="5789975"/>
            <a:ext cx="2786100" cy="874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000">
                <a:solidFill>
                  <a:schemeClr val="dk2"/>
                </a:solidFill>
              </a:rPr>
              <a:t>Trình diễn, ứng dụng,</a:t>
            </a:r>
            <a:endParaRPr sz="2000">
              <a:solidFill>
                <a:schemeClr val="dk2"/>
              </a:solidFill>
            </a:endParaRPr>
          </a:p>
          <a:p>
            <a:pPr indent="0" lvl="0" marL="0" rtl="0" algn="ctr">
              <a:lnSpc>
                <a:spcPct val="115000"/>
              </a:lnSpc>
              <a:spcBef>
                <a:spcPts val="0"/>
              </a:spcBef>
              <a:spcAft>
                <a:spcPts val="0"/>
              </a:spcAft>
              <a:buNone/>
            </a:pPr>
            <a:r>
              <a:rPr lang="en-GB" sz="2000">
                <a:solidFill>
                  <a:schemeClr val="dk2"/>
                </a:solidFill>
              </a:rPr>
              <a:t>truy cập dữ liệu</a:t>
            </a:r>
            <a:endParaRPr sz="2000"/>
          </a:p>
        </p:txBody>
      </p:sp>
      <p:cxnSp>
        <p:nvCxnSpPr>
          <p:cNvPr id="215" name="Google Shape;215;p30"/>
          <p:cNvCxnSpPr/>
          <p:nvPr/>
        </p:nvCxnSpPr>
        <p:spPr>
          <a:xfrm>
            <a:off x="2995400" y="2219147"/>
            <a:ext cx="3155700" cy="356700"/>
          </a:xfrm>
          <a:prstGeom prst="straightConnector1">
            <a:avLst/>
          </a:prstGeom>
          <a:noFill/>
          <a:ln cap="flat" cmpd="sng" w="28575">
            <a:solidFill>
              <a:schemeClr val="dk2"/>
            </a:solidFill>
            <a:prstDash val="solid"/>
            <a:round/>
            <a:headEnd len="med" w="med" type="none"/>
            <a:tailEnd len="med" w="med" type="none"/>
          </a:ln>
        </p:spPr>
      </p:cxnSp>
      <p:cxnSp>
        <p:nvCxnSpPr>
          <p:cNvPr id="216" name="Google Shape;216;p30"/>
          <p:cNvCxnSpPr/>
          <p:nvPr/>
        </p:nvCxnSpPr>
        <p:spPr>
          <a:xfrm flipH="1" rot="10800000">
            <a:off x="2821075" y="2796650"/>
            <a:ext cx="3339000" cy="20691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Kiến trúc máy khách-máy chủ</a:t>
            </a:r>
            <a:endParaRPr/>
          </a:p>
        </p:txBody>
      </p:sp>
      <p:sp>
        <p:nvSpPr>
          <p:cNvPr id="222" name="Google Shape;222;p31"/>
          <p:cNvSpPr txBox="1"/>
          <p:nvPr>
            <p:ph idx="4294967295" type="body"/>
          </p:nvPr>
        </p:nvSpPr>
        <p:spPr>
          <a:xfrm>
            <a:off x="311700" y="1061325"/>
            <a:ext cx="8642400" cy="5294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Hệ thống được thiết kế với 1 phần ở máy chủ và 1 phần ở máy khách, cố gắng phân chia hợp lý khối tượng tính toán</a:t>
            </a:r>
            <a:endParaRPr/>
          </a:p>
          <a:p>
            <a:pPr indent="-381000" lvl="0" marL="457200" rtl="0" algn="just">
              <a:spcBef>
                <a:spcPts val="0"/>
              </a:spcBef>
              <a:spcAft>
                <a:spcPts val="0"/>
              </a:spcAft>
              <a:buSzPts val="2400"/>
              <a:buChar char="●"/>
            </a:pPr>
            <a:r>
              <a:rPr lang="en-GB"/>
              <a:t>Kiến trúc phổ biến nhất trong các hệ thống hiện đại</a:t>
            </a:r>
            <a:endParaRPr/>
          </a:p>
          <a:p>
            <a:pPr indent="-381000" lvl="0" marL="457200" rtl="0" algn="just">
              <a:spcBef>
                <a:spcPts val="0"/>
              </a:spcBef>
              <a:spcAft>
                <a:spcPts val="0"/>
              </a:spcAft>
              <a:buSzPts val="2400"/>
              <a:buChar char="●"/>
            </a:pPr>
            <a:r>
              <a:rPr lang="en-GB"/>
              <a:t>Khối lượng tính toán của máy khách dao động</a:t>
            </a:r>
            <a:endParaRPr/>
          </a:p>
          <a:p>
            <a:pPr indent="-368300" lvl="1" marL="914400" rtl="0" algn="just">
              <a:spcBef>
                <a:spcPts val="0"/>
              </a:spcBef>
              <a:spcAft>
                <a:spcPts val="0"/>
              </a:spcAft>
              <a:buSzPts val="2200"/>
              <a:buChar char="○"/>
            </a:pPr>
            <a:r>
              <a:rPr lang="en-GB"/>
              <a:t>Máy khách mỏng chỉ thực hiện lô-gic trình diễn</a:t>
            </a:r>
            <a:endParaRPr/>
          </a:p>
          <a:p>
            <a:pPr indent="-368300" lvl="1" marL="914400" rtl="0" algn="just">
              <a:spcBef>
                <a:spcPts val="0"/>
              </a:spcBef>
              <a:spcAft>
                <a:spcPts val="0"/>
              </a:spcAft>
              <a:buSzPts val="2200"/>
              <a:buChar char="○"/>
            </a:pPr>
            <a:r>
              <a:rPr lang="en-GB"/>
              <a:t>Máy khách dày thực hiện lô-gic trình diễn và lô-gic ứng dụng</a:t>
            </a:r>
            <a:endParaRPr/>
          </a:p>
          <a:p>
            <a:pPr indent="-381000" lvl="0" marL="457200" rtl="0" algn="just">
              <a:spcBef>
                <a:spcPts val="0"/>
              </a:spcBef>
              <a:spcAft>
                <a:spcPts val="0"/>
              </a:spcAft>
              <a:buSzPts val="2400"/>
              <a:buChar char="●"/>
            </a:pPr>
            <a:r>
              <a:rPr lang="en-GB"/>
              <a:t>Khả năng mở rộng cao với chi phí riêng từng phần.</a:t>
            </a:r>
            <a:endParaRPr/>
          </a:p>
          <a:p>
            <a:pPr indent="-381000" lvl="0" marL="457200" rtl="0" algn="just">
              <a:spcBef>
                <a:spcPts val="0"/>
              </a:spcBef>
              <a:spcAft>
                <a:spcPts val="0"/>
              </a:spcAft>
              <a:buSzPts val="2400"/>
              <a:buChar char="●"/>
            </a:pPr>
            <a:r>
              <a:rPr lang="en-GB"/>
              <a:t>Phức tạp hơn so với phát triển ứng dụng theo kiến trúc dựa trên máy khách và kiến trúc dựa trên máy chủ, và cần hỗ trợ tương tác trong môi trường phân tán.</a:t>
            </a:r>
            <a:endParaRPr/>
          </a:p>
        </p:txBody>
      </p:sp>
      <p:sp>
        <p:nvSpPr>
          <p:cNvPr id="223" name="Google Shape;223;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9" name="Google Shape;229;p3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mô hình kiến trúc máy khách-máy chủ</a:t>
            </a:r>
            <a:endParaRPr/>
          </a:p>
        </p:txBody>
      </p:sp>
      <p:sp>
        <p:nvSpPr>
          <p:cNvPr id="230" name="Google Shape;230;p32"/>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2-dãy: 1 máy chủ chịu trách nhiệm lưu trữ và quản lý truy cập dữ liệu; máy khách có trách nhiệm xử lý lô-gic ứng dụng và lô-gic trình diễn</a:t>
            </a:r>
            <a:endParaRPr/>
          </a:p>
          <a:p>
            <a:pPr indent="-381000" lvl="0" marL="457200" rtl="0" algn="l">
              <a:spcBef>
                <a:spcPts val="0"/>
              </a:spcBef>
              <a:spcAft>
                <a:spcPts val="0"/>
              </a:spcAft>
              <a:buSzPts val="2400"/>
              <a:buChar char="●"/>
            </a:pPr>
            <a:r>
              <a:rPr lang="en-GB"/>
              <a:t>3-dãy: Lô-gic truy cập và lưu trữ dữ liệu trên 1 máy chủ; lô-gic ứng dụng trên 1 máy chủ khác; máy khách có trách nhiệm xử lý lô-gic trình diễn.</a:t>
            </a:r>
            <a:endParaRPr/>
          </a:p>
          <a:p>
            <a:pPr indent="-381000" lvl="0" marL="457200" rtl="0" algn="l">
              <a:spcBef>
                <a:spcPts val="0"/>
              </a:spcBef>
              <a:spcAft>
                <a:spcPts val="0"/>
              </a:spcAft>
              <a:buSzPts val="2400"/>
              <a:buChar char="●"/>
            </a:pPr>
            <a:r>
              <a:rPr lang="en-GB"/>
              <a:t>n-dãy: Lô-gic ứng dụng được phân chia trên nhiều máy chủ, lô-gic dữ liệu trên 1 máy khác chủ khác</a:t>
            </a:r>
            <a:endParaRPr/>
          </a:p>
          <a:p>
            <a:pPr indent="-368300" lvl="1" marL="914400" rtl="0" algn="l">
              <a:spcBef>
                <a:spcPts val="0"/>
              </a:spcBef>
              <a:spcAft>
                <a:spcPts val="0"/>
              </a:spcAft>
              <a:buSzPts val="2200"/>
              <a:buChar char="○"/>
            </a:pPr>
            <a:r>
              <a:rPr lang="en-GB"/>
              <a:t>Phổ biến trong các ứng dụng thương mại điện tử</a:t>
            </a:r>
            <a:endParaRPr/>
          </a:p>
          <a:p>
            <a:pPr indent="-368300" lvl="1" marL="914400" rtl="0" algn="l">
              <a:spcBef>
                <a:spcPts val="0"/>
              </a:spcBef>
              <a:spcAft>
                <a:spcPts val="0"/>
              </a:spcAft>
              <a:buSzPts val="2200"/>
              <a:buChar char="○"/>
            </a:pPr>
            <a:r>
              <a:rPr lang="en-GB"/>
              <a:t>Cân bằng tải tốt hơn</a:t>
            </a:r>
            <a:endParaRPr/>
          </a:p>
          <a:p>
            <a:pPr indent="-368300" lvl="1" marL="914400" rtl="0" algn="l">
              <a:spcBef>
                <a:spcPts val="0"/>
              </a:spcBef>
              <a:spcAft>
                <a:spcPts val="0"/>
              </a:spcAft>
              <a:buSzPts val="2200"/>
              <a:buChar char="○"/>
            </a:pPr>
            <a:r>
              <a:rPr lang="en-GB"/>
              <a:t>Khả năng mở rộng cao hơn hệ thống 2 hoặc 3 dãy</a:t>
            </a:r>
            <a:endParaRPr/>
          </a:p>
          <a:p>
            <a:pPr indent="-368300" lvl="1" marL="914400" rtl="0" algn="l">
              <a:spcBef>
                <a:spcPts val="0"/>
              </a:spcBef>
              <a:spcAft>
                <a:spcPts val="0"/>
              </a:spcAft>
              <a:buSzPts val="2200"/>
              <a:buChar char="○"/>
            </a:pPr>
            <a:r>
              <a:rPr lang="en-GB"/>
              <a:t>Nhu cầu sử dụng mạng cao hơn</a:t>
            </a:r>
            <a:endParaRPr/>
          </a:p>
          <a:p>
            <a:pPr indent="-381000" lvl="0" marL="457200" rtl="0" algn="l">
              <a:spcBef>
                <a:spcPts val="0"/>
              </a:spcBef>
              <a:spcAft>
                <a:spcPts val="0"/>
              </a:spcAft>
              <a:buSzPts val="2400"/>
              <a:buChar char="●"/>
            </a:pPr>
            <a:r>
              <a:rPr lang="en-GB"/>
              <a:t>Các dãy máy khách-máy chủ được xác định dựa trên lô-gic chia nhỏ hệ thống.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6" name="Google Shape;236;p3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a:t>
            </a:r>
            <a:r>
              <a:rPr lang="en-GB"/>
              <a:t>iến trúc máy khách-máy chủ 2-dãy</a:t>
            </a:r>
            <a:endParaRPr/>
          </a:p>
        </p:txBody>
      </p:sp>
      <p:sp>
        <p:nvSpPr>
          <p:cNvPr id="237" name="Google Shape;237;p33"/>
          <p:cNvSpPr txBox="1"/>
          <p:nvPr/>
        </p:nvSpPr>
        <p:spPr>
          <a:xfrm>
            <a:off x="5992375" y="4673000"/>
            <a:ext cx="2170200" cy="910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000">
                <a:solidFill>
                  <a:schemeClr val="dk2"/>
                </a:solidFill>
              </a:rPr>
              <a:t>Truy cập dữ liệu</a:t>
            </a:r>
            <a:endParaRPr sz="2000">
              <a:solidFill>
                <a:schemeClr val="dk2"/>
              </a:solidFill>
            </a:endParaRPr>
          </a:p>
          <a:p>
            <a:pPr indent="0" lvl="0" marL="0" rtl="0" algn="ctr">
              <a:lnSpc>
                <a:spcPct val="115000"/>
              </a:lnSpc>
              <a:spcBef>
                <a:spcPts val="0"/>
              </a:spcBef>
              <a:spcAft>
                <a:spcPts val="0"/>
              </a:spcAft>
              <a:buNone/>
            </a:pPr>
            <a:r>
              <a:rPr lang="en-GB" sz="2000">
                <a:solidFill>
                  <a:schemeClr val="dk2"/>
                </a:solidFill>
              </a:rPr>
              <a:t>Lưu trữ dữ liệu</a:t>
            </a:r>
            <a:endParaRPr sz="2000"/>
          </a:p>
        </p:txBody>
      </p:sp>
      <p:sp>
        <p:nvSpPr>
          <p:cNvPr id="238" name="Google Shape;238;p33"/>
          <p:cNvSpPr txBox="1"/>
          <p:nvPr/>
        </p:nvSpPr>
        <p:spPr>
          <a:xfrm>
            <a:off x="6331575" y="834473"/>
            <a:ext cx="1326000" cy="45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t>Máy chủ</a:t>
            </a:r>
            <a:endParaRPr sz="2000"/>
          </a:p>
        </p:txBody>
      </p:sp>
      <p:sp>
        <p:nvSpPr>
          <p:cNvPr id="239" name="Google Shape;239;p33"/>
          <p:cNvSpPr txBox="1"/>
          <p:nvPr/>
        </p:nvSpPr>
        <p:spPr>
          <a:xfrm>
            <a:off x="1336450" y="4568933"/>
            <a:ext cx="1951800" cy="155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000">
                <a:solidFill>
                  <a:schemeClr val="dk2"/>
                </a:solidFill>
              </a:rPr>
              <a:t>Trình diễn</a:t>
            </a:r>
            <a:endParaRPr sz="2000">
              <a:solidFill>
                <a:schemeClr val="dk2"/>
              </a:solidFill>
            </a:endParaRPr>
          </a:p>
          <a:p>
            <a:pPr indent="0" lvl="0" marL="0" rtl="0" algn="l">
              <a:lnSpc>
                <a:spcPct val="115000"/>
              </a:lnSpc>
              <a:spcBef>
                <a:spcPts val="0"/>
              </a:spcBef>
              <a:spcAft>
                <a:spcPts val="0"/>
              </a:spcAft>
              <a:buNone/>
            </a:pPr>
            <a:r>
              <a:rPr lang="en-GB" sz="2000">
                <a:solidFill>
                  <a:schemeClr val="dk2"/>
                </a:solidFill>
              </a:rPr>
              <a:t>Ứng dụng</a:t>
            </a:r>
            <a:endParaRPr sz="2000"/>
          </a:p>
        </p:txBody>
      </p:sp>
      <p:pic>
        <p:nvPicPr>
          <p:cNvPr id="240" name="Google Shape;240;p33"/>
          <p:cNvPicPr preferRelativeResize="0"/>
          <p:nvPr/>
        </p:nvPicPr>
        <p:blipFill rotWithShape="1">
          <a:blip r:embed="rId3">
            <a:alphaModFix/>
          </a:blip>
          <a:srcRect b="24815" l="30489" r="-610" t="16974"/>
          <a:stretch/>
        </p:blipFill>
        <p:spPr>
          <a:xfrm>
            <a:off x="905100" y="1285575"/>
            <a:ext cx="7619999" cy="3285824"/>
          </a:xfrm>
          <a:prstGeom prst="rect">
            <a:avLst/>
          </a:prstGeom>
          <a:noFill/>
          <a:ln>
            <a:noFill/>
          </a:ln>
        </p:spPr>
      </p:pic>
      <p:sp>
        <p:nvSpPr>
          <p:cNvPr id="241" name="Google Shape;241;p33"/>
          <p:cNvSpPr txBox="1"/>
          <p:nvPr/>
        </p:nvSpPr>
        <p:spPr>
          <a:xfrm>
            <a:off x="1336450" y="984400"/>
            <a:ext cx="1789800" cy="5247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t>Máy khách</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47" name="Google Shape;247;p34"/>
          <p:cNvPicPr preferRelativeResize="0"/>
          <p:nvPr/>
        </p:nvPicPr>
        <p:blipFill rotWithShape="1">
          <a:blip r:embed="rId3">
            <a:alphaModFix/>
          </a:blip>
          <a:srcRect b="17123" l="0" r="77379" t="19248"/>
          <a:stretch/>
        </p:blipFill>
        <p:spPr>
          <a:xfrm>
            <a:off x="15847" y="1976528"/>
            <a:ext cx="2068501" cy="2499700"/>
          </a:xfrm>
          <a:prstGeom prst="rect">
            <a:avLst/>
          </a:prstGeom>
          <a:noFill/>
          <a:ln>
            <a:noFill/>
          </a:ln>
        </p:spPr>
      </p:pic>
      <p:sp>
        <p:nvSpPr>
          <p:cNvPr id="248" name="Google Shape;248;p3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a:t>
            </a:r>
            <a:r>
              <a:rPr lang="en-GB"/>
              <a:t>iến trúc máy khách-máy chủ 3-dãy</a:t>
            </a:r>
            <a:endParaRPr/>
          </a:p>
        </p:txBody>
      </p:sp>
      <p:sp>
        <p:nvSpPr>
          <p:cNvPr id="249" name="Google Shape;249;p34"/>
          <p:cNvSpPr txBox="1"/>
          <p:nvPr/>
        </p:nvSpPr>
        <p:spPr>
          <a:xfrm>
            <a:off x="494825" y="1279933"/>
            <a:ext cx="16887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Máy khách</a:t>
            </a:r>
            <a:endParaRPr sz="2000"/>
          </a:p>
        </p:txBody>
      </p:sp>
      <p:sp>
        <p:nvSpPr>
          <p:cNvPr id="250" name="Google Shape;250;p34"/>
          <p:cNvSpPr txBox="1"/>
          <p:nvPr/>
        </p:nvSpPr>
        <p:spPr>
          <a:xfrm>
            <a:off x="6566750" y="1135975"/>
            <a:ext cx="2189400" cy="594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000">
                <a:solidFill>
                  <a:schemeClr val="dk2"/>
                </a:solidFill>
              </a:rPr>
              <a:t>Máy chủ CSDL</a:t>
            </a:r>
            <a:endParaRPr sz="2000"/>
          </a:p>
        </p:txBody>
      </p:sp>
      <p:sp>
        <p:nvSpPr>
          <p:cNvPr id="251" name="Google Shape;251;p34"/>
          <p:cNvSpPr txBox="1"/>
          <p:nvPr/>
        </p:nvSpPr>
        <p:spPr>
          <a:xfrm>
            <a:off x="3493450" y="1135975"/>
            <a:ext cx="24168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Máy chủ </a:t>
            </a:r>
            <a:r>
              <a:rPr lang="en-GB" sz="2000"/>
              <a:t>ứng dụng</a:t>
            </a:r>
            <a:endParaRPr sz="2000"/>
          </a:p>
        </p:txBody>
      </p:sp>
      <p:sp>
        <p:nvSpPr>
          <p:cNvPr id="252" name="Google Shape;252;p34"/>
          <p:cNvSpPr txBox="1"/>
          <p:nvPr/>
        </p:nvSpPr>
        <p:spPr>
          <a:xfrm>
            <a:off x="384125" y="4531775"/>
            <a:ext cx="1466400" cy="52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000">
                <a:solidFill>
                  <a:schemeClr val="dk2"/>
                </a:solidFill>
              </a:rPr>
              <a:t>Trình diễn</a:t>
            </a:r>
            <a:endParaRPr sz="2000"/>
          </a:p>
        </p:txBody>
      </p:sp>
      <p:sp>
        <p:nvSpPr>
          <p:cNvPr id="253" name="Google Shape;253;p34"/>
          <p:cNvSpPr txBox="1"/>
          <p:nvPr/>
        </p:nvSpPr>
        <p:spPr>
          <a:xfrm>
            <a:off x="3569650" y="4982267"/>
            <a:ext cx="1951800" cy="52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000">
                <a:solidFill>
                  <a:schemeClr val="dk2"/>
                </a:solidFill>
              </a:rPr>
              <a:t>Ứng dụng</a:t>
            </a:r>
            <a:endParaRPr sz="2000"/>
          </a:p>
        </p:txBody>
      </p:sp>
      <p:sp>
        <p:nvSpPr>
          <p:cNvPr id="254" name="Google Shape;254;p34"/>
          <p:cNvSpPr txBox="1"/>
          <p:nvPr/>
        </p:nvSpPr>
        <p:spPr>
          <a:xfrm>
            <a:off x="6499500" y="4982275"/>
            <a:ext cx="2068500" cy="141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GB" sz="2000">
                <a:solidFill>
                  <a:schemeClr val="dk2"/>
                </a:solidFill>
              </a:rPr>
              <a:t>Truy cập dữ liệu</a:t>
            </a:r>
            <a:endParaRPr sz="2000">
              <a:solidFill>
                <a:schemeClr val="dk2"/>
              </a:solidFill>
            </a:endParaRPr>
          </a:p>
          <a:p>
            <a:pPr indent="0" lvl="0" marL="0" rtl="0" algn="ctr">
              <a:lnSpc>
                <a:spcPct val="115000"/>
              </a:lnSpc>
              <a:spcBef>
                <a:spcPts val="0"/>
              </a:spcBef>
              <a:spcAft>
                <a:spcPts val="0"/>
              </a:spcAft>
              <a:buNone/>
            </a:pPr>
            <a:r>
              <a:rPr lang="en-GB" sz="2000">
                <a:solidFill>
                  <a:schemeClr val="dk2"/>
                </a:solidFill>
              </a:rPr>
              <a:t>Lưu trữ dữ liệu</a:t>
            </a:r>
            <a:endParaRPr sz="2000">
              <a:solidFill>
                <a:schemeClr val="dk2"/>
              </a:solidFill>
            </a:endParaRPr>
          </a:p>
        </p:txBody>
      </p:sp>
      <p:pic>
        <p:nvPicPr>
          <p:cNvPr id="255" name="Google Shape;255;p34"/>
          <p:cNvPicPr preferRelativeResize="0"/>
          <p:nvPr/>
        </p:nvPicPr>
        <p:blipFill rotWithShape="1">
          <a:blip r:embed="rId4">
            <a:alphaModFix/>
          </a:blip>
          <a:srcRect b="24819" l="78786" r="3026" t="16892"/>
          <a:stretch/>
        </p:blipFill>
        <p:spPr>
          <a:xfrm>
            <a:off x="3751625" y="1730375"/>
            <a:ext cx="1871323" cy="3115350"/>
          </a:xfrm>
          <a:prstGeom prst="rect">
            <a:avLst/>
          </a:prstGeom>
          <a:noFill/>
          <a:ln>
            <a:noFill/>
          </a:ln>
        </p:spPr>
      </p:pic>
      <p:pic>
        <p:nvPicPr>
          <p:cNvPr id="256" name="Google Shape;256;p34"/>
          <p:cNvPicPr preferRelativeResize="0"/>
          <p:nvPr/>
        </p:nvPicPr>
        <p:blipFill rotWithShape="1">
          <a:blip r:embed="rId4">
            <a:alphaModFix/>
          </a:blip>
          <a:srcRect b="24819" l="78764" r="3025" t="16892"/>
          <a:stretch/>
        </p:blipFill>
        <p:spPr>
          <a:xfrm>
            <a:off x="6720975" y="1806575"/>
            <a:ext cx="1873774" cy="3115350"/>
          </a:xfrm>
          <a:prstGeom prst="rect">
            <a:avLst/>
          </a:prstGeom>
          <a:noFill/>
          <a:ln>
            <a:noFill/>
          </a:ln>
        </p:spPr>
      </p:pic>
      <p:cxnSp>
        <p:nvCxnSpPr>
          <p:cNvPr id="257" name="Google Shape;257;p34"/>
          <p:cNvCxnSpPr/>
          <p:nvPr/>
        </p:nvCxnSpPr>
        <p:spPr>
          <a:xfrm>
            <a:off x="2068501" y="3178835"/>
            <a:ext cx="1671600" cy="0"/>
          </a:xfrm>
          <a:prstGeom prst="straightConnector1">
            <a:avLst/>
          </a:prstGeom>
          <a:noFill/>
          <a:ln cap="flat" cmpd="sng" w="28575">
            <a:solidFill>
              <a:schemeClr val="dk2"/>
            </a:solidFill>
            <a:prstDash val="solid"/>
            <a:round/>
            <a:headEnd len="med" w="med" type="none"/>
            <a:tailEnd len="med" w="med" type="none"/>
          </a:ln>
        </p:spPr>
      </p:cxnSp>
      <p:cxnSp>
        <p:nvCxnSpPr>
          <p:cNvPr id="258" name="Google Shape;258;p34"/>
          <p:cNvCxnSpPr/>
          <p:nvPr/>
        </p:nvCxnSpPr>
        <p:spPr>
          <a:xfrm>
            <a:off x="5622948" y="3177119"/>
            <a:ext cx="10200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4" name="Google Shape;264;p3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a:t>
            </a:r>
            <a:r>
              <a:rPr lang="en-GB"/>
              <a:t>iến trúc máy khách-máy chủ 4-dãy</a:t>
            </a:r>
            <a:endParaRPr/>
          </a:p>
        </p:txBody>
      </p:sp>
      <p:pic>
        <p:nvPicPr>
          <p:cNvPr id="265" name="Google Shape;265;p35"/>
          <p:cNvPicPr preferRelativeResize="0"/>
          <p:nvPr/>
        </p:nvPicPr>
        <p:blipFill rotWithShape="1">
          <a:blip r:embed="rId3">
            <a:alphaModFix/>
          </a:blip>
          <a:srcRect b="55514" l="0" r="56947" t="0"/>
          <a:stretch/>
        </p:blipFill>
        <p:spPr>
          <a:xfrm>
            <a:off x="2599625" y="1320724"/>
            <a:ext cx="1749301" cy="1851651"/>
          </a:xfrm>
          <a:prstGeom prst="rect">
            <a:avLst/>
          </a:prstGeom>
          <a:noFill/>
          <a:ln>
            <a:noFill/>
          </a:ln>
        </p:spPr>
      </p:pic>
      <p:sp>
        <p:nvSpPr>
          <p:cNvPr id="266" name="Google Shape;266;p35"/>
          <p:cNvSpPr txBox="1"/>
          <p:nvPr/>
        </p:nvSpPr>
        <p:spPr>
          <a:xfrm>
            <a:off x="2518325" y="897525"/>
            <a:ext cx="15309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434343"/>
                </a:solidFill>
              </a:rPr>
              <a:t>M</a:t>
            </a:r>
            <a:r>
              <a:rPr lang="en-GB" sz="2000">
                <a:solidFill>
                  <a:srgbClr val="434343"/>
                </a:solidFill>
              </a:rPr>
              <a:t>áy khách</a:t>
            </a:r>
            <a:endParaRPr sz="2000">
              <a:solidFill>
                <a:srgbClr val="434343"/>
              </a:solidFill>
            </a:endParaRPr>
          </a:p>
        </p:txBody>
      </p:sp>
      <p:sp>
        <p:nvSpPr>
          <p:cNvPr id="267" name="Google Shape;267;p35"/>
          <p:cNvSpPr txBox="1"/>
          <p:nvPr/>
        </p:nvSpPr>
        <p:spPr>
          <a:xfrm>
            <a:off x="5827900" y="897525"/>
            <a:ext cx="17493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434343"/>
                </a:solidFill>
              </a:rPr>
              <a:t>M</a:t>
            </a:r>
            <a:r>
              <a:rPr lang="en-GB" sz="2000">
                <a:solidFill>
                  <a:srgbClr val="434343"/>
                </a:solidFill>
              </a:rPr>
              <a:t>áy chủ Web</a:t>
            </a:r>
            <a:endParaRPr sz="2000">
              <a:solidFill>
                <a:srgbClr val="434343"/>
              </a:solidFill>
            </a:endParaRPr>
          </a:p>
        </p:txBody>
      </p:sp>
      <p:sp>
        <p:nvSpPr>
          <p:cNvPr id="268" name="Google Shape;268;p35"/>
          <p:cNvSpPr txBox="1"/>
          <p:nvPr/>
        </p:nvSpPr>
        <p:spPr>
          <a:xfrm>
            <a:off x="1795350" y="3589925"/>
            <a:ext cx="24069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434343"/>
                </a:solidFill>
              </a:rPr>
              <a:t>Máy chủ </a:t>
            </a:r>
            <a:r>
              <a:rPr lang="en-GB" sz="2000">
                <a:solidFill>
                  <a:srgbClr val="434343"/>
                </a:solidFill>
              </a:rPr>
              <a:t>ứng dụng</a:t>
            </a:r>
            <a:endParaRPr sz="2000">
              <a:solidFill>
                <a:srgbClr val="434343"/>
              </a:solidFill>
            </a:endParaRPr>
          </a:p>
        </p:txBody>
      </p:sp>
      <p:sp>
        <p:nvSpPr>
          <p:cNvPr id="269" name="Google Shape;269;p35"/>
          <p:cNvSpPr txBox="1"/>
          <p:nvPr/>
        </p:nvSpPr>
        <p:spPr>
          <a:xfrm>
            <a:off x="5734950" y="3666125"/>
            <a:ext cx="21165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434343"/>
                </a:solidFill>
              </a:rPr>
              <a:t>Máy chủ CS</a:t>
            </a:r>
            <a:r>
              <a:rPr lang="en-GB" sz="2000">
                <a:solidFill>
                  <a:srgbClr val="434343"/>
                </a:solidFill>
              </a:rPr>
              <a:t>DL</a:t>
            </a:r>
            <a:endParaRPr sz="2000">
              <a:solidFill>
                <a:srgbClr val="434343"/>
              </a:solidFill>
            </a:endParaRPr>
          </a:p>
        </p:txBody>
      </p:sp>
      <p:sp>
        <p:nvSpPr>
          <p:cNvPr id="270" name="Google Shape;270;p35"/>
          <p:cNvSpPr txBox="1"/>
          <p:nvPr/>
        </p:nvSpPr>
        <p:spPr>
          <a:xfrm>
            <a:off x="2558275" y="2647667"/>
            <a:ext cx="15750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434343"/>
                </a:solidFill>
              </a:rPr>
              <a:t>Tr</a:t>
            </a:r>
            <a:r>
              <a:rPr lang="en-GB" sz="2000">
                <a:solidFill>
                  <a:srgbClr val="434343"/>
                </a:solidFill>
              </a:rPr>
              <a:t>ình diễn</a:t>
            </a:r>
            <a:endParaRPr sz="2000">
              <a:solidFill>
                <a:srgbClr val="434343"/>
              </a:solidFill>
            </a:endParaRPr>
          </a:p>
        </p:txBody>
      </p:sp>
      <p:sp>
        <p:nvSpPr>
          <p:cNvPr id="271" name="Google Shape;271;p35"/>
          <p:cNvSpPr txBox="1"/>
          <p:nvPr/>
        </p:nvSpPr>
        <p:spPr>
          <a:xfrm>
            <a:off x="5711814" y="2723875"/>
            <a:ext cx="2060100" cy="72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434343"/>
                </a:solidFill>
              </a:rPr>
              <a:t>Th</a:t>
            </a:r>
            <a:r>
              <a:rPr lang="en-GB" sz="2000">
                <a:solidFill>
                  <a:srgbClr val="434343"/>
                </a:solidFill>
              </a:rPr>
              <a:t>ành phần ứng dụng Web</a:t>
            </a:r>
            <a:endParaRPr sz="2000">
              <a:solidFill>
                <a:srgbClr val="434343"/>
              </a:solidFill>
            </a:endParaRPr>
          </a:p>
        </p:txBody>
      </p:sp>
      <p:sp>
        <p:nvSpPr>
          <p:cNvPr id="272" name="Google Shape;272;p35"/>
          <p:cNvSpPr txBox="1"/>
          <p:nvPr/>
        </p:nvSpPr>
        <p:spPr>
          <a:xfrm>
            <a:off x="2112564" y="5543275"/>
            <a:ext cx="2116500" cy="72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434343"/>
                </a:solidFill>
              </a:rPr>
              <a:t>Thành phần ứng dụng ng</a:t>
            </a:r>
            <a:r>
              <a:rPr lang="en-GB" sz="2000">
                <a:solidFill>
                  <a:srgbClr val="434343"/>
                </a:solidFill>
              </a:rPr>
              <a:t>oài </a:t>
            </a:r>
            <a:r>
              <a:rPr lang="en-GB" sz="2000">
                <a:solidFill>
                  <a:srgbClr val="434343"/>
                </a:solidFill>
              </a:rPr>
              <a:t>Web</a:t>
            </a:r>
            <a:endParaRPr sz="2000">
              <a:solidFill>
                <a:srgbClr val="434343"/>
              </a:solidFill>
            </a:endParaRPr>
          </a:p>
        </p:txBody>
      </p:sp>
      <p:sp>
        <p:nvSpPr>
          <p:cNvPr id="273" name="Google Shape;273;p35"/>
          <p:cNvSpPr txBox="1"/>
          <p:nvPr/>
        </p:nvSpPr>
        <p:spPr>
          <a:xfrm>
            <a:off x="5758675" y="5543275"/>
            <a:ext cx="2353800" cy="72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434343"/>
                </a:solidFill>
              </a:rPr>
              <a:t>Tr</a:t>
            </a:r>
            <a:r>
              <a:rPr lang="en-GB" sz="2000">
                <a:solidFill>
                  <a:srgbClr val="434343"/>
                </a:solidFill>
              </a:rPr>
              <a:t>uy cập dữ liệu</a:t>
            </a:r>
            <a:endParaRPr sz="2000">
              <a:solidFill>
                <a:srgbClr val="434343"/>
              </a:solidFill>
            </a:endParaRPr>
          </a:p>
          <a:p>
            <a:pPr indent="0" lvl="0" marL="0" rtl="0" algn="ctr">
              <a:spcBef>
                <a:spcPts val="0"/>
              </a:spcBef>
              <a:spcAft>
                <a:spcPts val="0"/>
              </a:spcAft>
              <a:buNone/>
            </a:pPr>
            <a:r>
              <a:rPr lang="en-GB" sz="2000">
                <a:solidFill>
                  <a:srgbClr val="434343"/>
                </a:solidFill>
              </a:rPr>
              <a:t>Lưu trữ dữ liệu</a:t>
            </a:r>
            <a:endParaRPr sz="2000">
              <a:solidFill>
                <a:srgbClr val="434343"/>
              </a:solidFill>
            </a:endParaRPr>
          </a:p>
        </p:txBody>
      </p:sp>
      <p:pic>
        <p:nvPicPr>
          <p:cNvPr id="274" name="Google Shape;274;p35"/>
          <p:cNvPicPr preferRelativeResize="0"/>
          <p:nvPr/>
        </p:nvPicPr>
        <p:blipFill rotWithShape="1">
          <a:blip r:embed="rId4">
            <a:alphaModFix/>
          </a:blip>
          <a:srcRect b="24819" l="78005" r="3026" t="16892"/>
          <a:stretch/>
        </p:blipFill>
        <p:spPr>
          <a:xfrm>
            <a:off x="6245662" y="1320722"/>
            <a:ext cx="913774" cy="1458499"/>
          </a:xfrm>
          <a:prstGeom prst="rect">
            <a:avLst/>
          </a:prstGeom>
          <a:noFill/>
          <a:ln>
            <a:noFill/>
          </a:ln>
        </p:spPr>
      </p:pic>
      <p:pic>
        <p:nvPicPr>
          <p:cNvPr id="275" name="Google Shape;275;p35"/>
          <p:cNvPicPr preferRelativeResize="0"/>
          <p:nvPr/>
        </p:nvPicPr>
        <p:blipFill rotWithShape="1">
          <a:blip r:embed="rId4">
            <a:alphaModFix/>
          </a:blip>
          <a:srcRect b="24819" l="78537" r="3026" t="16892"/>
          <a:stretch/>
        </p:blipFill>
        <p:spPr>
          <a:xfrm>
            <a:off x="2712800" y="4114625"/>
            <a:ext cx="888125" cy="1458499"/>
          </a:xfrm>
          <a:prstGeom prst="rect">
            <a:avLst/>
          </a:prstGeom>
          <a:noFill/>
          <a:ln>
            <a:noFill/>
          </a:ln>
        </p:spPr>
      </p:pic>
      <p:pic>
        <p:nvPicPr>
          <p:cNvPr id="276" name="Google Shape;276;p35"/>
          <p:cNvPicPr preferRelativeResize="0"/>
          <p:nvPr/>
        </p:nvPicPr>
        <p:blipFill rotWithShape="1">
          <a:blip r:embed="rId4">
            <a:alphaModFix/>
          </a:blip>
          <a:srcRect b="24819" l="78005" r="3026" t="16892"/>
          <a:stretch/>
        </p:blipFill>
        <p:spPr>
          <a:xfrm>
            <a:off x="6245649" y="4114622"/>
            <a:ext cx="913774" cy="1458499"/>
          </a:xfrm>
          <a:prstGeom prst="rect">
            <a:avLst/>
          </a:prstGeom>
          <a:noFill/>
          <a:ln>
            <a:noFill/>
          </a:ln>
        </p:spPr>
      </p:pic>
      <p:cxnSp>
        <p:nvCxnSpPr>
          <p:cNvPr id="277" name="Google Shape;277;p35"/>
          <p:cNvCxnSpPr/>
          <p:nvPr/>
        </p:nvCxnSpPr>
        <p:spPr>
          <a:xfrm>
            <a:off x="4183950" y="1965572"/>
            <a:ext cx="2060100" cy="0"/>
          </a:xfrm>
          <a:prstGeom prst="straightConnector1">
            <a:avLst/>
          </a:prstGeom>
          <a:noFill/>
          <a:ln cap="flat" cmpd="sng" w="28575">
            <a:solidFill>
              <a:schemeClr val="dk2"/>
            </a:solidFill>
            <a:prstDash val="solid"/>
            <a:round/>
            <a:headEnd len="med" w="med" type="none"/>
            <a:tailEnd len="med" w="med" type="none"/>
          </a:ln>
        </p:spPr>
      </p:cxnSp>
      <p:cxnSp>
        <p:nvCxnSpPr>
          <p:cNvPr id="278" name="Google Shape;278;p35"/>
          <p:cNvCxnSpPr/>
          <p:nvPr/>
        </p:nvCxnSpPr>
        <p:spPr>
          <a:xfrm flipH="1">
            <a:off x="3600923" y="2244072"/>
            <a:ext cx="2659200" cy="2371200"/>
          </a:xfrm>
          <a:prstGeom prst="straightConnector1">
            <a:avLst/>
          </a:prstGeom>
          <a:noFill/>
          <a:ln cap="flat" cmpd="sng" w="28575">
            <a:solidFill>
              <a:schemeClr val="dk2"/>
            </a:solidFill>
            <a:prstDash val="solid"/>
            <a:round/>
            <a:headEnd len="med" w="med" type="none"/>
            <a:tailEnd len="med" w="med" type="none"/>
          </a:ln>
        </p:spPr>
      </p:cxnSp>
      <p:cxnSp>
        <p:nvCxnSpPr>
          <p:cNvPr id="279" name="Google Shape;279;p35"/>
          <p:cNvCxnSpPr/>
          <p:nvPr/>
        </p:nvCxnSpPr>
        <p:spPr>
          <a:xfrm>
            <a:off x="3600923" y="4751825"/>
            <a:ext cx="26448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6"/>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triển khai hệ thống 3-dãy</a:t>
            </a:r>
            <a:endParaRPr baseline="-25000"/>
          </a:p>
        </p:txBody>
      </p:sp>
      <p:sp>
        <p:nvSpPr>
          <p:cNvPr id="285" name="Google Shape;285;p36"/>
          <p:cNvSpPr txBox="1"/>
          <p:nvPr>
            <p:ph idx="12" type="sldNum"/>
          </p:nvPr>
        </p:nvSpPr>
        <p:spPr>
          <a:xfrm>
            <a:off x="8157408" y="3830840"/>
            <a:ext cx="498300" cy="47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6" name="Google Shape;286;p36"/>
          <p:cNvSpPr/>
          <p:nvPr/>
        </p:nvSpPr>
        <p:spPr>
          <a:xfrm>
            <a:off x="220075" y="2152175"/>
            <a:ext cx="2326800" cy="20388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khách</a:t>
            </a:r>
            <a:endParaRPr b="1" sz="1600"/>
          </a:p>
        </p:txBody>
      </p:sp>
      <p:sp>
        <p:nvSpPr>
          <p:cNvPr id="287" name="Google Shape;287;p36"/>
          <p:cNvSpPr/>
          <p:nvPr/>
        </p:nvSpPr>
        <p:spPr>
          <a:xfrm>
            <a:off x="347131" y="2571415"/>
            <a:ext cx="1999200" cy="15288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&lt;&lt;Môi trường&gt;&gt;</a:t>
            </a:r>
            <a:endParaRPr/>
          </a:p>
          <a:p>
            <a:pPr indent="0" lvl="0" marL="0" rtl="0" algn="ctr">
              <a:spcBef>
                <a:spcPts val="0"/>
              </a:spcBef>
              <a:spcAft>
                <a:spcPts val="0"/>
              </a:spcAft>
              <a:buNone/>
            </a:pPr>
            <a:r>
              <a:rPr lang="en-GB"/>
              <a:t>Trình duyệt Web</a:t>
            </a:r>
            <a:endParaRPr/>
          </a:p>
        </p:txBody>
      </p:sp>
      <p:sp>
        <p:nvSpPr>
          <p:cNvPr id="288" name="Google Shape;288;p36"/>
          <p:cNvSpPr/>
          <p:nvPr/>
        </p:nvSpPr>
        <p:spPr>
          <a:xfrm>
            <a:off x="436825" y="3223325"/>
            <a:ext cx="1783500" cy="641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t>
            </a:r>
            <a:r>
              <a:rPr lang="en-GB"/>
              <a:t>thành phẩm&gt;&gt;</a:t>
            </a:r>
            <a:endParaRPr/>
          </a:p>
          <a:p>
            <a:pPr indent="0" lvl="0" marL="0" rtl="0" algn="ctr">
              <a:spcBef>
                <a:spcPts val="0"/>
              </a:spcBef>
              <a:spcAft>
                <a:spcPts val="0"/>
              </a:spcAft>
              <a:buNone/>
            </a:pPr>
            <a:r>
              <a:rPr lang="en-GB"/>
              <a:t>Giao diện Web</a:t>
            </a:r>
            <a:endParaRPr/>
          </a:p>
        </p:txBody>
      </p:sp>
      <p:sp>
        <p:nvSpPr>
          <p:cNvPr id="289" name="Google Shape;289;p36"/>
          <p:cNvSpPr/>
          <p:nvPr/>
        </p:nvSpPr>
        <p:spPr>
          <a:xfrm flipH="1" rot="10800000">
            <a:off x="2023657" y="3333676"/>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36"/>
          <p:cNvSpPr/>
          <p:nvPr/>
        </p:nvSpPr>
        <p:spPr>
          <a:xfrm>
            <a:off x="3515250" y="2075975"/>
            <a:ext cx="2346600" cy="22044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Web</a:t>
            </a:r>
            <a:endParaRPr b="1" sz="1600"/>
          </a:p>
        </p:txBody>
      </p:sp>
      <p:sp>
        <p:nvSpPr>
          <p:cNvPr id="291" name="Google Shape;291;p36"/>
          <p:cNvSpPr/>
          <p:nvPr/>
        </p:nvSpPr>
        <p:spPr>
          <a:xfrm>
            <a:off x="3582373" y="2529320"/>
            <a:ext cx="2113500" cy="16533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&lt;&lt;Môi trường&gt;&gt;</a:t>
            </a:r>
            <a:endParaRPr/>
          </a:p>
          <a:p>
            <a:pPr indent="0" lvl="0" marL="0" rtl="0" algn="ctr">
              <a:spcBef>
                <a:spcPts val="0"/>
              </a:spcBef>
              <a:spcAft>
                <a:spcPts val="0"/>
              </a:spcAft>
              <a:buNone/>
            </a:pPr>
            <a:r>
              <a:rPr lang="en-GB"/>
              <a:t>Apache Tomcat</a:t>
            </a:r>
            <a:endParaRPr/>
          </a:p>
        </p:txBody>
      </p:sp>
      <p:sp>
        <p:nvSpPr>
          <p:cNvPr id="292" name="Google Shape;292;p36"/>
          <p:cNvSpPr/>
          <p:nvPr/>
        </p:nvSpPr>
        <p:spPr>
          <a:xfrm>
            <a:off x="3673979" y="3234250"/>
            <a:ext cx="1857000" cy="763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Gói mã nguồn ứng dụng.war</a:t>
            </a:r>
            <a:endParaRPr/>
          </a:p>
        </p:txBody>
      </p:sp>
      <p:sp>
        <p:nvSpPr>
          <p:cNvPr id="293" name="Google Shape;293;p36"/>
          <p:cNvSpPr/>
          <p:nvPr/>
        </p:nvSpPr>
        <p:spPr>
          <a:xfrm flipH="1" rot="10800000">
            <a:off x="5316665" y="3336987"/>
            <a:ext cx="154200" cy="195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36"/>
          <p:cNvSpPr/>
          <p:nvPr/>
        </p:nvSpPr>
        <p:spPr>
          <a:xfrm>
            <a:off x="6609454" y="2075975"/>
            <a:ext cx="2346600" cy="22047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a:t>
            </a:r>
            <a:r>
              <a:rPr b="1" lang="en-GB" sz="1600"/>
              <a:t>dữ liệu</a:t>
            </a:r>
            <a:endParaRPr b="1" sz="1600"/>
          </a:p>
        </p:txBody>
      </p:sp>
      <p:sp>
        <p:nvSpPr>
          <p:cNvPr id="295" name="Google Shape;295;p36"/>
          <p:cNvSpPr/>
          <p:nvPr/>
        </p:nvSpPr>
        <p:spPr>
          <a:xfrm>
            <a:off x="6679002" y="2529347"/>
            <a:ext cx="2113500" cy="16533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&lt;&lt;Môi trường&gt;&gt;</a:t>
            </a:r>
            <a:endParaRPr/>
          </a:p>
          <a:p>
            <a:pPr indent="0" lvl="0" marL="0" rtl="0" algn="ctr">
              <a:spcBef>
                <a:spcPts val="0"/>
              </a:spcBef>
              <a:spcAft>
                <a:spcPts val="0"/>
              </a:spcAft>
              <a:buNone/>
            </a:pPr>
            <a:r>
              <a:rPr lang="en-GB"/>
              <a:t>H</a:t>
            </a:r>
            <a:r>
              <a:rPr lang="en-GB"/>
              <a:t>ệ quản trị CSDL</a:t>
            </a:r>
            <a:endParaRPr/>
          </a:p>
        </p:txBody>
      </p:sp>
      <p:sp>
        <p:nvSpPr>
          <p:cNvPr id="296" name="Google Shape;296;p36"/>
          <p:cNvSpPr/>
          <p:nvPr/>
        </p:nvSpPr>
        <p:spPr>
          <a:xfrm>
            <a:off x="6761625" y="3234325"/>
            <a:ext cx="1919700" cy="8091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CSDL</a:t>
            </a:r>
            <a:endParaRPr/>
          </a:p>
        </p:txBody>
      </p:sp>
      <p:sp>
        <p:nvSpPr>
          <p:cNvPr id="297" name="Google Shape;297;p36"/>
          <p:cNvSpPr/>
          <p:nvPr/>
        </p:nvSpPr>
        <p:spPr>
          <a:xfrm flipH="1" rot="10800000">
            <a:off x="8452250" y="3336749"/>
            <a:ext cx="173400" cy="2193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8" name="Google Shape;298;p36"/>
          <p:cNvCxnSpPr>
            <a:stCxn id="286" idx="5"/>
          </p:cNvCxnSpPr>
          <p:nvPr/>
        </p:nvCxnSpPr>
        <p:spPr>
          <a:xfrm>
            <a:off x="2546875" y="3132960"/>
            <a:ext cx="956400" cy="0"/>
          </a:xfrm>
          <a:prstGeom prst="straightConnector1">
            <a:avLst/>
          </a:prstGeom>
          <a:noFill/>
          <a:ln cap="flat" cmpd="sng" w="9525">
            <a:solidFill>
              <a:schemeClr val="dk2"/>
            </a:solidFill>
            <a:prstDash val="solid"/>
            <a:round/>
            <a:headEnd len="med" w="med" type="none"/>
            <a:tailEnd len="med" w="med" type="none"/>
          </a:ln>
        </p:spPr>
      </p:cxnSp>
      <p:sp>
        <p:nvSpPr>
          <p:cNvPr id="299" name="Google Shape;299;p36"/>
          <p:cNvSpPr txBox="1"/>
          <p:nvPr/>
        </p:nvSpPr>
        <p:spPr>
          <a:xfrm>
            <a:off x="2533328" y="2774657"/>
            <a:ext cx="10608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HTTP(S)</a:t>
            </a:r>
            <a:endParaRPr sz="1600">
              <a:solidFill>
                <a:schemeClr val="dk2"/>
              </a:solidFill>
            </a:endParaRPr>
          </a:p>
        </p:txBody>
      </p:sp>
      <p:cxnSp>
        <p:nvCxnSpPr>
          <p:cNvPr id="300" name="Google Shape;300;p36"/>
          <p:cNvCxnSpPr>
            <a:stCxn id="290" idx="5"/>
          </p:cNvCxnSpPr>
          <p:nvPr/>
        </p:nvCxnSpPr>
        <p:spPr>
          <a:xfrm>
            <a:off x="5861850" y="3136424"/>
            <a:ext cx="739500" cy="0"/>
          </a:xfrm>
          <a:prstGeom prst="straightConnector1">
            <a:avLst/>
          </a:prstGeom>
          <a:noFill/>
          <a:ln cap="flat" cmpd="sng" w="9525">
            <a:solidFill>
              <a:schemeClr val="dk2"/>
            </a:solidFill>
            <a:prstDash val="solid"/>
            <a:round/>
            <a:headEnd len="med" w="med" type="none"/>
            <a:tailEnd len="med" w="med" type="none"/>
          </a:ln>
        </p:spPr>
      </p:cxnSp>
      <p:sp>
        <p:nvSpPr>
          <p:cNvPr id="301" name="Google Shape;301;p36"/>
          <p:cNvSpPr txBox="1"/>
          <p:nvPr/>
        </p:nvSpPr>
        <p:spPr>
          <a:xfrm>
            <a:off x="5886126" y="2774650"/>
            <a:ext cx="8676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SSL</a:t>
            </a:r>
            <a:endParaRPr sz="1600">
              <a:solidFill>
                <a:schemeClr val="dk2"/>
              </a:solidFill>
            </a:endParaRPr>
          </a:p>
        </p:txBody>
      </p:sp>
      <p:sp>
        <p:nvSpPr>
          <p:cNvPr id="302" name="Google Shape;302;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Kiến trúc 3-</a:t>
            </a:r>
            <a:r>
              <a:rPr lang="en-GB"/>
              <a:t>dãy</a:t>
            </a:r>
            <a:r>
              <a:rPr lang="en-GB"/>
              <a:t>: Triển khai nội bộ</a:t>
            </a:r>
            <a:endParaRPr/>
          </a:p>
        </p:txBody>
      </p:sp>
      <p:sp>
        <p:nvSpPr>
          <p:cNvPr id="308" name="Google Shape;308;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9" name="Google Shape;309;p37"/>
          <p:cNvSpPr/>
          <p:nvPr/>
        </p:nvSpPr>
        <p:spPr>
          <a:xfrm>
            <a:off x="247150" y="2767375"/>
            <a:ext cx="7465800" cy="250800"/>
          </a:xfrm>
          <a:prstGeom prst="roundRect">
            <a:avLst>
              <a:gd fmla="val 38240"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0" name="Google Shape;310;p37"/>
          <p:cNvPicPr preferRelativeResize="0"/>
          <p:nvPr/>
        </p:nvPicPr>
        <p:blipFill>
          <a:blip r:embed="rId3">
            <a:alphaModFix/>
          </a:blip>
          <a:stretch>
            <a:fillRect/>
          </a:stretch>
        </p:blipFill>
        <p:spPr>
          <a:xfrm>
            <a:off x="2680278" y="987648"/>
            <a:ext cx="1599897" cy="1280949"/>
          </a:xfrm>
          <a:prstGeom prst="rect">
            <a:avLst/>
          </a:prstGeom>
          <a:noFill/>
          <a:ln>
            <a:noFill/>
          </a:ln>
        </p:spPr>
      </p:pic>
      <p:pic>
        <p:nvPicPr>
          <p:cNvPr id="311" name="Google Shape;311;p37"/>
          <p:cNvPicPr preferRelativeResize="0"/>
          <p:nvPr/>
        </p:nvPicPr>
        <p:blipFill rotWithShape="1">
          <a:blip r:embed="rId4">
            <a:alphaModFix/>
          </a:blip>
          <a:srcRect b="20747" l="19212" r="19329" t="20677"/>
          <a:stretch/>
        </p:blipFill>
        <p:spPr>
          <a:xfrm>
            <a:off x="475750" y="1102875"/>
            <a:ext cx="1599898" cy="1016280"/>
          </a:xfrm>
          <a:prstGeom prst="rect">
            <a:avLst/>
          </a:prstGeom>
          <a:noFill/>
          <a:ln>
            <a:noFill/>
          </a:ln>
        </p:spPr>
      </p:pic>
      <p:pic>
        <p:nvPicPr>
          <p:cNvPr id="312" name="Google Shape;312;p37"/>
          <p:cNvPicPr preferRelativeResize="0"/>
          <p:nvPr/>
        </p:nvPicPr>
        <p:blipFill>
          <a:blip r:embed="rId5">
            <a:alphaModFix/>
          </a:blip>
          <a:stretch>
            <a:fillRect/>
          </a:stretch>
        </p:blipFill>
        <p:spPr>
          <a:xfrm>
            <a:off x="4569250" y="1477174"/>
            <a:ext cx="763500" cy="763500"/>
          </a:xfrm>
          <a:prstGeom prst="rect">
            <a:avLst/>
          </a:prstGeom>
          <a:noFill/>
          <a:ln>
            <a:noFill/>
          </a:ln>
        </p:spPr>
      </p:pic>
      <p:pic>
        <p:nvPicPr>
          <p:cNvPr id="313" name="Google Shape;313;p37"/>
          <p:cNvPicPr preferRelativeResize="0"/>
          <p:nvPr/>
        </p:nvPicPr>
        <p:blipFill rotWithShape="1">
          <a:blip r:embed="rId6">
            <a:alphaModFix/>
          </a:blip>
          <a:srcRect b="8274" l="0" r="0" t="0"/>
          <a:stretch/>
        </p:blipFill>
        <p:spPr>
          <a:xfrm>
            <a:off x="6179725" y="944525"/>
            <a:ext cx="1298990" cy="1280951"/>
          </a:xfrm>
          <a:prstGeom prst="rect">
            <a:avLst/>
          </a:prstGeom>
          <a:noFill/>
          <a:ln>
            <a:noFill/>
          </a:ln>
        </p:spPr>
      </p:pic>
      <p:sp>
        <p:nvSpPr>
          <p:cNvPr id="314" name="Google Shape;314;p37"/>
          <p:cNvSpPr txBox="1"/>
          <p:nvPr/>
        </p:nvSpPr>
        <p:spPr>
          <a:xfrm>
            <a:off x="343825" y="3373250"/>
            <a:ext cx="2336400" cy="6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Dãy</a:t>
            </a:r>
            <a:r>
              <a:rPr lang="en-GB" sz="2000"/>
              <a:t> giao diện</a:t>
            </a:r>
            <a:endParaRPr sz="2000"/>
          </a:p>
        </p:txBody>
      </p:sp>
      <p:sp>
        <p:nvSpPr>
          <p:cNvPr id="315" name="Google Shape;315;p37"/>
          <p:cNvSpPr txBox="1"/>
          <p:nvPr/>
        </p:nvSpPr>
        <p:spPr>
          <a:xfrm>
            <a:off x="343825" y="4199950"/>
            <a:ext cx="2336400" cy="6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Dãy</a:t>
            </a:r>
            <a:r>
              <a:rPr lang="en-GB" sz="2000"/>
              <a:t> </a:t>
            </a:r>
            <a:r>
              <a:rPr lang="en-GB" sz="2000"/>
              <a:t>ứng dụng</a:t>
            </a:r>
            <a:endParaRPr sz="2000"/>
          </a:p>
        </p:txBody>
      </p:sp>
      <p:sp>
        <p:nvSpPr>
          <p:cNvPr id="316" name="Google Shape;316;p37"/>
          <p:cNvSpPr txBox="1"/>
          <p:nvPr/>
        </p:nvSpPr>
        <p:spPr>
          <a:xfrm>
            <a:off x="343825" y="5110650"/>
            <a:ext cx="2336400" cy="6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Dãy</a:t>
            </a:r>
            <a:r>
              <a:rPr lang="en-GB" sz="2000"/>
              <a:t> dữ liệu</a:t>
            </a:r>
            <a:endParaRPr sz="2000"/>
          </a:p>
        </p:txBody>
      </p:sp>
      <p:sp>
        <p:nvSpPr>
          <p:cNvPr id="317" name="Google Shape;317;p37"/>
          <p:cNvSpPr txBox="1"/>
          <p:nvPr/>
        </p:nvSpPr>
        <p:spPr>
          <a:xfrm>
            <a:off x="3678225" y="5151525"/>
            <a:ext cx="2336400" cy="6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Máy chủ CSDL</a:t>
            </a:r>
            <a:endParaRPr sz="2000"/>
          </a:p>
        </p:txBody>
      </p:sp>
      <p:cxnSp>
        <p:nvCxnSpPr>
          <p:cNvPr id="318" name="Google Shape;318;p37"/>
          <p:cNvCxnSpPr/>
          <p:nvPr/>
        </p:nvCxnSpPr>
        <p:spPr>
          <a:xfrm>
            <a:off x="295050" y="3912225"/>
            <a:ext cx="8310000" cy="0"/>
          </a:xfrm>
          <a:prstGeom prst="straightConnector1">
            <a:avLst/>
          </a:prstGeom>
          <a:noFill/>
          <a:ln cap="flat" cmpd="sng" w="19050">
            <a:solidFill>
              <a:schemeClr val="dk2"/>
            </a:solidFill>
            <a:prstDash val="dash"/>
            <a:round/>
            <a:headEnd len="med" w="med" type="none"/>
            <a:tailEnd len="med" w="med" type="none"/>
          </a:ln>
        </p:spPr>
      </p:cxnSp>
      <p:cxnSp>
        <p:nvCxnSpPr>
          <p:cNvPr id="319" name="Google Shape;319;p37"/>
          <p:cNvCxnSpPr/>
          <p:nvPr/>
        </p:nvCxnSpPr>
        <p:spPr>
          <a:xfrm flipH="1" rot="10800000">
            <a:off x="297375" y="4887825"/>
            <a:ext cx="8354100" cy="15000"/>
          </a:xfrm>
          <a:prstGeom prst="straightConnector1">
            <a:avLst/>
          </a:prstGeom>
          <a:noFill/>
          <a:ln cap="flat" cmpd="sng" w="19050">
            <a:solidFill>
              <a:schemeClr val="dk2"/>
            </a:solidFill>
            <a:prstDash val="dash"/>
            <a:round/>
            <a:headEnd len="med" w="med" type="none"/>
            <a:tailEnd len="med" w="med" type="none"/>
          </a:ln>
        </p:spPr>
      </p:cxnSp>
      <p:pic>
        <p:nvPicPr>
          <p:cNvPr id="320" name="Google Shape;320;p37"/>
          <p:cNvPicPr preferRelativeResize="0"/>
          <p:nvPr/>
        </p:nvPicPr>
        <p:blipFill rotWithShape="1">
          <a:blip r:embed="rId7">
            <a:alphaModFix/>
          </a:blip>
          <a:srcRect b="9461" l="0" r="0" t="0"/>
          <a:stretch/>
        </p:blipFill>
        <p:spPr>
          <a:xfrm>
            <a:off x="4875550" y="3954212"/>
            <a:ext cx="1064610" cy="891626"/>
          </a:xfrm>
          <a:prstGeom prst="rect">
            <a:avLst/>
          </a:prstGeom>
          <a:noFill/>
          <a:ln>
            <a:noFill/>
          </a:ln>
        </p:spPr>
      </p:pic>
      <p:pic>
        <p:nvPicPr>
          <p:cNvPr id="321" name="Google Shape;321;p37"/>
          <p:cNvPicPr preferRelativeResize="0"/>
          <p:nvPr/>
        </p:nvPicPr>
        <p:blipFill rotWithShape="1">
          <a:blip r:embed="rId7">
            <a:alphaModFix/>
          </a:blip>
          <a:srcRect b="9461" l="0" r="0" t="0"/>
          <a:stretch/>
        </p:blipFill>
        <p:spPr>
          <a:xfrm>
            <a:off x="5531628" y="5007662"/>
            <a:ext cx="1064610" cy="891626"/>
          </a:xfrm>
          <a:prstGeom prst="rect">
            <a:avLst/>
          </a:prstGeom>
          <a:noFill/>
          <a:ln>
            <a:noFill/>
          </a:ln>
        </p:spPr>
      </p:pic>
      <p:cxnSp>
        <p:nvCxnSpPr>
          <p:cNvPr id="322" name="Google Shape;322;p37"/>
          <p:cNvCxnSpPr>
            <a:stCxn id="311" idx="2"/>
          </p:cNvCxnSpPr>
          <p:nvPr/>
        </p:nvCxnSpPr>
        <p:spPr>
          <a:xfrm>
            <a:off x="1275699" y="2119155"/>
            <a:ext cx="0" cy="659400"/>
          </a:xfrm>
          <a:prstGeom prst="straightConnector1">
            <a:avLst/>
          </a:prstGeom>
          <a:noFill/>
          <a:ln cap="flat" cmpd="sng" w="19050">
            <a:solidFill>
              <a:schemeClr val="dk2"/>
            </a:solidFill>
            <a:prstDash val="solid"/>
            <a:round/>
            <a:headEnd len="med" w="med" type="none"/>
            <a:tailEnd len="med" w="med" type="none"/>
          </a:ln>
        </p:spPr>
      </p:cxnSp>
      <p:cxnSp>
        <p:nvCxnSpPr>
          <p:cNvPr id="323" name="Google Shape;323;p37"/>
          <p:cNvCxnSpPr>
            <a:stCxn id="310" idx="2"/>
          </p:cNvCxnSpPr>
          <p:nvPr/>
        </p:nvCxnSpPr>
        <p:spPr>
          <a:xfrm>
            <a:off x="3480226" y="2268597"/>
            <a:ext cx="0" cy="500700"/>
          </a:xfrm>
          <a:prstGeom prst="straightConnector1">
            <a:avLst/>
          </a:prstGeom>
          <a:noFill/>
          <a:ln cap="flat" cmpd="sng" w="19050">
            <a:solidFill>
              <a:schemeClr val="dk2"/>
            </a:solidFill>
            <a:prstDash val="solid"/>
            <a:round/>
            <a:headEnd len="med" w="med" type="none"/>
            <a:tailEnd len="med" w="med" type="none"/>
          </a:ln>
        </p:spPr>
      </p:cxnSp>
      <p:cxnSp>
        <p:nvCxnSpPr>
          <p:cNvPr id="324" name="Google Shape;324;p37"/>
          <p:cNvCxnSpPr>
            <a:stCxn id="312" idx="2"/>
          </p:cNvCxnSpPr>
          <p:nvPr/>
        </p:nvCxnSpPr>
        <p:spPr>
          <a:xfrm>
            <a:off x="4951000" y="2240674"/>
            <a:ext cx="0" cy="537900"/>
          </a:xfrm>
          <a:prstGeom prst="straightConnector1">
            <a:avLst/>
          </a:prstGeom>
          <a:noFill/>
          <a:ln cap="flat" cmpd="sng" w="19050">
            <a:solidFill>
              <a:schemeClr val="dk2"/>
            </a:solidFill>
            <a:prstDash val="solid"/>
            <a:round/>
            <a:headEnd len="med" w="med" type="none"/>
            <a:tailEnd len="med" w="med" type="none"/>
          </a:ln>
        </p:spPr>
      </p:cxnSp>
      <p:cxnSp>
        <p:nvCxnSpPr>
          <p:cNvPr id="325" name="Google Shape;325;p37"/>
          <p:cNvCxnSpPr>
            <a:stCxn id="313" idx="2"/>
          </p:cNvCxnSpPr>
          <p:nvPr/>
        </p:nvCxnSpPr>
        <p:spPr>
          <a:xfrm>
            <a:off x="6829220" y="2225476"/>
            <a:ext cx="0" cy="534300"/>
          </a:xfrm>
          <a:prstGeom prst="straightConnector1">
            <a:avLst/>
          </a:prstGeom>
          <a:noFill/>
          <a:ln cap="flat" cmpd="sng" w="19050">
            <a:solidFill>
              <a:schemeClr val="dk2"/>
            </a:solidFill>
            <a:prstDash val="solid"/>
            <a:round/>
            <a:headEnd len="med" w="med" type="none"/>
            <a:tailEnd len="med" w="med" type="none"/>
          </a:ln>
        </p:spPr>
      </p:cxnSp>
      <p:pic>
        <p:nvPicPr>
          <p:cNvPr id="326" name="Google Shape;326;p37"/>
          <p:cNvPicPr preferRelativeResize="0"/>
          <p:nvPr/>
        </p:nvPicPr>
        <p:blipFill>
          <a:blip r:embed="rId8">
            <a:alphaModFix/>
          </a:blip>
          <a:stretch>
            <a:fillRect/>
          </a:stretch>
        </p:blipFill>
        <p:spPr>
          <a:xfrm>
            <a:off x="2103613" y="2235275"/>
            <a:ext cx="548700" cy="548700"/>
          </a:xfrm>
          <a:prstGeom prst="rect">
            <a:avLst/>
          </a:prstGeom>
          <a:noFill/>
          <a:ln>
            <a:noFill/>
          </a:ln>
        </p:spPr>
      </p:pic>
      <p:cxnSp>
        <p:nvCxnSpPr>
          <p:cNvPr id="327" name="Google Shape;327;p37"/>
          <p:cNvCxnSpPr>
            <a:endCxn id="320" idx="0"/>
          </p:cNvCxnSpPr>
          <p:nvPr/>
        </p:nvCxnSpPr>
        <p:spPr>
          <a:xfrm flipH="1">
            <a:off x="5407855" y="3001412"/>
            <a:ext cx="7800" cy="952800"/>
          </a:xfrm>
          <a:prstGeom prst="straightConnector1">
            <a:avLst/>
          </a:prstGeom>
          <a:noFill/>
          <a:ln cap="flat" cmpd="sng" w="19050">
            <a:solidFill>
              <a:schemeClr val="dk2"/>
            </a:solidFill>
            <a:prstDash val="solid"/>
            <a:round/>
            <a:headEnd len="med" w="med" type="none"/>
            <a:tailEnd len="med" w="med" type="none"/>
          </a:ln>
        </p:spPr>
      </p:cxnSp>
      <p:sp>
        <p:nvSpPr>
          <p:cNvPr id="328" name="Google Shape;328;p37"/>
          <p:cNvSpPr txBox="1"/>
          <p:nvPr/>
        </p:nvSpPr>
        <p:spPr>
          <a:xfrm>
            <a:off x="2836325" y="4199950"/>
            <a:ext cx="2336400" cy="6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Máy chủ ứng dụng</a:t>
            </a:r>
            <a:endParaRPr sz="2000"/>
          </a:p>
        </p:txBody>
      </p:sp>
      <p:cxnSp>
        <p:nvCxnSpPr>
          <p:cNvPr id="329" name="Google Shape;329;p37"/>
          <p:cNvCxnSpPr>
            <a:endCxn id="321" idx="0"/>
          </p:cNvCxnSpPr>
          <p:nvPr/>
        </p:nvCxnSpPr>
        <p:spPr>
          <a:xfrm flipH="1" rot="-5400000">
            <a:off x="5550783" y="4494512"/>
            <a:ext cx="603000" cy="423300"/>
          </a:xfrm>
          <a:prstGeom prst="bentConnector3">
            <a:avLst>
              <a:gd fmla="val 10" name="adj1"/>
            </a:avLst>
          </a:prstGeom>
          <a:noFill/>
          <a:ln cap="flat" cmpd="sng" w="19050">
            <a:solidFill>
              <a:schemeClr val="dk2"/>
            </a:solidFill>
            <a:prstDash val="solid"/>
            <a:round/>
            <a:headEnd len="med" w="med" type="none"/>
            <a:tailEnd len="med" w="med" type="none"/>
          </a:ln>
        </p:spPr>
      </p:cxnSp>
      <p:sp>
        <p:nvSpPr>
          <p:cNvPr id="330" name="Google Shape;330;p37"/>
          <p:cNvSpPr/>
          <p:nvPr/>
        </p:nvSpPr>
        <p:spPr>
          <a:xfrm>
            <a:off x="6417600" y="3113050"/>
            <a:ext cx="2647500" cy="2843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GB"/>
              <a:t>Phần trong máy chủ ứng dụng</a:t>
            </a:r>
            <a:endParaRPr/>
          </a:p>
          <a:p>
            <a:pPr indent="0" lvl="0" marL="0" rtl="0" algn="l">
              <a:spcBef>
                <a:spcPts val="0"/>
              </a:spcBef>
              <a:spcAft>
                <a:spcPts val="0"/>
              </a:spcAft>
              <a:buNone/>
            </a:pPr>
            <a:r>
              <a:rPr lang="en-GB"/>
              <a:t>Giao diện - form, báo cáo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Nghiệp vụ - Triển khai các chức năng nghiệp vụ</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Truy cập dữ liệu - Tạo các truy vấn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cxnSp>
        <p:nvCxnSpPr>
          <p:cNvPr id="335" name="Google Shape;335;p38"/>
          <p:cNvCxnSpPr/>
          <p:nvPr/>
        </p:nvCxnSpPr>
        <p:spPr>
          <a:xfrm>
            <a:off x="5120300" y="1630875"/>
            <a:ext cx="0" cy="4611900"/>
          </a:xfrm>
          <a:prstGeom prst="straightConnector1">
            <a:avLst/>
          </a:prstGeom>
          <a:noFill/>
          <a:ln cap="flat" cmpd="sng" w="19050">
            <a:solidFill>
              <a:schemeClr val="dk2"/>
            </a:solidFill>
            <a:prstDash val="lgDash"/>
            <a:round/>
            <a:headEnd len="med" w="med" type="none"/>
            <a:tailEnd len="med" w="med" type="none"/>
          </a:ln>
        </p:spPr>
      </p:cxnSp>
      <p:cxnSp>
        <p:nvCxnSpPr>
          <p:cNvPr id="336" name="Google Shape;336;p38"/>
          <p:cNvCxnSpPr/>
          <p:nvPr/>
        </p:nvCxnSpPr>
        <p:spPr>
          <a:xfrm>
            <a:off x="7253900" y="1630875"/>
            <a:ext cx="0" cy="4611900"/>
          </a:xfrm>
          <a:prstGeom prst="straightConnector1">
            <a:avLst/>
          </a:prstGeom>
          <a:noFill/>
          <a:ln cap="flat" cmpd="sng" w="19050">
            <a:solidFill>
              <a:schemeClr val="dk2"/>
            </a:solidFill>
            <a:prstDash val="lgDash"/>
            <a:round/>
            <a:headEnd len="med" w="med" type="none"/>
            <a:tailEnd len="med" w="med" type="none"/>
          </a:ln>
        </p:spPr>
      </p:cxnSp>
      <p:sp>
        <p:nvSpPr>
          <p:cNvPr id="337" name="Google Shape;337;p3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Kiến trúc 3-</a:t>
            </a:r>
            <a:r>
              <a:rPr lang="en-GB"/>
              <a:t>dãy</a:t>
            </a:r>
            <a:r>
              <a:rPr lang="en-GB"/>
              <a:t>: Triển khai trên internet</a:t>
            </a:r>
            <a:endParaRPr/>
          </a:p>
        </p:txBody>
      </p:sp>
      <p:sp>
        <p:nvSpPr>
          <p:cNvPr id="338" name="Google Shape;338;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39" name="Google Shape;339;p38"/>
          <p:cNvPicPr preferRelativeResize="0"/>
          <p:nvPr/>
        </p:nvPicPr>
        <p:blipFill>
          <a:blip r:embed="rId3">
            <a:alphaModFix/>
          </a:blip>
          <a:stretch>
            <a:fillRect/>
          </a:stretch>
        </p:blipFill>
        <p:spPr>
          <a:xfrm>
            <a:off x="1592703" y="995073"/>
            <a:ext cx="1599897" cy="1280949"/>
          </a:xfrm>
          <a:prstGeom prst="rect">
            <a:avLst/>
          </a:prstGeom>
          <a:noFill/>
          <a:ln>
            <a:noFill/>
          </a:ln>
        </p:spPr>
      </p:pic>
      <p:pic>
        <p:nvPicPr>
          <p:cNvPr id="340" name="Google Shape;340;p38"/>
          <p:cNvPicPr preferRelativeResize="0"/>
          <p:nvPr/>
        </p:nvPicPr>
        <p:blipFill rotWithShape="1">
          <a:blip r:embed="rId4">
            <a:alphaModFix/>
          </a:blip>
          <a:srcRect b="20747" l="19212" r="19329" t="20677"/>
          <a:stretch/>
        </p:blipFill>
        <p:spPr>
          <a:xfrm>
            <a:off x="286175" y="3046150"/>
            <a:ext cx="1599898" cy="1016280"/>
          </a:xfrm>
          <a:prstGeom prst="rect">
            <a:avLst/>
          </a:prstGeom>
          <a:noFill/>
          <a:ln>
            <a:noFill/>
          </a:ln>
        </p:spPr>
      </p:pic>
      <p:pic>
        <p:nvPicPr>
          <p:cNvPr id="341" name="Google Shape;341;p38"/>
          <p:cNvPicPr preferRelativeResize="0"/>
          <p:nvPr/>
        </p:nvPicPr>
        <p:blipFill>
          <a:blip r:embed="rId5">
            <a:alphaModFix/>
          </a:blip>
          <a:stretch>
            <a:fillRect/>
          </a:stretch>
        </p:blipFill>
        <p:spPr>
          <a:xfrm>
            <a:off x="2010900" y="4458274"/>
            <a:ext cx="763500" cy="763500"/>
          </a:xfrm>
          <a:prstGeom prst="rect">
            <a:avLst/>
          </a:prstGeom>
          <a:noFill/>
          <a:ln>
            <a:noFill/>
          </a:ln>
        </p:spPr>
      </p:pic>
      <p:sp>
        <p:nvSpPr>
          <p:cNvPr id="342" name="Google Shape;342;p38"/>
          <p:cNvSpPr/>
          <p:nvPr/>
        </p:nvSpPr>
        <p:spPr>
          <a:xfrm>
            <a:off x="2388225" y="2656025"/>
            <a:ext cx="1734804" cy="1348272"/>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Internet</a:t>
            </a:r>
            <a:endParaRPr sz="2200"/>
          </a:p>
        </p:txBody>
      </p:sp>
      <p:pic>
        <p:nvPicPr>
          <p:cNvPr id="343" name="Google Shape;343;p38"/>
          <p:cNvPicPr preferRelativeResize="0"/>
          <p:nvPr/>
        </p:nvPicPr>
        <p:blipFill rotWithShape="1">
          <a:blip r:embed="rId6">
            <a:alphaModFix/>
          </a:blip>
          <a:srcRect b="21202" l="16343" r="13060" t="15071"/>
          <a:stretch/>
        </p:blipFill>
        <p:spPr>
          <a:xfrm>
            <a:off x="4440025" y="2427425"/>
            <a:ext cx="1525100" cy="1486850"/>
          </a:xfrm>
          <a:prstGeom prst="rect">
            <a:avLst/>
          </a:prstGeom>
          <a:noFill/>
          <a:ln>
            <a:noFill/>
          </a:ln>
        </p:spPr>
      </p:pic>
      <p:sp>
        <p:nvSpPr>
          <p:cNvPr id="344" name="Google Shape;344;p38"/>
          <p:cNvSpPr txBox="1"/>
          <p:nvPr/>
        </p:nvSpPr>
        <p:spPr>
          <a:xfrm>
            <a:off x="7629863" y="4905400"/>
            <a:ext cx="1064700" cy="60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t>Máy chủ CSDL</a:t>
            </a:r>
            <a:endParaRPr sz="1600"/>
          </a:p>
        </p:txBody>
      </p:sp>
      <p:pic>
        <p:nvPicPr>
          <p:cNvPr id="345" name="Google Shape;345;p38"/>
          <p:cNvPicPr preferRelativeResize="0"/>
          <p:nvPr/>
        </p:nvPicPr>
        <p:blipFill rotWithShape="1">
          <a:blip r:embed="rId7">
            <a:alphaModFix/>
          </a:blip>
          <a:srcRect b="9461" l="0" r="0" t="0"/>
          <a:stretch/>
        </p:blipFill>
        <p:spPr>
          <a:xfrm>
            <a:off x="6251755" y="2884112"/>
            <a:ext cx="1064610" cy="891626"/>
          </a:xfrm>
          <a:prstGeom prst="rect">
            <a:avLst/>
          </a:prstGeom>
          <a:noFill/>
          <a:ln>
            <a:noFill/>
          </a:ln>
        </p:spPr>
      </p:pic>
      <p:pic>
        <p:nvPicPr>
          <p:cNvPr id="346" name="Google Shape;346;p38"/>
          <p:cNvPicPr preferRelativeResize="0"/>
          <p:nvPr/>
        </p:nvPicPr>
        <p:blipFill rotWithShape="1">
          <a:blip r:embed="rId7">
            <a:alphaModFix/>
          </a:blip>
          <a:srcRect b="9461" l="0" r="0" t="0"/>
          <a:stretch/>
        </p:blipFill>
        <p:spPr>
          <a:xfrm>
            <a:off x="7629903" y="4013762"/>
            <a:ext cx="1064610" cy="891626"/>
          </a:xfrm>
          <a:prstGeom prst="rect">
            <a:avLst/>
          </a:prstGeom>
          <a:noFill/>
          <a:ln>
            <a:noFill/>
          </a:ln>
        </p:spPr>
      </p:pic>
      <p:sp>
        <p:nvSpPr>
          <p:cNvPr id="347" name="Google Shape;347;p38"/>
          <p:cNvSpPr txBox="1"/>
          <p:nvPr/>
        </p:nvSpPr>
        <p:spPr>
          <a:xfrm>
            <a:off x="6208405" y="2149000"/>
            <a:ext cx="1107900" cy="60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t>Máy chủ ứng dụng</a:t>
            </a:r>
            <a:endParaRPr sz="1600"/>
          </a:p>
        </p:txBody>
      </p:sp>
      <p:cxnSp>
        <p:nvCxnSpPr>
          <p:cNvPr id="348" name="Google Shape;348;p38"/>
          <p:cNvCxnSpPr>
            <a:endCxn id="346" idx="0"/>
          </p:cNvCxnSpPr>
          <p:nvPr/>
        </p:nvCxnSpPr>
        <p:spPr>
          <a:xfrm>
            <a:off x="6983208" y="3333062"/>
            <a:ext cx="1179000" cy="680700"/>
          </a:xfrm>
          <a:prstGeom prst="bentConnector2">
            <a:avLst/>
          </a:prstGeom>
          <a:noFill/>
          <a:ln cap="flat" cmpd="sng" w="19050">
            <a:solidFill>
              <a:schemeClr val="dk2"/>
            </a:solidFill>
            <a:prstDash val="solid"/>
            <a:round/>
            <a:headEnd len="med" w="med" type="none"/>
            <a:tailEnd len="med" w="med" type="none"/>
          </a:ln>
        </p:spPr>
      </p:cxnSp>
      <p:cxnSp>
        <p:nvCxnSpPr>
          <p:cNvPr id="349" name="Google Shape;349;p38"/>
          <p:cNvCxnSpPr/>
          <p:nvPr/>
        </p:nvCxnSpPr>
        <p:spPr>
          <a:xfrm>
            <a:off x="5852655" y="3323250"/>
            <a:ext cx="688500" cy="0"/>
          </a:xfrm>
          <a:prstGeom prst="straightConnector1">
            <a:avLst/>
          </a:prstGeom>
          <a:noFill/>
          <a:ln cap="flat" cmpd="sng" w="19050">
            <a:solidFill>
              <a:schemeClr val="dk2"/>
            </a:solidFill>
            <a:prstDash val="solid"/>
            <a:round/>
            <a:headEnd len="med" w="med" type="none"/>
            <a:tailEnd len="med" w="med" type="none"/>
          </a:ln>
        </p:spPr>
      </p:cxnSp>
      <p:cxnSp>
        <p:nvCxnSpPr>
          <p:cNvPr id="350" name="Google Shape;350;p38"/>
          <p:cNvCxnSpPr/>
          <p:nvPr/>
        </p:nvCxnSpPr>
        <p:spPr>
          <a:xfrm>
            <a:off x="4136325" y="3323250"/>
            <a:ext cx="476700" cy="0"/>
          </a:xfrm>
          <a:prstGeom prst="straightConnector1">
            <a:avLst/>
          </a:prstGeom>
          <a:noFill/>
          <a:ln cap="flat" cmpd="sng" w="19050">
            <a:solidFill>
              <a:schemeClr val="dk2"/>
            </a:solidFill>
            <a:prstDash val="solid"/>
            <a:round/>
            <a:headEnd len="med" w="med" type="none"/>
            <a:tailEnd len="med" w="med" type="none"/>
          </a:ln>
        </p:spPr>
      </p:cxnSp>
      <p:cxnSp>
        <p:nvCxnSpPr>
          <p:cNvPr id="351" name="Google Shape;351;p38"/>
          <p:cNvCxnSpPr/>
          <p:nvPr/>
        </p:nvCxnSpPr>
        <p:spPr>
          <a:xfrm>
            <a:off x="2620525" y="2055075"/>
            <a:ext cx="495000" cy="652200"/>
          </a:xfrm>
          <a:prstGeom prst="straightConnector1">
            <a:avLst/>
          </a:prstGeom>
          <a:noFill/>
          <a:ln cap="flat" cmpd="sng" w="19050">
            <a:solidFill>
              <a:schemeClr val="dk2"/>
            </a:solidFill>
            <a:prstDash val="solid"/>
            <a:round/>
            <a:headEnd len="med" w="med" type="none"/>
            <a:tailEnd len="med" w="med" type="none"/>
          </a:ln>
        </p:spPr>
      </p:cxnSp>
      <p:cxnSp>
        <p:nvCxnSpPr>
          <p:cNvPr id="352" name="Google Shape;352;p38"/>
          <p:cNvCxnSpPr>
            <a:endCxn id="342" idx="2"/>
          </p:cNvCxnSpPr>
          <p:nvPr/>
        </p:nvCxnSpPr>
        <p:spPr>
          <a:xfrm>
            <a:off x="1917506" y="3330161"/>
            <a:ext cx="476100" cy="0"/>
          </a:xfrm>
          <a:prstGeom prst="straightConnector1">
            <a:avLst/>
          </a:prstGeom>
          <a:noFill/>
          <a:ln cap="flat" cmpd="sng" w="19050">
            <a:solidFill>
              <a:schemeClr val="dk2"/>
            </a:solidFill>
            <a:prstDash val="solid"/>
            <a:round/>
            <a:headEnd len="med" w="med" type="none"/>
            <a:tailEnd len="med" w="med" type="none"/>
          </a:ln>
        </p:spPr>
      </p:cxnSp>
      <p:cxnSp>
        <p:nvCxnSpPr>
          <p:cNvPr id="353" name="Google Shape;353;p38"/>
          <p:cNvCxnSpPr/>
          <p:nvPr/>
        </p:nvCxnSpPr>
        <p:spPr>
          <a:xfrm flipH="1">
            <a:off x="2629775" y="3995075"/>
            <a:ext cx="555600" cy="419100"/>
          </a:xfrm>
          <a:prstGeom prst="straightConnector1">
            <a:avLst/>
          </a:prstGeom>
          <a:noFill/>
          <a:ln cap="flat" cmpd="sng" w="19050">
            <a:solidFill>
              <a:schemeClr val="dk2"/>
            </a:solidFill>
            <a:prstDash val="solid"/>
            <a:round/>
            <a:headEnd len="med" w="med" type="none"/>
            <a:tailEnd len="med" w="med" type="none"/>
          </a:ln>
        </p:spPr>
      </p:cxnSp>
      <p:sp>
        <p:nvSpPr>
          <p:cNvPr id="354" name="Google Shape;354;p38"/>
          <p:cNvSpPr txBox="1"/>
          <p:nvPr/>
        </p:nvSpPr>
        <p:spPr>
          <a:xfrm>
            <a:off x="4415875" y="2014650"/>
            <a:ext cx="1356600" cy="43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t>Tường lửa</a:t>
            </a:r>
            <a:endParaRPr sz="1600"/>
          </a:p>
        </p:txBody>
      </p:sp>
      <p:sp>
        <p:nvSpPr>
          <p:cNvPr id="355" name="Google Shape;355;p38"/>
          <p:cNvSpPr txBox="1"/>
          <p:nvPr/>
        </p:nvSpPr>
        <p:spPr>
          <a:xfrm>
            <a:off x="1988125" y="5731050"/>
            <a:ext cx="1989300" cy="6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2"/>
                </a:solidFill>
              </a:rPr>
              <a:t>Dãy giao diện</a:t>
            </a:r>
            <a:endParaRPr sz="2200">
              <a:solidFill>
                <a:schemeClr val="dk2"/>
              </a:solidFill>
            </a:endParaRPr>
          </a:p>
        </p:txBody>
      </p:sp>
      <p:sp>
        <p:nvSpPr>
          <p:cNvPr id="356" name="Google Shape;356;p38"/>
          <p:cNvSpPr txBox="1"/>
          <p:nvPr/>
        </p:nvSpPr>
        <p:spPr>
          <a:xfrm>
            <a:off x="5188525" y="5731050"/>
            <a:ext cx="1989300" cy="6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2"/>
                </a:solidFill>
              </a:rPr>
              <a:t>Dãy </a:t>
            </a:r>
            <a:r>
              <a:rPr lang="en-GB" sz="2200">
                <a:solidFill>
                  <a:schemeClr val="dk2"/>
                </a:solidFill>
              </a:rPr>
              <a:t>ứng dụng</a:t>
            </a:r>
            <a:endParaRPr sz="2200">
              <a:solidFill>
                <a:schemeClr val="dk2"/>
              </a:solidFill>
            </a:endParaRPr>
          </a:p>
        </p:txBody>
      </p:sp>
      <p:sp>
        <p:nvSpPr>
          <p:cNvPr id="357" name="Google Shape;357;p38"/>
          <p:cNvSpPr txBox="1"/>
          <p:nvPr/>
        </p:nvSpPr>
        <p:spPr>
          <a:xfrm>
            <a:off x="7245925" y="5731050"/>
            <a:ext cx="1686600" cy="6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2"/>
                </a:solidFill>
              </a:rPr>
              <a:t>Dãy </a:t>
            </a:r>
            <a:r>
              <a:rPr lang="en-GB" sz="2200">
                <a:solidFill>
                  <a:schemeClr val="dk2"/>
                </a:solidFill>
              </a:rPr>
              <a:t>dữ liệu</a:t>
            </a:r>
            <a:endParaRPr sz="22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Kiến trúc 3-dãy: </a:t>
            </a:r>
            <a:r>
              <a:rPr lang="en-GB"/>
              <a:t>Mở rộng hệ thống</a:t>
            </a:r>
            <a:endParaRPr/>
          </a:p>
        </p:txBody>
      </p:sp>
      <p:sp>
        <p:nvSpPr>
          <p:cNvPr id="363" name="Google Shape;363;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4" name="Google Shape;364;p39"/>
          <p:cNvSpPr/>
          <p:nvPr/>
        </p:nvSpPr>
        <p:spPr>
          <a:xfrm>
            <a:off x="4194725" y="795650"/>
            <a:ext cx="1734804" cy="891648"/>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Internet</a:t>
            </a:r>
            <a:endParaRPr sz="2200"/>
          </a:p>
        </p:txBody>
      </p:sp>
      <p:pic>
        <p:nvPicPr>
          <p:cNvPr id="365" name="Google Shape;365;p39"/>
          <p:cNvPicPr preferRelativeResize="0"/>
          <p:nvPr/>
        </p:nvPicPr>
        <p:blipFill rotWithShape="1">
          <a:blip r:embed="rId3">
            <a:alphaModFix/>
          </a:blip>
          <a:srcRect b="21202" l="16343" r="13060" t="15071"/>
          <a:stretch/>
        </p:blipFill>
        <p:spPr>
          <a:xfrm>
            <a:off x="4515025" y="1979525"/>
            <a:ext cx="1157250" cy="1128225"/>
          </a:xfrm>
          <a:prstGeom prst="rect">
            <a:avLst/>
          </a:prstGeom>
          <a:noFill/>
          <a:ln>
            <a:noFill/>
          </a:ln>
        </p:spPr>
      </p:pic>
      <p:pic>
        <p:nvPicPr>
          <p:cNvPr id="366" name="Google Shape;366;p39"/>
          <p:cNvPicPr preferRelativeResize="0"/>
          <p:nvPr/>
        </p:nvPicPr>
        <p:blipFill rotWithShape="1">
          <a:blip r:embed="rId4">
            <a:alphaModFix/>
          </a:blip>
          <a:srcRect b="9461" l="0" r="0" t="0"/>
          <a:stretch/>
        </p:blipFill>
        <p:spPr>
          <a:xfrm>
            <a:off x="1898175" y="4307737"/>
            <a:ext cx="1064610" cy="891626"/>
          </a:xfrm>
          <a:prstGeom prst="rect">
            <a:avLst/>
          </a:prstGeom>
          <a:noFill/>
          <a:ln>
            <a:noFill/>
          </a:ln>
        </p:spPr>
      </p:pic>
      <p:pic>
        <p:nvPicPr>
          <p:cNvPr id="367" name="Google Shape;367;p39"/>
          <p:cNvPicPr preferRelativeResize="0"/>
          <p:nvPr/>
        </p:nvPicPr>
        <p:blipFill rotWithShape="1">
          <a:blip r:embed="rId4">
            <a:alphaModFix/>
          </a:blip>
          <a:srcRect b="9461" l="0" r="0" t="0"/>
          <a:stretch/>
        </p:blipFill>
        <p:spPr>
          <a:xfrm>
            <a:off x="3282800" y="4292587"/>
            <a:ext cx="1064610" cy="891626"/>
          </a:xfrm>
          <a:prstGeom prst="rect">
            <a:avLst/>
          </a:prstGeom>
          <a:noFill/>
          <a:ln>
            <a:noFill/>
          </a:ln>
        </p:spPr>
      </p:pic>
      <p:pic>
        <p:nvPicPr>
          <p:cNvPr id="368" name="Google Shape;368;p39"/>
          <p:cNvPicPr preferRelativeResize="0"/>
          <p:nvPr/>
        </p:nvPicPr>
        <p:blipFill rotWithShape="1">
          <a:blip r:embed="rId4">
            <a:alphaModFix/>
          </a:blip>
          <a:srcRect b="9461" l="0" r="0" t="0"/>
          <a:stretch/>
        </p:blipFill>
        <p:spPr>
          <a:xfrm>
            <a:off x="4667425" y="4292587"/>
            <a:ext cx="1064610" cy="891626"/>
          </a:xfrm>
          <a:prstGeom prst="rect">
            <a:avLst/>
          </a:prstGeom>
          <a:noFill/>
          <a:ln>
            <a:noFill/>
          </a:ln>
        </p:spPr>
      </p:pic>
      <p:pic>
        <p:nvPicPr>
          <p:cNvPr id="369" name="Google Shape;369;p39"/>
          <p:cNvPicPr preferRelativeResize="0"/>
          <p:nvPr/>
        </p:nvPicPr>
        <p:blipFill rotWithShape="1">
          <a:blip r:embed="rId4">
            <a:alphaModFix/>
          </a:blip>
          <a:srcRect b="9461" l="0" r="0" t="0"/>
          <a:stretch/>
        </p:blipFill>
        <p:spPr>
          <a:xfrm>
            <a:off x="6133800" y="4292587"/>
            <a:ext cx="1064610" cy="891626"/>
          </a:xfrm>
          <a:prstGeom prst="rect">
            <a:avLst/>
          </a:prstGeom>
          <a:noFill/>
          <a:ln>
            <a:noFill/>
          </a:ln>
        </p:spPr>
      </p:pic>
      <p:pic>
        <p:nvPicPr>
          <p:cNvPr id="370" name="Google Shape;370;p39"/>
          <p:cNvPicPr preferRelativeResize="0"/>
          <p:nvPr/>
        </p:nvPicPr>
        <p:blipFill rotWithShape="1">
          <a:blip r:embed="rId4">
            <a:alphaModFix/>
          </a:blip>
          <a:srcRect b="9461" l="0" r="0" t="0"/>
          <a:stretch/>
        </p:blipFill>
        <p:spPr>
          <a:xfrm>
            <a:off x="7636450" y="4307737"/>
            <a:ext cx="1064610" cy="891626"/>
          </a:xfrm>
          <a:prstGeom prst="rect">
            <a:avLst/>
          </a:prstGeom>
          <a:noFill/>
          <a:ln>
            <a:noFill/>
          </a:ln>
        </p:spPr>
      </p:pic>
      <p:pic>
        <p:nvPicPr>
          <p:cNvPr id="371" name="Google Shape;371;p39"/>
          <p:cNvPicPr preferRelativeResize="0"/>
          <p:nvPr/>
        </p:nvPicPr>
        <p:blipFill rotWithShape="1">
          <a:blip r:embed="rId4">
            <a:alphaModFix/>
          </a:blip>
          <a:srcRect b="9461" l="0" r="0" t="0"/>
          <a:stretch/>
        </p:blipFill>
        <p:spPr>
          <a:xfrm>
            <a:off x="3282800" y="5740387"/>
            <a:ext cx="1064610" cy="891626"/>
          </a:xfrm>
          <a:prstGeom prst="rect">
            <a:avLst/>
          </a:prstGeom>
          <a:noFill/>
          <a:ln>
            <a:noFill/>
          </a:ln>
        </p:spPr>
      </p:pic>
      <p:pic>
        <p:nvPicPr>
          <p:cNvPr id="372" name="Google Shape;372;p39"/>
          <p:cNvPicPr preferRelativeResize="0"/>
          <p:nvPr/>
        </p:nvPicPr>
        <p:blipFill rotWithShape="1">
          <a:blip r:embed="rId4">
            <a:alphaModFix/>
          </a:blip>
          <a:srcRect b="9461" l="0" r="0" t="0"/>
          <a:stretch/>
        </p:blipFill>
        <p:spPr>
          <a:xfrm>
            <a:off x="4667425" y="5740387"/>
            <a:ext cx="1064610" cy="891626"/>
          </a:xfrm>
          <a:prstGeom prst="rect">
            <a:avLst/>
          </a:prstGeom>
          <a:noFill/>
          <a:ln>
            <a:noFill/>
          </a:ln>
        </p:spPr>
      </p:pic>
      <p:pic>
        <p:nvPicPr>
          <p:cNvPr id="373" name="Google Shape;373;p39"/>
          <p:cNvPicPr preferRelativeResize="0"/>
          <p:nvPr/>
        </p:nvPicPr>
        <p:blipFill rotWithShape="1">
          <a:blip r:embed="rId4">
            <a:alphaModFix/>
          </a:blip>
          <a:srcRect b="9461" l="0" r="0" t="0"/>
          <a:stretch/>
        </p:blipFill>
        <p:spPr>
          <a:xfrm>
            <a:off x="6133800" y="5740387"/>
            <a:ext cx="1064610" cy="891626"/>
          </a:xfrm>
          <a:prstGeom prst="rect">
            <a:avLst/>
          </a:prstGeom>
          <a:noFill/>
          <a:ln>
            <a:noFill/>
          </a:ln>
        </p:spPr>
      </p:pic>
      <p:pic>
        <p:nvPicPr>
          <p:cNvPr id="374" name="Google Shape;374;p39"/>
          <p:cNvPicPr preferRelativeResize="0"/>
          <p:nvPr/>
        </p:nvPicPr>
        <p:blipFill rotWithShape="1">
          <a:blip r:embed="rId5">
            <a:alphaModFix/>
          </a:blip>
          <a:srcRect b="30088" l="0" r="0" t="33326"/>
          <a:stretch/>
        </p:blipFill>
        <p:spPr>
          <a:xfrm>
            <a:off x="4217350" y="3352799"/>
            <a:ext cx="1905000" cy="696950"/>
          </a:xfrm>
          <a:prstGeom prst="rect">
            <a:avLst/>
          </a:prstGeom>
          <a:noFill/>
          <a:ln>
            <a:noFill/>
          </a:ln>
        </p:spPr>
      </p:pic>
      <p:cxnSp>
        <p:nvCxnSpPr>
          <p:cNvPr id="375" name="Google Shape;375;p39"/>
          <p:cNvCxnSpPr>
            <a:stCxn id="364" idx="1"/>
          </p:cNvCxnSpPr>
          <p:nvPr/>
        </p:nvCxnSpPr>
        <p:spPr>
          <a:xfrm>
            <a:off x="5062127" y="1686349"/>
            <a:ext cx="0" cy="365400"/>
          </a:xfrm>
          <a:prstGeom prst="straightConnector1">
            <a:avLst/>
          </a:prstGeom>
          <a:noFill/>
          <a:ln cap="flat" cmpd="sng" w="9525">
            <a:solidFill>
              <a:schemeClr val="dk2"/>
            </a:solidFill>
            <a:prstDash val="solid"/>
            <a:round/>
            <a:headEnd len="med" w="med" type="none"/>
            <a:tailEnd len="med" w="med" type="none"/>
          </a:ln>
        </p:spPr>
      </p:cxnSp>
      <p:cxnSp>
        <p:nvCxnSpPr>
          <p:cNvPr id="376" name="Google Shape;376;p39"/>
          <p:cNvCxnSpPr>
            <a:stCxn id="365" idx="2"/>
          </p:cNvCxnSpPr>
          <p:nvPr/>
        </p:nvCxnSpPr>
        <p:spPr>
          <a:xfrm>
            <a:off x="5093650" y="3107750"/>
            <a:ext cx="0" cy="3660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39"/>
          <p:cNvCxnSpPr>
            <a:endCxn id="366" idx="0"/>
          </p:cNvCxnSpPr>
          <p:nvPr/>
        </p:nvCxnSpPr>
        <p:spPr>
          <a:xfrm flipH="1">
            <a:off x="2430480" y="3919537"/>
            <a:ext cx="2489100" cy="3882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39"/>
          <p:cNvCxnSpPr>
            <a:endCxn id="367" idx="0"/>
          </p:cNvCxnSpPr>
          <p:nvPr/>
        </p:nvCxnSpPr>
        <p:spPr>
          <a:xfrm flipH="1">
            <a:off x="3815105" y="3901087"/>
            <a:ext cx="1197300" cy="3915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39"/>
          <p:cNvCxnSpPr>
            <a:endCxn id="368" idx="0"/>
          </p:cNvCxnSpPr>
          <p:nvPr/>
        </p:nvCxnSpPr>
        <p:spPr>
          <a:xfrm>
            <a:off x="5199730" y="3947587"/>
            <a:ext cx="0" cy="345000"/>
          </a:xfrm>
          <a:prstGeom prst="straightConnector1">
            <a:avLst/>
          </a:prstGeom>
          <a:noFill/>
          <a:ln cap="flat" cmpd="sng" w="9525">
            <a:solidFill>
              <a:schemeClr val="dk2"/>
            </a:solidFill>
            <a:prstDash val="solid"/>
            <a:round/>
            <a:headEnd len="med" w="med" type="none"/>
            <a:tailEnd len="med" w="med" type="none"/>
          </a:ln>
        </p:spPr>
      </p:cxnSp>
      <p:cxnSp>
        <p:nvCxnSpPr>
          <p:cNvPr id="380" name="Google Shape;380;p39"/>
          <p:cNvCxnSpPr>
            <a:endCxn id="369" idx="0"/>
          </p:cNvCxnSpPr>
          <p:nvPr/>
        </p:nvCxnSpPr>
        <p:spPr>
          <a:xfrm>
            <a:off x="5300505" y="3947587"/>
            <a:ext cx="1365600" cy="345000"/>
          </a:xfrm>
          <a:prstGeom prst="straightConnector1">
            <a:avLst/>
          </a:prstGeom>
          <a:noFill/>
          <a:ln cap="flat" cmpd="sng" w="9525">
            <a:solidFill>
              <a:schemeClr val="dk2"/>
            </a:solidFill>
            <a:prstDash val="solid"/>
            <a:round/>
            <a:headEnd len="med" w="med" type="none"/>
            <a:tailEnd len="med" w="med" type="none"/>
          </a:ln>
        </p:spPr>
      </p:cxnSp>
      <p:cxnSp>
        <p:nvCxnSpPr>
          <p:cNvPr id="381" name="Google Shape;381;p39"/>
          <p:cNvCxnSpPr>
            <a:endCxn id="370" idx="0"/>
          </p:cNvCxnSpPr>
          <p:nvPr/>
        </p:nvCxnSpPr>
        <p:spPr>
          <a:xfrm>
            <a:off x="5402755" y="3928837"/>
            <a:ext cx="2766000" cy="378900"/>
          </a:xfrm>
          <a:prstGeom prst="straightConnector1">
            <a:avLst/>
          </a:prstGeom>
          <a:noFill/>
          <a:ln cap="flat" cmpd="sng" w="9525">
            <a:solidFill>
              <a:schemeClr val="dk2"/>
            </a:solidFill>
            <a:prstDash val="solid"/>
            <a:round/>
            <a:headEnd len="med" w="med" type="none"/>
            <a:tailEnd len="med" w="med" type="none"/>
          </a:ln>
        </p:spPr>
      </p:cxnSp>
      <p:cxnSp>
        <p:nvCxnSpPr>
          <p:cNvPr id="382" name="Google Shape;382;p39"/>
          <p:cNvCxnSpPr>
            <a:endCxn id="370" idx="2"/>
          </p:cNvCxnSpPr>
          <p:nvPr/>
        </p:nvCxnSpPr>
        <p:spPr>
          <a:xfrm>
            <a:off x="2430355" y="5198763"/>
            <a:ext cx="5738400" cy="600"/>
          </a:xfrm>
          <a:prstGeom prst="bentConnector4">
            <a:avLst>
              <a:gd fmla="val 140" name="adj1"/>
              <a:gd fmla="val 39787500" name="adj2"/>
            </a:avLst>
          </a:prstGeom>
          <a:noFill/>
          <a:ln cap="flat" cmpd="sng" w="9525">
            <a:solidFill>
              <a:schemeClr val="dk2"/>
            </a:solidFill>
            <a:prstDash val="solid"/>
            <a:round/>
            <a:headEnd len="med" w="med" type="none"/>
            <a:tailEnd len="med" w="med" type="none"/>
          </a:ln>
        </p:spPr>
      </p:cxnSp>
      <p:cxnSp>
        <p:nvCxnSpPr>
          <p:cNvPr id="383" name="Google Shape;383;p39"/>
          <p:cNvCxnSpPr>
            <a:stCxn id="367" idx="2"/>
          </p:cNvCxnSpPr>
          <p:nvPr/>
        </p:nvCxnSpPr>
        <p:spPr>
          <a:xfrm>
            <a:off x="3815105" y="5184213"/>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39"/>
          <p:cNvCxnSpPr>
            <a:stCxn id="368" idx="2"/>
          </p:cNvCxnSpPr>
          <p:nvPr/>
        </p:nvCxnSpPr>
        <p:spPr>
          <a:xfrm>
            <a:off x="5199730" y="5184213"/>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39"/>
          <p:cNvCxnSpPr>
            <a:stCxn id="369" idx="2"/>
          </p:cNvCxnSpPr>
          <p:nvPr/>
        </p:nvCxnSpPr>
        <p:spPr>
          <a:xfrm>
            <a:off x="6666105" y="5184213"/>
            <a:ext cx="0" cy="2781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39"/>
          <p:cNvCxnSpPr>
            <a:stCxn id="371" idx="0"/>
          </p:cNvCxnSpPr>
          <p:nvPr/>
        </p:nvCxnSpPr>
        <p:spPr>
          <a:xfrm rot="10800000">
            <a:off x="3815105" y="5397187"/>
            <a:ext cx="0" cy="3432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39"/>
          <p:cNvCxnSpPr>
            <a:stCxn id="372" idx="0"/>
          </p:cNvCxnSpPr>
          <p:nvPr/>
        </p:nvCxnSpPr>
        <p:spPr>
          <a:xfrm rot="10800000">
            <a:off x="5199730" y="5471587"/>
            <a:ext cx="0" cy="2688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39"/>
          <p:cNvCxnSpPr>
            <a:stCxn id="373" idx="0"/>
          </p:cNvCxnSpPr>
          <p:nvPr/>
        </p:nvCxnSpPr>
        <p:spPr>
          <a:xfrm rot="10800000">
            <a:off x="6666105" y="5425087"/>
            <a:ext cx="0" cy="315300"/>
          </a:xfrm>
          <a:prstGeom prst="straightConnector1">
            <a:avLst/>
          </a:prstGeom>
          <a:noFill/>
          <a:ln cap="flat" cmpd="sng" w="9525">
            <a:solidFill>
              <a:schemeClr val="dk2"/>
            </a:solidFill>
            <a:prstDash val="solid"/>
            <a:round/>
            <a:headEnd len="med" w="med" type="none"/>
            <a:tailEnd len="med" w="med" type="none"/>
          </a:ln>
        </p:spPr>
      </p:cxnSp>
      <p:sp>
        <p:nvSpPr>
          <p:cNvPr id="389" name="Google Shape;389;p39"/>
          <p:cNvSpPr txBox="1"/>
          <p:nvPr/>
        </p:nvSpPr>
        <p:spPr>
          <a:xfrm>
            <a:off x="2074125" y="3376950"/>
            <a:ext cx="2120700" cy="57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Cân bằng tải</a:t>
            </a:r>
            <a:endParaRPr sz="2000"/>
          </a:p>
        </p:txBody>
      </p:sp>
      <p:sp>
        <p:nvSpPr>
          <p:cNvPr id="390" name="Google Shape;390;p39"/>
          <p:cNvSpPr txBox="1"/>
          <p:nvPr/>
        </p:nvSpPr>
        <p:spPr>
          <a:xfrm>
            <a:off x="262050" y="4292575"/>
            <a:ext cx="1905000" cy="9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Các máy chủ ứng dụng</a:t>
            </a:r>
            <a:endParaRPr sz="2000"/>
          </a:p>
        </p:txBody>
      </p:sp>
      <p:sp>
        <p:nvSpPr>
          <p:cNvPr id="391" name="Google Shape;391;p39"/>
          <p:cNvSpPr txBox="1"/>
          <p:nvPr/>
        </p:nvSpPr>
        <p:spPr>
          <a:xfrm>
            <a:off x="1423625" y="5705450"/>
            <a:ext cx="1905000" cy="9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Các máy chủ dữ liệu</a:t>
            </a:r>
            <a:endParaRPr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397" name="Google Shape;397;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98" name="Google Shape;398;p40"/>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Mô-đun hóa hệ thống</a:t>
            </a:r>
            <a:endParaRPr/>
          </a:p>
          <a:p>
            <a:pPr indent="-381000" lvl="0" marL="457200" rtl="0" algn="l">
              <a:spcBef>
                <a:spcPts val="0"/>
              </a:spcBef>
              <a:spcAft>
                <a:spcPts val="0"/>
              </a:spcAft>
              <a:buSzPts val="2400"/>
              <a:buChar char="●"/>
            </a:pPr>
            <a:r>
              <a:rPr lang="en-GB"/>
              <a:t>Các thành phần kiến trúc Hệ thống</a:t>
            </a:r>
            <a:endParaRPr/>
          </a:p>
          <a:p>
            <a:pPr indent="-381000" lvl="0" marL="457200" rtl="0" algn="l">
              <a:spcBef>
                <a:spcPts val="0"/>
              </a:spcBef>
              <a:spcAft>
                <a:spcPts val="0"/>
              </a:spcAft>
              <a:buSzPts val="2400"/>
              <a:buChar char="●"/>
            </a:pPr>
            <a:r>
              <a:rPr lang="en-GB"/>
              <a:t>Mẫu kiến trúc</a:t>
            </a:r>
            <a:endParaRPr/>
          </a:p>
          <a:p>
            <a:pPr indent="-381000" lvl="0" marL="457200" rtl="0" algn="l">
              <a:spcBef>
                <a:spcPts val="0"/>
              </a:spcBef>
              <a:spcAft>
                <a:spcPts val="0"/>
              </a:spcAft>
              <a:buSzPts val="2400"/>
              <a:buChar char="●"/>
            </a:pPr>
            <a:r>
              <a:rPr lang="en-GB"/>
              <a:t>Các sơ đồ UML</a:t>
            </a:r>
            <a:endParaRPr/>
          </a:p>
        </p:txBody>
      </p:sp>
      <p:sp>
        <p:nvSpPr>
          <p:cNvPr id="399" name="Google Shape;399;p40"/>
          <p:cNvSpPr/>
          <p:nvPr/>
        </p:nvSpPr>
        <p:spPr>
          <a:xfrm>
            <a:off x="357900" y="1565740"/>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Kiến trúc MVC</a:t>
            </a:r>
            <a:endParaRPr/>
          </a:p>
        </p:txBody>
      </p:sp>
      <p:sp>
        <p:nvSpPr>
          <p:cNvPr id="405" name="Google Shape;405;p41"/>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Mẫu kiến trúc Model-View-Controller (MVC) phân chia  ứng dụng phần mềm thành 3 phần:</a:t>
            </a:r>
            <a:endParaRPr/>
          </a:p>
          <a:p>
            <a:pPr indent="-368300" lvl="1" marL="914400" rtl="0" algn="just">
              <a:spcBef>
                <a:spcPts val="0"/>
              </a:spcBef>
              <a:spcAft>
                <a:spcPts val="0"/>
              </a:spcAft>
              <a:buSzPts val="2200"/>
              <a:buChar char="○"/>
            </a:pPr>
            <a:r>
              <a:rPr lang="en-GB"/>
              <a:t>Thực thể/</a:t>
            </a:r>
            <a:r>
              <a:rPr lang="en-GB"/>
              <a:t>Model biểu diễn dữ liệu và xử lý nghiệp vụ.</a:t>
            </a:r>
            <a:endParaRPr/>
          </a:p>
          <a:p>
            <a:pPr indent="-368300" lvl="1" marL="914400" rtl="0" algn="just">
              <a:spcBef>
                <a:spcPts val="0"/>
              </a:spcBef>
              <a:spcAft>
                <a:spcPts val="0"/>
              </a:spcAft>
              <a:buSzPts val="2200"/>
              <a:buChar char="○"/>
            </a:pPr>
            <a:r>
              <a:rPr lang="en-GB"/>
              <a:t>Khung nhìn/View giao diện đồ họa, tương tác người dùng.</a:t>
            </a:r>
            <a:endParaRPr/>
          </a:p>
          <a:p>
            <a:pPr indent="-368300" lvl="1" marL="914400" rtl="0" algn="just">
              <a:spcBef>
                <a:spcPts val="0"/>
              </a:spcBef>
              <a:spcAft>
                <a:spcPts val="0"/>
              </a:spcAft>
              <a:buSzPts val="2200"/>
              <a:buChar char="○"/>
            </a:pPr>
            <a:r>
              <a:rPr lang="en-GB"/>
              <a:t>Điều khiển/Controller tiếp nhận và điều hướng thông điệp.</a:t>
            </a:r>
            <a:endParaRPr/>
          </a:p>
          <a:p>
            <a:pPr indent="-381000" lvl="0" marL="457200" rtl="0" algn="just">
              <a:spcBef>
                <a:spcPts val="0"/>
              </a:spcBef>
              <a:spcAft>
                <a:spcPts val="0"/>
              </a:spcAft>
              <a:buSzPts val="2400"/>
              <a:buChar char="●"/>
            </a:pPr>
            <a:r>
              <a:rPr lang="en-GB"/>
              <a:t>Điều khiển có thể được tích hợp trong giao diện.</a:t>
            </a:r>
            <a:endParaRPr/>
          </a:p>
          <a:p>
            <a:pPr indent="-381000" lvl="0" marL="457200" rtl="0" algn="just">
              <a:spcBef>
                <a:spcPts val="0"/>
              </a:spcBef>
              <a:spcAft>
                <a:spcPts val="0"/>
              </a:spcAft>
              <a:buSzPts val="2400"/>
              <a:buChar char="●"/>
            </a:pPr>
            <a:r>
              <a:rPr lang="en-GB"/>
              <a:t>Các thay đổi trong thực thể có thể được thông báo và cập nhật theo các cơ chế:</a:t>
            </a:r>
            <a:endParaRPr/>
          </a:p>
          <a:p>
            <a:pPr indent="-368300" lvl="1" marL="914400" rtl="0" algn="l">
              <a:spcBef>
                <a:spcPts val="0"/>
              </a:spcBef>
              <a:spcAft>
                <a:spcPts val="0"/>
              </a:spcAft>
              <a:buSzPts val="2200"/>
              <a:buChar char="○"/>
            </a:pPr>
            <a:r>
              <a:rPr lang="en-GB"/>
              <a:t>Đẩy / Push: Khi thực thể thay đổi dữ liệu được đẩy lên khung nhìn.</a:t>
            </a:r>
            <a:endParaRPr/>
          </a:p>
          <a:p>
            <a:pPr indent="-368300" lvl="1" marL="914400" rtl="0" algn="l">
              <a:spcBef>
                <a:spcPts val="0"/>
              </a:spcBef>
              <a:spcAft>
                <a:spcPts val="0"/>
              </a:spcAft>
              <a:buSzPts val="2200"/>
              <a:buChar char="○"/>
            </a:pPr>
            <a:r>
              <a:rPr lang="en-GB"/>
              <a:t>Kéo / Pull: Khi thực thể thay đổi, khung nhìn được thông báo và </a:t>
            </a:r>
            <a:r>
              <a:rPr lang="en-GB"/>
              <a:t>nó tự </a:t>
            </a:r>
            <a:r>
              <a:rPr lang="en-GB"/>
              <a:t>yêu câu các thành phần dữ liệu.</a:t>
            </a:r>
            <a:endParaRPr/>
          </a:p>
        </p:txBody>
      </p:sp>
      <p:sp>
        <p:nvSpPr>
          <p:cNvPr id="406" name="Google Shape;406;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 Biểu diễn thị phần hệ điều hành</a:t>
            </a:r>
            <a:endParaRPr/>
          </a:p>
        </p:txBody>
      </p:sp>
      <p:sp>
        <p:nvSpPr>
          <p:cNvPr id="412" name="Google Shape;412;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13" name="Google Shape;413;p42"/>
          <p:cNvSpPr/>
          <p:nvPr/>
        </p:nvSpPr>
        <p:spPr>
          <a:xfrm>
            <a:off x="3782575" y="1530775"/>
            <a:ext cx="1548300" cy="1329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Android: 41%</a:t>
            </a:r>
            <a:endParaRPr/>
          </a:p>
          <a:p>
            <a:pPr indent="0" lvl="0" marL="0" rtl="0" algn="l">
              <a:spcBef>
                <a:spcPts val="0"/>
              </a:spcBef>
              <a:spcAft>
                <a:spcPts val="0"/>
              </a:spcAft>
              <a:buNone/>
            </a:pPr>
            <a:r>
              <a:rPr lang="en-GB"/>
              <a:t>Windows: 31%</a:t>
            </a:r>
            <a:endParaRPr/>
          </a:p>
          <a:p>
            <a:pPr indent="0" lvl="0" marL="0" rtl="0" algn="l">
              <a:spcBef>
                <a:spcPts val="0"/>
              </a:spcBef>
              <a:spcAft>
                <a:spcPts val="0"/>
              </a:spcAft>
              <a:buNone/>
            </a:pPr>
            <a:r>
              <a:rPr lang="en-GB"/>
              <a:t>iOS: 16%</a:t>
            </a:r>
            <a:endParaRPr/>
          </a:p>
          <a:p>
            <a:pPr indent="0" lvl="0" marL="0" rtl="0" algn="l">
              <a:spcBef>
                <a:spcPts val="0"/>
              </a:spcBef>
              <a:spcAft>
                <a:spcPts val="0"/>
              </a:spcAft>
              <a:buNone/>
            </a:pPr>
            <a:r>
              <a:rPr lang="en-GB"/>
              <a:t>OS X: 7%</a:t>
            </a:r>
            <a:endParaRPr/>
          </a:p>
          <a:p>
            <a:pPr indent="0" lvl="0" marL="0" rtl="0" algn="l">
              <a:spcBef>
                <a:spcPts val="0"/>
              </a:spcBef>
              <a:spcAft>
                <a:spcPts val="0"/>
              </a:spcAft>
              <a:buNone/>
            </a:pPr>
            <a:r>
              <a:rPr lang="en-GB"/>
              <a:t>Others: 5%</a:t>
            </a:r>
            <a:endParaRPr/>
          </a:p>
        </p:txBody>
      </p:sp>
      <p:pic>
        <p:nvPicPr>
          <p:cNvPr id="414" name="Google Shape;414;p42" title="Points scored"/>
          <p:cNvPicPr preferRelativeResize="0"/>
          <p:nvPr/>
        </p:nvPicPr>
        <p:blipFill>
          <a:blip r:embed="rId3">
            <a:alphaModFix/>
          </a:blip>
          <a:stretch>
            <a:fillRect/>
          </a:stretch>
        </p:blipFill>
        <p:spPr>
          <a:xfrm>
            <a:off x="311700" y="3691425"/>
            <a:ext cx="2754225" cy="1714499"/>
          </a:xfrm>
          <a:prstGeom prst="rect">
            <a:avLst/>
          </a:prstGeom>
          <a:noFill/>
          <a:ln>
            <a:noFill/>
          </a:ln>
        </p:spPr>
      </p:pic>
      <p:pic>
        <p:nvPicPr>
          <p:cNvPr id="415" name="Google Shape;415;p42" title="Chart"/>
          <p:cNvPicPr preferRelativeResize="0"/>
          <p:nvPr/>
        </p:nvPicPr>
        <p:blipFill>
          <a:blip r:embed="rId4">
            <a:alphaModFix/>
          </a:blip>
          <a:stretch>
            <a:fillRect/>
          </a:stretch>
        </p:blipFill>
        <p:spPr>
          <a:xfrm>
            <a:off x="3509675" y="3722037"/>
            <a:ext cx="2657049" cy="1653275"/>
          </a:xfrm>
          <a:prstGeom prst="rect">
            <a:avLst/>
          </a:prstGeom>
          <a:noFill/>
          <a:ln>
            <a:noFill/>
          </a:ln>
        </p:spPr>
      </p:pic>
      <p:cxnSp>
        <p:nvCxnSpPr>
          <p:cNvPr id="416" name="Google Shape;416;p42"/>
          <p:cNvCxnSpPr/>
          <p:nvPr/>
        </p:nvCxnSpPr>
        <p:spPr>
          <a:xfrm flipH="1">
            <a:off x="2117000" y="2851675"/>
            <a:ext cx="1679400" cy="699900"/>
          </a:xfrm>
          <a:prstGeom prst="straightConnector1">
            <a:avLst/>
          </a:prstGeom>
          <a:noFill/>
          <a:ln cap="flat" cmpd="sng" w="28575">
            <a:solidFill>
              <a:schemeClr val="dk2"/>
            </a:solidFill>
            <a:prstDash val="solid"/>
            <a:round/>
            <a:headEnd len="med" w="med" type="none"/>
            <a:tailEnd len="med" w="med" type="triangle"/>
          </a:ln>
        </p:spPr>
      </p:cxnSp>
      <p:cxnSp>
        <p:nvCxnSpPr>
          <p:cNvPr id="417" name="Google Shape;417;p42"/>
          <p:cNvCxnSpPr/>
          <p:nvPr/>
        </p:nvCxnSpPr>
        <p:spPr>
          <a:xfrm flipH="1">
            <a:off x="4548625" y="2936575"/>
            <a:ext cx="8100" cy="708600"/>
          </a:xfrm>
          <a:prstGeom prst="straightConnector1">
            <a:avLst/>
          </a:prstGeom>
          <a:noFill/>
          <a:ln cap="flat" cmpd="sng" w="28575">
            <a:solidFill>
              <a:schemeClr val="dk2"/>
            </a:solidFill>
            <a:prstDash val="solid"/>
            <a:round/>
            <a:headEnd len="med" w="med" type="none"/>
            <a:tailEnd len="med" w="med" type="triangle"/>
          </a:ln>
        </p:spPr>
      </p:cxnSp>
      <p:cxnSp>
        <p:nvCxnSpPr>
          <p:cNvPr id="418" name="Google Shape;418;p42"/>
          <p:cNvCxnSpPr/>
          <p:nvPr/>
        </p:nvCxnSpPr>
        <p:spPr>
          <a:xfrm>
            <a:off x="5379675" y="2825425"/>
            <a:ext cx="1907100" cy="761100"/>
          </a:xfrm>
          <a:prstGeom prst="straightConnector1">
            <a:avLst/>
          </a:prstGeom>
          <a:noFill/>
          <a:ln cap="flat" cmpd="sng" w="28575">
            <a:solidFill>
              <a:schemeClr val="dk2"/>
            </a:solidFill>
            <a:prstDash val="solid"/>
            <a:round/>
            <a:headEnd len="med" w="med" type="triangle"/>
            <a:tailEnd len="med" w="med" type="triangle"/>
          </a:ln>
        </p:spPr>
      </p:cxnSp>
      <p:graphicFrame>
        <p:nvGraphicFramePr>
          <p:cNvPr id="419" name="Google Shape;419;p42"/>
          <p:cNvGraphicFramePr/>
          <p:nvPr/>
        </p:nvGraphicFramePr>
        <p:xfrm>
          <a:off x="6751025" y="3691425"/>
          <a:ext cx="3000000" cy="3000000"/>
        </p:xfrm>
        <a:graphic>
          <a:graphicData uri="http://schemas.openxmlformats.org/drawingml/2006/table">
            <a:tbl>
              <a:tblPr>
                <a:noFill/>
                <a:tableStyleId>{63A64552-8203-400F-93C4-24C0A9A211AB}</a:tableStyleId>
              </a:tblPr>
              <a:tblGrid>
                <a:gridCol w="1176900"/>
                <a:gridCol w="560975"/>
              </a:tblGrid>
              <a:tr h="123575">
                <a:tc>
                  <a:txBody>
                    <a:bodyPr/>
                    <a:lstStyle/>
                    <a:p>
                      <a:pPr indent="0" lvl="0" marL="0" rtl="0" algn="l">
                        <a:spcBef>
                          <a:spcPts val="0"/>
                        </a:spcBef>
                        <a:spcAft>
                          <a:spcPts val="0"/>
                        </a:spcAft>
                        <a:buNone/>
                      </a:pPr>
                      <a:r>
                        <a:rPr lang="en-GB"/>
                        <a:t>Android</a:t>
                      </a:r>
                      <a:endParaRPr/>
                    </a:p>
                  </a:txBody>
                  <a:tcPr marT="54000" marB="54000" marR="91425" marL="91425"/>
                </a:tc>
                <a:tc>
                  <a:txBody>
                    <a:bodyPr/>
                    <a:lstStyle/>
                    <a:p>
                      <a:pPr indent="0" lvl="0" marL="0" rtl="0" algn="r">
                        <a:spcBef>
                          <a:spcPts val="0"/>
                        </a:spcBef>
                        <a:spcAft>
                          <a:spcPts val="0"/>
                        </a:spcAft>
                        <a:buNone/>
                      </a:pPr>
                      <a:r>
                        <a:rPr lang="en-GB"/>
                        <a:t>41</a:t>
                      </a:r>
                      <a:endParaRPr/>
                    </a:p>
                  </a:txBody>
                  <a:tcPr marT="54000" marB="54000" marR="91425" marL="91425"/>
                </a:tc>
              </a:tr>
              <a:tr h="205625">
                <a:tc>
                  <a:txBody>
                    <a:bodyPr/>
                    <a:lstStyle/>
                    <a:p>
                      <a:pPr indent="0" lvl="0" marL="0" rtl="0" algn="l">
                        <a:spcBef>
                          <a:spcPts val="0"/>
                        </a:spcBef>
                        <a:spcAft>
                          <a:spcPts val="0"/>
                        </a:spcAft>
                        <a:buNone/>
                      </a:pPr>
                      <a:r>
                        <a:rPr lang="en-GB"/>
                        <a:t>Windows</a:t>
                      </a:r>
                      <a:endParaRPr/>
                    </a:p>
                  </a:txBody>
                  <a:tcPr marT="54000" marB="54000" marR="91425" marL="91425"/>
                </a:tc>
                <a:tc>
                  <a:txBody>
                    <a:bodyPr/>
                    <a:lstStyle/>
                    <a:p>
                      <a:pPr indent="0" lvl="0" marL="0" rtl="0" algn="r">
                        <a:spcBef>
                          <a:spcPts val="0"/>
                        </a:spcBef>
                        <a:spcAft>
                          <a:spcPts val="0"/>
                        </a:spcAft>
                        <a:buNone/>
                      </a:pPr>
                      <a:r>
                        <a:rPr lang="en-GB"/>
                        <a:t>31</a:t>
                      </a:r>
                      <a:endParaRPr/>
                    </a:p>
                  </a:txBody>
                  <a:tcPr marT="54000" marB="54000" marR="91425" marL="91425"/>
                </a:tc>
              </a:tr>
              <a:tr h="123575">
                <a:tc>
                  <a:txBody>
                    <a:bodyPr/>
                    <a:lstStyle/>
                    <a:p>
                      <a:pPr indent="0" lvl="0" marL="0" rtl="0" algn="l">
                        <a:spcBef>
                          <a:spcPts val="0"/>
                        </a:spcBef>
                        <a:spcAft>
                          <a:spcPts val="0"/>
                        </a:spcAft>
                        <a:buNone/>
                      </a:pPr>
                      <a:r>
                        <a:rPr lang="en-GB"/>
                        <a:t>iOS</a:t>
                      </a:r>
                      <a:endParaRPr/>
                    </a:p>
                  </a:txBody>
                  <a:tcPr marT="54000" marB="54000" marR="91425" marL="91425"/>
                </a:tc>
                <a:tc>
                  <a:txBody>
                    <a:bodyPr/>
                    <a:lstStyle/>
                    <a:p>
                      <a:pPr indent="0" lvl="0" marL="0" rtl="0" algn="r">
                        <a:spcBef>
                          <a:spcPts val="0"/>
                        </a:spcBef>
                        <a:spcAft>
                          <a:spcPts val="0"/>
                        </a:spcAft>
                        <a:buNone/>
                      </a:pPr>
                      <a:r>
                        <a:rPr lang="en-GB"/>
                        <a:t>16</a:t>
                      </a:r>
                      <a:endParaRPr/>
                    </a:p>
                  </a:txBody>
                  <a:tcPr marT="54000" marB="54000" marR="91425" marL="91425"/>
                </a:tc>
              </a:tr>
              <a:tr h="123575">
                <a:tc>
                  <a:txBody>
                    <a:bodyPr/>
                    <a:lstStyle/>
                    <a:p>
                      <a:pPr indent="0" lvl="0" marL="0" rtl="0" algn="l">
                        <a:spcBef>
                          <a:spcPts val="0"/>
                        </a:spcBef>
                        <a:spcAft>
                          <a:spcPts val="0"/>
                        </a:spcAft>
                        <a:buNone/>
                      </a:pPr>
                      <a:r>
                        <a:rPr lang="en-GB"/>
                        <a:t>OS X</a:t>
                      </a:r>
                      <a:endParaRPr/>
                    </a:p>
                  </a:txBody>
                  <a:tcPr marT="54000" marB="54000" marR="91425" marL="91425"/>
                </a:tc>
                <a:tc>
                  <a:txBody>
                    <a:bodyPr/>
                    <a:lstStyle/>
                    <a:p>
                      <a:pPr indent="0" lvl="0" marL="0" rtl="0" algn="r">
                        <a:spcBef>
                          <a:spcPts val="0"/>
                        </a:spcBef>
                        <a:spcAft>
                          <a:spcPts val="0"/>
                        </a:spcAft>
                        <a:buNone/>
                      </a:pPr>
                      <a:r>
                        <a:rPr lang="en-GB"/>
                        <a:t>7</a:t>
                      </a:r>
                      <a:endParaRPr/>
                    </a:p>
                  </a:txBody>
                  <a:tcPr marT="54000" marB="54000" marR="91425" marL="91425"/>
                </a:tc>
              </a:tr>
              <a:tr h="123575">
                <a:tc>
                  <a:txBody>
                    <a:bodyPr/>
                    <a:lstStyle/>
                    <a:p>
                      <a:pPr indent="0" lvl="0" marL="0" rtl="0" algn="l">
                        <a:spcBef>
                          <a:spcPts val="0"/>
                        </a:spcBef>
                        <a:spcAft>
                          <a:spcPts val="0"/>
                        </a:spcAft>
                        <a:buNone/>
                      </a:pPr>
                      <a:r>
                        <a:rPr lang="en-GB"/>
                        <a:t>Others</a:t>
                      </a:r>
                      <a:endParaRPr/>
                    </a:p>
                  </a:txBody>
                  <a:tcPr marT="54000" marB="54000" marR="91425" marL="91425"/>
                </a:tc>
                <a:tc>
                  <a:txBody>
                    <a:bodyPr/>
                    <a:lstStyle/>
                    <a:p>
                      <a:pPr indent="0" lvl="0" marL="0" rtl="0" algn="r">
                        <a:spcBef>
                          <a:spcPts val="0"/>
                        </a:spcBef>
                        <a:spcAft>
                          <a:spcPts val="0"/>
                        </a:spcAft>
                        <a:buNone/>
                      </a:pPr>
                      <a:r>
                        <a:rPr lang="en-GB"/>
                        <a:t>5</a:t>
                      </a:r>
                      <a:endParaRPr/>
                    </a:p>
                  </a:txBody>
                  <a:tcPr marT="54000" marB="54000" marR="91425" marL="91425"/>
                </a:tc>
              </a:tr>
            </a:tbl>
          </a:graphicData>
        </a:graphic>
      </p:graphicFrame>
      <p:sp>
        <p:nvSpPr>
          <p:cNvPr id="420" name="Google Shape;420;p42"/>
          <p:cNvSpPr txBox="1"/>
          <p:nvPr/>
        </p:nvSpPr>
        <p:spPr>
          <a:xfrm>
            <a:off x="6129225" y="1750000"/>
            <a:ext cx="1107900" cy="41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solidFill>
                  <a:schemeClr val="dk2"/>
                </a:solidFill>
              </a:rPr>
              <a:t>Thực thể</a:t>
            </a:r>
            <a:endParaRPr i="1" sz="1600">
              <a:solidFill>
                <a:schemeClr val="dk2"/>
              </a:solidFill>
            </a:endParaRPr>
          </a:p>
        </p:txBody>
      </p:sp>
      <p:cxnSp>
        <p:nvCxnSpPr>
          <p:cNvPr id="421" name="Google Shape;421;p42"/>
          <p:cNvCxnSpPr>
            <a:stCxn id="420" idx="1"/>
          </p:cNvCxnSpPr>
          <p:nvPr/>
        </p:nvCxnSpPr>
        <p:spPr>
          <a:xfrm rot="10800000">
            <a:off x="5341725" y="1959700"/>
            <a:ext cx="787500" cy="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Tùy chỉnh giao diện đồ họa</a:t>
            </a:r>
            <a:endParaRPr/>
          </a:p>
        </p:txBody>
      </p:sp>
      <p:sp>
        <p:nvSpPr>
          <p:cNvPr id="427" name="Google Shape;427;p43"/>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Giao diện người dùng là phần hệ thống có nhiều nguyên nhân để thay đổi:</a:t>
            </a:r>
            <a:endParaRPr/>
          </a:p>
          <a:p>
            <a:pPr indent="-368300" lvl="1" marL="914400" rtl="0" algn="just">
              <a:spcBef>
                <a:spcPts val="0"/>
              </a:spcBef>
              <a:spcAft>
                <a:spcPts val="0"/>
              </a:spcAft>
              <a:buSzPts val="2200"/>
              <a:buChar char="○"/>
            </a:pPr>
            <a:r>
              <a:rPr lang="en-GB"/>
              <a:t>Mở rộng chức năng của hệ thống,</a:t>
            </a:r>
            <a:endParaRPr/>
          </a:p>
          <a:p>
            <a:pPr indent="-368300" lvl="1" marL="914400" rtl="0" algn="just">
              <a:spcBef>
                <a:spcPts val="0"/>
              </a:spcBef>
              <a:spcAft>
                <a:spcPts val="0"/>
              </a:spcAft>
              <a:buSzPts val="2200"/>
              <a:buChar char="○"/>
            </a:pPr>
            <a:r>
              <a:rPr lang="en-GB"/>
              <a:t>Các yêu cầu khác nhau của người dùng, v.v.</a:t>
            </a:r>
            <a:endParaRPr/>
          </a:p>
          <a:p>
            <a:pPr indent="-381000" lvl="0" marL="457200" rtl="0" algn="just">
              <a:spcBef>
                <a:spcPts val="0"/>
              </a:spcBef>
              <a:spcAft>
                <a:spcPts val="0"/>
              </a:spcAft>
              <a:buSzPts val="2400"/>
              <a:buChar char="●"/>
            </a:pPr>
            <a:r>
              <a:rPr lang="en-GB"/>
              <a:t>Xây dựng phần mềm theo kiến trúc MVC cho phép giữ nguyên lô-gic ứng dụng (Thực thể) khi thay đổi giao diện, sử dụng đồng thời nhiều giao diện, và bổ xung giao diện mới.</a:t>
            </a:r>
            <a:endParaRPr/>
          </a:p>
        </p:txBody>
      </p:sp>
      <p:sp>
        <p:nvSpPr>
          <p:cNvPr id="428" name="Google Shape;428;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 MVC theo cơ chế đẩy dữ liệu</a:t>
            </a:r>
            <a:endParaRPr/>
          </a:p>
        </p:txBody>
      </p:sp>
      <p:sp>
        <p:nvSpPr>
          <p:cNvPr id="434" name="Google Shape;434;p44"/>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Thực thể sẽ thông báo khung nhìn và điều khiển khi có thay đổi. Điều khiển sẽ tạo ra đối tượng dữ liệu cho khung nhìn.</a:t>
            </a:r>
            <a:endParaRPr i="1"/>
          </a:p>
        </p:txBody>
      </p:sp>
      <p:sp>
        <p:nvSpPr>
          <p:cNvPr id="435" name="Google Shape;435;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36" name="Google Shape;436;p44"/>
          <p:cNvSpPr/>
          <p:nvPr/>
        </p:nvSpPr>
        <p:spPr>
          <a:xfrm>
            <a:off x="4854825" y="19769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Observer</a:t>
            </a:r>
            <a:endParaRPr/>
          </a:p>
        </p:txBody>
      </p:sp>
      <p:sp>
        <p:nvSpPr>
          <p:cNvPr id="437" name="Google Shape;437;p44"/>
          <p:cNvSpPr/>
          <p:nvPr/>
        </p:nvSpPr>
        <p:spPr>
          <a:xfrm>
            <a:off x="4854825" y="2314188"/>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GB"/>
              <a:t>Update()</a:t>
            </a:r>
            <a:endParaRPr i="1"/>
          </a:p>
        </p:txBody>
      </p:sp>
      <p:sp>
        <p:nvSpPr>
          <p:cNvPr id="438" name="Google Shape;438;p44"/>
          <p:cNvSpPr/>
          <p:nvPr/>
        </p:nvSpPr>
        <p:spPr>
          <a:xfrm>
            <a:off x="5921625" y="33485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View</a:t>
            </a:r>
            <a:endParaRPr/>
          </a:p>
        </p:txBody>
      </p:sp>
      <p:sp>
        <p:nvSpPr>
          <p:cNvPr id="439" name="Google Shape;439;p44"/>
          <p:cNvSpPr/>
          <p:nvPr/>
        </p:nvSpPr>
        <p:spPr>
          <a:xfrm>
            <a:off x="5921625" y="3685788"/>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a:p>
        </p:txBody>
      </p:sp>
      <p:sp>
        <p:nvSpPr>
          <p:cNvPr id="440" name="Google Shape;440;p44"/>
          <p:cNvSpPr/>
          <p:nvPr/>
        </p:nvSpPr>
        <p:spPr>
          <a:xfrm>
            <a:off x="5921625" y="4016800"/>
            <a:ext cx="1495800" cy="1039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SetController()</a:t>
            </a:r>
            <a:endParaRPr/>
          </a:p>
          <a:p>
            <a:pPr indent="0" lvl="0" marL="0" rtl="0" algn="l">
              <a:spcBef>
                <a:spcPts val="0"/>
              </a:spcBef>
              <a:spcAft>
                <a:spcPts val="0"/>
              </a:spcAft>
              <a:buNone/>
            </a:pPr>
            <a:r>
              <a:rPr lang="en-GB"/>
              <a:t>Update()</a:t>
            </a:r>
            <a:endParaRPr/>
          </a:p>
          <a:p>
            <a:pPr indent="0" lvl="0" marL="0" rtl="0" algn="l">
              <a:spcBef>
                <a:spcPts val="0"/>
              </a:spcBef>
              <a:spcAft>
                <a:spcPts val="0"/>
              </a:spcAft>
              <a:buNone/>
            </a:pPr>
            <a:r>
              <a:rPr lang="en-GB"/>
              <a:t>Display()</a:t>
            </a:r>
            <a:endParaRPr/>
          </a:p>
          <a:p>
            <a:pPr indent="0" lvl="0" marL="0" rtl="0" algn="l">
              <a:spcBef>
                <a:spcPts val="0"/>
              </a:spcBef>
              <a:spcAft>
                <a:spcPts val="0"/>
              </a:spcAft>
              <a:buNone/>
            </a:pPr>
            <a:r>
              <a:rPr lang="en-GB"/>
              <a:t>…</a:t>
            </a:r>
            <a:endParaRPr/>
          </a:p>
        </p:txBody>
      </p:sp>
      <p:sp>
        <p:nvSpPr>
          <p:cNvPr id="441" name="Google Shape;441;p44"/>
          <p:cNvSpPr/>
          <p:nvPr/>
        </p:nvSpPr>
        <p:spPr>
          <a:xfrm>
            <a:off x="3483225" y="33485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Controller</a:t>
            </a:r>
            <a:endParaRPr/>
          </a:p>
        </p:txBody>
      </p:sp>
      <p:sp>
        <p:nvSpPr>
          <p:cNvPr id="442" name="Google Shape;442;p44"/>
          <p:cNvSpPr/>
          <p:nvPr/>
        </p:nvSpPr>
        <p:spPr>
          <a:xfrm>
            <a:off x="3483225" y="3685788"/>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a:p>
        </p:txBody>
      </p:sp>
      <p:sp>
        <p:nvSpPr>
          <p:cNvPr id="443" name="Google Shape;443;p44"/>
          <p:cNvSpPr/>
          <p:nvPr/>
        </p:nvSpPr>
        <p:spPr>
          <a:xfrm>
            <a:off x="3483225" y="4016800"/>
            <a:ext cx="1495800" cy="1039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HandleEvent()</a:t>
            </a:r>
            <a:endParaRPr/>
          </a:p>
          <a:p>
            <a:pPr indent="0" lvl="0" marL="0" rtl="0" algn="l">
              <a:spcBef>
                <a:spcPts val="0"/>
              </a:spcBef>
              <a:spcAft>
                <a:spcPts val="0"/>
              </a:spcAft>
              <a:buNone/>
            </a:pPr>
            <a:r>
              <a:rPr lang="en-GB"/>
              <a:t>SetModel()</a:t>
            </a:r>
            <a:endParaRPr/>
          </a:p>
          <a:p>
            <a:pPr indent="0" lvl="0" marL="0" rtl="0" algn="l">
              <a:spcBef>
                <a:spcPts val="0"/>
              </a:spcBef>
              <a:spcAft>
                <a:spcPts val="0"/>
              </a:spcAft>
              <a:buNone/>
            </a:pPr>
            <a:r>
              <a:rPr lang="en-GB"/>
              <a:t>GetData()</a:t>
            </a:r>
            <a:endParaRPr/>
          </a:p>
          <a:p>
            <a:pPr indent="0" lvl="0" marL="0" rtl="0" algn="l">
              <a:spcBef>
                <a:spcPts val="0"/>
              </a:spcBef>
              <a:spcAft>
                <a:spcPts val="0"/>
              </a:spcAft>
              <a:buNone/>
            </a:pPr>
            <a:r>
              <a:rPr lang="en-GB"/>
              <a:t>…</a:t>
            </a:r>
            <a:endParaRPr/>
          </a:p>
        </p:txBody>
      </p:sp>
      <p:sp>
        <p:nvSpPr>
          <p:cNvPr id="444" name="Google Shape;444;p44"/>
          <p:cNvSpPr/>
          <p:nvPr/>
        </p:nvSpPr>
        <p:spPr>
          <a:xfrm>
            <a:off x="892425" y="27389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Model</a:t>
            </a:r>
            <a:endParaRPr/>
          </a:p>
        </p:txBody>
      </p:sp>
      <p:sp>
        <p:nvSpPr>
          <p:cNvPr id="445" name="Google Shape;445;p44"/>
          <p:cNvSpPr/>
          <p:nvPr/>
        </p:nvSpPr>
        <p:spPr>
          <a:xfrm>
            <a:off x="892425" y="3076225"/>
            <a:ext cx="1495800" cy="4113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data</a:t>
            </a:r>
            <a:endParaRPr/>
          </a:p>
        </p:txBody>
      </p:sp>
      <p:sp>
        <p:nvSpPr>
          <p:cNvPr id="446" name="Google Shape;446;p44"/>
          <p:cNvSpPr/>
          <p:nvPr/>
        </p:nvSpPr>
        <p:spPr>
          <a:xfrm>
            <a:off x="892425" y="3493419"/>
            <a:ext cx="1495800" cy="1204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Register()</a:t>
            </a:r>
            <a:endParaRPr/>
          </a:p>
          <a:p>
            <a:pPr indent="0" lvl="0" marL="0" rtl="0" algn="l">
              <a:spcBef>
                <a:spcPts val="0"/>
              </a:spcBef>
              <a:spcAft>
                <a:spcPts val="0"/>
              </a:spcAft>
              <a:buNone/>
            </a:pPr>
            <a:r>
              <a:rPr lang="en-GB"/>
              <a:t>Notify()</a:t>
            </a:r>
            <a:endParaRPr/>
          </a:p>
          <a:p>
            <a:pPr indent="0" lvl="0" marL="0" rtl="0" algn="l">
              <a:spcBef>
                <a:spcPts val="0"/>
              </a:spcBef>
              <a:spcAft>
                <a:spcPts val="0"/>
              </a:spcAft>
              <a:buNone/>
            </a:pPr>
            <a:r>
              <a:rPr lang="en-GB"/>
              <a:t>GetData()</a:t>
            </a:r>
            <a:endParaRPr/>
          </a:p>
          <a:p>
            <a:pPr indent="0" lvl="0" marL="0" rtl="0" algn="l">
              <a:spcBef>
                <a:spcPts val="0"/>
              </a:spcBef>
              <a:spcAft>
                <a:spcPts val="0"/>
              </a:spcAft>
              <a:buNone/>
            </a:pPr>
            <a:r>
              <a:rPr lang="en-GB"/>
              <a:t>Service()</a:t>
            </a:r>
            <a:endParaRPr/>
          </a:p>
          <a:p>
            <a:pPr indent="0" lvl="0" marL="0" rtl="0" algn="l">
              <a:spcBef>
                <a:spcPts val="0"/>
              </a:spcBef>
              <a:spcAft>
                <a:spcPts val="0"/>
              </a:spcAft>
              <a:buNone/>
            </a:pPr>
            <a:r>
              <a:rPr lang="en-GB"/>
              <a:t>…</a:t>
            </a:r>
            <a:endParaRPr/>
          </a:p>
        </p:txBody>
      </p:sp>
      <p:cxnSp>
        <p:nvCxnSpPr>
          <p:cNvPr id="447" name="Google Shape;447;p44"/>
          <p:cNvCxnSpPr>
            <a:stCxn id="436" idx="1"/>
            <a:endCxn id="448" idx="0"/>
          </p:cNvCxnSpPr>
          <p:nvPr/>
        </p:nvCxnSpPr>
        <p:spPr>
          <a:xfrm flipH="1">
            <a:off x="1650525" y="2143125"/>
            <a:ext cx="3204300" cy="433800"/>
          </a:xfrm>
          <a:prstGeom prst="bentConnector2">
            <a:avLst/>
          </a:prstGeom>
          <a:noFill/>
          <a:ln cap="flat" cmpd="sng" w="9525">
            <a:solidFill>
              <a:schemeClr val="dk2"/>
            </a:solidFill>
            <a:prstDash val="solid"/>
            <a:round/>
            <a:headEnd len="med" w="med" type="none"/>
            <a:tailEnd len="med" w="med" type="none"/>
          </a:ln>
        </p:spPr>
      </p:cxnSp>
      <p:sp>
        <p:nvSpPr>
          <p:cNvPr id="448" name="Google Shape;448;p44"/>
          <p:cNvSpPr/>
          <p:nvPr/>
        </p:nvSpPr>
        <p:spPr>
          <a:xfrm>
            <a:off x="1575525" y="2576900"/>
            <a:ext cx="149725" cy="14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44"/>
          <p:cNvSpPr/>
          <p:nvPr/>
        </p:nvSpPr>
        <p:spPr>
          <a:xfrm>
            <a:off x="5633750" y="2646775"/>
            <a:ext cx="1497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50" name="Google Shape;450;p44"/>
          <p:cNvCxnSpPr>
            <a:stCxn id="438" idx="0"/>
            <a:endCxn id="449" idx="3"/>
          </p:cNvCxnSpPr>
          <p:nvPr/>
        </p:nvCxnSpPr>
        <p:spPr>
          <a:xfrm flipH="1" rot="5400000">
            <a:off x="5913075" y="2592075"/>
            <a:ext cx="552000" cy="960900"/>
          </a:xfrm>
          <a:prstGeom prst="bentConnector3">
            <a:avLst>
              <a:gd fmla="val 50005" name="adj1"/>
            </a:avLst>
          </a:prstGeom>
          <a:noFill/>
          <a:ln cap="flat" cmpd="sng" w="9525">
            <a:solidFill>
              <a:schemeClr val="dk2"/>
            </a:solidFill>
            <a:prstDash val="solid"/>
            <a:round/>
            <a:headEnd len="med" w="med" type="none"/>
            <a:tailEnd len="med" w="med" type="none"/>
          </a:ln>
        </p:spPr>
      </p:cxnSp>
      <p:sp>
        <p:nvSpPr>
          <p:cNvPr id="451" name="Google Shape;451;p44"/>
          <p:cNvSpPr/>
          <p:nvPr/>
        </p:nvSpPr>
        <p:spPr>
          <a:xfrm>
            <a:off x="3308170" y="4359448"/>
            <a:ext cx="179300" cy="14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52" name="Google Shape;452;p44"/>
          <p:cNvCxnSpPr>
            <a:stCxn id="451" idx="1"/>
          </p:cNvCxnSpPr>
          <p:nvPr/>
        </p:nvCxnSpPr>
        <p:spPr>
          <a:xfrm rot="10800000">
            <a:off x="2376670" y="4434310"/>
            <a:ext cx="931500" cy="0"/>
          </a:xfrm>
          <a:prstGeom prst="straightConnector1">
            <a:avLst/>
          </a:prstGeom>
          <a:noFill/>
          <a:ln cap="flat" cmpd="sng" w="9525">
            <a:solidFill>
              <a:schemeClr val="dk2"/>
            </a:solidFill>
            <a:prstDash val="solid"/>
            <a:round/>
            <a:headEnd len="med" w="med" type="none"/>
            <a:tailEnd len="med" w="med" type="none"/>
          </a:ln>
        </p:spPr>
      </p:cxnSp>
      <p:sp>
        <p:nvSpPr>
          <p:cNvPr id="453" name="Google Shape;453;p44"/>
          <p:cNvSpPr/>
          <p:nvPr/>
        </p:nvSpPr>
        <p:spPr>
          <a:xfrm>
            <a:off x="5746570" y="3779795"/>
            <a:ext cx="179300" cy="14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54" name="Google Shape;454;p44"/>
          <p:cNvCxnSpPr>
            <a:stCxn id="453" idx="1"/>
            <a:endCxn id="442" idx="3"/>
          </p:cNvCxnSpPr>
          <p:nvPr/>
        </p:nvCxnSpPr>
        <p:spPr>
          <a:xfrm rot="10800000">
            <a:off x="4979170" y="3851958"/>
            <a:ext cx="767400" cy="2700"/>
          </a:xfrm>
          <a:prstGeom prst="straightConnector1">
            <a:avLst/>
          </a:prstGeom>
          <a:noFill/>
          <a:ln cap="flat" cmpd="sng" w="9525">
            <a:solidFill>
              <a:schemeClr val="dk2"/>
            </a:solidFill>
            <a:prstDash val="solid"/>
            <a:round/>
            <a:headEnd len="med" w="med" type="none"/>
            <a:tailEnd len="med" w="med" type="none"/>
          </a:ln>
        </p:spPr>
      </p:cxnSp>
      <p:sp>
        <p:nvSpPr>
          <p:cNvPr id="455" name="Google Shape;455;p44"/>
          <p:cNvSpPr/>
          <p:nvPr/>
        </p:nvSpPr>
        <p:spPr>
          <a:xfrm>
            <a:off x="4503773" y="54821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Change</a:t>
            </a:r>
            <a:endParaRPr/>
          </a:p>
        </p:txBody>
      </p:sp>
      <p:sp>
        <p:nvSpPr>
          <p:cNvPr id="456" name="Google Shape;456;p44"/>
          <p:cNvSpPr/>
          <p:nvPr/>
        </p:nvSpPr>
        <p:spPr>
          <a:xfrm>
            <a:off x="4503773" y="5819425"/>
            <a:ext cx="1495800" cy="433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data</a:t>
            </a:r>
            <a:endParaRPr/>
          </a:p>
        </p:txBody>
      </p:sp>
      <p:cxnSp>
        <p:nvCxnSpPr>
          <p:cNvPr id="457" name="Google Shape;457;p44"/>
          <p:cNvCxnSpPr>
            <a:stCxn id="443" idx="2"/>
          </p:cNvCxnSpPr>
          <p:nvPr/>
        </p:nvCxnSpPr>
        <p:spPr>
          <a:xfrm>
            <a:off x="4231125" y="5056000"/>
            <a:ext cx="691200" cy="4113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44"/>
          <p:cNvCxnSpPr>
            <a:stCxn id="440" idx="2"/>
          </p:cNvCxnSpPr>
          <p:nvPr/>
        </p:nvCxnSpPr>
        <p:spPr>
          <a:xfrm flipH="1">
            <a:off x="5690925" y="5056000"/>
            <a:ext cx="978600" cy="401100"/>
          </a:xfrm>
          <a:prstGeom prst="straightConnector1">
            <a:avLst/>
          </a:prstGeom>
          <a:noFill/>
          <a:ln cap="flat" cmpd="sng" w="9525">
            <a:solidFill>
              <a:schemeClr val="dk2"/>
            </a:solidFill>
            <a:prstDash val="dash"/>
            <a:round/>
            <a:headEnd len="med" w="med" type="none"/>
            <a:tailEnd len="med" w="med" type="stealth"/>
          </a:ln>
        </p:spPr>
      </p:cxnSp>
      <p:sp>
        <p:nvSpPr>
          <p:cNvPr id="459" name="Google Shape;459;p44"/>
          <p:cNvSpPr txBox="1"/>
          <p:nvPr/>
        </p:nvSpPr>
        <p:spPr>
          <a:xfrm>
            <a:off x="4503050" y="2092075"/>
            <a:ext cx="289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a:t>
            </a:r>
            <a:endParaRPr sz="16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5"/>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 MVC theo cơ chế đẩy dữ liệu</a:t>
            </a:r>
            <a:r>
              <a:rPr baseline="-25000" lang="en-GB"/>
              <a:t>(2)</a:t>
            </a:r>
            <a:endParaRPr baseline="-25000"/>
          </a:p>
        </p:txBody>
      </p:sp>
      <p:sp>
        <p:nvSpPr>
          <p:cNvPr id="465" name="Google Shape;465;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66" name="Google Shape;466;p45"/>
          <p:cNvSpPr/>
          <p:nvPr/>
        </p:nvSpPr>
        <p:spPr>
          <a:xfrm>
            <a:off x="1441000" y="1005950"/>
            <a:ext cx="11790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a:t>
            </a:r>
            <a:r>
              <a:rPr lang="en-GB" sz="1600" u="sng"/>
              <a:t>Controller</a:t>
            </a:r>
            <a:endParaRPr sz="1600" u="sng"/>
          </a:p>
        </p:txBody>
      </p:sp>
      <p:sp>
        <p:nvSpPr>
          <p:cNvPr id="467" name="Google Shape;467;p45"/>
          <p:cNvSpPr/>
          <p:nvPr/>
        </p:nvSpPr>
        <p:spPr>
          <a:xfrm>
            <a:off x="4870000" y="1005950"/>
            <a:ext cx="10410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a:t>
            </a:r>
            <a:r>
              <a:rPr lang="en-GB" sz="1600" u="sng"/>
              <a:t>Model</a:t>
            </a:r>
            <a:endParaRPr sz="1600" u="sng"/>
          </a:p>
        </p:txBody>
      </p:sp>
      <p:sp>
        <p:nvSpPr>
          <p:cNvPr id="468" name="Google Shape;468;p45"/>
          <p:cNvSpPr/>
          <p:nvPr/>
        </p:nvSpPr>
        <p:spPr>
          <a:xfrm>
            <a:off x="6851200" y="1005950"/>
            <a:ext cx="10410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a:t>
            </a:r>
            <a:r>
              <a:rPr lang="en-GB" sz="1600" u="sng"/>
              <a:t>View</a:t>
            </a:r>
            <a:endParaRPr sz="1600" u="sng"/>
          </a:p>
        </p:txBody>
      </p:sp>
      <p:cxnSp>
        <p:nvCxnSpPr>
          <p:cNvPr id="469" name="Google Shape;469;p45"/>
          <p:cNvCxnSpPr>
            <a:stCxn id="466" idx="2"/>
          </p:cNvCxnSpPr>
          <p:nvPr/>
        </p:nvCxnSpPr>
        <p:spPr>
          <a:xfrm>
            <a:off x="2030500" y="1487150"/>
            <a:ext cx="0" cy="4601100"/>
          </a:xfrm>
          <a:prstGeom prst="straightConnector1">
            <a:avLst/>
          </a:prstGeom>
          <a:noFill/>
          <a:ln cap="flat" cmpd="sng" w="9525">
            <a:solidFill>
              <a:schemeClr val="dk2"/>
            </a:solidFill>
            <a:prstDash val="dash"/>
            <a:round/>
            <a:headEnd len="med" w="med" type="none"/>
            <a:tailEnd len="med" w="med" type="none"/>
          </a:ln>
        </p:spPr>
      </p:cxnSp>
      <p:cxnSp>
        <p:nvCxnSpPr>
          <p:cNvPr id="470" name="Google Shape;470;p45"/>
          <p:cNvCxnSpPr/>
          <p:nvPr/>
        </p:nvCxnSpPr>
        <p:spPr>
          <a:xfrm>
            <a:off x="5390500" y="1487150"/>
            <a:ext cx="0" cy="4601100"/>
          </a:xfrm>
          <a:prstGeom prst="straightConnector1">
            <a:avLst/>
          </a:prstGeom>
          <a:noFill/>
          <a:ln cap="flat" cmpd="sng" w="9525">
            <a:solidFill>
              <a:schemeClr val="dk2"/>
            </a:solidFill>
            <a:prstDash val="dash"/>
            <a:round/>
            <a:headEnd len="med" w="med" type="none"/>
            <a:tailEnd len="med" w="med" type="none"/>
          </a:ln>
        </p:spPr>
      </p:cxnSp>
      <p:cxnSp>
        <p:nvCxnSpPr>
          <p:cNvPr id="471" name="Google Shape;471;p45"/>
          <p:cNvCxnSpPr/>
          <p:nvPr/>
        </p:nvCxnSpPr>
        <p:spPr>
          <a:xfrm>
            <a:off x="7371700" y="1487150"/>
            <a:ext cx="0" cy="4601100"/>
          </a:xfrm>
          <a:prstGeom prst="straightConnector1">
            <a:avLst/>
          </a:prstGeom>
          <a:noFill/>
          <a:ln cap="flat" cmpd="sng" w="9525">
            <a:solidFill>
              <a:schemeClr val="dk2"/>
            </a:solidFill>
            <a:prstDash val="dash"/>
            <a:round/>
            <a:headEnd len="med" w="med" type="none"/>
            <a:tailEnd len="med" w="med" type="none"/>
          </a:ln>
        </p:spPr>
      </p:cxnSp>
      <p:sp>
        <p:nvSpPr>
          <p:cNvPr id="472" name="Google Shape;472;p45"/>
          <p:cNvSpPr/>
          <p:nvPr/>
        </p:nvSpPr>
        <p:spPr>
          <a:xfrm>
            <a:off x="1937075" y="1749500"/>
            <a:ext cx="174900" cy="371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3" name="Google Shape;473;p45"/>
          <p:cNvCxnSpPr>
            <a:stCxn id="474" idx="6"/>
          </p:cNvCxnSpPr>
          <p:nvPr/>
        </p:nvCxnSpPr>
        <p:spPr>
          <a:xfrm>
            <a:off x="510050" y="1885071"/>
            <a:ext cx="1427100" cy="20700"/>
          </a:xfrm>
          <a:prstGeom prst="straightConnector1">
            <a:avLst/>
          </a:prstGeom>
          <a:noFill/>
          <a:ln cap="flat" cmpd="sng" w="9525">
            <a:solidFill>
              <a:schemeClr val="dk2"/>
            </a:solidFill>
            <a:prstDash val="solid"/>
            <a:round/>
            <a:headEnd len="med" w="med" type="none"/>
            <a:tailEnd len="med" w="med" type="triangle"/>
          </a:ln>
        </p:spPr>
      </p:cxnSp>
      <p:sp>
        <p:nvSpPr>
          <p:cNvPr id="475" name="Google Shape;475;p45"/>
          <p:cNvSpPr txBox="1"/>
          <p:nvPr/>
        </p:nvSpPr>
        <p:spPr>
          <a:xfrm>
            <a:off x="578200" y="1548300"/>
            <a:ext cx="14271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HandleEvent()</a:t>
            </a:r>
            <a:endParaRPr/>
          </a:p>
        </p:txBody>
      </p:sp>
      <p:sp>
        <p:nvSpPr>
          <p:cNvPr id="476" name="Google Shape;476;p45"/>
          <p:cNvSpPr/>
          <p:nvPr/>
        </p:nvSpPr>
        <p:spPr>
          <a:xfrm>
            <a:off x="5289875" y="1901900"/>
            <a:ext cx="174900" cy="356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7" name="Google Shape;477;p45"/>
          <p:cNvCxnSpPr/>
          <p:nvPr/>
        </p:nvCxnSpPr>
        <p:spPr>
          <a:xfrm>
            <a:off x="2107250" y="2134275"/>
            <a:ext cx="3160800" cy="0"/>
          </a:xfrm>
          <a:prstGeom prst="straightConnector1">
            <a:avLst/>
          </a:prstGeom>
          <a:noFill/>
          <a:ln cap="flat" cmpd="sng" w="9525">
            <a:solidFill>
              <a:schemeClr val="dk2"/>
            </a:solidFill>
            <a:prstDash val="solid"/>
            <a:round/>
            <a:headEnd len="med" w="med" type="none"/>
            <a:tailEnd len="med" w="med" type="triangle"/>
          </a:ln>
        </p:spPr>
      </p:cxnSp>
      <p:sp>
        <p:nvSpPr>
          <p:cNvPr id="478" name="Google Shape;478;p45"/>
          <p:cNvSpPr txBox="1"/>
          <p:nvPr/>
        </p:nvSpPr>
        <p:spPr>
          <a:xfrm>
            <a:off x="3413975" y="1776900"/>
            <a:ext cx="11343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Service()</a:t>
            </a:r>
            <a:endParaRPr/>
          </a:p>
        </p:txBody>
      </p:sp>
      <p:sp>
        <p:nvSpPr>
          <p:cNvPr id="479" name="Google Shape;479;p45"/>
          <p:cNvSpPr/>
          <p:nvPr/>
        </p:nvSpPr>
        <p:spPr>
          <a:xfrm>
            <a:off x="5416025" y="2405545"/>
            <a:ext cx="174900" cy="265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5"/>
          <p:cNvSpPr/>
          <p:nvPr/>
        </p:nvSpPr>
        <p:spPr>
          <a:xfrm>
            <a:off x="5469300" y="2248100"/>
            <a:ext cx="306150" cy="279925"/>
          </a:xfrm>
          <a:custGeom>
            <a:rect b="b" l="l" r="r" t="t"/>
            <a:pathLst>
              <a:path extrusionOk="0" h="11197" w="12246">
                <a:moveTo>
                  <a:pt x="0" y="0"/>
                </a:moveTo>
                <a:lnTo>
                  <a:pt x="12246" y="0"/>
                </a:lnTo>
                <a:lnTo>
                  <a:pt x="12246" y="11197"/>
                </a:lnTo>
                <a:lnTo>
                  <a:pt x="4898" y="11197"/>
                </a:lnTo>
              </a:path>
            </a:pathLst>
          </a:custGeom>
          <a:noFill/>
          <a:ln cap="flat" cmpd="sng" w="9525">
            <a:solidFill>
              <a:schemeClr val="dk2"/>
            </a:solidFill>
            <a:prstDash val="solid"/>
            <a:round/>
            <a:headEnd len="med" w="med" type="none"/>
            <a:tailEnd len="med" w="med" type="triangle"/>
          </a:ln>
        </p:spPr>
      </p:sp>
      <p:sp>
        <p:nvSpPr>
          <p:cNvPr id="481" name="Google Shape;481;p45"/>
          <p:cNvSpPr txBox="1"/>
          <p:nvPr/>
        </p:nvSpPr>
        <p:spPr>
          <a:xfrm>
            <a:off x="5486800" y="1929300"/>
            <a:ext cx="8904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Notify()</a:t>
            </a:r>
            <a:endParaRPr/>
          </a:p>
        </p:txBody>
      </p:sp>
      <p:sp>
        <p:nvSpPr>
          <p:cNvPr id="482" name="Google Shape;482;p45"/>
          <p:cNvSpPr/>
          <p:nvPr/>
        </p:nvSpPr>
        <p:spPr>
          <a:xfrm>
            <a:off x="7286025" y="2692850"/>
            <a:ext cx="174900" cy="28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3" name="Google Shape;483;p45"/>
          <p:cNvCxnSpPr/>
          <p:nvPr/>
        </p:nvCxnSpPr>
        <p:spPr>
          <a:xfrm>
            <a:off x="5600500" y="2877900"/>
            <a:ext cx="1662000" cy="8700"/>
          </a:xfrm>
          <a:prstGeom prst="straightConnector1">
            <a:avLst/>
          </a:prstGeom>
          <a:noFill/>
          <a:ln cap="flat" cmpd="sng" w="9525">
            <a:solidFill>
              <a:schemeClr val="dk2"/>
            </a:solidFill>
            <a:prstDash val="solid"/>
            <a:round/>
            <a:headEnd len="med" w="med" type="none"/>
            <a:tailEnd len="med" w="med" type="triangle"/>
          </a:ln>
        </p:spPr>
      </p:cxnSp>
      <p:sp>
        <p:nvSpPr>
          <p:cNvPr id="484" name="Google Shape;484;p45"/>
          <p:cNvSpPr txBox="1"/>
          <p:nvPr/>
        </p:nvSpPr>
        <p:spPr>
          <a:xfrm>
            <a:off x="6119425" y="2538900"/>
            <a:ext cx="11343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Update()</a:t>
            </a:r>
            <a:endParaRPr/>
          </a:p>
        </p:txBody>
      </p:sp>
      <p:sp>
        <p:nvSpPr>
          <p:cNvPr id="485" name="Google Shape;485;p45"/>
          <p:cNvSpPr/>
          <p:nvPr/>
        </p:nvSpPr>
        <p:spPr>
          <a:xfrm>
            <a:off x="7429675" y="4600375"/>
            <a:ext cx="1749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5"/>
          <p:cNvSpPr/>
          <p:nvPr/>
        </p:nvSpPr>
        <p:spPr>
          <a:xfrm>
            <a:off x="7450500" y="4457900"/>
            <a:ext cx="306150" cy="279925"/>
          </a:xfrm>
          <a:custGeom>
            <a:rect b="b" l="l" r="r" t="t"/>
            <a:pathLst>
              <a:path extrusionOk="0" h="11197" w="12246">
                <a:moveTo>
                  <a:pt x="0" y="0"/>
                </a:moveTo>
                <a:lnTo>
                  <a:pt x="12246" y="0"/>
                </a:lnTo>
                <a:lnTo>
                  <a:pt x="12246" y="11197"/>
                </a:lnTo>
                <a:lnTo>
                  <a:pt x="4898" y="11197"/>
                </a:lnTo>
              </a:path>
            </a:pathLst>
          </a:custGeom>
          <a:noFill/>
          <a:ln cap="flat" cmpd="sng" w="9525">
            <a:solidFill>
              <a:schemeClr val="dk2"/>
            </a:solidFill>
            <a:prstDash val="solid"/>
            <a:round/>
            <a:headEnd len="med" w="med" type="none"/>
            <a:tailEnd len="med" w="med" type="triangle"/>
          </a:ln>
        </p:spPr>
      </p:sp>
      <p:sp>
        <p:nvSpPr>
          <p:cNvPr id="487" name="Google Shape;487;p45"/>
          <p:cNvSpPr txBox="1"/>
          <p:nvPr/>
        </p:nvSpPr>
        <p:spPr>
          <a:xfrm>
            <a:off x="7468000" y="4139100"/>
            <a:ext cx="10410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Display(c)</a:t>
            </a:r>
            <a:endParaRPr/>
          </a:p>
        </p:txBody>
      </p:sp>
      <p:sp>
        <p:nvSpPr>
          <p:cNvPr id="488" name="Google Shape;488;p45"/>
          <p:cNvSpPr/>
          <p:nvPr/>
        </p:nvSpPr>
        <p:spPr>
          <a:xfrm>
            <a:off x="2121950" y="2958724"/>
            <a:ext cx="174900" cy="14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9" name="Google Shape;489;p45"/>
          <p:cNvCxnSpPr/>
          <p:nvPr/>
        </p:nvCxnSpPr>
        <p:spPr>
          <a:xfrm rot="10800000">
            <a:off x="2307050" y="3111870"/>
            <a:ext cx="4983600" cy="0"/>
          </a:xfrm>
          <a:prstGeom prst="straightConnector1">
            <a:avLst/>
          </a:prstGeom>
          <a:noFill/>
          <a:ln cap="flat" cmpd="sng" w="9525">
            <a:solidFill>
              <a:schemeClr val="dk2"/>
            </a:solidFill>
            <a:prstDash val="solid"/>
            <a:round/>
            <a:headEnd len="med" w="med" type="none"/>
            <a:tailEnd len="med" w="med" type="triangle"/>
          </a:ln>
        </p:spPr>
      </p:cxnSp>
      <p:sp>
        <p:nvSpPr>
          <p:cNvPr id="490" name="Google Shape;490;p45"/>
          <p:cNvSpPr txBox="1"/>
          <p:nvPr/>
        </p:nvSpPr>
        <p:spPr>
          <a:xfrm>
            <a:off x="4163252" y="2721248"/>
            <a:ext cx="10410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GetData()</a:t>
            </a:r>
            <a:endParaRPr/>
          </a:p>
        </p:txBody>
      </p:sp>
      <p:cxnSp>
        <p:nvCxnSpPr>
          <p:cNvPr id="491" name="Google Shape;491;p45"/>
          <p:cNvCxnSpPr/>
          <p:nvPr/>
        </p:nvCxnSpPr>
        <p:spPr>
          <a:xfrm rot="10800000">
            <a:off x="738825" y="5309850"/>
            <a:ext cx="1179000" cy="12300"/>
          </a:xfrm>
          <a:prstGeom prst="straightConnector1">
            <a:avLst/>
          </a:prstGeom>
          <a:noFill/>
          <a:ln cap="flat" cmpd="sng" w="9525">
            <a:solidFill>
              <a:schemeClr val="dk2"/>
            </a:solidFill>
            <a:prstDash val="dash"/>
            <a:round/>
            <a:headEnd len="med" w="med" type="none"/>
            <a:tailEnd len="med" w="med" type="triangle"/>
          </a:ln>
        </p:spPr>
      </p:cxnSp>
      <p:sp>
        <p:nvSpPr>
          <p:cNvPr id="492" name="Google Shape;492;p45"/>
          <p:cNvSpPr/>
          <p:nvPr/>
        </p:nvSpPr>
        <p:spPr>
          <a:xfrm>
            <a:off x="624950" y="5248473"/>
            <a:ext cx="113700" cy="1137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5"/>
          <p:cNvSpPr/>
          <p:nvPr/>
        </p:nvSpPr>
        <p:spPr>
          <a:xfrm>
            <a:off x="396350" y="1828221"/>
            <a:ext cx="113700" cy="1137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5"/>
          <p:cNvSpPr txBox="1"/>
          <p:nvPr/>
        </p:nvSpPr>
        <p:spPr>
          <a:xfrm>
            <a:off x="592475" y="6088250"/>
            <a:ext cx="79293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200">
                <a:solidFill>
                  <a:schemeClr val="dk1"/>
                </a:solidFill>
              </a:rPr>
              <a:t>Khung nhìn lấy dữ liệu từ đối tượng được tạo bởi điều khiển</a:t>
            </a:r>
            <a:endParaRPr i="1"/>
          </a:p>
        </p:txBody>
      </p:sp>
      <p:sp>
        <p:nvSpPr>
          <p:cNvPr id="494" name="Google Shape;494;p45"/>
          <p:cNvSpPr/>
          <p:nvPr/>
        </p:nvSpPr>
        <p:spPr>
          <a:xfrm>
            <a:off x="5093762" y="3339730"/>
            <a:ext cx="174900" cy="35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5"/>
          <p:cNvSpPr/>
          <p:nvPr/>
        </p:nvSpPr>
        <p:spPr>
          <a:xfrm>
            <a:off x="3346000" y="3672950"/>
            <a:ext cx="11343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c</a:t>
            </a:r>
            <a:r>
              <a:rPr lang="en-GB" sz="1600" u="sng"/>
              <a:t>:</a:t>
            </a:r>
            <a:r>
              <a:rPr lang="en-GB" sz="1600" u="sng"/>
              <a:t>Change</a:t>
            </a:r>
            <a:endParaRPr sz="1600" u="sng"/>
          </a:p>
        </p:txBody>
      </p:sp>
      <p:cxnSp>
        <p:nvCxnSpPr>
          <p:cNvPr id="496" name="Google Shape;496;p45"/>
          <p:cNvCxnSpPr/>
          <p:nvPr/>
        </p:nvCxnSpPr>
        <p:spPr>
          <a:xfrm>
            <a:off x="3942700" y="4154150"/>
            <a:ext cx="0" cy="1907400"/>
          </a:xfrm>
          <a:prstGeom prst="straightConnector1">
            <a:avLst/>
          </a:prstGeom>
          <a:noFill/>
          <a:ln cap="flat" cmpd="sng" w="9525">
            <a:solidFill>
              <a:schemeClr val="dk2"/>
            </a:solidFill>
            <a:prstDash val="dash"/>
            <a:round/>
            <a:headEnd len="med" w="med" type="none"/>
            <a:tailEnd len="med" w="med" type="none"/>
          </a:ln>
        </p:spPr>
      </p:cxnSp>
      <p:cxnSp>
        <p:nvCxnSpPr>
          <p:cNvPr id="497" name="Google Shape;497;p45"/>
          <p:cNvCxnSpPr/>
          <p:nvPr/>
        </p:nvCxnSpPr>
        <p:spPr>
          <a:xfrm flipH="1" rot="10800000">
            <a:off x="2335850" y="3499575"/>
            <a:ext cx="2776200" cy="6300"/>
          </a:xfrm>
          <a:prstGeom prst="straightConnector1">
            <a:avLst/>
          </a:prstGeom>
          <a:noFill/>
          <a:ln cap="flat" cmpd="sng" w="9525">
            <a:solidFill>
              <a:schemeClr val="dk2"/>
            </a:solidFill>
            <a:prstDash val="solid"/>
            <a:round/>
            <a:headEnd len="med" w="med" type="none"/>
            <a:tailEnd len="med" w="med" type="triangle"/>
          </a:ln>
        </p:spPr>
      </p:cxnSp>
      <p:sp>
        <p:nvSpPr>
          <p:cNvPr id="498" name="Google Shape;498;p45"/>
          <p:cNvSpPr txBox="1"/>
          <p:nvPr/>
        </p:nvSpPr>
        <p:spPr>
          <a:xfrm>
            <a:off x="3642575" y="3148500"/>
            <a:ext cx="11343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GetData</a:t>
            </a:r>
            <a:r>
              <a:rPr lang="en-GB"/>
              <a:t>()</a:t>
            </a:r>
            <a:endParaRPr/>
          </a:p>
        </p:txBody>
      </p:sp>
      <p:cxnSp>
        <p:nvCxnSpPr>
          <p:cNvPr id="499" name="Google Shape;499;p45"/>
          <p:cNvCxnSpPr/>
          <p:nvPr/>
        </p:nvCxnSpPr>
        <p:spPr>
          <a:xfrm>
            <a:off x="2336850" y="3858950"/>
            <a:ext cx="988200" cy="0"/>
          </a:xfrm>
          <a:prstGeom prst="straightConnector1">
            <a:avLst/>
          </a:prstGeom>
          <a:noFill/>
          <a:ln cap="flat" cmpd="sng" w="9525">
            <a:solidFill>
              <a:schemeClr val="dk2"/>
            </a:solidFill>
            <a:prstDash val="dash"/>
            <a:round/>
            <a:headEnd len="med" w="med" type="none"/>
            <a:tailEnd len="med" w="med" type="stealth"/>
          </a:ln>
        </p:spPr>
      </p:cxnSp>
      <p:sp>
        <p:nvSpPr>
          <p:cNvPr id="500" name="Google Shape;500;p45"/>
          <p:cNvSpPr txBox="1"/>
          <p:nvPr/>
        </p:nvSpPr>
        <p:spPr>
          <a:xfrm>
            <a:off x="2270975" y="3453300"/>
            <a:ext cx="11343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create&gt;&gt;</a:t>
            </a:r>
            <a:endParaRPr/>
          </a:p>
        </p:txBody>
      </p:sp>
      <p:cxnSp>
        <p:nvCxnSpPr>
          <p:cNvPr id="501" name="Google Shape;501;p45"/>
          <p:cNvCxnSpPr/>
          <p:nvPr/>
        </p:nvCxnSpPr>
        <p:spPr>
          <a:xfrm>
            <a:off x="2336850" y="4239950"/>
            <a:ext cx="4921500" cy="0"/>
          </a:xfrm>
          <a:prstGeom prst="straightConnector1">
            <a:avLst/>
          </a:prstGeom>
          <a:noFill/>
          <a:ln cap="flat" cmpd="sng" w="9525">
            <a:solidFill>
              <a:schemeClr val="dk2"/>
            </a:solidFill>
            <a:prstDash val="dash"/>
            <a:round/>
            <a:headEnd len="med" w="med" type="none"/>
            <a:tailEnd len="med" w="med" type="stealth"/>
          </a:ln>
        </p:spPr>
      </p:cxnSp>
      <p:sp>
        <p:nvSpPr>
          <p:cNvPr id="502" name="Google Shape;502;p45"/>
          <p:cNvSpPr txBox="1"/>
          <p:nvPr/>
        </p:nvSpPr>
        <p:spPr>
          <a:xfrm>
            <a:off x="4726475" y="3910500"/>
            <a:ext cx="4779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K</a:t>
            </a:r>
            <a:r>
              <a:rPr i="1" lang="en-GB"/>
              <a:t>hung nhìn </a:t>
            </a:r>
            <a:r>
              <a:rPr i="1" lang="en-GB"/>
              <a:t>đọc dữ liệu từ thực thể </a:t>
            </a:r>
            <a:r>
              <a:rPr i="1" lang="en-GB"/>
              <a:t>khi có thay đổi</a:t>
            </a:r>
            <a:endParaRPr i="1"/>
          </a:p>
        </p:txBody>
      </p:sp>
      <p:sp>
        <p:nvSpPr>
          <p:cNvPr id="508" name="Google Shape;508;p4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 </a:t>
            </a:r>
            <a:r>
              <a:rPr lang="en-GB"/>
              <a:t>MVC theo cơ chế kéo dữ liệu</a:t>
            </a:r>
            <a:endParaRPr/>
          </a:p>
        </p:txBody>
      </p:sp>
      <p:sp>
        <p:nvSpPr>
          <p:cNvPr id="509" name="Google Shape;509;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10" name="Google Shape;510;p46"/>
          <p:cNvSpPr/>
          <p:nvPr/>
        </p:nvSpPr>
        <p:spPr>
          <a:xfrm>
            <a:off x="4854825" y="17483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Observer</a:t>
            </a:r>
            <a:endParaRPr/>
          </a:p>
        </p:txBody>
      </p:sp>
      <p:sp>
        <p:nvSpPr>
          <p:cNvPr id="511" name="Google Shape;511;p46"/>
          <p:cNvSpPr/>
          <p:nvPr/>
        </p:nvSpPr>
        <p:spPr>
          <a:xfrm>
            <a:off x="4854825" y="2085588"/>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GB"/>
              <a:t>Update()</a:t>
            </a:r>
            <a:endParaRPr i="1"/>
          </a:p>
        </p:txBody>
      </p:sp>
      <p:sp>
        <p:nvSpPr>
          <p:cNvPr id="512" name="Google Shape;512;p46"/>
          <p:cNvSpPr/>
          <p:nvPr/>
        </p:nvSpPr>
        <p:spPr>
          <a:xfrm>
            <a:off x="5921625" y="31199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View</a:t>
            </a:r>
            <a:endParaRPr/>
          </a:p>
        </p:txBody>
      </p:sp>
      <p:sp>
        <p:nvSpPr>
          <p:cNvPr id="513" name="Google Shape;513;p46"/>
          <p:cNvSpPr/>
          <p:nvPr/>
        </p:nvSpPr>
        <p:spPr>
          <a:xfrm>
            <a:off x="5921625" y="3457188"/>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a:p>
        </p:txBody>
      </p:sp>
      <p:sp>
        <p:nvSpPr>
          <p:cNvPr id="514" name="Google Shape;514;p46"/>
          <p:cNvSpPr/>
          <p:nvPr/>
        </p:nvSpPr>
        <p:spPr>
          <a:xfrm>
            <a:off x="5921625" y="3788200"/>
            <a:ext cx="1495800" cy="1204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SetController()</a:t>
            </a:r>
            <a:endParaRPr/>
          </a:p>
          <a:p>
            <a:pPr indent="0" lvl="0" marL="0" rtl="0" algn="l">
              <a:spcBef>
                <a:spcPts val="0"/>
              </a:spcBef>
              <a:spcAft>
                <a:spcPts val="0"/>
              </a:spcAft>
              <a:buNone/>
            </a:pPr>
            <a:r>
              <a:rPr lang="en-GB"/>
              <a:t>SetModel()</a:t>
            </a:r>
            <a:endParaRPr/>
          </a:p>
          <a:p>
            <a:pPr indent="0" lvl="0" marL="0" rtl="0" algn="l">
              <a:spcBef>
                <a:spcPts val="0"/>
              </a:spcBef>
              <a:spcAft>
                <a:spcPts val="0"/>
              </a:spcAft>
              <a:buNone/>
            </a:pPr>
            <a:r>
              <a:rPr lang="en-GB"/>
              <a:t>Update()</a:t>
            </a:r>
            <a:endParaRPr/>
          </a:p>
          <a:p>
            <a:pPr indent="0" lvl="0" marL="0" rtl="0" algn="l">
              <a:spcBef>
                <a:spcPts val="0"/>
              </a:spcBef>
              <a:spcAft>
                <a:spcPts val="0"/>
              </a:spcAft>
              <a:buNone/>
            </a:pPr>
            <a:r>
              <a:rPr lang="en-GB"/>
              <a:t>Display()</a:t>
            </a:r>
            <a:endParaRPr/>
          </a:p>
          <a:p>
            <a:pPr indent="0" lvl="0" marL="0" rtl="0" algn="l">
              <a:spcBef>
                <a:spcPts val="0"/>
              </a:spcBef>
              <a:spcAft>
                <a:spcPts val="0"/>
              </a:spcAft>
              <a:buNone/>
            </a:pPr>
            <a:r>
              <a:rPr lang="en-GB"/>
              <a:t>…</a:t>
            </a:r>
            <a:endParaRPr/>
          </a:p>
        </p:txBody>
      </p:sp>
      <p:sp>
        <p:nvSpPr>
          <p:cNvPr id="515" name="Google Shape;515;p46"/>
          <p:cNvSpPr/>
          <p:nvPr/>
        </p:nvSpPr>
        <p:spPr>
          <a:xfrm>
            <a:off x="3483225" y="31199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Controller</a:t>
            </a:r>
            <a:endParaRPr/>
          </a:p>
        </p:txBody>
      </p:sp>
      <p:sp>
        <p:nvSpPr>
          <p:cNvPr id="516" name="Google Shape;516;p46"/>
          <p:cNvSpPr/>
          <p:nvPr/>
        </p:nvSpPr>
        <p:spPr>
          <a:xfrm>
            <a:off x="3483225" y="3457188"/>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a:p>
        </p:txBody>
      </p:sp>
      <p:sp>
        <p:nvSpPr>
          <p:cNvPr id="517" name="Google Shape;517;p46"/>
          <p:cNvSpPr/>
          <p:nvPr/>
        </p:nvSpPr>
        <p:spPr>
          <a:xfrm>
            <a:off x="3483225" y="3788200"/>
            <a:ext cx="1495800" cy="1039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HandleEvent()</a:t>
            </a:r>
            <a:endParaRPr/>
          </a:p>
          <a:p>
            <a:pPr indent="0" lvl="0" marL="0" rtl="0" algn="l">
              <a:spcBef>
                <a:spcPts val="0"/>
              </a:spcBef>
              <a:spcAft>
                <a:spcPts val="0"/>
              </a:spcAft>
              <a:buNone/>
            </a:pPr>
            <a:r>
              <a:rPr lang="en-GB"/>
              <a:t>SetModel()</a:t>
            </a:r>
            <a:endParaRPr/>
          </a:p>
          <a:p>
            <a:pPr indent="0" lvl="0" marL="0" rtl="0" algn="l">
              <a:spcBef>
                <a:spcPts val="0"/>
              </a:spcBef>
              <a:spcAft>
                <a:spcPts val="0"/>
              </a:spcAft>
              <a:buNone/>
            </a:pPr>
            <a:r>
              <a:rPr lang="en-GB"/>
              <a:t>…</a:t>
            </a:r>
            <a:endParaRPr/>
          </a:p>
        </p:txBody>
      </p:sp>
      <p:sp>
        <p:nvSpPr>
          <p:cNvPr id="518" name="Google Shape;518;p46"/>
          <p:cNvSpPr/>
          <p:nvPr/>
        </p:nvSpPr>
        <p:spPr>
          <a:xfrm>
            <a:off x="892425" y="2510325"/>
            <a:ext cx="1495800" cy="33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Model</a:t>
            </a:r>
            <a:endParaRPr/>
          </a:p>
        </p:txBody>
      </p:sp>
      <p:sp>
        <p:nvSpPr>
          <p:cNvPr id="519" name="Google Shape;519;p46"/>
          <p:cNvSpPr/>
          <p:nvPr/>
        </p:nvSpPr>
        <p:spPr>
          <a:xfrm>
            <a:off x="892425" y="2847625"/>
            <a:ext cx="1495800" cy="388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data</a:t>
            </a:r>
            <a:endParaRPr/>
          </a:p>
        </p:txBody>
      </p:sp>
      <p:sp>
        <p:nvSpPr>
          <p:cNvPr id="520" name="Google Shape;520;p46"/>
          <p:cNvSpPr/>
          <p:nvPr/>
        </p:nvSpPr>
        <p:spPr>
          <a:xfrm>
            <a:off x="892425" y="3228549"/>
            <a:ext cx="1495800" cy="1204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Register()</a:t>
            </a:r>
            <a:endParaRPr/>
          </a:p>
          <a:p>
            <a:pPr indent="0" lvl="0" marL="0" rtl="0" algn="l">
              <a:spcBef>
                <a:spcPts val="0"/>
              </a:spcBef>
              <a:spcAft>
                <a:spcPts val="0"/>
              </a:spcAft>
              <a:buNone/>
            </a:pPr>
            <a:r>
              <a:rPr lang="en-GB"/>
              <a:t>Notify()</a:t>
            </a:r>
            <a:endParaRPr/>
          </a:p>
          <a:p>
            <a:pPr indent="0" lvl="0" marL="0" rtl="0" algn="l">
              <a:spcBef>
                <a:spcPts val="0"/>
              </a:spcBef>
              <a:spcAft>
                <a:spcPts val="0"/>
              </a:spcAft>
              <a:buNone/>
            </a:pPr>
            <a:r>
              <a:rPr lang="en-GB"/>
              <a:t>GetData()</a:t>
            </a:r>
            <a:endParaRPr/>
          </a:p>
          <a:p>
            <a:pPr indent="0" lvl="0" marL="0" rtl="0" algn="l">
              <a:spcBef>
                <a:spcPts val="0"/>
              </a:spcBef>
              <a:spcAft>
                <a:spcPts val="0"/>
              </a:spcAft>
              <a:buNone/>
            </a:pPr>
            <a:r>
              <a:rPr lang="en-GB"/>
              <a:t>Service()</a:t>
            </a:r>
            <a:endParaRPr/>
          </a:p>
          <a:p>
            <a:pPr indent="0" lvl="0" marL="0" rtl="0" algn="l">
              <a:spcBef>
                <a:spcPts val="0"/>
              </a:spcBef>
              <a:spcAft>
                <a:spcPts val="0"/>
              </a:spcAft>
              <a:buNone/>
            </a:pPr>
            <a:r>
              <a:rPr lang="en-GB"/>
              <a:t>…</a:t>
            </a:r>
            <a:endParaRPr/>
          </a:p>
        </p:txBody>
      </p:sp>
      <p:cxnSp>
        <p:nvCxnSpPr>
          <p:cNvPr id="521" name="Google Shape;521;p46"/>
          <p:cNvCxnSpPr>
            <a:stCxn id="510" idx="1"/>
            <a:endCxn id="522" idx="0"/>
          </p:cNvCxnSpPr>
          <p:nvPr/>
        </p:nvCxnSpPr>
        <p:spPr>
          <a:xfrm flipH="1">
            <a:off x="1650525" y="1914525"/>
            <a:ext cx="3204300" cy="433800"/>
          </a:xfrm>
          <a:prstGeom prst="bentConnector2">
            <a:avLst/>
          </a:prstGeom>
          <a:noFill/>
          <a:ln cap="flat" cmpd="sng" w="9525">
            <a:solidFill>
              <a:schemeClr val="dk2"/>
            </a:solidFill>
            <a:prstDash val="solid"/>
            <a:round/>
            <a:headEnd len="med" w="med" type="none"/>
            <a:tailEnd len="med" w="med" type="none"/>
          </a:ln>
        </p:spPr>
      </p:cxnSp>
      <p:sp>
        <p:nvSpPr>
          <p:cNvPr id="522" name="Google Shape;522;p46"/>
          <p:cNvSpPr/>
          <p:nvPr/>
        </p:nvSpPr>
        <p:spPr>
          <a:xfrm>
            <a:off x="1575525" y="2348300"/>
            <a:ext cx="149725" cy="14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46"/>
          <p:cNvSpPr/>
          <p:nvPr/>
        </p:nvSpPr>
        <p:spPr>
          <a:xfrm>
            <a:off x="5633750" y="2418175"/>
            <a:ext cx="1497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4" name="Google Shape;524;p46"/>
          <p:cNvCxnSpPr>
            <a:stCxn id="512" idx="0"/>
            <a:endCxn id="523" idx="3"/>
          </p:cNvCxnSpPr>
          <p:nvPr/>
        </p:nvCxnSpPr>
        <p:spPr>
          <a:xfrm flipH="1" rot="5400000">
            <a:off x="5913075" y="2363475"/>
            <a:ext cx="552000" cy="960900"/>
          </a:xfrm>
          <a:prstGeom prst="bentConnector3">
            <a:avLst>
              <a:gd fmla="val 50005" name="adj1"/>
            </a:avLst>
          </a:prstGeom>
          <a:noFill/>
          <a:ln cap="flat" cmpd="sng" w="9525">
            <a:solidFill>
              <a:schemeClr val="dk2"/>
            </a:solidFill>
            <a:prstDash val="solid"/>
            <a:round/>
            <a:headEnd len="med" w="med" type="none"/>
            <a:tailEnd len="med" w="med" type="none"/>
          </a:ln>
        </p:spPr>
      </p:cxnSp>
      <p:sp>
        <p:nvSpPr>
          <p:cNvPr id="525" name="Google Shape;525;p46"/>
          <p:cNvSpPr/>
          <p:nvPr/>
        </p:nvSpPr>
        <p:spPr>
          <a:xfrm>
            <a:off x="3308170" y="4130848"/>
            <a:ext cx="179300" cy="14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6" name="Google Shape;526;p46"/>
          <p:cNvCxnSpPr>
            <a:stCxn id="525" idx="1"/>
          </p:cNvCxnSpPr>
          <p:nvPr/>
        </p:nvCxnSpPr>
        <p:spPr>
          <a:xfrm rot="10800000">
            <a:off x="2376670" y="4205710"/>
            <a:ext cx="931500" cy="0"/>
          </a:xfrm>
          <a:prstGeom prst="straightConnector1">
            <a:avLst/>
          </a:prstGeom>
          <a:noFill/>
          <a:ln cap="flat" cmpd="sng" w="9525">
            <a:solidFill>
              <a:schemeClr val="dk2"/>
            </a:solidFill>
            <a:prstDash val="solid"/>
            <a:round/>
            <a:headEnd len="med" w="med" type="none"/>
            <a:tailEnd len="med" w="med" type="none"/>
          </a:ln>
        </p:spPr>
      </p:cxnSp>
      <p:sp>
        <p:nvSpPr>
          <p:cNvPr id="527" name="Google Shape;527;p46"/>
          <p:cNvSpPr/>
          <p:nvPr/>
        </p:nvSpPr>
        <p:spPr>
          <a:xfrm>
            <a:off x="5746570" y="3551195"/>
            <a:ext cx="179300" cy="14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8" name="Google Shape;528;p46"/>
          <p:cNvCxnSpPr>
            <a:stCxn id="527" idx="1"/>
            <a:endCxn id="516" idx="3"/>
          </p:cNvCxnSpPr>
          <p:nvPr/>
        </p:nvCxnSpPr>
        <p:spPr>
          <a:xfrm rot="10800000">
            <a:off x="4979170" y="3623358"/>
            <a:ext cx="767400" cy="2700"/>
          </a:xfrm>
          <a:prstGeom prst="straightConnector1">
            <a:avLst/>
          </a:prstGeom>
          <a:noFill/>
          <a:ln cap="flat" cmpd="sng" w="9525">
            <a:solidFill>
              <a:schemeClr val="dk2"/>
            </a:solidFill>
            <a:prstDash val="solid"/>
            <a:round/>
            <a:headEnd len="med" w="med" type="none"/>
            <a:tailEnd len="med" w="med" type="none"/>
          </a:ln>
        </p:spPr>
      </p:cxnSp>
      <p:sp>
        <p:nvSpPr>
          <p:cNvPr id="529" name="Google Shape;529;p46"/>
          <p:cNvSpPr/>
          <p:nvPr/>
        </p:nvSpPr>
        <p:spPr>
          <a:xfrm>
            <a:off x="6621040" y="4998995"/>
            <a:ext cx="179300" cy="14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30" name="Google Shape;530;p46"/>
          <p:cNvCxnSpPr>
            <a:stCxn id="520" idx="2"/>
            <a:endCxn id="529" idx="2"/>
          </p:cNvCxnSpPr>
          <p:nvPr/>
        </p:nvCxnSpPr>
        <p:spPr>
          <a:xfrm flipH="1" rot="-5400000">
            <a:off x="3817425" y="2255649"/>
            <a:ext cx="716100" cy="5070300"/>
          </a:xfrm>
          <a:prstGeom prst="bentConnector3">
            <a:avLst>
              <a:gd fmla="val 133235" name="adj1"/>
            </a:avLst>
          </a:prstGeom>
          <a:noFill/>
          <a:ln cap="flat" cmpd="sng" w="9525">
            <a:solidFill>
              <a:schemeClr val="dk2"/>
            </a:solidFill>
            <a:prstDash val="solid"/>
            <a:round/>
            <a:headEnd len="med" w="med" type="none"/>
            <a:tailEnd len="med" w="med" type="none"/>
          </a:ln>
        </p:spPr>
      </p:cxnSp>
      <p:sp>
        <p:nvSpPr>
          <p:cNvPr id="531" name="Google Shape;531;p46"/>
          <p:cNvSpPr txBox="1"/>
          <p:nvPr/>
        </p:nvSpPr>
        <p:spPr>
          <a:xfrm>
            <a:off x="4579250" y="1863475"/>
            <a:ext cx="289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a:t>
            </a:r>
            <a:endParaRPr sz="16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7"/>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 MVC theo cơ chế kéo dữ liệu</a:t>
            </a:r>
            <a:r>
              <a:rPr baseline="-25000" lang="en-GB"/>
              <a:t>(2)</a:t>
            </a:r>
            <a:endParaRPr baseline="-25000"/>
          </a:p>
        </p:txBody>
      </p:sp>
      <p:sp>
        <p:nvSpPr>
          <p:cNvPr id="537" name="Google Shape;537;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8" name="Google Shape;538;p47"/>
          <p:cNvSpPr/>
          <p:nvPr/>
        </p:nvSpPr>
        <p:spPr>
          <a:xfrm>
            <a:off x="1775748" y="1005950"/>
            <a:ext cx="12873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:Controller</a:t>
            </a:r>
            <a:endParaRPr sz="1600" u="sng"/>
          </a:p>
        </p:txBody>
      </p:sp>
      <p:sp>
        <p:nvSpPr>
          <p:cNvPr id="539" name="Google Shape;539;p47"/>
          <p:cNvSpPr/>
          <p:nvPr/>
        </p:nvSpPr>
        <p:spPr>
          <a:xfrm>
            <a:off x="3879400" y="1005950"/>
            <a:ext cx="10410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:Model</a:t>
            </a:r>
            <a:endParaRPr sz="1600" u="sng"/>
          </a:p>
        </p:txBody>
      </p:sp>
      <p:sp>
        <p:nvSpPr>
          <p:cNvPr id="540" name="Google Shape;540;p47"/>
          <p:cNvSpPr/>
          <p:nvPr/>
        </p:nvSpPr>
        <p:spPr>
          <a:xfrm>
            <a:off x="5860600" y="1005950"/>
            <a:ext cx="10410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:View</a:t>
            </a:r>
            <a:endParaRPr sz="1600" u="sng"/>
          </a:p>
        </p:txBody>
      </p:sp>
      <p:cxnSp>
        <p:nvCxnSpPr>
          <p:cNvPr id="541" name="Google Shape;541;p47"/>
          <p:cNvCxnSpPr>
            <a:stCxn id="538" idx="2"/>
          </p:cNvCxnSpPr>
          <p:nvPr/>
        </p:nvCxnSpPr>
        <p:spPr>
          <a:xfrm>
            <a:off x="2419398" y="1487150"/>
            <a:ext cx="0" cy="4601100"/>
          </a:xfrm>
          <a:prstGeom prst="straightConnector1">
            <a:avLst/>
          </a:prstGeom>
          <a:noFill/>
          <a:ln cap="flat" cmpd="sng" w="9525">
            <a:solidFill>
              <a:schemeClr val="dk2"/>
            </a:solidFill>
            <a:prstDash val="dash"/>
            <a:round/>
            <a:headEnd len="med" w="med" type="none"/>
            <a:tailEnd len="med" w="med" type="none"/>
          </a:ln>
        </p:spPr>
      </p:cxnSp>
      <p:cxnSp>
        <p:nvCxnSpPr>
          <p:cNvPr id="542" name="Google Shape;542;p47"/>
          <p:cNvCxnSpPr/>
          <p:nvPr/>
        </p:nvCxnSpPr>
        <p:spPr>
          <a:xfrm>
            <a:off x="4399900" y="1487150"/>
            <a:ext cx="0" cy="4601100"/>
          </a:xfrm>
          <a:prstGeom prst="straightConnector1">
            <a:avLst/>
          </a:prstGeom>
          <a:noFill/>
          <a:ln cap="flat" cmpd="sng" w="9525">
            <a:solidFill>
              <a:schemeClr val="dk2"/>
            </a:solidFill>
            <a:prstDash val="dash"/>
            <a:round/>
            <a:headEnd len="med" w="med" type="none"/>
            <a:tailEnd len="med" w="med" type="none"/>
          </a:ln>
        </p:spPr>
      </p:cxnSp>
      <p:cxnSp>
        <p:nvCxnSpPr>
          <p:cNvPr id="543" name="Google Shape;543;p47"/>
          <p:cNvCxnSpPr/>
          <p:nvPr/>
        </p:nvCxnSpPr>
        <p:spPr>
          <a:xfrm>
            <a:off x="6381100" y="1487150"/>
            <a:ext cx="0" cy="4601100"/>
          </a:xfrm>
          <a:prstGeom prst="straightConnector1">
            <a:avLst/>
          </a:prstGeom>
          <a:noFill/>
          <a:ln cap="flat" cmpd="sng" w="9525">
            <a:solidFill>
              <a:schemeClr val="dk2"/>
            </a:solidFill>
            <a:prstDash val="dash"/>
            <a:round/>
            <a:headEnd len="med" w="med" type="none"/>
            <a:tailEnd len="med" w="med" type="none"/>
          </a:ln>
        </p:spPr>
      </p:cxnSp>
      <p:sp>
        <p:nvSpPr>
          <p:cNvPr id="544" name="Google Shape;544;p47"/>
          <p:cNvSpPr/>
          <p:nvPr/>
        </p:nvSpPr>
        <p:spPr>
          <a:xfrm>
            <a:off x="2318075" y="1749500"/>
            <a:ext cx="174900" cy="371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5" name="Google Shape;545;p47"/>
          <p:cNvCxnSpPr>
            <a:stCxn id="546" idx="6"/>
          </p:cNvCxnSpPr>
          <p:nvPr/>
        </p:nvCxnSpPr>
        <p:spPr>
          <a:xfrm>
            <a:off x="891050" y="1905036"/>
            <a:ext cx="1425900" cy="0"/>
          </a:xfrm>
          <a:prstGeom prst="straightConnector1">
            <a:avLst/>
          </a:prstGeom>
          <a:noFill/>
          <a:ln cap="flat" cmpd="sng" w="9525">
            <a:solidFill>
              <a:schemeClr val="dk2"/>
            </a:solidFill>
            <a:prstDash val="solid"/>
            <a:round/>
            <a:headEnd len="med" w="med" type="none"/>
            <a:tailEnd len="med" w="med" type="triangle"/>
          </a:ln>
        </p:spPr>
      </p:cxnSp>
      <p:sp>
        <p:nvSpPr>
          <p:cNvPr id="547" name="Google Shape;547;p47"/>
          <p:cNvSpPr txBox="1"/>
          <p:nvPr/>
        </p:nvSpPr>
        <p:spPr>
          <a:xfrm>
            <a:off x="838600" y="1578250"/>
            <a:ext cx="14796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HandleEvent()</a:t>
            </a:r>
            <a:endParaRPr/>
          </a:p>
        </p:txBody>
      </p:sp>
      <p:sp>
        <p:nvSpPr>
          <p:cNvPr id="548" name="Google Shape;548;p47"/>
          <p:cNvSpPr/>
          <p:nvPr/>
        </p:nvSpPr>
        <p:spPr>
          <a:xfrm>
            <a:off x="4299275" y="1901900"/>
            <a:ext cx="174900" cy="346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9" name="Google Shape;549;p47"/>
          <p:cNvCxnSpPr/>
          <p:nvPr/>
        </p:nvCxnSpPr>
        <p:spPr>
          <a:xfrm>
            <a:off x="2529958" y="2116875"/>
            <a:ext cx="1747500" cy="17400"/>
          </a:xfrm>
          <a:prstGeom prst="straightConnector1">
            <a:avLst/>
          </a:prstGeom>
          <a:noFill/>
          <a:ln cap="flat" cmpd="sng" w="9525">
            <a:solidFill>
              <a:schemeClr val="dk2"/>
            </a:solidFill>
            <a:prstDash val="solid"/>
            <a:round/>
            <a:headEnd len="med" w="med" type="none"/>
            <a:tailEnd len="med" w="med" type="triangle"/>
          </a:ln>
        </p:spPr>
      </p:cxnSp>
      <p:sp>
        <p:nvSpPr>
          <p:cNvPr id="550" name="Google Shape;550;p47"/>
          <p:cNvSpPr txBox="1"/>
          <p:nvPr/>
        </p:nvSpPr>
        <p:spPr>
          <a:xfrm>
            <a:off x="3278800" y="1776900"/>
            <a:ext cx="10410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Service()</a:t>
            </a:r>
            <a:endParaRPr/>
          </a:p>
        </p:txBody>
      </p:sp>
      <p:sp>
        <p:nvSpPr>
          <p:cNvPr id="551" name="Google Shape;551;p47"/>
          <p:cNvSpPr/>
          <p:nvPr/>
        </p:nvSpPr>
        <p:spPr>
          <a:xfrm>
            <a:off x="6295425" y="2692850"/>
            <a:ext cx="174900" cy="15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7"/>
          <p:cNvSpPr txBox="1"/>
          <p:nvPr/>
        </p:nvSpPr>
        <p:spPr>
          <a:xfrm>
            <a:off x="5258200" y="2538900"/>
            <a:ext cx="8904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Update()</a:t>
            </a:r>
            <a:endParaRPr/>
          </a:p>
        </p:txBody>
      </p:sp>
      <p:sp>
        <p:nvSpPr>
          <p:cNvPr id="553" name="Google Shape;553;p47"/>
          <p:cNvSpPr/>
          <p:nvPr/>
        </p:nvSpPr>
        <p:spPr>
          <a:xfrm>
            <a:off x="6439075" y="3228775"/>
            <a:ext cx="1749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7"/>
          <p:cNvSpPr/>
          <p:nvPr/>
        </p:nvSpPr>
        <p:spPr>
          <a:xfrm>
            <a:off x="6459900" y="3086300"/>
            <a:ext cx="306150" cy="279925"/>
          </a:xfrm>
          <a:custGeom>
            <a:rect b="b" l="l" r="r" t="t"/>
            <a:pathLst>
              <a:path extrusionOk="0" h="11197" w="12246">
                <a:moveTo>
                  <a:pt x="0" y="0"/>
                </a:moveTo>
                <a:lnTo>
                  <a:pt x="12246" y="0"/>
                </a:lnTo>
                <a:lnTo>
                  <a:pt x="12246" y="11197"/>
                </a:lnTo>
                <a:lnTo>
                  <a:pt x="4898" y="11197"/>
                </a:lnTo>
              </a:path>
            </a:pathLst>
          </a:custGeom>
          <a:noFill/>
          <a:ln cap="flat" cmpd="sng" w="9525">
            <a:solidFill>
              <a:schemeClr val="dk2"/>
            </a:solidFill>
            <a:prstDash val="solid"/>
            <a:round/>
            <a:headEnd len="med" w="med" type="none"/>
            <a:tailEnd len="med" w="med" type="triangle"/>
          </a:ln>
        </p:spPr>
      </p:sp>
      <p:sp>
        <p:nvSpPr>
          <p:cNvPr id="555" name="Google Shape;555;p47"/>
          <p:cNvSpPr txBox="1"/>
          <p:nvPr/>
        </p:nvSpPr>
        <p:spPr>
          <a:xfrm>
            <a:off x="6477400" y="2767500"/>
            <a:ext cx="8904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Display()</a:t>
            </a:r>
            <a:endParaRPr/>
          </a:p>
        </p:txBody>
      </p:sp>
      <p:sp>
        <p:nvSpPr>
          <p:cNvPr id="556" name="Google Shape;556;p47"/>
          <p:cNvSpPr/>
          <p:nvPr/>
        </p:nvSpPr>
        <p:spPr>
          <a:xfrm>
            <a:off x="4666510" y="3413268"/>
            <a:ext cx="174900" cy="35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7" name="Google Shape;557;p47"/>
          <p:cNvCxnSpPr>
            <a:stCxn id="553" idx="1"/>
            <a:endCxn id="556" idx="3"/>
          </p:cNvCxnSpPr>
          <p:nvPr/>
        </p:nvCxnSpPr>
        <p:spPr>
          <a:xfrm rot="10800000">
            <a:off x="4841275" y="3591925"/>
            <a:ext cx="1597800" cy="18600"/>
          </a:xfrm>
          <a:prstGeom prst="straightConnector1">
            <a:avLst/>
          </a:prstGeom>
          <a:noFill/>
          <a:ln cap="flat" cmpd="sng" w="9525">
            <a:solidFill>
              <a:schemeClr val="dk2"/>
            </a:solidFill>
            <a:prstDash val="solid"/>
            <a:round/>
            <a:headEnd len="med" w="med" type="none"/>
            <a:tailEnd len="med" w="med" type="triangle"/>
          </a:ln>
        </p:spPr>
      </p:cxnSp>
      <p:sp>
        <p:nvSpPr>
          <p:cNvPr id="558" name="Google Shape;558;p47"/>
          <p:cNvSpPr txBox="1"/>
          <p:nvPr/>
        </p:nvSpPr>
        <p:spPr>
          <a:xfrm>
            <a:off x="5182000" y="3270952"/>
            <a:ext cx="10410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GetData()</a:t>
            </a:r>
            <a:endParaRPr/>
          </a:p>
        </p:txBody>
      </p:sp>
      <p:cxnSp>
        <p:nvCxnSpPr>
          <p:cNvPr id="559" name="Google Shape;559;p47"/>
          <p:cNvCxnSpPr/>
          <p:nvPr/>
        </p:nvCxnSpPr>
        <p:spPr>
          <a:xfrm rot="10800000">
            <a:off x="1119825" y="5386050"/>
            <a:ext cx="1179000" cy="12300"/>
          </a:xfrm>
          <a:prstGeom prst="straightConnector1">
            <a:avLst/>
          </a:prstGeom>
          <a:noFill/>
          <a:ln cap="flat" cmpd="sng" w="9525">
            <a:solidFill>
              <a:schemeClr val="dk2"/>
            </a:solidFill>
            <a:prstDash val="dash"/>
            <a:round/>
            <a:headEnd len="med" w="med" type="none"/>
            <a:tailEnd len="med" w="med" type="triangle"/>
          </a:ln>
        </p:spPr>
      </p:cxnSp>
      <p:sp>
        <p:nvSpPr>
          <p:cNvPr id="560" name="Google Shape;560;p47"/>
          <p:cNvSpPr/>
          <p:nvPr/>
        </p:nvSpPr>
        <p:spPr>
          <a:xfrm>
            <a:off x="1005950" y="5324673"/>
            <a:ext cx="113700" cy="1137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7"/>
          <p:cNvSpPr/>
          <p:nvPr/>
        </p:nvSpPr>
        <p:spPr>
          <a:xfrm>
            <a:off x="777350" y="1848186"/>
            <a:ext cx="113700" cy="1137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7"/>
          <p:cNvSpPr txBox="1"/>
          <p:nvPr/>
        </p:nvSpPr>
        <p:spPr>
          <a:xfrm>
            <a:off x="219125" y="6088250"/>
            <a:ext cx="85623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200">
                <a:solidFill>
                  <a:schemeClr val="dk1"/>
                </a:solidFill>
              </a:rPr>
              <a:t>Khung nhìn đọc dữ liệu từ thực thể khi cần cập nhật</a:t>
            </a:r>
            <a:endParaRPr i="1" sz="2200"/>
          </a:p>
        </p:txBody>
      </p:sp>
      <p:sp>
        <p:nvSpPr>
          <p:cNvPr id="562" name="Google Shape;562;p47"/>
          <p:cNvSpPr/>
          <p:nvPr/>
        </p:nvSpPr>
        <p:spPr>
          <a:xfrm>
            <a:off x="4471677" y="2481745"/>
            <a:ext cx="174900" cy="265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7"/>
          <p:cNvSpPr/>
          <p:nvPr/>
        </p:nvSpPr>
        <p:spPr>
          <a:xfrm>
            <a:off x="4474177" y="2324300"/>
            <a:ext cx="376901" cy="279925"/>
          </a:xfrm>
          <a:custGeom>
            <a:rect b="b" l="l" r="r" t="t"/>
            <a:pathLst>
              <a:path extrusionOk="0" h="11197" w="12246">
                <a:moveTo>
                  <a:pt x="0" y="0"/>
                </a:moveTo>
                <a:lnTo>
                  <a:pt x="12246" y="0"/>
                </a:lnTo>
                <a:lnTo>
                  <a:pt x="12246" y="11197"/>
                </a:lnTo>
                <a:lnTo>
                  <a:pt x="4898" y="11197"/>
                </a:lnTo>
              </a:path>
            </a:pathLst>
          </a:custGeom>
          <a:noFill/>
          <a:ln cap="flat" cmpd="sng" w="9525">
            <a:solidFill>
              <a:schemeClr val="dk2"/>
            </a:solidFill>
            <a:prstDash val="solid"/>
            <a:round/>
            <a:headEnd len="med" w="med" type="none"/>
            <a:tailEnd len="med" w="med" type="triangle"/>
          </a:ln>
        </p:spPr>
      </p:sp>
      <p:sp>
        <p:nvSpPr>
          <p:cNvPr id="564" name="Google Shape;564;p47"/>
          <p:cNvSpPr txBox="1"/>
          <p:nvPr/>
        </p:nvSpPr>
        <p:spPr>
          <a:xfrm>
            <a:off x="4562417" y="2005500"/>
            <a:ext cx="8904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Notify()</a:t>
            </a:r>
            <a:endParaRPr/>
          </a:p>
        </p:txBody>
      </p:sp>
      <p:cxnSp>
        <p:nvCxnSpPr>
          <p:cNvPr id="565" name="Google Shape;565;p47"/>
          <p:cNvCxnSpPr/>
          <p:nvPr/>
        </p:nvCxnSpPr>
        <p:spPr>
          <a:xfrm>
            <a:off x="4676117" y="2954100"/>
            <a:ext cx="1662000" cy="8700"/>
          </a:xfrm>
          <a:prstGeom prst="straightConnector1">
            <a:avLst/>
          </a:prstGeom>
          <a:noFill/>
          <a:ln cap="flat" cmpd="sng" w="9525">
            <a:solidFill>
              <a:schemeClr val="dk2"/>
            </a:solidFill>
            <a:prstDash val="solid"/>
            <a:round/>
            <a:headEnd len="med" w="med" type="none"/>
            <a:tailEnd len="med" w="med" type="triangle"/>
          </a:ln>
        </p:spPr>
      </p:cxnSp>
      <p:cxnSp>
        <p:nvCxnSpPr>
          <p:cNvPr id="566" name="Google Shape;566;p47"/>
          <p:cNvCxnSpPr/>
          <p:nvPr/>
        </p:nvCxnSpPr>
        <p:spPr>
          <a:xfrm rot="10800000">
            <a:off x="2491550" y="5233650"/>
            <a:ext cx="1791900" cy="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Kiến trúc JSP Model 2</a:t>
            </a:r>
            <a:endParaRPr/>
          </a:p>
        </p:txBody>
      </p:sp>
      <p:sp>
        <p:nvSpPr>
          <p:cNvPr id="572" name="Google Shape;572;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573" name="Google Shape;573;p48"/>
          <p:cNvPicPr preferRelativeResize="0"/>
          <p:nvPr/>
        </p:nvPicPr>
        <p:blipFill rotWithShape="1">
          <a:blip r:embed="rId3">
            <a:alphaModFix/>
          </a:blip>
          <a:srcRect b="20747" l="19212" r="19329" t="20677"/>
          <a:stretch/>
        </p:blipFill>
        <p:spPr>
          <a:xfrm>
            <a:off x="113350" y="3285975"/>
            <a:ext cx="2425400" cy="1540652"/>
          </a:xfrm>
          <a:prstGeom prst="rect">
            <a:avLst/>
          </a:prstGeom>
          <a:noFill/>
          <a:ln>
            <a:noFill/>
          </a:ln>
        </p:spPr>
      </p:pic>
      <p:sp>
        <p:nvSpPr>
          <p:cNvPr id="574" name="Google Shape;574;p48"/>
          <p:cNvSpPr txBox="1"/>
          <p:nvPr/>
        </p:nvSpPr>
        <p:spPr>
          <a:xfrm>
            <a:off x="1051925" y="3598125"/>
            <a:ext cx="1347600" cy="62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t>Tr</a:t>
            </a:r>
            <a:r>
              <a:rPr lang="en-GB" sz="1800"/>
              <a:t>ình duyệt Web</a:t>
            </a:r>
            <a:endParaRPr sz="1800"/>
          </a:p>
        </p:txBody>
      </p:sp>
      <p:sp>
        <p:nvSpPr>
          <p:cNvPr id="575" name="Google Shape;575;p48"/>
          <p:cNvSpPr txBox="1"/>
          <p:nvPr/>
        </p:nvSpPr>
        <p:spPr>
          <a:xfrm>
            <a:off x="912550" y="4817325"/>
            <a:ext cx="1533300" cy="47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t>Máy khách</a:t>
            </a:r>
            <a:endParaRPr b="1" sz="1800"/>
          </a:p>
        </p:txBody>
      </p:sp>
      <p:sp>
        <p:nvSpPr>
          <p:cNvPr id="576" name="Google Shape;576;p48"/>
          <p:cNvSpPr/>
          <p:nvPr/>
        </p:nvSpPr>
        <p:spPr>
          <a:xfrm>
            <a:off x="3505200" y="2191075"/>
            <a:ext cx="3577800" cy="33114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8"/>
          <p:cNvSpPr/>
          <p:nvPr/>
        </p:nvSpPr>
        <p:spPr>
          <a:xfrm>
            <a:off x="3633400" y="2968075"/>
            <a:ext cx="1347600" cy="8550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&lt;&lt;c</a:t>
            </a:r>
            <a:r>
              <a:rPr lang="en-GB"/>
              <a:t>ontroller&gt;&gt;</a:t>
            </a:r>
            <a:endParaRPr/>
          </a:p>
          <a:p>
            <a:pPr indent="0" lvl="0" marL="0" rtl="0" algn="ctr">
              <a:spcBef>
                <a:spcPts val="0"/>
              </a:spcBef>
              <a:spcAft>
                <a:spcPts val="0"/>
              </a:spcAft>
              <a:buNone/>
            </a:pPr>
            <a:r>
              <a:rPr lang="en-GB"/>
              <a:t>Servlet</a:t>
            </a:r>
            <a:endParaRPr/>
          </a:p>
        </p:txBody>
      </p:sp>
      <p:sp>
        <p:nvSpPr>
          <p:cNvPr id="578" name="Google Shape;578;p48"/>
          <p:cNvSpPr/>
          <p:nvPr/>
        </p:nvSpPr>
        <p:spPr>
          <a:xfrm>
            <a:off x="3633400" y="4339675"/>
            <a:ext cx="1347600" cy="8550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&lt;&lt;V</a:t>
            </a:r>
            <a:r>
              <a:rPr lang="en-GB"/>
              <a:t>iew</a:t>
            </a:r>
            <a:r>
              <a:rPr lang="en-GB"/>
              <a:t>&gt;&gt;</a:t>
            </a:r>
            <a:endParaRPr/>
          </a:p>
          <a:p>
            <a:pPr indent="0" lvl="0" marL="0" rtl="0" algn="ctr">
              <a:spcBef>
                <a:spcPts val="0"/>
              </a:spcBef>
              <a:spcAft>
                <a:spcPts val="0"/>
              </a:spcAft>
              <a:buNone/>
            </a:pPr>
            <a:r>
              <a:rPr lang="en-GB"/>
              <a:t>JSP</a:t>
            </a:r>
            <a:endParaRPr/>
          </a:p>
        </p:txBody>
      </p:sp>
      <p:sp>
        <p:nvSpPr>
          <p:cNvPr id="579" name="Google Shape;579;p48"/>
          <p:cNvSpPr/>
          <p:nvPr/>
        </p:nvSpPr>
        <p:spPr>
          <a:xfrm>
            <a:off x="5614600" y="2968075"/>
            <a:ext cx="1347600" cy="8550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&lt;&lt;h</a:t>
            </a:r>
            <a:r>
              <a:rPr lang="en-GB"/>
              <a:t>elper</a:t>
            </a:r>
            <a:r>
              <a:rPr lang="en-GB"/>
              <a:t>&gt;&gt;</a:t>
            </a:r>
            <a:endParaRPr/>
          </a:p>
          <a:p>
            <a:pPr indent="0" lvl="0" marL="0" rtl="0" algn="ctr">
              <a:spcBef>
                <a:spcPts val="0"/>
              </a:spcBef>
              <a:spcAft>
                <a:spcPts val="0"/>
              </a:spcAft>
              <a:buNone/>
            </a:pPr>
            <a:r>
              <a:rPr lang="en-GB"/>
              <a:t>J</a:t>
            </a:r>
            <a:r>
              <a:rPr lang="en-GB"/>
              <a:t>ava Action Class</a:t>
            </a:r>
            <a:endParaRPr/>
          </a:p>
        </p:txBody>
      </p:sp>
      <p:sp>
        <p:nvSpPr>
          <p:cNvPr id="580" name="Google Shape;580;p48"/>
          <p:cNvSpPr/>
          <p:nvPr/>
        </p:nvSpPr>
        <p:spPr>
          <a:xfrm>
            <a:off x="5614600" y="4339675"/>
            <a:ext cx="1347600" cy="8550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&lt;&lt;M</a:t>
            </a:r>
            <a:r>
              <a:rPr lang="en-GB"/>
              <a:t>odel</a:t>
            </a:r>
            <a:r>
              <a:rPr lang="en-GB"/>
              <a:t>&gt;&gt;</a:t>
            </a:r>
            <a:endParaRPr/>
          </a:p>
          <a:p>
            <a:pPr indent="0" lvl="0" marL="0" rtl="0" algn="ctr">
              <a:spcBef>
                <a:spcPts val="0"/>
              </a:spcBef>
              <a:spcAft>
                <a:spcPts val="0"/>
              </a:spcAft>
              <a:buNone/>
            </a:pPr>
            <a:r>
              <a:rPr lang="en-GB"/>
              <a:t>J</a:t>
            </a:r>
            <a:r>
              <a:rPr lang="en-GB"/>
              <a:t>ava Bean</a:t>
            </a:r>
            <a:endParaRPr/>
          </a:p>
        </p:txBody>
      </p:sp>
      <p:sp>
        <p:nvSpPr>
          <p:cNvPr id="581" name="Google Shape;581;p48"/>
          <p:cNvSpPr/>
          <p:nvPr/>
        </p:nvSpPr>
        <p:spPr>
          <a:xfrm>
            <a:off x="7817025" y="3057350"/>
            <a:ext cx="1161575" cy="2081575"/>
          </a:xfrm>
          <a:prstGeom prst="flowChartMagneticDisk">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CS</a:t>
            </a:r>
            <a:r>
              <a:rPr lang="en-GB"/>
              <a:t>DL</a:t>
            </a:r>
            <a:endParaRPr/>
          </a:p>
        </p:txBody>
      </p:sp>
      <p:cxnSp>
        <p:nvCxnSpPr>
          <p:cNvPr id="582" name="Google Shape;582;p48"/>
          <p:cNvCxnSpPr>
            <a:endCxn id="577" idx="1"/>
          </p:cNvCxnSpPr>
          <p:nvPr/>
        </p:nvCxnSpPr>
        <p:spPr>
          <a:xfrm flipH="1" rot="10800000">
            <a:off x="2453200" y="3395575"/>
            <a:ext cx="1180200" cy="289800"/>
          </a:xfrm>
          <a:prstGeom prst="straightConnector1">
            <a:avLst/>
          </a:prstGeom>
          <a:noFill/>
          <a:ln cap="flat" cmpd="sng" w="9525">
            <a:solidFill>
              <a:schemeClr val="dk2"/>
            </a:solidFill>
            <a:prstDash val="solid"/>
            <a:round/>
            <a:headEnd len="med" w="med" type="none"/>
            <a:tailEnd len="med" w="med" type="triangle"/>
          </a:ln>
        </p:spPr>
      </p:cxnSp>
      <p:cxnSp>
        <p:nvCxnSpPr>
          <p:cNvPr id="583" name="Google Shape;583;p48"/>
          <p:cNvCxnSpPr>
            <a:stCxn id="578" idx="1"/>
          </p:cNvCxnSpPr>
          <p:nvPr/>
        </p:nvCxnSpPr>
        <p:spPr>
          <a:xfrm rot="10800000">
            <a:off x="2425300" y="4456675"/>
            <a:ext cx="1208100" cy="310500"/>
          </a:xfrm>
          <a:prstGeom prst="straightConnector1">
            <a:avLst/>
          </a:prstGeom>
          <a:noFill/>
          <a:ln cap="flat" cmpd="sng" w="9525">
            <a:solidFill>
              <a:schemeClr val="dk2"/>
            </a:solidFill>
            <a:prstDash val="solid"/>
            <a:round/>
            <a:headEnd len="med" w="med" type="none"/>
            <a:tailEnd len="med" w="med" type="triangle"/>
          </a:ln>
        </p:spPr>
      </p:cxnSp>
      <p:sp>
        <p:nvSpPr>
          <p:cNvPr id="584" name="Google Shape;584;p48"/>
          <p:cNvSpPr txBox="1"/>
          <p:nvPr/>
        </p:nvSpPr>
        <p:spPr>
          <a:xfrm rot="-776097">
            <a:off x="2256647" y="2925944"/>
            <a:ext cx="1533205" cy="70336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t>1</a:t>
            </a:r>
            <a:endParaRPr sz="1800"/>
          </a:p>
          <a:p>
            <a:pPr indent="0" lvl="0" marL="0" rtl="0" algn="ctr">
              <a:spcBef>
                <a:spcPts val="0"/>
              </a:spcBef>
              <a:spcAft>
                <a:spcPts val="0"/>
              </a:spcAft>
              <a:buNone/>
            </a:pPr>
            <a:r>
              <a:rPr lang="en-GB" sz="1800"/>
              <a:t>Yêu cầu</a:t>
            </a:r>
            <a:endParaRPr sz="1800"/>
          </a:p>
        </p:txBody>
      </p:sp>
      <p:sp>
        <p:nvSpPr>
          <p:cNvPr id="585" name="Google Shape;585;p48"/>
          <p:cNvSpPr txBox="1"/>
          <p:nvPr/>
        </p:nvSpPr>
        <p:spPr>
          <a:xfrm rot="855716">
            <a:off x="2116598" y="4522245"/>
            <a:ext cx="1533152" cy="58310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t>6</a:t>
            </a:r>
            <a:endParaRPr sz="1800"/>
          </a:p>
          <a:p>
            <a:pPr indent="0" lvl="0" marL="0" rtl="0" algn="ctr">
              <a:spcBef>
                <a:spcPts val="0"/>
              </a:spcBef>
              <a:spcAft>
                <a:spcPts val="0"/>
              </a:spcAft>
              <a:buNone/>
            </a:pPr>
            <a:r>
              <a:rPr lang="en-GB" sz="1800"/>
              <a:t>Phản hồi</a:t>
            </a:r>
            <a:endParaRPr sz="1800"/>
          </a:p>
        </p:txBody>
      </p:sp>
      <p:cxnSp>
        <p:nvCxnSpPr>
          <p:cNvPr id="586" name="Google Shape;586;p48"/>
          <p:cNvCxnSpPr/>
          <p:nvPr/>
        </p:nvCxnSpPr>
        <p:spPr>
          <a:xfrm>
            <a:off x="4964150" y="3192975"/>
            <a:ext cx="678300" cy="9300"/>
          </a:xfrm>
          <a:prstGeom prst="straightConnector1">
            <a:avLst/>
          </a:prstGeom>
          <a:noFill/>
          <a:ln cap="flat" cmpd="sng" w="9525">
            <a:solidFill>
              <a:schemeClr val="dk2"/>
            </a:solidFill>
            <a:prstDash val="solid"/>
            <a:round/>
            <a:headEnd len="med" w="med" type="none"/>
            <a:tailEnd len="med" w="med" type="triangle"/>
          </a:ln>
        </p:spPr>
      </p:cxnSp>
      <p:cxnSp>
        <p:nvCxnSpPr>
          <p:cNvPr id="587" name="Google Shape;587;p48"/>
          <p:cNvCxnSpPr>
            <a:stCxn id="579" idx="3"/>
            <a:endCxn id="581" idx="2"/>
          </p:cNvCxnSpPr>
          <p:nvPr/>
        </p:nvCxnSpPr>
        <p:spPr>
          <a:xfrm>
            <a:off x="6962200" y="3395575"/>
            <a:ext cx="854700" cy="702600"/>
          </a:xfrm>
          <a:prstGeom prst="straightConnector1">
            <a:avLst/>
          </a:prstGeom>
          <a:noFill/>
          <a:ln cap="flat" cmpd="sng" w="9525">
            <a:solidFill>
              <a:schemeClr val="dk2"/>
            </a:solidFill>
            <a:prstDash val="solid"/>
            <a:round/>
            <a:headEnd len="med" w="med" type="triangle"/>
            <a:tailEnd len="med" w="med" type="triangle"/>
          </a:ln>
        </p:spPr>
      </p:cxnSp>
      <p:cxnSp>
        <p:nvCxnSpPr>
          <p:cNvPr id="588" name="Google Shape;588;p48"/>
          <p:cNvCxnSpPr>
            <a:stCxn id="579" idx="2"/>
            <a:endCxn id="580" idx="0"/>
          </p:cNvCxnSpPr>
          <p:nvPr/>
        </p:nvCxnSpPr>
        <p:spPr>
          <a:xfrm>
            <a:off x="6288400" y="3823075"/>
            <a:ext cx="0" cy="516600"/>
          </a:xfrm>
          <a:prstGeom prst="straightConnector1">
            <a:avLst/>
          </a:prstGeom>
          <a:noFill/>
          <a:ln cap="flat" cmpd="sng" w="9525">
            <a:solidFill>
              <a:schemeClr val="dk2"/>
            </a:solidFill>
            <a:prstDash val="solid"/>
            <a:round/>
            <a:headEnd len="med" w="med" type="triangle"/>
            <a:tailEnd len="med" w="med" type="triangle"/>
          </a:ln>
        </p:spPr>
      </p:cxnSp>
      <p:cxnSp>
        <p:nvCxnSpPr>
          <p:cNvPr id="589" name="Google Shape;589;p48"/>
          <p:cNvCxnSpPr>
            <a:stCxn id="578" idx="3"/>
            <a:endCxn id="580" idx="1"/>
          </p:cNvCxnSpPr>
          <p:nvPr/>
        </p:nvCxnSpPr>
        <p:spPr>
          <a:xfrm>
            <a:off x="4981000" y="4767175"/>
            <a:ext cx="633600" cy="0"/>
          </a:xfrm>
          <a:prstGeom prst="straightConnector1">
            <a:avLst/>
          </a:prstGeom>
          <a:noFill/>
          <a:ln cap="flat" cmpd="sng" w="9525">
            <a:solidFill>
              <a:schemeClr val="dk2"/>
            </a:solidFill>
            <a:prstDash val="solid"/>
            <a:round/>
            <a:headEnd len="med" w="med" type="none"/>
            <a:tailEnd len="med" w="med" type="triangle"/>
          </a:ln>
        </p:spPr>
      </p:cxnSp>
      <p:cxnSp>
        <p:nvCxnSpPr>
          <p:cNvPr id="590" name="Google Shape;590;p48"/>
          <p:cNvCxnSpPr>
            <a:stCxn id="577" idx="2"/>
            <a:endCxn id="578" idx="0"/>
          </p:cNvCxnSpPr>
          <p:nvPr/>
        </p:nvCxnSpPr>
        <p:spPr>
          <a:xfrm>
            <a:off x="4307200" y="3823075"/>
            <a:ext cx="0" cy="516600"/>
          </a:xfrm>
          <a:prstGeom prst="straightConnector1">
            <a:avLst/>
          </a:prstGeom>
          <a:noFill/>
          <a:ln cap="flat" cmpd="sng" w="9525">
            <a:solidFill>
              <a:schemeClr val="dk2"/>
            </a:solidFill>
            <a:prstDash val="solid"/>
            <a:round/>
            <a:headEnd len="med" w="med" type="none"/>
            <a:tailEnd len="med" w="med" type="triangle"/>
          </a:ln>
        </p:spPr>
      </p:cxnSp>
      <p:cxnSp>
        <p:nvCxnSpPr>
          <p:cNvPr id="591" name="Google Shape;591;p48"/>
          <p:cNvCxnSpPr/>
          <p:nvPr/>
        </p:nvCxnSpPr>
        <p:spPr>
          <a:xfrm rot="10800000">
            <a:off x="4759750" y="3815625"/>
            <a:ext cx="1375800" cy="276000"/>
          </a:xfrm>
          <a:prstGeom prst="bentConnector3">
            <a:avLst>
              <a:gd fmla="val 100004" name="adj1"/>
            </a:avLst>
          </a:prstGeom>
          <a:noFill/>
          <a:ln cap="flat" cmpd="sng" w="9525">
            <a:solidFill>
              <a:schemeClr val="dk2"/>
            </a:solidFill>
            <a:prstDash val="solid"/>
            <a:round/>
            <a:headEnd len="med" w="med" type="none"/>
            <a:tailEnd len="med" w="med" type="triangle"/>
          </a:ln>
        </p:spPr>
      </p:cxnSp>
      <p:sp>
        <p:nvSpPr>
          <p:cNvPr id="592" name="Google Shape;592;p48"/>
          <p:cNvSpPr txBox="1"/>
          <p:nvPr/>
        </p:nvSpPr>
        <p:spPr>
          <a:xfrm>
            <a:off x="4383400" y="2191075"/>
            <a:ext cx="2151600" cy="70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2</a:t>
            </a:r>
            <a:endParaRPr/>
          </a:p>
          <a:p>
            <a:pPr indent="0" lvl="0" marL="0" rtl="0" algn="ctr">
              <a:spcBef>
                <a:spcPts val="0"/>
              </a:spcBef>
              <a:spcAft>
                <a:spcPts val="0"/>
              </a:spcAft>
              <a:buNone/>
            </a:pPr>
            <a:r>
              <a:rPr lang="en-GB"/>
              <a:t>Tr</a:t>
            </a:r>
            <a:r>
              <a:rPr lang="en-GB"/>
              <a:t>uy cập mô hình &amp; kích hoạt xử lý nghiệp vụ</a:t>
            </a:r>
            <a:endParaRPr/>
          </a:p>
        </p:txBody>
      </p:sp>
      <p:sp>
        <p:nvSpPr>
          <p:cNvPr id="593" name="Google Shape;593;p48"/>
          <p:cNvSpPr txBox="1"/>
          <p:nvPr/>
        </p:nvSpPr>
        <p:spPr>
          <a:xfrm rot="2193635">
            <a:off x="6915415" y="2238085"/>
            <a:ext cx="1644864" cy="70279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3</a:t>
            </a:r>
            <a:endParaRPr/>
          </a:p>
          <a:p>
            <a:pPr indent="0" lvl="0" marL="0" rtl="0" algn="ctr">
              <a:spcBef>
                <a:spcPts val="0"/>
              </a:spcBef>
              <a:spcAft>
                <a:spcPts val="0"/>
              </a:spcAft>
              <a:buNone/>
            </a:pPr>
            <a:r>
              <a:rPr lang="en-GB"/>
              <a:t>Truy cập </a:t>
            </a:r>
            <a:r>
              <a:rPr lang="en-GB"/>
              <a:t>dữ liệu</a:t>
            </a:r>
            <a:endParaRPr/>
          </a:p>
        </p:txBody>
      </p:sp>
      <p:sp>
        <p:nvSpPr>
          <p:cNvPr id="594" name="Google Shape;594;p48"/>
          <p:cNvSpPr txBox="1"/>
          <p:nvPr/>
        </p:nvSpPr>
        <p:spPr>
          <a:xfrm>
            <a:off x="4683810" y="3562700"/>
            <a:ext cx="1651800" cy="70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4</a:t>
            </a:r>
            <a:endParaRPr/>
          </a:p>
          <a:p>
            <a:pPr indent="0" lvl="0" marL="0" rtl="0" algn="ctr">
              <a:spcBef>
                <a:spcPts val="0"/>
              </a:spcBef>
              <a:spcAft>
                <a:spcPts val="0"/>
              </a:spcAft>
              <a:buNone/>
            </a:pPr>
            <a:r>
              <a:rPr lang="en-GB"/>
              <a:t>Nhận kết quả &amp; đưa vào ngữ cảnh</a:t>
            </a:r>
            <a:endParaRPr/>
          </a:p>
        </p:txBody>
      </p:sp>
      <p:sp>
        <p:nvSpPr>
          <p:cNvPr id="595" name="Google Shape;595;p48"/>
          <p:cNvSpPr txBox="1"/>
          <p:nvPr/>
        </p:nvSpPr>
        <p:spPr>
          <a:xfrm>
            <a:off x="4842174" y="4400900"/>
            <a:ext cx="854700" cy="5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s</a:t>
            </a:r>
            <a:r>
              <a:rPr lang="en-GB"/>
              <a:t>ử dụng</a:t>
            </a:r>
            <a:endParaRPr/>
          </a:p>
        </p:txBody>
      </p:sp>
      <p:sp>
        <p:nvSpPr>
          <p:cNvPr id="596" name="Google Shape;596;p48"/>
          <p:cNvSpPr txBox="1"/>
          <p:nvPr/>
        </p:nvSpPr>
        <p:spPr>
          <a:xfrm>
            <a:off x="3308825" y="3562700"/>
            <a:ext cx="1066200" cy="70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5 </a:t>
            </a:r>
            <a:endParaRPr/>
          </a:p>
          <a:p>
            <a:pPr indent="0" lvl="0" marL="0" rtl="0" algn="ctr">
              <a:spcBef>
                <a:spcPts val="0"/>
              </a:spcBef>
              <a:spcAft>
                <a:spcPts val="0"/>
              </a:spcAft>
              <a:buNone/>
            </a:pPr>
            <a:r>
              <a:rPr lang="en-GB"/>
              <a:t>X</a:t>
            </a:r>
            <a:r>
              <a:rPr lang="en-GB"/>
              <a:t>ử lý giao diện</a:t>
            </a:r>
            <a:endParaRPr/>
          </a:p>
        </p:txBody>
      </p:sp>
      <p:sp>
        <p:nvSpPr>
          <p:cNvPr id="597" name="Google Shape;597;p48"/>
          <p:cNvSpPr txBox="1"/>
          <p:nvPr/>
        </p:nvSpPr>
        <p:spPr>
          <a:xfrm>
            <a:off x="4493950" y="5503125"/>
            <a:ext cx="1533300" cy="47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t>Máy chủ</a:t>
            </a:r>
            <a:endParaRPr b="1" sz="1800"/>
          </a:p>
        </p:txBody>
      </p:sp>
      <p:sp>
        <p:nvSpPr>
          <p:cNvPr id="598" name="Google Shape;598;p48"/>
          <p:cNvSpPr txBox="1"/>
          <p:nvPr/>
        </p:nvSpPr>
        <p:spPr>
          <a:xfrm>
            <a:off x="435950" y="905450"/>
            <a:ext cx="83439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t>Tách biệt lô-gic trình diễn và lô-gic ứng dụng tương tự như trong MVC.</a:t>
            </a:r>
            <a:r>
              <a:rPr lang="en-GB" sz="2200"/>
              <a:t> </a:t>
            </a:r>
            <a:endParaRPr sz="2200"/>
          </a:p>
        </p:txBody>
      </p:sp>
      <p:sp>
        <p:nvSpPr>
          <p:cNvPr id="599" name="Google Shape;599;p48"/>
          <p:cNvSpPr txBox="1"/>
          <p:nvPr/>
        </p:nvSpPr>
        <p:spPr>
          <a:xfrm>
            <a:off x="563200" y="5986625"/>
            <a:ext cx="8343900" cy="5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i="1" lang="en-GB" sz="2200"/>
              <a:t>*</a:t>
            </a:r>
            <a:r>
              <a:rPr i="1" lang="en-GB" sz="2200"/>
              <a:t>JSP Model 2 kh</a:t>
            </a:r>
            <a:r>
              <a:rPr i="1" lang="en-GB" sz="2200"/>
              <a:t>ông định nghĩa định dạng cụ thể của Model</a:t>
            </a:r>
            <a:endParaRPr sz="2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Nền tảng Struts</a:t>
            </a:r>
            <a:endParaRPr/>
          </a:p>
        </p:txBody>
      </p:sp>
      <p:sp>
        <p:nvSpPr>
          <p:cNvPr id="605" name="Google Shape;605;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606" name="Google Shape;606;p49"/>
          <p:cNvPicPr preferRelativeResize="0"/>
          <p:nvPr/>
        </p:nvPicPr>
        <p:blipFill>
          <a:blip r:embed="rId3">
            <a:alphaModFix/>
          </a:blip>
          <a:stretch>
            <a:fillRect/>
          </a:stretch>
        </p:blipFill>
        <p:spPr>
          <a:xfrm>
            <a:off x="1816850" y="1941992"/>
            <a:ext cx="5715000" cy="3810000"/>
          </a:xfrm>
          <a:prstGeom prst="rect">
            <a:avLst/>
          </a:prstGeom>
          <a:noFill/>
          <a:ln>
            <a:noFill/>
          </a:ln>
        </p:spPr>
      </p:pic>
      <p:sp>
        <p:nvSpPr>
          <p:cNvPr id="607" name="Google Shape;607;p49"/>
          <p:cNvSpPr txBox="1"/>
          <p:nvPr/>
        </p:nvSpPr>
        <p:spPr>
          <a:xfrm>
            <a:off x="6193250" y="5826750"/>
            <a:ext cx="1491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a:t>
            </a:r>
            <a:r>
              <a:rPr lang="en-GB" sz="1800"/>
              <a:t>apache.org]</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0"/>
          <p:cNvSpPr/>
          <p:nvPr/>
        </p:nvSpPr>
        <p:spPr>
          <a:xfrm>
            <a:off x="1115325" y="1240900"/>
            <a:ext cx="7297200" cy="45522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Web</a:t>
            </a:r>
            <a:endParaRPr b="1" sz="1600"/>
          </a:p>
        </p:txBody>
      </p:sp>
      <p:sp>
        <p:nvSpPr>
          <p:cNvPr id="613" name="Google Shape;613;p5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JSP Model 2 v</a:t>
            </a:r>
            <a:r>
              <a:rPr lang="en-GB"/>
              <a:t>à MVC</a:t>
            </a:r>
            <a:endParaRPr/>
          </a:p>
        </p:txBody>
      </p:sp>
      <p:sp>
        <p:nvSpPr>
          <p:cNvPr id="614" name="Google Shape;614;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15" name="Google Shape;615;p50"/>
          <p:cNvSpPr/>
          <p:nvPr/>
        </p:nvSpPr>
        <p:spPr>
          <a:xfrm>
            <a:off x="1287400" y="1959600"/>
            <a:ext cx="2096100" cy="3537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Khung nhìn/View</a:t>
            </a:r>
            <a:endParaRPr/>
          </a:p>
        </p:txBody>
      </p:sp>
      <p:sp>
        <p:nvSpPr>
          <p:cNvPr id="616" name="Google Shape;616;p50"/>
          <p:cNvSpPr/>
          <p:nvPr/>
        </p:nvSpPr>
        <p:spPr>
          <a:xfrm>
            <a:off x="3649600" y="1959600"/>
            <a:ext cx="2096100" cy="3537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Điều khiển</a:t>
            </a:r>
            <a:r>
              <a:rPr lang="en-GB"/>
              <a:t>/</a:t>
            </a:r>
            <a:r>
              <a:rPr lang="en-GB"/>
              <a:t>Controller</a:t>
            </a:r>
            <a:endParaRPr/>
          </a:p>
        </p:txBody>
      </p:sp>
      <p:sp>
        <p:nvSpPr>
          <p:cNvPr id="617" name="Google Shape;617;p50"/>
          <p:cNvSpPr/>
          <p:nvPr/>
        </p:nvSpPr>
        <p:spPr>
          <a:xfrm>
            <a:off x="6011800" y="1959600"/>
            <a:ext cx="2096100" cy="3537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Thực thể</a:t>
            </a:r>
            <a:r>
              <a:rPr lang="en-GB"/>
              <a:t>/</a:t>
            </a:r>
            <a:r>
              <a:rPr lang="en-GB"/>
              <a:t>Model</a:t>
            </a:r>
            <a:endParaRPr/>
          </a:p>
        </p:txBody>
      </p:sp>
      <p:sp>
        <p:nvSpPr>
          <p:cNvPr id="618" name="Google Shape;618;p50"/>
          <p:cNvSpPr/>
          <p:nvPr/>
        </p:nvSpPr>
        <p:spPr>
          <a:xfrm>
            <a:off x="1711050" y="2479400"/>
            <a:ext cx="989400" cy="11319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JSP</a:t>
            </a:r>
            <a:endParaRPr/>
          </a:p>
        </p:txBody>
      </p:sp>
      <p:sp>
        <p:nvSpPr>
          <p:cNvPr id="619" name="Google Shape;619;p50"/>
          <p:cNvSpPr/>
          <p:nvPr/>
        </p:nvSpPr>
        <p:spPr>
          <a:xfrm>
            <a:off x="1711050" y="3774800"/>
            <a:ext cx="989400" cy="11319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XML</a:t>
            </a:r>
            <a:endParaRPr/>
          </a:p>
        </p:txBody>
      </p:sp>
      <p:sp>
        <p:nvSpPr>
          <p:cNvPr id="620" name="Google Shape;620;p50"/>
          <p:cNvSpPr txBox="1"/>
          <p:nvPr/>
        </p:nvSpPr>
        <p:spPr>
          <a:xfrm>
            <a:off x="2031875" y="4960275"/>
            <a:ext cx="729600" cy="3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a:t>
            </a:r>
            <a:endParaRPr/>
          </a:p>
        </p:txBody>
      </p:sp>
      <p:sp>
        <p:nvSpPr>
          <p:cNvPr id="621" name="Google Shape;621;p50"/>
          <p:cNvSpPr/>
          <p:nvPr/>
        </p:nvSpPr>
        <p:spPr>
          <a:xfrm>
            <a:off x="4149450" y="2479400"/>
            <a:ext cx="989400" cy="7635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web.xml</a:t>
            </a:r>
            <a:endParaRPr/>
          </a:p>
        </p:txBody>
      </p:sp>
      <p:sp>
        <p:nvSpPr>
          <p:cNvPr id="622" name="Google Shape;622;p50"/>
          <p:cNvSpPr/>
          <p:nvPr/>
        </p:nvSpPr>
        <p:spPr>
          <a:xfrm>
            <a:off x="3890100" y="3393800"/>
            <a:ext cx="1634700" cy="7203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struts-config</a:t>
            </a:r>
            <a:r>
              <a:rPr lang="en-GB"/>
              <a:t>.xml</a:t>
            </a:r>
            <a:endParaRPr/>
          </a:p>
        </p:txBody>
      </p:sp>
      <p:sp>
        <p:nvSpPr>
          <p:cNvPr id="623" name="Google Shape;623;p50"/>
          <p:cNvSpPr txBox="1"/>
          <p:nvPr/>
        </p:nvSpPr>
        <p:spPr>
          <a:xfrm>
            <a:off x="4332850" y="5000425"/>
            <a:ext cx="729600" cy="3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a:t>
            </a:r>
            <a:endParaRPr/>
          </a:p>
        </p:txBody>
      </p:sp>
      <p:sp>
        <p:nvSpPr>
          <p:cNvPr id="624" name="Google Shape;624;p50"/>
          <p:cNvSpPr/>
          <p:nvPr/>
        </p:nvSpPr>
        <p:spPr>
          <a:xfrm>
            <a:off x="6171277" y="2613525"/>
            <a:ext cx="1727028" cy="763452"/>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JavaBeans</a:t>
            </a:r>
            <a:endParaRPr/>
          </a:p>
        </p:txBody>
      </p:sp>
      <p:sp>
        <p:nvSpPr>
          <p:cNvPr id="625" name="Google Shape;625;p50"/>
          <p:cNvSpPr/>
          <p:nvPr/>
        </p:nvSpPr>
        <p:spPr>
          <a:xfrm>
            <a:off x="6171277" y="3832725"/>
            <a:ext cx="1727028" cy="763452"/>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Enterprise</a:t>
            </a:r>
            <a:endParaRPr/>
          </a:p>
          <a:p>
            <a:pPr indent="0" lvl="0" marL="0" rtl="0" algn="ctr">
              <a:spcBef>
                <a:spcPts val="0"/>
              </a:spcBef>
              <a:spcAft>
                <a:spcPts val="0"/>
              </a:spcAft>
              <a:buNone/>
            </a:pPr>
            <a:r>
              <a:rPr lang="en-GB"/>
              <a:t>JavaBeans</a:t>
            </a:r>
            <a:endParaRPr/>
          </a:p>
        </p:txBody>
      </p:sp>
      <p:sp>
        <p:nvSpPr>
          <p:cNvPr id="626" name="Google Shape;626;p50"/>
          <p:cNvSpPr txBox="1"/>
          <p:nvPr/>
        </p:nvSpPr>
        <p:spPr>
          <a:xfrm>
            <a:off x="6774050" y="4906700"/>
            <a:ext cx="729600" cy="3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cxnSp>
        <p:nvCxnSpPr>
          <p:cNvPr id="631" name="Google Shape;631;p51"/>
          <p:cNvCxnSpPr/>
          <p:nvPr/>
        </p:nvCxnSpPr>
        <p:spPr>
          <a:xfrm>
            <a:off x="5989922" y="3940453"/>
            <a:ext cx="3600" cy="996300"/>
          </a:xfrm>
          <a:prstGeom prst="straightConnector1">
            <a:avLst/>
          </a:prstGeom>
          <a:noFill/>
          <a:ln cap="flat" cmpd="sng" w="9525">
            <a:solidFill>
              <a:srgbClr val="000000"/>
            </a:solidFill>
            <a:prstDash val="dash"/>
            <a:round/>
            <a:headEnd len="med" w="med" type="none"/>
            <a:tailEnd len="med" w="med" type="none"/>
          </a:ln>
        </p:spPr>
      </p:cxnSp>
      <p:cxnSp>
        <p:nvCxnSpPr>
          <p:cNvPr id="632" name="Google Shape;632;p51"/>
          <p:cNvCxnSpPr/>
          <p:nvPr/>
        </p:nvCxnSpPr>
        <p:spPr>
          <a:xfrm>
            <a:off x="6675722" y="5464453"/>
            <a:ext cx="3600" cy="996300"/>
          </a:xfrm>
          <a:prstGeom prst="straightConnector1">
            <a:avLst/>
          </a:prstGeom>
          <a:noFill/>
          <a:ln cap="flat" cmpd="sng" w="9525">
            <a:solidFill>
              <a:srgbClr val="000000"/>
            </a:solidFill>
            <a:prstDash val="dash"/>
            <a:round/>
            <a:headEnd len="med" w="med" type="none"/>
            <a:tailEnd len="med" w="med" type="none"/>
          </a:ln>
        </p:spPr>
      </p:cxnSp>
      <p:cxnSp>
        <p:nvCxnSpPr>
          <p:cNvPr id="633" name="Google Shape;633;p51"/>
          <p:cNvCxnSpPr/>
          <p:nvPr/>
        </p:nvCxnSpPr>
        <p:spPr>
          <a:xfrm>
            <a:off x="2173600" y="5119723"/>
            <a:ext cx="0" cy="1261200"/>
          </a:xfrm>
          <a:prstGeom prst="straightConnector1">
            <a:avLst/>
          </a:prstGeom>
          <a:noFill/>
          <a:ln cap="flat" cmpd="sng" w="9525">
            <a:solidFill>
              <a:srgbClr val="000000"/>
            </a:solidFill>
            <a:prstDash val="dash"/>
            <a:round/>
            <a:headEnd len="med" w="med" type="none"/>
            <a:tailEnd len="med" w="med" type="none"/>
          </a:ln>
        </p:spPr>
      </p:cxnSp>
      <p:sp>
        <p:nvSpPr>
          <p:cNvPr id="634" name="Google Shape;634;p5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ơ đồ tương tác thực tế</a:t>
            </a:r>
            <a:endParaRPr/>
          </a:p>
        </p:txBody>
      </p:sp>
      <p:sp>
        <p:nvSpPr>
          <p:cNvPr id="635" name="Google Shape;635;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36" name="Google Shape;636;p51"/>
          <p:cNvSpPr/>
          <p:nvPr/>
        </p:nvSpPr>
        <p:spPr>
          <a:xfrm>
            <a:off x="823550" y="2939975"/>
            <a:ext cx="6151500" cy="1735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51"/>
          <p:cNvSpPr/>
          <p:nvPr/>
        </p:nvSpPr>
        <p:spPr>
          <a:xfrm>
            <a:off x="955525" y="1067050"/>
            <a:ext cx="132000" cy="1320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38" name="Google Shape;638;p51"/>
          <p:cNvCxnSpPr/>
          <p:nvPr/>
        </p:nvCxnSpPr>
        <p:spPr>
          <a:xfrm flipH="1">
            <a:off x="1016425" y="1199050"/>
            <a:ext cx="5100" cy="350400"/>
          </a:xfrm>
          <a:prstGeom prst="straightConnector1">
            <a:avLst/>
          </a:prstGeom>
          <a:noFill/>
          <a:ln cap="flat" cmpd="sng" w="9525">
            <a:solidFill>
              <a:srgbClr val="000000"/>
            </a:solidFill>
            <a:prstDash val="solid"/>
            <a:round/>
            <a:headEnd len="med" w="med" type="none"/>
            <a:tailEnd len="med" w="med" type="none"/>
          </a:ln>
        </p:spPr>
      </p:cxnSp>
      <p:cxnSp>
        <p:nvCxnSpPr>
          <p:cNvPr id="639" name="Google Shape;639;p51"/>
          <p:cNvCxnSpPr/>
          <p:nvPr/>
        </p:nvCxnSpPr>
        <p:spPr>
          <a:xfrm>
            <a:off x="1016425" y="1549300"/>
            <a:ext cx="111600" cy="101400"/>
          </a:xfrm>
          <a:prstGeom prst="straightConnector1">
            <a:avLst/>
          </a:prstGeom>
          <a:noFill/>
          <a:ln cap="flat" cmpd="sng" w="9525">
            <a:solidFill>
              <a:srgbClr val="000000"/>
            </a:solidFill>
            <a:prstDash val="solid"/>
            <a:round/>
            <a:headEnd len="med" w="med" type="none"/>
            <a:tailEnd len="med" w="med" type="none"/>
          </a:ln>
        </p:spPr>
      </p:cxnSp>
      <p:cxnSp>
        <p:nvCxnSpPr>
          <p:cNvPr id="640" name="Google Shape;640;p51"/>
          <p:cNvCxnSpPr/>
          <p:nvPr/>
        </p:nvCxnSpPr>
        <p:spPr>
          <a:xfrm flipH="1">
            <a:off x="894625" y="1549300"/>
            <a:ext cx="121800" cy="111600"/>
          </a:xfrm>
          <a:prstGeom prst="straightConnector1">
            <a:avLst/>
          </a:prstGeom>
          <a:noFill/>
          <a:ln cap="flat" cmpd="sng" w="9525">
            <a:solidFill>
              <a:srgbClr val="000000"/>
            </a:solidFill>
            <a:prstDash val="solid"/>
            <a:round/>
            <a:headEnd len="med" w="med" type="none"/>
            <a:tailEnd len="med" w="med" type="none"/>
          </a:ln>
        </p:spPr>
      </p:cxnSp>
      <p:cxnSp>
        <p:nvCxnSpPr>
          <p:cNvPr id="641" name="Google Shape;641;p51"/>
          <p:cNvCxnSpPr/>
          <p:nvPr/>
        </p:nvCxnSpPr>
        <p:spPr>
          <a:xfrm>
            <a:off x="1016425" y="1320700"/>
            <a:ext cx="111600" cy="101400"/>
          </a:xfrm>
          <a:prstGeom prst="straightConnector1">
            <a:avLst/>
          </a:prstGeom>
          <a:noFill/>
          <a:ln cap="flat" cmpd="sng" w="9525">
            <a:solidFill>
              <a:srgbClr val="000000"/>
            </a:solidFill>
            <a:prstDash val="solid"/>
            <a:round/>
            <a:headEnd len="med" w="med" type="none"/>
            <a:tailEnd len="med" w="med" type="none"/>
          </a:ln>
        </p:spPr>
      </p:cxnSp>
      <p:cxnSp>
        <p:nvCxnSpPr>
          <p:cNvPr id="642" name="Google Shape;642;p51"/>
          <p:cNvCxnSpPr/>
          <p:nvPr/>
        </p:nvCxnSpPr>
        <p:spPr>
          <a:xfrm flipH="1">
            <a:off x="894625" y="1320700"/>
            <a:ext cx="121800" cy="111600"/>
          </a:xfrm>
          <a:prstGeom prst="straightConnector1">
            <a:avLst/>
          </a:prstGeom>
          <a:noFill/>
          <a:ln cap="flat" cmpd="sng" w="9525">
            <a:solidFill>
              <a:srgbClr val="000000"/>
            </a:solidFill>
            <a:prstDash val="solid"/>
            <a:round/>
            <a:headEnd len="med" w="med" type="none"/>
            <a:tailEnd len="med" w="med" type="none"/>
          </a:ln>
        </p:spPr>
      </p:cxnSp>
      <p:sp>
        <p:nvSpPr>
          <p:cNvPr id="643" name="Google Shape;643;p51"/>
          <p:cNvSpPr/>
          <p:nvPr/>
        </p:nvSpPr>
        <p:spPr>
          <a:xfrm>
            <a:off x="1686400" y="1325975"/>
            <a:ext cx="9744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&lt;&lt;view&gt;&gt;</a:t>
            </a:r>
            <a:endParaRPr sz="1000" u="sng"/>
          </a:p>
          <a:p>
            <a:pPr indent="0" lvl="0" marL="0" rtl="0" algn="ctr">
              <a:spcBef>
                <a:spcPts val="0"/>
              </a:spcBef>
              <a:spcAft>
                <a:spcPts val="0"/>
              </a:spcAft>
              <a:buNone/>
            </a:pPr>
            <a:r>
              <a:rPr lang="en-GB" sz="1000" u="sng"/>
              <a:t>:CustWindow</a:t>
            </a:r>
            <a:endParaRPr sz="1000" u="sng"/>
          </a:p>
        </p:txBody>
      </p:sp>
      <p:sp>
        <p:nvSpPr>
          <p:cNvPr id="644" name="Google Shape;644;p51"/>
          <p:cNvSpPr/>
          <p:nvPr/>
        </p:nvSpPr>
        <p:spPr>
          <a:xfrm>
            <a:off x="2905600" y="1325975"/>
            <a:ext cx="10953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&lt;&lt;controller&gt;&gt;</a:t>
            </a:r>
            <a:endParaRPr sz="1000" u="sng"/>
          </a:p>
          <a:p>
            <a:pPr indent="0" lvl="0" marL="0" rtl="0" algn="ctr">
              <a:spcBef>
                <a:spcPts val="0"/>
              </a:spcBef>
              <a:spcAft>
                <a:spcPts val="0"/>
              </a:spcAft>
              <a:buNone/>
            </a:pPr>
            <a:r>
              <a:rPr lang="en-GB" sz="1000" u="sng"/>
              <a:t>:CustHandler</a:t>
            </a:r>
            <a:endParaRPr sz="1000" u="sng"/>
          </a:p>
        </p:txBody>
      </p:sp>
      <p:sp>
        <p:nvSpPr>
          <p:cNvPr id="645" name="Google Shape;645;p51"/>
          <p:cNvSpPr/>
          <p:nvPr/>
        </p:nvSpPr>
        <p:spPr>
          <a:xfrm>
            <a:off x="4277200" y="1325975"/>
            <a:ext cx="10953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aC:Customer</a:t>
            </a:r>
            <a:endParaRPr sz="1000" u="sng"/>
          </a:p>
        </p:txBody>
      </p:sp>
      <p:sp>
        <p:nvSpPr>
          <p:cNvPr id="646" name="Google Shape;646;p51"/>
          <p:cNvSpPr/>
          <p:nvPr/>
        </p:nvSpPr>
        <p:spPr>
          <a:xfrm>
            <a:off x="5237347" y="1783175"/>
            <a:ext cx="10953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&lt;&lt;DAM&gt;&gt;</a:t>
            </a:r>
            <a:endParaRPr sz="1000" u="sng"/>
          </a:p>
          <a:p>
            <a:pPr indent="0" lvl="0" marL="0" rtl="0" algn="ctr">
              <a:spcBef>
                <a:spcPts val="0"/>
              </a:spcBef>
              <a:spcAft>
                <a:spcPts val="0"/>
              </a:spcAft>
              <a:buNone/>
            </a:pPr>
            <a:r>
              <a:rPr lang="en-GB" sz="1000" u="sng"/>
              <a:t>:CustomerDAM</a:t>
            </a:r>
            <a:endParaRPr sz="1000" u="sng"/>
          </a:p>
        </p:txBody>
      </p:sp>
      <p:sp>
        <p:nvSpPr>
          <p:cNvPr id="647" name="Google Shape;647;p51"/>
          <p:cNvSpPr/>
          <p:nvPr/>
        </p:nvSpPr>
        <p:spPr>
          <a:xfrm>
            <a:off x="6182200" y="2240375"/>
            <a:ext cx="10953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&lt;&lt;DAM&gt;&gt;</a:t>
            </a:r>
            <a:endParaRPr sz="1000" u="sng"/>
          </a:p>
          <a:p>
            <a:pPr indent="0" lvl="0" marL="0" rtl="0" algn="ctr">
              <a:spcBef>
                <a:spcPts val="0"/>
              </a:spcBef>
              <a:spcAft>
                <a:spcPts val="0"/>
              </a:spcAft>
              <a:buNone/>
            </a:pPr>
            <a:r>
              <a:rPr lang="en-GB" sz="1000" u="sng"/>
              <a:t>:AddressDAM</a:t>
            </a:r>
            <a:endParaRPr sz="1000" u="sng"/>
          </a:p>
        </p:txBody>
      </p:sp>
      <p:sp>
        <p:nvSpPr>
          <p:cNvPr id="648" name="Google Shape;648;p51"/>
          <p:cNvSpPr/>
          <p:nvPr/>
        </p:nvSpPr>
        <p:spPr>
          <a:xfrm>
            <a:off x="7055996" y="4678775"/>
            <a:ext cx="10953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&lt;&lt;DAM&gt;&gt;</a:t>
            </a:r>
            <a:endParaRPr sz="1000" u="sng"/>
          </a:p>
          <a:p>
            <a:pPr indent="0" lvl="0" marL="0" rtl="0" algn="ctr">
              <a:spcBef>
                <a:spcPts val="0"/>
              </a:spcBef>
              <a:spcAft>
                <a:spcPts val="0"/>
              </a:spcAft>
              <a:buNone/>
            </a:pPr>
            <a:r>
              <a:rPr lang="en-GB" sz="1000" u="sng"/>
              <a:t>:AddressDAM</a:t>
            </a:r>
            <a:endParaRPr sz="1000" u="sng"/>
          </a:p>
        </p:txBody>
      </p:sp>
      <p:cxnSp>
        <p:nvCxnSpPr>
          <p:cNvPr id="649" name="Google Shape;649;p51"/>
          <p:cNvCxnSpPr/>
          <p:nvPr/>
        </p:nvCxnSpPr>
        <p:spPr>
          <a:xfrm>
            <a:off x="1006275" y="1691400"/>
            <a:ext cx="0" cy="4720200"/>
          </a:xfrm>
          <a:prstGeom prst="straightConnector1">
            <a:avLst/>
          </a:prstGeom>
          <a:noFill/>
          <a:ln cap="flat" cmpd="sng" w="9525">
            <a:solidFill>
              <a:srgbClr val="000000"/>
            </a:solidFill>
            <a:prstDash val="dash"/>
            <a:round/>
            <a:headEnd len="med" w="med" type="none"/>
            <a:tailEnd len="med" w="med" type="none"/>
          </a:ln>
        </p:spPr>
      </p:cxnSp>
      <p:cxnSp>
        <p:nvCxnSpPr>
          <p:cNvPr id="650" name="Google Shape;650;p51"/>
          <p:cNvCxnSpPr>
            <a:stCxn id="643" idx="2"/>
          </p:cNvCxnSpPr>
          <p:nvPr/>
        </p:nvCxnSpPr>
        <p:spPr>
          <a:xfrm>
            <a:off x="2173600" y="1660775"/>
            <a:ext cx="0" cy="1350300"/>
          </a:xfrm>
          <a:prstGeom prst="straightConnector1">
            <a:avLst/>
          </a:prstGeom>
          <a:noFill/>
          <a:ln cap="flat" cmpd="sng" w="9525">
            <a:solidFill>
              <a:srgbClr val="000000"/>
            </a:solidFill>
            <a:prstDash val="dash"/>
            <a:round/>
            <a:headEnd len="med" w="med" type="none"/>
            <a:tailEnd len="med" w="med" type="none"/>
          </a:ln>
        </p:spPr>
      </p:cxnSp>
      <p:cxnSp>
        <p:nvCxnSpPr>
          <p:cNvPr id="651" name="Google Shape;651;p51"/>
          <p:cNvCxnSpPr/>
          <p:nvPr/>
        </p:nvCxnSpPr>
        <p:spPr>
          <a:xfrm>
            <a:off x="3453250" y="1660775"/>
            <a:ext cx="0" cy="4425900"/>
          </a:xfrm>
          <a:prstGeom prst="straightConnector1">
            <a:avLst/>
          </a:prstGeom>
          <a:noFill/>
          <a:ln cap="flat" cmpd="sng" w="9525">
            <a:solidFill>
              <a:srgbClr val="000000"/>
            </a:solidFill>
            <a:prstDash val="dash"/>
            <a:round/>
            <a:headEnd len="med" w="med" type="none"/>
            <a:tailEnd len="med" w="med" type="none"/>
          </a:ln>
        </p:spPr>
      </p:cxnSp>
      <p:cxnSp>
        <p:nvCxnSpPr>
          <p:cNvPr id="652" name="Google Shape;652;p51"/>
          <p:cNvCxnSpPr/>
          <p:nvPr/>
        </p:nvCxnSpPr>
        <p:spPr>
          <a:xfrm>
            <a:off x="4824975" y="1660800"/>
            <a:ext cx="0" cy="4436100"/>
          </a:xfrm>
          <a:prstGeom prst="straightConnector1">
            <a:avLst/>
          </a:prstGeom>
          <a:noFill/>
          <a:ln cap="flat" cmpd="sng" w="9525">
            <a:solidFill>
              <a:srgbClr val="000000"/>
            </a:solidFill>
            <a:prstDash val="dash"/>
            <a:round/>
            <a:headEnd len="med" w="med" type="none"/>
            <a:tailEnd len="med" w="med" type="none"/>
          </a:ln>
        </p:spPr>
      </p:cxnSp>
      <p:sp>
        <p:nvSpPr>
          <p:cNvPr id="653" name="Google Shape;653;p51"/>
          <p:cNvSpPr/>
          <p:nvPr/>
        </p:nvSpPr>
        <p:spPr>
          <a:xfrm>
            <a:off x="2112725" y="1691400"/>
            <a:ext cx="111600" cy="730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4" name="Google Shape;654;p51"/>
          <p:cNvCxnSpPr/>
          <p:nvPr/>
        </p:nvCxnSpPr>
        <p:spPr>
          <a:xfrm>
            <a:off x="1006275" y="2148475"/>
            <a:ext cx="1096200" cy="0"/>
          </a:xfrm>
          <a:prstGeom prst="straightConnector1">
            <a:avLst/>
          </a:prstGeom>
          <a:noFill/>
          <a:ln cap="flat" cmpd="sng" w="9525">
            <a:solidFill>
              <a:srgbClr val="000000"/>
            </a:solidFill>
            <a:prstDash val="solid"/>
            <a:round/>
            <a:headEnd len="med" w="med" type="none"/>
            <a:tailEnd len="med" w="med" type="triangle"/>
          </a:ln>
        </p:spPr>
      </p:cxnSp>
      <p:sp>
        <p:nvSpPr>
          <p:cNvPr id="655" name="Google Shape;655;p51"/>
          <p:cNvSpPr txBox="1"/>
          <p:nvPr/>
        </p:nvSpPr>
        <p:spPr>
          <a:xfrm>
            <a:off x="975825" y="1584753"/>
            <a:ext cx="1248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createNewCust (name, mobPh, homePh, email)</a:t>
            </a:r>
            <a:endParaRPr sz="1000"/>
          </a:p>
        </p:txBody>
      </p:sp>
      <p:sp>
        <p:nvSpPr>
          <p:cNvPr id="656" name="Google Shape;656;p51"/>
          <p:cNvSpPr/>
          <p:nvPr/>
        </p:nvSpPr>
        <p:spPr>
          <a:xfrm>
            <a:off x="3408125" y="1996200"/>
            <a:ext cx="111600" cy="5490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7" name="Google Shape;657;p51"/>
          <p:cNvCxnSpPr/>
          <p:nvPr/>
        </p:nvCxnSpPr>
        <p:spPr>
          <a:xfrm>
            <a:off x="2224400" y="2239550"/>
            <a:ext cx="1177500" cy="0"/>
          </a:xfrm>
          <a:prstGeom prst="straightConnector1">
            <a:avLst/>
          </a:prstGeom>
          <a:noFill/>
          <a:ln cap="flat" cmpd="sng" w="9525">
            <a:solidFill>
              <a:srgbClr val="000000"/>
            </a:solidFill>
            <a:prstDash val="solid"/>
            <a:round/>
            <a:headEnd len="med" w="med" type="none"/>
            <a:tailEnd len="med" w="med" type="triangle"/>
          </a:ln>
        </p:spPr>
      </p:cxnSp>
      <p:sp>
        <p:nvSpPr>
          <p:cNvPr id="658" name="Google Shape;658;p51"/>
          <p:cNvSpPr txBox="1"/>
          <p:nvPr/>
        </p:nvSpPr>
        <p:spPr>
          <a:xfrm>
            <a:off x="2271225" y="1660953"/>
            <a:ext cx="1248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createNewCust (name, mobPh, homePh, email)</a:t>
            </a:r>
            <a:endParaRPr sz="1000"/>
          </a:p>
        </p:txBody>
      </p:sp>
      <p:sp>
        <p:nvSpPr>
          <p:cNvPr id="659" name="Google Shape;659;p51"/>
          <p:cNvSpPr/>
          <p:nvPr/>
        </p:nvSpPr>
        <p:spPr>
          <a:xfrm>
            <a:off x="4779725" y="2148600"/>
            <a:ext cx="111600" cy="5490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60" name="Google Shape;660;p51"/>
          <p:cNvCxnSpPr/>
          <p:nvPr/>
        </p:nvCxnSpPr>
        <p:spPr>
          <a:xfrm>
            <a:off x="3513575" y="2310600"/>
            <a:ext cx="1258800" cy="0"/>
          </a:xfrm>
          <a:prstGeom prst="straightConnector1">
            <a:avLst/>
          </a:prstGeom>
          <a:noFill/>
          <a:ln cap="flat" cmpd="sng" w="9525">
            <a:solidFill>
              <a:srgbClr val="000000"/>
            </a:solidFill>
            <a:prstDash val="solid"/>
            <a:round/>
            <a:headEnd len="med" w="med" type="none"/>
            <a:tailEnd len="med" w="med" type="triangle"/>
          </a:ln>
        </p:spPr>
      </p:cxnSp>
      <p:sp>
        <p:nvSpPr>
          <p:cNvPr id="661" name="Google Shape;661;p51"/>
          <p:cNvSpPr txBox="1"/>
          <p:nvPr/>
        </p:nvSpPr>
        <p:spPr>
          <a:xfrm>
            <a:off x="3490425" y="1737153"/>
            <a:ext cx="1248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ac = Customer (name, mobPh, homePh, email)</a:t>
            </a:r>
            <a:endParaRPr sz="1000"/>
          </a:p>
        </p:txBody>
      </p:sp>
      <p:cxnSp>
        <p:nvCxnSpPr>
          <p:cNvPr id="662" name="Google Shape;662;p51"/>
          <p:cNvCxnSpPr>
            <a:stCxn id="646" idx="2"/>
          </p:cNvCxnSpPr>
          <p:nvPr/>
        </p:nvCxnSpPr>
        <p:spPr>
          <a:xfrm>
            <a:off x="5784997" y="2117975"/>
            <a:ext cx="0" cy="1025100"/>
          </a:xfrm>
          <a:prstGeom prst="straightConnector1">
            <a:avLst/>
          </a:prstGeom>
          <a:noFill/>
          <a:ln cap="flat" cmpd="sng" w="9525">
            <a:solidFill>
              <a:srgbClr val="000000"/>
            </a:solidFill>
            <a:prstDash val="dash"/>
            <a:round/>
            <a:headEnd len="med" w="med" type="none"/>
            <a:tailEnd len="med" w="med" type="none"/>
          </a:ln>
        </p:spPr>
      </p:cxnSp>
      <p:sp>
        <p:nvSpPr>
          <p:cNvPr id="663" name="Google Shape;663;p51"/>
          <p:cNvSpPr txBox="1"/>
          <p:nvPr/>
        </p:nvSpPr>
        <p:spPr>
          <a:xfrm>
            <a:off x="4862025" y="2316750"/>
            <a:ext cx="974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writeDB(ac)</a:t>
            </a:r>
            <a:endParaRPr sz="1000"/>
          </a:p>
        </p:txBody>
      </p:sp>
      <p:cxnSp>
        <p:nvCxnSpPr>
          <p:cNvPr id="664" name="Google Shape;664;p51"/>
          <p:cNvCxnSpPr/>
          <p:nvPr/>
        </p:nvCxnSpPr>
        <p:spPr>
          <a:xfrm>
            <a:off x="4891325" y="2575500"/>
            <a:ext cx="825000" cy="0"/>
          </a:xfrm>
          <a:prstGeom prst="straightConnector1">
            <a:avLst/>
          </a:prstGeom>
          <a:noFill/>
          <a:ln cap="flat" cmpd="sng" w="9525">
            <a:solidFill>
              <a:srgbClr val="000000"/>
            </a:solidFill>
            <a:prstDash val="solid"/>
            <a:round/>
            <a:headEnd len="med" w="med" type="none"/>
            <a:tailEnd len="med" w="med" type="triangle"/>
          </a:ln>
        </p:spPr>
      </p:cxnSp>
      <p:cxnSp>
        <p:nvCxnSpPr>
          <p:cNvPr id="665" name="Google Shape;665;p51"/>
          <p:cNvCxnSpPr/>
          <p:nvPr/>
        </p:nvCxnSpPr>
        <p:spPr>
          <a:xfrm>
            <a:off x="6684271" y="2575175"/>
            <a:ext cx="6600" cy="2131200"/>
          </a:xfrm>
          <a:prstGeom prst="straightConnector1">
            <a:avLst/>
          </a:prstGeom>
          <a:noFill/>
          <a:ln cap="flat" cmpd="sng" w="9525">
            <a:solidFill>
              <a:srgbClr val="000000"/>
            </a:solidFill>
            <a:prstDash val="dash"/>
            <a:round/>
            <a:headEnd len="med" w="med" type="none"/>
            <a:tailEnd len="med" w="med" type="none"/>
          </a:ln>
        </p:spPr>
      </p:cxnSp>
      <p:cxnSp>
        <p:nvCxnSpPr>
          <p:cNvPr id="666" name="Google Shape;666;p51"/>
          <p:cNvCxnSpPr>
            <a:stCxn id="648" idx="2"/>
          </p:cNvCxnSpPr>
          <p:nvPr/>
        </p:nvCxnSpPr>
        <p:spPr>
          <a:xfrm flipH="1">
            <a:off x="7598546" y="5013575"/>
            <a:ext cx="5100" cy="1271100"/>
          </a:xfrm>
          <a:prstGeom prst="straightConnector1">
            <a:avLst/>
          </a:prstGeom>
          <a:noFill/>
          <a:ln cap="flat" cmpd="sng" w="9525">
            <a:solidFill>
              <a:srgbClr val="000000"/>
            </a:solidFill>
            <a:prstDash val="dash"/>
            <a:round/>
            <a:headEnd len="med" w="med" type="none"/>
            <a:tailEnd len="med" w="med" type="none"/>
          </a:ln>
        </p:spPr>
      </p:cxnSp>
      <p:sp>
        <p:nvSpPr>
          <p:cNvPr id="667" name="Google Shape;667;p51"/>
          <p:cNvSpPr/>
          <p:nvPr/>
        </p:nvSpPr>
        <p:spPr>
          <a:xfrm>
            <a:off x="1686400" y="3154775"/>
            <a:ext cx="9744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&lt;&lt;view&gt;&gt;</a:t>
            </a:r>
            <a:endParaRPr sz="1000" u="sng"/>
          </a:p>
          <a:p>
            <a:pPr indent="0" lvl="0" marL="0" rtl="0" algn="ctr">
              <a:spcBef>
                <a:spcPts val="0"/>
              </a:spcBef>
              <a:spcAft>
                <a:spcPts val="0"/>
              </a:spcAft>
              <a:buNone/>
            </a:pPr>
            <a:r>
              <a:rPr lang="en-GB" sz="1000" u="sng"/>
              <a:t>:AddrWindow</a:t>
            </a:r>
            <a:endParaRPr sz="1000" u="sng"/>
          </a:p>
        </p:txBody>
      </p:sp>
      <p:cxnSp>
        <p:nvCxnSpPr>
          <p:cNvPr id="668" name="Google Shape;668;p51"/>
          <p:cNvCxnSpPr/>
          <p:nvPr/>
        </p:nvCxnSpPr>
        <p:spPr>
          <a:xfrm>
            <a:off x="2173600" y="3489575"/>
            <a:ext cx="0" cy="1003500"/>
          </a:xfrm>
          <a:prstGeom prst="straightConnector1">
            <a:avLst/>
          </a:prstGeom>
          <a:noFill/>
          <a:ln cap="flat" cmpd="sng" w="9525">
            <a:solidFill>
              <a:srgbClr val="000000"/>
            </a:solidFill>
            <a:prstDash val="dash"/>
            <a:round/>
            <a:headEnd len="med" w="med" type="none"/>
            <a:tailEnd len="med" w="med" type="none"/>
          </a:ln>
        </p:spPr>
      </p:cxnSp>
      <p:sp>
        <p:nvSpPr>
          <p:cNvPr id="669" name="Google Shape;669;p51"/>
          <p:cNvSpPr/>
          <p:nvPr/>
        </p:nvSpPr>
        <p:spPr>
          <a:xfrm>
            <a:off x="2112725" y="3596400"/>
            <a:ext cx="111600" cy="730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0" name="Google Shape;670;p51"/>
          <p:cNvSpPr/>
          <p:nvPr/>
        </p:nvSpPr>
        <p:spPr>
          <a:xfrm>
            <a:off x="3408125" y="3596400"/>
            <a:ext cx="111600" cy="730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1" name="Google Shape;671;p51"/>
          <p:cNvSpPr/>
          <p:nvPr/>
        </p:nvSpPr>
        <p:spPr>
          <a:xfrm>
            <a:off x="4789875" y="3901200"/>
            <a:ext cx="111600" cy="5490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2" name="Google Shape;672;p51"/>
          <p:cNvSpPr/>
          <p:nvPr/>
        </p:nvSpPr>
        <p:spPr>
          <a:xfrm>
            <a:off x="5420200" y="3601824"/>
            <a:ext cx="10953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aAddr:Address</a:t>
            </a:r>
            <a:endParaRPr sz="1000" u="sng"/>
          </a:p>
        </p:txBody>
      </p:sp>
      <p:sp>
        <p:nvSpPr>
          <p:cNvPr id="673" name="Google Shape;673;p51"/>
          <p:cNvSpPr/>
          <p:nvPr/>
        </p:nvSpPr>
        <p:spPr>
          <a:xfrm>
            <a:off x="5932875" y="4013001"/>
            <a:ext cx="111600" cy="625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74" name="Google Shape;674;p51"/>
          <p:cNvCxnSpPr/>
          <p:nvPr/>
        </p:nvCxnSpPr>
        <p:spPr>
          <a:xfrm>
            <a:off x="1006275" y="4053475"/>
            <a:ext cx="1096200" cy="0"/>
          </a:xfrm>
          <a:prstGeom prst="straightConnector1">
            <a:avLst/>
          </a:prstGeom>
          <a:noFill/>
          <a:ln cap="flat" cmpd="sng" w="9525">
            <a:solidFill>
              <a:srgbClr val="000000"/>
            </a:solidFill>
            <a:prstDash val="solid"/>
            <a:round/>
            <a:headEnd len="med" w="med" type="none"/>
            <a:tailEnd len="med" w="med" type="triangle"/>
          </a:ln>
        </p:spPr>
      </p:cxnSp>
      <p:sp>
        <p:nvSpPr>
          <p:cNvPr id="675" name="Google Shape;675;p51"/>
          <p:cNvSpPr txBox="1"/>
          <p:nvPr/>
        </p:nvSpPr>
        <p:spPr>
          <a:xfrm>
            <a:off x="975825" y="3489753"/>
            <a:ext cx="1248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enterAddress (type, no, street, city, state, zip)</a:t>
            </a:r>
            <a:endParaRPr sz="1000"/>
          </a:p>
        </p:txBody>
      </p:sp>
      <p:cxnSp>
        <p:nvCxnSpPr>
          <p:cNvPr id="676" name="Google Shape;676;p51"/>
          <p:cNvCxnSpPr/>
          <p:nvPr/>
        </p:nvCxnSpPr>
        <p:spPr>
          <a:xfrm flipH="1" rot="10800000">
            <a:off x="2225475" y="4198675"/>
            <a:ext cx="1166400" cy="7200"/>
          </a:xfrm>
          <a:prstGeom prst="straightConnector1">
            <a:avLst/>
          </a:prstGeom>
          <a:noFill/>
          <a:ln cap="flat" cmpd="sng" w="9525">
            <a:solidFill>
              <a:srgbClr val="000000"/>
            </a:solidFill>
            <a:prstDash val="solid"/>
            <a:round/>
            <a:headEnd len="med" w="med" type="none"/>
            <a:tailEnd len="med" w="med" type="triangle"/>
          </a:ln>
        </p:spPr>
      </p:cxnSp>
      <p:sp>
        <p:nvSpPr>
          <p:cNvPr id="677" name="Google Shape;677;p51"/>
          <p:cNvSpPr txBox="1"/>
          <p:nvPr/>
        </p:nvSpPr>
        <p:spPr>
          <a:xfrm>
            <a:off x="2195025" y="3642153"/>
            <a:ext cx="1248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enterAddress (type, no, street, city, state, zip)</a:t>
            </a:r>
            <a:endParaRPr sz="1000"/>
          </a:p>
        </p:txBody>
      </p:sp>
      <p:cxnSp>
        <p:nvCxnSpPr>
          <p:cNvPr id="678" name="Google Shape;678;p51"/>
          <p:cNvCxnSpPr/>
          <p:nvPr/>
        </p:nvCxnSpPr>
        <p:spPr>
          <a:xfrm>
            <a:off x="3556471" y="4282075"/>
            <a:ext cx="1226100" cy="0"/>
          </a:xfrm>
          <a:prstGeom prst="straightConnector1">
            <a:avLst/>
          </a:prstGeom>
          <a:noFill/>
          <a:ln cap="flat" cmpd="sng" w="9525">
            <a:solidFill>
              <a:srgbClr val="000000"/>
            </a:solidFill>
            <a:prstDash val="solid"/>
            <a:round/>
            <a:headEnd len="med" w="med" type="none"/>
            <a:tailEnd len="med" w="med" type="triangle"/>
          </a:ln>
        </p:spPr>
      </p:cxnSp>
      <p:sp>
        <p:nvSpPr>
          <p:cNvPr id="679" name="Google Shape;679;p51"/>
          <p:cNvSpPr txBox="1"/>
          <p:nvPr/>
        </p:nvSpPr>
        <p:spPr>
          <a:xfrm>
            <a:off x="3526021" y="3718353"/>
            <a:ext cx="1248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enterAddress (type, no, street, city, state, zip)</a:t>
            </a:r>
            <a:endParaRPr sz="1000"/>
          </a:p>
        </p:txBody>
      </p:sp>
      <p:cxnSp>
        <p:nvCxnSpPr>
          <p:cNvPr id="680" name="Google Shape;680;p51"/>
          <p:cNvCxnSpPr/>
          <p:nvPr/>
        </p:nvCxnSpPr>
        <p:spPr>
          <a:xfrm>
            <a:off x="4917920" y="4409030"/>
            <a:ext cx="1021800" cy="0"/>
          </a:xfrm>
          <a:prstGeom prst="straightConnector1">
            <a:avLst/>
          </a:prstGeom>
          <a:noFill/>
          <a:ln cap="flat" cmpd="sng" w="9525">
            <a:solidFill>
              <a:srgbClr val="000000"/>
            </a:solidFill>
            <a:prstDash val="solid"/>
            <a:round/>
            <a:headEnd len="med" w="med" type="none"/>
            <a:tailEnd len="med" w="med" type="triangle"/>
          </a:ln>
        </p:spPr>
      </p:cxnSp>
      <p:sp>
        <p:nvSpPr>
          <p:cNvPr id="681" name="Google Shape;681;p51"/>
          <p:cNvSpPr txBox="1"/>
          <p:nvPr/>
        </p:nvSpPr>
        <p:spPr>
          <a:xfrm>
            <a:off x="4887470" y="3845308"/>
            <a:ext cx="1248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aAddr=Address (type, no, street, city, state, zip)</a:t>
            </a:r>
            <a:endParaRPr sz="1000"/>
          </a:p>
        </p:txBody>
      </p:sp>
      <p:sp>
        <p:nvSpPr>
          <p:cNvPr id="682" name="Google Shape;682;p51"/>
          <p:cNvSpPr/>
          <p:nvPr/>
        </p:nvSpPr>
        <p:spPr>
          <a:xfrm>
            <a:off x="6618675" y="4287798"/>
            <a:ext cx="111600" cy="274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3" name="Google Shape;683;p51"/>
          <p:cNvSpPr/>
          <p:nvPr/>
        </p:nvSpPr>
        <p:spPr>
          <a:xfrm>
            <a:off x="5750022" y="2514896"/>
            <a:ext cx="111600" cy="274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51"/>
          <p:cNvSpPr txBox="1"/>
          <p:nvPr/>
        </p:nvSpPr>
        <p:spPr>
          <a:xfrm>
            <a:off x="5959275" y="3993150"/>
            <a:ext cx="1166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writeDB(aAddr)</a:t>
            </a:r>
            <a:endParaRPr sz="1000"/>
          </a:p>
        </p:txBody>
      </p:sp>
      <p:cxnSp>
        <p:nvCxnSpPr>
          <p:cNvPr id="685" name="Google Shape;685;p51"/>
          <p:cNvCxnSpPr/>
          <p:nvPr/>
        </p:nvCxnSpPr>
        <p:spPr>
          <a:xfrm>
            <a:off x="6064778" y="4510953"/>
            <a:ext cx="544800" cy="0"/>
          </a:xfrm>
          <a:prstGeom prst="straightConnector1">
            <a:avLst/>
          </a:prstGeom>
          <a:noFill/>
          <a:ln cap="flat" cmpd="sng" w="9525">
            <a:solidFill>
              <a:srgbClr val="000000"/>
            </a:solidFill>
            <a:prstDash val="solid"/>
            <a:round/>
            <a:headEnd len="med" w="med" type="none"/>
            <a:tailEnd len="med" w="med" type="triangle"/>
          </a:ln>
        </p:spPr>
      </p:cxnSp>
      <p:sp>
        <p:nvSpPr>
          <p:cNvPr id="686" name="Google Shape;686;p51"/>
          <p:cNvSpPr/>
          <p:nvPr/>
        </p:nvSpPr>
        <p:spPr>
          <a:xfrm flipH="1" rot="10800000">
            <a:off x="833700" y="2929825"/>
            <a:ext cx="690300" cy="225000"/>
          </a:xfrm>
          <a:prstGeom prst="snip1Rect">
            <a:avLst>
              <a:gd fmla="val 36100" name="adj"/>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51"/>
          <p:cNvSpPr txBox="1"/>
          <p:nvPr/>
        </p:nvSpPr>
        <p:spPr>
          <a:xfrm>
            <a:off x="792972" y="2880153"/>
            <a:ext cx="1248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Loop</a:t>
            </a:r>
            <a:endParaRPr sz="1000"/>
          </a:p>
        </p:txBody>
      </p:sp>
      <p:sp>
        <p:nvSpPr>
          <p:cNvPr id="688" name="Google Shape;688;p51"/>
          <p:cNvSpPr/>
          <p:nvPr/>
        </p:nvSpPr>
        <p:spPr>
          <a:xfrm>
            <a:off x="1686400" y="4780420"/>
            <a:ext cx="9744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&lt;&lt;view&gt;&gt;</a:t>
            </a:r>
            <a:endParaRPr sz="1000" u="sng"/>
          </a:p>
          <a:p>
            <a:pPr indent="0" lvl="0" marL="0" rtl="0" algn="ctr">
              <a:spcBef>
                <a:spcPts val="0"/>
              </a:spcBef>
              <a:spcAft>
                <a:spcPts val="0"/>
              </a:spcAft>
              <a:buNone/>
            </a:pPr>
            <a:r>
              <a:rPr lang="en-GB" sz="1000" u="sng"/>
              <a:t>:AcctWindow</a:t>
            </a:r>
            <a:endParaRPr sz="1000" u="sng"/>
          </a:p>
        </p:txBody>
      </p:sp>
      <p:sp>
        <p:nvSpPr>
          <p:cNvPr id="689" name="Google Shape;689;p51"/>
          <p:cNvSpPr/>
          <p:nvPr/>
        </p:nvSpPr>
        <p:spPr>
          <a:xfrm>
            <a:off x="2112725" y="5196600"/>
            <a:ext cx="111600" cy="730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90" name="Google Shape;690;p51"/>
          <p:cNvCxnSpPr/>
          <p:nvPr/>
        </p:nvCxnSpPr>
        <p:spPr>
          <a:xfrm>
            <a:off x="1006275" y="5501275"/>
            <a:ext cx="1096200" cy="0"/>
          </a:xfrm>
          <a:prstGeom prst="straightConnector1">
            <a:avLst/>
          </a:prstGeom>
          <a:noFill/>
          <a:ln cap="flat" cmpd="sng" w="9525">
            <a:solidFill>
              <a:srgbClr val="000000"/>
            </a:solidFill>
            <a:prstDash val="solid"/>
            <a:round/>
            <a:headEnd len="med" w="med" type="none"/>
            <a:tailEnd len="med" w="med" type="triangle"/>
          </a:ln>
        </p:spPr>
      </p:cxnSp>
      <p:sp>
        <p:nvSpPr>
          <p:cNvPr id="691" name="Google Shape;691;p51"/>
          <p:cNvSpPr txBox="1"/>
          <p:nvPr/>
        </p:nvSpPr>
        <p:spPr>
          <a:xfrm>
            <a:off x="975825" y="5094923"/>
            <a:ext cx="12486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enterAccount(type, CCNo, CCDate)</a:t>
            </a:r>
            <a:endParaRPr sz="1000"/>
          </a:p>
        </p:txBody>
      </p:sp>
      <p:cxnSp>
        <p:nvCxnSpPr>
          <p:cNvPr id="692" name="Google Shape;692;p51"/>
          <p:cNvCxnSpPr/>
          <p:nvPr/>
        </p:nvCxnSpPr>
        <p:spPr>
          <a:xfrm>
            <a:off x="2245777" y="5653675"/>
            <a:ext cx="1166400" cy="0"/>
          </a:xfrm>
          <a:prstGeom prst="straightConnector1">
            <a:avLst/>
          </a:prstGeom>
          <a:noFill/>
          <a:ln cap="flat" cmpd="sng" w="9525">
            <a:solidFill>
              <a:srgbClr val="000000"/>
            </a:solidFill>
            <a:prstDash val="solid"/>
            <a:round/>
            <a:headEnd len="med" w="med" type="none"/>
            <a:tailEnd len="med" w="med" type="triangle"/>
          </a:ln>
        </p:spPr>
      </p:cxnSp>
      <p:sp>
        <p:nvSpPr>
          <p:cNvPr id="693" name="Google Shape;693;p51"/>
          <p:cNvSpPr txBox="1"/>
          <p:nvPr/>
        </p:nvSpPr>
        <p:spPr>
          <a:xfrm>
            <a:off x="2235629" y="5247323"/>
            <a:ext cx="12486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enterAccount(type, CCNo, CCDate)</a:t>
            </a:r>
            <a:endParaRPr sz="1000"/>
          </a:p>
        </p:txBody>
      </p:sp>
      <p:sp>
        <p:nvSpPr>
          <p:cNvPr id="694" name="Google Shape;694;p51"/>
          <p:cNvSpPr/>
          <p:nvPr/>
        </p:nvSpPr>
        <p:spPr>
          <a:xfrm>
            <a:off x="3408125" y="5349000"/>
            <a:ext cx="111600" cy="730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95" name="Google Shape;695;p51"/>
          <p:cNvCxnSpPr/>
          <p:nvPr/>
        </p:nvCxnSpPr>
        <p:spPr>
          <a:xfrm>
            <a:off x="3520875" y="5806075"/>
            <a:ext cx="1281900" cy="0"/>
          </a:xfrm>
          <a:prstGeom prst="straightConnector1">
            <a:avLst/>
          </a:prstGeom>
          <a:noFill/>
          <a:ln cap="flat" cmpd="sng" w="9525">
            <a:solidFill>
              <a:srgbClr val="000000"/>
            </a:solidFill>
            <a:prstDash val="solid"/>
            <a:round/>
            <a:headEnd len="med" w="med" type="none"/>
            <a:tailEnd len="med" w="med" type="triangle"/>
          </a:ln>
        </p:spPr>
      </p:cxnSp>
      <p:sp>
        <p:nvSpPr>
          <p:cNvPr id="696" name="Google Shape;696;p51"/>
          <p:cNvSpPr txBox="1"/>
          <p:nvPr/>
        </p:nvSpPr>
        <p:spPr>
          <a:xfrm>
            <a:off x="3531029" y="5399723"/>
            <a:ext cx="12486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enterAccount(type, CCNo, CCDate)</a:t>
            </a:r>
            <a:endParaRPr sz="1000"/>
          </a:p>
        </p:txBody>
      </p:sp>
      <p:sp>
        <p:nvSpPr>
          <p:cNvPr id="697" name="Google Shape;697;p51"/>
          <p:cNvSpPr/>
          <p:nvPr/>
        </p:nvSpPr>
        <p:spPr>
          <a:xfrm>
            <a:off x="4779725" y="5501400"/>
            <a:ext cx="111600" cy="5490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8" name="Google Shape;698;p51"/>
          <p:cNvSpPr/>
          <p:nvPr/>
        </p:nvSpPr>
        <p:spPr>
          <a:xfrm>
            <a:off x="6106000" y="5125824"/>
            <a:ext cx="10953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aAcc:Account</a:t>
            </a:r>
            <a:endParaRPr sz="1000" u="sng"/>
          </a:p>
        </p:txBody>
      </p:sp>
      <p:sp>
        <p:nvSpPr>
          <p:cNvPr id="699" name="Google Shape;699;p51"/>
          <p:cNvSpPr/>
          <p:nvPr/>
        </p:nvSpPr>
        <p:spPr>
          <a:xfrm>
            <a:off x="6618675" y="5537001"/>
            <a:ext cx="111600" cy="625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00" name="Google Shape;700;p51"/>
          <p:cNvCxnSpPr/>
          <p:nvPr/>
        </p:nvCxnSpPr>
        <p:spPr>
          <a:xfrm>
            <a:off x="4892475" y="5882275"/>
            <a:ext cx="1717200" cy="0"/>
          </a:xfrm>
          <a:prstGeom prst="straightConnector1">
            <a:avLst/>
          </a:prstGeom>
          <a:noFill/>
          <a:ln cap="flat" cmpd="sng" w="9525">
            <a:solidFill>
              <a:srgbClr val="000000"/>
            </a:solidFill>
            <a:prstDash val="solid"/>
            <a:round/>
            <a:headEnd len="med" w="med" type="none"/>
            <a:tailEnd len="med" w="med" type="triangle"/>
          </a:ln>
        </p:spPr>
      </p:cxnSp>
      <p:sp>
        <p:nvSpPr>
          <p:cNvPr id="701" name="Google Shape;701;p51"/>
          <p:cNvSpPr txBox="1"/>
          <p:nvPr/>
        </p:nvSpPr>
        <p:spPr>
          <a:xfrm>
            <a:off x="4902629" y="5455621"/>
            <a:ext cx="12486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enterAccount(type, CCNo, CCDate)</a:t>
            </a:r>
            <a:endParaRPr sz="1000"/>
          </a:p>
        </p:txBody>
      </p:sp>
      <p:sp>
        <p:nvSpPr>
          <p:cNvPr id="702" name="Google Shape;702;p51"/>
          <p:cNvSpPr txBox="1"/>
          <p:nvPr/>
        </p:nvSpPr>
        <p:spPr>
          <a:xfrm>
            <a:off x="6726421" y="5745750"/>
            <a:ext cx="974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writeDB(ac)</a:t>
            </a:r>
            <a:endParaRPr sz="1000"/>
          </a:p>
        </p:txBody>
      </p:sp>
      <p:cxnSp>
        <p:nvCxnSpPr>
          <p:cNvPr id="703" name="Google Shape;703;p51"/>
          <p:cNvCxnSpPr/>
          <p:nvPr/>
        </p:nvCxnSpPr>
        <p:spPr>
          <a:xfrm>
            <a:off x="6755721" y="6004500"/>
            <a:ext cx="825000" cy="0"/>
          </a:xfrm>
          <a:prstGeom prst="straightConnector1">
            <a:avLst/>
          </a:prstGeom>
          <a:noFill/>
          <a:ln cap="flat" cmpd="sng" w="9525">
            <a:solidFill>
              <a:srgbClr val="000000"/>
            </a:solidFill>
            <a:prstDash val="solid"/>
            <a:round/>
            <a:headEnd len="med" w="med" type="none"/>
            <a:tailEnd len="med" w="med" type="triangle"/>
          </a:ln>
        </p:spPr>
      </p:cxnSp>
      <p:sp>
        <p:nvSpPr>
          <p:cNvPr id="704" name="Google Shape;704;p51"/>
          <p:cNvSpPr/>
          <p:nvPr/>
        </p:nvSpPr>
        <p:spPr>
          <a:xfrm>
            <a:off x="7558520" y="5887998"/>
            <a:ext cx="111600" cy="274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05" name="Google Shape;705;p51"/>
          <p:cNvCxnSpPr/>
          <p:nvPr/>
        </p:nvCxnSpPr>
        <p:spPr>
          <a:xfrm rot="5400000">
            <a:off x="1594925" y="2559300"/>
            <a:ext cx="786900" cy="360300"/>
          </a:xfrm>
          <a:prstGeom prst="bentConnector3">
            <a:avLst>
              <a:gd fmla="val -626" name="adj1"/>
            </a:avLst>
          </a:prstGeom>
          <a:noFill/>
          <a:ln cap="flat" cmpd="sng" w="9525">
            <a:solidFill>
              <a:srgbClr val="000000"/>
            </a:solidFill>
            <a:prstDash val="solid"/>
            <a:round/>
            <a:headEnd len="med" w="med" type="none"/>
            <a:tailEnd len="med" w="med" type="triangle"/>
          </a:ln>
        </p:spPr>
      </p:cxnSp>
      <p:sp>
        <p:nvSpPr>
          <p:cNvPr id="706" name="Google Shape;706;p51"/>
          <p:cNvSpPr txBox="1"/>
          <p:nvPr/>
        </p:nvSpPr>
        <p:spPr>
          <a:xfrm>
            <a:off x="945372" y="2346750"/>
            <a:ext cx="14517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showAddrWindow()</a:t>
            </a:r>
            <a:endParaRPr sz="1000"/>
          </a:p>
        </p:txBody>
      </p:sp>
      <p:cxnSp>
        <p:nvCxnSpPr>
          <p:cNvPr id="707" name="Google Shape;707;p51"/>
          <p:cNvCxnSpPr/>
          <p:nvPr/>
        </p:nvCxnSpPr>
        <p:spPr>
          <a:xfrm rot="5400000">
            <a:off x="1691425" y="4356050"/>
            <a:ext cx="507600" cy="314700"/>
          </a:xfrm>
          <a:prstGeom prst="bentConnector3">
            <a:avLst>
              <a:gd fmla="val 2000" name="adj1"/>
            </a:avLst>
          </a:prstGeom>
          <a:noFill/>
          <a:ln cap="flat" cmpd="sng" w="9525">
            <a:solidFill>
              <a:srgbClr val="000000"/>
            </a:solidFill>
            <a:prstDash val="solid"/>
            <a:round/>
            <a:headEnd len="med" w="med" type="none"/>
            <a:tailEnd len="med" w="med" type="triangle"/>
          </a:ln>
        </p:spPr>
      </p:cxnSp>
      <p:sp>
        <p:nvSpPr>
          <p:cNvPr id="708" name="Google Shape;708;p51"/>
          <p:cNvSpPr txBox="1"/>
          <p:nvPr/>
        </p:nvSpPr>
        <p:spPr>
          <a:xfrm>
            <a:off x="945372" y="4251750"/>
            <a:ext cx="14517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showAcctWindow()</a:t>
            </a:r>
            <a:endParaRPr sz="1000"/>
          </a:p>
        </p:txBody>
      </p:sp>
      <p:sp>
        <p:nvSpPr>
          <p:cNvPr id="709" name="Google Shape;709;p51"/>
          <p:cNvSpPr/>
          <p:nvPr/>
        </p:nvSpPr>
        <p:spPr>
          <a:xfrm>
            <a:off x="7462306" y="2240375"/>
            <a:ext cx="825000" cy="33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u="sng"/>
              <a:t>:Database</a:t>
            </a:r>
            <a:endParaRPr sz="1000" u="sng"/>
          </a:p>
        </p:txBody>
      </p:sp>
      <p:cxnSp>
        <p:nvCxnSpPr>
          <p:cNvPr id="710" name="Google Shape;710;p51"/>
          <p:cNvCxnSpPr>
            <a:stCxn id="709" idx="2"/>
          </p:cNvCxnSpPr>
          <p:nvPr/>
        </p:nvCxnSpPr>
        <p:spPr>
          <a:xfrm>
            <a:off x="7874806" y="2575175"/>
            <a:ext cx="0" cy="3724800"/>
          </a:xfrm>
          <a:prstGeom prst="straightConnector1">
            <a:avLst/>
          </a:prstGeom>
          <a:noFill/>
          <a:ln cap="flat" cmpd="sng" w="9525">
            <a:solidFill>
              <a:srgbClr val="000000"/>
            </a:solidFill>
            <a:prstDash val="dash"/>
            <a:round/>
            <a:headEnd len="med" w="med" type="none"/>
            <a:tailEnd len="med" w="med" type="none"/>
          </a:ln>
        </p:spPr>
      </p:cxnSp>
      <p:cxnSp>
        <p:nvCxnSpPr>
          <p:cNvPr id="711" name="Google Shape;711;p51"/>
          <p:cNvCxnSpPr/>
          <p:nvPr/>
        </p:nvCxnSpPr>
        <p:spPr>
          <a:xfrm>
            <a:off x="5878750" y="2706500"/>
            <a:ext cx="1959000" cy="0"/>
          </a:xfrm>
          <a:prstGeom prst="straightConnector1">
            <a:avLst/>
          </a:prstGeom>
          <a:noFill/>
          <a:ln cap="flat" cmpd="sng" w="9525">
            <a:solidFill>
              <a:srgbClr val="000000"/>
            </a:solidFill>
            <a:prstDash val="solid"/>
            <a:round/>
            <a:headEnd len="med" w="med" type="none"/>
            <a:tailEnd len="med" w="med" type="triangle"/>
          </a:ln>
        </p:spPr>
      </p:cxnSp>
      <p:sp>
        <p:nvSpPr>
          <p:cNvPr id="712" name="Google Shape;712;p51"/>
          <p:cNvSpPr/>
          <p:nvPr/>
        </p:nvSpPr>
        <p:spPr>
          <a:xfrm>
            <a:off x="7827724" y="2667296"/>
            <a:ext cx="111600" cy="274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3" name="Google Shape;713;p51"/>
          <p:cNvSpPr txBox="1"/>
          <p:nvPr/>
        </p:nvSpPr>
        <p:spPr>
          <a:xfrm>
            <a:off x="6767025" y="2621550"/>
            <a:ext cx="974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execute(sql)</a:t>
            </a:r>
            <a:endParaRPr sz="1000"/>
          </a:p>
        </p:txBody>
      </p:sp>
      <p:sp>
        <p:nvSpPr>
          <p:cNvPr id="714" name="Google Shape;714;p51"/>
          <p:cNvSpPr/>
          <p:nvPr/>
        </p:nvSpPr>
        <p:spPr>
          <a:xfrm>
            <a:off x="7827724" y="4343696"/>
            <a:ext cx="111600" cy="274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5" name="Google Shape;715;p51"/>
          <p:cNvSpPr txBox="1"/>
          <p:nvPr/>
        </p:nvSpPr>
        <p:spPr>
          <a:xfrm>
            <a:off x="6843225" y="4231901"/>
            <a:ext cx="974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execute(sql)</a:t>
            </a:r>
            <a:endParaRPr sz="1000"/>
          </a:p>
        </p:txBody>
      </p:sp>
      <p:cxnSp>
        <p:nvCxnSpPr>
          <p:cNvPr id="716" name="Google Shape;716;p51"/>
          <p:cNvCxnSpPr/>
          <p:nvPr/>
        </p:nvCxnSpPr>
        <p:spPr>
          <a:xfrm>
            <a:off x="6731425" y="4535300"/>
            <a:ext cx="1086000" cy="0"/>
          </a:xfrm>
          <a:prstGeom prst="straightConnector1">
            <a:avLst/>
          </a:prstGeom>
          <a:noFill/>
          <a:ln cap="flat" cmpd="sng" w="9525">
            <a:solidFill>
              <a:srgbClr val="000000"/>
            </a:solidFill>
            <a:prstDash val="solid"/>
            <a:round/>
            <a:headEnd len="med" w="med" type="none"/>
            <a:tailEnd len="med" w="med" type="triangle"/>
          </a:ln>
        </p:spPr>
      </p:cxnSp>
      <p:sp>
        <p:nvSpPr>
          <p:cNvPr id="717" name="Google Shape;717;p51"/>
          <p:cNvSpPr/>
          <p:nvPr/>
        </p:nvSpPr>
        <p:spPr>
          <a:xfrm>
            <a:off x="7827724" y="5943896"/>
            <a:ext cx="111600" cy="274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18" name="Google Shape;718;p51"/>
          <p:cNvCxnSpPr/>
          <p:nvPr/>
        </p:nvCxnSpPr>
        <p:spPr>
          <a:xfrm flipH="1" rot="10800000">
            <a:off x="7665325" y="6080775"/>
            <a:ext cx="128700" cy="6000"/>
          </a:xfrm>
          <a:prstGeom prst="straightConnector1">
            <a:avLst/>
          </a:prstGeom>
          <a:noFill/>
          <a:ln cap="flat" cmpd="sng" w="9525">
            <a:solidFill>
              <a:srgbClr val="000000"/>
            </a:solidFill>
            <a:prstDash val="solid"/>
            <a:round/>
            <a:headEnd len="med" w="med" type="none"/>
            <a:tailEnd len="med" w="med" type="triangle"/>
          </a:ln>
        </p:spPr>
      </p:cxnSp>
      <p:sp>
        <p:nvSpPr>
          <p:cNvPr id="719" name="Google Shape;719;p51"/>
          <p:cNvSpPr txBox="1"/>
          <p:nvPr/>
        </p:nvSpPr>
        <p:spPr>
          <a:xfrm>
            <a:off x="7376625" y="5603501"/>
            <a:ext cx="974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execute(sql)</a:t>
            </a:r>
            <a:endParaRPr sz="1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25" name="Google Shape;725;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26" name="Google Shape;726;p52"/>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Mô-đun hóa hệ thống</a:t>
            </a:r>
            <a:endParaRPr/>
          </a:p>
          <a:p>
            <a:pPr indent="-381000" lvl="0" marL="457200" rtl="0" algn="l">
              <a:spcBef>
                <a:spcPts val="0"/>
              </a:spcBef>
              <a:spcAft>
                <a:spcPts val="0"/>
              </a:spcAft>
              <a:buSzPts val="2400"/>
              <a:buChar char="●"/>
            </a:pPr>
            <a:r>
              <a:rPr lang="en-GB"/>
              <a:t>Các thành phần kiến trúc Hệ thống</a:t>
            </a:r>
            <a:endParaRPr/>
          </a:p>
          <a:p>
            <a:pPr indent="-381000" lvl="0" marL="457200" rtl="0" algn="l">
              <a:spcBef>
                <a:spcPts val="0"/>
              </a:spcBef>
              <a:spcAft>
                <a:spcPts val="0"/>
              </a:spcAft>
              <a:buSzPts val="2400"/>
              <a:buChar char="●"/>
            </a:pPr>
            <a:r>
              <a:rPr lang="en-GB"/>
              <a:t>Mẫu kiến trúc</a:t>
            </a:r>
            <a:endParaRPr/>
          </a:p>
          <a:p>
            <a:pPr indent="-381000" lvl="0" marL="457200" rtl="0" algn="l">
              <a:spcBef>
                <a:spcPts val="0"/>
              </a:spcBef>
              <a:spcAft>
                <a:spcPts val="0"/>
              </a:spcAft>
              <a:buSzPts val="2400"/>
              <a:buChar char="●"/>
            </a:pPr>
            <a:r>
              <a:rPr lang="en-GB"/>
              <a:t>Các sơ đồ UML</a:t>
            </a:r>
            <a:endParaRPr/>
          </a:p>
        </p:txBody>
      </p:sp>
      <p:sp>
        <p:nvSpPr>
          <p:cNvPr id="727" name="Google Shape;727;p52"/>
          <p:cNvSpPr/>
          <p:nvPr/>
        </p:nvSpPr>
        <p:spPr>
          <a:xfrm>
            <a:off x="357900" y="2012957"/>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5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33" name="Google Shape;733;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34" name="Google Shape;734;p53"/>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Mô-đun hóa hệ thống</a:t>
            </a:r>
            <a:endParaRPr/>
          </a:p>
          <a:p>
            <a:pPr indent="-381000" lvl="0" marL="457200" rtl="0" algn="l">
              <a:spcBef>
                <a:spcPts val="0"/>
              </a:spcBef>
              <a:spcAft>
                <a:spcPts val="0"/>
              </a:spcAft>
              <a:buSzPts val="2400"/>
              <a:buChar char="●"/>
            </a:pPr>
            <a:r>
              <a:rPr lang="en-GB"/>
              <a:t>Các thành phần kiến trúc Hệ thống</a:t>
            </a:r>
            <a:endParaRPr/>
          </a:p>
          <a:p>
            <a:pPr indent="-381000" lvl="0" marL="457200" rtl="0" algn="l">
              <a:spcBef>
                <a:spcPts val="0"/>
              </a:spcBef>
              <a:spcAft>
                <a:spcPts val="0"/>
              </a:spcAft>
              <a:buSzPts val="2400"/>
              <a:buChar char="●"/>
            </a:pPr>
            <a:r>
              <a:rPr lang="en-GB"/>
              <a:t>Mẫu kiến trúc</a:t>
            </a:r>
            <a:endParaRPr/>
          </a:p>
          <a:p>
            <a:pPr indent="-381000" lvl="0" marL="457200" rtl="0" algn="l">
              <a:spcBef>
                <a:spcPts val="0"/>
              </a:spcBef>
              <a:spcAft>
                <a:spcPts val="0"/>
              </a:spcAft>
              <a:buSzPts val="2400"/>
              <a:buChar char="●"/>
            </a:pPr>
            <a:r>
              <a:rPr lang="en-GB"/>
              <a:t>Các sơ đồ UML</a:t>
            </a:r>
            <a:endParaRPr/>
          </a:p>
          <a:p>
            <a:pPr indent="-368300" lvl="1" marL="914400" rtl="0" algn="l">
              <a:spcBef>
                <a:spcPts val="0"/>
              </a:spcBef>
              <a:spcAft>
                <a:spcPts val="0"/>
              </a:spcAft>
              <a:buSzPts val="2200"/>
              <a:buChar char="○"/>
            </a:pPr>
            <a:r>
              <a:rPr lang="en-GB"/>
              <a:t>Sơ đồ gói</a:t>
            </a:r>
            <a:endParaRPr/>
          </a:p>
          <a:p>
            <a:pPr indent="-368300" lvl="1" marL="914400" rtl="0" algn="l">
              <a:spcBef>
                <a:spcPts val="0"/>
              </a:spcBef>
              <a:spcAft>
                <a:spcPts val="0"/>
              </a:spcAft>
              <a:buSzPts val="2200"/>
              <a:buChar char="○"/>
            </a:pPr>
            <a:r>
              <a:rPr lang="en-GB"/>
              <a:t>Sơ đồ thành phần</a:t>
            </a:r>
            <a:endParaRPr/>
          </a:p>
          <a:p>
            <a:pPr indent="-368300" lvl="1" marL="914400" rtl="0" algn="l">
              <a:spcBef>
                <a:spcPts val="0"/>
              </a:spcBef>
              <a:spcAft>
                <a:spcPts val="0"/>
              </a:spcAft>
              <a:buSzPts val="2200"/>
              <a:buChar char="○"/>
            </a:pPr>
            <a:r>
              <a:rPr lang="en-GB"/>
              <a:t>Sơ đồ triển khai</a:t>
            </a:r>
            <a:endParaRPr/>
          </a:p>
        </p:txBody>
      </p:sp>
      <p:sp>
        <p:nvSpPr>
          <p:cNvPr id="735" name="Google Shape;735;p53"/>
          <p:cNvSpPr/>
          <p:nvPr/>
        </p:nvSpPr>
        <p:spPr>
          <a:xfrm>
            <a:off x="281700" y="2393957"/>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5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gói: Hệ ký hiệu</a:t>
            </a:r>
            <a:endParaRPr/>
          </a:p>
        </p:txBody>
      </p:sp>
      <p:sp>
        <p:nvSpPr>
          <p:cNvPr id="741" name="Google Shape;741;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742" name="Google Shape;742;p54"/>
          <p:cNvGrpSpPr/>
          <p:nvPr/>
        </p:nvGrpSpPr>
        <p:grpSpPr>
          <a:xfrm>
            <a:off x="311734" y="2254264"/>
            <a:ext cx="757200" cy="659511"/>
            <a:chOff x="311734" y="2254264"/>
            <a:chExt cx="757200" cy="659511"/>
          </a:xfrm>
        </p:grpSpPr>
        <p:sp>
          <p:nvSpPr>
            <p:cNvPr id="743" name="Google Shape;743;p54"/>
            <p:cNvSpPr/>
            <p:nvPr/>
          </p:nvSpPr>
          <p:spPr>
            <a:xfrm>
              <a:off x="311734" y="2403475"/>
              <a:ext cx="757200" cy="510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t>
              </a:r>
              <a:endParaRPr/>
            </a:p>
          </p:txBody>
        </p:sp>
        <p:sp>
          <p:nvSpPr>
            <p:cNvPr id="744" name="Google Shape;744;p54"/>
            <p:cNvSpPr/>
            <p:nvPr/>
          </p:nvSpPr>
          <p:spPr>
            <a:xfrm>
              <a:off x="311734" y="2254264"/>
              <a:ext cx="288600" cy="149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 name="Google Shape;745;p54"/>
          <p:cNvGrpSpPr/>
          <p:nvPr/>
        </p:nvGrpSpPr>
        <p:grpSpPr>
          <a:xfrm>
            <a:off x="540292" y="4065350"/>
            <a:ext cx="873542" cy="763521"/>
            <a:chOff x="1421775" y="4581300"/>
            <a:chExt cx="1440300" cy="974625"/>
          </a:xfrm>
        </p:grpSpPr>
        <p:sp>
          <p:nvSpPr>
            <p:cNvPr id="746" name="Google Shape;746;p54"/>
            <p:cNvSpPr/>
            <p:nvPr/>
          </p:nvSpPr>
          <p:spPr>
            <a:xfrm>
              <a:off x="1421775" y="4792425"/>
              <a:ext cx="14403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7" name="Google Shape;747;p54"/>
            <p:cNvSpPr/>
            <p:nvPr/>
          </p:nvSpPr>
          <p:spPr>
            <a:xfrm>
              <a:off x="1421775" y="4581300"/>
              <a:ext cx="548700" cy="222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54"/>
          <p:cNvGrpSpPr/>
          <p:nvPr/>
        </p:nvGrpSpPr>
        <p:grpSpPr>
          <a:xfrm>
            <a:off x="540292" y="5040125"/>
            <a:ext cx="873542" cy="763521"/>
            <a:chOff x="1421775" y="4581300"/>
            <a:chExt cx="1440300" cy="974625"/>
          </a:xfrm>
        </p:grpSpPr>
        <p:sp>
          <p:nvSpPr>
            <p:cNvPr id="749" name="Google Shape;749;p54"/>
            <p:cNvSpPr/>
            <p:nvPr/>
          </p:nvSpPr>
          <p:spPr>
            <a:xfrm>
              <a:off x="1421775" y="4792425"/>
              <a:ext cx="14403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54"/>
            <p:cNvSpPr/>
            <p:nvPr/>
          </p:nvSpPr>
          <p:spPr>
            <a:xfrm>
              <a:off x="1421775" y="4581300"/>
              <a:ext cx="548700" cy="222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51" name="Google Shape;751;p54"/>
          <p:cNvCxnSpPr>
            <a:stCxn id="746" idx="2"/>
            <a:endCxn id="749" idx="0"/>
          </p:cNvCxnSpPr>
          <p:nvPr/>
        </p:nvCxnSpPr>
        <p:spPr>
          <a:xfrm>
            <a:off x="977063" y="4828871"/>
            <a:ext cx="0" cy="376500"/>
          </a:xfrm>
          <a:prstGeom prst="straightConnector1">
            <a:avLst/>
          </a:prstGeom>
          <a:noFill/>
          <a:ln cap="flat" cmpd="sng" w="19050">
            <a:solidFill>
              <a:schemeClr val="dk2"/>
            </a:solidFill>
            <a:prstDash val="dash"/>
            <a:round/>
            <a:headEnd len="med" w="med" type="none"/>
            <a:tailEnd len="med" w="med" type="stealth"/>
          </a:ln>
        </p:spPr>
      </p:cxnSp>
      <p:sp>
        <p:nvSpPr>
          <p:cNvPr id="752" name="Google Shape;752;p54"/>
          <p:cNvSpPr txBox="1"/>
          <p:nvPr/>
        </p:nvSpPr>
        <p:spPr>
          <a:xfrm>
            <a:off x="575175" y="3949717"/>
            <a:ext cx="2979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a:t>
            </a:r>
            <a:endParaRPr/>
          </a:p>
        </p:txBody>
      </p:sp>
      <p:sp>
        <p:nvSpPr>
          <p:cNvPr id="753" name="Google Shape;753;p54"/>
          <p:cNvSpPr txBox="1"/>
          <p:nvPr/>
        </p:nvSpPr>
        <p:spPr>
          <a:xfrm>
            <a:off x="575175" y="4923064"/>
            <a:ext cx="2979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B</a:t>
            </a:r>
            <a:endParaRPr/>
          </a:p>
        </p:txBody>
      </p:sp>
      <p:sp>
        <p:nvSpPr>
          <p:cNvPr id="754" name="Google Shape;754;p54"/>
          <p:cNvSpPr txBox="1"/>
          <p:nvPr/>
        </p:nvSpPr>
        <p:spPr>
          <a:xfrm>
            <a:off x="270375" y="1663725"/>
            <a:ext cx="9735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t>Tên gói</a:t>
            </a:r>
            <a:endParaRPr i="1"/>
          </a:p>
        </p:txBody>
      </p:sp>
      <p:sp>
        <p:nvSpPr>
          <p:cNvPr id="755" name="Google Shape;755;p54"/>
          <p:cNvSpPr txBox="1"/>
          <p:nvPr/>
        </p:nvSpPr>
        <p:spPr>
          <a:xfrm>
            <a:off x="498975" y="2959125"/>
            <a:ext cx="13488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t>Các phần tử</a:t>
            </a:r>
            <a:endParaRPr i="1"/>
          </a:p>
        </p:txBody>
      </p:sp>
      <p:cxnSp>
        <p:nvCxnSpPr>
          <p:cNvPr id="756" name="Google Shape;756;p54"/>
          <p:cNvCxnSpPr/>
          <p:nvPr/>
        </p:nvCxnSpPr>
        <p:spPr>
          <a:xfrm rot="10800000">
            <a:off x="744209" y="2752684"/>
            <a:ext cx="192000" cy="332700"/>
          </a:xfrm>
          <a:prstGeom prst="straightConnector1">
            <a:avLst/>
          </a:prstGeom>
          <a:noFill/>
          <a:ln cap="flat" cmpd="sng" w="9525">
            <a:solidFill>
              <a:schemeClr val="dk2"/>
            </a:solidFill>
            <a:prstDash val="dash"/>
            <a:round/>
            <a:headEnd len="med" w="med" type="none"/>
            <a:tailEnd len="med" w="med" type="none"/>
          </a:ln>
        </p:spPr>
      </p:cxnSp>
      <p:cxnSp>
        <p:nvCxnSpPr>
          <p:cNvPr id="757" name="Google Shape;757;p54"/>
          <p:cNvCxnSpPr/>
          <p:nvPr/>
        </p:nvCxnSpPr>
        <p:spPr>
          <a:xfrm flipH="1" rot="10800000">
            <a:off x="422775" y="1915300"/>
            <a:ext cx="69000" cy="457200"/>
          </a:xfrm>
          <a:prstGeom prst="straightConnector1">
            <a:avLst/>
          </a:prstGeom>
          <a:noFill/>
          <a:ln cap="flat" cmpd="sng" w="9525">
            <a:solidFill>
              <a:schemeClr val="dk2"/>
            </a:solidFill>
            <a:prstDash val="dash"/>
            <a:round/>
            <a:headEnd len="med" w="med" type="none"/>
            <a:tailEnd len="med" w="med" type="none"/>
          </a:ln>
        </p:spPr>
      </p:cxnSp>
      <p:sp>
        <p:nvSpPr>
          <p:cNvPr id="758" name="Google Shape;758;p54"/>
          <p:cNvSpPr txBox="1"/>
          <p:nvPr/>
        </p:nvSpPr>
        <p:spPr>
          <a:xfrm>
            <a:off x="346575" y="2137148"/>
            <a:ext cx="2979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a:t>
            </a:r>
            <a:endParaRPr/>
          </a:p>
        </p:txBody>
      </p:sp>
      <p:grpSp>
        <p:nvGrpSpPr>
          <p:cNvPr id="759" name="Google Shape;759;p54"/>
          <p:cNvGrpSpPr/>
          <p:nvPr/>
        </p:nvGrpSpPr>
        <p:grpSpPr>
          <a:xfrm>
            <a:off x="1149934" y="2254264"/>
            <a:ext cx="757200" cy="659511"/>
            <a:chOff x="311734" y="2254264"/>
            <a:chExt cx="757200" cy="659511"/>
          </a:xfrm>
        </p:grpSpPr>
        <p:sp>
          <p:nvSpPr>
            <p:cNvPr id="760" name="Google Shape;760;p54"/>
            <p:cNvSpPr/>
            <p:nvPr/>
          </p:nvSpPr>
          <p:spPr>
            <a:xfrm>
              <a:off x="311734" y="2403475"/>
              <a:ext cx="757200" cy="510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t>
              </a:r>
              <a:endParaRPr/>
            </a:p>
          </p:txBody>
        </p:sp>
        <p:sp>
          <p:nvSpPr>
            <p:cNvPr id="761" name="Google Shape;761;p54"/>
            <p:cNvSpPr/>
            <p:nvPr/>
          </p:nvSpPr>
          <p:spPr>
            <a:xfrm>
              <a:off x="311734" y="2254264"/>
              <a:ext cx="288600" cy="149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2" name="Google Shape;762;p54"/>
          <p:cNvSpPr txBox="1"/>
          <p:nvPr/>
        </p:nvSpPr>
        <p:spPr>
          <a:xfrm>
            <a:off x="1380911" y="2305780"/>
            <a:ext cx="2979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a:t>
            </a:r>
            <a:endParaRPr/>
          </a:p>
        </p:txBody>
      </p:sp>
      <p:cxnSp>
        <p:nvCxnSpPr>
          <p:cNvPr id="763" name="Google Shape;763;p54"/>
          <p:cNvCxnSpPr/>
          <p:nvPr/>
        </p:nvCxnSpPr>
        <p:spPr>
          <a:xfrm flipH="1" rot="10800000">
            <a:off x="1072377" y="2775768"/>
            <a:ext cx="356100" cy="301500"/>
          </a:xfrm>
          <a:prstGeom prst="straightConnector1">
            <a:avLst/>
          </a:prstGeom>
          <a:noFill/>
          <a:ln cap="flat" cmpd="sng" w="9525">
            <a:solidFill>
              <a:schemeClr val="dk2"/>
            </a:solidFill>
            <a:prstDash val="dash"/>
            <a:round/>
            <a:headEnd len="med" w="med" type="none"/>
            <a:tailEnd len="med" w="med" type="none"/>
          </a:ln>
        </p:spPr>
      </p:cxnSp>
      <p:cxnSp>
        <p:nvCxnSpPr>
          <p:cNvPr id="764" name="Google Shape;764;p54"/>
          <p:cNvCxnSpPr>
            <a:stCxn id="762" idx="1"/>
          </p:cNvCxnSpPr>
          <p:nvPr/>
        </p:nvCxnSpPr>
        <p:spPr>
          <a:xfrm rot="10800000">
            <a:off x="804611" y="1963930"/>
            <a:ext cx="576300" cy="510000"/>
          </a:xfrm>
          <a:prstGeom prst="straightConnector1">
            <a:avLst/>
          </a:prstGeom>
          <a:noFill/>
          <a:ln cap="flat" cmpd="sng" w="9525">
            <a:solidFill>
              <a:schemeClr val="dk2"/>
            </a:solidFill>
            <a:prstDash val="dash"/>
            <a:round/>
            <a:headEnd len="med" w="med" type="none"/>
            <a:tailEnd len="med" w="med" type="none"/>
          </a:ln>
        </p:spPr>
      </p:cxnSp>
      <p:sp>
        <p:nvSpPr>
          <p:cNvPr id="765" name="Google Shape;765;p54"/>
          <p:cNvSpPr txBox="1"/>
          <p:nvPr>
            <p:ph idx="4294967295" type="body"/>
          </p:nvPr>
        </p:nvSpPr>
        <p:spPr>
          <a:xfrm>
            <a:off x="1907125" y="1133700"/>
            <a:ext cx="7004100" cy="541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381000" lvl="0" marL="457200" rtl="0" algn="l">
              <a:spcBef>
                <a:spcPts val="0"/>
              </a:spcBef>
              <a:spcAft>
                <a:spcPts val="0"/>
              </a:spcAft>
              <a:buSzPts val="2400"/>
              <a:buChar char="●"/>
            </a:pPr>
            <a:r>
              <a:rPr lang="en-GB"/>
              <a:t>Gói/Package:</a:t>
            </a:r>
            <a:endParaRPr/>
          </a:p>
          <a:p>
            <a:pPr indent="-368300" lvl="1" marL="914400" rtl="0" algn="l">
              <a:spcBef>
                <a:spcPts val="0"/>
              </a:spcBef>
              <a:spcAft>
                <a:spcPts val="0"/>
              </a:spcAft>
              <a:buSzPts val="2200"/>
              <a:buChar char="○"/>
            </a:pPr>
            <a:r>
              <a:rPr lang="en-GB"/>
              <a:t>Nhóm lô-gic của nhiều phần tử, là không gian tên của các phần tử.</a:t>
            </a:r>
            <a:endParaRPr/>
          </a:p>
          <a:p>
            <a:pPr indent="-368300" lvl="1" marL="914400" rtl="0" algn="l">
              <a:spcBef>
                <a:spcPts val="0"/>
              </a:spcBef>
              <a:spcAft>
                <a:spcPts val="0"/>
              </a:spcAft>
              <a:buSzPts val="2200"/>
              <a:buChar char="○"/>
            </a:pPr>
            <a:r>
              <a:rPr lang="en-GB"/>
              <a:t>Có thể gom nhiều phần tử liên quan thành 1 </a:t>
            </a:r>
            <a:r>
              <a:rPr lang="en-GB"/>
              <a:t>mô-đun</a:t>
            </a:r>
            <a:r>
              <a:rPr lang="en-GB"/>
              <a:t> bậc cao, giúp giản lược mô hình.</a:t>
            </a:r>
            <a:endParaRPr/>
          </a:p>
          <a:p>
            <a:pPr indent="-381000" lvl="0" marL="457200" rtl="0" algn="l">
              <a:spcBef>
                <a:spcPts val="0"/>
              </a:spcBef>
              <a:spcAft>
                <a:spcPts val="0"/>
              </a:spcAft>
              <a:buSzPts val="2400"/>
              <a:buChar char="●"/>
            </a:pPr>
            <a:r>
              <a:rPr lang="en-GB"/>
              <a:t>Quan hệ phụ thuộc/Dependency:</a:t>
            </a:r>
            <a:endParaRPr/>
          </a:p>
          <a:p>
            <a:pPr indent="-368300" lvl="1" marL="914400" rtl="0" algn="l">
              <a:spcBef>
                <a:spcPts val="0"/>
              </a:spcBef>
              <a:spcAft>
                <a:spcPts val="0"/>
              </a:spcAft>
              <a:buSzPts val="2200"/>
              <a:buChar char="○"/>
            </a:pPr>
            <a:r>
              <a:rPr lang="en-GB"/>
              <a:t>Nếu B thay đổi thì A cũng sẽ thay đổi theo.</a:t>
            </a:r>
            <a:endParaRPr/>
          </a:p>
          <a:p>
            <a:pPr indent="-368300" lvl="1" marL="914400" rtl="0" algn="l">
              <a:spcBef>
                <a:spcPts val="0"/>
              </a:spcBef>
              <a:spcAft>
                <a:spcPts val="0"/>
              </a:spcAft>
              <a:buSzPts val="2200"/>
              <a:buChar char="○"/>
            </a:pPr>
            <a:r>
              <a:rPr lang="en-GB"/>
              <a:t>A phụ thuộc vào B được biểu diễn bằng mũi tên nét đứt từ A tới B.</a:t>
            </a:r>
            <a:endParaRPr/>
          </a:p>
        </p:txBody>
      </p:sp>
      <p:sp>
        <p:nvSpPr>
          <p:cNvPr id="766" name="Google Shape;766;p54"/>
          <p:cNvSpPr txBox="1"/>
          <p:nvPr>
            <p:ph idx="4294967295" type="body"/>
          </p:nvPr>
        </p:nvSpPr>
        <p:spPr>
          <a:xfrm>
            <a:off x="306925" y="981300"/>
            <a:ext cx="8308800" cy="52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Sơ đồ gói biểu diễn các gói cùng với các mối quan hệ</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55"/>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gói: Hệ ký hiệu</a:t>
            </a:r>
            <a:r>
              <a:rPr baseline="-25000" lang="en-GB"/>
              <a:t>(2)</a:t>
            </a:r>
            <a:endParaRPr baseline="-25000"/>
          </a:p>
        </p:txBody>
      </p:sp>
      <p:sp>
        <p:nvSpPr>
          <p:cNvPr id="772" name="Google Shape;772;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3" name="Google Shape;773;p55"/>
          <p:cNvSpPr txBox="1"/>
          <p:nvPr>
            <p:ph idx="4294967295" type="body"/>
          </p:nvPr>
        </p:nvSpPr>
        <p:spPr>
          <a:xfrm>
            <a:off x="1259525" y="1133700"/>
            <a:ext cx="7651800" cy="5417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Quan hệ hợp nhất/Merge:</a:t>
            </a:r>
            <a:endParaRPr/>
          </a:p>
          <a:p>
            <a:pPr indent="-368300" lvl="1" marL="914400" rtl="0" algn="l">
              <a:spcBef>
                <a:spcPts val="0"/>
              </a:spcBef>
              <a:spcAft>
                <a:spcPts val="0"/>
              </a:spcAft>
              <a:buSzPts val="2200"/>
              <a:buChar char="○"/>
            </a:pPr>
            <a:r>
              <a:rPr lang="en-GB"/>
              <a:t>Nội dung của gói đích (theo mũi tên) được hợp nhất với nội dung của gói nguồn.</a:t>
            </a:r>
            <a:endParaRPr/>
          </a:p>
          <a:p>
            <a:pPr indent="-368300" lvl="1" marL="914400" rtl="0" algn="l">
              <a:spcBef>
                <a:spcPts val="0"/>
              </a:spcBef>
              <a:spcAft>
                <a:spcPts val="0"/>
              </a:spcAft>
              <a:buSzPts val="2200"/>
              <a:buChar char="○"/>
            </a:pPr>
            <a:r>
              <a:rPr lang="en-GB"/>
              <a:t>Các </a:t>
            </a:r>
            <a:r>
              <a:rPr lang="en-GB"/>
              <a:t>phần tử</a:t>
            </a:r>
            <a:r>
              <a:rPr lang="en-GB"/>
              <a:t> cùng tên cũng được hợp nhất.</a:t>
            </a:r>
            <a:endParaRPr/>
          </a:p>
          <a:p>
            <a:pPr indent="-381000" lvl="0" marL="457200" rtl="0" algn="l">
              <a:spcBef>
                <a:spcPts val="0"/>
              </a:spcBef>
              <a:spcAft>
                <a:spcPts val="0"/>
              </a:spcAft>
              <a:buSzPts val="2400"/>
              <a:buChar char="●"/>
            </a:pPr>
            <a:r>
              <a:rPr lang="en-GB"/>
              <a:t>Quan hệ nhập/Import</a:t>
            </a:r>
            <a:endParaRPr/>
          </a:p>
          <a:p>
            <a:pPr indent="-368300" lvl="1" marL="914400" rtl="0" algn="l">
              <a:spcBef>
                <a:spcPts val="0"/>
              </a:spcBef>
              <a:spcAft>
                <a:spcPts val="0"/>
              </a:spcAft>
              <a:buSzPts val="2200"/>
              <a:buChar char="○"/>
            </a:pPr>
            <a:r>
              <a:rPr lang="en-GB"/>
              <a:t>Thêm các phần tử của gói đích vào gói nguồn. </a:t>
            </a:r>
            <a:endParaRPr/>
          </a:p>
          <a:p>
            <a:pPr indent="-368300" lvl="1" marL="914400" rtl="0" algn="l">
              <a:spcBef>
                <a:spcPts val="0"/>
              </a:spcBef>
              <a:spcAft>
                <a:spcPts val="0"/>
              </a:spcAft>
              <a:buSzPts val="2200"/>
              <a:buChar char="○"/>
            </a:pPr>
            <a:r>
              <a:rPr lang="en-GB"/>
              <a:t>Các phần tử được thêm vào có thể được nhìn thấy từ bên ngoài / nhập công khai.</a:t>
            </a:r>
            <a:endParaRPr/>
          </a:p>
          <a:p>
            <a:pPr indent="-381000" lvl="0" marL="457200" rtl="0" algn="l">
              <a:spcBef>
                <a:spcPts val="0"/>
              </a:spcBef>
              <a:spcAft>
                <a:spcPts val="0"/>
              </a:spcAft>
              <a:buSzPts val="2400"/>
              <a:buChar char="●"/>
            </a:pPr>
            <a:r>
              <a:rPr lang="en-GB"/>
              <a:t>Quan hệ truy cập/access</a:t>
            </a:r>
            <a:endParaRPr/>
          </a:p>
          <a:p>
            <a:pPr indent="-368300" lvl="1" marL="914400" rtl="0" algn="l">
              <a:spcBef>
                <a:spcPts val="0"/>
              </a:spcBef>
              <a:spcAft>
                <a:spcPts val="0"/>
              </a:spcAft>
              <a:buSzPts val="2200"/>
              <a:buChar char="○"/>
            </a:pPr>
            <a:r>
              <a:rPr lang="en-GB"/>
              <a:t>Thêm các phần tử của gói đích vào gói nguồn</a:t>
            </a:r>
            <a:endParaRPr/>
          </a:p>
          <a:p>
            <a:pPr indent="-368300" lvl="1" marL="914400" rtl="0" algn="l">
              <a:spcBef>
                <a:spcPts val="0"/>
              </a:spcBef>
              <a:spcAft>
                <a:spcPts val="0"/>
              </a:spcAft>
              <a:buSzPts val="2200"/>
              <a:buChar char="○"/>
            </a:pPr>
            <a:r>
              <a:rPr lang="en-GB"/>
              <a:t>Các phần tử được thêm vào không được nhìn thấy từ bên ngoài / nhập riêng tư</a:t>
            </a:r>
            <a:endParaRPr/>
          </a:p>
        </p:txBody>
      </p:sp>
      <p:sp>
        <p:nvSpPr>
          <p:cNvPr id="774" name="Google Shape;774;p55"/>
          <p:cNvSpPr txBox="1"/>
          <p:nvPr/>
        </p:nvSpPr>
        <p:spPr>
          <a:xfrm>
            <a:off x="200700" y="1442275"/>
            <a:ext cx="1107600" cy="3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&lt;&lt;merge&gt;&gt;</a:t>
            </a:r>
            <a:endParaRPr/>
          </a:p>
        </p:txBody>
      </p:sp>
      <p:sp>
        <p:nvSpPr>
          <p:cNvPr id="775" name="Google Shape;775;p55"/>
          <p:cNvSpPr txBox="1"/>
          <p:nvPr/>
        </p:nvSpPr>
        <p:spPr>
          <a:xfrm>
            <a:off x="276900" y="3118675"/>
            <a:ext cx="1107600" cy="3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&lt;&lt;import&gt;&gt;</a:t>
            </a:r>
            <a:endParaRPr/>
          </a:p>
        </p:txBody>
      </p:sp>
      <p:cxnSp>
        <p:nvCxnSpPr>
          <p:cNvPr id="776" name="Google Shape;776;p55"/>
          <p:cNvCxnSpPr/>
          <p:nvPr/>
        </p:nvCxnSpPr>
        <p:spPr>
          <a:xfrm>
            <a:off x="302685" y="3495900"/>
            <a:ext cx="969600" cy="900"/>
          </a:xfrm>
          <a:prstGeom prst="straightConnector1">
            <a:avLst/>
          </a:prstGeom>
          <a:noFill/>
          <a:ln cap="flat" cmpd="sng" w="19050">
            <a:solidFill>
              <a:schemeClr val="dk2"/>
            </a:solidFill>
            <a:prstDash val="dash"/>
            <a:round/>
            <a:headEnd len="med" w="med" type="none"/>
            <a:tailEnd len="med" w="med" type="stealth"/>
          </a:ln>
        </p:spPr>
      </p:cxnSp>
      <p:sp>
        <p:nvSpPr>
          <p:cNvPr id="777" name="Google Shape;777;p55"/>
          <p:cNvSpPr txBox="1"/>
          <p:nvPr/>
        </p:nvSpPr>
        <p:spPr>
          <a:xfrm>
            <a:off x="200700" y="4566475"/>
            <a:ext cx="1183800" cy="3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&lt;&lt;access&gt;&gt;</a:t>
            </a:r>
            <a:endParaRPr/>
          </a:p>
        </p:txBody>
      </p:sp>
      <p:cxnSp>
        <p:nvCxnSpPr>
          <p:cNvPr id="778" name="Google Shape;778;p55"/>
          <p:cNvCxnSpPr/>
          <p:nvPr/>
        </p:nvCxnSpPr>
        <p:spPr>
          <a:xfrm>
            <a:off x="302685" y="4943700"/>
            <a:ext cx="969600" cy="900"/>
          </a:xfrm>
          <a:prstGeom prst="straightConnector1">
            <a:avLst/>
          </a:prstGeom>
          <a:noFill/>
          <a:ln cap="flat" cmpd="sng" w="19050">
            <a:solidFill>
              <a:schemeClr val="dk2"/>
            </a:solidFill>
            <a:prstDash val="dash"/>
            <a:round/>
            <a:headEnd len="med" w="med" type="none"/>
            <a:tailEnd len="med" w="med" type="stealth"/>
          </a:ln>
        </p:spPr>
      </p:cxnSp>
      <p:cxnSp>
        <p:nvCxnSpPr>
          <p:cNvPr id="779" name="Google Shape;779;p55"/>
          <p:cNvCxnSpPr/>
          <p:nvPr/>
        </p:nvCxnSpPr>
        <p:spPr>
          <a:xfrm>
            <a:off x="302685" y="1819500"/>
            <a:ext cx="969600" cy="900"/>
          </a:xfrm>
          <a:prstGeom prst="straightConnector1">
            <a:avLst/>
          </a:prstGeom>
          <a:noFill/>
          <a:ln cap="flat" cmpd="sng" w="19050">
            <a:solidFill>
              <a:schemeClr val="dk2"/>
            </a:solidFill>
            <a:prstDash val="dash"/>
            <a:round/>
            <a:headEnd len="med" w="med" type="none"/>
            <a:tailEnd len="med" w="med" type="stealth"/>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5" name="Google Shape;785;p5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phần tử thuộc gói</a:t>
            </a:r>
            <a:endParaRPr/>
          </a:p>
        </p:txBody>
      </p:sp>
      <p:sp>
        <p:nvSpPr>
          <p:cNvPr id="786" name="Google Shape;786;p56"/>
          <p:cNvSpPr txBox="1"/>
          <p:nvPr/>
        </p:nvSpPr>
        <p:spPr>
          <a:xfrm>
            <a:off x="2306900" y="5364500"/>
            <a:ext cx="52899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1600">
                <a:solidFill>
                  <a:srgbClr val="434343"/>
                </a:solidFill>
              </a:rPr>
              <a:t>Các lựa chọn biểu diễn Shape và Point thuộc gói Types</a:t>
            </a:r>
            <a:endParaRPr i="1" sz="1600">
              <a:solidFill>
                <a:srgbClr val="434343"/>
              </a:solidFill>
            </a:endParaRPr>
          </a:p>
        </p:txBody>
      </p:sp>
      <p:sp>
        <p:nvSpPr>
          <p:cNvPr id="787" name="Google Shape;787;p56"/>
          <p:cNvSpPr txBox="1"/>
          <p:nvPr/>
        </p:nvSpPr>
        <p:spPr>
          <a:xfrm>
            <a:off x="3834225" y="2101650"/>
            <a:ext cx="1716900" cy="6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rgbClr val="434343"/>
                </a:solidFill>
              </a:rPr>
              <a:t>Ẩn nội dung của gói Types</a:t>
            </a:r>
            <a:endParaRPr sz="1600">
              <a:solidFill>
                <a:srgbClr val="434343"/>
              </a:solidFill>
            </a:endParaRPr>
          </a:p>
        </p:txBody>
      </p:sp>
      <p:sp>
        <p:nvSpPr>
          <p:cNvPr id="788" name="Google Shape;788;p56"/>
          <p:cNvSpPr/>
          <p:nvPr/>
        </p:nvSpPr>
        <p:spPr>
          <a:xfrm>
            <a:off x="4256000" y="1576950"/>
            <a:ext cx="985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Types</a:t>
            </a:r>
            <a:endParaRPr/>
          </a:p>
        </p:txBody>
      </p:sp>
      <p:sp>
        <p:nvSpPr>
          <p:cNvPr id="789" name="Google Shape;789;p56"/>
          <p:cNvSpPr/>
          <p:nvPr/>
        </p:nvSpPr>
        <p:spPr>
          <a:xfrm>
            <a:off x="4255992" y="1396732"/>
            <a:ext cx="332700" cy="174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6"/>
          <p:cNvSpPr/>
          <p:nvPr/>
        </p:nvSpPr>
        <p:spPr>
          <a:xfrm>
            <a:off x="1241453" y="3777679"/>
            <a:ext cx="3660300" cy="1444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1" name="Google Shape;791;p56"/>
          <p:cNvSpPr/>
          <p:nvPr/>
        </p:nvSpPr>
        <p:spPr>
          <a:xfrm>
            <a:off x="1241429" y="3294825"/>
            <a:ext cx="3061200" cy="480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Types</a:t>
            </a:r>
            <a:endParaRPr/>
          </a:p>
          <a:p>
            <a:pPr indent="0" lvl="0" marL="0" rtl="0" algn="ctr">
              <a:spcBef>
                <a:spcPts val="0"/>
              </a:spcBef>
              <a:spcAft>
                <a:spcPts val="0"/>
              </a:spcAft>
              <a:buNone/>
            </a:pPr>
            <a:r>
              <a:rPr lang="en-GB"/>
              <a:t>{uri = http://abc.com/models/Types}</a:t>
            </a:r>
            <a:endParaRPr/>
          </a:p>
        </p:txBody>
      </p:sp>
      <p:sp>
        <p:nvSpPr>
          <p:cNvPr id="792" name="Google Shape;792;p56"/>
          <p:cNvSpPr/>
          <p:nvPr/>
        </p:nvSpPr>
        <p:spPr>
          <a:xfrm>
            <a:off x="1470000" y="4003575"/>
            <a:ext cx="985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Shape</a:t>
            </a:r>
            <a:endParaRPr/>
          </a:p>
        </p:txBody>
      </p:sp>
      <p:sp>
        <p:nvSpPr>
          <p:cNvPr id="793" name="Google Shape;793;p56"/>
          <p:cNvSpPr/>
          <p:nvPr/>
        </p:nvSpPr>
        <p:spPr>
          <a:xfrm>
            <a:off x="3146400" y="4384575"/>
            <a:ext cx="985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Point</a:t>
            </a:r>
            <a:endParaRPr/>
          </a:p>
        </p:txBody>
      </p:sp>
      <p:sp>
        <p:nvSpPr>
          <p:cNvPr id="794" name="Google Shape;794;p56"/>
          <p:cNvSpPr/>
          <p:nvPr/>
        </p:nvSpPr>
        <p:spPr>
          <a:xfrm>
            <a:off x="6042012" y="3375853"/>
            <a:ext cx="1225500" cy="698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Types</a:t>
            </a:r>
            <a:endParaRPr/>
          </a:p>
        </p:txBody>
      </p:sp>
      <p:sp>
        <p:nvSpPr>
          <p:cNvPr id="795" name="Google Shape;795;p56"/>
          <p:cNvSpPr/>
          <p:nvPr/>
        </p:nvSpPr>
        <p:spPr>
          <a:xfrm>
            <a:off x="6042002" y="3142403"/>
            <a:ext cx="413700" cy="232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6"/>
          <p:cNvSpPr/>
          <p:nvPr/>
        </p:nvSpPr>
        <p:spPr>
          <a:xfrm>
            <a:off x="5356200" y="4689375"/>
            <a:ext cx="985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Shape</a:t>
            </a:r>
            <a:endParaRPr/>
          </a:p>
        </p:txBody>
      </p:sp>
      <p:sp>
        <p:nvSpPr>
          <p:cNvPr id="797" name="Google Shape;797;p56"/>
          <p:cNvSpPr/>
          <p:nvPr/>
        </p:nvSpPr>
        <p:spPr>
          <a:xfrm>
            <a:off x="7032600" y="4689375"/>
            <a:ext cx="985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Point</a:t>
            </a:r>
            <a:endParaRPr/>
          </a:p>
        </p:txBody>
      </p:sp>
      <p:sp>
        <p:nvSpPr>
          <p:cNvPr id="798" name="Google Shape;798;p56"/>
          <p:cNvSpPr/>
          <p:nvPr/>
        </p:nvSpPr>
        <p:spPr>
          <a:xfrm>
            <a:off x="6598725" y="4074275"/>
            <a:ext cx="174600" cy="174600"/>
          </a:xfrm>
          <a:prstGeom prst="flowChartO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99" name="Google Shape;799;p56"/>
          <p:cNvCxnSpPr>
            <a:stCxn id="796" idx="0"/>
            <a:endCxn id="798" idx="4"/>
          </p:cNvCxnSpPr>
          <p:nvPr/>
        </p:nvCxnSpPr>
        <p:spPr>
          <a:xfrm rot="-5400000">
            <a:off x="6047250" y="4050675"/>
            <a:ext cx="440400" cy="837000"/>
          </a:xfrm>
          <a:prstGeom prst="bentConnector3">
            <a:avLst>
              <a:gd fmla="val 50011" name="adj1"/>
            </a:avLst>
          </a:prstGeom>
          <a:noFill/>
          <a:ln cap="flat" cmpd="sng" w="9525">
            <a:solidFill>
              <a:schemeClr val="dk2"/>
            </a:solidFill>
            <a:prstDash val="solid"/>
            <a:round/>
            <a:headEnd len="med" w="med" type="none"/>
            <a:tailEnd len="med" w="med" type="none"/>
          </a:ln>
        </p:spPr>
      </p:cxnSp>
      <p:cxnSp>
        <p:nvCxnSpPr>
          <p:cNvPr id="800" name="Google Shape;800;p56"/>
          <p:cNvCxnSpPr>
            <a:stCxn id="797" idx="0"/>
            <a:endCxn id="798" idx="4"/>
          </p:cNvCxnSpPr>
          <p:nvPr/>
        </p:nvCxnSpPr>
        <p:spPr>
          <a:xfrm flipH="1" rot="5400000">
            <a:off x="6885450" y="4049475"/>
            <a:ext cx="440400" cy="839400"/>
          </a:xfrm>
          <a:prstGeom prst="bentConnector3">
            <a:avLst>
              <a:gd fmla="val 50011"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5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Quan hệ nhập - &lt;&lt;import&gt;&gt;</a:t>
            </a:r>
            <a:endParaRPr/>
          </a:p>
        </p:txBody>
      </p:sp>
      <p:sp>
        <p:nvSpPr>
          <p:cNvPr id="806" name="Google Shape;806;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07" name="Google Shape;807;p57"/>
          <p:cNvSpPr txBox="1"/>
          <p:nvPr/>
        </p:nvSpPr>
        <p:spPr>
          <a:xfrm>
            <a:off x="215300" y="3899500"/>
            <a:ext cx="8678700" cy="2246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GB" sz="2400">
                <a:solidFill>
                  <a:srgbClr val="666666"/>
                </a:solidFill>
              </a:rPr>
              <a:t>Các phần </a:t>
            </a:r>
            <a:r>
              <a:rPr lang="en-GB" sz="2400">
                <a:solidFill>
                  <a:srgbClr val="666666"/>
                </a:solidFill>
              </a:rPr>
              <a:t>tử</a:t>
            </a:r>
            <a:r>
              <a:rPr lang="en-GB" sz="2400">
                <a:solidFill>
                  <a:srgbClr val="666666"/>
                </a:solidFill>
              </a:rPr>
              <a:t> của gói Types được nhập vào gói ShoppingCart và sau đó được nhập vào Web</a:t>
            </a:r>
            <a:r>
              <a:rPr lang="en-GB" sz="2400">
                <a:solidFill>
                  <a:srgbClr val="666666"/>
                </a:solidFill>
              </a:rPr>
              <a:t>S</a:t>
            </a:r>
            <a:r>
              <a:rPr lang="en-GB" sz="2400">
                <a:solidFill>
                  <a:srgbClr val="666666"/>
                </a:solidFill>
              </a:rPr>
              <a:t>hop.</a:t>
            </a:r>
            <a:endParaRPr sz="2400">
              <a:solidFill>
                <a:srgbClr val="666666"/>
              </a:solidFill>
            </a:endParaRPr>
          </a:p>
          <a:p>
            <a:pPr indent="0" lvl="0" marL="0" rtl="0" algn="just">
              <a:spcBef>
                <a:spcPts val="0"/>
              </a:spcBef>
              <a:spcAft>
                <a:spcPts val="0"/>
              </a:spcAft>
              <a:buNone/>
            </a:pPr>
            <a:r>
              <a:rPr lang="en-GB" sz="2400">
                <a:solidFill>
                  <a:srgbClr val="666666"/>
                </a:solidFill>
              </a:rPr>
              <a:t>C</a:t>
            </a:r>
            <a:r>
              <a:rPr lang="en-GB" sz="2400">
                <a:solidFill>
                  <a:srgbClr val="666666"/>
                </a:solidFill>
              </a:rPr>
              <a:t>ác phần tử của Auxiliary chỉ có thể truy cập được từ ShoppingCart, </a:t>
            </a:r>
            <a:r>
              <a:rPr lang="en-GB" sz="2400">
                <a:solidFill>
                  <a:srgbClr val="666666"/>
                </a:solidFill>
              </a:rPr>
              <a:t>nhưng</a:t>
            </a:r>
            <a:r>
              <a:rPr lang="en-GB" sz="2400">
                <a:solidFill>
                  <a:srgbClr val="666666"/>
                </a:solidFill>
              </a:rPr>
              <a:t> không thể được từ WebShop.</a:t>
            </a:r>
            <a:endParaRPr sz="2400">
              <a:solidFill>
                <a:srgbClr val="666666"/>
              </a:solidFill>
            </a:endParaRPr>
          </a:p>
        </p:txBody>
      </p:sp>
      <p:sp>
        <p:nvSpPr>
          <p:cNvPr id="808" name="Google Shape;808;p57"/>
          <p:cNvSpPr/>
          <p:nvPr/>
        </p:nvSpPr>
        <p:spPr>
          <a:xfrm>
            <a:off x="674619" y="1624604"/>
            <a:ext cx="16122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Auxiliary</a:t>
            </a:r>
            <a:endParaRPr sz="1600"/>
          </a:p>
        </p:txBody>
      </p:sp>
      <p:sp>
        <p:nvSpPr>
          <p:cNvPr id="809" name="Google Shape;809;p57"/>
          <p:cNvSpPr/>
          <p:nvPr/>
        </p:nvSpPr>
        <p:spPr>
          <a:xfrm>
            <a:off x="674605" y="1396723"/>
            <a:ext cx="544200" cy="22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57"/>
          <p:cNvSpPr/>
          <p:nvPr/>
        </p:nvSpPr>
        <p:spPr>
          <a:xfrm>
            <a:off x="674619" y="2721351"/>
            <a:ext cx="16122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Types</a:t>
            </a:r>
            <a:endParaRPr sz="1600"/>
          </a:p>
        </p:txBody>
      </p:sp>
      <p:sp>
        <p:nvSpPr>
          <p:cNvPr id="811" name="Google Shape;811;p57"/>
          <p:cNvSpPr/>
          <p:nvPr/>
        </p:nvSpPr>
        <p:spPr>
          <a:xfrm>
            <a:off x="674605" y="2493471"/>
            <a:ext cx="544200" cy="22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7"/>
          <p:cNvSpPr/>
          <p:nvPr/>
        </p:nvSpPr>
        <p:spPr>
          <a:xfrm>
            <a:off x="3494019" y="2234204"/>
            <a:ext cx="16122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ShoppingCart</a:t>
            </a:r>
            <a:endParaRPr sz="1600"/>
          </a:p>
        </p:txBody>
      </p:sp>
      <p:sp>
        <p:nvSpPr>
          <p:cNvPr id="813" name="Google Shape;813;p57"/>
          <p:cNvSpPr/>
          <p:nvPr/>
        </p:nvSpPr>
        <p:spPr>
          <a:xfrm>
            <a:off x="3494005" y="2006323"/>
            <a:ext cx="544200" cy="22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7"/>
          <p:cNvSpPr/>
          <p:nvPr/>
        </p:nvSpPr>
        <p:spPr>
          <a:xfrm>
            <a:off x="6389619" y="2234204"/>
            <a:ext cx="16122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WebShop</a:t>
            </a:r>
            <a:endParaRPr sz="1600"/>
          </a:p>
        </p:txBody>
      </p:sp>
      <p:sp>
        <p:nvSpPr>
          <p:cNvPr id="815" name="Google Shape;815;p57"/>
          <p:cNvSpPr/>
          <p:nvPr/>
        </p:nvSpPr>
        <p:spPr>
          <a:xfrm>
            <a:off x="6389605" y="2006323"/>
            <a:ext cx="544200" cy="22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6" name="Google Shape;816;p57"/>
          <p:cNvCxnSpPr>
            <a:endCxn id="808" idx="3"/>
          </p:cNvCxnSpPr>
          <p:nvPr/>
        </p:nvCxnSpPr>
        <p:spPr>
          <a:xfrm rot="10800000">
            <a:off x="2286819" y="1956404"/>
            <a:ext cx="1218000" cy="461400"/>
          </a:xfrm>
          <a:prstGeom prst="straightConnector1">
            <a:avLst/>
          </a:prstGeom>
          <a:noFill/>
          <a:ln cap="flat" cmpd="sng" w="9525">
            <a:solidFill>
              <a:schemeClr val="dk2"/>
            </a:solidFill>
            <a:prstDash val="dash"/>
            <a:round/>
            <a:headEnd len="med" w="med" type="none"/>
            <a:tailEnd len="med" w="med" type="stealth"/>
          </a:ln>
        </p:spPr>
      </p:cxnSp>
      <p:cxnSp>
        <p:nvCxnSpPr>
          <p:cNvPr id="817" name="Google Shape;817;p57"/>
          <p:cNvCxnSpPr>
            <a:endCxn id="810" idx="3"/>
          </p:cNvCxnSpPr>
          <p:nvPr/>
        </p:nvCxnSpPr>
        <p:spPr>
          <a:xfrm flipH="1">
            <a:off x="2286819" y="2607351"/>
            <a:ext cx="1188000" cy="445800"/>
          </a:xfrm>
          <a:prstGeom prst="straightConnector1">
            <a:avLst/>
          </a:prstGeom>
          <a:noFill/>
          <a:ln cap="flat" cmpd="sng" w="9525">
            <a:solidFill>
              <a:schemeClr val="dk2"/>
            </a:solidFill>
            <a:prstDash val="dash"/>
            <a:round/>
            <a:headEnd len="med" w="med" type="none"/>
            <a:tailEnd len="med" w="med" type="stealth"/>
          </a:ln>
        </p:spPr>
      </p:cxnSp>
      <p:cxnSp>
        <p:nvCxnSpPr>
          <p:cNvPr id="818" name="Google Shape;818;p57"/>
          <p:cNvCxnSpPr>
            <a:stCxn id="814" idx="1"/>
            <a:endCxn id="812" idx="3"/>
          </p:cNvCxnSpPr>
          <p:nvPr/>
        </p:nvCxnSpPr>
        <p:spPr>
          <a:xfrm rot="10800000">
            <a:off x="5106219" y="2566004"/>
            <a:ext cx="1283400" cy="0"/>
          </a:xfrm>
          <a:prstGeom prst="straightConnector1">
            <a:avLst/>
          </a:prstGeom>
          <a:noFill/>
          <a:ln cap="flat" cmpd="sng" w="9525">
            <a:solidFill>
              <a:schemeClr val="dk2"/>
            </a:solidFill>
            <a:prstDash val="dash"/>
            <a:round/>
            <a:headEnd len="med" w="med" type="none"/>
            <a:tailEnd len="med" w="med" type="stealth"/>
          </a:ln>
        </p:spPr>
      </p:cxnSp>
      <p:sp>
        <p:nvSpPr>
          <p:cNvPr id="819" name="Google Shape;819;p57"/>
          <p:cNvSpPr txBox="1"/>
          <p:nvPr/>
        </p:nvSpPr>
        <p:spPr>
          <a:xfrm rot="1292521">
            <a:off x="2386650" y="1830305"/>
            <a:ext cx="1218192" cy="3282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&lt;&lt;access&gt;&gt;</a:t>
            </a:r>
            <a:endParaRPr>
              <a:solidFill>
                <a:schemeClr val="dk2"/>
              </a:solidFill>
            </a:endParaRPr>
          </a:p>
        </p:txBody>
      </p:sp>
      <p:sp>
        <p:nvSpPr>
          <p:cNvPr id="820" name="Google Shape;820;p57"/>
          <p:cNvSpPr txBox="1"/>
          <p:nvPr/>
        </p:nvSpPr>
        <p:spPr>
          <a:xfrm rot="-1251795">
            <a:off x="2410120" y="2733207"/>
            <a:ext cx="1218065" cy="32844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a:t>
            </a:r>
            <a:r>
              <a:rPr lang="en-GB">
                <a:solidFill>
                  <a:schemeClr val="dk2"/>
                </a:solidFill>
              </a:rPr>
              <a:t>import</a:t>
            </a:r>
            <a:r>
              <a:rPr lang="en-GB">
                <a:solidFill>
                  <a:schemeClr val="dk2"/>
                </a:solidFill>
              </a:rPr>
              <a:t>&gt;&gt;</a:t>
            </a:r>
            <a:endParaRPr>
              <a:solidFill>
                <a:schemeClr val="dk2"/>
              </a:solidFill>
            </a:endParaRPr>
          </a:p>
        </p:txBody>
      </p:sp>
      <p:sp>
        <p:nvSpPr>
          <p:cNvPr id="821" name="Google Shape;821;p57"/>
          <p:cNvSpPr txBox="1"/>
          <p:nvPr/>
        </p:nvSpPr>
        <p:spPr>
          <a:xfrm>
            <a:off x="5229525" y="2199890"/>
            <a:ext cx="12180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&lt;&lt;import&gt;&gt;</a:t>
            </a:r>
            <a:endParaRPr>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5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Quan hệ hợp nhất - &lt;&lt;merge&gt;&gt;</a:t>
            </a:r>
            <a:endParaRPr/>
          </a:p>
        </p:txBody>
      </p:sp>
      <p:sp>
        <p:nvSpPr>
          <p:cNvPr id="827" name="Google Shape;827;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28" name="Google Shape;828;p58"/>
          <p:cNvSpPr txBox="1"/>
          <p:nvPr/>
        </p:nvSpPr>
        <p:spPr>
          <a:xfrm>
            <a:off x="574150" y="5241850"/>
            <a:ext cx="8040900" cy="11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2"/>
                </a:solidFill>
              </a:rPr>
              <a:t>Hợp nhất các phần tử của A vào trong B.</a:t>
            </a:r>
            <a:endParaRPr sz="2600">
              <a:solidFill>
                <a:schemeClr val="dk2"/>
              </a:solidFill>
            </a:endParaRPr>
          </a:p>
        </p:txBody>
      </p:sp>
      <p:sp>
        <p:nvSpPr>
          <p:cNvPr id="829" name="Google Shape;829;p58"/>
          <p:cNvSpPr/>
          <p:nvPr/>
        </p:nvSpPr>
        <p:spPr>
          <a:xfrm>
            <a:off x="750819" y="1396004"/>
            <a:ext cx="16122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A</a:t>
            </a:r>
            <a:endParaRPr sz="1600"/>
          </a:p>
        </p:txBody>
      </p:sp>
      <p:sp>
        <p:nvSpPr>
          <p:cNvPr id="830" name="Google Shape;830;p58"/>
          <p:cNvSpPr/>
          <p:nvPr/>
        </p:nvSpPr>
        <p:spPr>
          <a:xfrm>
            <a:off x="750805" y="1168123"/>
            <a:ext cx="544200" cy="22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58"/>
          <p:cNvSpPr/>
          <p:nvPr/>
        </p:nvSpPr>
        <p:spPr>
          <a:xfrm>
            <a:off x="750819" y="4367804"/>
            <a:ext cx="16122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a:t>
            </a:r>
            <a:endParaRPr sz="1600"/>
          </a:p>
        </p:txBody>
      </p:sp>
      <p:sp>
        <p:nvSpPr>
          <p:cNvPr id="832" name="Google Shape;832;p58"/>
          <p:cNvSpPr/>
          <p:nvPr/>
        </p:nvSpPr>
        <p:spPr>
          <a:xfrm>
            <a:off x="750805" y="4139923"/>
            <a:ext cx="544200" cy="22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3" name="Google Shape;833;p58"/>
          <p:cNvCxnSpPr>
            <a:stCxn id="831" idx="0"/>
            <a:endCxn id="829" idx="2"/>
          </p:cNvCxnSpPr>
          <p:nvPr/>
        </p:nvCxnSpPr>
        <p:spPr>
          <a:xfrm rot="10800000">
            <a:off x="1556919" y="2059604"/>
            <a:ext cx="0" cy="2308200"/>
          </a:xfrm>
          <a:prstGeom prst="straightConnector1">
            <a:avLst/>
          </a:prstGeom>
          <a:noFill/>
          <a:ln cap="flat" cmpd="sng" w="9525">
            <a:solidFill>
              <a:schemeClr val="dk2"/>
            </a:solidFill>
            <a:prstDash val="dash"/>
            <a:round/>
            <a:headEnd len="med" w="med" type="none"/>
            <a:tailEnd len="med" w="med" type="triangle"/>
          </a:ln>
        </p:spPr>
      </p:cxnSp>
      <p:sp>
        <p:nvSpPr>
          <p:cNvPr id="834" name="Google Shape;834;p58"/>
          <p:cNvSpPr txBox="1"/>
          <p:nvPr/>
        </p:nvSpPr>
        <p:spPr>
          <a:xfrm rot="2366">
            <a:off x="273750" y="2793225"/>
            <a:ext cx="13077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a:t>
            </a:r>
            <a:r>
              <a:rPr lang="en-GB">
                <a:solidFill>
                  <a:schemeClr val="dk2"/>
                </a:solidFill>
              </a:rPr>
              <a:t>hợp nhất</a:t>
            </a:r>
            <a:r>
              <a:rPr lang="en-GB">
                <a:solidFill>
                  <a:schemeClr val="dk2"/>
                </a:solidFill>
              </a:rPr>
              <a:t>&gt;&gt;</a:t>
            </a:r>
            <a:endParaRPr>
              <a:solidFill>
                <a:schemeClr val="dk2"/>
              </a:solidFill>
            </a:endParaRPr>
          </a:p>
        </p:txBody>
      </p:sp>
      <p:sp>
        <p:nvSpPr>
          <p:cNvPr id="835" name="Google Shape;835;p58"/>
          <p:cNvSpPr/>
          <p:nvPr/>
        </p:nvSpPr>
        <p:spPr>
          <a:xfrm>
            <a:off x="3189226" y="1396000"/>
            <a:ext cx="18528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A</a:t>
            </a:r>
            <a:endParaRPr sz="1600"/>
          </a:p>
        </p:txBody>
      </p:sp>
      <p:sp>
        <p:nvSpPr>
          <p:cNvPr id="836" name="Google Shape;836;p58"/>
          <p:cNvSpPr/>
          <p:nvPr/>
        </p:nvSpPr>
        <p:spPr>
          <a:xfrm>
            <a:off x="3189200" y="950476"/>
            <a:ext cx="1004400" cy="43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gói được hợp nhất</a:t>
            </a:r>
            <a:endParaRPr/>
          </a:p>
        </p:txBody>
      </p:sp>
      <p:sp>
        <p:nvSpPr>
          <p:cNvPr id="837" name="Google Shape;837;p58"/>
          <p:cNvSpPr/>
          <p:nvPr/>
        </p:nvSpPr>
        <p:spPr>
          <a:xfrm>
            <a:off x="5777376" y="1351400"/>
            <a:ext cx="17802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a:t>
            </a:r>
            <a:endParaRPr sz="1600"/>
          </a:p>
        </p:txBody>
      </p:sp>
      <p:sp>
        <p:nvSpPr>
          <p:cNvPr id="838" name="Google Shape;838;p58"/>
          <p:cNvSpPr/>
          <p:nvPr/>
        </p:nvSpPr>
        <p:spPr>
          <a:xfrm>
            <a:off x="5777350" y="950475"/>
            <a:ext cx="1218300" cy="393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gói tiếp nhận</a:t>
            </a:r>
            <a:endParaRPr/>
          </a:p>
        </p:txBody>
      </p:sp>
      <p:sp>
        <p:nvSpPr>
          <p:cNvPr id="839" name="Google Shape;839;p58"/>
          <p:cNvSpPr/>
          <p:nvPr/>
        </p:nvSpPr>
        <p:spPr>
          <a:xfrm>
            <a:off x="4179827" y="4367800"/>
            <a:ext cx="2020200" cy="66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a:t>
            </a:r>
            <a:endParaRPr sz="1600"/>
          </a:p>
        </p:txBody>
      </p:sp>
      <p:sp>
        <p:nvSpPr>
          <p:cNvPr id="840" name="Google Shape;840;p58"/>
          <p:cNvSpPr/>
          <p:nvPr/>
        </p:nvSpPr>
        <p:spPr>
          <a:xfrm>
            <a:off x="4179800" y="3922275"/>
            <a:ext cx="1131900" cy="43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gói kết quả</a:t>
            </a:r>
            <a:endParaRPr/>
          </a:p>
        </p:txBody>
      </p:sp>
      <p:sp>
        <p:nvSpPr>
          <p:cNvPr id="841" name="Google Shape;841;p58"/>
          <p:cNvSpPr/>
          <p:nvPr/>
        </p:nvSpPr>
        <p:spPr>
          <a:xfrm>
            <a:off x="4872400" y="2647450"/>
            <a:ext cx="12183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hợp nhất gói</a:t>
            </a:r>
            <a:endParaRPr/>
          </a:p>
        </p:txBody>
      </p:sp>
      <p:cxnSp>
        <p:nvCxnSpPr>
          <p:cNvPr id="842" name="Google Shape;842;p58"/>
          <p:cNvCxnSpPr>
            <a:stCxn id="835" idx="2"/>
            <a:endCxn id="841" idx="1"/>
          </p:cNvCxnSpPr>
          <p:nvPr/>
        </p:nvCxnSpPr>
        <p:spPr>
          <a:xfrm>
            <a:off x="4115626" y="2059600"/>
            <a:ext cx="935100" cy="699600"/>
          </a:xfrm>
          <a:prstGeom prst="straightConnector1">
            <a:avLst/>
          </a:prstGeom>
          <a:noFill/>
          <a:ln cap="flat" cmpd="sng" w="9525">
            <a:solidFill>
              <a:schemeClr val="dk2"/>
            </a:solidFill>
            <a:prstDash val="dash"/>
            <a:round/>
            <a:headEnd len="med" w="med" type="none"/>
            <a:tailEnd len="med" w="med" type="triangle"/>
          </a:ln>
        </p:spPr>
      </p:cxnSp>
      <p:cxnSp>
        <p:nvCxnSpPr>
          <p:cNvPr id="843" name="Google Shape;843;p58"/>
          <p:cNvCxnSpPr>
            <a:stCxn id="837" idx="2"/>
            <a:endCxn id="841" idx="7"/>
          </p:cNvCxnSpPr>
          <p:nvPr/>
        </p:nvCxnSpPr>
        <p:spPr>
          <a:xfrm flipH="1">
            <a:off x="5912376" y="2015000"/>
            <a:ext cx="755100" cy="744300"/>
          </a:xfrm>
          <a:prstGeom prst="straightConnector1">
            <a:avLst/>
          </a:prstGeom>
          <a:noFill/>
          <a:ln cap="flat" cmpd="sng" w="9525">
            <a:solidFill>
              <a:schemeClr val="dk2"/>
            </a:solidFill>
            <a:prstDash val="dash"/>
            <a:round/>
            <a:headEnd len="med" w="med" type="none"/>
            <a:tailEnd len="med" w="med" type="triangle"/>
          </a:ln>
        </p:spPr>
      </p:cxnSp>
      <p:cxnSp>
        <p:nvCxnSpPr>
          <p:cNvPr id="844" name="Google Shape;844;p58"/>
          <p:cNvCxnSpPr>
            <a:stCxn id="841" idx="4"/>
          </p:cNvCxnSpPr>
          <p:nvPr/>
        </p:nvCxnSpPr>
        <p:spPr>
          <a:xfrm>
            <a:off x="5481550" y="3410950"/>
            <a:ext cx="0" cy="953400"/>
          </a:xfrm>
          <a:prstGeom prst="straightConnector1">
            <a:avLst/>
          </a:prstGeom>
          <a:noFill/>
          <a:ln cap="flat" cmpd="sng" w="9525">
            <a:solidFill>
              <a:schemeClr val="dk2"/>
            </a:solidFill>
            <a:prstDash val="dash"/>
            <a:round/>
            <a:headEnd len="med" w="med" type="none"/>
            <a:tailEnd len="med" w="med" type="triangle"/>
          </a:ln>
        </p:spPr>
      </p:cxnSp>
      <p:cxnSp>
        <p:nvCxnSpPr>
          <p:cNvPr id="845" name="Google Shape;845;p58"/>
          <p:cNvCxnSpPr/>
          <p:nvPr/>
        </p:nvCxnSpPr>
        <p:spPr>
          <a:xfrm flipH="1">
            <a:off x="5910600" y="2018550"/>
            <a:ext cx="1307700" cy="2316000"/>
          </a:xfrm>
          <a:prstGeom prst="straightConnector1">
            <a:avLst/>
          </a:prstGeom>
          <a:noFill/>
          <a:ln cap="flat" cmpd="sng" w="9525">
            <a:solidFill>
              <a:schemeClr val="dk2"/>
            </a:solidFill>
            <a:prstDash val="dash"/>
            <a:round/>
            <a:headEnd len="med" w="med" type="none"/>
            <a:tailEnd len="med" w="med" type="triangle"/>
          </a:ln>
        </p:spPr>
      </p:cxnSp>
      <p:sp>
        <p:nvSpPr>
          <p:cNvPr id="846" name="Google Shape;846;p58"/>
          <p:cNvSpPr txBox="1"/>
          <p:nvPr/>
        </p:nvSpPr>
        <p:spPr>
          <a:xfrm rot="2837">
            <a:off x="6492975" y="3129150"/>
            <a:ext cx="14541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a:t>
            </a:r>
            <a:r>
              <a:rPr lang="en-GB">
                <a:solidFill>
                  <a:schemeClr val="dk2"/>
                </a:solidFill>
              </a:rPr>
              <a:t>trở thành</a:t>
            </a:r>
            <a:r>
              <a:rPr lang="en-GB">
                <a:solidFill>
                  <a:schemeClr val="dk2"/>
                </a:solidFill>
              </a:rPr>
              <a:t>&gt;&gt;</a:t>
            </a:r>
            <a:endParaRPr>
              <a:solidFill>
                <a:schemeClr val="dk2"/>
              </a:solidFill>
            </a:endParaRPr>
          </a:p>
        </p:txBody>
      </p:sp>
      <p:sp>
        <p:nvSpPr>
          <p:cNvPr id="847" name="Google Shape;847;p58"/>
          <p:cNvSpPr/>
          <p:nvPr/>
        </p:nvSpPr>
        <p:spPr>
          <a:xfrm>
            <a:off x="2716175" y="2897000"/>
            <a:ext cx="935100" cy="5247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5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53" name="Google Shape;853;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54" name="Google Shape;854;p59"/>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Mô-đun hóa hệ thống</a:t>
            </a:r>
            <a:endParaRPr/>
          </a:p>
          <a:p>
            <a:pPr indent="-381000" lvl="0" marL="457200" rtl="0" algn="l">
              <a:spcBef>
                <a:spcPts val="0"/>
              </a:spcBef>
              <a:spcAft>
                <a:spcPts val="0"/>
              </a:spcAft>
              <a:buSzPts val="2400"/>
              <a:buChar char="●"/>
            </a:pPr>
            <a:r>
              <a:rPr lang="en-GB"/>
              <a:t>Các thành phần kiến trúc Hệ thống</a:t>
            </a:r>
            <a:endParaRPr/>
          </a:p>
          <a:p>
            <a:pPr indent="-381000" lvl="0" marL="457200" rtl="0" algn="l">
              <a:spcBef>
                <a:spcPts val="0"/>
              </a:spcBef>
              <a:spcAft>
                <a:spcPts val="0"/>
              </a:spcAft>
              <a:buSzPts val="2400"/>
              <a:buChar char="●"/>
            </a:pPr>
            <a:r>
              <a:rPr lang="en-GB"/>
              <a:t>Mẫu kiến trúc</a:t>
            </a:r>
            <a:endParaRPr/>
          </a:p>
          <a:p>
            <a:pPr indent="-381000" lvl="0" marL="457200" rtl="0" algn="l">
              <a:spcBef>
                <a:spcPts val="0"/>
              </a:spcBef>
              <a:spcAft>
                <a:spcPts val="0"/>
              </a:spcAft>
              <a:buSzPts val="2400"/>
              <a:buChar char="●"/>
            </a:pPr>
            <a:r>
              <a:rPr lang="en-GB"/>
              <a:t>Các sơ đồ UML</a:t>
            </a:r>
            <a:endParaRPr/>
          </a:p>
          <a:p>
            <a:pPr indent="-368300" lvl="1" marL="914400" rtl="0" algn="l">
              <a:spcBef>
                <a:spcPts val="0"/>
              </a:spcBef>
              <a:spcAft>
                <a:spcPts val="0"/>
              </a:spcAft>
              <a:buSzPts val="2200"/>
              <a:buChar char="○"/>
            </a:pPr>
            <a:r>
              <a:rPr lang="en-GB"/>
              <a:t>Sơ đồ gói</a:t>
            </a:r>
            <a:endParaRPr/>
          </a:p>
          <a:p>
            <a:pPr indent="-368300" lvl="1" marL="914400" rtl="0" algn="l">
              <a:spcBef>
                <a:spcPts val="0"/>
              </a:spcBef>
              <a:spcAft>
                <a:spcPts val="0"/>
              </a:spcAft>
              <a:buSzPts val="2200"/>
              <a:buChar char="○"/>
            </a:pPr>
            <a:r>
              <a:rPr lang="en-GB"/>
              <a:t>Sơ đồ thành phần</a:t>
            </a:r>
            <a:endParaRPr/>
          </a:p>
          <a:p>
            <a:pPr indent="-368300" lvl="1" marL="914400" rtl="0" algn="l">
              <a:spcBef>
                <a:spcPts val="0"/>
              </a:spcBef>
              <a:spcAft>
                <a:spcPts val="0"/>
              </a:spcAft>
              <a:buSzPts val="2200"/>
              <a:buChar char="○"/>
            </a:pPr>
            <a:r>
              <a:rPr lang="en-GB"/>
              <a:t>Sơ đồ triển khai</a:t>
            </a:r>
            <a:endParaRPr/>
          </a:p>
        </p:txBody>
      </p:sp>
      <p:sp>
        <p:nvSpPr>
          <p:cNvPr id="855" name="Google Shape;855;p59"/>
          <p:cNvSpPr/>
          <p:nvPr/>
        </p:nvSpPr>
        <p:spPr>
          <a:xfrm>
            <a:off x="281700" y="2794925"/>
            <a:ext cx="6629700" cy="810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60"/>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Sơ đồ thành phần biểu diễn các thành phần khác nhau của hệ thống cùng với các giao diện và các mối quan hệ.</a:t>
            </a:r>
            <a:endParaRPr i="1"/>
          </a:p>
          <a:p>
            <a:pPr indent="-381000" lvl="0" marL="457200" rtl="0" algn="just">
              <a:spcBef>
                <a:spcPts val="0"/>
              </a:spcBef>
              <a:spcAft>
                <a:spcPts val="0"/>
              </a:spcAft>
              <a:buSzPts val="2400"/>
              <a:buChar char="●"/>
            </a:pPr>
            <a:r>
              <a:rPr lang="en-GB"/>
              <a:t>Thành phần/component biểu diễn một mô-đun hệ thống, đóng gói đầy đủ nội dung của nó.</a:t>
            </a:r>
            <a:endParaRPr/>
          </a:p>
          <a:p>
            <a:pPr indent="-381000" lvl="0" marL="457200" rtl="0" algn="just">
              <a:spcBef>
                <a:spcPts val="0"/>
              </a:spcBef>
              <a:spcAft>
                <a:spcPts val="0"/>
              </a:spcAft>
              <a:buSzPts val="2400"/>
              <a:buChar char="●"/>
            </a:pPr>
            <a:r>
              <a:rPr lang="en-GB"/>
              <a:t>Hành vi của thành phần được xác định bằng các giao diện được cung cấp và được yêu cầu. </a:t>
            </a:r>
            <a:endParaRPr/>
          </a:p>
          <a:p>
            <a:pPr indent="-381000" lvl="0" marL="457200" rtl="0" algn="just">
              <a:spcBef>
                <a:spcPts val="0"/>
              </a:spcBef>
              <a:spcAft>
                <a:spcPts val="0"/>
              </a:spcAft>
              <a:buSzPts val="2400"/>
              <a:buChar char="●"/>
            </a:pPr>
            <a:r>
              <a:rPr lang="en-GB"/>
              <a:t>Mỗi thành phần trong môi trường của nó có thể được thay thế bằng thành phần khác với các giao diện tương thích.</a:t>
            </a:r>
            <a:endParaRPr/>
          </a:p>
          <a:p>
            <a:pPr indent="-381000" lvl="0" marL="457200" rtl="0" algn="just">
              <a:spcBef>
                <a:spcPts val="0"/>
              </a:spcBef>
              <a:spcAft>
                <a:spcPts val="0"/>
              </a:spcAft>
              <a:buSzPts val="2400"/>
              <a:buChar char="●"/>
            </a:pPr>
            <a:r>
              <a:rPr lang="en-GB"/>
              <a:t>Mỗi thành phần có thể được thể hiện như một hoặc nhiều thành phẩm.</a:t>
            </a:r>
            <a:endParaRPr/>
          </a:p>
        </p:txBody>
      </p:sp>
      <p:sp>
        <p:nvSpPr>
          <p:cNvPr id="861" name="Google Shape;861;p6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thành phần</a:t>
            </a:r>
            <a:endParaRPr/>
          </a:p>
        </p:txBody>
      </p:sp>
      <p:sp>
        <p:nvSpPr>
          <p:cNvPr id="862" name="Google Shape;862;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61"/>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a:t>
            </a:r>
            <a:r>
              <a:rPr lang="en-GB"/>
              <a:t>iểu diễn thành phần:</a:t>
            </a:r>
            <a:endParaRPr/>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381000" lvl="0" marL="457200" rtl="0" algn="l">
              <a:spcBef>
                <a:spcPts val="0"/>
              </a:spcBef>
              <a:spcAft>
                <a:spcPts val="0"/>
              </a:spcAft>
              <a:buSzPts val="2400"/>
              <a:buChar char="●"/>
            </a:pPr>
            <a:r>
              <a:rPr lang="en-GB"/>
              <a:t>Các g</a:t>
            </a:r>
            <a:r>
              <a:rPr lang="en-GB"/>
              <a:t>iao diện được biểu diễn bằng </a:t>
            </a:r>
            <a:r>
              <a:rPr lang="en-GB"/>
              <a:t>hình</a:t>
            </a:r>
            <a:r>
              <a:rPr lang="en-GB"/>
              <a:t> tròn (</a:t>
            </a:r>
            <a:r>
              <a:rPr lang="en-GB"/>
              <a:t>cây kẹo mút - cung cấp)</a:t>
            </a:r>
            <a:r>
              <a:rPr lang="en-GB"/>
              <a:t> và nửa đường tròn (</a:t>
            </a:r>
            <a:r>
              <a:rPr lang="en-GB"/>
              <a:t>ổ cắm - yêu cầu)</a:t>
            </a:r>
            <a:r>
              <a:rPr lang="en-GB"/>
              <a:t>.</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GB"/>
              <a:t>Các quan hệ:</a:t>
            </a:r>
            <a:endParaRPr/>
          </a:p>
        </p:txBody>
      </p:sp>
      <p:sp>
        <p:nvSpPr>
          <p:cNvPr id="868" name="Google Shape;868;p61"/>
          <p:cNvSpPr/>
          <p:nvPr/>
        </p:nvSpPr>
        <p:spPr>
          <a:xfrm>
            <a:off x="6645965" y="3110425"/>
            <a:ext cx="14514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Tên</a:t>
            </a:r>
            <a:endParaRPr sz="1600"/>
          </a:p>
        </p:txBody>
      </p:sp>
      <p:sp>
        <p:nvSpPr>
          <p:cNvPr id="869" name="Google Shape;869;p61"/>
          <p:cNvSpPr/>
          <p:nvPr/>
        </p:nvSpPr>
        <p:spPr>
          <a:xfrm>
            <a:off x="2593633" y="3110425"/>
            <a:ext cx="13791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Tên</a:t>
            </a:r>
            <a:endParaRPr sz="1600"/>
          </a:p>
        </p:txBody>
      </p:sp>
      <p:sp>
        <p:nvSpPr>
          <p:cNvPr id="870" name="Google Shape;870;p61"/>
          <p:cNvSpPr/>
          <p:nvPr/>
        </p:nvSpPr>
        <p:spPr>
          <a:xfrm>
            <a:off x="6553200" y="1414900"/>
            <a:ext cx="16863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p:txBody>
      </p:sp>
      <p:sp>
        <p:nvSpPr>
          <p:cNvPr id="871" name="Google Shape;871;p6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thành phần: </a:t>
            </a:r>
            <a:r>
              <a:rPr lang="en-GB"/>
              <a:t>Hệ</a:t>
            </a:r>
            <a:r>
              <a:rPr lang="en-GB"/>
              <a:t> ký hiệu</a:t>
            </a:r>
            <a:endParaRPr/>
          </a:p>
        </p:txBody>
      </p:sp>
      <p:sp>
        <p:nvSpPr>
          <p:cNvPr id="872" name="Google Shape;872;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873" name="Google Shape;873;p61"/>
          <p:cNvGrpSpPr/>
          <p:nvPr/>
        </p:nvGrpSpPr>
        <p:grpSpPr>
          <a:xfrm>
            <a:off x="1869499" y="1407447"/>
            <a:ext cx="1378941" cy="633293"/>
            <a:chOff x="5893421" y="2062975"/>
            <a:chExt cx="2191229" cy="929400"/>
          </a:xfrm>
        </p:grpSpPr>
        <p:sp>
          <p:nvSpPr>
            <p:cNvPr id="874" name="Google Shape;874;p61"/>
            <p:cNvSpPr/>
            <p:nvPr/>
          </p:nvSpPr>
          <p:spPr>
            <a:xfrm>
              <a:off x="6161050" y="2062975"/>
              <a:ext cx="1923600" cy="92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5" name="Google Shape;875;p61"/>
            <p:cNvSpPr/>
            <p:nvPr/>
          </p:nvSpPr>
          <p:spPr>
            <a:xfrm>
              <a:off x="5893421" y="2215375"/>
              <a:ext cx="548700" cy="1542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876" name="Google Shape;876;p61"/>
            <p:cNvSpPr/>
            <p:nvPr/>
          </p:nvSpPr>
          <p:spPr>
            <a:xfrm>
              <a:off x="5893421" y="2520175"/>
              <a:ext cx="548700" cy="1542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grpSp>
      <p:sp>
        <p:nvSpPr>
          <p:cNvPr id="877" name="Google Shape;877;p61"/>
          <p:cNvSpPr/>
          <p:nvPr/>
        </p:nvSpPr>
        <p:spPr>
          <a:xfrm>
            <a:off x="4588575" y="1414900"/>
            <a:ext cx="16125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p:txBody>
      </p:sp>
      <p:grpSp>
        <p:nvGrpSpPr>
          <p:cNvPr id="878" name="Google Shape;878;p61"/>
          <p:cNvGrpSpPr/>
          <p:nvPr/>
        </p:nvGrpSpPr>
        <p:grpSpPr>
          <a:xfrm>
            <a:off x="7942684" y="1483431"/>
            <a:ext cx="253440" cy="250500"/>
            <a:chOff x="3861221" y="2397831"/>
            <a:chExt cx="253440" cy="250500"/>
          </a:xfrm>
        </p:grpSpPr>
        <p:sp>
          <p:nvSpPr>
            <p:cNvPr id="879" name="Google Shape;879;p61"/>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61"/>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1" name="Google Shape;881;p61"/>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82" name="Google Shape;882;p61"/>
          <p:cNvSpPr/>
          <p:nvPr/>
        </p:nvSpPr>
        <p:spPr>
          <a:xfrm>
            <a:off x="2287115" y="3330481"/>
            <a:ext cx="209700" cy="20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3" name="Google Shape;883;p61"/>
          <p:cNvCxnSpPr>
            <a:endCxn id="882" idx="2"/>
          </p:cNvCxnSpPr>
          <p:nvPr/>
        </p:nvCxnSpPr>
        <p:spPr>
          <a:xfrm>
            <a:off x="2076215" y="3435331"/>
            <a:ext cx="210900" cy="0"/>
          </a:xfrm>
          <a:prstGeom prst="straightConnector1">
            <a:avLst/>
          </a:prstGeom>
          <a:noFill/>
          <a:ln cap="flat" cmpd="sng" w="9525">
            <a:solidFill>
              <a:schemeClr val="dk2"/>
            </a:solidFill>
            <a:prstDash val="solid"/>
            <a:round/>
            <a:headEnd len="med" w="med" type="none"/>
            <a:tailEnd len="med" w="med" type="none"/>
          </a:ln>
        </p:spPr>
      </p:cxnSp>
      <p:sp>
        <p:nvSpPr>
          <p:cNvPr id="884" name="Google Shape;884;p61"/>
          <p:cNvSpPr/>
          <p:nvPr/>
        </p:nvSpPr>
        <p:spPr>
          <a:xfrm>
            <a:off x="6342020" y="3330481"/>
            <a:ext cx="209700" cy="20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5" name="Google Shape;885;p61"/>
          <p:cNvCxnSpPr>
            <a:stCxn id="886" idx="3"/>
            <a:endCxn id="884" idx="2"/>
          </p:cNvCxnSpPr>
          <p:nvPr/>
        </p:nvCxnSpPr>
        <p:spPr>
          <a:xfrm>
            <a:off x="5980220" y="3435031"/>
            <a:ext cx="361800" cy="300"/>
          </a:xfrm>
          <a:prstGeom prst="straightConnector1">
            <a:avLst/>
          </a:prstGeom>
          <a:noFill/>
          <a:ln cap="flat" cmpd="sng" w="9525">
            <a:solidFill>
              <a:schemeClr val="dk2"/>
            </a:solidFill>
            <a:prstDash val="solid"/>
            <a:round/>
            <a:headEnd len="med" w="med" type="none"/>
            <a:tailEnd len="med" w="med" type="none"/>
          </a:ln>
        </p:spPr>
      </p:cxnSp>
      <p:sp>
        <p:nvSpPr>
          <p:cNvPr id="887" name="Google Shape;887;p61"/>
          <p:cNvSpPr/>
          <p:nvPr/>
        </p:nvSpPr>
        <p:spPr>
          <a:xfrm>
            <a:off x="6429575" y="3330481"/>
            <a:ext cx="209700" cy="2097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8" name="Google Shape;888;p61"/>
          <p:cNvCxnSpPr/>
          <p:nvPr/>
        </p:nvCxnSpPr>
        <p:spPr>
          <a:xfrm>
            <a:off x="930300" y="5742017"/>
            <a:ext cx="1236900" cy="0"/>
          </a:xfrm>
          <a:prstGeom prst="straightConnector1">
            <a:avLst/>
          </a:prstGeom>
          <a:noFill/>
          <a:ln cap="flat" cmpd="sng" w="19050">
            <a:solidFill>
              <a:schemeClr val="dk2"/>
            </a:solidFill>
            <a:prstDash val="lgDash"/>
            <a:round/>
            <a:headEnd len="med" w="med" type="none"/>
            <a:tailEnd len="med" w="med" type="stealth"/>
          </a:ln>
        </p:spPr>
      </p:cxnSp>
      <p:sp>
        <p:nvSpPr>
          <p:cNvPr id="889" name="Google Shape;889;p61"/>
          <p:cNvSpPr txBox="1"/>
          <p:nvPr/>
        </p:nvSpPr>
        <p:spPr>
          <a:xfrm>
            <a:off x="485750" y="3778150"/>
            <a:ext cx="1833900" cy="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Tri</a:t>
            </a:r>
            <a:r>
              <a:rPr lang="en-GB"/>
              <a:t>ển khai giao diện</a:t>
            </a:r>
            <a:endParaRPr/>
          </a:p>
        </p:txBody>
      </p:sp>
      <p:sp>
        <p:nvSpPr>
          <p:cNvPr id="890" name="Google Shape;890;p61"/>
          <p:cNvSpPr txBox="1"/>
          <p:nvPr/>
        </p:nvSpPr>
        <p:spPr>
          <a:xfrm>
            <a:off x="4547325" y="3778150"/>
            <a:ext cx="1833900" cy="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Sử dụng</a:t>
            </a:r>
            <a:r>
              <a:rPr lang="en-GB"/>
              <a:t> </a:t>
            </a:r>
            <a:r>
              <a:rPr lang="en-GB"/>
              <a:t>giao diện</a:t>
            </a:r>
            <a:endParaRPr/>
          </a:p>
        </p:txBody>
      </p:sp>
      <p:sp>
        <p:nvSpPr>
          <p:cNvPr id="891" name="Google Shape;891;p61"/>
          <p:cNvSpPr txBox="1"/>
          <p:nvPr/>
        </p:nvSpPr>
        <p:spPr>
          <a:xfrm>
            <a:off x="2619350" y="3778150"/>
            <a:ext cx="1514400" cy="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Cung cấp cổng</a:t>
            </a:r>
            <a:endParaRPr/>
          </a:p>
        </p:txBody>
      </p:sp>
      <p:sp>
        <p:nvSpPr>
          <p:cNvPr id="892" name="Google Shape;892;p61"/>
          <p:cNvSpPr/>
          <p:nvPr/>
        </p:nvSpPr>
        <p:spPr>
          <a:xfrm>
            <a:off x="3924080" y="3374575"/>
            <a:ext cx="98400" cy="1050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893" name="Google Shape;893;p61"/>
          <p:cNvSpPr/>
          <p:nvPr/>
        </p:nvSpPr>
        <p:spPr>
          <a:xfrm>
            <a:off x="8459315" y="3330481"/>
            <a:ext cx="209700" cy="20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4" name="Google Shape;894;p61"/>
          <p:cNvCxnSpPr>
            <a:stCxn id="895" idx="3"/>
            <a:endCxn id="893" idx="2"/>
          </p:cNvCxnSpPr>
          <p:nvPr/>
        </p:nvCxnSpPr>
        <p:spPr>
          <a:xfrm>
            <a:off x="8097515" y="3435031"/>
            <a:ext cx="361800" cy="300"/>
          </a:xfrm>
          <a:prstGeom prst="straightConnector1">
            <a:avLst/>
          </a:prstGeom>
          <a:noFill/>
          <a:ln cap="flat" cmpd="sng" w="9525">
            <a:solidFill>
              <a:schemeClr val="dk2"/>
            </a:solidFill>
            <a:prstDash val="solid"/>
            <a:round/>
            <a:headEnd len="med" w="med" type="none"/>
            <a:tailEnd len="med" w="med" type="none"/>
          </a:ln>
        </p:spPr>
      </p:cxnSp>
      <p:sp>
        <p:nvSpPr>
          <p:cNvPr id="896" name="Google Shape;896;p61"/>
          <p:cNvSpPr/>
          <p:nvPr/>
        </p:nvSpPr>
        <p:spPr>
          <a:xfrm>
            <a:off x="8583140" y="3330481"/>
            <a:ext cx="209700" cy="2097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61"/>
          <p:cNvSpPr txBox="1"/>
          <p:nvPr/>
        </p:nvSpPr>
        <p:spPr>
          <a:xfrm>
            <a:off x="6896325" y="3778150"/>
            <a:ext cx="1514400" cy="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Yêu cầu cổng</a:t>
            </a:r>
            <a:endParaRPr/>
          </a:p>
        </p:txBody>
      </p:sp>
      <p:sp>
        <p:nvSpPr>
          <p:cNvPr id="898" name="Google Shape;898;p61"/>
          <p:cNvSpPr/>
          <p:nvPr/>
        </p:nvSpPr>
        <p:spPr>
          <a:xfrm>
            <a:off x="8048862" y="3384558"/>
            <a:ext cx="98400" cy="1050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899" name="Google Shape;899;p61"/>
          <p:cNvSpPr txBox="1"/>
          <p:nvPr/>
        </p:nvSpPr>
        <p:spPr>
          <a:xfrm>
            <a:off x="2302575" y="5478500"/>
            <a:ext cx="2070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Phụ thuộc/ Sử dụng</a:t>
            </a:r>
            <a:endParaRPr sz="1600">
              <a:solidFill>
                <a:schemeClr val="dk2"/>
              </a:solidFill>
            </a:endParaRPr>
          </a:p>
        </p:txBody>
      </p:sp>
      <p:cxnSp>
        <p:nvCxnSpPr>
          <p:cNvPr id="900" name="Google Shape;900;p61"/>
          <p:cNvCxnSpPr/>
          <p:nvPr/>
        </p:nvCxnSpPr>
        <p:spPr>
          <a:xfrm>
            <a:off x="4940300" y="5731717"/>
            <a:ext cx="1108200" cy="11400"/>
          </a:xfrm>
          <a:prstGeom prst="straightConnector1">
            <a:avLst/>
          </a:prstGeom>
          <a:noFill/>
          <a:ln cap="flat" cmpd="sng" w="19050">
            <a:solidFill>
              <a:schemeClr val="dk2"/>
            </a:solidFill>
            <a:prstDash val="lgDash"/>
            <a:round/>
            <a:headEnd len="med" w="med" type="none"/>
            <a:tailEnd len="med" w="med" type="none"/>
          </a:ln>
        </p:spPr>
      </p:cxnSp>
      <p:sp>
        <p:nvSpPr>
          <p:cNvPr id="901" name="Google Shape;901;p61"/>
          <p:cNvSpPr txBox="1"/>
          <p:nvPr/>
        </p:nvSpPr>
        <p:spPr>
          <a:xfrm>
            <a:off x="6188775" y="5478492"/>
            <a:ext cx="11268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Triển khai</a:t>
            </a:r>
            <a:endParaRPr sz="1600">
              <a:solidFill>
                <a:schemeClr val="dk2"/>
              </a:solidFill>
            </a:endParaRPr>
          </a:p>
        </p:txBody>
      </p:sp>
      <p:sp>
        <p:nvSpPr>
          <p:cNvPr id="902" name="Google Shape;902;p61"/>
          <p:cNvSpPr/>
          <p:nvPr/>
        </p:nvSpPr>
        <p:spPr>
          <a:xfrm rot="5400000">
            <a:off x="6043700" y="5668167"/>
            <a:ext cx="159600" cy="150000"/>
          </a:xfrm>
          <a:prstGeom prst="triangle">
            <a:avLst>
              <a:gd fmla="val 50000"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03" name="Google Shape;903;p61"/>
          <p:cNvCxnSpPr/>
          <p:nvPr/>
        </p:nvCxnSpPr>
        <p:spPr>
          <a:xfrm>
            <a:off x="914780" y="6254450"/>
            <a:ext cx="413700" cy="2700"/>
          </a:xfrm>
          <a:prstGeom prst="straightConnector1">
            <a:avLst/>
          </a:prstGeom>
          <a:noFill/>
          <a:ln cap="flat" cmpd="sng" w="9525">
            <a:solidFill>
              <a:schemeClr val="dk2"/>
            </a:solidFill>
            <a:prstDash val="solid"/>
            <a:round/>
            <a:headEnd len="med" w="med" type="none"/>
            <a:tailEnd len="med" w="med" type="none"/>
          </a:ln>
        </p:spPr>
      </p:cxnSp>
      <p:sp>
        <p:nvSpPr>
          <p:cNvPr id="904" name="Google Shape;904;p61"/>
          <p:cNvSpPr/>
          <p:nvPr/>
        </p:nvSpPr>
        <p:spPr>
          <a:xfrm>
            <a:off x="1400375" y="6149881"/>
            <a:ext cx="209700" cy="2097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1"/>
          <p:cNvSpPr/>
          <p:nvPr/>
        </p:nvSpPr>
        <p:spPr>
          <a:xfrm>
            <a:off x="1428950" y="6149881"/>
            <a:ext cx="209700" cy="20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1"/>
          <p:cNvSpPr/>
          <p:nvPr/>
        </p:nvSpPr>
        <p:spPr>
          <a:xfrm>
            <a:off x="1325180" y="6077450"/>
            <a:ext cx="361800" cy="361800"/>
          </a:xfrm>
          <a:prstGeom prst="arc">
            <a:avLst>
              <a:gd fmla="val 4856945" name="adj1"/>
              <a:gd fmla="val 1687818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07" name="Google Shape;907;p61"/>
          <p:cNvCxnSpPr>
            <a:stCxn id="905" idx="6"/>
          </p:cNvCxnSpPr>
          <p:nvPr/>
        </p:nvCxnSpPr>
        <p:spPr>
          <a:xfrm>
            <a:off x="1638650" y="6254731"/>
            <a:ext cx="518400" cy="0"/>
          </a:xfrm>
          <a:prstGeom prst="straightConnector1">
            <a:avLst/>
          </a:prstGeom>
          <a:noFill/>
          <a:ln cap="flat" cmpd="sng" w="9525">
            <a:solidFill>
              <a:schemeClr val="dk2"/>
            </a:solidFill>
            <a:prstDash val="solid"/>
            <a:round/>
            <a:headEnd len="med" w="med" type="none"/>
            <a:tailEnd len="med" w="med" type="none"/>
          </a:ln>
        </p:spPr>
      </p:cxnSp>
      <p:sp>
        <p:nvSpPr>
          <p:cNvPr id="908" name="Google Shape;908;p61"/>
          <p:cNvSpPr txBox="1"/>
          <p:nvPr/>
        </p:nvSpPr>
        <p:spPr>
          <a:xfrm>
            <a:off x="2302575" y="6021875"/>
            <a:ext cx="11268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Lắp ráp</a:t>
            </a:r>
            <a:endParaRPr sz="1600">
              <a:solidFill>
                <a:schemeClr val="dk2"/>
              </a:solidFill>
            </a:endParaRPr>
          </a:p>
        </p:txBody>
      </p:sp>
      <p:cxnSp>
        <p:nvCxnSpPr>
          <p:cNvPr id="909" name="Google Shape;909;p61"/>
          <p:cNvCxnSpPr/>
          <p:nvPr/>
        </p:nvCxnSpPr>
        <p:spPr>
          <a:xfrm>
            <a:off x="4940300" y="6198900"/>
            <a:ext cx="1108200" cy="11400"/>
          </a:xfrm>
          <a:prstGeom prst="straightConnector1">
            <a:avLst/>
          </a:prstGeom>
          <a:noFill/>
          <a:ln cap="flat" cmpd="sng" w="19050">
            <a:solidFill>
              <a:schemeClr val="dk2"/>
            </a:solidFill>
            <a:prstDash val="solid"/>
            <a:round/>
            <a:headEnd len="med" w="med" type="none"/>
            <a:tailEnd len="med" w="med" type="none"/>
          </a:ln>
        </p:spPr>
      </p:cxnSp>
      <p:sp>
        <p:nvSpPr>
          <p:cNvPr id="910" name="Google Shape;910;p61"/>
          <p:cNvSpPr txBox="1"/>
          <p:nvPr/>
        </p:nvSpPr>
        <p:spPr>
          <a:xfrm>
            <a:off x="6188775" y="5945675"/>
            <a:ext cx="13005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Chuyển tiếp</a:t>
            </a:r>
            <a:endParaRPr sz="1600">
              <a:solidFill>
                <a:schemeClr val="dk2"/>
              </a:solidFill>
            </a:endParaRPr>
          </a:p>
        </p:txBody>
      </p:sp>
      <p:sp>
        <p:nvSpPr>
          <p:cNvPr id="911" name="Google Shape;911;p61"/>
          <p:cNvSpPr/>
          <p:nvPr/>
        </p:nvSpPr>
        <p:spPr>
          <a:xfrm>
            <a:off x="626165" y="3110425"/>
            <a:ext cx="14514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Tên</a:t>
            </a:r>
            <a:endParaRPr sz="1600"/>
          </a:p>
        </p:txBody>
      </p:sp>
      <p:grpSp>
        <p:nvGrpSpPr>
          <p:cNvPr id="912" name="Google Shape;912;p61"/>
          <p:cNvGrpSpPr/>
          <p:nvPr/>
        </p:nvGrpSpPr>
        <p:grpSpPr>
          <a:xfrm>
            <a:off x="1780749" y="3178956"/>
            <a:ext cx="253440" cy="250500"/>
            <a:chOff x="3861221" y="2397831"/>
            <a:chExt cx="253440" cy="250500"/>
          </a:xfrm>
        </p:grpSpPr>
        <p:sp>
          <p:nvSpPr>
            <p:cNvPr id="913" name="Google Shape;913;p61"/>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4" name="Google Shape;914;p61"/>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5" name="Google Shape;915;p61"/>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916" name="Google Shape;916;p61"/>
          <p:cNvGrpSpPr/>
          <p:nvPr/>
        </p:nvGrpSpPr>
        <p:grpSpPr>
          <a:xfrm>
            <a:off x="3675766" y="3178956"/>
            <a:ext cx="253440" cy="250500"/>
            <a:chOff x="3861221" y="2397831"/>
            <a:chExt cx="253440" cy="250500"/>
          </a:xfrm>
        </p:grpSpPr>
        <p:sp>
          <p:nvSpPr>
            <p:cNvPr id="917" name="Google Shape;917;p61"/>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8" name="Google Shape;918;p61"/>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9" name="Google Shape;919;p61"/>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20" name="Google Shape;920;p61"/>
          <p:cNvSpPr/>
          <p:nvPr/>
        </p:nvSpPr>
        <p:spPr>
          <a:xfrm>
            <a:off x="4528670" y="3110425"/>
            <a:ext cx="14514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Tên</a:t>
            </a:r>
            <a:endParaRPr sz="1600"/>
          </a:p>
        </p:txBody>
      </p:sp>
      <p:grpSp>
        <p:nvGrpSpPr>
          <p:cNvPr id="921" name="Google Shape;921;p61"/>
          <p:cNvGrpSpPr/>
          <p:nvPr/>
        </p:nvGrpSpPr>
        <p:grpSpPr>
          <a:xfrm>
            <a:off x="5683254" y="3178956"/>
            <a:ext cx="253440" cy="250500"/>
            <a:chOff x="3861221" y="2397831"/>
            <a:chExt cx="253440" cy="250500"/>
          </a:xfrm>
        </p:grpSpPr>
        <p:sp>
          <p:nvSpPr>
            <p:cNvPr id="922" name="Google Shape;922;p61"/>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3" name="Google Shape;923;p61"/>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4" name="Google Shape;924;p61"/>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925" name="Google Shape;925;p61"/>
          <p:cNvGrpSpPr/>
          <p:nvPr/>
        </p:nvGrpSpPr>
        <p:grpSpPr>
          <a:xfrm>
            <a:off x="7800549" y="3178956"/>
            <a:ext cx="253440" cy="250500"/>
            <a:chOff x="3861221" y="2397831"/>
            <a:chExt cx="253440" cy="250500"/>
          </a:xfrm>
        </p:grpSpPr>
        <p:sp>
          <p:nvSpPr>
            <p:cNvPr id="926" name="Google Shape;926;p61"/>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7" name="Google Shape;927;p61"/>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8" name="Google Shape;928;p61"/>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29" name="Google Shape;929;p61"/>
          <p:cNvSpPr/>
          <p:nvPr/>
        </p:nvSpPr>
        <p:spPr>
          <a:xfrm>
            <a:off x="5350575" y="4253425"/>
            <a:ext cx="15144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Tên</a:t>
            </a:r>
            <a:endParaRPr sz="1600"/>
          </a:p>
        </p:txBody>
      </p:sp>
      <p:sp>
        <p:nvSpPr>
          <p:cNvPr id="930" name="Google Shape;930;p61"/>
          <p:cNvSpPr/>
          <p:nvPr/>
        </p:nvSpPr>
        <p:spPr>
          <a:xfrm>
            <a:off x="7240115" y="4685776"/>
            <a:ext cx="209700" cy="20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1" name="Google Shape;931;p61"/>
          <p:cNvCxnSpPr>
            <a:endCxn id="930" idx="2"/>
          </p:cNvCxnSpPr>
          <p:nvPr/>
        </p:nvCxnSpPr>
        <p:spPr>
          <a:xfrm>
            <a:off x="6878315" y="4790326"/>
            <a:ext cx="361800" cy="300"/>
          </a:xfrm>
          <a:prstGeom prst="straightConnector1">
            <a:avLst/>
          </a:prstGeom>
          <a:noFill/>
          <a:ln cap="flat" cmpd="sng" w="9525">
            <a:solidFill>
              <a:schemeClr val="dk2"/>
            </a:solidFill>
            <a:prstDash val="solid"/>
            <a:round/>
            <a:headEnd len="med" w="med" type="none"/>
            <a:tailEnd len="med" w="med" type="none"/>
          </a:ln>
        </p:spPr>
      </p:cxnSp>
      <p:sp>
        <p:nvSpPr>
          <p:cNvPr id="932" name="Google Shape;932;p61"/>
          <p:cNvSpPr/>
          <p:nvPr/>
        </p:nvSpPr>
        <p:spPr>
          <a:xfrm>
            <a:off x="7363940" y="4685776"/>
            <a:ext cx="209700" cy="2097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1"/>
          <p:cNvSpPr txBox="1"/>
          <p:nvPr/>
        </p:nvSpPr>
        <p:spPr>
          <a:xfrm>
            <a:off x="5112000" y="4921150"/>
            <a:ext cx="2688600" cy="39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Thành phần với cổng phức tạp</a:t>
            </a:r>
            <a:endParaRPr/>
          </a:p>
        </p:txBody>
      </p:sp>
      <p:sp>
        <p:nvSpPr>
          <p:cNvPr id="934" name="Google Shape;934;p61"/>
          <p:cNvSpPr/>
          <p:nvPr/>
        </p:nvSpPr>
        <p:spPr>
          <a:xfrm>
            <a:off x="6829650" y="4294750"/>
            <a:ext cx="98400" cy="524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grpSp>
        <p:nvGrpSpPr>
          <p:cNvPr id="935" name="Google Shape;935;p61"/>
          <p:cNvGrpSpPr/>
          <p:nvPr/>
        </p:nvGrpSpPr>
        <p:grpSpPr>
          <a:xfrm>
            <a:off x="6505149" y="4321956"/>
            <a:ext cx="253440" cy="250500"/>
            <a:chOff x="3861221" y="2397831"/>
            <a:chExt cx="253440" cy="250500"/>
          </a:xfrm>
        </p:grpSpPr>
        <p:sp>
          <p:nvSpPr>
            <p:cNvPr id="936" name="Google Shape;936;p61"/>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61"/>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61"/>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39" name="Google Shape;939;p61"/>
          <p:cNvSpPr/>
          <p:nvPr/>
        </p:nvSpPr>
        <p:spPr>
          <a:xfrm>
            <a:off x="7236455" y="4447193"/>
            <a:ext cx="209700" cy="20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0" name="Google Shape;940;p61"/>
          <p:cNvCxnSpPr>
            <a:endCxn id="939" idx="2"/>
          </p:cNvCxnSpPr>
          <p:nvPr/>
        </p:nvCxnSpPr>
        <p:spPr>
          <a:xfrm>
            <a:off x="6941255" y="4552043"/>
            <a:ext cx="295200" cy="0"/>
          </a:xfrm>
          <a:prstGeom prst="straightConnector1">
            <a:avLst/>
          </a:prstGeom>
          <a:noFill/>
          <a:ln cap="flat" cmpd="sng" w="9525">
            <a:solidFill>
              <a:schemeClr val="dk2"/>
            </a:solidFill>
            <a:prstDash val="solid"/>
            <a:round/>
            <a:headEnd len="med" w="med" type="none"/>
            <a:tailEnd len="med" w="med" type="none"/>
          </a:ln>
        </p:spPr>
      </p:cxnSp>
      <p:sp>
        <p:nvSpPr>
          <p:cNvPr id="941" name="Google Shape;941;p61"/>
          <p:cNvSpPr/>
          <p:nvPr/>
        </p:nvSpPr>
        <p:spPr>
          <a:xfrm>
            <a:off x="7226472" y="4198628"/>
            <a:ext cx="209700" cy="20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2" name="Google Shape;942;p61"/>
          <p:cNvCxnSpPr>
            <a:endCxn id="941" idx="2"/>
          </p:cNvCxnSpPr>
          <p:nvPr/>
        </p:nvCxnSpPr>
        <p:spPr>
          <a:xfrm>
            <a:off x="6931272" y="4303478"/>
            <a:ext cx="295200" cy="0"/>
          </a:xfrm>
          <a:prstGeom prst="straightConnector1">
            <a:avLst/>
          </a:prstGeom>
          <a:noFill/>
          <a:ln cap="flat" cmpd="sng" w="9525">
            <a:solidFill>
              <a:schemeClr val="dk2"/>
            </a:solidFill>
            <a:prstDash val="solid"/>
            <a:round/>
            <a:headEnd len="med" w="med" type="none"/>
            <a:tailEnd len="med" w="med" type="none"/>
          </a:ln>
        </p:spPr>
      </p:cxnSp>
      <p:sp>
        <p:nvSpPr>
          <p:cNvPr id="943" name="Google Shape;943;p61"/>
          <p:cNvSpPr/>
          <p:nvPr/>
        </p:nvSpPr>
        <p:spPr>
          <a:xfrm>
            <a:off x="4222063" y="3330481"/>
            <a:ext cx="209700" cy="20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4" name="Google Shape;944;p61"/>
          <p:cNvCxnSpPr>
            <a:endCxn id="943" idx="2"/>
          </p:cNvCxnSpPr>
          <p:nvPr/>
        </p:nvCxnSpPr>
        <p:spPr>
          <a:xfrm>
            <a:off x="4011163" y="3435331"/>
            <a:ext cx="210900" cy="0"/>
          </a:xfrm>
          <a:prstGeom prst="straightConnector1">
            <a:avLst/>
          </a:prstGeom>
          <a:noFill/>
          <a:ln cap="flat" cmpd="sng" w="9525">
            <a:solidFill>
              <a:schemeClr val="dk2"/>
            </a:solidFill>
            <a:prstDash val="solid"/>
            <a:round/>
            <a:headEnd len="med" w="med" type="none"/>
            <a:tailEnd len="med" w="med" type="none"/>
          </a:ln>
        </p:spPr>
      </p:cxnSp>
      <p:sp>
        <p:nvSpPr>
          <p:cNvPr id="945" name="Google Shape;945;p61"/>
          <p:cNvSpPr txBox="1"/>
          <p:nvPr/>
        </p:nvSpPr>
        <p:spPr>
          <a:xfrm>
            <a:off x="549975" y="4340800"/>
            <a:ext cx="3747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600">
                <a:solidFill>
                  <a:srgbClr val="1155CC"/>
                </a:solidFill>
              </a:rPr>
              <a:t>Giao diện có thể được gắn với cổng</a:t>
            </a:r>
            <a:endParaRPr b="1" i="1" sz="1600">
              <a:solidFill>
                <a:srgbClr val="1155CC"/>
              </a:solidFill>
            </a:endParaRPr>
          </a:p>
        </p:txBody>
      </p:sp>
      <p:sp>
        <p:nvSpPr>
          <p:cNvPr id="946" name="Google Shape;946;p61"/>
          <p:cNvSpPr txBox="1"/>
          <p:nvPr/>
        </p:nvSpPr>
        <p:spPr>
          <a:xfrm>
            <a:off x="714350" y="1492150"/>
            <a:ext cx="10137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UML 1.X</a:t>
            </a:r>
            <a:endParaRPr b="1"/>
          </a:p>
        </p:txBody>
      </p:sp>
      <p:sp>
        <p:nvSpPr>
          <p:cNvPr id="947" name="Google Shape;947;p61"/>
          <p:cNvSpPr txBox="1"/>
          <p:nvPr/>
        </p:nvSpPr>
        <p:spPr>
          <a:xfrm>
            <a:off x="3686150" y="1492150"/>
            <a:ext cx="10137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UML 2.X</a:t>
            </a:r>
            <a:endParaRPr b="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6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thành phần và các giao diện</a:t>
            </a:r>
            <a:endParaRPr/>
          </a:p>
        </p:txBody>
      </p:sp>
      <p:sp>
        <p:nvSpPr>
          <p:cNvPr id="953" name="Google Shape;953;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54" name="Google Shape;954;p62"/>
          <p:cNvSpPr/>
          <p:nvPr/>
        </p:nvSpPr>
        <p:spPr>
          <a:xfrm>
            <a:off x="2005825" y="1334025"/>
            <a:ext cx="1686300" cy="98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Order</a:t>
            </a:r>
            <a:endParaRPr sz="1600"/>
          </a:p>
        </p:txBody>
      </p:sp>
      <p:grpSp>
        <p:nvGrpSpPr>
          <p:cNvPr id="955" name="Google Shape;955;p62"/>
          <p:cNvGrpSpPr/>
          <p:nvPr/>
        </p:nvGrpSpPr>
        <p:grpSpPr>
          <a:xfrm>
            <a:off x="3395309" y="1402556"/>
            <a:ext cx="253440" cy="250500"/>
            <a:chOff x="3861221" y="2397831"/>
            <a:chExt cx="253440" cy="250500"/>
          </a:xfrm>
        </p:grpSpPr>
        <p:sp>
          <p:nvSpPr>
            <p:cNvPr id="956" name="Google Shape;956;p62"/>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7" name="Google Shape;957;p62"/>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8" name="Google Shape;958;p62"/>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59" name="Google Shape;959;p62"/>
          <p:cNvSpPr/>
          <p:nvPr/>
        </p:nvSpPr>
        <p:spPr>
          <a:xfrm>
            <a:off x="739650" y="1252525"/>
            <a:ext cx="253500" cy="2535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0" name="Google Shape;960;p62"/>
          <p:cNvSpPr/>
          <p:nvPr/>
        </p:nvSpPr>
        <p:spPr>
          <a:xfrm>
            <a:off x="739650" y="2090725"/>
            <a:ext cx="253500" cy="2535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1" name="Google Shape;961;p62"/>
          <p:cNvSpPr txBox="1"/>
          <p:nvPr/>
        </p:nvSpPr>
        <p:spPr>
          <a:xfrm>
            <a:off x="542650" y="1468500"/>
            <a:ext cx="13977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OrderEntry</a:t>
            </a:r>
            <a:endParaRPr>
              <a:solidFill>
                <a:schemeClr val="dk2"/>
              </a:solidFill>
            </a:endParaRPr>
          </a:p>
        </p:txBody>
      </p:sp>
      <p:sp>
        <p:nvSpPr>
          <p:cNvPr id="962" name="Google Shape;962;p62"/>
          <p:cNvSpPr txBox="1"/>
          <p:nvPr/>
        </p:nvSpPr>
        <p:spPr>
          <a:xfrm>
            <a:off x="559952" y="2382900"/>
            <a:ext cx="904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Billing</a:t>
            </a:r>
            <a:endParaRPr>
              <a:solidFill>
                <a:schemeClr val="dk2"/>
              </a:solidFill>
            </a:endParaRPr>
          </a:p>
        </p:txBody>
      </p:sp>
      <p:sp>
        <p:nvSpPr>
          <p:cNvPr id="963" name="Google Shape;963;p62"/>
          <p:cNvSpPr/>
          <p:nvPr/>
        </p:nvSpPr>
        <p:spPr>
          <a:xfrm>
            <a:off x="2669950" y="2763900"/>
            <a:ext cx="336300" cy="339300"/>
          </a:xfrm>
          <a:prstGeom prst="arc">
            <a:avLst>
              <a:gd fmla="val 10703622"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64" name="Google Shape;964;p62"/>
          <p:cNvCxnSpPr>
            <a:stCxn id="954" idx="2"/>
          </p:cNvCxnSpPr>
          <p:nvPr/>
        </p:nvCxnSpPr>
        <p:spPr>
          <a:xfrm>
            <a:off x="2848975" y="2318025"/>
            <a:ext cx="0" cy="439200"/>
          </a:xfrm>
          <a:prstGeom prst="straightConnector1">
            <a:avLst/>
          </a:prstGeom>
          <a:noFill/>
          <a:ln cap="flat" cmpd="sng" w="9525">
            <a:solidFill>
              <a:schemeClr val="dk2"/>
            </a:solidFill>
            <a:prstDash val="solid"/>
            <a:round/>
            <a:headEnd len="med" w="med" type="none"/>
            <a:tailEnd len="med" w="med" type="none"/>
          </a:ln>
        </p:spPr>
      </p:cxnSp>
      <p:sp>
        <p:nvSpPr>
          <p:cNvPr id="965" name="Google Shape;965;p62"/>
          <p:cNvSpPr/>
          <p:nvPr/>
        </p:nvSpPr>
        <p:spPr>
          <a:xfrm>
            <a:off x="4498750" y="1239900"/>
            <a:ext cx="336300" cy="339300"/>
          </a:xfrm>
          <a:prstGeom prst="arc">
            <a:avLst>
              <a:gd fmla="val 4772960" name="adj1"/>
              <a:gd fmla="val 16083358"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6" name="Google Shape;966;p62"/>
          <p:cNvSpPr/>
          <p:nvPr/>
        </p:nvSpPr>
        <p:spPr>
          <a:xfrm>
            <a:off x="4498750" y="2154300"/>
            <a:ext cx="336300" cy="339300"/>
          </a:xfrm>
          <a:prstGeom prst="arc">
            <a:avLst>
              <a:gd fmla="val 5336684" name="adj1"/>
              <a:gd fmla="val 16259258"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67" name="Google Shape;967;p62"/>
          <p:cNvCxnSpPr/>
          <p:nvPr/>
        </p:nvCxnSpPr>
        <p:spPr>
          <a:xfrm>
            <a:off x="3691825" y="2048475"/>
            <a:ext cx="788700" cy="259800"/>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62"/>
          <p:cNvCxnSpPr/>
          <p:nvPr/>
        </p:nvCxnSpPr>
        <p:spPr>
          <a:xfrm flipH="1" rot="10800000">
            <a:off x="3701800" y="1419525"/>
            <a:ext cx="788700" cy="249600"/>
          </a:xfrm>
          <a:prstGeom prst="straightConnector1">
            <a:avLst/>
          </a:prstGeom>
          <a:noFill/>
          <a:ln cap="flat" cmpd="sng" w="9525">
            <a:solidFill>
              <a:schemeClr val="dk2"/>
            </a:solidFill>
            <a:prstDash val="solid"/>
            <a:round/>
            <a:headEnd len="med" w="med" type="none"/>
            <a:tailEnd len="med" w="med" type="none"/>
          </a:ln>
        </p:spPr>
      </p:cxnSp>
      <p:sp>
        <p:nvSpPr>
          <p:cNvPr id="969" name="Google Shape;969;p62"/>
          <p:cNvSpPr txBox="1"/>
          <p:nvPr/>
        </p:nvSpPr>
        <p:spPr>
          <a:xfrm>
            <a:off x="2188100" y="2916300"/>
            <a:ext cx="13977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OderableItem</a:t>
            </a:r>
            <a:endParaRPr>
              <a:solidFill>
                <a:schemeClr val="dk2"/>
              </a:solidFill>
            </a:endParaRPr>
          </a:p>
        </p:txBody>
      </p:sp>
      <p:cxnSp>
        <p:nvCxnSpPr>
          <p:cNvPr id="970" name="Google Shape;970;p62"/>
          <p:cNvCxnSpPr>
            <a:stCxn id="960" idx="6"/>
          </p:cNvCxnSpPr>
          <p:nvPr/>
        </p:nvCxnSpPr>
        <p:spPr>
          <a:xfrm flipH="1" rot="10800000">
            <a:off x="993150" y="2080975"/>
            <a:ext cx="994200" cy="136500"/>
          </a:xfrm>
          <a:prstGeom prst="straightConnector1">
            <a:avLst/>
          </a:prstGeom>
          <a:noFill/>
          <a:ln cap="flat" cmpd="sng" w="9525">
            <a:solidFill>
              <a:schemeClr val="dk2"/>
            </a:solidFill>
            <a:prstDash val="solid"/>
            <a:round/>
            <a:headEnd len="med" w="med" type="none"/>
            <a:tailEnd len="med" w="med" type="none"/>
          </a:ln>
        </p:spPr>
      </p:cxnSp>
      <p:cxnSp>
        <p:nvCxnSpPr>
          <p:cNvPr id="971" name="Google Shape;971;p62"/>
          <p:cNvCxnSpPr>
            <a:stCxn id="959" idx="6"/>
          </p:cNvCxnSpPr>
          <p:nvPr/>
        </p:nvCxnSpPr>
        <p:spPr>
          <a:xfrm>
            <a:off x="993150" y="1379275"/>
            <a:ext cx="994200" cy="212700"/>
          </a:xfrm>
          <a:prstGeom prst="straightConnector1">
            <a:avLst/>
          </a:prstGeom>
          <a:noFill/>
          <a:ln cap="flat" cmpd="sng" w="9525">
            <a:solidFill>
              <a:schemeClr val="dk2"/>
            </a:solidFill>
            <a:prstDash val="solid"/>
            <a:round/>
            <a:headEnd len="med" w="med" type="none"/>
            <a:tailEnd len="med" w="med" type="none"/>
          </a:ln>
        </p:spPr>
      </p:cxnSp>
      <p:sp>
        <p:nvSpPr>
          <p:cNvPr id="972" name="Google Shape;972;p62"/>
          <p:cNvSpPr txBox="1"/>
          <p:nvPr/>
        </p:nvSpPr>
        <p:spPr>
          <a:xfrm>
            <a:off x="4293752" y="1544700"/>
            <a:ext cx="904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Person</a:t>
            </a:r>
            <a:endParaRPr>
              <a:solidFill>
                <a:schemeClr val="dk2"/>
              </a:solidFill>
            </a:endParaRPr>
          </a:p>
        </p:txBody>
      </p:sp>
      <p:sp>
        <p:nvSpPr>
          <p:cNvPr id="973" name="Google Shape;973;p62"/>
          <p:cNvSpPr txBox="1"/>
          <p:nvPr/>
        </p:nvSpPr>
        <p:spPr>
          <a:xfrm>
            <a:off x="4293752" y="2459100"/>
            <a:ext cx="904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Invoice</a:t>
            </a:r>
            <a:endParaRPr>
              <a:solidFill>
                <a:schemeClr val="dk2"/>
              </a:solidFill>
            </a:endParaRPr>
          </a:p>
        </p:txBody>
      </p:sp>
      <p:sp>
        <p:nvSpPr>
          <p:cNvPr id="974" name="Google Shape;974;p62"/>
          <p:cNvSpPr/>
          <p:nvPr/>
        </p:nvSpPr>
        <p:spPr>
          <a:xfrm>
            <a:off x="6061000" y="1181625"/>
            <a:ext cx="2127000" cy="64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Order</a:t>
            </a:r>
            <a:endParaRPr sz="1600"/>
          </a:p>
        </p:txBody>
      </p:sp>
      <p:grpSp>
        <p:nvGrpSpPr>
          <p:cNvPr id="975" name="Google Shape;975;p62"/>
          <p:cNvGrpSpPr/>
          <p:nvPr/>
        </p:nvGrpSpPr>
        <p:grpSpPr>
          <a:xfrm>
            <a:off x="7891109" y="1250156"/>
            <a:ext cx="253440" cy="250500"/>
            <a:chOff x="3861221" y="2397831"/>
            <a:chExt cx="253440" cy="250500"/>
          </a:xfrm>
        </p:grpSpPr>
        <p:sp>
          <p:nvSpPr>
            <p:cNvPr id="976" name="Google Shape;976;p62"/>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62"/>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62"/>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79" name="Google Shape;979;p62"/>
          <p:cNvSpPr/>
          <p:nvPr/>
        </p:nvSpPr>
        <p:spPr>
          <a:xfrm>
            <a:off x="6061000" y="1831150"/>
            <a:ext cx="2127000" cy="1894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provided interfaces&gt;&gt;</a:t>
            </a:r>
            <a:endParaRPr/>
          </a:p>
          <a:p>
            <a:pPr indent="0" lvl="0" marL="0" rtl="0" algn="l">
              <a:spcBef>
                <a:spcPts val="0"/>
              </a:spcBef>
              <a:spcAft>
                <a:spcPts val="0"/>
              </a:spcAft>
              <a:buNone/>
            </a:pPr>
            <a:r>
              <a:rPr lang="en-GB"/>
              <a:t>   OrderEntry</a:t>
            </a:r>
            <a:endParaRPr/>
          </a:p>
          <a:p>
            <a:pPr indent="0" lvl="0" marL="0" rtl="0" algn="l">
              <a:spcBef>
                <a:spcPts val="0"/>
              </a:spcBef>
              <a:spcAft>
                <a:spcPts val="0"/>
              </a:spcAft>
              <a:buNone/>
            </a:pPr>
            <a:r>
              <a:rPr lang="en-GB"/>
              <a:t>   Billing</a:t>
            </a:r>
            <a:endParaRPr/>
          </a:p>
          <a:p>
            <a:pPr indent="0" lvl="0" marL="0" rtl="0" algn="l">
              <a:spcBef>
                <a:spcPts val="0"/>
              </a:spcBef>
              <a:spcAft>
                <a:spcPts val="0"/>
              </a:spcAft>
              <a:buNone/>
            </a:pPr>
            <a:r>
              <a:rPr lang="en-GB"/>
              <a:t>&lt;&lt;required interfaces&gt;&gt;</a:t>
            </a:r>
            <a:endParaRPr/>
          </a:p>
          <a:p>
            <a:pPr indent="0" lvl="0" marL="0" rtl="0" algn="l">
              <a:spcBef>
                <a:spcPts val="0"/>
              </a:spcBef>
              <a:spcAft>
                <a:spcPts val="0"/>
              </a:spcAft>
              <a:buNone/>
            </a:pPr>
            <a:r>
              <a:rPr lang="en-GB"/>
              <a:t>   Invoice</a:t>
            </a:r>
            <a:endParaRPr/>
          </a:p>
          <a:p>
            <a:pPr indent="0" lvl="0" marL="0" rtl="0" algn="l">
              <a:spcBef>
                <a:spcPts val="0"/>
              </a:spcBef>
              <a:spcAft>
                <a:spcPts val="0"/>
              </a:spcAft>
              <a:buNone/>
            </a:pPr>
            <a:r>
              <a:rPr lang="en-GB"/>
              <a:t>      create(...)</a:t>
            </a:r>
            <a:endParaRPr/>
          </a:p>
          <a:p>
            <a:pPr indent="0" lvl="0" marL="0" rtl="0" algn="l">
              <a:spcBef>
                <a:spcPts val="0"/>
              </a:spcBef>
              <a:spcAft>
                <a:spcPts val="0"/>
              </a:spcAft>
              <a:buNone/>
            </a:pPr>
            <a:r>
              <a:rPr lang="en-GB"/>
              <a:t>      registerPayment(...)</a:t>
            </a:r>
            <a:endParaRPr/>
          </a:p>
          <a:p>
            <a:pPr indent="0" lvl="0" marL="0" rtl="0" algn="l">
              <a:spcBef>
                <a:spcPts val="0"/>
              </a:spcBef>
              <a:spcAft>
                <a:spcPts val="0"/>
              </a:spcAft>
              <a:buNone/>
            </a:pPr>
            <a:r>
              <a:rPr lang="en-GB"/>
              <a:t>   …</a:t>
            </a:r>
            <a:endParaRPr/>
          </a:p>
        </p:txBody>
      </p:sp>
      <p:sp>
        <p:nvSpPr>
          <p:cNvPr id="980" name="Google Shape;980;p62"/>
          <p:cNvSpPr/>
          <p:nvPr/>
        </p:nvSpPr>
        <p:spPr>
          <a:xfrm>
            <a:off x="3377425" y="4229625"/>
            <a:ext cx="1686300" cy="98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Order</a:t>
            </a:r>
            <a:endParaRPr sz="1600"/>
          </a:p>
        </p:txBody>
      </p:sp>
      <p:grpSp>
        <p:nvGrpSpPr>
          <p:cNvPr id="981" name="Google Shape;981;p62"/>
          <p:cNvGrpSpPr/>
          <p:nvPr/>
        </p:nvGrpSpPr>
        <p:grpSpPr>
          <a:xfrm>
            <a:off x="4766909" y="4298156"/>
            <a:ext cx="253440" cy="250500"/>
            <a:chOff x="3861221" y="2397831"/>
            <a:chExt cx="253440" cy="250500"/>
          </a:xfrm>
        </p:grpSpPr>
        <p:sp>
          <p:nvSpPr>
            <p:cNvPr id="982" name="Google Shape;982;p62"/>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3" name="Google Shape;983;p62"/>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4" name="Google Shape;984;p62"/>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85" name="Google Shape;985;p62"/>
          <p:cNvSpPr/>
          <p:nvPr/>
        </p:nvSpPr>
        <p:spPr>
          <a:xfrm>
            <a:off x="558025" y="4229625"/>
            <a:ext cx="1686300" cy="64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t>
            </a:r>
            <a:r>
              <a:rPr lang="en-GB"/>
              <a:t>interface</a:t>
            </a:r>
            <a:r>
              <a:rPr lang="en-GB"/>
              <a:t>&gt;&gt;</a:t>
            </a:r>
            <a:endParaRPr/>
          </a:p>
          <a:p>
            <a:pPr indent="0" lvl="0" marL="0" rtl="0" algn="ctr">
              <a:spcBef>
                <a:spcPts val="0"/>
              </a:spcBef>
              <a:spcAft>
                <a:spcPts val="0"/>
              </a:spcAft>
              <a:buNone/>
            </a:pPr>
            <a:r>
              <a:rPr lang="en-GB" sz="1600"/>
              <a:t>Order</a:t>
            </a:r>
            <a:r>
              <a:rPr lang="en-GB" sz="1600"/>
              <a:t>Entry</a:t>
            </a:r>
            <a:endParaRPr sz="1600"/>
          </a:p>
        </p:txBody>
      </p:sp>
      <p:sp>
        <p:nvSpPr>
          <p:cNvPr id="986" name="Google Shape;986;p62"/>
          <p:cNvSpPr/>
          <p:nvPr/>
        </p:nvSpPr>
        <p:spPr>
          <a:xfrm>
            <a:off x="6273025" y="4229625"/>
            <a:ext cx="1686300" cy="64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&lt;&lt;interface&gt;&gt;</a:t>
            </a:r>
            <a:endParaRPr/>
          </a:p>
          <a:p>
            <a:pPr indent="0" lvl="0" marL="0" rtl="0" algn="ctr">
              <a:spcBef>
                <a:spcPts val="0"/>
              </a:spcBef>
              <a:spcAft>
                <a:spcPts val="0"/>
              </a:spcAft>
              <a:buNone/>
            </a:pPr>
            <a:r>
              <a:rPr lang="en-GB" sz="1600"/>
              <a:t>Person</a:t>
            </a:r>
            <a:endParaRPr sz="1600"/>
          </a:p>
        </p:txBody>
      </p:sp>
      <p:sp>
        <p:nvSpPr>
          <p:cNvPr id="987" name="Google Shape;987;p62"/>
          <p:cNvSpPr/>
          <p:nvPr/>
        </p:nvSpPr>
        <p:spPr>
          <a:xfrm>
            <a:off x="558025" y="4869176"/>
            <a:ext cx="1686300" cy="932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Create()</a:t>
            </a:r>
            <a:endParaRPr sz="1600"/>
          </a:p>
          <a:p>
            <a:pPr indent="0" lvl="0" marL="0" rtl="0" algn="l">
              <a:spcBef>
                <a:spcPts val="0"/>
              </a:spcBef>
              <a:spcAft>
                <a:spcPts val="0"/>
              </a:spcAft>
              <a:buNone/>
            </a:pPr>
            <a:r>
              <a:rPr lang="en-GB" sz="1600"/>
              <a:t>ValidateDetails()</a:t>
            </a:r>
            <a:endParaRPr sz="1600"/>
          </a:p>
          <a:p>
            <a:pPr indent="0" lvl="0" marL="0" rtl="0" algn="l">
              <a:spcBef>
                <a:spcPts val="0"/>
              </a:spcBef>
              <a:spcAft>
                <a:spcPts val="0"/>
              </a:spcAft>
              <a:buNone/>
            </a:pPr>
            <a:r>
              <a:rPr lang="en-GB" sz="1600"/>
              <a:t>AddOrderLine()</a:t>
            </a:r>
            <a:endParaRPr sz="1600"/>
          </a:p>
        </p:txBody>
      </p:sp>
      <p:sp>
        <p:nvSpPr>
          <p:cNvPr id="988" name="Google Shape;988;p62"/>
          <p:cNvSpPr/>
          <p:nvPr/>
        </p:nvSpPr>
        <p:spPr>
          <a:xfrm>
            <a:off x="6283008" y="4869176"/>
            <a:ext cx="1686300" cy="932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FindByName</a:t>
            </a:r>
            <a:r>
              <a:rPr lang="en-GB" sz="1600"/>
              <a:t>()</a:t>
            </a:r>
            <a:endParaRPr sz="1600"/>
          </a:p>
          <a:p>
            <a:pPr indent="0" lvl="0" marL="0" rtl="0" algn="l">
              <a:spcBef>
                <a:spcPts val="0"/>
              </a:spcBef>
              <a:spcAft>
                <a:spcPts val="0"/>
              </a:spcAft>
              <a:buNone/>
            </a:pPr>
            <a:r>
              <a:rPr lang="en-GB" sz="1600"/>
              <a:t>Create</a:t>
            </a:r>
            <a:r>
              <a:rPr lang="en-GB" sz="1600"/>
              <a:t>()</a:t>
            </a:r>
            <a:endParaRPr sz="1600"/>
          </a:p>
          <a:p>
            <a:pPr indent="0" lvl="0" marL="0" rtl="0" algn="l">
              <a:spcBef>
                <a:spcPts val="0"/>
              </a:spcBef>
              <a:spcAft>
                <a:spcPts val="0"/>
              </a:spcAft>
              <a:buNone/>
            </a:pPr>
            <a:r>
              <a:rPr lang="en-GB" sz="1600"/>
              <a:t>GetDetails</a:t>
            </a:r>
            <a:r>
              <a:rPr lang="en-GB" sz="1600"/>
              <a:t>()</a:t>
            </a:r>
            <a:endParaRPr sz="1600"/>
          </a:p>
        </p:txBody>
      </p:sp>
      <p:cxnSp>
        <p:nvCxnSpPr>
          <p:cNvPr id="989" name="Google Shape;989;p62"/>
          <p:cNvCxnSpPr/>
          <p:nvPr/>
        </p:nvCxnSpPr>
        <p:spPr>
          <a:xfrm flipH="1" rot="10800000">
            <a:off x="5082050" y="4423425"/>
            <a:ext cx="1177800" cy="900"/>
          </a:xfrm>
          <a:prstGeom prst="straightConnector1">
            <a:avLst/>
          </a:prstGeom>
          <a:noFill/>
          <a:ln cap="flat" cmpd="sng" w="9525">
            <a:solidFill>
              <a:schemeClr val="dk2"/>
            </a:solidFill>
            <a:prstDash val="dash"/>
            <a:round/>
            <a:headEnd len="med" w="med" type="none"/>
            <a:tailEnd len="med" w="med" type="stealth"/>
          </a:ln>
        </p:spPr>
      </p:cxnSp>
      <p:sp>
        <p:nvSpPr>
          <p:cNvPr id="990" name="Google Shape;990;p62"/>
          <p:cNvSpPr/>
          <p:nvPr/>
        </p:nvSpPr>
        <p:spPr>
          <a:xfrm rot="-5400000">
            <a:off x="2246995" y="4404375"/>
            <a:ext cx="169800" cy="136500"/>
          </a:xfrm>
          <a:prstGeom prst="triangle">
            <a:avLst>
              <a:gd fmla="val 50000"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91" name="Google Shape;991;p62"/>
          <p:cNvCxnSpPr>
            <a:stCxn id="990" idx="3"/>
          </p:cNvCxnSpPr>
          <p:nvPr/>
        </p:nvCxnSpPr>
        <p:spPr>
          <a:xfrm>
            <a:off x="2400145" y="4472625"/>
            <a:ext cx="975000" cy="0"/>
          </a:xfrm>
          <a:prstGeom prst="straightConnector1">
            <a:avLst/>
          </a:prstGeom>
          <a:noFill/>
          <a:ln cap="flat" cmpd="sng" w="9525">
            <a:solidFill>
              <a:schemeClr val="dk2"/>
            </a:solidFill>
            <a:prstDash val="dash"/>
            <a:round/>
            <a:headEnd len="med" w="med" type="none"/>
            <a:tailEnd len="med" w="med" type="none"/>
          </a:ln>
        </p:spPr>
      </p:cxnSp>
      <p:sp>
        <p:nvSpPr>
          <p:cNvPr id="992" name="Google Shape;992;p62"/>
          <p:cNvSpPr txBox="1"/>
          <p:nvPr/>
        </p:nvSpPr>
        <p:spPr>
          <a:xfrm>
            <a:off x="5208152" y="4059300"/>
            <a:ext cx="904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&lt;&lt;use&gt;&gt;</a:t>
            </a:r>
            <a:endParaRPr>
              <a:solidFill>
                <a:schemeClr val="dk2"/>
              </a:solidFill>
            </a:endParaRPr>
          </a:p>
        </p:txBody>
      </p:sp>
      <p:sp>
        <p:nvSpPr>
          <p:cNvPr id="993" name="Google Shape;993;p62"/>
          <p:cNvSpPr txBox="1"/>
          <p:nvPr/>
        </p:nvSpPr>
        <p:spPr>
          <a:xfrm>
            <a:off x="1458375" y="5871800"/>
            <a:ext cx="27153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rPr>
              <a:t>Chi tiết giao diện</a:t>
            </a:r>
            <a:endParaRPr i="1" sz="1800">
              <a:solidFill>
                <a:schemeClr val="dk2"/>
              </a:solidFill>
            </a:endParaRPr>
          </a:p>
        </p:txBody>
      </p:sp>
      <p:sp>
        <p:nvSpPr>
          <p:cNvPr id="994" name="Google Shape;994;p62"/>
          <p:cNvSpPr txBox="1"/>
          <p:nvPr/>
        </p:nvSpPr>
        <p:spPr>
          <a:xfrm>
            <a:off x="2067975" y="3509600"/>
            <a:ext cx="18162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solidFill>
                  <a:schemeClr val="dk2"/>
                </a:solidFill>
              </a:rPr>
              <a:t>Quan hệ triển khai</a:t>
            </a:r>
            <a:endParaRPr i="1">
              <a:solidFill>
                <a:schemeClr val="dk2"/>
              </a:solidFill>
            </a:endParaRPr>
          </a:p>
        </p:txBody>
      </p:sp>
      <p:cxnSp>
        <p:nvCxnSpPr>
          <p:cNvPr id="995" name="Google Shape;995;p62"/>
          <p:cNvCxnSpPr/>
          <p:nvPr/>
        </p:nvCxnSpPr>
        <p:spPr>
          <a:xfrm flipH="1" rot="10800000">
            <a:off x="2726175" y="3825500"/>
            <a:ext cx="219600" cy="5589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6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a:t>
            </a:r>
            <a:r>
              <a:rPr lang="en-GB"/>
              <a:t>kết cấu bên trong thành phần</a:t>
            </a:r>
            <a:endParaRPr/>
          </a:p>
        </p:txBody>
      </p:sp>
      <p:sp>
        <p:nvSpPr>
          <p:cNvPr id="1001" name="Google Shape;1001;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02" name="Google Shape;1002;p63"/>
          <p:cNvSpPr/>
          <p:nvPr/>
        </p:nvSpPr>
        <p:spPr>
          <a:xfrm>
            <a:off x="1668025" y="1562625"/>
            <a:ext cx="3293400" cy="2970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&lt;&lt;component&gt;&gt;</a:t>
            </a:r>
            <a:endParaRPr/>
          </a:p>
          <a:p>
            <a:pPr indent="0" lvl="0" marL="0" rtl="0" algn="ctr">
              <a:spcBef>
                <a:spcPts val="0"/>
              </a:spcBef>
              <a:spcAft>
                <a:spcPts val="0"/>
              </a:spcAft>
              <a:buNone/>
            </a:pPr>
            <a:r>
              <a:rPr lang="en-GB" sz="1600"/>
              <a:t>Order</a:t>
            </a:r>
            <a:endParaRPr sz="1600"/>
          </a:p>
        </p:txBody>
      </p:sp>
      <p:grpSp>
        <p:nvGrpSpPr>
          <p:cNvPr id="1003" name="Google Shape;1003;p63"/>
          <p:cNvGrpSpPr/>
          <p:nvPr/>
        </p:nvGrpSpPr>
        <p:grpSpPr>
          <a:xfrm>
            <a:off x="4614509" y="1631156"/>
            <a:ext cx="253440" cy="250500"/>
            <a:chOff x="3861221" y="2397831"/>
            <a:chExt cx="253440" cy="250500"/>
          </a:xfrm>
        </p:grpSpPr>
        <p:sp>
          <p:nvSpPr>
            <p:cNvPr id="1004" name="Google Shape;1004;p63"/>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5" name="Google Shape;1005;p63"/>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6" name="Google Shape;1006;p63"/>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07" name="Google Shape;1007;p63"/>
          <p:cNvSpPr/>
          <p:nvPr/>
        </p:nvSpPr>
        <p:spPr>
          <a:xfrm>
            <a:off x="739650" y="1709725"/>
            <a:ext cx="253500" cy="2535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8" name="Google Shape;1008;p63"/>
          <p:cNvSpPr txBox="1"/>
          <p:nvPr/>
        </p:nvSpPr>
        <p:spPr>
          <a:xfrm>
            <a:off x="542650" y="1925700"/>
            <a:ext cx="13977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OrderEntry</a:t>
            </a:r>
            <a:endParaRPr>
              <a:solidFill>
                <a:schemeClr val="dk2"/>
              </a:solidFill>
            </a:endParaRPr>
          </a:p>
        </p:txBody>
      </p:sp>
      <p:sp>
        <p:nvSpPr>
          <p:cNvPr id="1009" name="Google Shape;1009;p63"/>
          <p:cNvSpPr/>
          <p:nvPr/>
        </p:nvSpPr>
        <p:spPr>
          <a:xfrm>
            <a:off x="5270733" y="1717065"/>
            <a:ext cx="336300" cy="339300"/>
          </a:xfrm>
          <a:prstGeom prst="arc">
            <a:avLst>
              <a:gd fmla="val 4249350" name="adj1"/>
              <a:gd fmla="val 1715639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10" name="Google Shape;1010;p63"/>
          <p:cNvCxnSpPr/>
          <p:nvPr/>
        </p:nvCxnSpPr>
        <p:spPr>
          <a:xfrm>
            <a:off x="4982225" y="1897725"/>
            <a:ext cx="279600" cy="0"/>
          </a:xfrm>
          <a:prstGeom prst="straightConnector1">
            <a:avLst/>
          </a:prstGeom>
          <a:noFill/>
          <a:ln cap="flat" cmpd="sng" w="9525">
            <a:solidFill>
              <a:schemeClr val="dk2"/>
            </a:solidFill>
            <a:prstDash val="solid"/>
            <a:round/>
            <a:headEnd len="med" w="med" type="none"/>
            <a:tailEnd len="med" w="med" type="none"/>
          </a:ln>
        </p:spPr>
      </p:cxnSp>
      <p:cxnSp>
        <p:nvCxnSpPr>
          <p:cNvPr id="1011" name="Google Shape;1011;p63"/>
          <p:cNvCxnSpPr>
            <a:stCxn id="1007" idx="6"/>
          </p:cNvCxnSpPr>
          <p:nvPr/>
        </p:nvCxnSpPr>
        <p:spPr>
          <a:xfrm>
            <a:off x="993150" y="1836475"/>
            <a:ext cx="675000" cy="0"/>
          </a:xfrm>
          <a:prstGeom prst="straightConnector1">
            <a:avLst/>
          </a:prstGeom>
          <a:noFill/>
          <a:ln cap="flat" cmpd="sng" w="9525">
            <a:solidFill>
              <a:schemeClr val="dk2"/>
            </a:solidFill>
            <a:prstDash val="solid"/>
            <a:round/>
            <a:headEnd len="med" w="med" type="none"/>
            <a:tailEnd len="med" w="med" type="none"/>
          </a:ln>
        </p:spPr>
      </p:cxnSp>
      <p:sp>
        <p:nvSpPr>
          <p:cNvPr id="1012" name="Google Shape;1012;p63"/>
          <p:cNvSpPr txBox="1"/>
          <p:nvPr/>
        </p:nvSpPr>
        <p:spPr>
          <a:xfrm>
            <a:off x="5065735" y="2021865"/>
            <a:ext cx="904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Person</a:t>
            </a:r>
            <a:endParaRPr>
              <a:solidFill>
                <a:schemeClr val="dk2"/>
              </a:solidFill>
            </a:endParaRPr>
          </a:p>
        </p:txBody>
      </p:sp>
      <p:sp>
        <p:nvSpPr>
          <p:cNvPr id="1013" name="Google Shape;1013;p63"/>
          <p:cNvSpPr/>
          <p:nvPr/>
        </p:nvSpPr>
        <p:spPr>
          <a:xfrm>
            <a:off x="6289600" y="1410225"/>
            <a:ext cx="2127000" cy="64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Order</a:t>
            </a:r>
            <a:endParaRPr sz="1600"/>
          </a:p>
        </p:txBody>
      </p:sp>
      <p:grpSp>
        <p:nvGrpSpPr>
          <p:cNvPr id="1014" name="Google Shape;1014;p63"/>
          <p:cNvGrpSpPr/>
          <p:nvPr/>
        </p:nvGrpSpPr>
        <p:grpSpPr>
          <a:xfrm>
            <a:off x="8119709" y="1478756"/>
            <a:ext cx="253440" cy="250500"/>
            <a:chOff x="3861221" y="2397831"/>
            <a:chExt cx="253440" cy="250500"/>
          </a:xfrm>
        </p:grpSpPr>
        <p:sp>
          <p:nvSpPr>
            <p:cNvPr id="1015" name="Google Shape;1015;p63"/>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6" name="Google Shape;1016;p63"/>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7" name="Google Shape;1017;p63"/>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18" name="Google Shape;1018;p63"/>
          <p:cNvSpPr/>
          <p:nvPr/>
        </p:nvSpPr>
        <p:spPr>
          <a:xfrm>
            <a:off x="6289600" y="2059750"/>
            <a:ext cx="2127000" cy="1894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&lt;&lt;provided interfaces&gt;&gt;</a:t>
            </a:r>
            <a:endParaRPr/>
          </a:p>
          <a:p>
            <a:pPr indent="0" lvl="0" marL="0" rtl="0" algn="l">
              <a:spcBef>
                <a:spcPts val="0"/>
              </a:spcBef>
              <a:spcAft>
                <a:spcPts val="0"/>
              </a:spcAft>
              <a:buNone/>
            </a:pPr>
            <a:r>
              <a:rPr lang="en-GB"/>
              <a:t>   OrderEntry</a:t>
            </a:r>
            <a:endParaRPr/>
          </a:p>
          <a:p>
            <a:pPr indent="0" lvl="0" marL="0" rtl="0" algn="l">
              <a:spcBef>
                <a:spcPts val="0"/>
              </a:spcBef>
              <a:spcAft>
                <a:spcPts val="0"/>
              </a:spcAft>
              <a:buNone/>
            </a:pPr>
            <a:r>
              <a:rPr lang="en-GB"/>
              <a:t>   Billing</a:t>
            </a:r>
            <a:endParaRPr/>
          </a:p>
          <a:p>
            <a:pPr indent="0" lvl="0" marL="0" rtl="0" algn="l">
              <a:spcBef>
                <a:spcPts val="0"/>
              </a:spcBef>
              <a:spcAft>
                <a:spcPts val="0"/>
              </a:spcAft>
              <a:buNone/>
            </a:pPr>
            <a:r>
              <a:rPr lang="en-GB"/>
              <a:t>&lt;&lt;required interfaces&gt;&gt;</a:t>
            </a:r>
            <a:endParaRPr/>
          </a:p>
          <a:p>
            <a:pPr indent="0" lvl="0" marL="0" rtl="0" algn="l">
              <a:spcBef>
                <a:spcPts val="0"/>
              </a:spcBef>
              <a:spcAft>
                <a:spcPts val="0"/>
              </a:spcAft>
              <a:buNone/>
            </a:pPr>
            <a:r>
              <a:rPr lang="en-GB"/>
              <a:t>   Invoice</a:t>
            </a:r>
            <a:endParaRPr/>
          </a:p>
          <a:p>
            <a:pPr indent="0" lvl="0" marL="0" rtl="0" algn="l">
              <a:spcBef>
                <a:spcPts val="0"/>
              </a:spcBef>
              <a:spcAft>
                <a:spcPts val="0"/>
              </a:spcAft>
              <a:buNone/>
            </a:pPr>
            <a:r>
              <a:rPr lang="en-GB"/>
              <a:t>      create(...)</a:t>
            </a:r>
            <a:endParaRPr/>
          </a:p>
          <a:p>
            <a:pPr indent="0" lvl="0" marL="0" rtl="0" algn="l">
              <a:spcBef>
                <a:spcPts val="0"/>
              </a:spcBef>
              <a:spcAft>
                <a:spcPts val="0"/>
              </a:spcAft>
              <a:buNone/>
            </a:pPr>
            <a:r>
              <a:rPr lang="en-GB"/>
              <a:t>      registerPayment(...)</a:t>
            </a:r>
            <a:endParaRPr/>
          </a:p>
          <a:p>
            <a:pPr indent="0" lvl="0" marL="0" rtl="0" algn="l">
              <a:spcBef>
                <a:spcPts val="0"/>
              </a:spcBef>
              <a:spcAft>
                <a:spcPts val="0"/>
              </a:spcAft>
              <a:buNone/>
            </a:pPr>
            <a:r>
              <a:rPr lang="en-GB"/>
              <a:t>   …</a:t>
            </a:r>
            <a:endParaRPr/>
          </a:p>
        </p:txBody>
      </p:sp>
      <p:sp>
        <p:nvSpPr>
          <p:cNvPr id="1019" name="Google Shape;1019;p63"/>
          <p:cNvSpPr/>
          <p:nvPr/>
        </p:nvSpPr>
        <p:spPr>
          <a:xfrm>
            <a:off x="2590075" y="2227175"/>
            <a:ext cx="1537200" cy="64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OrderHeader</a:t>
            </a:r>
            <a:endParaRPr sz="1600"/>
          </a:p>
        </p:txBody>
      </p:sp>
      <p:sp>
        <p:nvSpPr>
          <p:cNvPr id="1020" name="Google Shape;1020;p63"/>
          <p:cNvSpPr/>
          <p:nvPr/>
        </p:nvSpPr>
        <p:spPr>
          <a:xfrm>
            <a:off x="2590075" y="3751175"/>
            <a:ext cx="1537200" cy="64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LineItem</a:t>
            </a:r>
            <a:endParaRPr sz="1600"/>
          </a:p>
        </p:txBody>
      </p:sp>
      <p:sp>
        <p:nvSpPr>
          <p:cNvPr id="1021" name="Google Shape;1021;p63"/>
          <p:cNvSpPr/>
          <p:nvPr/>
        </p:nvSpPr>
        <p:spPr>
          <a:xfrm>
            <a:off x="3258898" y="2886015"/>
            <a:ext cx="209700" cy="179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1022" name="Google Shape;1022;p63"/>
          <p:cNvCxnSpPr>
            <a:stCxn id="1021" idx="2"/>
            <a:endCxn id="1020" idx="0"/>
          </p:cNvCxnSpPr>
          <p:nvPr/>
        </p:nvCxnSpPr>
        <p:spPr>
          <a:xfrm flipH="1">
            <a:off x="3358648" y="3065715"/>
            <a:ext cx="5100" cy="685500"/>
          </a:xfrm>
          <a:prstGeom prst="straightConnector1">
            <a:avLst/>
          </a:prstGeom>
          <a:noFill/>
          <a:ln cap="flat" cmpd="sng" w="9525">
            <a:solidFill>
              <a:schemeClr val="dk2"/>
            </a:solidFill>
            <a:prstDash val="solid"/>
            <a:round/>
            <a:headEnd len="med" w="med" type="none"/>
            <a:tailEnd len="med" w="med" type="none"/>
          </a:ln>
        </p:spPr>
      </p:cxnSp>
      <p:sp>
        <p:nvSpPr>
          <p:cNvPr id="1023" name="Google Shape;1023;p63"/>
          <p:cNvSpPr txBox="1"/>
          <p:nvPr/>
        </p:nvSpPr>
        <p:spPr>
          <a:xfrm>
            <a:off x="3389331" y="2936276"/>
            <a:ext cx="3363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1</a:t>
            </a:r>
            <a:endParaRPr>
              <a:solidFill>
                <a:schemeClr val="dk2"/>
              </a:solidFill>
            </a:endParaRPr>
          </a:p>
        </p:txBody>
      </p:sp>
      <p:sp>
        <p:nvSpPr>
          <p:cNvPr id="1024" name="Google Shape;1024;p63"/>
          <p:cNvSpPr txBox="1"/>
          <p:nvPr/>
        </p:nvSpPr>
        <p:spPr>
          <a:xfrm>
            <a:off x="3389331" y="3393476"/>
            <a:ext cx="3363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a:t>
            </a:r>
            <a:endParaRPr>
              <a:solidFill>
                <a:schemeClr val="dk2"/>
              </a:solidFill>
            </a:endParaRPr>
          </a:p>
        </p:txBody>
      </p:sp>
      <p:sp>
        <p:nvSpPr>
          <p:cNvPr id="1025" name="Google Shape;1025;p63"/>
          <p:cNvSpPr/>
          <p:nvPr/>
        </p:nvSpPr>
        <p:spPr>
          <a:xfrm>
            <a:off x="6289600" y="3954771"/>
            <a:ext cx="2127000" cy="807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realizations</a:t>
            </a:r>
            <a:r>
              <a:rPr lang="en-GB"/>
              <a:t>&gt;&gt;</a:t>
            </a:r>
            <a:endParaRPr/>
          </a:p>
          <a:p>
            <a:pPr indent="0" lvl="0" marL="0" rtl="0" algn="l">
              <a:spcBef>
                <a:spcPts val="0"/>
              </a:spcBef>
              <a:spcAft>
                <a:spcPts val="0"/>
              </a:spcAft>
              <a:buNone/>
            </a:pPr>
            <a:r>
              <a:rPr lang="en-GB"/>
              <a:t>   Order</a:t>
            </a:r>
            <a:r>
              <a:rPr lang="en-GB"/>
              <a:t>Header</a:t>
            </a:r>
            <a:endParaRPr/>
          </a:p>
          <a:p>
            <a:pPr indent="0" lvl="0" marL="0" rtl="0" algn="l">
              <a:spcBef>
                <a:spcPts val="0"/>
              </a:spcBef>
              <a:spcAft>
                <a:spcPts val="0"/>
              </a:spcAft>
              <a:buNone/>
            </a:pPr>
            <a:r>
              <a:rPr lang="en-GB"/>
              <a:t>   </a:t>
            </a:r>
            <a:r>
              <a:rPr lang="en-GB"/>
              <a:t>LineItem</a:t>
            </a:r>
            <a:endParaRPr/>
          </a:p>
        </p:txBody>
      </p:sp>
      <p:sp>
        <p:nvSpPr>
          <p:cNvPr id="1026" name="Google Shape;1026;p63"/>
          <p:cNvSpPr/>
          <p:nvPr/>
        </p:nvSpPr>
        <p:spPr>
          <a:xfrm>
            <a:off x="6289600" y="4763025"/>
            <a:ext cx="2127000" cy="64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artifacts</a:t>
            </a:r>
            <a:r>
              <a:rPr lang="en-GB"/>
              <a:t>&gt;&gt;</a:t>
            </a:r>
            <a:endParaRPr/>
          </a:p>
          <a:p>
            <a:pPr indent="0" lvl="0" marL="0" rtl="0" algn="l">
              <a:spcBef>
                <a:spcPts val="0"/>
              </a:spcBef>
              <a:spcAft>
                <a:spcPts val="0"/>
              </a:spcAft>
              <a:buNone/>
            </a:pPr>
            <a:r>
              <a:rPr lang="en-GB"/>
              <a:t>   </a:t>
            </a:r>
            <a:r>
              <a:rPr lang="en-GB"/>
              <a:t>Order.jar</a:t>
            </a:r>
            <a:endParaRPr/>
          </a:p>
        </p:txBody>
      </p:sp>
      <p:sp>
        <p:nvSpPr>
          <p:cNvPr id="1027" name="Google Shape;1027;p63"/>
          <p:cNvSpPr txBox="1"/>
          <p:nvPr/>
        </p:nvSpPr>
        <p:spPr>
          <a:xfrm>
            <a:off x="2875900" y="5652175"/>
            <a:ext cx="5799900" cy="6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rPr>
              <a:t>Các ngăn được bổ xung cho các khía cạnh khác nhau</a:t>
            </a:r>
            <a:endParaRPr i="1" sz="1800">
              <a:solidFill>
                <a:schemeClr val="dk2"/>
              </a:solidFill>
            </a:endParaRPr>
          </a:p>
        </p:txBody>
      </p:sp>
      <p:cxnSp>
        <p:nvCxnSpPr>
          <p:cNvPr id="1028" name="Google Shape;1028;p63"/>
          <p:cNvCxnSpPr>
            <a:endCxn id="1025" idx="1"/>
          </p:cNvCxnSpPr>
          <p:nvPr/>
        </p:nvCxnSpPr>
        <p:spPr>
          <a:xfrm flipH="1" rot="10800000">
            <a:off x="5062000" y="4358721"/>
            <a:ext cx="1227600" cy="12435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6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Chuyển tiếp giao diện bên trong thành phần</a:t>
            </a:r>
            <a:endParaRPr/>
          </a:p>
        </p:txBody>
      </p:sp>
      <p:sp>
        <p:nvSpPr>
          <p:cNvPr id="1034" name="Google Shape;1034;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35" name="Google Shape;1035;p64"/>
          <p:cNvSpPr/>
          <p:nvPr/>
        </p:nvSpPr>
        <p:spPr>
          <a:xfrm>
            <a:off x="1668025" y="1410225"/>
            <a:ext cx="6285900" cy="4778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&lt;&lt;component&gt;&gt;</a:t>
            </a:r>
            <a:endParaRPr/>
          </a:p>
          <a:p>
            <a:pPr indent="0" lvl="0" marL="0" rtl="0" algn="ctr">
              <a:spcBef>
                <a:spcPts val="0"/>
              </a:spcBef>
              <a:spcAft>
                <a:spcPts val="0"/>
              </a:spcAft>
              <a:buNone/>
            </a:pPr>
            <a:r>
              <a:rPr lang="en-GB" sz="1600"/>
              <a:t>Store</a:t>
            </a:r>
            <a:endParaRPr sz="1600"/>
          </a:p>
        </p:txBody>
      </p:sp>
      <p:grpSp>
        <p:nvGrpSpPr>
          <p:cNvPr id="1036" name="Google Shape;1036;p64"/>
          <p:cNvGrpSpPr/>
          <p:nvPr/>
        </p:nvGrpSpPr>
        <p:grpSpPr>
          <a:xfrm>
            <a:off x="7586309" y="1478756"/>
            <a:ext cx="253440" cy="250500"/>
            <a:chOff x="3861221" y="2397831"/>
            <a:chExt cx="253440" cy="250500"/>
          </a:xfrm>
        </p:grpSpPr>
        <p:sp>
          <p:nvSpPr>
            <p:cNvPr id="1037" name="Google Shape;1037;p64"/>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8" name="Google Shape;1038;p64"/>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9" name="Google Shape;1039;p64"/>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40" name="Google Shape;1040;p64"/>
          <p:cNvSpPr/>
          <p:nvPr/>
        </p:nvSpPr>
        <p:spPr>
          <a:xfrm>
            <a:off x="957550" y="2060777"/>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1" name="Google Shape;1041;p64"/>
          <p:cNvSpPr txBox="1"/>
          <p:nvPr/>
        </p:nvSpPr>
        <p:spPr>
          <a:xfrm>
            <a:off x="582576" y="2230500"/>
            <a:ext cx="11544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OrderEntry</a:t>
            </a:r>
            <a:endParaRPr>
              <a:solidFill>
                <a:schemeClr val="dk2"/>
              </a:solidFill>
            </a:endParaRPr>
          </a:p>
        </p:txBody>
      </p:sp>
      <p:sp>
        <p:nvSpPr>
          <p:cNvPr id="1042" name="Google Shape;1042;p64"/>
          <p:cNvSpPr/>
          <p:nvPr/>
        </p:nvSpPr>
        <p:spPr>
          <a:xfrm>
            <a:off x="8232550" y="4165448"/>
            <a:ext cx="336300" cy="339300"/>
          </a:xfrm>
          <a:prstGeom prst="arc">
            <a:avLst>
              <a:gd fmla="val 4249350" name="adj1"/>
              <a:gd fmla="val 1715639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3" name="Google Shape;1043;p64"/>
          <p:cNvCxnSpPr/>
          <p:nvPr/>
        </p:nvCxnSpPr>
        <p:spPr>
          <a:xfrm>
            <a:off x="7944042" y="4346108"/>
            <a:ext cx="279600" cy="0"/>
          </a:xfrm>
          <a:prstGeom prst="straightConnector1">
            <a:avLst/>
          </a:prstGeom>
          <a:noFill/>
          <a:ln cap="flat" cmpd="sng" w="9525">
            <a:solidFill>
              <a:schemeClr val="dk2"/>
            </a:solidFill>
            <a:prstDash val="solid"/>
            <a:round/>
            <a:headEnd len="med" w="med" type="none"/>
            <a:tailEnd len="med" w="med" type="none"/>
          </a:ln>
        </p:spPr>
      </p:cxnSp>
      <p:cxnSp>
        <p:nvCxnSpPr>
          <p:cNvPr id="1044" name="Google Shape;1044;p64"/>
          <p:cNvCxnSpPr>
            <a:stCxn id="1040" idx="6"/>
          </p:cNvCxnSpPr>
          <p:nvPr/>
        </p:nvCxnSpPr>
        <p:spPr>
          <a:xfrm>
            <a:off x="1145650" y="2154827"/>
            <a:ext cx="482400" cy="0"/>
          </a:xfrm>
          <a:prstGeom prst="straightConnector1">
            <a:avLst/>
          </a:prstGeom>
          <a:noFill/>
          <a:ln cap="flat" cmpd="sng" w="9525">
            <a:solidFill>
              <a:schemeClr val="dk2"/>
            </a:solidFill>
            <a:prstDash val="solid"/>
            <a:round/>
            <a:headEnd len="med" w="med" type="none"/>
            <a:tailEnd len="med" w="med" type="none"/>
          </a:ln>
        </p:spPr>
      </p:cxnSp>
      <p:sp>
        <p:nvSpPr>
          <p:cNvPr id="1045" name="Google Shape;1045;p64"/>
          <p:cNvSpPr txBox="1"/>
          <p:nvPr/>
        </p:nvSpPr>
        <p:spPr>
          <a:xfrm>
            <a:off x="8027552" y="4470248"/>
            <a:ext cx="904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Account</a:t>
            </a:r>
            <a:endParaRPr>
              <a:solidFill>
                <a:schemeClr val="dk2"/>
              </a:solidFill>
            </a:endParaRPr>
          </a:p>
        </p:txBody>
      </p:sp>
      <p:sp>
        <p:nvSpPr>
          <p:cNvPr id="1046" name="Google Shape;1046;p64"/>
          <p:cNvSpPr/>
          <p:nvPr/>
        </p:nvSpPr>
        <p:spPr>
          <a:xfrm>
            <a:off x="2763852" y="2410125"/>
            <a:ext cx="1686300" cy="98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t/>
            </a:r>
            <a:endParaRPr sz="1600"/>
          </a:p>
          <a:p>
            <a:pPr indent="0" lvl="0" marL="0" rtl="0" algn="ctr">
              <a:spcBef>
                <a:spcPts val="0"/>
              </a:spcBef>
              <a:spcAft>
                <a:spcPts val="0"/>
              </a:spcAft>
              <a:buNone/>
            </a:pPr>
            <a:r>
              <a:rPr lang="en-GB" sz="1600"/>
              <a:t>:</a:t>
            </a:r>
            <a:r>
              <a:rPr lang="en-GB" sz="1600"/>
              <a:t>Order</a:t>
            </a:r>
            <a:endParaRPr sz="1600"/>
          </a:p>
        </p:txBody>
      </p:sp>
      <p:grpSp>
        <p:nvGrpSpPr>
          <p:cNvPr id="1047" name="Google Shape;1047;p64"/>
          <p:cNvGrpSpPr/>
          <p:nvPr/>
        </p:nvGrpSpPr>
        <p:grpSpPr>
          <a:xfrm>
            <a:off x="4153336" y="2478656"/>
            <a:ext cx="253440" cy="250500"/>
            <a:chOff x="3861221" y="2397831"/>
            <a:chExt cx="253440" cy="250500"/>
          </a:xfrm>
        </p:grpSpPr>
        <p:sp>
          <p:nvSpPr>
            <p:cNvPr id="1048" name="Google Shape;1048;p64"/>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9" name="Google Shape;1049;p64"/>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0" name="Google Shape;1050;p64"/>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51" name="Google Shape;1051;p64"/>
          <p:cNvSpPr/>
          <p:nvPr/>
        </p:nvSpPr>
        <p:spPr>
          <a:xfrm>
            <a:off x="5613200" y="2410125"/>
            <a:ext cx="1686300" cy="98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t/>
            </a:r>
            <a:endParaRPr sz="1600"/>
          </a:p>
          <a:p>
            <a:pPr indent="0" lvl="0" marL="0" rtl="0" algn="ctr">
              <a:spcBef>
                <a:spcPts val="0"/>
              </a:spcBef>
              <a:spcAft>
                <a:spcPts val="0"/>
              </a:spcAft>
              <a:buNone/>
            </a:pPr>
            <a:r>
              <a:rPr lang="en-GB" sz="1600"/>
              <a:t>:</a:t>
            </a:r>
            <a:r>
              <a:rPr lang="en-GB" sz="1600"/>
              <a:t>Customer</a:t>
            </a:r>
            <a:endParaRPr sz="1600"/>
          </a:p>
        </p:txBody>
      </p:sp>
      <p:grpSp>
        <p:nvGrpSpPr>
          <p:cNvPr id="1052" name="Google Shape;1052;p64"/>
          <p:cNvGrpSpPr/>
          <p:nvPr/>
        </p:nvGrpSpPr>
        <p:grpSpPr>
          <a:xfrm>
            <a:off x="7002684" y="2478656"/>
            <a:ext cx="253440" cy="250500"/>
            <a:chOff x="3861221" y="2397831"/>
            <a:chExt cx="253440" cy="250500"/>
          </a:xfrm>
        </p:grpSpPr>
        <p:sp>
          <p:nvSpPr>
            <p:cNvPr id="1053" name="Google Shape;1053;p64"/>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64"/>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5" name="Google Shape;1055;p64"/>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56" name="Google Shape;1056;p64"/>
          <p:cNvSpPr/>
          <p:nvPr/>
        </p:nvSpPr>
        <p:spPr>
          <a:xfrm>
            <a:off x="2717600" y="5000925"/>
            <a:ext cx="1686300" cy="98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t/>
            </a:r>
            <a:endParaRPr sz="1600"/>
          </a:p>
          <a:p>
            <a:pPr indent="0" lvl="0" marL="0" rtl="0" algn="ctr">
              <a:spcBef>
                <a:spcPts val="0"/>
              </a:spcBef>
              <a:spcAft>
                <a:spcPts val="0"/>
              </a:spcAft>
              <a:buNone/>
            </a:pPr>
            <a:r>
              <a:rPr lang="en-GB" sz="1600"/>
              <a:t>:</a:t>
            </a:r>
            <a:r>
              <a:rPr lang="en-GB" sz="1600"/>
              <a:t>Product</a:t>
            </a:r>
            <a:endParaRPr sz="1600"/>
          </a:p>
        </p:txBody>
      </p:sp>
      <p:grpSp>
        <p:nvGrpSpPr>
          <p:cNvPr id="1057" name="Google Shape;1057;p64"/>
          <p:cNvGrpSpPr/>
          <p:nvPr/>
        </p:nvGrpSpPr>
        <p:grpSpPr>
          <a:xfrm>
            <a:off x="4107084" y="5069456"/>
            <a:ext cx="253440" cy="250500"/>
            <a:chOff x="3861221" y="2397831"/>
            <a:chExt cx="253440" cy="250500"/>
          </a:xfrm>
        </p:grpSpPr>
        <p:sp>
          <p:nvSpPr>
            <p:cNvPr id="1058" name="Google Shape;1058;p64"/>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9" name="Google Shape;1059;p64"/>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0" name="Google Shape;1060;p64"/>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61" name="Google Shape;1061;p64"/>
          <p:cNvSpPr/>
          <p:nvPr/>
        </p:nvSpPr>
        <p:spPr>
          <a:xfrm>
            <a:off x="1634342" y="2097653"/>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2" name="Google Shape;1062;p64"/>
          <p:cNvSpPr/>
          <p:nvPr/>
        </p:nvSpPr>
        <p:spPr>
          <a:xfrm>
            <a:off x="2024350" y="2746577"/>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3" name="Google Shape;1063;p64"/>
          <p:cNvSpPr txBox="1"/>
          <p:nvPr/>
        </p:nvSpPr>
        <p:spPr>
          <a:xfrm>
            <a:off x="1705615" y="2916300"/>
            <a:ext cx="11544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OrderEntry</a:t>
            </a:r>
            <a:endParaRPr>
              <a:solidFill>
                <a:schemeClr val="dk2"/>
              </a:solidFill>
            </a:endParaRPr>
          </a:p>
        </p:txBody>
      </p:sp>
      <p:cxnSp>
        <p:nvCxnSpPr>
          <p:cNvPr id="1064" name="Google Shape;1064;p64"/>
          <p:cNvCxnSpPr>
            <a:stCxn id="1062" idx="6"/>
          </p:cNvCxnSpPr>
          <p:nvPr/>
        </p:nvCxnSpPr>
        <p:spPr>
          <a:xfrm>
            <a:off x="2212450" y="2840627"/>
            <a:ext cx="482400" cy="0"/>
          </a:xfrm>
          <a:prstGeom prst="straightConnector1">
            <a:avLst/>
          </a:prstGeom>
          <a:noFill/>
          <a:ln cap="flat" cmpd="sng" w="9525">
            <a:solidFill>
              <a:schemeClr val="dk2"/>
            </a:solidFill>
            <a:prstDash val="solid"/>
            <a:round/>
            <a:headEnd len="med" w="med" type="none"/>
            <a:tailEnd len="med" w="med" type="none"/>
          </a:ln>
        </p:spPr>
      </p:cxnSp>
      <p:sp>
        <p:nvSpPr>
          <p:cNvPr id="1065" name="Google Shape;1065;p64"/>
          <p:cNvSpPr/>
          <p:nvPr/>
        </p:nvSpPr>
        <p:spPr>
          <a:xfrm>
            <a:off x="2701142" y="2783453"/>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66" name="Google Shape;1066;p64"/>
          <p:cNvCxnSpPr>
            <a:stCxn id="1061" idx="3"/>
            <a:endCxn id="1062" idx="0"/>
          </p:cNvCxnSpPr>
          <p:nvPr/>
        </p:nvCxnSpPr>
        <p:spPr>
          <a:xfrm>
            <a:off x="1737842" y="2150153"/>
            <a:ext cx="380700" cy="596400"/>
          </a:xfrm>
          <a:prstGeom prst="bentConnector2">
            <a:avLst/>
          </a:prstGeom>
          <a:noFill/>
          <a:ln cap="flat" cmpd="sng" w="9525">
            <a:solidFill>
              <a:schemeClr val="dk2"/>
            </a:solidFill>
            <a:prstDash val="solid"/>
            <a:round/>
            <a:headEnd len="med" w="med" type="none"/>
            <a:tailEnd len="med" w="med" type="none"/>
          </a:ln>
        </p:spPr>
      </p:cxnSp>
      <p:sp>
        <p:nvSpPr>
          <p:cNvPr id="1067" name="Google Shape;1067;p64"/>
          <p:cNvSpPr/>
          <p:nvPr/>
        </p:nvSpPr>
        <p:spPr>
          <a:xfrm>
            <a:off x="4387525" y="2783453"/>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8" name="Google Shape;1068;p64"/>
          <p:cNvSpPr/>
          <p:nvPr/>
        </p:nvSpPr>
        <p:spPr>
          <a:xfrm>
            <a:off x="3569290" y="3336818"/>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9" name="Google Shape;1069;p64"/>
          <p:cNvSpPr/>
          <p:nvPr/>
        </p:nvSpPr>
        <p:spPr>
          <a:xfrm>
            <a:off x="3569290" y="4937018"/>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0" name="Google Shape;1070;p64"/>
          <p:cNvSpPr/>
          <p:nvPr/>
        </p:nvSpPr>
        <p:spPr>
          <a:xfrm>
            <a:off x="5560472" y="2803418"/>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1" name="Google Shape;1071;p64"/>
          <p:cNvSpPr/>
          <p:nvPr/>
        </p:nvSpPr>
        <p:spPr>
          <a:xfrm>
            <a:off x="6474872" y="3336818"/>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2" name="Google Shape;1072;p64"/>
          <p:cNvSpPr/>
          <p:nvPr/>
        </p:nvSpPr>
        <p:spPr>
          <a:xfrm>
            <a:off x="7912690" y="4297470"/>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3" name="Google Shape;1073;p64"/>
          <p:cNvSpPr/>
          <p:nvPr/>
        </p:nvSpPr>
        <p:spPr>
          <a:xfrm>
            <a:off x="5138567" y="2756560"/>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74" name="Google Shape;1074;p64"/>
          <p:cNvCxnSpPr>
            <a:stCxn id="1073" idx="6"/>
          </p:cNvCxnSpPr>
          <p:nvPr/>
        </p:nvCxnSpPr>
        <p:spPr>
          <a:xfrm>
            <a:off x="5326667" y="2850610"/>
            <a:ext cx="244500" cy="0"/>
          </a:xfrm>
          <a:prstGeom prst="straightConnector1">
            <a:avLst/>
          </a:prstGeom>
          <a:noFill/>
          <a:ln cap="flat" cmpd="sng" w="9525">
            <a:solidFill>
              <a:schemeClr val="dk2"/>
            </a:solidFill>
            <a:prstDash val="solid"/>
            <a:round/>
            <a:headEnd len="med" w="med" type="none"/>
            <a:tailEnd len="med" w="med" type="none"/>
          </a:ln>
        </p:spPr>
      </p:cxnSp>
      <p:sp>
        <p:nvSpPr>
          <p:cNvPr id="1075" name="Google Shape;1075;p64"/>
          <p:cNvSpPr/>
          <p:nvPr/>
        </p:nvSpPr>
        <p:spPr>
          <a:xfrm>
            <a:off x="5047875" y="2684717"/>
            <a:ext cx="336300" cy="339300"/>
          </a:xfrm>
          <a:prstGeom prst="arc">
            <a:avLst>
              <a:gd fmla="val 5944629" name="adj1"/>
              <a:gd fmla="val 15943035" name="adj2"/>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1076" name="Google Shape;1076;p64"/>
          <p:cNvCxnSpPr>
            <a:stCxn id="1067" idx="3"/>
          </p:cNvCxnSpPr>
          <p:nvPr/>
        </p:nvCxnSpPr>
        <p:spPr>
          <a:xfrm>
            <a:off x="4491025" y="2835953"/>
            <a:ext cx="561000" cy="0"/>
          </a:xfrm>
          <a:prstGeom prst="straightConnector1">
            <a:avLst/>
          </a:prstGeom>
          <a:noFill/>
          <a:ln cap="flat" cmpd="sng" w="9525">
            <a:solidFill>
              <a:schemeClr val="dk2"/>
            </a:solidFill>
            <a:prstDash val="solid"/>
            <a:round/>
            <a:headEnd len="med" w="med" type="none"/>
            <a:tailEnd len="med" w="med" type="none"/>
          </a:ln>
        </p:spPr>
      </p:cxnSp>
      <p:sp>
        <p:nvSpPr>
          <p:cNvPr id="1077" name="Google Shape;1077;p64"/>
          <p:cNvSpPr txBox="1"/>
          <p:nvPr/>
        </p:nvSpPr>
        <p:spPr>
          <a:xfrm>
            <a:off x="4432517" y="2886352"/>
            <a:ext cx="765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Person</a:t>
            </a:r>
            <a:endParaRPr>
              <a:solidFill>
                <a:schemeClr val="dk2"/>
              </a:solidFill>
            </a:endParaRPr>
          </a:p>
        </p:txBody>
      </p:sp>
      <p:sp>
        <p:nvSpPr>
          <p:cNvPr id="1078" name="Google Shape;1078;p64"/>
          <p:cNvSpPr txBox="1"/>
          <p:nvPr/>
        </p:nvSpPr>
        <p:spPr>
          <a:xfrm>
            <a:off x="4889717" y="2352952"/>
            <a:ext cx="765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Person</a:t>
            </a:r>
            <a:endParaRPr>
              <a:solidFill>
                <a:schemeClr val="dk2"/>
              </a:solidFill>
            </a:endParaRPr>
          </a:p>
        </p:txBody>
      </p:sp>
      <p:sp>
        <p:nvSpPr>
          <p:cNvPr id="1079" name="Google Shape;1079;p64"/>
          <p:cNvSpPr/>
          <p:nvPr/>
        </p:nvSpPr>
        <p:spPr>
          <a:xfrm>
            <a:off x="3538367" y="4194377"/>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80" name="Google Shape;1080;p64"/>
          <p:cNvCxnSpPr>
            <a:stCxn id="1069" idx="0"/>
            <a:endCxn id="1079" idx="4"/>
          </p:cNvCxnSpPr>
          <p:nvPr/>
        </p:nvCxnSpPr>
        <p:spPr>
          <a:xfrm flipH="1" rot="10800000">
            <a:off x="3621040" y="4382618"/>
            <a:ext cx="11400" cy="554400"/>
          </a:xfrm>
          <a:prstGeom prst="straightConnector1">
            <a:avLst/>
          </a:prstGeom>
          <a:noFill/>
          <a:ln cap="flat" cmpd="sng" w="9525">
            <a:solidFill>
              <a:schemeClr val="dk2"/>
            </a:solidFill>
            <a:prstDash val="solid"/>
            <a:round/>
            <a:headEnd len="med" w="med" type="none"/>
            <a:tailEnd len="med" w="med" type="none"/>
          </a:ln>
        </p:spPr>
      </p:cxnSp>
      <p:sp>
        <p:nvSpPr>
          <p:cNvPr id="1081" name="Google Shape;1081;p64"/>
          <p:cNvSpPr/>
          <p:nvPr/>
        </p:nvSpPr>
        <p:spPr>
          <a:xfrm>
            <a:off x="3457658" y="4132517"/>
            <a:ext cx="336300" cy="339300"/>
          </a:xfrm>
          <a:prstGeom prst="arc">
            <a:avLst>
              <a:gd fmla="val 10975563" name="adj1"/>
              <a:gd fmla="val 176476" name="adj2"/>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082" name="Google Shape;1082;p64"/>
          <p:cNvSpPr txBox="1"/>
          <p:nvPr/>
        </p:nvSpPr>
        <p:spPr>
          <a:xfrm>
            <a:off x="3594325" y="3572150"/>
            <a:ext cx="13980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OrderableItem</a:t>
            </a:r>
            <a:endParaRPr>
              <a:solidFill>
                <a:schemeClr val="dk2"/>
              </a:solidFill>
            </a:endParaRPr>
          </a:p>
        </p:txBody>
      </p:sp>
      <p:cxnSp>
        <p:nvCxnSpPr>
          <p:cNvPr id="1083" name="Google Shape;1083;p64"/>
          <p:cNvCxnSpPr>
            <a:stCxn id="1068" idx="2"/>
          </p:cNvCxnSpPr>
          <p:nvPr/>
        </p:nvCxnSpPr>
        <p:spPr>
          <a:xfrm>
            <a:off x="3621040" y="3441818"/>
            <a:ext cx="0" cy="690300"/>
          </a:xfrm>
          <a:prstGeom prst="straightConnector1">
            <a:avLst/>
          </a:prstGeom>
          <a:noFill/>
          <a:ln cap="flat" cmpd="sng" w="9525">
            <a:solidFill>
              <a:schemeClr val="dk2"/>
            </a:solidFill>
            <a:prstDash val="solid"/>
            <a:round/>
            <a:headEnd len="med" w="med" type="none"/>
            <a:tailEnd len="med" w="med" type="none"/>
          </a:ln>
        </p:spPr>
      </p:cxnSp>
      <p:sp>
        <p:nvSpPr>
          <p:cNvPr id="1084" name="Google Shape;1084;p64"/>
          <p:cNvSpPr txBox="1"/>
          <p:nvPr/>
        </p:nvSpPr>
        <p:spPr>
          <a:xfrm>
            <a:off x="3594325" y="4410350"/>
            <a:ext cx="13980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OrderableItem</a:t>
            </a:r>
            <a:endParaRPr>
              <a:solidFill>
                <a:schemeClr val="dk2"/>
              </a:solidFill>
            </a:endParaRPr>
          </a:p>
        </p:txBody>
      </p:sp>
      <p:sp>
        <p:nvSpPr>
          <p:cNvPr id="1085" name="Google Shape;1085;p64"/>
          <p:cNvSpPr/>
          <p:nvPr/>
        </p:nvSpPr>
        <p:spPr>
          <a:xfrm>
            <a:off x="6353258" y="3903917"/>
            <a:ext cx="336300" cy="339300"/>
          </a:xfrm>
          <a:prstGeom prst="arc">
            <a:avLst>
              <a:gd fmla="val 10975563" name="adj1"/>
              <a:gd fmla="val 176476" name="adj2"/>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1086" name="Google Shape;1086;p64"/>
          <p:cNvCxnSpPr>
            <a:stCxn id="1071" idx="2"/>
          </p:cNvCxnSpPr>
          <p:nvPr/>
        </p:nvCxnSpPr>
        <p:spPr>
          <a:xfrm>
            <a:off x="6526622" y="3441818"/>
            <a:ext cx="0" cy="450900"/>
          </a:xfrm>
          <a:prstGeom prst="straightConnector1">
            <a:avLst/>
          </a:prstGeom>
          <a:noFill/>
          <a:ln cap="flat" cmpd="sng" w="9525">
            <a:solidFill>
              <a:schemeClr val="dk2"/>
            </a:solidFill>
            <a:prstDash val="solid"/>
            <a:round/>
            <a:headEnd len="med" w="med" type="none"/>
            <a:tailEnd len="med" w="med" type="none"/>
          </a:ln>
        </p:spPr>
      </p:cxnSp>
      <p:cxnSp>
        <p:nvCxnSpPr>
          <p:cNvPr id="1087" name="Google Shape;1087;p64"/>
          <p:cNvCxnSpPr>
            <a:stCxn id="1085" idx="1"/>
            <a:endCxn id="1072" idx="1"/>
          </p:cNvCxnSpPr>
          <p:nvPr/>
        </p:nvCxnSpPr>
        <p:spPr>
          <a:xfrm flipH="1" rot="-5400000">
            <a:off x="7078958" y="3516017"/>
            <a:ext cx="276300" cy="1391400"/>
          </a:xfrm>
          <a:prstGeom prst="bent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6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a:t>
            </a:r>
            <a:r>
              <a:rPr lang="en-GB"/>
              <a:t>phụ thuộc</a:t>
            </a:r>
            <a:endParaRPr/>
          </a:p>
        </p:txBody>
      </p:sp>
      <p:sp>
        <p:nvSpPr>
          <p:cNvPr id="1093" name="Google Shape;1093;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94" name="Google Shape;1094;p65"/>
          <p:cNvSpPr/>
          <p:nvPr/>
        </p:nvSpPr>
        <p:spPr>
          <a:xfrm>
            <a:off x="2057400" y="1110100"/>
            <a:ext cx="1686300" cy="671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Order</a:t>
            </a:r>
            <a:endParaRPr sz="1600"/>
          </a:p>
        </p:txBody>
      </p:sp>
      <p:grpSp>
        <p:nvGrpSpPr>
          <p:cNvPr id="1095" name="Google Shape;1095;p65"/>
          <p:cNvGrpSpPr/>
          <p:nvPr/>
        </p:nvGrpSpPr>
        <p:grpSpPr>
          <a:xfrm>
            <a:off x="3446884" y="1178631"/>
            <a:ext cx="253440" cy="250500"/>
            <a:chOff x="3861221" y="2397831"/>
            <a:chExt cx="253440" cy="250500"/>
          </a:xfrm>
        </p:grpSpPr>
        <p:sp>
          <p:nvSpPr>
            <p:cNvPr id="1096" name="Google Shape;1096;p65"/>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65"/>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65"/>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99" name="Google Shape;1099;p65"/>
          <p:cNvSpPr/>
          <p:nvPr/>
        </p:nvSpPr>
        <p:spPr>
          <a:xfrm>
            <a:off x="2057400" y="2176900"/>
            <a:ext cx="1686300" cy="671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Product</a:t>
            </a:r>
            <a:endParaRPr sz="1600"/>
          </a:p>
        </p:txBody>
      </p:sp>
      <p:grpSp>
        <p:nvGrpSpPr>
          <p:cNvPr id="1100" name="Google Shape;1100;p65"/>
          <p:cNvGrpSpPr/>
          <p:nvPr/>
        </p:nvGrpSpPr>
        <p:grpSpPr>
          <a:xfrm>
            <a:off x="3446884" y="2245431"/>
            <a:ext cx="253440" cy="250500"/>
            <a:chOff x="3861221" y="2397831"/>
            <a:chExt cx="253440" cy="250500"/>
          </a:xfrm>
        </p:grpSpPr>
        <p:sp>
          <p:nvSpPr>
            <p:cNvPr id="1101" name="Google Shape;1101;p65"/>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2" name="Google Shape;1102;p65"/>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3" name="Google Shape;1103;p65"/>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04" name="Google Shape;1104;p65"/>
          <p:cNvSpPr/>
          <p:nvPr/>
        </p:nvSpPr>
        <p:spPr>
          <a:xfrm>
            <a:off x="4648200" y="1110100"/>
            <a:ext cx="1686300" cy="671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Account</a:t>
            </a:r>
            <a:endParaRPr sz="1600"/>
          </a:p>
        </p:txBody>
      </p:sp>
      <p:grpSp>
        <p:nvGrpSpPr>
          <p:cNvPr id="1105" name="Google Shape;1105;p65"/>
          <p:cNvGrpSpPr/>
          <p:nvPr/>
        </p:nvGrpSpPr>
        <p:grpSpPr>
          <a:xfrm>
            <a:off x="6037684" y="1178631"/>
            <a:ext cx="253440" cy="250500"/>
            <a:chOff x="3861221" y="2397831"/>
            <a:chExt cx="253440" cy="250500"/>
          </a:xfrm>
        </p:grpSpPr>
        <p:sp>
          <p:nvSpPr>
            <p:cNvPr id="1106" name="Google Shape;1106;p65"/>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7" name="Google Shape;1107;p65"/>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8" name="Google Shape;1108;p65"/>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109" name="Google Shape;1109;p65"/>
          <p:cNvCxnSpPr>
            <a:endCxn id="1104" idx="1"/>
          </p:cNvCxnSpPr>
          <p:nvPr/>
        </p:nvCxnSpPr>
        <p:spPr>
          <a:xfrm>
            <a:off x="3743700" y="1445800"/>
            <a:ext cx="904500" cy="0"/>
          </a:xfrm>
          <a:prstGeom prst="straightConnector1">
            <a:avLst/>
          </a:prstGeom>
          <a:noFill/>
          <a:ln cap="flat" cmpd="sng" w="9525">
            <a:solidFill>
              <a:schemeClr val="dk2"/>
            </a:solidFill>
            <a:prstDash val="dash"/>
            <a:round/>
            <a:headEnd len="med" w="med" type="none"/>
            <a:tailEnd len="med" w="med" type="stealth"/>
          </a:ln>
        </p:spPr>
      </p:cxnSp>
      <p:cxnSp>
        <p:nvCxnSpPr>
          <p:cNvPr id="1110" name="Google Shape;1110;p65"/>
          <p:cNvCxnSpPr>
            <a:stCxn id="1094" idx="2"/>
            <a:endCxn id="1099" idx="0"/>
          </p:cNvCxnSpPr>
          <p:nvPr/>
        </p:nvCxnSpPr>
        <p:spPr>
          <a:xfrm>
            <a:off x="2900550" y="1781500"/>
            <a:ext cx="0" cy="395400"/>
          </a:xfrm>
          <a:prstGeom prst="straightConnector1">
            <a:avLst/>
          </a:prstGeom>
          <a:noFill/>
          <a:ln cap="flat" cmpd="sng" w="9525">
            <a:solidFill>
              <a:schemeClr val="dk2"/>
            </a:solidFill>
            <a:prstDash val="dash"/>
            <a:round/>
            <a:headEnd len="med" w="med" type="none"/>
            <a:tailEnd len="med" w="med" type="stealth"/>
          </a:ln>
        </p:spPr>
      </p:cxnSp>
      <p:sp>
        <p:nvSpPr>
          <p:cNvPr id="1111" name="Google Shape;1111;p65"/>
          <p:cNvSpPr txBox="1"/>
          <p:nvPr/>
        </p:nvSpPr>
        <p:spPr>
          <a:xfrm>
            <a:off x="4190300" y="2069500"/>
            <a:ext cx="27153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rPr>
              <a:t>Tổng quan phụ thuộc</a:t>
            </a:r>
            <a:endParaRPr i="1" sz="1800">
              <a:solidFill>
                <a:schemeClr val="dk2"/>
              </a:solidFill>
            </a:endParaRPr>
          </a:p>
        </p:txBody>
      </p:sp>
      <p:sp>
        <p:nvSpPr>
          <p:cNvPr id="1112" name="Google Shape;1112;p65"/>
          <p:cNvSpPr/>
          <p:nvPr/>
        </p:nvSpPr>
        <p:spPr>
          <a:xfrm>
            <a:off x="3005675" y="3094625"/>
            <a:ext cx="3032100" cy="2970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&lt;&lt;component&gt;&gt;</a:t>
            </a:r>
            <a:endParaRPr/>
          </a:p>
          <a:p>
            <a:pPr indent="0" lvl="0" marL="0" rtl="0" algn="ctr">
              <a:spcBef>
                <a:spcPts val="0"/>
              </a:spcBef>
              <a:spcAft>
                <a:spcPts val="0"/>
              </a:spcAft>
              <a:buNone/>
            </a:pPr>
            <a:r>
              <a:rPr lang="en-GB" sz="1600"/>
              <a:t>Order</a:t>
            </a:r>
            <a:endParaRPr sz="1600"/>
          </a:p>
        </p:txBody>
      </p:sp>
      <p:grpSp>
        <p:nvGrpSpPr>
          <p:cNvPr id="1113" name="Google Shape;1113;p65"/>
          <p:cNvGrpSpPr/>
          <p:nvPr/>
        </p:nvGrpSpPr>
        <p:grpSpPr>
          <a:xfrm>
            <a:off x="5690759" y="3163156"/>
            <a:ext cx="253440" cy="250500"/>
            <a:chOff x="3861221" y="2397831"/>
            <a:chExt cx="253440" cy="250500"/>
          </a:xfrm>
        </p:grpSpPr>
        <p:sp>
          <p:nvSpPr>
            <p:cNvPr id="1114" name="Google Shape;1114;p65"/>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5" name="Google Shape;1115;p65"/>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65"/>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17" name="Google Shape;1117;p65"/>
          <p:cNvSpPr/>
          <p:nvPr/>
        </p:nvSpPr>
        <p:spPr>
          <a:xfrm>
            <a:off x="3666325" y="3759175"/>
            <a:ext cx="1537200" cy="64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OrderHeader</a:t>
            </a:r>
            <a:endParaRPr sz="1600"/>
          </a:p>
        </p:txBody>
      </p:sp>
      <p:sp>
        <p:nvSpPr>
          <p:cNvPr id="1118" name="Google Shape;1118;p65"/>
          <p:cNvSpPr/>
          <p:nvPr/>
        </p:nvSpPr>
        <p:spPr>
          <a:xfrm>
            <a:off x="3666325" y="5283175"/>
            <a:ext cx="1537200" cy="64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LineItem</a:t>
            </a:r>
            <a:endParaRPr sz="1600"/>
          </a:p>
        </p:txBody>
      </p:sp>
      <p:sp>
        <p:nvSpPr>
          <p:cNvPr id="1119" name="Google Shape;1119;p65"/>
          <p:cNvSpPr/>
          <p:nvPr/>
        </p:nvSpPr>
        <p:spPr>
          <a:xfrm>
            <a:off x="4335148" y="4418015"/>
            <a:ext cx="209700" cy="179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1120" name="Google Shape;1120;p65"/>
          <p:cNvCxnSpPr>
            <a:stCxn id="1119" idx="2"/>
            <a:endCxn id="1118" idx="0"/>
          </p:cNvCxnSpPr>
          <p:nvPr/>
        </p:nvCxnSpPr>
        <p:spPr>
          <a:xfrm flipH="1">
            <a:off x="4434898" y="4597715"/>
            <a:ext cx="5100" cy="685500"/>
          </a:xfrm>
          <a:prstGeom prst="straightConnector1">
            <a:avLst/>
          </a:prstGeom>
          <a:noFill/>
          <a:ln cap="flat" cmpd="sng" w="9525">
            <a:solidFill>
              <a:schemeClr val="dk2"/>
            </a:solidFill>
            <a:prstDash val="solid"/>
            <a:round/>
            <a:headEnd len="med" w="med" type="none"/>
            <a:tailEnd len="med" w="med" type="none"/>
          </a:ln>
        </p:spPr>
      </p:cxnSp>
      <p:sp>
        <p:nvSpPr>
          <p:cNvPr id="1121" name="Google Shape;1121;p65"/>
          <p:cNvSpPr txBox="1"/>
          <p:nvPr/>
        </p:nvSpPr>
        <p:spPr>
          <a:xfrm>
            <a:off x="4465581" y="4468276"/>
            <a:ext cx="3363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1</a:t>
            </a:r>
            <a:endParaRPr>
              <a:solidFill>
                <a:schemeClr val="dk2"/>
              </a:solidFill>
            </a:endParaRPr>
          </a:p>
        </p:txBody>
      </p:sp>
      <p:sp>
        <p:nvSpPr>
          <p:cNvPr id="1122" name="Google Shape;1122;p65"/>
          <p:cNvSpPr txBox="1"/>
          <p:nvPr/>
        </p:nvSpPr>
        <p:spPr>
          <a:xfrm>
            <a:off x="4465581" y="4925476"/>
            <a:ext cx="3363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a:t>
            </a:r>
            <a:endParaRPr>
              <a:solidFill>
                <a:schemeClr val="dk2"/>
              </a:solidFill>
            </a:endParaRPr>
          </a:p>
        </p:txBody>
      </p:sp>
      <p:sp>
        <p:nvSpPr>
          <p:cNvPr id="1123" name="Google Shape;1123;p65"/>
          <p:cNvSpPr/>
          <p:nvPr/>
        </p:nvSpPr>
        <p:spPr>
          <a:xfrm>
            <a:off x="2949707" y="4032601"/>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24" name="Google Shape;1124;p65"/>
          <p:cNvCxnSpPr>
            <a:stCxn id="1123" idx="3"/>
            <a:endCxn id="1117" idx="1"/>
          </p:cNvCxnSpPr>
          <p:nvPr/>
        </p:nvCxnSpPr>
        <p:spPr>
          <a:xfrm flipH="1" rot="10800000">
            <a:off x="3053207" y="4081501"/>
            <a:ext cx="613200" cy="3600"/>
          </a:xfrm>
          <a:prstGeom prst="straightConnector1">
            <a:avLst/>
          </a:prstGeom>
          <a:noFill/>
          <a:ln cap="flat" cmpd="sng" w="9525">
            <a:solidFill>
              <a:schemeClr val="dk2"/>
            </a:solidFill>
            <a:prstDash val="dash"/>
            <a:round/>
            <a:headEnd len="med" w="med" type="none"/>
            <a:tailEnd len="med" w="med" type="stealth"/>
          </a:ln>
        </p:spPr>
      </p:cxnSp>
      <p:sp>
        <p:nvSpPr>
          <p:cNvPr id="1125" name="Google Shape;1125;p65"/>
          <p:cNvSpPr/>
          <p:nvPr/>
        </p:nvSpPr>
        <p:spPr>
          <a:xfrm>
            <a:off x="351050" y="3163150"/>
            <a:ext cx="1686300" cy="671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Account</a:t>
            </a:r>
            <a:endParaRPr sz="1600"/>
          </a:p>
        </p:txBody>
      </p:sp>
      <p:grpSp>
        <p:nvGrpSpPr>
          <p:cNvPr id="1126" name="Google Shape;1126;p65"/>
          <p:cNvGrpSpPr/>
          <p:nvPr/>
        </p:nvGrpSpPr>
        <p:grpSpPr>
          <a:xfrm>
            <a:off x="1740534" y="3231681"/>
            <a:ext cx="253440" cy="250500"/>
            <a:chOff x="3861221" y="2397831"/>
            <a:chExt cx="253440" cy="250500"/>
          </a:xfrm>
        </p:grpSpPr>
        <p:sp>
          <p:nvSpPr>
            <p:cNvPr id="1127" name="Google Shape;1127;p65"/>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8" name="Google Shape;1128;p65"/>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9" name="Google Shape;1129;p65"/>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30" name="Google Shape;1130;p65"/>
          <p:cNvSpPr/>
          <p:nvPr/>
        </p:nvSpPr>
        <p:spPr>
          <a:xfrm>
            <a:off x="1995377" y="3529148"/>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1" name="Google Shape;1131;p65"/>
          <p:cNvSpPr/>
          <p:nvPr/>
        </p:nvSpPr>
        <p:spPr>
          <a:xfrm>
            <a:off x="2297875" y="3487602"/>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32" name="Google Shape;1132;p65"/>
          <p:cNvCxnSpPr>
            <a:stCxn id="1130" idx="3"/>
            <a:endCxn id="1131" idx="2"/>
          </p:cNvCxnSpPr>
          <p:nvPr/>
        </p:nvCxnSpPr>
        <p:spPr>
          <a:xfrm>
            <a:off x="2098877" y="3581648"/>
            <a:ext cx="198900" cy="0"/>
          </a:xfrm>
          <a:prstGeom prst="straightConnector1">
            <a:avLst/>
          </a:prstGeom>
          <a:noFill/>
          <a:ln cap="flat" cmpd="sng" w="9525">
            <a:solidFill>
              <a:schemeClr val="dk2"/>
            </a:solidFill>
            <a:prstDash val="solid"/>
            <a:round/>
            <a:headEnd len="med" w="med" type="none"/>
            <a:tailEnd len="med" w="med" type="none"/>
          </a:ln>
        </p:spPr>
      </p:cxnSp>
      <p:sp>
        <p:nvSpPr>
          <p:cNvPr id="1133" name="Google Shape;1133;p65"/>
          <p:cNvSpPr/>
          <p:nvPr/>
        </p:nvSpPr>
        <p:spPr>
          <a:xfrm>
            <a:off x="2566450" y="3982440"/>
            <a:ext cx="188100" cy="188100"/>
          </a:xfrm>
          <a:prstGeom prst="arc">
            <a:avLst>
              <a:gd fmla="val 16200000" name="adj1"/>
              <a:gd fmla="val 516849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34" name="Google Shape;1134;p65"/>
          <p:cNvCxnSpPr>
            <a:stCxn id="1123" idx="1"/>
          </p:cNvCxnSpPr>
          <p:nvPr/>
        </p:nvCxnSpPr>
        <p:spPr>
          <a:xfrm rot="10800000">
            <a:off x="2756207" y="4085101"/>
            <a:ext cx="193500" cy="0"/>
          </a:xfrm>
          <a:prstGeom prst="straightConnector1">
            <a:avLst/>
          </a:prstGeom>
          <a:noFill/>
          <a:ln cap="flat" cmpd="sng" w="9525">
            <a:solidFill>
              <a:schemeClr val="dk2"/>
            </a:solidFill>
            <a:prstDash val="solid"/>
            <a:round/>
            <a:headEnd len="med" w="med" type="none"/>
            <a:tailEnd len="med" w="med" type="none"/>
          </a:ln>
        </p:spPr>
      </p:cxnSp>
      <p:cxnSp>
        <p:nvCxnSpPr>
          <p:cNvPr id="1135" name="Google Shape;1135;p65"/>
          <p:cNvCxnSpPr>
            <a:stCxn id="1133" idx="1"/>
            <a:endCxn id="1131" idx="5"/>
          </p:cNvCxnSpPr>
          <p:nvPr/>
        </p:nvCxnSpPr>
        <p:spPr>
          <a:xfrm rot="10800000">
            <a:off x="2458300" y="3648090"/>
            <a:ext cx="202200" cy="428400"/>
          </a:xfrm>
          <a:prstGeom prst="straightConnector1">
            <a:avLst/>
          </a:prstGeom>
          <a:noFill/>
          <a:ln cap="flat" cmpd="sng" w="9525">
            <a:solidFill>
              <a:schemeClr val="dk2"/>
            </a:solidFill>
            <a:prstDash val="dash"/>
            <a:round/>
            <a:headEnd len="med" w="med" type="none"/>
            <a:tailEnd len="med" w="med" type="stealth"/>
          </a:ln>
        </p:spPr>
      </p:cxnSp>
      <p:sp>
        <p:nvSpPr>
          <p:cNvPr id="1136" name="Google Shape;1136;p65"/>
          <p:cNvSpPr txBox="1"/>
          <p:nvPr/>
        </p:nvSpPr>
        <p:spPr>
          <a:xfrm>
            <a:off x="1724250" y="4106025"/>
            <a:ext cx="1357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AccountPayable</a:t>
            </a:r>
            <a:endParaRPr sz="1200">
              <a:solidFill>
                <a:schemeClr val="dk2"/>
              </a:solidFill>
            </a:endParaRPr>
          </a:p>
        </p:txBody>
      </p:sp>
      <p:sp>
        <p:nvSpPr>
          <p:cNvPr id="1137" name="Google Shape;1137;p65"/>
          <p:cNvSpPr txBox="1"/>
          <p:nvPr/>
        </p:nvSpPr>
        <p:spPr>
          <a:xfrm>
            <a:off x="1981200" y="3115425"/>
            <a:ext cx="8433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Account</a:t>
            </a:r>
            <a:endParaRPr>
              <a:solidFill>
                <a:schemeClr val="dk2"/>
              </a:solidFill>
            </a:endParaRPr>
          </a:p>
        </p:txBody>
      </p:sp>
      <p:sp>
        <p:nvSpPr>
          <p:cNvPr id="1138" name="Google Shape;1138;p65"/>
          <p:cNvSpPr/>
          <p:nvPr/>
        </p:nvSpPr>
        <p:spPr>
          <a:xfrm>
            <a:off x="7162800" y="3167500"/>
            <a:ext cx="1686300" cy="671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sz="1600"/>
              <a:t>Product</a:t>
            </a:r>
            <a:endParaRPr sz="1600"/>
          </a:p>
        </p:txBody>
      </p:sp>
      <p:grpSp>
        <p:nvGrpSpPr>
          <p:cNvPr id="1139" name="Google Shape;1139;p65"/>
          <p:cNvGrpSpPr/>
          <p:nvPr/>
        </p:nvGrpSpPr>
        <p:grpSpPr>
          <a:xfrm>
            <a:off x="8552284" y="3388431"/>
            <a:ext cx="253440" cy="250500"/>
            <a:chOff x="3861221" y="2397831"/>
            <a:chExt cx="253440" cy="250500"/>
          </a:xfrm>
        </p:grpSpPr>
        <p:sp>
          <p:nvSpPr>
            <p:cNvPr id="1140" name="Google Shape;1140;p65"/>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1" name="Google Shape;1141;p65"/>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2" name="Google Shape;1142;p65"/>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43" name="Google Shape;1143;p65"/>
          <p:cNvSpPr/>
          <p:nvPr/>
        </p:nvSpPr>
        <p:spPr>
          <a:xfrm>
            <a:off x="6717475" y="3411402"/>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4" name="Google Shape;1144;p65"/>
          <p:cNvSpPr/>
          <p:nvPr/>
        </p:nvSpPr>
        <p:spPr>
          <a:xfrm>
            <a:off x="7110759" y="3452948"/>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45" name="Google Shape;1145;p65"/>
          <p:cNvCxnSpPr>
            <a:endCxn id="1144" idx="1"/>
          </p:cNvCxnSpPr>
          <p:nvPr/>
        </p:nvCxnSpPr>
        <p:spPr>
          <a:xfrm>
            <a:off x="6905559" y="3505448"/>
            <a:ext cx="205200" cy="0"/>
          </a:xfrm>
          <a:prstGeom prst="straightConnector1">
            <a:avLst/>
          </a:prstGeom>
          <a:noFill/>
          <a:ln cap="flat" cmpd="sng" w="9525">
            <a:solidFill>
              <a:schemeClr val="dk2"/>
            </a:solidFill>
            <a:prstDash val="solid"/>
            <a:round/>
            <a:headEnd len="med" w="med" type="none"/>
            <a:tailEnd len="med" w="med" type="none"/>
          </a:ln>
        </p:spPr>
      </p:cxnSp>
      <p:sp>
        <p:nvSpPr>
          <p:cNvPr id="1146" name="Google Shape;1146;p65"/>
          <p:cNvSpPr/>
          <p:nvPr/>
        </p:nvSpPr>
        <p:spPr>
          <a:xfrm>
            <a:off x="5977742" y="4672148"/>
            <a:ext cx="103500" cy="10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7" name="Google Shape;1147;p65"/>
          <p:cNvSpPr/>
          <p:nvPr/>
        </p:nvSpPr>
        <p:spPr>
          <a:xfrm>
            <a:off x="6364050" y="4650615"/>
            <a:ext cx="188100" cy="179700"/>
          </a:xfrm>
          <a:prstGeom prst="arc">
            <a:avLst>
              <a:gd fmla="val 5730551" name="adj1"/>
              <a:gd fmla="val 15602523"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48" name="Google Shape;1148;p65"/>
          <p:cNvCxnSpPr>
            <a:stCxn id="1146" idx="3"/>
          </p:cNvCxnSpPr>
          <p:nvPr/>
        </p:nvCxnSpPr>
        <p:spPr>
          <a:xfrm>
            <a:off x="6081242" y="4724648"/>
            <a:ext cx="278700" cy="0"/>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65"/>
          <p:cNvCxnSpPr>
            <a:stCxn id="1147" idx="1"/>
            <a:endCxn id="1143" idx="4"/>
          </p:cNvCxnSpPr>
          <p:nvPr/>
        </p:nvCxnSpPr>
        <p:spPr>
          <a:xfrm flipH="1" rot="10800000">
            <a:off x="6458100" y="3599565"/>
            <a:ext cx="353400" cy="1140900"/>
          </a:xfrm>
          <a:prstGeom prst="straightConnector1">
            <a:avLst/>
          </a:prstGeom>
          <a:noFill/>
          <a:ln cap="flat" cmpd="sng" w="9525">
            <a:solidFill>
              <a:schemeClr val="dk2"/>
            </a:solidFill>
            <a:prstDash val="dash"/>
            <a:round/>
            <a:headEnd len="med" w="med" type="none"/>
            <a:tailEnd len="med" w="med" type="stealth"/>
          </a:ln>
        </p:spPr>
      </p:cxnSp>
      <p:sp>
        <p:nvSpPr>
          <p:cNvPr id="1150" name="Google Shape;1150;p65"/>
          <p:cNvSpPr txBox="1"/>
          <p:nvPr/>
        </p:nvSpPr>
        <p:spPr>
          <a:xfrm>
            <a:off x="5991450" y="4715625"/>
            <a:ext cx="1357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OrderableItem</a:t>
            </a:r>
            <a:endParaRPr sz="1200">
              <a:solidFill>
                <a:schemeClr val="dk2"/>
              </a:solidFill>
            </a:endParaRPr>
          </a:p>
        </p:txBody>
      </p:sp>
      <p:sp>
        <p:nvSpPr>
          <p:cNvPr id="1151" name="Google Shape;1151;p65"/>
          <p:cNvSpPr txBox="1"/>
          <p:nvPr/>
        </p:nvSpPr>
        <p:spPr>
          <a:xfrm>
            <a:off x="6067650" y="3115425"/>
            <a:ext cx="13575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/ordered</a:t>
            </a:r>
            <a:r>
              <a:rPr lang="en-GB" sz="1200">
                <a:solidFill>
                  <a:schemeClr val="dk2"/>
                </a:solidFill>
              </a:rPr>
              <a:t>Item</a:t>
            </a:r>
            <a:endParaRPr sz="1200">
              <a:solidFill>
                <a:schemeClr val="dk2"/>
              </a:solidFill>
            </a:endParaRPr>
          </a:p>
        </p:txBody>
      </p:sp>
      <p:sp>
        <p:nvSpPr>
          <p:cNvPr id="1152" name="Google Shape;1152;p65"/>
          <p:cNvSpPr txBox="1"/>
          <p:nvPr/>
        </p:nvSpPr>
        <p:spPr>
          <a:xfrm>
            <a:off x="300400" y="6141325"/>
            <a:ext cx="83952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rPr>
              <a:t>Giao diện được yêu cầu phụ thuộc vào giao diện được cung cấp</a:t>
            </a:r>
            <a:endParaRPr i="1" sz="18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6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 Kết cấu từ nhiều thành phần</a:t>
            </a:r>
            <a:endParaRPr/>
          </a:p>
        </p:txBody>
      </p:sp>
      <p:sp>
        <p:nvSpPr>
          <p:cNvPr id="1158" name="Google Shape;1158;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59" name="Google Shape;1159;p66"/>
          <p:cNvSpPr/>
          <p:nvPr/>
        </p:nvSpPr>
        <p:spPr>
          <a:xfrm>
            <a:off x="551700" y="2682427"/>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:Giỏ hàng</a:t>
            </a:r>
            <a:endParaRPr sz="1800"/>
          </a:p>
        </p:txBody>
      </p:sp>
      <p:grpSp>
        <p:nvGrpSpPr>
          <p:cNvPr id="1160" name="Google Shape;1160;p66"/>
          <p:cNvGrpSpPr/>
          <p:nvPr/>
        </p:nvGrpSpPr>
        <p:grpSpPr>
          <a:xfrm>
            <a:off x="1941184" y="2750958"/>
            <a:ext cx="253440" cy="250500"/>
            <a:chOff x="3861221" y="2397831"/>
            <a:chExt cx="253440" cy="250500"/>
          </a:xfrm>
        </p:grpSpPr>
        <p:sp>
          <p:nvSpPr>
            <p:cNvPr id="1161" name="Google Shape;1161;p6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2" name="Google Shape;1162;p6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3" name="Google Shape;1163;p6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64" name="Google Shape;1164;p66"/>
          <p:cNvSpPr/>
          <p:nvPr/>
        </p:nvSpPr>
        <p:spPr>
          <a:xfrm>
            <a:off x="551700" y="400777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a:t>
            </a:r>
            <a:r>
              <a:rPr lang="en-GB" sz="1600"/>
              <a:t>Dịch vụ</a:t>
            </a:r>
            <a:endParaRPr sz="1800"/>
          </a:p>
        </p:txBody>
      </p:sp>
      <p:grpSp>
        <p:nvGrpSpPr>
          <p:cNvPr id="1165" name="Google Shape;1165;p66"/>
          <p:cNvGrpSpPr/>
          <p:nvPr/>
        </p:nvGrpSpPr>
        <p:grpSpPr>
          <a:xfrm>
            <a:off x="1941184" y="4076306"/>
            <a:ext cx="253440" cy="250500"/>
            <a:chOff x="3861221" y="2397831"/>
            <a:chExt cx="253440" cy="250500"/>
          </a:xfrm>
        </p:grpSpPr>
        <p:sp>
          <p:nvSpPr>
            <p:cNvPr id="1166" name="Google Shape;1166;p6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7" name="Google Shape;1167;p6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8" name="Google Shape;1168;p6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69" name="Google Shape;1169;p66"/>
          <p:cNvSpPr/>
          <p:nvPr/>
        </p:nvSpPr>
        <p:spPr>
          <a:xfrm>
            <a:off x="3752100" y="263617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a:t>
            </a:r>
            <a:r>
              <a:rPr lang="en-GB" sz="1600"/>
              <a:t>Đơn hàng</a:t>
            </a:r>
            <a:endParaRPr sz="1800"/>
          </a:p>
        </p:txBody>
      </p:sp>
      <p:grpSp>
        <p:nvGrpSpPr>
          <p:cNvPr id="1170" name="Google Shape;1170;p66"/>
          <p:cNvGrpSpPr/>
          <p:nvPr/>
        </p:nvGrpSpPr>
        <p:grpSpPr>
          <a:xfrm>
            <a:off x="5141584" y="2704706"/>
            <a:ext cx="253440" cy="250500"/>
            <a:chOff x="3861221" y="2397831"/>
            <a:chExt cx="253440" cy="250500"/>
          </a:xfrm>
        </p:grpSpPr>
        <p:sp>
          <p:nvSpPr>
            <p:cNvPr id="1171" name="Google Shape;1171;p6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2" name="Google Shape;1172;p6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3" name="Google Shape;1173;p6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74" name="Google Shape;1174;p66"/>
          <p:cNvSpPr/>
          <p:nvPr/>
        </p:nvSpPr>
        <p:spPr>
          <a:xfrm>
            <a:off x="3752100" y="484597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a:t>
            </a:r>
            <a:r>
              <a:rPr lang="en-GB" sz="1600"/>
              <a:t>Sản phẩm</a:t>
            </a:r>
            <a:endParaRPr sz="1800"/>
          </a:p>
        </p:txBody>
      </p:sp>
      <p:grpSp>
        <p:nvGrpSpPr>
          <p:cNvPr id="1175" name="Google Shape;1175;p66"/>
          <p:cNvGrpSpPr/>
          <p:nvPr/>
        </p:nvGrpSpPr>
        <p:grpSpPr>
          <a:xfrm>
            <a:off x="5141584" y="4914506"/>
            <a:ext cx="253440" cy="250500"/>
            <a:chOff x="3861221" y="2397831"/>
            <a:chExt cx="253440" cy="250500"/>
          </a:xfrm>
        </p:grpSpPr>
        <p:sp>
          <p:nvSpPr>
            <p:cNvPr id="1176" name="Google Shape;1176;p6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7" name="Google Shape;1177;p6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8" name="Google Shape;1178;p6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79" name="Google Shape;1179;p66"/>
          <p:cNvSpPr/>
          <p:nvPr/>
        </p:nvSpPr>
        <p:spPr>
          <a:xfrm>
            <a:off x="3752100" y="149317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:Đơn </a:t>
            </a:r>
            <a:r>
              <a:rPr lang="en-GB" sz="1600"/>
              <a:t>đặt trước</a:t>
            </a:r>
            <a:endParaRPr sz="1800"/>
          </a:p>
        </p:txBody>
      </p:sp>
      <p:grpSp>
        <p:nvGrpSpPr>
          <p:cNvPr id="1180" name="Google Shape;1180;p66"/>
          <p:cNvGrpSpPr/>
          <p:nvPr/>
        </p:nvGrpSpPr>
        <p:grpSpPr>
          <a:xfrm>
            <a:off x="5141584" y="1561706"/>
            <a:ext cx="253440" cy="250500"/>
            <a:chOff x="3861221" y="2397831"/>
            <a:chExt cx="253440" cy="250500"/>
          </a:xfrm>
        </p:grpSpPr>
        <p:sp>
          <p:nvSpPr>
            <p:cNvPr id="1181" name="Google Shape;1181;p6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2" name="Google Shape;1182;p6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3" name="Google Shape;1183;p6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84" name="Google Shape;1184;p66"/>
          <p:cNvSpPr/>
          <p:nvPr/>
        </p:nvSpPr>
        <p:spPr>
          <a:xfrm>
            <a:off x="7104900" y="2666123"/>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a:t>
            </a:r>
            <a:r>
              <a:rPr lang="en-GB" sz="1600"/>
              <a:t>Khách hàng</a:t>
            </a:r>
            <a:endParaRPr sz="1800"/>
          </a:p>
        </p:txBody>
      </p:sp>
      <p:grpSp>
        <p:nvGrpSpPr>
          <p:cNvPr id="1185" name="Google Shape;1185;p66"/>
          <p:cNvGrpSpPr/>
          <p:nvPr/>
        </p:nvGrpSpPr>
        <p:grpSpPr>
          <a:xfrm>
            <a:off x="8494384" y="2734653"/>
            <a:ext cx="253440" cy="250500"/>
            <a:chOff x="3861221" y="2397831"/>
            <a:chExt cx="253440" cy="250500"/>
          </a:xfrm>
        </p:grpSpPr>
        <p:sp>
          <p:nvSpPr>
            <p:cNvPr id="1186" name="Google Shape;1186;p6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7" name="Google Shape;1187;p6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8" name="Google Shape;1188;p6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89" name="Google Shape;1189;p66"/>
          <p:cNvSpPr/>
          <p:nvPr/>
        </p:nvSpPr>
        <p:spPr>
          <a:xfrm>
            <a:off x="7104900" y="385537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&lt;&lt;component&gt;&gt;</a:t>
            </a:r>
            <a:endParaRPr sz="1200"/>
          </a:p>
          <a:p>
            <a:pPr indent="0" lvl="0" marL="0" rtl="0" algn="ctr">
              <a:spcBef>
                <a:spcPts val="0"/>
              </a:spcBef>
              <a:spcAft>
                <a:spcPts val="0"/>
              </a:spcAft>
              <a:buNone/>
            </a:pPr>
            <a:r>
              <a:rPr lang="en-GB" sz="1600"/>
              <a:t>:</a:t>
            </a:r>
            <a:r>
              <a:rPr lang="en-GB" sz="1600"/>
              <a:t>Tổ chức</a:t>
            </a:r>
            <a:endParaRPr sz="1800"/>
          </a:p>
        </p:txBody>
      </p:sp>
      <p:grpSp>
        <p:nvGrpSpPr>
          <p:cNvPr id="1190" name="Google Shape;1190;p66"/>
          <p:cNvGrpSpPr/>
          <p:nvPr/>
        </p:nvGrpSpPr>
        <p:grpSpPr>
          <a:xfrm>
            <a:off x="8494384" y="3923906"/>
            <a:ext cx="253440" cy="250500"/>
            <a:chOff x="3861221" y="2397831"/>
            <a:chExt cx="253440" cy="250500"/>
          </a:xfrm>
        </p:grpSpPr>
        <p:sp>
          <p:nvSpPr>
            <p:cNvPr id="1191" name="Google Shape;1191;p6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2" name="Google Shape;1192;p6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3" name="Google Shape;1193;p6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4" name="Google Shape;1194;p66"/>
          <p:cNvSpPr/>
          <p:nvPr/>
        </p:nvSpPr>
        <p:spPr>
          <a:xfrm>
            <a:off x="7047601" y="3051072"/>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5" name="Google Shape;1195;p66"/>
          <p:cNvSpPr/>
          <p:nvPr/>
        </p:nvSpPr>
        <p:spPr>
          <a:xfrm>
            <a:off x="7047601" y="4240324"/>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6" name="Google Shape;1196;p66"/>
          <p:cNvSpPr/>
          <p:nvPr/>
        </p:nvSpPr>
        <p:spPr>
          <a:xfrm>
            <a:off x="4609201" y="4783707"/>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7" name="Google Shape;1197;p66"/>
          <p:cNvSpPr/>
          <p:nvPr/>
        </p:nvSpPr>
        <p:spPr>
          <a:xfrm>
            <a:off x="4592896" y="3458359"/>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8" name="Google Shape;1198;p66"/>
          <p:cNvSpPr/>
          <p:nvPr/>
        </p:nvSpPr>
        <p:spPr>
          <a:xfrm>
            <a:off x="5384844" y="3067376"/>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9" name="Google Shape;1199;p66"/>
          <p:cNvSpPr/>
          <p:nvPr/>
        </p:nvSpPr>
        <p:spPr>
          <a:xfrm>
            <a:off x="5384844" y="1904411"/>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66"/>
          <p:cNvSpPr/>
          <p:nvPr/>
        </p:nvSpPr>
        <p:spPr>
          <a:xfrm>
            <a:off x="3708444" y="3047411"/>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1" name="Google Shape;1201;p66"/>
          <p:cNvSpPr/>
          <p:nvPr/>
        </p:nvSpPr>
        <p:spPr>
          <a:xfrm>
            <a:off x="2184444" y="4382741"/>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2" name="Google Shape;1202;p66"/>
          <p:cNvSpPr/>
          <p:nvPr/>
        </p:nvSpPr>
        <p:spPr>
          <a:xfrm>
            <a:off x="2184444" y="3057394"/>
            <a:ext cx="99900" cy="10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3" name="Google Shape;1203;p66"/>
          <p:cNvSpPr/>
          <p:nvPr/>
        </p:nvSpPr>
        <p:spPr>
          <a:xfrm>
            <a:off x="6235315" y="3005125"/>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4" name="Google Shape;1204;p66"/>
          <p:cNvSpPr/>
          <p:nvPr/>
        </p:nvSpPr>
        <p:spPr>
          <a:xfrm>
            <a:off x="6144623" y="2933283"/>
            <a:ext cx="336300" cy="339300"/>
          </a:xfrm>
          <a:prstGeom prst="arc">
            <a:avLst>
              <a:gd fmla="val 5944629" name="adj1"/>
              <a:gd fmla="val 15943035" name="adj2"/>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205" name="Google Shape;1205;p66"/>
          <p:cNvSpPr/>
          <p:nvPr/>
        </p:nvSpPr>
        <p:spPr>
          <a:xfrm>
            <a:off x="2958715" y="3005125"/>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6" name="Google Shape;1206;p66"/>
          <p:cNvSpPr/>
          <p:nvPr/>
        </p:nvSpPr>
        <p:spPr>
          <a:xfrm>
            <a:off x="2868023" y="2933283"/>
            <a:ext cx="336300" cy="339300"/>
          </a:xfrm>
          <a:prstGeom prst="arc">
            <a:avLst>
              <a:gd fmla="val 5944629" name="adj1"/>
              <a:gd fmla="val 15943035" name="adj2"/>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207" name="Google Shape;1207;p66"/>
          <p:cNvSpPr/>
          <p:nvPr/>
        </p:nvSpPr>
        <p:spPr>
          <a:xfrm>
            <a:off x="4558915" y="4071925"/>
            <a:ext cx="188100" cy="188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8" name="Google Shape;1208;p66"/>
          <p:cNvSpPr/>
          <p:nvPr/>
        </p:nvSpPr>
        <p:spPr>
          <a:xfrm>
            <a:off x="4478205" y="4000083"/>
            <a:ext cx="336300" cy="339300"/>
          </a:xfrm>
          <a:prstGeom prst="arc">
            <a:avLst>
              <a:gd fmla="val 11098187" name="adj1"/>
              <a:gd fmla="val 21484266" name="adj2"/>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1209" name="Google Shape;1209;p66"/>
          <p:cNvCxnSpPr>
            <a:stCxn id="1202" idx="3"/>
          </p:cNvCxnSpPr>
          <p:nvPr/>
        </p:nvCxnSpPr>
        <p:spPr>
          <a:xfrm>
            <a:off x="2284344" y="3110344"/>
            <a:ext cx="581700" cy="0"/>
          </a:xfrm>
          <a:prstGeom prst="straightConnector1">
            <a:avLst/>
          </a:prstGeom>
          <a:noFill/>
          <a:ln cap="flat" cmpd="sng" w="9525">
            <a:solidFill>
              <a:schemeClr val="dk2"/>
            </a:solidFill>
            <a:prstDash val="solid"/>
            <a:round/>
            <a:headEnd len="med" w="med" type="none"/>
            <a:tailEnd len="med" w="med" type="none"/>
          </a:ln>
        </p:spPr>
      </p:cxnSp>
      <p:cxnSp>
        <p:nvCxnSpPr>
          <p:cNvPr id="1210" name="Google Shape;1210;p66"/>
          <p:cNvCxnSpPr>
            <a:stCxn id="1205" idx="6"/>
            <a:endCxn id="1200" idx="1"/>
          </p:cNvCxnSpPr>
          <p:nvPr/>
        </p:nvCxnSpPr>
        <p:spPr>
          <a:xfrm>
            <a:off x="3146815" y="3099175"/>
            <a:ext cx="561600" cy="1200"/>
          </a:xfrm>
          <a:prstGeom prst="straightConnector1">
            <a:avLst/>
          </a:prstGeom>
          <a:noFill/>
          <a:ln cap="flat" cmpd="sng" w="9525">
            <a:solidFill>
              <a:schemeClr val="dk2"/>
            </a:solidFill>
            <a:prstDash val="solid"/>
            <a:round/>
            <a:headEnd len="med" w="med" type="none"/>
            <a:tailEnd len="med" w="med" type="none"/>
          </a:ln>
        </p:spPr>
      </p:cxnSp>
      <p:cxnSp>
        <p:nvCxnSpPr>
          <p:cNvPr id="1211" name="Google Shape;1211;p66"/>
          <p:cNvCxnSpPr/>
          <p:nvPr/>
        </p:nvCxnSpPr>
        <p:spPr>
          <a:xfrm>
            <a:off x="5481350" y="3115615"/>
            <a:ext cx="688800" cy="0"/>
          </a:xfrm>
          <a:prstGeom prst="straightConnector1">
            <a:avLst/>
          </a:prstGeom>
          <a:noFill/>
          <a:ln cap="flat" cmpd="sng" w="9525">
            <a:solidFill>
              <a:schemeClr val="dk2"/>
            </a:solidFill>
            <a:prstDash val="solid"/>
            <a:round/>
            <a:headEnd len="med" w="med" type="none"/>
            <a:tailEnd len="med" w="med" type="none"/>
          </a:ln>
        </p:spPr>
      </p:cxnSp>
      <p:cxnSp>
        <p:nvCxnSpPr>
          <p:cNvPr id="1212" name="Google Shape;1212;p66"/>
          <p:cNvCxnSpPr>
            <a:stCxn id="1203" idx="6"/>
            <a:endCxn id="1194" idx="1"/>
          </p:cNvCxnSpPr>
          <p:nvPr/>
        </p:nvCxnSpPr>
        <p:spPr>
          <a:xfrm>
            <a:off x="6423415" y="3099175"/>
            <a:ext cx="624300" cy="4800"/>
          </a:xfrm>
          <a:prstGeom prst="straightConnector1">
            <a:avLst/>
          </a:prstGeom>
          <a:noFill/>
          <a:ln cap="flat" cmpd="sng" w="9525">
            <a:solidFill>
              <a:schemeClr val="dk2"/>
            </a:solidFill>
            <a:prstDash val="solid"/>
            <a:round/>
            <a:headEnd len="med" w="med" type="none"/>
            <a:tailEnd len="med" w="med" type="none"/>
          </a:ln>
        </p:spPr>
      </p:cxnSp>
      <p:cxnSp>
        <p:nvCxnSpPr>
          <p:cNvPr id="1213" name="Google Shape;1213;p66"/>
          <p:cNvCxnSpPr>
            <a:endCxn id="1195" idx="1"/>
          </p:cNvCxnSpPr>
          <p:nvPr/>
        </p:nvCxnSpPr>
        <p:spPr>
          <a:xfrm flipH="1" rot="-5400000">
            <a:off x="6259651" y="3505324"/>
            <a:ext cx="1197600" cy="378300"/>
          </a:xfrm>
          <a:prstGeom prst="bentConnector2">
            <a:avLst/>
          </a:prstGeom>
          <a:noFill/>
          <a:ln cap="flat" cmpd="sng" w="9525">
            <a:solidFill>
              <a:schemeClr val="dk2"/>
            </a:solidFill>
            <a:prstDash val="solid"/>
            <a:round/>
            <a:headEnd len="med" w="med" type="none"/>
            <a:tailEnd len="med" w="med" type="none"/>
          </a:ln>
        </p:spPr>
      </p:cxnSp>
      <p:cxnSp>
        <p:nvCxnSpPr>
          <p:cNvPr id="1214" name="Google Shape;1214;p66"/>
          <p:cNvCxnSpPr>
            <a:endCxn id="1199" idx="3"/>
          </p:cNvCxnSpPr>
          <p:nvPr/>
        </p:nvCxnSpPr>
        <p:spPr>
          <a:xfrm flipH="1" rot="5400000">
            <a:off x="5073594" y="2368511"/>
            <a:ext cx="1148400" cy="326100"/>
          </a:xfrm>
          <a:prstGeom prst="bentConnector2">
            <a:avLst/>
          </a:prstGeom>
          <a:noFill/>
          <a:ln cap="flat" cmpd="sng" w="9525">
            <a:solidFill>
              <a:schemeClr val="dk2"/>
            </a:solidFill>
            <a:prstDash val="solid"/>
            <a:round/>
            <a:headEnd len="med" w="med" type="none"/>
            <a:tailEnd len="med" w="med" type="none"/>
          </a:ln>
        </p:spPr>
      </p:cxnSp>
      <p:cxnSp>
        <p:nvCxnSpPr>
          <p:cNvPr id="1215" name="Google Shape;1215;p66"/>
          <p:cNvCxnSpPr>
            <a:stCxn id="1197" idx="2"/>
          </p:cNvCxnSpPr>
          <p:nvPr/>
        </p:nvCxnSpPr>
        <p:spPr>
          <a:xfrm flipH="1">
            <a:off x="4632946" y="3564259"/>
            <a:ext cx="9900" cy="439800"/>
          </a:xfrm>
          <a:prstGeom prst="straightConnector1">
            <a:avLst/>
          </a:prstGeom>
          <a:noFill/>
          <a:ln cap="flat" cmpd="sng" w="9525">
            <a:solidFill>
              <a:schemeClr val="dk2"/>
            </a:solidFill>
            <a:prstDash val="solid"/>
            <a:round/>
            <a:headEnd len="med" w="med" type="none"/>
            <a:tailEnd len="med" w="med" type="none"/>
          </a:ln>
        </p:spPr>
      </p:cxnSp>
      <p:cxnSp>
        <p:nvCxnSpPr>
          <p:cNvPr id="1216" name="Google Shape;1216;p66"/>
          <p:cNvCxnSpPr>
            <a:stCxn id="1207" idx="4"/>
            <a:endCxn id="1196" idx="0"/>
          </p:cNvCxnSpPr>
          <p:nvPr/>
        </p:nvCxnSpPr>
        <p:spPr>
          <a:xfrm>
            <a:off x="4652965" y="4260025"/>
            <a:ext cx="6300" cy="523800"/>
          </a:xfrm>
          <a:prstGeom prst="straightConnector1">
            <a:avLst/>
          </a:prstGeom>
          <a:noFill/>
          <a:ln cap="flat" cmpd="sng" w="9525">
            <a:solidFill>
              <a:schemeClr val="dk2"/>
            </a:solidFill>
            <a:prstDash val="solid"/>
            <a:round/>
            <a:headEnd len="med" w="med" type="none"/>
            <a:tailEnd len="med" w="med" type="none"/>
          </a:ln>
        </p:spPr>
      </p:cxnSp>
      <p:cxnSp>
        <p:nvCxnSpPr>
          <p:cNvPr id="1217" name="Google Shape;1217;p66"/>
          <p:cNvCxnSpPr>
            <a:stCxn id="1201" idx="3"/>
          </p:cNvCxnSpPr>
          <p:nvPr/>
        </p:nvCxnSpPr>
        <p:spPr>
          <a:xfrm>
            <a:off x="2284344" y="4435691"/>
            <a:ext cx="2358600" cy="0"/>
          </a:xfrm>
          <a:prstGeom prst="straightConnector1">
            <a:avLst/>
          </a:prstGeom>
          <a:noFill/>
          <a:ln cap="flat" cmpd="sng" w="9525">
            <a:solidFill>
              <a:schemeClr val="dk2"/>
            </a:solidFill>
            <a:prstDash val="solid"/>
            <a:round/>
            <a:headEnd len="med" w="med" type="none"/>
            <a:tailEnd len="med" w="med" type="none"/>
          </a:ln>
        </p:spPr>
      </p:cxnSp>
      <p:sp>
        <p:nvSpPr>
          <p:cNvPr id="1218" name="Google Shape;1218;p66"/>
          <p:cNvSpPr txBox="1"/>
          <p:nvPr/>
        </p:nvSpPr>
        <p:spPr>
          <a:xfrm>
            <a:off x="2280625" y="4080275"/>
            <a:ext cx="1788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Cái có thể đặt hàng</a:t>
            </a:r>
            <a:endParaRPr>
              <a:solidFill>
                <a:schemeClr val="dk2"/>
              </a:solidFill>
            </a:endParaRPr>
          </a:p>
        </p:txBody>
      </p:sp>
      <p:sp>
        <p:nvSpPr>
          <p:cNvPr id="1219" name="Google Shape;1219;p66"/>
          <p:cNvSpPr txBox="1"/>
          <p:nvPr/>
        </p:nvSpPr>
        <p:spPr>
          <a:xfrm>
            <a:off x="4642825" y="4166458"/>
            <a:ext cx="1098000" cy="57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Cái có thể đặt hàng</a:t>
            </a:r>
            <a:endParaRPr>
              <a:solidFill>
                <a:schemeClr val="dk2"/>
              </a:solidFill>
            </a:endParaRPr>
          </a:p>
        </p:txBody>
      </p:sp>
      <p:sp>
        <p:nvSpPr>
          <p:cNvPr id="1220" name="Google Shape;1220;p66"/>
          <p:cNvSpPr txBox="1"/>
          <p:nvPr/>
        </p:nvSpPr>
        <p:spPr>
          <a:xfrm>
            <a:off x="4642825" y="3480658"/>
            <a:ext cx="1098000" cy="57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Cái có thể đặt hàng</a:t>
            </a:r>
            <a:endParaRPr>
              <a:solidFill>
                <a:schemeClr val="dk2"/>
              </a:solidFill>
            </a:endParaRPr>
          </a:p>
        </p:txBody>
      </p:sp>
      <p:sp>
        <p:nvSpPr>
          <p:cNvPr id="1221" name="Google Shape;1221;p66"/>
          <p:cNvSpPr txBox="1"/>
          <p:nvPr/>
        </p:nvSpPr>
        <p:spPr>
          <a:xfrm>
            <a:off x="5404825" y="3069704"/>
            <a:ext cx="8304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Người</a:t>
            </a:r>
            <a:endParaRPr>
              <a:solidFill>
                <a:schemeClr val="dk2"/>
              </a:solidFill>
            </a:endParaRPr>
          </a:p>
        </p:txBody>
      </p:sp>
      <p:sp>
        <p:nvSpPr>
          <p:cNvPr id="1222" name="Google Shape;1222;p66"/>
          <p:cNvSpPr txBox="1"/>
          <p:nvPr/>
        </p:nvSpPr>
        <p:spPr>
          <a:xfrm>
            <a:off x="5404825" y="1621904"/>
            <a:ext cx="8304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Người</a:t>
            </a:r>
            <a:endParaRPr>
              <a:solidFill>
                <a:schemeClr val="dk2"/>
              </a:solidFill>
            </a:endParaRPr>
          </a:p>
        </p:txBody>
      </p:sp>
      <p:sp>
        <p:nvSpPr>
          <p:cNvPr id="1223" name="Google Shape;1223;p66"/>
          <p:cNvSpPr txBox="1"/>
          <p:nvPr/>
        </p:nvSpPr>
        <p:spPr>
          <a:xfrm>
            <a:off x="6471625" y="2764904"/>
            <a:ext cx="8304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Người</a:t>
            </a:r>
            <a:endParaRPr>
              <a:solidFill>
                <a:schemeClr val="dk2"/>
              </a:solidFill>
            </a:endParaRPr>
          </a:p>
        </p:txBody>
      </p:sp>
      <p:sp>
        <p:nvSpPr>
          <p:cNvPr id="1224" name="Google Shape;1224;p66"/>
          <p:cNvSpPr txBox="1"/>
          <p:nvPr/>
        </p:nvSpPr>
        <p:spPr>
          <a:xfrm>
            <a:off x="6471625" y="4288904"/>
            <a:ext cx="8304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Khách</a:t>
            </a:r>
            <a:endParaRPr>
              <a:solidFill>
                <a:schemeClr val="dk2"/>
              </a:solidFill>
            </a:endParaRPr>
          </a:p>
        </p:txBody>
      </p:sp>
      <p:sp>
        <p:nvSpPr>
          <p:cNvPr id="1225" name="Google Shape;1225;p66"/>
          <p:cNvSpPr txBox="1"/>
          <p:nvPr/>
        </p:nvSpPr>
        <p:spPr>
          <a:xfrm>
            <a:off x="2204425" y="3145900"/>
            <a:ext cx="898800" cy="52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Mục đơn</a:t>
            </a:r>
            <a:endParaRPr>
              <a:solidFill>
                <a:schemeClr val="dk2"/>
              </a:solidFill>
            </a:endParaRPr>
          </a:p>
        </p:txBody>
      </p:sp>
      <p:sp>
        <p:nvSpPr>
          <p:cNvPr id="1226" name="Google Shape;1226;p66"/>
          <p:cNvSpPr txBox="1"/>
          <p:nvPr/>
        </p:nvSpPr>
        <p:spPr>
          <a:xfrm>
            <a:off x="2946460" y="2678717"/>
            <a:ext cx="898800" cy="52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Mục đơn</a:t>
            </a:r>
            <a:endParaRPr>
              <a:solidFill>
                <a:schemeClr val="dk2"/>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67"/>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 </a:t>
            </a:r>
            <a:r>
              <a:rPr lang="en-GB"/>
              <a:t>Sơ đồ thành phần trong UML 2.x</a:t>
            </a:r>
            <a:endParaRPr/>
          </a:p>
        </p:txBody>
      </p:sp>
      <p:sp>
        <p:nvSpPr>
          <p:cNvPr id="1232" name="Google Shape;1232;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33" name="Google Shape;1233;p67"/>
          <p:cNvSpPr/>
          <p:nvPr/>
        </p:nvSpPr>
        <p:spPr>
          <a:xfrm>
            <a:off x="308125" y="2186950"/>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&lt;&lt;giao diện&gt;&gt;</a:t>
            </a:r>
            <a:endParaRPr/>
          </a:p>
          <a:p>
            <a:pPr indent="0" lvl="0" marL="0" rtl="0" algn="ctr">
              <a:spcBef>
                <a:spcPts val="0"/>
              </a:spcBef>
              <a:spcAft>
                <a:spcPts val="0"/>
              </a:spcAft>
              <a:buNone/>
            </a:pPr>
            <a:r>
              <a:rPr lang="en-GB" sz="1600"/>
              <a:t>Quản lý hội thảo</a:t>
            </a:r>
            <a:endParaRPr sz="1600"/>
          </a:p>
        </p:txBody>
      </p:sp>
      <p:grpSp>
        <p:nvGrpSpPr>
          <p:cNvPr id="1234" name="Google Shape;1234;p67"/>
          <p:cNvGrpSpPr/>
          <p:nvPr/>
        </p:nvGrpSpPr>
        <p:grpSpPr>
          <a:xfrm>
            <a:off x="1697609" y="2255481"/>
            <a:ext cx="253440" cy="250500"/>
            <a:chOff x="3861221" y="2397831"/>
            <a:chExt cx="253440" cy="250500"/>
          </a:xfrm>
        </p:grpSpPr>
        <p:sp>
          <p:nvSpPr>
            <p:cNvPr id="1235" name="Google Shape;1235;p67"/>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6" name="Google Shape;1236;p67"/>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7" name="Google Shape;1237;p67"/>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38" name="Google Shape;1238;p67"/>
          <p:cNvSpPr/>
          <p:nvPr/>
        </p:nvSpPr>
        <p:spPr>
          <a:xfrm>
            <a:off x="308125" y="3863350"/>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&lt;&lt;giao diện&gt;&gt;</a:t>
            </a:r>
            <a:endParaRPr/>
          </a:p>
          <a:p>
            <a:pPr indent="0" lvl="0" marL="0" rtl="0" algn="ctr">
              <a:spcBef>
                <a:spcPts val="0"/>
              </a:spcBef>
              <a:spcAft>
                <a:spcPts val="0"/>
              </a:spcAft>
              <a:buNone/>
            </a:pPr>
            <a:r>
              <a:rPr lang="en-GB" sz="1600"/>
              <a:t>Quản lý sinh viên</a:t>
            </a:r>
            <a:endParaRPr sz="1600"/>
          </a:p>
        </p:txBody>
      </p:sp>
      <p:grpSp>
        <p:nvGrpSpPr>
          <p:cNvPr id="1239" name="Google Shape;1239;p67"/>
          <p:cNvGrpSpPr/>
          <p:nvPr/>
        </p:nvGrpSpPr>
        <p:grpSpPr>
          <a:xfrm>
            <a:off x="1697609" y="3931881"/>
            <a:ext cx="253440" cy="250500"/>
            <a:chOff x="3861221" y="2397831"/>
            <a:chExt cx="253440" cy="250500"/>
          </a:xfrm>
        </p:grpSpPr>
        <p:sp>
          <p:nvSpPr>
            <p:cNvPr id="1240" name="Google Shape;1240;p67"/>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1" name="Google Shape;1241;p67"/>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2" name="Google Shape;1242;p67"/>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43" name="Google Shape;1243;p67"/>
          <p:cNvSpPr/>
          <p:nvPr/>
        </p:nvSpPr>
        <p:spPr>
          <a:xfrm>
            <a:off x="3965725" y="185357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200">
                <a:solidFill>
                  <a:schemeClr val="dk1"/>
                </a:solidFill>
              </a:rPr>
              <a:t>&lt;&lt;dịch vụ&gt;&gt;</a:t>
            </a:r>
            <a:endParaRPr sz="1600"/>
          </a:p>
          <a:p>
            <a:pPr indent="0" lvl="0" marL="0" rtl="0" algn="ctr">
              <a:spcBef>
                <a:spcPts val="0"/>
              </a:spcBef>
              <a:spcAft>
                <a:spcPts val="0"/>
              </a:spcAft>
              <a:buNone/>
            </a:pPr>
            <a:r>
              <a:rPr lang="en-GB" sz="1600"/>
              <a:t>Sinh viên</a:t>
            </a:r>
            <a:endParaRPr sz="1800"/>
          </a:p>
        </p:txBody>
      </p:sp>
      <p:grpSp>
        <p:nvGrpSpPr>
          <p:cNvPr id="1244" name="Google Shape;1244;p67"/>
          <p:cNvGrpSpPr/>
          <p:nvPr/>
        </p:nvGrpSpPr>
        <p:grpSpPr>
          <a:xfrm>
            <a:off x="5355209" y="1922106"/>
            <a:ext cx="253440" cy="250500"/>
            <a:chOff x="3861221" y="2397831"/>
            <a:chExt cx="253440" cy="250500"/>
          </a:xfrm>
        </p:grpSpPr>
        <p:sp>
          <p:nvSpPr>
            <p:cNvPr id="1245" name="Google Shape;1245;p67"/>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6" name="Google Shape;1246;p67"/>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7" name="Google Shape;1247;p67"/>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48" name="Google Shape;1248;p67"/>
          <p:cNvSpPr/>
          <p:nvPr/>
        </p:nvSpPr>
        <p:spPr>
          <a:xfrm>
            <a:off x="3965725" y="337757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200">
                <a:solidFill>
                  <a:schemeClr val="dk1"/>
                </a:solidFill>
              </a:rPr>
              <a:t>&lt;&lt;dịch vụ&gt;&gt;</a:t>
            </a:r>
            <a:endParaRPr sz="1600"/>
          </a:p>
          <a:p>
            <a:pPr indent="0" lvl="0" marL="0" rtl="0" algn="ctr">
              <a:spcBef>
                <a:spcPts val="0"/>
              </a:spcBef>
              <a:spcAft>
                <a:spcPts val="0"/>
              </a:spcAft>
              <a:buNone/>
            </a:pPr>
            <a:r>
              <a:rPr lang="en-GB" sz="1600"/>
              <a:t>Hội thảo</a:t>
            </a:r>
            <a:endParaRPr sz="1800"/>
          </a:p>
        </p:txBody>
      </p:sp>
      <p:grpSp>
        <p:nvGrpSpPr>
          <p:cNvPr id="1249" name="Google Shape;1249;p67"/>
          <p:cNvGrpSpPr/>
          <p:nvPr/>
        </p:nvGrpSpPr>
        <p:grpSpPr>
          <a:xfrm>
            <a:off x="5355209" y="3446106"/>
            <a:ext cx="253440" cy="250500"/>
            <a:chOff x="3861221" y="2397831"/>
            <a:chExt cx="253440" cy="250500"/>
          </a:xfrm>
        </p:grpSpPr>
        <p:sp>
          <p:nvSpPr>
            <p:cNvPr id="1250" name="Google Shape;1250;p67"/>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1" name="Google Shape;1251;p67"/>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2" name="Google Shape;1252;p67"/>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53" name="Google Shape;1253;p67"/>
          <p:cNvSpPr/>
          <p:nvPr/>
        </p:nvSpPr>
        <p:spPr>
          <a:xfrm>
            <a:off x="3965725" y="459677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200">
                <a:solidFill>
                  <a:schemeClr val="dk1"/>
                </a:solidFill>
              </a:rPr>
              <a:t>&lt;&lt;dịch vụ&gt;&gt;</a:t>
            </a:r>
            <a:endParaRPr sz="1600"/>
          </a:p>
          <a:p>
            <a:pPr indent="0" lvl="0" marL="0" rtl="0" algn="ctr">
              <a:spcBef>
                <a:spcPts val="0"/>
              </a:spcBef>
              <a:spcAft>
                <a:spcPts val="0"/>
              </a:spcAft>
              <a:buNone/>
            </a:pPr>
            <a:r>
              <a:rPr lang="en-GB" sz="1600"/>
              <a:t>Lịch công việc</a:t>
            </a:r>
            <a:endParaRPr sz="1800"/>
          </a:p>
        </p:txBody>
      </p:sp>
      <p:grpSp>
        <p:nvGrpSpPr>
          <p:cNvPr id="1254" name="Google Shape;1254;p67"/>
          <p:cNvGrpSpPr/>
          <p:nvPr/>
        </p:nvGrpSpPr>
        <p:grpSpPr>
          <a:xfrm>
            <a:off x="5355209" y="4665306"/>
            <a:ext cx="253440" cy="250500"/>
            <a:chOff x="3861221" y="2397831"/>
            <a:chExt cx="253440" cy="250500"/>
          </a:xfrm>
        </p:grpSpPr>
        <p:sp>
          <p:nvSpPr>
            <p:cNvPr id="1255" name="Google Shape;1255;p67"/>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6" name="Google Shape;1256;p67"/>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7" name="Google Shape;1257;p67"/>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58" name="Google Shape;1258;p67"/>
          <p:cNvSpPr/>
          <p:nvPr/>
        </p:nvSpPr>
        <p:spPr>
          <a:xfrm>
            <a:off x="3074900" y="1925125"/>
            <a:ext cx="212400" cy="2124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9" name="Google Shape;1259;p67"/>
          <p:cNvSpPr/>
          <p:nvPr/>
        </p:nvSpPr>
        <p:spPr>
          <a:xfrm>
            <a:off x="3074900" y="2458525"/>
            <a:ext cx="222300" cy="2160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0" name="Google Shape;1260;p67"/>
          <p:cNvSpPr txBox="1"/>
          <p:nvPr/>
        </p:nvSpPr>
        <p:spPr>
          <a:xfrm>
            <a:off x="2801700" y="2141100"/>
            <a:ext cx="1170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Sinh viên</a:t>
            </a:r>
            <a:endParaRPr>
              <a:solidFill>
                <a:schemeClr val="dk2"/>
              </a:solidFill>
            </a:endParaRPr>
          </a:p>
        </p:txBody>
      </p:sp>
      <p:cxnSp>
        <p:nvCxnSpPr>
          <p:cNvPr id="1261" name="Google Shape;1261;p67"/>
          <p:cNvCxnSpPr>
            <a:stCxn id="1258" idx="6"/>
          </p:cNvCxnSpPr>
          <p:nvPr/>
        </p:nvCxnSpPr>
        <p:spPr>
          <a:xfrm>
            <a:off x="3287300" y="2031325"/>
            <a:ext cx="678600" cy="0"/>
          </a:xfrm>
          <a:prstGeom prst="straightConnector1">
            <a:avLst/>
          </a:prstGeom>
          <a:noFill/>
          <a:ln cap="flat" cmpd="sng" w="9525">
            <a:solidFill>
              <a:schemeClr val="dk2"/>
            </a:solidFill>
            <a:prstDash val="solid"/>
            <a:round/>
            <a:headEnd len="med" w="med" type="none"/>
            <a:tailEnd len="med" w="med" type="none"/>
          </a:ln>
        </p:spPr>
      </p:cxnSp>
      <p:cxnSp>
        <p:nvCxnSpPr>
          <p:cNvPr id="1262" name="Google Shape;1262;p67"/>
          <p:cNvCxnSpPr>
            <a:stCxn id="1259" idx="6"/>
          </p:cNvCxnSpPr>
          <p:nvPr/>
        </p:nvCxnSpPr>
        <p:spPr>
          <a:xfrm>
            <a:off x="3297200" y="2566525"/>
            <a:ext cx="668700" cy="0"/>
          </a:xfrm>
          <a:prstGeom prst="straightConnector1">
            <a:avLst/>
          </a:prstGeom>
          <a:noFill/>
          <a:ln cap="flat" cmpd="sng" w="9525">
            <a:solidFill>
              <a:schemeClr val="dk2"/>
            </a:solidFill>
            <a:prstDash val="solid"/>
            <a:round/>
            <a:headEnd len="med" w="med" type="none"/>
            <a:tailEnd len="med" w="med" type="none"/>
          </a:ln>
        </p:spPr>
      </p:cxnSp>
      <p:sp>
        <p:nvSpPr>
          <p:cNvPr id="1263" name="Google Shape;1263;p67"/>
          <p:cNvSpPr/>
          <p:nvPr/>
        </p:nvSpPr>
        <p:spPr>
          <a:xfrm>
            <a:off x="3074900" y="3449125"/>
            <a:ext cx="212400" cy="2124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4" name="Google Shape;1264;p67"/>
          <p:cNvSpPr txBox="1"/>
          <p:nvPr/>
        </p:nvSpPr>
        <p:spPr>
          <a:xfrm>
            <a:off x="2649300" y="3055500"/>
            <a:ext cx="14688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Truy cập dữ liệu</a:t>
            </a:r>
            <a:endParaRPr>
              <a:solidFill>
                <a:schemeClr val="dk2"/>
              </a:solidFill>
            </a:endParaRPr>
          </a:p>
        </p:txBody>
      </p:sp>
      <p:sp>
        <p:nvSpPr>
          <p:cNvPr id="1265" name="Google Shape;1265;p67"/>
          <p:cNvSpPr/>
          <p:nvPr/>
        </p:nvSpPr>
        <p:spPr>
          <a:xfrm>
            <a:off x="3074900" y="3982525"/>
            <a:ext cx="222300" cy="2160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6" name="Google Shape;1266;p67"/>
          <p:cNvSpPr txBox="1"/>
          <p:nvPr/>
        </p:nvSpPr>
        <p:spPr>
          <a:xfrm>
            <a:off x="2954100" y="3665100"/>
            <a:ext cx="11709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Hội thảo</a:t>
            </a:r>
            <a:endParaRPr>
              <a:solidFill>
                <a:schemeClr val="dk2"/>
              </a:solidFill>
            </a:endParaRPr>
          </a:p>
        </p:txBody>
      </p:sp>
      <p:cxnSp>
        <p:nvCxnSpPr>
          <p:cNvPr id="1267" name="Google Shape;1267;p67"/>
          <p:cNvCxnSpPr>
            <a:stCxn id="1263" idx="6"/>
          </p:cNvCxnSpPr>
          <p:nvPr/>
        </p:nvCxnSpPr>
        <p:spPr>
          <a:xfrm>
            <a:off x="3287300" y="3555325"/>
            <a:ext cx="678600" cy="0"/>
          </a:xfrm>
          <a:prstGeom prst="straightConnector1">
            <a:avLst/>
          </a:prstGeom>
          <a:noFill/>
          <a:ln cap="flat" cmpd="sng" w="9525">
            <a:solidFill>
              <a:schemeClr val="dk2"/>
            </a:solidFill>
            <a:prstDash val="solid"/>
            <a:round/>
            <a:headEnd len="med" w="med" type="none"/>
            <a:tailEnd len="med" w="med" type="none"/>
          </a:ln>
        </p:spPr>
      </p:cxnSp>
      <p:cxnSp>
        <p:nvCxnSpPr>
          <p:cNvPr id="1268" name="Google Shape;1268;p67"/>
          <p:cNvCxnSpPr>
            <a:stCxn id="1265" idx="6"/>
          </p:cNvCxnSpPr>
          <p:nvPr/>
        </p:nvCxnSpPr>
        <p:spPr>
          <a:xfrm>
            <a:off x="3297200" y="4090525"/>
            <a:ext cx="668700" cy="0"/>
          </a:xfrm>
          <a:prstGeom prst="straightConnector1">
            <a:avLst/>
          </a:prstGeom>
          <a:noFill/>
          <a:ln cap="flat" cmpd="sng" w="9525">
            <a:solidFill>
              <a:schemeClr val="dk2"/>
            </a:solidFill>
            <a:prstDash val="solid"/>
            <a:round/>
            <a:headEnd len="med" w="med" type="none"/>
            <a:tailEnd len="med" w="med" type="none"/>
          </a:ln>
        </p:spPr>
      </p:cxnSp>
      <p:sp>
        <p:nvSpPr>
          <p:cNvPr id="1269" name="Google Shape;1269;p67"/>
          <p:cNvSpPr/>
          <p:nvPr/>
        </p:nvSpPr>
        <p:spPr>
          <a:xfrm>
            <a:off x="3074900" y="4668325"/>
            <a:ext cx="212400" cy="2124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0" name="Google Shape;1270;p67"/>
          <p:cNvSpPr txBox="1"/>
          <p:nvPr/>
        </p:nvSpPr>
        <p:spPr>
          <a:xfrm>
            <a:off x="2801700" y="4274700"/>
            <a:ext cx="15171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Truy cập dữ liệu</a:t>
            </a:r>
            <a:endParaRPr>
              <a:solidFill>
                <a:schemeClr val="dk2"/>
              </a:solidFill>
            </a:endParaRPr>
          </a:p>
        </p:txBody>
      </p:sp>
      <p:sp>
        <p:nvSpPr>
          <p:cNvPr id="1271" name="Google Shape;1271;p67"/>
          <p:cNvSpPr txBox="1"/>
          <p:nvPr/>
        </p:nvSpPr>
        <p:spPr>
          <a:xfrm>
            <a:off x="2649300" y="4808100"/>
            <a:ext cx="13926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Lịch công việc</a:t>
            </a:r>
            <a:endParaRPr>
              <a:solidFill>
                <a:schemeClr val="dk2"/>
              </a:solidFill>
            </a:endParaRPr>
          </a:p>
        </p:txBody>
      </p:sp>
      <p:cxnSp>
        <p:nvCxnSpPr>
          <p:cNvPr id="1272" name="Google Shape;1272;p67"/>
          <p:cNvCxnSpPr>
            <a:stCxn id="1269" idx="6"/>
          </p:cNvCxnSpPr>
          <p:nvPr/>
        </p:nvCxnSpPr>
        <p:spPr>
          <a:xfrm>
            <a:off x="3287300" y="4774525"/>
            <a:ext cx="678600" cy="0"/>
          </a:xfrm>
          <a:prstGeom prst="straightConnector1">
            <a:avLst/>
          </a:prstGeom>
          <a:noFill/>
          <a:ln cap="flat" cmpd="sng" w="9525">
            <a:solidFill>
              <a:schemeClr val="dk2"/>
            </a:solidFill>
            <a:prstDash val="solid"/>
            <a:round/>
            <a:headEnd len="med" w="med" type="none"/>
            <a:tailEnd len="med" w="med" type="none"/>
          </a:ln>
        </p:spPr>
      </p:cxnSp>
      <p:sp>
        <p:nvSpPr>
          <p:cNvPr id="1273" name="Google Shape;1273;p67"/>
          <p:cNvSpPr/>
          <p:nvPr/>
        </p:nvSpPr>
        <p:spPr>
          <a:xfrm>
            <a:off x="7062250" y="2310775"/>
            <a:ext cx="18666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a:t>&lt;&lt;dữ liệu&gt;&gt;</a:t>
            </a:r>
            <a:endParaRPr/>
          </a:p>
          <a:p>
            <a:pPr indent="0" lvl="0" marL="0" rtl="0" algn="ctr">
              <a:spcBef>
                <a:spcPts val="0"/>
              </a:spcBef>
              <a:spcAft>
                <a:spcPts val="0"/>
              </a:spcAft>
              <a:buNone/>
            </a:pPr>
            <a:r>
              <a:rPr lang="en-GB" sz="1600"/>
              <a:t>Vùng đệm dữ liệu</a:t>
            </a:r>
            <a:endParaRPr sz="1800"/>
          </a:p>
        </p:txBody>
      </p:sp>
      <p:sp>
        <p:nvSpPr>
          <p:cNvPr id="1274" name="Google Shape;1274;p67"/>
          <p:cNvSpPr/>
          <p:nvPr/>
        </p:nvSpPr>
        <p:spPr>
          <a:xfrm>
            <a:off x="7062250" y="3834775"/>
            <a:ext cx="18666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a:t>&lt;&lt;dữ liệu&gt;&gt;</a:t>
            </a:r>
            <a:endParaRPr/>
          </a:p>
          <a:p>
            <a:pPr indent="0" lvl="0" marL="0" rtl="0" algn="ctr">
              <a:spcBef>
                <a:spcPts val="0"/>
              </a:spcBef>
              <a:spcAft>
                <a:spcPts val="0"/>
              </a:spcAft>
              <a:buNone/>
            </a:pPr>
            <a:r>
              <a:rPr lang="en-GB" sz="1600"/>
              <a:t>CSDL Đại Học</a:t>
            </a:r>
            <a:endParaRPr sz="1800"/>
          </a:p>
        </p:txBody>
      </p:sp>
      <p:sp>
        <p:nvSpPr>
          <p:cNvPr id="1275" name="Google Shape;1275;p67"/>
          <p:cNvSpPr/>
          <p:nvPr/>
        </p:nvSpPr>
        <p:spPr>
          <a:xfrm>
            <a:off x="6457648" y="2773308"/>
            <a:ext cx="222300" cy="2160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6" name="Google Shape;1276;p67"/>
          <p:cNvSpPr txBox="1"/>
          <p:nvPr/>
        </p:nvSpPr>
        <p:spPr>
          <a:xfrm>
            <a:off x="6184450" y="2379675"/>
            <a:ext cx="9465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dk2"/>
                </a:solidFill>
              </a:rPr>
              <a:t>API</a:t>
            </a:r>
            <a:endParaRPr>
              <a:solidFill>
                <a:schemeClr val="dk2"/>
              </a:solidFill>
            </a:endParaRPr>
          </a:p>
        </p:txBody>
      </p:sp>
      <p:cxnSp>
        <p:nvCxnSpPr>
          <p:cNvPr id="1277" name="Google Shape;1277;p67"/>
          <p:cNvCxnSpPr>
            <a:stCxn id="1275" idx="6"/>
          </p:cNvCxnSpPr>
          <p:nvPr/>
        </p:nvCxnSpPr>
        <p:spPr>
          <a:xfrm>
            <a:off x="6679948" y="2881308"/>
            <a:ext cx="388500" cy="0"/>
          </a:xfrm>
          <a:prstGeom prst="straightConnector1">
            <a:avLst/>
          </a:prstGeom>
          <a:noFill/>
          <a:ln cap="flat" cmpd="sng" w="9525">
            <a:solidFill>
              <a:schemeClr val="dk2"/>
            </a:solidFill>
            <a:prstDash val="solid"/>
            <a:round/>
            <a:headEnd len="med" w="med" type="none"/>
            <a:tailEnd len="med" w="med" type="none"/>
          </a:ln>
        </p:spPr>
      </p:cxnSp>
      <p:sp>
        <p:nvSpPr>
          <p:cNvPr id="1278" name="Google Shape;1278;p67"/>
          <p:cNvSpPr/>
          <p:nvPr/>
        </p:nvSpPr>
        <p:spPr>
          <a:xfrm>
            <a:off x="6152848" y="4449708"/>
            <a:ext cx="222300" cy="2160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9" name="Google Shape;1279;p67"/>
          <p:cNvSpPr txBox="1"/>
          <p:nvPr/>
        </p:nvSpPr>
        <p:spPr>
          <a:xfrm>
            <a:off x="6152850" y="4539475"/>
            <a:ext cx="9465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dk2"/>
                </a:solidFill>
              </a:rPr>
              <a:t>JDBC</a:t>
            </a:r>
            <a:endParaRPr>
              <a:solidFill>
                <a:schemeClr val="dk2"/>
              </a:solidFill>
            </a:endParaRPr>
          </a:p>
        </p:txBody>
      </p:sp>
      <p:cxnSp>
        <p:nvCxnSpPr>
          <p:cNvPr id="1280" name="Google Shape;1280;p67"/>
          <p:cNvCxnSpPr>
            <a:stCxn id="1278" idx="6"/>
          </p:cNvCxnSpPr>
          <p:nvPr/>
        </p:nvCxnSpPr>
        <p:spPr>
          <a:xfrm>
            <a:off x="6375148" y="4557708"/>
            <a:ext cx="668700" cy="0"/>
          </a:xfrm>
          <a:prstGeom prst="straightConnector1">
            <a:avLst/>
          </a:prstGeom>
          <a:noFill/>
          <a:ln cap="flat" cmpd="sng" w="9525">
            <a:solidFill>
              <a:schemeClr val="dk2"/>
            </a:solidFill>
            <a:prstDash val="solid"/>
            <a:round/>
            <a:headEnd len="med" w="med" type="none"/>
            <a:tailEnd len="med" w="med" type="none"/>
          </a:ln>
        </p:spPr>
      </p:cxnSp>
      <p:sp>
        <p:nvSpPr>
          <p:cNvPr id="1281" name="Google Shape;1281;p67"/>
          <p:cNvSpPr/>
          <p:nvPr/>
        </p:nvSpPr>
        <p:spPr>
          <a:xfrm>
            <a:off x="6368558" y="2721675"/>
            <a:ext cx="339300" cy="339300"/>
          </a:xfrm>
          <a:prstGeom prst="arc">
            <a:avLst>
              <a:gd fmla="val 5565926" name="adj1"/>
              <a:gd fmla="val 16271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82" name="Google Shape;1282;p67"/>
          <p:cNvCxnSpPr/>
          <p:nvPr/>
        </p:nvCxnSpPr>
        <p:spPr>
          <a:xfrm>
            <a:off x="5651050" y="2402250"/>
            <a:ext cx="708900" cy="4293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67"/>
          <p:cNvCxnSpPr/>
          <p:nvPr/>
        </p:nvCxnSpPr>
        <p:spPr>
          <a:xfrm flipH="1" rot="10800000">
            <a:off x="5651050" y="2911350"/>
            <a:ext cx="708900" cy="978300"/>
          </a:xfrm>
          <a:prstGeom prst="straightConnector1">
            <a:avLst/>
          </a:prstGeom>
          <a:noFill/>
          <a:ln cap="flat" cmpd="sng" w="9525">
            <a:solidFill>
              <a:schemeClr val="dk2"/>
            </a:solidFill>
            <a:prstDash val="solid"/>
            <a:round/>
            <a:headEnd len="med" w="med" type="none"/>
            <a:tailEnd len="med" w="med" type="none"/>
          </a:ln>
        </p:spPr>
      </p:cxnSp>
      <p:cxnSp>
        <p:nvCxnSpPr>
          <p:cNvPr id="1284" name="Google Shape;1284;p67"/>
          <p:cNvCxnSpPr/>
          <p:nvPr/>
        </p:nvCxnSpPr>
        <p:spPr>
          <a:xfrm flipH="1" rot="10800000">
            <a:off x="5651050" y="2981100"/>
            <a:ext cx="738600" cy="2196300"/>
          </a:xfrm>
          <a:prstGeom prst="straightConnector1">
            <a:avLst/>
          </a:prstGeom>
          <a:noFill/>
          <a:ln cap="flat" cmpd="sng" w="9525">
            <a:solidFill>
              <a:schemeClr val="dk2"/>
            </a:solidFill>
            <a:prstDash val="solid"/>
            <a:round/>
            <a:headEnd len="med" w="med" type="none"/>
            <a:tailEnd len="med" w="med" type="none"/>
          </a:ln>
        </p:spPr>
      </p:cxnSp>
      <p:cxnSp>
        <p:nvCxnSpPr>
          <p:cNvPr id="1285" name="Google Shape;1285;p67"/>
          <p:cNvCxnSpPr>
            <a:stCxn id="1286" idx="1"/>
            <a:endCxn id="1259" idx="2"/>
          </p:cNvCxnSpPr>
          <p:nvPr/>
        </p:nvCxnSpPr>
        <p:spPr>
          <a:xfrm>
            <a:off x="2691938" y="2566560"/>
            <a:ext cx="383100" cy="0"/>
          </a:xfrm>
          <a:prstGeom prst="straightConnector1">
            <a:avLst/>
          </a:prstGeom>
          <a:noFill/>
          <a:ln cap="flat" cmpd="sng" w="9525">
            <a:solidFill>
              <a:schemeClr val="dk2"/>
            </a:solidFill>
            <a:prstDash val="dash"/>
            <a:round/>
            <a:headEnd len="med" w="med" type="none"/>
            <a:tailEnd len="med" w="med" type="stealth"/>
          </a:ln>
        </p:spPr>
      </p:cxnSp>
      <p:cxnSp>
        <p:nvCxnSpPr>
          <p:cNvPr id="1287" name="Google Shape;1287;p67"/>
          <p:cNvCxnSpPr>
            <a:stCxn id="1288" idx="1"/>
            <a:endCxn id="1265" idx="2"/>
          </p:cNvCxnSpPr>
          <p:nvPr/>
        </p:nvCxnSpPr>
        <p:spPr>
          <a:xfrm>
            <a:off x="2768138" y="3633360"/>
            <a:ext cx="306900" cy="457200"/>
          </a:xfrm>
          <a:prstGeom prst="straightConnector1">
            <a:avLst/>
          </a:prstGeom>
          <a:noFill/>
          <a:ln cap="flat" cmpd="sng" w="9525">
            <a:solidFill>
              <a:schemeClr val="dk2"/>
            </a:solidFill>
            <a:prstDash val="dash"/>
            <a:round/>
            <a:headEnd len="med" w="med" type="none"/>
            <a:tailEnd len="med" w="med" type="stealth"/>
          </a:ln>
        </p:spPr>
      </p:cxnSp>
      <p:cxnSp>
        <p:nvCxnSpPr>
          <p:cNvPr id="1289" name="Google Shape;1289;p67"/>
          <p:cNvCxnSpPr>
            <a:stCxn id="1290" idx="1"/>
          </p:cNvCxnSpPr>
          <p:nvPr/>
        </p:nvCxnSpPr>
        <p:spPr>
          <a:xfrm>
            <a:off x="2691938" y="4700160"/>
            <a:ext cx="370800" cy="95100"/>
          </a:xfrm>
          <a:prstGeom prst="straightConnector1">
            <a:avLst/>
          </a:prstGeom>
          <a:noFill/>
          <a:ln cap="flat" cmpd="sng" w="9525">
            <a:solidFill>
              <a:schemeClr val="dk2"/>
            </a:solidFill>
            <a:prstDash val="dash"/>
            <a:round/>
            <a:headEnd len="med" w="med" type="none"/>
            <a:tailEnd len="med" w="med" type="stealth"/>
          </a:ln>
        </p:spPr>
      </p:cxnSp>
      <p:sp>
        <p:nvSpPr>
          <p:cNvPr id="1291" name="Google Shape;1291;p67"/>
          <p:cNvSpPr txBox="1"/>
          <p:nvPr/>
        </p:nvSpPr>
        <p:spPr>
          <a:xfrm>
            <a:off x="6330450" y="3414688"/>
            <a:ext cx="5490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SQL</a:t>
            </a:r>
            <a:endParaRPr>
              <a:solidFill>
                <a:schemeClr val="dk2"/>
              </a:solidFill>
            </a:endParaRPr>
          </a:p>
        </p:txBody>
      </p:sp>
      <p:sp>
        <p:nvSpPr>
          <p:cNvPr id="1292" name="Google Shape;1292;p67"/>
          <p:cNvSpPr/>
          <p:nvPr/>
        </p:nvSpPr>
        <p:spPr>
          <a:xfrm>
            <a:off x="6408488" y="3844710"/>
            <a:ext cx="339300" cy="339300"/>
          </a:xfrm>
          <a:prstGeom prst="arc">
            <a:avLst>
              <a:gd fmla="val 11925714" name="adj1"/>
              <a:gd fmla="val 1285946"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93" name="Google Shape;1293;p67"/>
          <p:cNvCxnSpPr/>
          <p:nvPr/>
        </p:nvCxnSpPr>
        <p:spPr>
          <a:xfrm flipH="1" rot="10800000">
            <a:off x="6649300" y="3190700"/>
            <a:ext cx="549000" cy="669000"/>
          </a:xfrm>
          <a:prstGeom prst="straightConnector1">
            <a:avLst/>
          </a:prstGeom>
          <a:noFill/>
          <a:ln cap="flat" cmpd="sng" w="9525">
            <a:solidFill>
              <a:schemeClr val="dk2"/>
            </a:solidFill>
            <a:prstDash val="solid"/>
            <a:round/>
            <a:headEnd len="med" w="med" type="none"/>
            <a:tailEnd len="med" w="med" type="none"/>
          </a:ln>
        </p:spPr>
      </p:cxnSp>
      <p:cxnSp>
        <p:nvCxnSpPr>
          <p:cNvPr id="1294" name="Google Shape;1294;p67"/>
          <p:cNvCxnSpPr>
            <a:stCxn id="1292" idx="1"/>
          </p:cNvCxnSpPr>
          <p:nvPr/>
        </p:nvCxnSpPr>
        <p:spPr>
          <a:xfrm flipH="1">
            <a:off x="6309938" y="4014360"/>
            <a:ext cx="268200" cy="424200"/>
          </a:xfrm>
          <a:prstGeom prst="straightConnector1">
            <a:avLst/>
          </a:prstGeom>
          <a:noFill/>
          <a:ln cap="flat" cmpd="sng" w="9525">
            <a:solidFill>
              <a:schemeClr val="dk2"/>
            </a:solidFill>
            <a:prstDash val="dash"/>
            <a:round/>
            <a:headEnd len="med" w="med" type="none"/>
            <a:tailEnd len="med" w="med" type="stealth"/>
          </a:ln>
        </p:spPr>
      </p:cxnSp>
      <p:sp>
        <p:nvSpPr>
          <p:cNvPr id="1290" name="Google Shape;1290;p67"/>
          <p:cNvSpPr/>
          <p:nvPr/>
        </p:nvSpPr>
        <p:spPr>
          <a:xfrm>
            <a:off x="2522288" y="4530510"/>
            <a:ext cx="339300" cy="339300"/>
          </a:xfrm>
          <a:prstGeom prst="arc">
            <a:avLst>
              <a:gd fmla="val 7910497" name="adj1"/>
              <a:gd fmla="val 2010013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8" name="Google Shape;1288;p67"/>
          <p:cNvSpPr/>
          <p:nvPr/>
        </p:nvSpPr>
        <p:spPr>
          <a:xfrm>
            <a:off x="2598488" y="3463710"/>
            <a:ext cx="339300" cy="339300"/>
          </a:xfrm>
          <a:prstGeom prst="arc">
            <a:avLst>
              <a:gd fmla="val 7910497" name="adj1"/>
              <a:gd fmla="val 2010013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6" name="Google Shape;1286;p67"/>
          <p:cNvSpPr/>
          <p:nvPr/>
        </p:nvSpPr>
        <p:spPr>
          <a:xfrm>
            <a:off x="2522288" y="2396910"/>
            <a:ext cx="339300" cy="339300"/>
          </a:xfrm>
          <a:prstGeom prst="arc">
            <a:avLst>
              <a:gd fmla="val 5526550" name="adj1"/>
              <a:gd fmla="val 15908058"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95" name="Google Shape;1295;p67"/>
          <p:cNvCxnSpPr>
            <a:stCxn id="1238" idx="3"/>
          </p:cNvCxnSpPr>
          <p:nvPr/>
        </p:nvCxnSpPr>
        <p:spPr>
          <a:xfrm flipH="1" rot="10800000">
            <a:off x="1994425" y="3571750"/>
            <a:ext cx="595200" cy="727500"/>
          </a:xfrm>
          <a:prstGeom prst="straightConnector1">
            <a:avLst/>
          </a:prstGeom>
          <a:noFill/>
          <a:ln cap="flat" cmpd="sng" w="9525">
            <a:solidFill>
              <a:schemeClr val="dk2"/>
            </a:solidFill>
            <a:prstDash val="solid"/>
            <a:round/>
            <a:headEnd len="med" w="med" type="none"/>
            <a:tailEnd len="med" w="med" type="none"/>
          </a:ln>
        </p:spPr>
      </p:cxnSp>
      <p:cxnSp>
        <p:nvCxnSpPr>
          <p:cNvPr id="1296" name="Google Shape;1296;p67"/>
          <p:cNvCxnSpPr/>
          <p:nvPr/>
        </p:nvCxnSpPr>
        <p:spPr>
          <a:xfrm flipH="1" rot="10800000">
            <a:off x="2007425" y="2580800"/>
            <a:ext cx="501900" cy="96600"/>
          </a:xfrm>
          <a:prstGeom prst="straightConnector1">
            <a:avLst/>
          </a:prstGeom>
          <a:noFill/>
          <a:ln cap="flat" cmpd="sng" w="9525">
            <a:solidFill>
              <a:schemeClr val="dk2"/>
            </a:solidFill>
            <a:prstDash val="solid"/>
            <a:round/>
            <a:headEnd len="med" w="med" type="none"/>
            <a:tailEnd len="med" w="med" type="none"/>
          </a:ln>
        </p:spPr>
      </p:cxnSp>
      <p:cxnSp>
        <p:nvCxnSpPr>
          <p:cNvPr id="1297" name="Google Shape;1297;p67"/>
          <p:cNvCxnSpPr/>
          <p:nvPr/>
        </p:nvCxnSpPr>
        <p:spPr>
          <a:xfrm>
            <a:off x="2007425" y="2817150"/>
            <a:ext cx="680400" cy="6921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67"/>
          <p:cNvCxnSpPr/>
          <p:nvPr/>
        </p:nvCxnSpPr>
        <p:spPr>
          <a:xfrm>
            <a:off x="1807775" y="3056725"/>
            <a:ext cx="772800" cy="1542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6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304" name="Google Shape;1304;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05" name="Google Shape;1305;p68"/>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Mô-đun hóa hệ thống</a:t>
            </a:r>
            <a:endParaRPr/>
          </a:p>
          <a:p>
            <a:pPr indent="-381000" lvl="0" marL="457200" rtl="0" algn="l">
              <a:spcBef>
                <a:spcPts val="0"/>
              </a:spcBef>
              <a:spcAft>
                <a:spcPts val="0"/>
              </a:spcAft>
              <a:buSzPts val="2400"/>
              <a:buChar char="●"/>
            </a:pPr>
            <a:r>
              <a:rPr lang="en-GB"/>
              <a:t>Các thành phần kiến trúc Hệ thống</a:t>
            </a:r>
            <a:endParaRPr/>
          </a:p>
          <a:p>
            <a:pPr indent="-381000" lvl="0" marL="457200" rtl="0" algn="l">
              <a:spcBef>
                <a:spcPts val="0"/>
              </a:spcBef>
              <a:spcAft>
                <a:spcPts val="0"/>
              </a:spcAft>
              <a:buSzPts val="2400"/>
              <a:buChar char="●"/>
            </a:pPr>
            <a:r>
              <a:rPr lang="en-GB"/>
              <a:t>Mẫu kiến trúc</a:t>
            </a:r>
            <a:endParaRPr/>
          </a:p>
          <a:p>
            <a:pPr indent="-381000" lvl="0" marL="457200" rtl="0" algn="l">
              <a:spcBef>
                <a:spcPts val="0"/>
              </a:spcBef>
              <a:spcAft>
                <a:spcPts val="0"/>
              </a:spcAft>
              <a:buSzPts val="2400"/>
              <a:buChar char="●"/>
            </a:pPr>
            <a:r>
              <a:rPr lang="en-GB"/>
              <a:t>Các sơ đồ UML</a:t>
            </a:r>
            <a:endParaRPr/>
          </a:p>
          <a:p>
            <a:pPr indent="-368300" lvl="1" marL="914400" rtl="0" algn="l">
              <a:spcBef>
                <a:spcPts val="0"/>
              </a:spcBef>
              <a:spcAft>
                <a:spcPts val="0"/>
              </a:spcAft>
              <a:buSzPts val="2200"/>
              <a:buChar char="○"/>
            </a:pPr>
            <a:r>
              <a:rPr lang="en-GB"/>
              <a:t>Sơ đồ gói</a:t>
            </a:r>
            <a:endParaRPr/>
          </a:p>
          <a:p>
            <a:pPr indent="-368300" lvl="1" marL="914400" rtl="0" algn="l">
              <a:spcBef>
                <a:spcPts val="0"/>
              </a:spcBef>
              <a:spcAft>
                <a:spcPts val="0"/>
              </a:spcAft>
              <a:buSzPts val="2200"/>
              <a:buChar char="○"/>
            </a:pPr>
            <a:r>
              <a:rPr lang="en-GB"/>
              <a:t>Sơ đồ thành phần</a:t>
            </a:r>
            <a:endParaRPr/>
          </a:p>
          <a:p>
            <a:pPr indent="-368300" lvl="1" marL="914400" rtl="0" algn="l">
              <a:spcBef>
                <a:spcPts val="0"/>
              </a:spcBef>
              <a:spcAft>
                <a:spcPts val="0"/>
              </a:spcAft>
              <a:buSzPts val="2200"/>
              <a:buChar char="○"/>
            </a:pPr>
            <a:r>
              <a:rPr lang="en-GB"/>
              <a:t>Sơ đồ triển khai</a:t>
            </a:r>
            <a:endParaRPr/>
          </a:p>
        </p:txBody>
      </p:sp>
      <p:sp>
        <p:nvSpPr>
          <p:cNvPr id="1306" name="Google Shape;1306;p68"/>
          <p:cNvSpPr/>
          <p:nvPr/>
        </p:nvSpPr>
        <p:spPr>
          <a:xfrm>
            <a:off x="281700" y="3165942"/>
            <a:ext cx="6629700" cy="810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6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triển khai</a:t>
            </a:r>
            <a:endParaRPr/>
          </a:p>
        </p:txBody>
      </p:sp>
      <p:sp>
        <p:nvSpPr>
          <p:cNvPr id="1312" name="Google Shape;1312;p69"/>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kiến trúc vật lý, </a:t>
            </a:r>
            <a:r>
              <a:rPr lang="en-GB"/>
              <a:t>mối quan hệ giữa</a:t>
            </a:r>
            <a:r>
              <a:rPr lang="en-GB"/>
              <a:t> phần cứng và phần mềm của hệ thống được triển khai, </a:t>
            </a:r>
            <a:r>
              <a:rPr lang="en-GB"/>
              <a:t>m</a:t>
            </a:r>
            <a:r>
              <a:rPr lang="en-GB"/>
              <a:t>ô tả cách hệ thống tương tác với môi trường bên ngoài.</a:t>
            </a:r>
            <a:endParaRPr/>
          </a:p>
          <a:p>
            <a:pPr indent="-381000" lvl="0" marL="457200" rtl="0" algn="l">
              <a:spcBef>
                <a:spcPts val="0"/>
              </a:spcBef>
              <a:spcAft>
                <a:spcPts val="0"/>
              </a:spcAft>
              <a:buSzPts val="2400"/>
              <a:buChar char="●"/>
            </a:pPr>
            <a:r>
              <a:rPr lang="en-GB"/>
              <a:t>Các nút</a:t>
            </a:r>
            <a:endParaRPr/>
          </a:p>
          <a:p>
            <a:pPr indent="-368300" lvl="1" marL="914400" rtl="0" algn="l">
              <a:spcBef>
                <a:spcPts val="0"/>
              </a:spcBef>
              <a:spcAft>
                <a:spcPts val="0"/>
              </a:spcAft>
              <a:buSzPts val="2200"/>
              <a:buChar char="○"/>
            </a:pPr>
            <a:r>
              <a:rPr lang="en-GB"/>
              <a:t>Thường là các thiết bị tính toán: </a:t>
            </a:r>
            <a:r>
              <a:rPr lang="en-GB"/>
              <a:t>Máy chủ, </a:t>
            </a:r>
            <a:r>
              <a:rPr lang="en-GB"/>
              <a:t>Máy vi tính, điện thoại thông minh, v.v..</a:t>
            </a:r>
            <a:endParaRPr/>
          </a:p>
          <a:p>
            <a:pPr indent="-368300" lvl="1" marL="914400" rtl="0" algn="l">
              <a:spcBef>
                <a:spcPts val="0"/>
              </a:spcBef>
              <a:spcAft>
                <a:spcPts val="0"/>
              </a:spcAft>
              <a:buSzPts val="2200"/>
              <a:buChar char="○"/>
            </a:pPr>
            <a:r>
              <a:rPr lang="en-GB"/>
              <a:t>Môi trường thực thi: Linux, macOS, Windows, …</a:t>
            </a:r>
            <a:endParaRPr/>
          </a:p>
          <a:p>
            <a:pPr indent="-368300" lvl="1" marL="914400" rtl="0" algn="l">
              <a:spcBef>
                <a:spcPts val="0"/>
              </a:spcBef>
              <a:spcAft>
                <a:spcPts val="0"/>
              </a:spcAft>
              <a:buSzPts val="2200"/>
              <a:buChar char="○"/>
            </a:pPr>
            <a:r>
              <a:rPr lang="en-GB"/>
              <a:t>Chứa các thành phần phần mềm</a:t>
            </a:r>
            <a:endParaRPr/>
          </a:p>
          <a:p>
            <a:pPr indent="-381000" lvl="0" marL="457200" rtl="0" algn="l">
              <a:spcBef>
                <a:spcPts val="0"/>
              </a:spcBef>
              <a:spcAft>
                <a:spcPts val="0"/>
              </a:spcAft>
              <a:buSzPts val="2400"/>
              <a:buChar char="●"/>
            </a:pPr>
            <a:r>
              <a:rPr lang="en-GB"/>
              <a:t>Các liên kết</a:t>
            </a:r>
            <a:endParaRPr/>
          </a:p>
          <a:p>
            <a:pPr indent="-368300" lvl="1" marL="914400" rtl="0" algn="l">
              <a:spcBef>
                <a:spcPts val="0"/>
              </a:spcBef>
              <a:spcAft>
                <a:spcPts val="0"/>
              </a:spcAft>
              <a:buSzPts val="2200"/>
              <a:buChar char="○"/>
            </a:pPr>
            <a:r>
              <a:rPr lang="en-GB"/>
              <a:t>Biểu diễn kênh trao đổi dữ liệu, kết nối mạng, giao thức.</a:t>
            </a:r>
            <a:endParaRPr/>
          </a:p>
        </p:txBody>
      </p:sp>
      <p:sp>
        <p:nvSpPr>
          <p:cNvPr id="1313" name="Google Shape;1313;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19" name="Google Shape;1319;p7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triển khai: Hệ ký hiệu</a:t>
            </a:r>
            <a:endParaRPr baseline="-25000"/>
          </a:p>
        </p:txBody>
      </p:sp>
      <p:sp>
        <p:nvSpPr>
          <p:cNvPr id="1320" name="Google Shape;1320;p70"/>
          <p:cNvSpPr txBox="1"/>
          <p:nvPr>
            <p:ph idx="4294967295" type="body"/>
          </p:nvPr>
        </p:nvSpPr>
        <p:spPr>
          <a:xfrm>
            <a:off x="1613075" y="874800"/>
            <a:ext cx="72192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Nút là tài nguyên tính toán:</a:t>
            </a:r>
            <a:endParaRPr/>
          </a:p>
          <a:p>
            <a:pPr indent="-368300" lvl="1" marL="914400" rtl="0" algn="l">
              <a:spcBef>
                <a:spcPts val="0"/>
              </a:spcBef>
              <a:spcAft>
                <a:spcPts val="0"/>
              </a:spcAft>
              <a:buSzPts val="2200"/>
              <a:buChar char="○"/>
            </a:pPr>
            <a:r>
              <a:rPr lang="en-GB"/>
              <a:t>Thiết bị hoặc</a:t>
            </a:r>
            <a:endParaRPr/>
          </a:p>
          <a:p>
            <a:pPr indent="-368300" lvl="1" marL="914400" rtl="0" algn="l">
              <a:spcBef>
                <a:spcPts val="0"/>
              </a:spcBef>
              <a:spcAft>
                <a:spcPts val="0"/>
              </a:spcAft>
              <a:buSzPts val="2200"/>
              <a:buChar char="○"/>
            </a:pPr>
            <a:r>
              <a:rPr lang="en-GB"/>
              <a:t>Môi trường thực thi,</a:t>
            </a:r>
            <a:endParaRPr/>
          </a:p>
          <a:p>
            <a:pPr indent="-368300" lvl="1" marL="914400" rtl="0" algn="l">
              <a:spcBef>
                <a:spcPts val="0"/>
              </a:spcBef>
              <a:spcAft>
                <a:spcPts val="0"/>
              </a:spcAft>
              <a:buSzPts val="2200"/>
              <a:buChar char="○"/>
            </a:pPr>
            <a:r>
              <a:rPr lang="en-GB"/>
              <a:t>Có thể được kết nối để biểu diễn các kênh trao đổi thông tin theo hình trạng mạng</a:t>
            </a:r>
            <a:endParaRPr/>
          </a:p>
          <a:p>
            <a:pPr indent="-381000" lvl="0" marL="457200" rtl="0" algn="l">
              <a:spcBef>
                <a:spcPts val="0"/>
              </a:spcBef>
              <a:spcAft>
                <a:spcPts val="0"/>
              </a:spcAft>
              <a:buSzPts val="2400"/>
              <a:buChar char="●"/>
            </a:pPr>
            <a:r>
              <a:rPr lang="en-GB"/>
              <a:t>Thành phẩm / Artifact:</a:t>
            </a:r>
            <a:endParaRPr/>
          </a:p>
          <a:p>
            <a:pPr indent="-368300" lvl="1" marL="914400" rtl="0" algn="l">
              <a:spcBef>
                <a:spcPts val="0"/>
              </a:spcBef>
              <a:spcAft>
                <a:spcPts val="0"/>
              </a:spcAft>
              <a:buSzPts val="2200"/>
              <a:buChar char="○"/>
            </a:pPr>
            <a:r>
              <a:rPr lang="en-GB"/>
              <a:t>Cấu phần cụ thể của hệ thống</a:t>
            </a:r>
            <a:endParaRPr/>
          </a:p>
          <a:p>
            <a:pPr indent="-368300" lvl="1" marL="914400" rtl="0" algn="l">
              <a:spcBef>
                <a:spcPts val="0"/>
              </a:spcBef>
              <a:spcAft>
                <a:spcPts val="0"/>
              </a:spcAft>
              <a:buSzPts val="2200"/>
              <a:buChar char="○"/>
            </a:pPr>
            <a:r>
              <a:rPr lang="en-GB"/>
              <a:t>Các định dạng: </a:t>
            </a:r>
            <a:endParaRPr/>
          </a:p>
          <a:p>
            <a:pPr indent="-342900" lvl="2" marL="1371600" rtl="0" algn="l">
              <a:spcBef>
                <a:spcPts val="0"/>
              </a:spcBef>
              <a:spcAft>
                <a:spcPts val="0"/>
              </a:spcAft>
              <a:buSzPts val="1800"/>
              <a:buChar char="■"/>
            </a:pPr>
            <a:r>
              <a:rPr lang="en-GB"/>
              <a:t>&lt;&lt;mã nguồn&gt;&gt; / &lt;&lt;source&gt;&gt;, &lt;&lt;tệp thực thi&gt;&gt; / &lt;&lt;executable&gt;&gt;, &lt;&lt;jar&gt;&gt;, v.v..</a:t>
            </a:r>
            <a:endParaRPr/>
          </a:p>
          <a:p>
            <a:pPr indent="-381000" lvl="0" marL="457200" rtl="0" algn="l">
              <a:spcBef>
                <a:spcPts val="0"/>
              </a:spcBef>
              <a:spcAft>
                <a:spcPts val="0"/>
              </a:spcAft>
              <a:buSzPts val="2400"/>
              <a:buChar char="●"/>
            </a:pPr>
            <a:r>
              <a:rPr lang="en-GB"/>
              <a:t>Nút với thành phầm được triển khai:</a:t>
            </a:r>
            <a:endParaRPr/>
          </a:p>
        </p:txBody>
      </p:sp>
      <p:sp>
        <p:nvSpPr>
          <p:cNvPr id="1321" name="Google Shape;1321;p70"/>
          <p:cNvSpPr/>
          <p:nvPr/>
        </p:nvSpPr>
        <p:spPr>
          <a:xfrm>
            <a:off x="367694" y="1058400"/>
            <a:ext cx="1309200" cy="893400"/>
          </a:xfrm>
          <a:prstGeom prst="cube">
            <a:avLst>
              <a:gd fmla="val 7935"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&lt;&lt;device&gt;&gt;</a:t>
            </a:r>
            <a:endParaRPr/>
          </a:p>
        </p:txBody>
      </p:sp>
      <p:sp>
        <p:nvSpPr>
          <p:cNvPr id="1322" name="Google Shape;1322;p70"/>
          <p:cNvSpPr/>
          <p:nvPr/>
        </p:nvSpPr>
        <p:spPr>
          <a:xfrm>
            <a:off x="275025" y="2066275"/>
            <a:ext cx="1518000" cy="847500"/>
          </a:xfrm>
          <a:prstGeom prst="cube">
            <a:avLst>
              <a:gd fmla="val 7935"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&lt;execution Environment&gt;&gt;</a:t>
            </a:r>
            <a:endParaRPr/>
          </a:p>
        </p:txBody>
      </p:sp>
      <p:sp>
        <p:nvSpPr>
          <p:cNvPr id="1323" name="Google Shape;1323;p70"/>
          <p:cNvSpPr/>
          <p:nvPr/>
        </p:nvSpPr>
        <p:spPr>
          <a:xfrm>
            <a:off x="275025" y="3646350"/>
            <a:ext cx="1518000" cy="603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&lt;&lt;artifact&gt;&gt;</a:t>
            </a:r>
            <a:endParaRPr/>
          </a:p>
          <a:p>
            <a:pPr indent="0" lvl="0" marL="0" rtl="0" algn="ctr">
              <a:spcBef>
                <a:spcPts val="0"/>
              </a:spcBef>
              <a:spcAft>
                <a:spcPts val="0"/>
              </a:spcAft>
              <a:buNone/>
            </a:pPr>
            <a:r>
              <a:rPr lang="en-GB"/>
              <a:t>Tên thành phẩm</a:t>
            </a:r>
            <a:endParaRPr/>
          </a:p>
        </p:txBody>
      </p:sp>
      <p:sp>
        <p:nvSpPr>
          <p:cNvPr id="1324" name="Google Shape;1324;p70"/>
          <p:cNvSpPr/>
          <p:nvPr/>
        </p:nvSpPr>
        <p:spPr>
          <a:xfrm flipH="1" rot="10800000">
            <a:off x="1553813" y="3773806"/>
            <a:ext cx="146700" cy="198300"/>
          </a:xfrm>
          <a:prstGeom prst="foldedCorner">
            <a:avLst>
              <a:gd fmla="val 2858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0"/>
          <p:cNvSpPr/>
          <p:nvPr/>
        </p:nvSpPr>
        <p:spPr>
          <a:xfrm>
            <a:off x="276600" y="5200976"/>
            <a:ext cx="1845300" cy="1156500"/>
          </a:xfrm>
          <a:prstGeom prst="cube">
            <a:avLst>
              <a:gd fmla="val 7935"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Nút</a:t>
            </a:r>
            <a:endParaRPr/>
          </a:p>
        </p:txBody>
      </p:sp>
      <p:sp>
        <p:nvSpPr>
          <p:cNvPr id="1326" name="Google Shape;1326;p70"/>
          <p:cNvSpPr/>
          <p:nvPr/>
        </p:nvSpPr>
        <p:spPr>
          <a:xfrm>
            <a:off x="427425" y="5617101"/>
            <a:ext cx="1518000" cy="603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&lt;&lt;artifact&gt;&gt;</a:t>
            </a:r>
            <a:endParaRPr/>
          </a:p>
          <a:p>
            <a:pPr indent="0" lvl="0" marL="0" rtl="0" algn="ctr">
              <a:spcBef>
                <a:spcPts val="0"/>
              </a:spcBef>
              <a:spcAft>
                <a:spcPts val="0"/>
              </a:spcAft>
              <a:buNone/>
            </a:pPr>
            <a:r>
              <a:rPr lang="en-GB"/>
              <a:t>Tên thành phẩm</a:t>
            </a:r>
            <a:endParaRPr/>
          </a:p>
        </p:txBody>
      </p:sp>
      <p:sp>
        <p:nvSpPr>
          <p:cNvPr id="1327" name="Google Shape;1327;p70"/>
          <p:cNvSpPr/>
          <p:nvPr/>
        </p:nvSpPr>
        <p:spPr>
          <a:xfrm flipH="1" rot="10800000">
            <a:off x="1706213" y="5687678"/>
            <a:ext cx="146700" cy="198300"/>
          </a:xfrm>
          <a:prstGeom prst="foldedCorner">
            <a:avLst>
              <a:gd fmla="val 2858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70"/>
          <p:cNvSpPr/>
          <p:nvPr/>
        </p:nvSpPr>
        <p:spPr>
          <a:xfrm>
            <a:off x="2638800" y="5200975"/>
            <a:ext cx="2542500" cy="1465200"/>
          </a:xfrm>
          <a:prstGeom prst="cube">
            <a:avLst>
              <a:gd fmla="val 7935"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&lt;&lt;môi trường thực thi&gt;&gt;</a:t>
            </a:r>
            <a:endParaRPr/>
          </a:p>
          <a:p>
            <a:pPr indent="0" lvl="0" marL="0" rtl="0" algn="ctr">
              <a:spcBef>
                <a:spcPts val="0"/>
              </a:spcBef>
              <a:spcAft>
                <a:spcPts val="0"/>
              </a:spcAft>
              <a:buNone/>
            </a:pPr>
            <a:r>
              <a:rPr lang="en-GB" u="sng"/>
              <a:t>Tên Nút</a:t>
            </a:r>
            <a:endParaRPr u="sng"/>
          </a:p>
          <a:p>
            <a:pPr indent="0" lvl="0" marL="0" rtl="0" algn="l">
              <a:spcBef>
                <a:spcPts val="1000"/>
              </a:spcBef>
              <a:spcAft>
                <a:spcPts val="0"/>
              </a:spcAft>
              <a:buNone/>
            </a:pPr>
            <a:r>
              <a:rPr lang="en-GB" u="sng"/>
              <a:t>Thành phẩm 1</a:t>
            </a:r>
            <a:endParaRPr u="sng"/>
          </a:p>
          <a:p>
            <a:pPr indent="0" lvl="0" marL="0" rtl="0" algn="l">
              <a:spcBef>
                <a:spcPts val="0"/>
              </a:spcBef>
              <a:spcAft>
                <a:spcPts val="0"/>
              </a:spcAft>
              <a:buNone/>
            </a:pPr>
            <a:r>
              <a:rPr lang="en-GB" u="sng"/>
              <a:t>Thành phẩm 2</a:t>
            </a:r>
            <a:endParaRPr u="sng"/>
          </a:p>
          <a:p>
            <a:pPr indent="0" lvl="0" marL="0" rtl="0" algn="l">
              <a:spcBef>
                <a:spcPts val="0"/>
              </a:spcBef>
              <a:spcAft>
                <a:spcPts val="0"/>
              </a:spcAft>
              <a:buNone/>
            </a:pPr>
            <a:r>
              <a:rPr lang="en-GB" u="sng"/>
              <a:t>Thành phẩm 3</a:t>
            </a:r>
            <a:endParaRPr u="sng"/>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34" name="Google Shape;1334;p7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triển khai: Hệ ký hiệu</a:t>
            </a:r>
            <a:r>
              <a:rPr baseline="-25000" lang="en-GB"/>
              <a:t>(</a:t>
            </a:r>
            <a:r>
              <a:rPr baseline="-25000" lang="en-GB"/>
              <a:t>2)</a:t>
            </a:r>
            <a:endParaRPr baseline="-25000"/>
          </a:p>
        </p:txBody>
      </p:sp>
      <p:sp>
        <p:nvSpPr>
          <p:cNvPr id="1335" name="Google Shape;1335;p71"/>
          <p:cNvSpPr txBox="1"/>
          <p:nvPr>
            <p:ph idx="4294967295" type="body"/>
          </p:nvPr>
        </p:nvSpPr>
        <p:spPr>
          <a:xfrm>
            <a:off x="311800" y="1020275"/>
            <a:ext cx="8520600" cy="5348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Đặc tả triển khai</a:t>
            </a:r>
            <a:endParaRPr/>
          </a:p>
          <a:p>
            <a:pPr indent="-368300" lvl="1" marL="914400" rtl="0" algn="l">
              <a:spcBef>
                <a:spcPts val="0"/>
              </a:spcBef>
              <a:spcAft>
                <a:spcPts val="0"/>
              </a:spcAft>
              <a:buSzPts val="2200"/>
              <a:buChar char="○"/>
            </a:pPr>
            <a:r>
              <a:rPr lang="en-GB"/>
              <a:t>Đặc tả 1 tập thuộc tính xác định các tham số thực thi của thành phẩm được triển khai trên nút.</a:t>
            </a:r>
            <a:endParaRPr/>
          </a:p>
          <a:p>
            <a:pPr indent="-368300" lvl="1" marL="914400" rtl="0" algn="l">
              <a:spcBef>
                <a:spcPts val="0"/>
              </a:spcBef>
              <a:spcAft>
                <a:spcPts val="0"/>
              </a:spcAft>
              <a:buSzPts val="2200"/>
              <a:buChar char="○"/>
            </a:pPr>
            <a:r>
              <a:rPr lang="en-GB"/>
              <a:t>Đặc tả triển khai có thể chứa thuộc tính.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500"/>
          </a:p>
          <a:p>
            <a:pPr indent="-368300" lvl="1" marL="914400" rtl="0" algn="l">
              <a:spcBef>
                <a:spcPts val="0"/>
              </a:spcBef>
              <a:spcAft>
                <a:spcPts val="0"/>
              </a:spcAft>
              <a:buSzPts val="2200"/>
              <a:buChar char="○"/>
            </a:pPr>
            <a:r>
              <a:rPr lang="en-GB"/>
              <a:t>Thành phẩm phức tạp có thể chứa thực bản của đặc tả triển khai</a:t>
            </a:r>
            <a:endParaRPr/>
          </a:p>
        </p:txBody>
      </p:sp>
      <p:sp>
        <p:nvSpPr>
          <p:cNvPr id="1336" name="Google Shape;1336;p71"/>
          <p:cNvSpPr/>
          <p:nvPr/>
        </p:nvSpPr>
        <p:spPr>
          <a:xfrm>
            <a:off x="3980500" y="4808250"/>
            <a:ext cx="1938600" cy="992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&lt;&lt;artifact&gt;&gt;</a:t>
            </a:r>
            <a:endParaRPr/>
          </a:p>
          <a:p>
            <a:pPr indent="0" lvl="0" marL="0" rtl="0" algn="ctr">
              <a:spcBef>
                <a:spcPts val="0"/>
              </a:spcBef>
              <a:spcAft>
                <a:spcPts val="0"/>
              </a:spcAft>
              <a:buNone/>
            </a:pPr>
            <a:r>
              <a:rPr lang="en-GB"/>
              <a:t>Tên thành phẩm</a:t>
            </a:r>
            <a:endParaRPr/>
          </a:p>
          <a:p>
            <a:pPr indent="0" lvl="0" marL="0" rtl="0" algn="l">
              <a:spcBef>
                <a:spcPts val="0"/>
              </a:spcBef>
              <a:spcAft>
                <a:spcPts val="0"/>
              </a:spcAft>
              <a:buNone/>
            </a:pPr>
            <a:r>
              <a:rPr lang="en-GB"/>
              <a:t>{execution = thread, transaction = true}</a:t>
            </a:r>
            <a:endParaRPr/>
          </a:p>
        </p:txBody>
      </p:sp>
      <p:sp>
        <p:nvSpPr>
          <p:cNvPr id="1337" name="Google Shape;1337;p71"/>
          <p:cNvSpPr/>
          <p:nvPr/>
        </p:nvSpPr>
        <p:spPr>
          <a:xfrm>
            <a:off x="4004959" y="2705806"/>
            <a:ext cx="1889700" cy="603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&lt;&lt;đặc tả triển khai&gt;&gt;</a:t>
            </a:r>
            <a:endParaRPr/>
          </a:p>
          <a:p>
            <a:pPr indent="0" lvl="0" marL="0" rtl="0" algn="ctr">
              <a:spcBef>
                <a:spcPts val="0"/>
              </a:spcBef>
              <a:spcAft>
                <a:spcPts val="0"/>
              </a:spcAft>
              <a:buNone/>
            </a:pPr>
            <a:r>
              <a:rPr b="1" lang="en-GB"/>
              <a:t>Tên</a:t>
            </a:r>
            <a:endParaRPr b="1"/>
          </a:p>
        </p:txBody>
      </p:sp>
      <p:sp>
        <p:nvSpPr>
          <p:cNvPr id="1338" name="Google Shape;1338;p71"/>
          <p:cNvSpPr/>
          <p:nvPr/>
        </p:nvSpPr>
        <p:spPr>
          <a:xfrm>
            <a:off x="1742631" y="2705806"/>
            <a:ext cx="1889700" cy="603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&lt;&lt;đặc tả triển khai&gt;&gt;</a:t>
            </a:r>
            <a:endParaRPr/>
          </a:p>
          <a:p>
            <a:pPr indent="0" lvl="0" marL="0" rtl="0" algn="ctr">
              <a:spcBef>
                <a:spcPts val="0"/>
              </a:spcBef>
              <a:spcAft>
                <a:spcPts val="0"/>
              </a:spcAft>
              <a:buNone/>
            </a:pPr>
            <a:r>
              <a:rPr b="1" lang="en-GB"/>
              <a:t>Tên</a:t>
            </a:r>
            <a:endParaRPr b="1"/>
          </a:p>
        </p:txBody>
      </p:sp>
      <p:sp>
        <p:nvSpPr>
          <p:cNvPr id="1339" name="Google Shape;1339;p71"/>
          <p:cNvSpPr/>
          <p:nvPr/>
        </p:nvSpPr>
        <p:spPr>
          <a:xfrm>
            <a:off x="4004959" y="3315406"/>
            <a:ext cx="1889700" cy="603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execution: execKind</a:t>
            </a:r>
            <a:endParaRPr/>
          </a:p>
          <a:p>
            <a:pPr indent="0" lvl="0" marL="0" rtl="0" algn="l">
              <a:spcBef>
                <a:spcPts val="0"/>
              </a:spcBef>
              <a:spcAft>
                <a:spcPts val="0"/>
              </a:spcAft>
              <a:buNone/>
            </a:pPr>
            <a:r>
              <a:rPr lang="en-GB"/>
              <a:t>transaction: Boolean</a:t>
            </a:r>
            <a:endParaRPr/>
          </a:p>
        </p:txBody>
      </p:sp>
      <p:sp>
        <p:nvSpPr>
          <p:cNvPr id="1340" name="Google Shape;1340;p71"/>
          <p:cNvSpPr/>
          <p:nvPr/>
        </p:nvSpPr>
        <p:spPr>
          <a:xfrm>
            <a:off x="6462409" y="2705806"/>
            <a:ext cx="1889700" cy="603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&lt;&lt;đặc tả triển khai&gt;&gt;</a:t>
            </a:r>
            <a:endParaRPr/>
          </a:p>
          <a:p>
            <a:pPr indent="0" lvl="0" marL="0" rtl="0" algn="ctr">
              <a:spcBef>
                <a:spcPts val="0"/>
              </a:spcBef>
              <a:spcAft>
                <a:spcPts val="0"/>
              </a:spcAft>
              <a:buNone/>
            </a:pPr>
            <a:r>
              <a:rPr b="1" lang="en-GB" u="sng"/>
              <a:t>Tên</a:t>
            </a:r>
            <a:endParaRPr b="1" u="sng"/>
          </a:p>
        </p:txBody>
      </p:sp>
      <p:sp>
        <p:nvSpPr>
          <p:cNvPr id="1341" name="Google Shape;1341;p71"/>
          <p:cNvSpPr/>
          <p:nvPr/>
        </p:nvSpPr>
        <p:spPr>
          <a:xfrm>
            <a:off x="6462409" y="3315406"/>
            <a:ext cx="1889700" cy="603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execution: thread</a:t>
            </a:r>
            <a:endParaRPr/>
          </a:p>
          <a:p>
            <a:pPr indent="0" lvl="0" marL="0" rtl="0" algn="l">
              <a:spcBef>
                <a:spcPts val="0"/>
              </a:spcBef>
              <a:spcAft>
                <a:spcPts val="0"/>
              </a:spcAft>
              <a:buNone/>
            </a:pPr>
            <a:r>
              <a:rPr lang="en-GB"/>
              <a:t>transaction: true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47" name="Google Shape;1347;p7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triển khai: Hệ ký hiệu</a:t>
            </a:r>
            <a:r>
              <a:rPr baseline="-25000" lang="en-GB"/>
              <a:t>(</a:t>
            </a:r>
            <a:r>
              <a:rPr baseline="-25000" lang="en-GB"/>
              <a:t>3)</a:t>
            </a:r>
            <a:endParaRPr baseline="-25000"/>
          </a:p>
        </p:txBody>
      </p:sp>
      <p:sp>
        <p:nvSpPr>
          <p:cNvPr id="1348" name="Google Shape;1348;p72"/>
          <p:cNvSpPr txBox="1"/>
          <p:nvPr>
            <p:ph idx="4294967295" type="body"/>
          </p:nvPr>
        </p:nvSpPr>
        <p:spPr>
          <a:xfrm>
            <a:off x="1613075" y="1020400"/>
            <a:ext cx="7219200" cy="5348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Triển khai thành phẩm trên nút</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381000" lvl="0" marL="457200" rtl="0" algn="l">
              <a:spcBef>
                <a:spcPts val="0"/>
              </a:spcBef>
              <a:spcAft>
                <a:spcPts val="0"/>
              </a:spcAft>
              <a:buSzPts val="2400"/>
              <a:buChar char="●"/>
            </a:pPr>
            <a:r>
              <a:rPr lang="en-GB"/>
              <a:t>Đường truyền và giao thức được biểu diễn bằng quan hệ liên kết</a:t>
            </a:r>
            <a:endParaRPr/>
          </a:p>
          <a:p>
            <a:pPr indent="-381000" lvl="0" marL="457200" rtl="0" algn="l">
              <a:spcBef>
                <a:spcPts val="0"/>
              </a:spcBef>
              <a:spcAft>
                <a:spcPts val="0"/>
              </a:spcAft>
              <a:buSzPts val="2400"/>
              <a:buChar char="●"/>
            </a:pPr>
            <a:r>
              <a:rPr lang="en-GB"/>
              <a:t>Quan hệ manifest/xuất bản: Cho biết cơ sở của thành phẩm, cái hình thành nên thành phẩm.</a:t>
            </a:r>
            <a:endParaRPr/>
          </a:p>
        </p:txBody>
      </p:sp>
      <p:cxnSp>
        <p:nvCxnSpPr>
          <p:cNvPr id="1349" name="Google Shape;1349;p72"/>
          <p:cNvCxnSpPr/>
          <p:nvPr/>
        </p:nvCxnSpPr>
        <p:spPr>
          <a:xfrm>
            <a:off x="517650" y="3421967"/>
            <a:ext cx="1078200" cy="0"/>
          </a:xfrm>
          <a:prstGeom prst="straightConnector1">
            <a:avLst/>
          </a:prstGeom>
          <a:noFill/>
          <a:ln cap="flat" cmpd="sng" w="28575">
            <a:solidFill>
              <a:schemeClr val="dk2"/>
            </a:solidFill>
            <a:prstDash val="solid"/>
            <a:round/>
            <a:headEnd len="med" w="med" type="none"/>
            <a:tailEnd len="med" w="med" type="none"/>
          </a:ln>
        </p:spPr>
      </p:cxnSp>
      <p:cxnSp>
        <p:nvCxnSpPr>
          <p:cNvPr id="1350" name="Google Shape;1350;p72"/>
          <p:cNvCxnSpPr/>
          <p:nvPr/>
        </p:nvCxnSpPr>
        <p:spPr>
          <a:xfrm flipH="1" rot="10800000">
            <a:off x="517650" y="1322068"/>
            <a:ext cx="1043700" cy="8700"/>
          </a:xfrm>
          <a:prstGeom prst="straightConnector1">
            <a:avLst/>
          </a:prstGeom>
          <a:noFill/>
          <a:ln cap="flat" cmpd="sng" w="19050">
            <a:solidFill>
              <a:schemeClr val="dk2"/>
            </a:solidFill>
            <a:prstDash val="dash"/>
            <a:round/>
            <a:headEnd len="med" w="med" type="none"/>
            <a:tailEnd len="med" w="med" type="stealth"/>
          </a:ln>
        </p:spPr>
      </p:cxnSp>
      <p:sp>
        <p:nvSpPr>
          <p:cNvPr id="1351" name="Google Shape;1351;p72"/>
          <p:cNvSpPr txBox="1"/>
          <p:nvPr/>
        </p:nvSpPr>
        <p:spPr>
          <a:xfrm>
            <a:off x="431387" y="988565"/>
            <a:ext cx="11817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&lt;&lt;deploy&gt;&gt;</a:t>
            </a:r>
            <a:endParaRPr/>
          </a:p>
        </p:txBody>
      </p:sp>
      <p:cxnSp>
        <p:nvCxnSpPr>
          <p:cNvPr id="1352" name="Google Shape;1352;p72"/>
          <p:cNvCxnSpPr/>
          <p:nvPr/>
        </p:nvCxnSpPr>
        <p:spPr>
          <a:xfrm flipH="1" rot="10800000">
            <a:off x="517650" y="4267252"/>
            <a:ext cx="1043700" cy="8700"/>
          </a:xfrm>
          <a:prstGeom prst="straightConnector1">
            <a:avLst/>
          </a:prstGeom>
          <a:noFill/>
          <a:ln cap="flat" cmpd="sng" w="19050">
            <a:solidFill>
              <a:schemeClr val="dk2"/>
            </a:solidFill>
            <a:prstDash val="dash"/>
            <a:round/>
            <a:headEnd len="med" w="med" type="none"/>
            <a:tailEnd len="med" w="med" type="stealth"/>
          </a:ln>
        </p:spPr>
      </p:cxnSp>
      <p:sp>
        <p:nvSpPr>
          <p:cNvPr id="1353" name="Google Shape;1353;p72"/>
          <p:cNvSpPr txBox="1"/>
          <p:nvPr/>
        </p:nvSpPr>
        <p:spPr>
          <a:xfrm>
            <a:off x="355173" y="3857559"/>
            <a:ext cx="14139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manifest</a:t>
            </a:r>
            <a:r>
              <a:rPr lang="en-GB"/>
              <a:t>&gt;&gt;</a:t>
            </a:r>
            <a:endParaRPr/>
          </a:p>
        </p:txBody>
      </p:sp>
      <p:sp>
        <p:nvSpPr>
          <p:cNvPr id="1354" name="Google Shape;1354;p72"/>
          <p:cNvSpPr/>
          <p:nvPr/>
        </p:nvSpPr>
        <p:spPr>
          <a:xfrm>
            <a:off x="3431608" y="5964750"/>
            <a:ext cx="1521600" cy="664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t>&lt;&lt;artifact&gt;&gt;</a:t>
            </a:r>
            <a:endParaRPr sz="1600"/>
          </a:p>
          <a:p>
            <a:pPr indent="0" lvl="0" marL="0" rtl="0" algn="ctr">
              <a:spcBef>
                <a:spcPts val="0"/>
              </a:spcBef>
              <a:spcAft>
                <a:spcPts val="0"/>
              </a:spcAft>
              <a:buNone/>
            </a:pPr>
            <a:r>
              <a:rPr lang="en-GB" sz="1600"/>
              <a:t>Order.jar</a:t>
            </a:r>
            <a:endParaRPr sz="1600"/>
          </a:p>
        </p:txBody>
      </p:sp>
      <p:sp>
        <p:nvSpPr>
          <p:cNvPr id="1355" name="Google Shape;1355;p72"/>
          <p:cNvSpPr/>
          <p:nvPr/>
        </p:nvSpPr>
        <p:spPr>
          <a:xfrm flipH="1" rot="10800000">
            <a:off x="4754683" y="6109950"/>
            <a:ext cx="146700" cy="198300"/>
          </a:xfrm>
          <a:prstGeom prst="foldedCorner">
            <a:avLst>
              <a:gd fmla="val 2858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2"/>
          <p:cNvSpPr/>
          <p:nvPr/>
        </p:nvSpPr>
        <p:spPr>
          <a:xfrm>
            <a:off x="3273550" y="4920100"/>
            <a:ext cx="18417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a:t>Order</a:t>
            </a:r>
            <a:endParaRPr/>
          </a:p>
        </p:txBody>
      </p:sp>
      <p:grpSp>
        <p:nvGrpSpPr>
          <p:cNvPr id="1357" name="Google Shape;1357;p72"/>
          <p:cNvGrpSpPr/>
          <p:nvPr/>
        </p:nvGrpSpPr>
        <p:grpSpPr>
          <a:xfrm>
            <a:off x="4818484" y="4988631"/>
            <a:ext cx="253440" cy="250500"/>
            <a:chOff x="3861221" y="2397831"/>
            <a:chExt cx="253440" cy="250500"/>
          </a:xfrm>
        </p:grpSpPr>
        <p:sp>
          <p:nvSpPr>
            <p:cNvPr id="1358" name="Google Shape;1358;p72"/>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9" name="Google Shape;1359;p72"/>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0" name="Google Shape;1360;p72"/>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61" name="Google Shape;1361;p72"/>
          <p:cNvSpPr/>
          <p:nvPr/>
        </p:nvSpPr>
        <p:spPr>
          <a:xfrm>
            <a:off x="2145515" y="5110808"/>
            <a:ext cx="253500" cy="253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62" name="Google Shape;1362;p72"/>
          <p:cNvCxnSpPr>
            <a:stCxn id="1361" idx="6"/>
            <a:endCxn id="1356" idx="1"/>
          </p:cNvCxnSpPr>
          <p:nvPr/>
        </p:nvCxnSpPr>
        <p:spPr>
          <a:xfrm flipH="1" rot="10800000">
            <a:off x="2399015" y="5236658"/>
            <a:ext cx="874500" cy="900"/>
          </a:xfrm>
          <a:prstGeom prst="straightConnector1">
            <a:avLst/>
          </a:prstGeom>
          <a:noFill/>
          <a:ln cap="flat" cmpd="sng" w="9525">
            <a:solidFill>
              <a:schemeClr val="dk2"/>
            </a:solidFill>
            <a:prstDash val="solid"/>
            <a:round/>
            <a:headEnd len="med" w="med" type="none"/>
            <a:tailEnd len="med" w="med" type="none"/>
          </a:ln>
        </p:spPr>
      </p:cxnSp>
      <p:cxnSp>
        <p:nvCxnSpPr>
          <p:cNvPr id="1363" name="Google Shape;1363;p72"/>
          <p:cNvCxnSpPr>
            <a:stCxn id="1354" idx="0"/>
            <a:endCxn id="1356" idx="2"/>
          </p:cNvCxnSpPr>
          <p:nvPr/>
        </p:nvCxnSpPr>
        <p:spPr>
          <a:xfrm flipH="1" rot="10800000">
            <a:off x="4192408" y="5553450"/>
            <a:ext cx="2100" cy="411300"/>
          </a:xfrm>
          <a:prstGeom prst="straightConnector1">
            <a:avLst/>
          </a:prstGeom>
          <a:noFill/>
          <a:ln cap="flat" cmpd="sng" w="9525">
            <a:solidFill>
              <a:schemeClr val="dk2"/>
            </a:solidFill>
            <a:prstDash val="dash"/>
            <a:round/>
            <a:headEnd len="med" w="med" type="none"/>
            <a:tailEnd len="med" w="med" type="triangle"/>
          </a:ln>
        </p:spPr>
      </p:cxnSp>
      <p:sp>
        <p:nvSpPr>
          <p:cNvPr id="1364" name="Google Shape;1364;p72"/>
          <p:cNvSpPr txBox="1"/>
          <p:nvPr/>
        </p:nvSpPr>
        <p:spPr>
          <a:xfrm>
            <a:off x="4271800" y="5586197"/>
            <a:ext cx="1287900" cy="3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&lt;&lt;manifest&gt;&gt;</a:t>
            </a:r>
            <a:endParaRPr>
              <a:solidFill>
                <a:schemeClr val="dk2"/>
              </a:solidFill>
            </a:endParaRPr>
          </a:p>
        </p:txBody>
      </p:sp>
      <p:sp>
        <p:nvSpPr>
          <p:cNvPr id="1365" name="Google Shape;1365;p72"/>
          <p:cNvSpPr/>
          <p:nvPr/>
        </p:nvSpPr>
        <p:spPr>
          <a:xfrm>
            <a:off x="1501056" y="1649919"/>
            <a:ext cx="1339500" cy="467100"/>
          </a:xfrm>
          <a:prstGeom prst="cube">
            <a:avLst>
              <a:gd fmla="val 7935"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AppServer</a:t>
            </a:r>
            <a:endParaRPr/>
          </a:p>
        </p:txBody>
      </p:sp>
      <p:sp>
        <p:nvSpPr>
          <p:cNvPr id="1366" name="Google Shape;1366;p72"/>
          <p:cNvSpPr/>
          <p:nvPr/>
        </p:nvSpPr>
        <p:spPr>
          <a:xfrm>
            <a:off x="3494002" y="1649919"/>
            <a:ext cx="1339500" cy="467100"/>
          </a:xfrm>
          <a:prstGeom prst="cube">
            <a:avLst>
              <a:gd fmla="val 7935"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DBServer</a:t>
            </a:r>
            <a:endParaRPr/>
          </a:p>
        </p:txBody>
      </p:sp>
      <p:sp>
        <p:nvSpPr>
          <p:cNvPr id="1367" name="Google Shape;1367;p72"/>
          <p:cNvSpPr/>
          <p:nvPr/>
        </p:nvSpPr>
        <p:spPr>
          <a:xfrm>
            <a:off x="282175" y="2419000"/>
            <a:ext cx="1503600" cy="564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&lt;&lt;artifact&gt;&gt;</a:t>
            </a:r>
            <a:endParaRPr/>
          </a:p>
          <a:p>
            <a:pPr indent="0" lvl="0" marL="0" rtl="0" algn="ctr">
              <a:spcBef>
                <a:spcPts val="0"/>
              </a:spcBef>
              <a:spcAft>
                <a:spcPts val="0"/>
              </a:spcAft>
              <a:buNone/>
            </a:pPr>
            <a:r>
              <a:rPr lang="en-GB"/>
              <a:t>Order.jar</a:t>
            </a:r>
            <a:endParaRPr/>
          </a:p>
        </p:txBody>
      </p:sp>
      <p:sp>
        <p:nvSpPr>
          <p:cNvPr id="1368" name="Google Shape;1368;p72"/>
          <p:cNvSpPr/>
          <p:nvPr/>
        </p:nvSpPr>
        <p:spPr>
          <a:xfrm flipH="1" rot="10800000">
            <a:off x="1621649" y="2507877"/>
            <a:ext cx="121500" cy="121200"/>
          </a:xfrm>
          <a:prstGeom prst="foldedCorner">
            <a:avLst>
              <a:gd fmla="val 2858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72"/>
          <p:cNvSpPr/>
          <p:nvPr/>
        </p:nvSpPr>
        <p:spPr>
          <a:xfrm>
            <a:off x="2127375" y="2440975"/>
            <a:ext cx="1802700" cy="564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&lt;&lt;artifact&gt;&gt;</a:t>
            </a:r>
            <a:endParaRPr/>
          </a:p>
          <a:p>
            <a:pPr indent="0" lvl="0" marL="0" rtl="0" algn="ctr">
              <a:spcBef>
                <a:spcPts val="0"/>
              </a:spcBef>
              <a:spcAft>
                <a:spcPts val="0"/>
              </a:spcAft>
              <a:buNone/>
            </a:pPr>
            <a:r>
              <a:rPr lang="en-GB"/>
              <a:t>RequestHandler.jar</a:t>
            </a:r>
            <a:endParaRPr/>
          </a:p>
        </p:txBody>
      </p:sp>
      <p:sp>
        <p:nvSpPr>
          <p:cNvPr id="1370" name="Google Shape;1370;p72"/>
          <p:cNvSpPr/>
          <p:nvPr/>
        </p:nvSpPr>
        <p:spPr>
          <a:xfrm flipH="1" rot="10800000">
            <a:off x="3604317" y="2619565"/>
            <a:ext cx="121500" cy="121200"/>
          </a:xfrm>
          <a:prstGeom prst="foldedCorner">
            <a:avLst>
              <a:gd fmla="val 2858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1371" name="Google Shape;1371;p72"/>
          <p:cNvCxnSpPr>
            <a:stCxn id="1367" idx="0"/>
          </p:cNvCxnSpPr>
          <p:nvPr/>
        </p:nvCxnSpPr>
        <p:spPr>
          <a:xfrm flipH="1" rot="10800000">
            <a:off x="1033975" y="2104300"/>
            <a:ext cx="760800" cy="314700"/>
          </a:xfrm>
          <a:prstGeom prst="straightConnector1">
            <a:avLst/>
          </a:prstGeom>
          <a:noFill/>
          <a:ln cap="flat" cmpd="sng" w="9525">
            <a:solidFill>
              <a:schemeClr val="dk2"/>
            </a:solidFill>
            <a:prstDash val="dash"/>
            <a:round/>
            <a:headEnd len="med" w="med" type="none"/>
            <a:tailEnd len="med" w="med" type="triangle"/>
          </a:ln>
        </p:spPr>
      </p:cxnSp>
      <p:cxnSp>
        <p:nvCxnSpPr>
          <p:cNvPr id="1372" name="Google Shape;1372;p72"/>
          <p:cNvCxnSpPr>
            <a:stCxn id="1369" idx="0"/>
          </p:cNvCxnSpPr>
          <p:nvPr/>
        </p:nvCxnSpPr>
        <p:spPr>
          <a:xfrm rot="10800000">
            <a:off x="2593125" y="2113075"/>
            <a:ext cx="435600" cy="327900"/>
          </a:xfrm>
          <a:prstGeom prst="straightConnector1">
            <a:avLst/>
          </a:prstGeom>
          <a:noFill/>
          <a:ln cap="flat" cmpd="sng" w="9525">
            <a:solidFill>
              <a:schemeClr val="dk2"/>
            </a:solidFill>
            <a:prstDash val="dash"/>
            <a:round/>
            <a:headEnd len="med" w="med" type="none"/>
            <a:tailEnd len="med" w="med" type="triangle"/>
          </a:ln>
        </p:spPr>
      </p:cxnSp>
      <p:sp>
        <p:nvSpPr>
          <p:cNvPr id="1373" name="Google Shape;1373;p72"/>
          <p:cNvSpPr txBox="1"/>
          <p:nvPr/>
        </p:nvSpPr>
        <p:spPr>
          <a:xfrm>
            <a:off x="294878" y="2037494"/>
            <a:ext cx="1163400" cy="3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&lt;&lt;deploy&gt;&gt;</a:t>
            </a:r>
            <a:endParaRPr>
              <a:solidFill>
                <a:schemeClr val="dk2"/>
              </a:solidFill>
            </a:endParaRPr>
          </a:p>
        </p:txBody>
      </p:sp>
      <p:sp>
        <p:nvSpPr>
          <p:cNvPr id="1374" name="Google Shape;1374;p72"/>
          <p:cNvSpPr txBox="1"/>
          <p:nvPr/>
        </p:nvSpPr>
        <p:spPr>
          <a:xfrm>
            <a:off x="2769207" y="2101119"/>
            <a:ext cx="1163400" cy="3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&lt;&lt;deploy&gt;&gt;</a:t>
            </a:r>
            <a:endParaRPr>
              <a:solidFill>
                <a:schemeClr val="dk2"/>
              </a:solidFill>
            </a:endParaRPr>
          </a:p>
        </p:txBody>
      </p:sp>
      <p:cxnSp>
        <p:nvCxnSpPr>
          <p:cNvPr id="1375" name="Google Shape;1375;p72"/>
          <p:cNvCxnSpPr>
            <a:stCxn id="1365" idx="4"/>
            <a:endCxn id="1366" idx="2"/>
          </p:cNvCxnSpPr>
          <p:nvPr/>
        </p:nvCxnSpPr>
        <p:spPr>
          <a:xfrm>
            <a:off x="2803491" y="1902001"/>
            <a:ext cx="690600" cy="0"/>
          </a:xfrm>
          <a:prstGeom prst="straightConnector1">
            <a:avLst/>
          </a:prstGeom>
          <a:noFill/>
          <a:ln cap="flat" cmpd="sng" w="9525">
            <a:solidFill>
              <a:schemeClr val="dk2"/>
            </a:solidFill>
            <a:prstDash val="solid"/>
            <a:round/>
            <a:headEnd len="med" w="med" type="none"/>
            <a:tailEnd len="med" w="med" type="none"/>
          </a:ln>
        </p:spPr>
      </p:cxnSp>
      <p:sp>
        <p:nvSpPr>
          <p:cNvPr id="1376" name="Google Shape;1376;p72"/>
          <p:cNvSpPr/>
          <p:nvPr/>
        </p:nvSpPr>
        <p:spPr>
          <a:xfrm>
            <a:off x="5152950" y="1841178"/>
            <a:ext cx="3693600" cy="1095300"/>
          </a:xfrm>
          <a:prstGeom prst="cube">
            <a:avLst>
              <a:gd fmla="val 7935"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AppServer</a:t>
            </a:r>
            <a:endParaRPr/>
          </a:p>
        </p:txBody>
      </p:sp>
      <p:sp>
        <p:nvSpPr>
          <p:cNvPr id="1377" name="Google Shape;1377;p72"/>
          <p:cNvSpPr/>
          <p:nvPr/>
        </p:nvSpPr>
        <p:spPr>
          <a:xfrm>
            <a:off x="7342168" y="2285200"/>
            <a:ext cx="1287900" cy="564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&lt;&lt;artifact&gt;&gt;</a:t>
            </a:r>
            <a:endParaRPr/>
          </a:p>
          <a:p>
            <a:pPr indent="0" lvl="0" marL="0" rtl="0" algn="ctr">
              <a:spcBef>
                <a:spcPts val="0"/>
              </a:spcBef>
              <a:spcAft>
                <a:spcPts val="0"/>
              </a:spcAft>
              <a:buNone/>
            </a:pPr>
            <a:r>
              <a:rPr lang="en-GB"/>
              <a:t>Order.jar</a:t>
            </a:r>
            <a:endParaRPr/>
          </a:p>
        </p:txBody>
      </p:sp>
      <p:sp>
        <p:nvSpPr>
          <p:cNvPr id="1378" name="Google Shape;1378;p72"/>
          <p:cNvSpPr/>
          <p:nvPr/>
        </p:nvSpPr>
        <p:spPr>
          <a:xfrm flipH="1" rot="10800000">
            <a:off x="8465783" y="2374075"/>
            <a:ext cx="121500" cy="121200"/>
          </a:xfrm>
          <a:prstGeom prst="foldedCorner">
            <a:avLst>
              <a:gd fmla="val 2858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2"/>
          <p:cNvSpPr/>
          <p:nvPr/>
        </p:nvSpPr>
        <p:spPr>
          <a:xfrm>
            <a:off x="5300525" y="2285200"/>
            <a:ext cx="1603200" cy="564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&lt;&lt;artifact&gt;&gt;</a:t>
            </a:r>
            <a:endParaRPr/>
          </a:p>
          <a:p>
            <a:pPr indent="0" lvl="0" marL="0" rtl="0" algn="ctr">
              <a:spcBef>
                <a:spcPts val="0"/>
              </a:spcBef>
              <a:spcAft>
                <a:spcPts val="0"/>
              </a:spcAft>
              <a:buNone/>
            </a:pPr>
            <a:r>
              <a:rPr lang="en-GB"/>
              <a:t>ShoppingCart.jar</a:t>
            </a:r>
            <a:endParaRPr/>
          </a:p>
        </p:txBody>
      </p:sp>
      <p:sp>
        <p:nvSpPr>
          <p:cNvPr id="1380" name="Google Shape;1380;p72"/>
          <p:cNvSpPr/>
          <p:nvPr/>
        </p:nvSpPr>
        <p:spPr>
          <a:xfrm flipH="1" rot="10800000">
            <a:off x="6739157" y="2374075"/>
            <a:ext cx="121500" cy="121200"/>
          </a:xfrm>
          <a:prstGeom prst="foldedCorner">
            <a:avLst>
              <a:gd fmla="val 2858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1381" name="Google Shape;1381;p72"/>
          <p:cNvCxnSpPr>
            <a:endCxn id="1377" idx="1"/>
          </p:cNvCxnSpPr>
          <p:nvPr/>
        </p:nvCxnSpPr>
        <p:spPr>
          <a:xfrm>
            <a:off x="6913168" y="2567350"/>
            <a:ext cx="429000" cy="0"/>
          </a:xfrm>
          <a:prstGeom prst="straightConnector1">
            <a:avLst/>
          </a:prstGeom>
          <a:noFill/>
          <a:ln cap="flat" cmpd="sng" w="9525">
            <a:solidFill>
              <a:schemeClr val="dk2"/>
            </a:solidFill>
            <a:prstDash val="dash"/>
            <a:round/>
            <a:headEnd len="med" w="med" type="none"/>
            <a:tailEnd len="med" w="med" type="triangle"/>
          </a:ln>
        </p:spPr>
      </p:cxnSp>
      <p:sp>
        <p:nvSpPr>
          <p:cNvPr id="1382" name="Google Shape;1382;p72"/>
          <p:cNvSpPr txBox="1"/>
          <p:nvPr/>
        </p:nvSpPr>
        <p:spPr>
          <a:xfrm>
            <a:off x="687099" y="3095550"/>
            <a:ext cx="11634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HTTP</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73"/>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triển khai: </a:t>
            </a:r>
            <a:r>
              <a:rPr lang="en-GB"/>
              <a:t>Thành phẩm</a:t>
            </a:r>
            <a:endParaRPr/>
          </a:p>
        </p:txBody>
      </p:sp>
      <p:sp>
        <p:nvSpPr>
          <p:cNvPr id="1388" name="Google Shape;1388;p73"/>
          <p:cNvSpPr txBox="1"/>
          <p:nvPr>
            <p:ph idx="4294967295" type="body"/>
          </p:nvPr>
        </p:nvSpPr>
        <p:spPr>
          <a:xfrm>
            <a:off x="311700" y="950475"/>
            <a:ext cx="8520600" cy="551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Thành phẩm/</a:t>
            </a:r>
            <a:r>
              <a:rPr lang="en-GB"/>
              <a:t>Artifact biểu diễn </a:t>
            </a:r>
            <a:r>
              <a:rPr lang="en-GB"/>
              <a:t>một</a:t>
            </a:r>
            <a:r>
              <a:rPr lang="en-GB"/>
              <a:t> </a:t>
            </a:r>
            <a:r>
              <a:rPr lang="en-GB"/>
              <a:t>đầu ra</a:t>
            </a:r>
            <a:r>
              <a:rPr lang="en-GB"/>
              <a:t> thực </a:t>
            </a:r>
            <a:r>
              <a:rPr lang="en-GB"/>
              <a:t>tế, </a:t>
            </a:r>
            <a:r>
              <a:rPr lang="en-GB"/>
              <a:t>được triển khai trong các nút.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Một số </a:t>
            </a:r>
            <a:r>
              <a:rPr lang="en-GB"/>
              <a:t>định dạng</a:t>
            </a:r>
            <a:r>
              <a:rPr lang="en-GB"/>
              <a:t> </a:t>
            </a:r>
            <a:r>
              <a:rPr lang="en-GB"/>
              <a:t>thành phẩm</a:t>
            </a:r>
            <a:r>
              <a:rPr lang="en-GB"/>
              <a:t> tiêu chuẩn:</a:t>
            </a:r>
            <a:endParaRPr/>
          </a:p>
          <a:p>
            <a:pPr indent="-381000" lvl="0" marL="457200" rtl="0" algn="l">
              <a:spcBef>
                <a:spcPts val="0"/>
              </a:spcBef>
              <a:spcAft>
                <a:spcPts val="0"/>
              </a:spcAft>
              <a:buSzPts val="2400"/>
              <a:buChar char="●"/>
            </a:pPr>
            <a:r>
              <a:rPr lang="en-GB"/>
              <a:t>Tệp - &lt;&lt;file&gt;&gt; một tệp cụ thể trong hệ thống tệp</a:t>
            </a:r>
            <a:endParaRPr/>
          </a:p>
          <a:p>
            <a:pPr indent="-381000" lvl="0" marL="457200" rtl="0" algn="l">
              <a:spcBef>
                <a:spcPts val="0"/>
              </a:spcBef>
              <a:spcAft>
                <a:spcPts val="0"/>
              </a:spcAft>
              <a:buSzPts val="2400"/>
              <a:buChar char="●"/>
            </a:pPr>
            <a:r>
              <a:rPr lang="en-GB"/>
              <a:t>Tài liệu - &lt;&lt;document&gt;&gt; một tài liệu, có thể là mã nguồn hoặc tệp thực thi</a:t>
            </a:r>
            <a:endParaRPr/>
          </a:p>
          <a:p>
            <a:pPr indent="-381000" lvl="0" marL="457200" rtl="0" algn="l">
              <a:spcBef>
                <a:spcPts val="0"/>
              </a:spcBef>
              <a:spcAft>
                <a:spcPts val="0"/>
              </a:spcAft>
              <a:buSzPts val="2400"/>
              <a:buChar char="●"/>
            </a:pPr>
            <a:r>
              <a:rPr lang="en-GB"/>
              <a:t>Thư viện - &lt;&lt;library&gt;&gt; một thư viện tĩnh hoặc động</a:t>
            </a:r>
            <a:endParaRPr/>
          </a:p>
          <a:p>
            <a:pPr indent="-381000" lvl="0" marL="457200" rtl="0" algn="l">
              <a:spcBef>
                <a:spcPts val="0"/>
              </a:spcBef>
              <a:spcAft>
                <a:spcPts val="0"/>
              </a:spcAft>
              <a:buSzPts val="2400"/>
              <a:buChar char="●"/>
            </a:pPr>
            <a:r>
              <a:rPr lang="en-GB"/>
              <a:t>Tệp thực thi - &lt;&lt;excecutable&gt;&gt; một chương trình có thể được thực thi trên máy tính.</a:t>
            </a:r>
            <a:endParaRPr/>
          </a:p>
        </p:txBody>
      </p:sp>
      <p:sp>
        <p:nvSpPr>
          <p:cNvPr id="1389" name="Google Shape;1389;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90" name="Google Shape;1390;p73"/>
          <p:cNvSpPr/>
          <p:nvPr/>
        </p:nvSpPr>
        <p:spPr>
          <a:xfrm>
            <a:off x="4356325" y="1696525"/>
            <a:ext cx="3234900" cy="1596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t>&lt;&lt;artifact&gt;&gt;</a:t>
            </a:r>
            <a:endParaRPr sz="2000"/>
          </a:p>
          <a:p>
            <a:pPr indent="0" lvl="0" marL="0" rtl="0" algn="ctr">
              <a:spcBef>
                <a:spcPts val="0"/>
              </a:spcBef>
              <a:spcAft>
                <a:spcPts val="0"/>
              </a:spcAft>
              <a:buNone/>
            </a:pPr>
            <a:r>
              <a:t/>
            </a:r>
            <a:endParaRPr sz="2000"/>
          </a:p>
          <a:p>
            <a:pPr indent="0" lvl="0" marL="0" rtl="0" algn="ctr">
              <a:spcBef>
                <a:spcPts val="0"/>
              </a:spcBef>
              <a:spcAft>
                <a:spcPts val="0"/>
              </a:spcAft>
              <a:buNone/>
            </a:pPr>
            <a:r>
              <a:rPr b="1" lang="en-GB" sz="2000"/>
              <a:t>libcgraph.a</a:t>
            </a:r>
            <a:endParaRPr b="1" sz="2000"/>
          </a:p>
        </p:txBody>
      </p:sp>
      <p:sp>
        <p:nvSpPr>
          <p:cNvPr id="1391" name="Google Shape;1391;p73"/>
          <p:cNvSpPr/>
          <p:nvPr/>
        </p:nvSpPr>
        <p:spPr>
          <a:xfrm rot="10800000">
            <a:off x="6886825" y="1797175"/>
            <a:ext cx="505500" cy="6183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7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Quan hệ manifest</a:t>
            </a:r>
            <a:endParaRPr/>
          </a:p>
        </p:txBody>
      </p:sp>
      <p:sp>
        <p:nvSpPr>
          <p:cNvPr id="1397" name="Google Shape;1397;p74"/>
          <p:cNvSpPr txBox="1"/>
          <p:nvPr>
            <p:ph idx="4294967295"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triển khai vật lý của 1 hoặc nhiều </a:t>
            </a:r>
            <a:r>
              <a:rPr lang="en-GB"/>
              <a:t>cấu phần</a:t>
            </a:r>
            <a:r>
              <a:rPr lang="en-GB"/>
              <a:t> của </a:t>
            </a:r>
            <a:r>
              <a:rPr lang="en-GB"/>
              <a:t>hệ thống</a:t>
            </a:r>
            <a:r>
              <a:rPr lang="en-GB"/>
              <a:t> </a:t>
            </a:r>
            <a:r>
              <a:rPr lang="en-GB"/>
              <a:t>như các</a:t>
            </a:r>
            <a:r>
              <a:rPr lang="en-GB"/>
              <a:t> thành phẩm. </a:t>
            </a:r>
            <a:endParaRPr/>
          </a:p>
          <a:p>
            <a:pPr indent="-381000" lvl="0" marL="457200" rtl="0" algn="l">
              <a:spcBef>
                <a:spcPts val="0"/>
              </a:spcBef>
              <a:spcAft>
                <a:spcPts val="0"/>
              </a:spcAft>
              <a:buSzPts val="2400"/>
              <a:buChar char="●"/>
            </a:pPr>
            <a:r>
              <a:rPr lang="en-GB"/>
              <a:t>Thường được sử dụng để biểu diễn triển khai thành phần </a:t>
            </a:r>
            <a:r>
              <a:rPr lang="en-GB"/>
              <a:t>như</a:t>
            </a:r>
            <a:r>
              <a:rPr lang="en-GB"/>
              <a:t> thành phẩm:</a:t>
            </a:r>
            <a:endParaRPr/>
          </a:p>
          <a:p>
            <a:pPr indent="-368300" lvl="1" marL="914400" rtl="0" algn="l">
              <a:spcBef>
                <a:spcPts val="0"/>
              </a:spcBef>
              <a:spcAft>
                <a:spcPts val="0"/>
              </a:spcAft>
              <a:buSzPts val="2200"/>
              <a:buChar char="○"/>
            </a:pPr>
            <a:r>
              <a:rPr lang="en-GB"/>
              <a:t>Mỗi thành phần có thể được triển khai như 1 thành phẩm</a:t>
            </a:r>
            <a:endParaRPr/>
          </a:p>
          <a:p>
            <a:pPr indent="-368300" lvl="1" marL="914400" rtl="0" algn="l">
              <a:spcBef>
                <a:spcPts val="0"/>
              </a:spcBef>
              <a:spcAft>
                <a:spcPts val="0"/>
              </a:spcAft>
              <a:buSzPts val="2200"/>
              <a:buChar char="○"/>
            </a:pPr>
            <a:r>
              <a:rPr lang="en-GB"/>
              <a:t>Mỗi thành phẩm có thể bao gồm nhiều thành phần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GB"/>
              <a:t>Ngoài ra có thể sử dụng với bất kỳ phần tử nào khác nếu có thể </a:t>
            </a:r>
            <a:r>
              <a:rPr lang="en-GB"/>
              <a:t>đóng</a:t>
            </a:r>
            <a:r>
              <a:rPr lang="en-GB"/>
              <a:t> gói / PackageableElement</a:t>
            </a:r>
            <a:endParaRPr/>
          </a:p>
        </p:txBody>
      </p:sp>
      <p:sp>
        <p:nvSpPr>
          <p:cNvPr id="1398" name="Google Shape;1398;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99" name="Google Shape;1399;p74"/>
          <p:cNvSpPr/>
          <p:nvPr/>
        </p:nvSpPr>
        <p:spPr>
          <a:xfrm>
            <a:off x="3965008" y="4669350"/>
            <a:ext cx="1521600" cy="664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t>&lt;&lt;artifact&gt;&gt;</a:t>
            </a:r>
            <a:endParaRPr sz="1600"/>
          </a:p>
          <a:p>
            <a:pPr indent="0" lvl="0" marL="0" rtl="0" algn="ctr">
              <a:spcBef>
                <a:spcPts val="0"/>
              </a:spcBef>
              <a:spcAft>
                <a:spcPts val="0"/>
              </a:spcAft>
              <a:buNone/>
            </a:pPr>
            <a:r>
              <a:rPr lang="en-GB" sz="1600"/>
              <a:t>Order.jar</a:t>
            </a:r>
            <a:endParaRPr sz="1600"/>
          </a:p>
        </p:txBody>
      </p:sp>
      <p:sp>
        <p:nvSpPr>
          <p:cNvPr id="1400" name="Google Shape;1400;p74"/>
          <p:cNvSpPr/>
          <p:nvPr/>
        </p:nvSpPr>
        <p:spPr>
          <a:xfrm flipH="1" rot="10800000">
            <a:off x="5288083" y="4814550"/>
            <a:ext cx="146700" cy="198300"/>
          </a:xfrm>
          <a:prstGeom prst="foldedCorner">
            <a:avLst>
              <a:gd fmla="val 2858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74"/>
          <p:cNvSpPr/>
          <p:nvPr/>
        </p:nvSpPr>
        <p:spPr>
          <a:xfrm>
            <a:off x="3806950" y="3548500"/>
            <a:ext cx="1841700" cy="633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&lt;&lt;component&gt;&gt;</a:t>
            </a:r>
            <a:endParaRPr/>
          </a:p>
          <a:p>
            <a:pPr indent="0" lvl="0" marL="0" rtl="0" algn="ctr">
              <a:spcBef>
                <a:spcPts val="0"/>
              </a:spcBef>
              <a:spcAft>
                <a:spcPts val="0"/>
              </a:spcAft>
              <a:buNone/>
            </a:pPr>
            <a:r>
              <a:rPr lang="en-GB"/>
              <a:t>Order</a:t>
            </a:r>
            <a:endParaRPr/>
          </a:p>
        </p:txBody>
      </p:sp>
      <p:grpSp>
        <p:nvGrpSpPr>
          <p:cNvPr id="1402" name="Google Shape;1402;p74"/>
          <p:cNvGrpSpPr/>
          <p:nvPr/>
        </p:nvGrpSpPr>
        <p:grpSpPr>
          <a:xfrm>
            <a:off x="5351884" y="3617031"/>
            <a:ext cx="253440" cy="250500"/>
            <a:chOff x="3861221" y="2397831"/>
            <a:chExt cx="253440" cy="250500"/>
          </a:xfrm>
        </p:grpSpPr>
        <p:sp>
          <p:nvSpPr>
            <p:cNvPr id="1403" name="Google Shape;1403;p74"/>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4" name="Google Shape;1404;p74"/>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5" name="Google Shape;1405;p74"/>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06" name="Google Shape;1406;p74"/>
          <p:cNvSpPr/>
          <p:nvPr/>
        </p:nvSpPr>
        <p:spPr>
          <a:xfrm>
            <a:off x="2678915" y="3739208"/>
            <a:ext cx="253500" cy="253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07" name="Google Shape;1407;p74"/>
          <p:cNvCxnSpPr>
            <a:stCxn id="1406" idx="6"/>
            <a:endCxn id="1401" idx="1"/>
          </p:cNvCxnSpPr>
          <p:nvPr/>
        </p:nvCxnSpPr>
        <p:spPr>
          <a:xfrm flipH="1" rot="10800000">
            <a:off x="2932415" y="3865058"/>
            <a:ext cx="874500" cy="900"/>
          </a:xfrm>
          <a:prstGeom prst="straightConnector1">
            <a:avLst/>
          </a:prstGeom>
          <a:noFill/>
          <a:ln cap="flat" cmpd="sng" w="9525">
            <a:solidFill>
              <a:schemeClr val="dk2"/>
            </a:solidFill>
            <a:prstDash val="solid"/>
            <a:round/>
            <a:headEnd len="med" w="med" type="none"/>
            <a:tailEnd len="med" w="med" type="none"/>
          </a:ln>
        </p:spPr>
      </p:cxnSp>
      <p:cxnSp>
        <p:nvCxnSpPr>
          <p:cNvPr id="1408" name="Google Shape;1408;p74"/>
          <p:cNvCxnSpPr>
            <a:stCxn id="1399" idx="0"/>
            <a:endCxn id="1401" idx="2"/>
          </p:cNvCxnSpPr>
          <p:nvPr/>
        </p:nvCxnSpPr>
        <p:spPr>
          <a:xfrm flipH="1" rot="10800000">
            <a:off x="4725808" y="4181850"/>
            <a:ext cx="2100" cy="487500"/>
          </a:xfrm>
          <a:prstGeom prst="straightConnector1">
            <a:avLst/>
          </a:prstGeom>
          <a:noFill/>
          <a:ln cap="flat" cmpd="sng" w="9525">
            <a:solidFill>
              <a:schemeClr val="dk2"/>
            </a:solidFill>
            <a:prstDash val="dash"/>
            <a:round/>
            <a:headEnd len="med" w="med" type="none"/>
            <a:tailEnd len="med" w="med" type="triangle"/>
          </a:ln>
        </p:spPr>
      </p:cxnSp>
      <p:sp>
        <p:nvSpPr>
          <p:cNvPr id="1409" name="Google Shape;1409;p74"/>
          <p:cNvSpPr txBox="1"/>
          <p:nvPr/>
        </p:nvSpPr>
        <p:spPr>
          <a:xfrm>
            <a:off x="4805200" y="4281925"/>
            <a:ext cx="1287900" cy="3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&lt;&lt;manifest&gt;&gt;</a:t>
            </a:r>
            <a:endParaRPr>
              <a:solidFill>
                <a:schemeClr val="dk2"/>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75"/>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7. </a:t>
            </a:r>
            <a:r>
              <a:rPr lang="en-GB"/>
              <a:t>Sơ đồ triển khai hệ thống 3-dãy</a:t>
            </a:r>
            <a:endParaRPr baseline="-25000"/>
          </a:p>
        </p:txBody>
      </p:sp>
      <p:sp>
        <p:nvSpPr>
          <p:cNvPr id="1415" name="Google Shape;1415;p75"/>
          <p:cNvSpPr txBox="1"/>
          <p:nvPr>
            <p:ph idx="12" type="sldNum"/>
          </p:nvPr>
        </p:nvSpPr>
        <p:spPr>
          <a:xfrm>
            <a:off x="8157408" y="3830840"/>
            <a:ext cx="498300" cy="47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16" name="Google Shape;1416;p75"/>
          <p:cNvSpPr/>
          <p:nvPr/>
        </p:nvSpPr>
        <p:spPr>
          <a:xfrm>
            <a:off x="124200" y="2976875"/>
            <a:ext cx="2422800" cy="22047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Điện thoại thông minh</a:t>
            </a:r>
            <a:endParaRPr b="1" sz="1600"/>
          </a:p>
        </p:txBody>
      </p:sp>
      <p:sp>
        <p:nvSpPr>
          <p:cNvPr id="1417" name="Google Shape;1417;p75"/>
          <p:cNvSpPr/>
          <p:nvPr/>
        </p:nvSpPr>
        <p:spPr>
          <a:xfrm>
            <a:off x="270931" y="3562015"/>
            <a:ext cx="1999200" cy="15288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&lt;&lt;Môi trường&gt;&gt;</a:t>
            </a:r>
            <a:endParaRPr/>
          </a:p>
          <a:p>
            <a:pPr indent="0" lvl="0" marL="0" rtl="0" algn="ctr">
              <a:spcBef>
                <a:spcPts val="0"/>
              </a:spcBef>
              <a:spcAft>
                <a:spcPts val="0"/>
              </a:spcAft>
              <a:buNone/>
            </a:pPr>
            <a:r>
              <a:rPr lang="en-GB"/>
              <a:t>Trình duyệt Web</a:t>
            </a:r>
            <a:endParaRPr/>
          </a:p>
        </p:txBody>
      </p:sp>
      <p:sp>
        <p:nvSpPr>
          <p:cNvPr id="1418" name="Google Shape;1418;p75"/>
          <p:cNvSpPr/>
          <p:nvPr/>
        </p:nvSpPr>
        <p:spPr>
          <a:xfrm>
            <a:off x="360625" y="4213925"/>
            <a:ext cx="1783500" cy="641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Giao diện </a:t>
            </a:r>
            <a:r>
              <a:rPr lang="en-GB"/>
              <a:t>đặt lịch</a:t>
            </a:r>
            <a:endParaRPr/>
          </a:p>
        </p:txBody>
      </p:sp>
      <p:sp>
        <p:nvSpPr>
          <p:cNvPr id="1419" name="Google Shape;1419;p75"/>
          <p:cNvSpPr/>
          <p:nvPr/>
        </p:nvSpPr>
        <p:spPr>
          <a:xfrm flipH="1" rot="10800000">
            <a:off x="1929713" y="4324276"/>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0" name="Google Shape;1420;p75"/>
          <p:cNvSpPr/>
          <p:nvPr/>
        </p:nvSpPr>
        <p:spPr>
          <a:xfrm>
            <a:off x="3515250" y="3066575"/>
            <a:ext cx="2346600" cy="22044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Web</a:t>
            </a:r>
            <a:endParaRPr b="1" sz="1600"/>
          </a:p>
        </p:txBody>
      </p:sp>
      <p:sp>
        <p:nvSpPr>
          <p:cNvPr id="1421" name="Google Shape;1421;p75"/>
          <p:cNvSpPr/>
          <p:nvPr/>
        </p:nvSpPr>
        <p:spPr>
          <a:xfrm>
            <a:off x="3582373" y="3519920"/>
            <a:ext cx="2113500" cy="16533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&lt;&lt;Môi trường&gt;&gt;</a:t>
            </a:r>
            <a:endParaRPr/>
          </a:p>
          <a:p>
            <a:pPr indent="0" lvl="0" marL="0" rtl="0" algn="ctr">
              <a:spcBef>
                <a:spcPts val="0"/>
              </a:spcBef>
              <a:spcAft>
                <a:spcPts val="0"/>
              </a:spcAft>
              <a:buNone/>
            </a:pPr>
            <a:r>
              <a:rPr lang="en-GB"/>
              <a:t>Apache Tomcat</a:t>
            </a:r>
            <a:endParaRPr/>
          </a:p>
        </p:txBody>
      </p:sp>
      <p:sp>
        <p:nvSpPr>
          <p:cNvPr id="1422" name="Google Shape;1422;p75"/>
          <p:cNvSpPr/>
          <p:nvPr/>
        </p:nvSpPr>
        <p:spPr>
          <a:xfrm>
            <a:off x="3673979" y="4224850"/>
            <a:ext cx="1857000" cy="763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Ứng dụng đặt lịch</a:t>
            </a:r>
            <a:r>
              <a:rPr lang="en-GB"/>
              <a:t>.war</a:t>
            </a:r>
            <a:endParaRPr/>
          </a:p>
        </p:txBody>
      </p:sp>
      <p:sp>
        <p:nvSpPr>
          <p:cNvPr id="1423" name="Google Shape;1423;p75"/>
          <p:cNvSpPr/>
          <p:nvPr/>
        </p:nvSpPr>
        <p:spPr>
          <a:xfrm flipH="1" rot="10800000">
            <a:off x="5316665" y="4327587"/>
            <a:ext cx="154200" cy="195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4" name="Google Shape;1424;p75"/>
          <p:cNvSpPr/>
          <p:nvPr/>
        </p:nvSpPr>
        <p:spPr>
          <a:xfrm>
            <a:off x="6609454" y="3066575"/>
            <a:ext cx="2346600" cy="22047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dữ liệu</a:t>
            </a:r>
            <a:endParaRPr b="1" sz="1600"/>
          </a:p>
        </p:txBody>
      </p:sp>
      <p:sp>
        <p:nvSpPr>
          <p:cNvPr id="1425" name="Google Shape;1425;p75"/>
          <p:cNvSpPr/>
          <p:nvPr/>
        </p:nvSpPr>
        <p:spPr>
          <a:xfrm>
            <a:off x="6679002" y="3519947"/>
            <a:ext cx="2113500" cy="16533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&lt;&lt;Môi trường&gt;&gt;</a:t>
            </a:r>
            <a:endParaRPr/>
          </a:p>
          <a:p>
            <a:pPr indent="0" lvl="0" marL="0" rtl="0" algn="ctr">
              <a:spcBef>
                <a:spcPts val="0"/>
              </a:spcBef>
              <a:spcAft>
                <a:spcPts val="0"/>
              </a:spcAft>
              <a:buNone/>
            </a:pPr>
            <a:r>
              <a:rPr lang="en-GB"/>
              <a:t>Hệ quản trị CSDL</a:t>
            </a:r>
            <a:endParaRPr/>
          </a:p>
        </p:txBody>
      </p:sp>
      <p:sp>
        <p:nvSpPr>
          <p:cNvPr id="1426" name="Google Shape;1426;p75"/>
          <p:cNvSpPr/>
          <p:nvPr/>
        </p:nvSpPr>
        <p:spPr>
          <a:xfrm>
            <a:off x="6761625" y="4224925"/>
            <a:ext cx="1919700" cy="8091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CSDL </a:t>
            </a:r>
            <a:r>
              <a:rPr lang="en-GB"/>
              <a:t>lịch hẹn</a:t>
            </a:r>
            <a:endParaRPr/>
          </a:p>
        </p:txBody>
      </p:sp>
      <p:sp>
        <p:nvSpPr>
          <p:cNvPr id="1427" name="Google Shape;1427;p75"/>
          <p:cNvSpPr/>
          <p:nvPr/>
        </p:nvSpPr>
        <p:spPr>
          <a:xfrm flipH="1" rot="10800000">
            <a:off x="8472450" y="4307549"/>
            <a:ext cx="173400" cy="2193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28" name="Google Shape;1428;p75"/>
          <p:cNvCxnSpPr>
            <a:stCxn id="1416" idx="5"/>
          </p:cNvCxnSpPr>
          <p:nvPr/>
        </p:nvCxnSpPr>
        <p:spPr>
          <a:xfrm>
            <a:off x="2547000" y="4037468"/>
            <a:ext cx="956400" cy="0"/>
          </a:xfrm>
          <a:prstGeom prst="straightConnector1">
            <a:avLst/>
          </a:prstGeom>
          <a:noFill/>
          <a:ln cap="flat" cmpd="sng" w="9525">
            <a:solidFill>
              <a:schemeClr val="dk2"/>
            </a:solidFill>
            <a:prstDash val="solid"/>
            <a:round/>
            <a:headEnd len="med" w="med" type="none"/>
            <a:tailEnd len="med" w="med" type="none"/>
          </a:ln>
        </p:spPr>
      </p:cxnSp>
      <p:sp>
        <p:nvSpPr>
          <p:cNvPr id="1429" name="Google Shape;1429;p75"/>
          <p:cNvSpPr txBox="1"/>
          <p:nvPr/>
        </p:nvSpPr>
        <p:spPr>
          <a:xfrm>
            <a:off x="2533328" y="3689057"/>
            <a:ext cx="10608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HTTP(S)</a:t>
            </a:r>
            <a:endParaRPr sz="1600">
              <a:solidFill>
                <a:schemeClr val="dk2"/>
              </a:solidFill>
            </a:endParaRPr>
          </a:p>
        </p:txBody>
      </p:sp>
      <p:cxnSp>
        <p:nvCxnSpPr>
          <p:cNvPr id="1430" name="Google Shape;1430;p75"/>
          <p:cNvCxnSpPr>
            <a:stCxn id="1420" idx="5"/>
          </p:cNvCxnSpPr>
          <p:nvPr/>
        </p:nvCxnSpPr>
        <p:spPr>
          <a:xfrm>
            <a:off x="5861850" y="4127024"/>
            <a:ext cx="739500" cy="0"/>
          </a:xfrm>
          <a:prstGeom prst="straightConnector1">
            <a:avLst/>
          </a:prstGeom>
          <a:noFill/>
          <a:ln cap="flat" cmpd="sng" w="9525">
            <a:solidFill>
              <a:schemeClr val="dk2"/>
            </a:solidFill>
            <a:prstDash val="solid"/>
            <a:round/>
            <a:headEnd len="med" w="med" type="none"/>
            <a:tailEnd len="med" w="med" type="none"/>
          </a:ln>
        </p:spPr>
      </p:cxnSp>
      <p:sp>
        <p:nvSpPr>
          <p:cNvPr id="1431" name="Google Shape;1431;p75"/>
          <p:cNvSpPr txBox="1"/>
          <p:nvPr/>
        </p:nvSpPr>
        <p:spPr>
          <a:xfrm>
            <a:off x="5886126" y="3765250"/>
            <a:ext cx="8676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SSL</a:t>
            </a:r>
            <a:endParaRPr sz="1600">
              <a:solidFill>
                <a:schemeClr val="dk2"/>
              </a:solidFill>
            </a:endParaRPr>
          </a:p>
        </p:txBody>
      </p:sp>
      <p:sp>
        <p:nvSpPr>
          <p:cNvPr id="1432" name="Google Shape;1432;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33" name="Google Shape;1433;p75"/>
          <p:cNvSpPr/>
          <p:nvPr/>
        </p:nvSpPr>
        <p:spPr>
          <a:xfrm>
            <a:off x="6139375" y="932975"/>
            <a:ext cx="2160900" cy="16134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dịch vụ ngân hàng</a:t>
            </a:r>
            <a:endParaRPr b="1" sz="1600"/>
          </a:p>
        </p:txBody>
      </p:sp>
      <p:cxnSp>
        <p:nvCxnSpPr>
          <p:cNvPr id="1434" name="Google Shape;1434;p75"/>
          <p:cNvCxnSpPr>
            <a:endCxn id="1433" idx="2"/>
          </p:cNvCxnSpPr>
          <p:nvPr/>
        </p:nvCxnSpPr>
        <p:spPr>
          <a:xfrm flipH="1" rot="10800000">
            <a:off x="4730275" y="1770233"/>
            <a:ext cx="1409100" cy="1296300"/>
          </a:xfrm>
          <a:prstGeom prst="straightConnector1">
            <a:avLst/>
          </a:prstGeom>
          <a:noFill/>
          <a:ln cap="flat" cmpd="sng" w="9525">
            <a:solidFill>
              <a:schemeClr val="dk2"/>
            </a:solidFill>
            <a:prstDash val="solid"/>
            <a:round/>
            <a:headEnd len="med" w="med" type="none"/>
            <a:tailEnd len="med" w="med" type="none"/>
          </a:ln>
        </p:spPr>
      </p:cxnSp>
      <p:sp>
        <p:nvSpPr>
          <p:cNvPr id="1435" name="Google Shape;1435;p75"/>
          <p:cNvSpPr txBox="1"/>
          <p:nvPr/>
        </p:nvSpPr>
        <p:spPr>
          <a:xfrm>
            <a:off x="4514528" y="2012657"/>
            <a:ext cx="10608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HTTPS</a:t>
            </a:r>
            <a:endParaRPr sz="1600">
              <a:solidFill>
                <a:schemeClr val="dk2"/>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sp>
        <p:nvSpPr>
          <p:cNvPr id="1440" name="Google Shape;1440;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41" name="Google Shape;1441;p7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Kiến trúc nguyên khối</a:t>
            </a:r>
            <a:endParaRPr/>
          </a:p>
        </p:txBody>
      </p:sp>
      <p:sp>
        <p:nvSpPr>
          <p:cNvPr id="1442" name="Google Shape;1442;p76"/>
          <p:cNvSpPr/>
          <p:nvPr/>
        </p:nvSpPr>
        <p:spPr>
          <a:xfrm>
            <a:off x="905125" y="1379700"/>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a:t>
            </a:r>
            <a:r>
              <a:rPr lang="en-GB" sz="1200"/>
              <a:t>Thành phần</a:t>
            </a:r>
            <a:r>
              <a:rPr lang="en-GB" sz="1200"/>
              <a:t>&gt;&gt;</a:t>
            </a:r>
            <a:endParaRPr sz="1200"/>
          </a:p>
          <a:p>
            <a:pPr indent="0" lvl="0" marL="0" rtl="0" algn="ctr">
              <a:spcBef>
                <a:spcPts val="1000"/>
              </a:spcBef>
              <a:spcAft>
                <a:spcPts val="0"/>
              </a:spcAft>
              <a:buNone/>
            </a:pPr>
            <a:r>
              <a:rPr lang="en-GB" sz="1600"/>
              <a:t>Ứng dụng Web</a:t>
            </a:r>
            <a:endParaRPr sz="1800"/>
          </a:p>
        </p:txBody>
      </p:sp>
      <p:grpSp>
        <p:nvGrpSpPr>
          <p:cNvPr id="1443" name="Google Shape;1443;p76"/>
          <p:cNvGrpSpPr/>
          <p:nvPr/>
        </p:nvGrpSpPr>
        <p:grpSpPr>
          <a:xfrm>
            <a:off x="2294609" y="1448231"/>
            <a:ext cx="253440" cy="250500"/>
            <a:chOff x="3861221" y="2397831"/>
            <a:chExt cx="253440" cy="250500"/>
          </a:xfrm>
        </p:grpSpPr>
        <p:sp>
          <p:nvSpPr>
            <p:cNvPr id="1444" name="Google Shape;1444;p7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5" name="Google Shape;1445;p7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6" name="Google Shape;1446;p7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47" name="Google Shape;1447;p76"/>
          <p:cNvSpPr/>
          <p:nvPr/>
        </p:nvSpPr>
        <p:spPr>
          <a:xfrm>
            <a:off x="4001650" y="1379700"/>
            <a:ext cx="18666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thành phần</a:t>
            </a:r>
            <a:r>
              <a:rPr lang="en-GB"/>
              <a:t>&gt;&gt;</a:t>
            </a:r>
            <a:endParaRPr/>
          </a:p>
          <a:p>
            <a:pPr indent="0" lvl="0" marL="0" rtl="0" algn="ctr">
              <a:spcBef>
                <a:spcPts val="1000"/>
              </a:spcBef>
              <a:spcAft>
                <a:spcPts val="0"/>
              </a:spcAft>
              <a:buNone/>
            </a:pPr>
            <a:r>
              <a:rPr lang="en-GB" sz="1600"/>
              <a:t>Cơ sở dữ liệu</a:t>
            </a:r>
            <a:endParaRPr sz="1800"/>
          </a:p>
        </p:txBody>
      </p:sp>
      <p:grpSp>
        <p:nvGrpSpPr>
          <p:cNvPr id="1448" name="Google Shape;1448;p76"/>
          <p:cNvGrpSpPr/>
          <p:nvPr/>
        </p:nvGrpSpPr>
        <p:grpSpPr>
          <a:xfrm>
            <a:off x="5571209" y="1448231"/>
            <a:ext cx="253440" cy="250500"/>
            <a:chOff x="3861221" y="2397831"/>
            <a:chExt cx="253440" cy="250500"/>
          </a:xfrm>
        </p:grpSpPr>
        <p:sp>
          <p:nvSpPr>
            <p:cNvPr id="1449" name="Google Shape;1449;p7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0" name="Google Shape;1450;p7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1" name="Google Shape;1451;p7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52" name="Google Shape;1452;p76"/>
          <p:cNvSpPr/>
          <p:nvPr/>
        </p:nvSpPr>
        <p:spPr>
          <a:xfrm>
            <a:off x="3196013" y="1697575"/>
            <a:ext cx="222300" cy="2160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3" name="Google Shape;1453;p76"/>
          <p:cNvSpPr/>
          <p:nvPr/>
        </p:nvSpPr>
        <p:spPr>
          <a:xfrm>
            <a:off x="3126888" y="1645942"/>
            <a:ext cx="339300" cy="339300"/>
          </a:xfrm>
          <a:prstGeom prst="arc">
            <a:avLst>
              <a:gd fmla="val 5565926" name="adj1"/>
              <a:gd fmla="val 16271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54" name="Google Shape;1454;p76"/>
          <p:cNvCxnSpPr>
            <a:endCxn id="1447" idx="1"/>
          </p:cNvCxnSpPr>
          <p:nvPr/>
        </p:nvCxnSpPr>
        <p:spPr>
          <a:xfrm>
            <a:off x="3418450" y="1805700"/>
            <a:ext cx="583200" cy="9900"/>
          </a:xfrm>
          <a:prstGeom prst="straightConnector1">
            <a:avLst/>
          </a:prstGeom>
          <a:noFill/>
          <a:ln cap="flat" cmpd="sng" w="9525">
            <a:solidFill>
              <a:schemeClr val="dk2"/>
            </a:solidFill>
            <a:prstDash val="solid"/>
            <a:round/>
            <a:headEnd len="med" w="med" type="none"/>
            <a:tailEnd len="med" w="med" type="none"/>
          </a:ln>
        </p:spPr>
      </p:cxnSp>
      <p:cxnSp>
        <p:nvCxnSpPr>
          <p:cNvPr id="1455" name="Google Shape;1455;p76"/>
          <p:cNvCxnSpPr>
            <a:stCxn id="1442" idx="3"/>
          </p:cNvCxnSpPr>
          <p:nvPr/>
        </p:nvCxnSpPr>
        <p:spPr>
          <a:xfrm>
            <a:off x="2591425" y="1815600"/>
            <a:ext cx="527400" cy="0"/>
          </a:xfrm>
          <a:prstGeom prst="straightConnector1">
            <a:avLst/>
          </a:prstGeom>
          <a:noFill/>
          <a:ln cap="flat" cmpd="sng" w="9525">
            <a:solidFill>
              <a:schemeClr val="dk2"/>
            </a:solidFill>
            <a:prstDash val="solid"/>
            <a:round/>
            <a:headEnd len="med" w="med" type="none"/>
            <a:tailEnd len="med" w="med" type="none"/>
          </a:ln>
        </p:spPr>
      </p:cxnSp>
      <p:sp>
        <p:nvSpPr>
          <p:cNvPr id="1456" name="Google Shape;1456;p76"/>
          <p:cNvSpPr/>
          <p:nvPr/>
        </p:nvSpPr>
        <p:spPr>
          <a:xfrm>
            <a:off x="3869175" y="337162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&lt;&lt;Thành phần&gt;&gt;</a:t>
            </a:r>
            <a:endParaRPr sz="1200"/>
          </a:p>
          <a:p>
            <a:pPr indent="0" lvl="0" marL="0" rtl="0" algn="ctr">
              <a:spcBef>
                <a:spcPts val="1000"/>
              </a:spcBef>
              <a:spcAft>
                <a:spcPts val="0"/>
              </a:spcAft>
              <a:buNone/>
            </a:pPr>
            <a:r>
              <a:rPr lang="en-GB" sz="1600"/>
              <a:t>Xử lý nghiệp vụ</a:t>
            </a:r>
            <a:endParaRPr sz="1800"/>
          </a:p>
        </p:txBody>
      </p:sp>
      <p:grpSp>
        <p:nvGrpSpPr>
          <p:cNvPr id="1457" name="Google Shape;1457;p76"/>
          <p:cNvGrpSpPr/>
          <p:nvPr/>
        </p:nvGrpSpPr>
        <p:grpSpPr>
          <a:xfrm>
            <a:off x="5258659" y="3440156"/>
            <a:ext cx="253440" cy="250500"/>
            <a:chOff x="3861221" y="2397831"/>
            <a:chExt cx="253440" cy="250500"/>
          </a:xfrm>
        </p:grpSpPr>
        <p:sp>
          <p:nvSpPr>
            <p:cNvPr id="1458" name="Google Shape;1458;p7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9" name="Google Shape;1459;p7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0" name="Google Shape;1460;p7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61" name="Google Shape;1461;p76"/>
          <p:cNvSpPr/>
          <p:nvPr/>
        </p:nvSpPr>
        <p:spPr>
          <a:xfrm>
            <a:off x="6965700" y="3371625"/>
            <a:ext cx="18666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&lt;&lt;thành phần&gt;&gt;</a:t>
            </a:r>
            <a:endParaRPr/>
          </a:p>
          <a:p>
            <a:pPr indent="0" lvl="0" marL="0" rtl="0" algn="ctr">
              <a:spcBef>
                <a:spcPts val="1000"/>
              </a:spcBef>
              <a:spcAft>
                <a:spcPts val="0"/>
              </a:spcAft>
              <a:buNone/>
            </a:pPr>
            <a:r>
              <a:rPr lang="en-GB" sz="1600"/>
              <a:t>Cơ sở dữ liệu</a:t>
            </a:r>
            <a:endParaRPr sz="1800"/>
          </a:p>
        </p:txBody>
      </p:sp>
      <p:grpSp>
        <p:nvGrpSpPr>
          <p:cNvPr id="1462" name="Google Shape;1462;p76"/>
          <p:cNvGrpSpPr/>
          <p:nvPr/>
        </p:nvGrpSpPr>
        <p:grpSpPr>
          <a:xfrm>
            <a:off x="8535259" y="3440156"/>
            <a:ext cx="253440" cy="250500"/>
            <a:chOff x="3861221" y="2397831"/>
            <a:chExt cx="253440" cy="250500"/>
          </a:xfrm>
        </p:grpSpPr>
        <p:sp>
          <p:nvSpPr>
            <p:cNvPr id="1463" name="Google Shape;1463;p7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4" name="Google Shape;1464;p7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5" name="Google Shape;1465;p7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66" name="Google Shape;1466;p76"/>
          <p:cNvSpPr/>
          <p:nvPr/>
        </p:nvSpPr>
        <p:spPr>
          <a:xfrm>
            <a:off x="6160063" y="3689500"/>
            <a:ext cx="222300" cy="2160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7" name="Google Shape;1467;p76"/>
          <p:cNvSpPr/>
          <p:nvPr/>
        </p:nvSpPr>
        <p:spPr>
          <a:xfrm>
            <a:off x="6090938" y="3637867"/>
            <a:ext cx="339300" cy="339300"/>
          </a:xfrm>
          <a:prstGeom prst="arc">
            <a:avLst>
              <a:gd fmla="val 5565926" name="adj1"/>
              <a:gd fmla="val 16271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68" name="Google Shape;1468;p76"/>
          <p:cNvCxnSpPr>
            <a:endCxn id="1461" idx="1"/>
          </p:cNvCxnSpPr>
          <p:nvPr/>
        </p:nvCxnSpPr>
        <p:spPr>
          <a:xfrm>
            <a:off x="6382500" y="3797625"/>
            <a:ext cx="583200" cy="9900"/>
          </a:xfrm>
          <a:prstGeom prst="straightConnector1">
            <a:avLst/>
          </a:prstGeom>
          <a:noFill/>
          <a:ln cap="flat" cmpd="sng" w="9525">
            <a:solidFill>
              <a:schemeClr val="dk2"/>
            </a:solidFill>
            <a:prstDash val="solid"/>
            <a:round/>
            <a:headEnd len="med" w="med" type="none"/>
            <a:tailEnd len="med" w="med" type="none"/>
          </a:ln>
        </p:spPr>
      </p:cxnSp>
      <p:cxnSp>
        <p:nvCxnSpPr>
          <p:cNvPr id="1469" name="Google Shape;1469;p76"/>
          <p:cNvCxnSpPr>
            <a:stCxn id="1456" idx="3"/>
          </p:cNvCxnSpPr>
          <p:nvPr/>
        </p:nvCxnSpPr>
        <p:spPr>
          <a:xfrm>
            <a:off x="5555475" y="3807525"/>
            <a:ext cx="527400" cy="0"/>
          </a:xfrm>
          <a:prstGeom prst="straightConnector1">
            <a:avLst/>
          </a:prstGeom>
          <a:noFill/>
          <a:ln cap="flat" cmpd="sng" w="9525">
            <a:solidFill>
              <a:schemeClr val="dk2"/>
            </a:solidFill>
            <a:prstDash val="solid"/>
            <a:round/>
            <a:headEnd len="med" w="med" type="none"/>
            <a:tailEnd len="med" w="med" type="none"/>
          </a:ln>
        </p:spPr>
      </p:cxnSp>
      <p:sp>
        <p:nvSpPr>
          <p:cNvPr id="1470" name="Google Shape;1470;p76"/>
          <p:cNvSpPr txBox="1"/>
          <p:nvPr/>
        </p:nvSpPr>
        <p:spPr>
          <a:xfrm>
            <a:off x="2940148" y="1232305"/>
            <a:ext cx="7323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SQL</a:t>
            </a:r>
            <a:endParaRPr sz="1800">
              <a:solidFill>
                <a:schemeClr val="dk2"/>
              </a:solidFill>
            </a:endParaRPr>
          </a:p>
        </p:txBody>
      </p:sp>
      <p:sp>
        <p:nvSpPr>
          <p:cNvPr id="1471" name="Google Shape;1471;p76"/>
          <p:cNvSpPr txBox="1"/>
          <p:nvPr/>
        </p:nvSpPr>
        <p:spPr>
          <a:xfrm>
            <a:off x="5894436" y="3233155"/>
            <a:ext cx="7323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SQL</a:t>
            </a:r>
            <a:endParaRPr sz="1800">
              <a:solidFill>
                <a:schemeClr val="dk2"/>
              </a:solidFill>
            </a:endParaRPr>
          </a:p>
        </p:txBody>
      </p:sp>
      <p:sp>
        <p:nvSpPr>
          <p:cNvPr id="1472" name="Google Shape;1472;p76"/>
          <p:cNvSpPr/>
          <p:nvPr/>
        </p:nvSpPr>
        <p:spPr>
          <a:xfrm>
            <a:off x="905120" y="3371625"/>
            <a:ext cx="1686300" cy="871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&lt;&lt;Thành phần&gt;&gt;</a:t>
            </a:r>
            <a:endParaRPr sz="1200"/>
          </a:p>
          <a:p>
            <a:pPr indent="0" lvl="0" marL="0" rtl="0" algn="ctr">
              <a:spcBef>
                <a:spcPts val="1000"/>
              </a:spcBef>
              <a:spcAft>
                <a:spcPts val="0"/>
              </a:spcAft>
              <a:buNone/>
            </a:pPr>
            <a:r>
              <a:rPr lang="en-GB" sz="1600"/>
              <a:t>Giao diện Web</a:t>
            </a:r>
            <a:endParaRPr sz="1800"/>
          </a:p>
        </p:txBody>
      </p:sp>
      <p:grpSp>
        <p:nvGrpSpPr>
          <p:cNvPr id="1473" name="Google Shape;1473;p76"/>
          <p:cNvGrpSpPr/>
          <p:nvPr/>
        </p:nvGrpSpPr>
        <p:grpSpPr>
          <a:xfrm>
            <a:off x="2294604" y="3440156"/>
            <a:ext cx="253440" cy="250500"/>
            <a:chOff x="3861221" y="2397831"/>
            <a:chExt cx="253440" cy="250500"/>
          </a:xfrm>
        </p:grpSpPr>
        <p:sp>
          <p:nvSpPr>
            <p:cNvPr id="1474" name="Google Shape;1474;p76"/>
            <p:cNvSpPr/>
            <p:nvPr/>
          </p:nvSpPr>
          <p:spPr>
            <a:xfrm>
              <a:off x="3913062" y="2397831"/>
              <a:ext cx="201600" cy="25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5" name="Google Shape;1475;p76"/>
            <p:cNvSpPr/>
            <p:nvPr/>
          </p:nvSpPr>
          <p:spPr>
            <a:xfrm>
              <a:off x="3861221" y="2438927"/>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6" name="Google Shape;1476;p76"/>
            <p:cNvSpPr/>
            <p:nvPr/>
          </p:nvSpPr>
          <p:spPr>
            <a:xfrm>
              <a:off x="3861221" y="2523566"/>
              <a:ext cx="102600" cy="50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77" name="Google Shape;1477;p76"/>
          <p:cNvSpPr/>
          <p:nvPr/>
        </p:nvSpPr>
        <p:spPr>
          <a:xfrm>
            <a:off x="3122613" y="3689500"/>
            <a:ext cx="222300" cy="2160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8" name="Google Shape;1478;p76"/>
          <p:cNvSpPr/>
          <p:nvPr/>
        </p:nvSpPr>
        <p:spPr>
          <a:xfrm>
            <a:off x="3053488" y="3637867"/>
            <a:ext cx="339300" cy="339300"/>
          </a:xfrm>
          <a:prstGeom prst="arc">
            <a:avLst>
              <a:gd fmla="val 5565926" name="adj1"/>
              <a:gd fmla="val 16271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79" name="Google Shape;1479;p76"/>
          <p:cNvCxnSpPr>
            <a:endCxn id="1456" idx="1"/>
          </p:cNvCxnSpPr>
          <p:nvPr/>
        </p:nvCxnSpPr>
        <p:spPr>
          <a:xfrm>
            <a:off x="3345075" y="3797625"/>
            <a:ext cx="524100" cy="9900"/>
          </a:xfrm>
          <a:prstGeom prst="straightConnector1">
            <a:avLst/>
          </a:prstGeom>
          <a:noFill/>
          <a:ln cap="flat" cmpd="sng" w="9525">
            <a:solidFill>
              <a:schemeClr val="dk2"/>
            </a:solidFill>
            <a:prstDash val="solid"/>
            <a:round/>
            <a:headEnd len="med" w="med" type="none"/>
            <a:tailEnd len="med" w="med" type="none"/>
          </a:ln>
        </p:spPr>
      </p:cxnSp>
      <p:cxnSp>
        <p:nvCxnSpPr>
          <p:cNvPr id="1480" name="Google Shape;1480;p76"/>
          <p:cNvCxnSpPr>
            <a:stCxn id="1472" idx="3"/>
          </p:cNvCxnSpPr>
          <p:nvPr/>
        </p:nvCxnSpPr>
        <p:spPr>
          <a:xfrm>
            <a:off x="2591420" y="3807525"/>
            <a:ext cx="471600" cy="0"/>
          </a:xfrm>
          <a:prstGeom prst="straightConnector1">
            <a:avLst/>
          </a:prstGeom>
          <a:noFill/>
          <a:ln cap="flat" cmpd="sng" w="9525">
            <a:solidFill>
              <a:schemeClr val="dk2"/>
            </a:solidFill>
            <a:prstDash val="solid"/>
            <a:round/>
            <a:headEnd len="med" w="med" type="none"/>
            <a:tailEnd len="med" w="med" type="none"/>
          </a:ln>
        </p:spPr>
      </p:cxnSp>
      <p:sp>
        <p:nvSpPr>
          <p:cNvPr id="1481" name="Google Shape;1481;p76"/>
          <p:cNvSpPr txBox="1"/>
          <p:nvPr/>
        </p:nvSpPr>
        <p:spPr>
          <a:xfrm>
            <a:off x="2926669" y="3233155"/>
            <a:ext cx="7323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API</a:t>
            </a:r>
            <a:endParaRPr sz="1800">
              <a:solidFill>
                <a:schemeClr val="dk2"/>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77"/>
          <p:cNvSpPr/>
          <p:nvPr/>
        </p:nvSpPr>
        <p:spPr>
          <a:xfrm>
            <a:off x="503625" y="961312"/>
            <a:ext cx="2041800" cy="1691100"/>
          </a:xfrm>
          <a:prstGeom prst="cube">
            <a:avLst>
              <a:gd fmla="val 661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&lt;&lt;Máy PC&gt;&gt; Nhân viên</a:t>
            </a:r>
            <a:endParaRPr sz="1200"/>
          </a:p>
        </p:txBody>
      </p:sp>
      <p:sp>
        <p:nvSpPr>
          <p:cNvPr id="1487" name="Google Shape;1487;p77"/>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8</a:t>
            </a:r>
            <a:r>
              <a:rPr lang="en-GB"/>
              <a:t>. Sơ đồ triển khai hệ thống </a:t>
            </a:r>
            <a:r>
              <a:rPr lang="en-GB"/>
              <a:t>4</a:t>
            </a:r>
            <a:r>
              <a:rPr lang="en-GB"/>
              <a:t>-dãy</a:t>
            </a:r>
            <a:endParaRPr baseline="-25000"/>
          </a:p>
        </p:txBody>
      </p:sp>
      <p:sp>
        <p:nvSpPr>
          <p:cNvPr id="1488" name="Google Shape;1488;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89" name="Google Shape;1489;p77"/>
          <p:cNvSpPr/>
          <p:nvPr/>
        </p:nvSpPr>
        <p:spPr>
          <a:xfrm>
            <a:off x="2035199" y="2891120"/>
            <a:ext cx="1856400" cy="2348400"/>
          </a:xfrm>
          <a:prstGeom prst="cube">
            <a:avLst>
              <a:gd fmla="val 661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Máy chủ phía trước</a:t>
            </a:r>
            <a:endParaRPr sz="1200"/>
          </a:p>
        </p:txBody>
      </p:sp>
      <p:sp>
        <p:nvSpPr>
          <p:cNvPr id="1490" name="Google Shape;1490;p77"/>
          <p:cNvSpPr/>
          <p:nvPr/>
        </p:nvSpPr>
        <p:spPr>
          <a:xfrm>
            <a:off x="2119654" y="3378544"/>
            <a:ext cx="1513200" cy="1622700"/>
          </a:xfrm>
          <a:prstGeom prst="cube">
            <a:avLst>
              <a:gd fmla="val 661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&lt;&lt;môi trường&gt;&gt; NodeJS</a:t>
            </a:r>
            <a:endParaRPr sz="1200"/>
          </a:p>
        </p:txBody>
      </p:sp>
      <p:sp>
        <p:nvSpPr>
          <p:cNvPr id="1491" name="Google Shape;1491;p77"/>
          <p:cNvSpPr/>
          <p:nvPr/>
        </p:nvSpPr>
        <p:spPr>
          <a:xfrm>
            <a:off x="2170200" y="4005861"/>
            <a:ext cx="1304700" cy="919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t>&lt;&lt;thành phẩm&gt;&gt;</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GB" sz="1200"/>
              <a:t>Dịch vụ g</a:t>
            </a:r>
            <a:r>
              <a:rPr lang="en-GB" sz="1200"/>
              <a:t>iao diện</a:t>
            </a:r>
            <a:endParaRPr sz="1200"/>
          </a:p>
        </p:txBody>
      </p:sp>
      <p:sp>
        <p:nvSpPr>
          <p:cNvPr id="1492" name="Google Shape;1492;p77"/>
          <p:cNvSpPr/>
          <p:nvPr/>
        </p:nvSpPr>
        <p:spPr>
          <a:xfrm>
            <a:off x="4399961" y="2891120"/>
            <a:ext cx="1856400" cy="2348400"/>
          </a:xfrm>
          <a:prstGeom prst="cube">
            <a:avLst>
              <a:gd fmla="val 661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Máy chủ phía sau</a:t>
            </a:r>
            <a:endParaRPr sz="1200"/>
          </a:p>
        </p:txBody>
      </p:sp>
      <p:sp>
        <p:nvSpPr>
          <p:cNvPr id="1493" name="Google Shape;1493;p77"/>
          <p:cNvSpPr/>
          <p:nvPr/>
        </p:nvSpPr>
        <p:spPr>
          <a:xfrm>
            <a:off x="4484417" y="3378544"/>
            <a:ext cx="1513200" cy="1622700"/>
          </a:xfrm>
          <a:prstGeom prst="cube">
            <a:avLst>
              <a:gd fmla="val 661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&lt;&lt;môi trường&gt;&gt; Tomcat Servlet</a:t>
            </a:r>
            <a:endParaRPr sz="1200"/>
          </a:p>
        </p:txBody>
      </p:sp>
      <p:sp>
        <p:nvSpPr>
          <p:cNvPr id="1494" name="Google Shape;1494;p77"/>
          <p:cNvSpPr/>
          <p:nvPr/>
        </p:nvSpPr>
        <p:spPr>
          <a:xfrm>
            <a:off x="4534957" y="4005787"/>
            <a:ext cx="1304700" cy="919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&lt;&lt;thành phẩm&gt;&gt;</a:t>
            </a:r>
            <a:endParaRPr sz="1000"/>
          </a:p>
          <a:p>
            <a:pPr indent="0" lvl="0" marL="0" rtl="0" algn="ctr">
              <a:spcBef>
                <a:spcPts val="0"/>
              </a:spcBef>
              <a:spcAft>
                <a:spcPts val="0"/>
              </a:spcAft>
              <a:buNone/>
            </a:pPr>
            <a:r>
              <a:rPr lang="en-GB" sz="1200"/>
              <a:t>Dịch vụ Web</a:t>
            </a:r>
            <a:endParaRPr sz="1200"/>
          </a:p>
        </p:txBody>
      </p:sp>
      <p:sp>
        <p:nvSpPr>
          <p:cNvPr id="1495" name="Google Shape;1495;p77"/>
          <p:cNvSpPr/>
          <p:nvPr/>
        </p:nvSpPr>
        <p:spPr>
          <a:xfrm>
            <a:off x="6933635" y="3171479"/>
            <a:ext cx="1856400" cy="1829700"/>
          </a:xfrm>
          <a:prstGeom prst="cube">
            <a:avLst>
              <a:gd fmla="val 661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Máy chủ CSDL</a:t>
            </a:r>
            <a:endParaRPr sz="1200"/>
          </a:p>
        </p:txBody>
      </p:sp>
      <p:sp>
        <p:nvSpPr>
          <p:cNvPr id="1496" name="Google Shape;1496;p77"/>
          <p:cNvSpPr/>
          <p:nvPr/>
        </p:nvSpPr>
        <p:spPr>
          <a:xfrm>
            <a:off x="7237543" y="3762075"/>
            <a:ext cx="1304700" cy="919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&lt;&lt;thành phẩm&gt;&gt;</a:t>
            </a:r>
            <a:endParaRPr sz="1000"/>
          </a:p>
          <a:p>
            <a:pPr indent="0" lvl="0" marL="0" rtl="0" algn="ctr">
              <a:spcBef>
                <a:spcPts val="0"/>
              </a:spcBef>
              <a:spcAft>
                <a:spcPts val="0"/>
              </a:spcAft>
              <a:buNone/>
            </a:pPr>
            <a:r>
              <a:rPr lang="en-GB" sz="1200"/>
              <a:t>Cơ sở dữ liệu</a:t>
            </a:r>
            <a:endParaRPr sz="1200"/>
          </a:p>
        </p:txBody>
      </p:sp>
      <p:cxnSp>
        <p:nvCxnSpPr>
          <p:cNvPr id="1497" name="Google Shape;1497;p77"/>
          <p:cNvCxnSpPr>
            <a:stCxn id="1489" idx="5"/>
          </p:cNvCxnSpPr>
          <p:nvPr/>
        </p:nvCxnSpPr>
        <p:spPr>
          <a:xfrm flipH="1" rot="10800000">
            <a:off x="3891599" y="4002401"/>
            <a:ext cx="507000" cy="1500"/>
          </a:xfrm>
          <a:prstGeom prst="straightConnector1">
            <a:avLst/>
          </a:prstGeom>
          <a:noFill/>
          <a:ln cap="flat" cmpd="sng" w="9525">
            <a:solidFill>
              <a:srgbClr val="000000"/>
            </a:solidFill>
            <a:prstDash val="solid"/>
            <a:round/>
            <a:headEnd len="med" w="med" type="none"/>
            <a:tailEnd len="med" w="med" type="none"/>
          </a:ln>
        </p:spPr>
      </p:cxnSp>
      <p:cxnSp>
        <p:nvCxnSpPr>
          <p:cNvPr id="1498" name="Google Shape;1498;p77"/>
          <p:cNvCxnSpPr>
            <a:stCxn id="1492" idx="5"/>
          </p:cNvCxnSpPr>
          <p:nvPr/>
        </p:nvCxnSpPr>
        <p:spPr>
          <a:xfrm>
            <a:off x="6256361" y="4003901"/>
            <a:ext cx="662700" cy="9300"/>
          </a:xfrm>
          <a:prstGeom prst="straightConnector1">
            <a:avLst/>
          </a:prstGeom>
          <a:noFill/>
          <a:ln cap="flat" cmpd="sng" w="9525">
            <a:solidFill>
              <a:srgbClr val="000000"/>
            </a:solidFill>
            <a:prstDash val="solid"/>
            <a:round/>
            <a:headEnd len="med" w="med" type="none"/>
            <a:tailEnd len="med" w="med" type="none"/>
          </a:ln>
        </p:spPr>
      </p:cxnSp>
      <p:sp>
        <p:nvSpPr>
          <p:cNvPr id="1499" name="Google Shape;1499;p77"/>
          <p:cNvSpPr/>
          <p:nvPr/>
        </p:nvSpPr>
        <p:spPr>
          <a:xfrm>
            <a:off x="683900" y="1470388"/>
            <a:ext cx="1701000" cy="1105800"/>
          </a:xfrm>
          <a:prstGeom prst="cube">
            <a:avLst>
              <a:gd fmla="val 661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Trình duyệt</a:t>
            </a:r>
            <a:endParaRPr sz="1200"/>
          </a:p>
        </p:txBody>
      </p:sp>
      <p:sp>
        <p:nvSpPr>
          <p:cNvPr id="1500" name="Google Shape;1500;p77"/>
          <p:cNvSpPr/>
          <p:nvPr/>
        </p:nvSpPr>
        <p:spPr>
          <a:xfrm>
            <a:off x="903358" y="1833890"/>
            <a:ext cx="1304700" cy="645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&lt;&lt;thành phẩm&gt;&gt;</a:t>
            </a:r>
            <a:endParaRPr sz="1000"/>
          </a:p>
          <a:p>
            <a:pPr indent="0" lvl="0" marL="0" rtl="0" algn="ctr">
              <a:spcBef>
                <a:spcPts val="0"/>
              </a:spcBef>
              <a:spcAft>
                <a:spcPts val="0"/>
              </a:spcAft>
              <a:buNone/>
            </a:pPr>
            <a:r>
              <a:rPr lang="en-GB" sz="1200"/>
              <a:t>Giao diện người dùng Web</a:t>
            </a:r>
            <a:endParaRPr sz="1200"/>
          </a:p>
        </p:txBody>
      </p:sp>
      <p:sp>
        <p:nvSpPr>
          <p:cNvPr id="1501" name="Google Shape;1501;p77"/>
          <p:cNvSpPr/>
          <p:nvPr/>
        </p:nvSpPr>
        <p:spPr>
          <a:xfrm>
            <a:off x="503625" y="5389987"/>
            <a:ext cx="2137500" cy="1329300"/>
          </a:xfrm>
          <a:prstGeom prst="cube">
            <a:avLst>
              <a:gd fmla="val 661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&lt;&lt;Điện thoại </a:t>
            </a:r>
            <a:r>
              <a:rPr lang="en-GB" sz="1200"/>
              <a:t>thông minh</a:t>
            </a:r>
            <a:r>
              <a:rPr lang="en-GB" sz="1200"/>
              <a:t>&gt;&gt;</a:t>
            </a:r>
            <a:endParaRPr sz="1200"/>
          </a:p>
        </p:txBody>
      </p:sp>
      <p:sp>
        <p:nvSpPr>
          <p:cNvPr id="1502" name="Google Shape;1502;p77"/>
          <p:cNvSpPr/>
          <p:nvPr/>
        </p:nvSpPr>
        <p:spPr>
          <a:xfrm>
            <a:off x="755900" y="5834775"/>
            <a:ext cx="1586400" cy="787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&lt;&lt;thành phẩm&gt;&gt;</a:t>
            </a:r>
            <a:endParaRPr sz="1000"/>
          </a:p>
          <a:p>
            <a:pPr indent="0" lvl="0" marL="0" rtl="0" algn="ctr">
              <a:spcBef>
                <a:spcPts val="0"/>
              </a:spcBef>
              <a:spcAft>
                <a:spcPts val="0"/>
              </a:spcAft>
              <a:buNone/>
            </a:pPr>
            <a:r>
              <a:rPr lang="en-GB" sz="1200"/>
              <a:t>Ứng dụng di động cho người quản lý</a:t>
            </a:r>
            <a:endParaRPr sz="1200"/>
          </a:p>
        </p:txBody>
      </p:sp>
      <p:cxnSp>
        <p:nvCxnSpPr>
          <p:cNvPr id="1503" name="Google Shape;1503;p77"/>
          <p:cNvCxnSpPr>
            <a:stCxn id="1499" idx="3"/>
          </p:cNvCxnSpPr>
          <p:nvPr/>
        </p:nvCxnSpPr>
        <p:spPr>
          <a:xfrm>
            <a:off x="1497815" y="2576188"/>
            <a:ext cx="448200" cy="747000"/>
          </a:xfrm>
          <a:prstGeom prst="straightConnector1">
            <a:avLst/>
          </a:prstGeom>
          <a:noFill/>
          <a:ln cap="flat" cmpd="sng" w="9525">
            <a:solidFill>
              <a:srgbClr val="000000"/>
            </a:solidFill>
            <a:prstDash val="solid"/>
            <a:round/>
            <a:headEnd len="med" w="med" type="none"/>
            <a:tailEnd len="med" w="med" type="none"/>
          </a:ln>
        </p:spPr>
      </p:cxnSp>
      <p:cxnSp>
        <p:nvCxnSpPr>
          <p:cNvPr id="1504" name="Google Shape;1504;p77"/>
          <p:cNvCxnSpPr>
            <a:stCxn id="1501" idx="0"/>
          </p:cNvCxnSpPr>
          <p:nvPr/>
        </p:nvCxnSpPr>
        <p:spPr>
          <a:xfrm flipH="1" rot="10800000">
            <a:off x="1616355" y="4602787"/>
            <a:ext cx="472500" cy="787200"/>
          </a:xfrm>
          <a:prstGeom prst="straightConnector1">
            <a:avLst/>
          </a:prstGeom>
          <a:noFill/>
          <a:ln cap="flat" cmpd="sng" w="9525">
            <a:solidFill>
              <a:srgbClr val="000000"/>
            </a:solidFill>
            <a:prstDash val="solid"/>
            <a:round/>
            <a:headEnd len="med" w="med" type="none"/>
            <a:tailEnd len="med" w="med" type="none"/>
          </a:ln>
        </p:spPr>
      </p:cxnSp>
      <p:sp>
        <p:nvSpPr>
          <p:cNvPr id="1505" name="Google Shape;1505;p77"/>
          <p:cNvSpPr txBox="1"/>
          <p:nvPr/>
        </p:nvSpPr>
        <p:spPr>
          <a:xfrm>
            <a:off x="944616" y="2803539"/>
            <a:ext cx="1006200" cy="6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HTTPS</a:t>
            </a:r>
            <a:endParaRPr/>
          </a:p>
        </p:txBody>
      </p:sp>
      <p:sp>
        <p:nvSpPr>
          <p:cNvPr id="1506" name="Google Shape;1506;p77"/>
          <p:cNvSpPr txBox="1"/>
          <p:nvPr/>
        </p:nvSpPr>
        <p:spPr>
          <a:xfrm>
            <a:off x="868425" y="5048138"/>
            <a:ext cx="1006200" cy="3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HTTPS</a:t>
            </a:r>
            <a:endParaRPr/>
          </a:p>
        </p:txBody>
      </p:sp>
      <p:sp>
        <p:nvSpPr>
          <p:cNvPr id="1507" name="Google Shape;1507;p77"/>
          <p:cNvSpPr txBox="1"/>
          <p:nvPr/>
        </p:nvSpPr>
        <p:spPr>
          <a:xfrm>
            <a:off x="3776660" y="3940861"/>
            <a:ext cx="892200" cy="48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HTTP</a:t>
            </a:r>
            <a:endParaRPr/>
          </a:p>
        </p:txBody>
      </p:sp>
      <p:sp>
        <p:nvSpPr>
          <p:cNvPr id="1508" name="Google Shape;1508;p77"/>
          <p:cNvSpPr txBox="1"/>
          <p:nvPr/>
        </p:nvSpPr>
        <p:spPr>
          <a:xfrm>
            <a:off x="6225879" y="4022098"/>
            <a:ext cx="892200" cy="48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TCP/IP</a:t>
            </a:r>
            <a:endParaRPr/>
          </a:p>
        </p:txBody>
      </p:sp>
      <p:sp>
        <p:nvSpPr>
          <p:cNvPr id="1509" name="Google Shape;1509;p77"/>
          <p:cNvSpPr/>
          <p:nvPr/>
        </p:nvSpPr>
        <p:spPr>
          <a:xfrm flipH="1" rot="10800000">
            <a:off x="2044072" y="1857397"/>
            <a:ext cx="134100" cy="186300"/>
          </a:xfrm>
          <a:prstGeom prst="foldedCorner">
            <a:avLst>
              <a:gd fmla="val 4707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0" name="Google Shape;1510;p77"/>
          <p:cNvSpPr/>
          <p:nvPr/>
        </p:nvSpPr>
        <p:spPr>
          <a:xfrm flipH="1" rot="10800000">
            <a:off x="3263272" y="4099037"/>
            <a:ext cx="134100" cy="186300"/>
          </a:xfrm>
          <a:prstGeom prst="foldedCorner">
            <a:avLst>
              <a:gd fmla="val 4707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1" name="Google Shape;1511;p77"/>
          <p:cNvSpPr/>
          <p:nvPr/>
        </p:nvSpPr>
        <p:spPr>
          <a:xfrm flipH="1" rot="10800000">
            <a:off x="5652088" y="4081293"/>
            <a:ext cx="134100" cy="186300"/>
          </a:xfrm>
          <a:prstGeom prst="foldedCorner">
            <a:avLst>
              <a:gd fmla="val 4707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2" name="Google Shape;1512;p77"/>
          <p:cNvSpPr/>
          <p:nvPr/>
        </p:nvSpPr>
        <p:spPr>
          <a:xfrm flipH="1" rot="10800000">
            <a:off x="8386416" y="3811981"/>
            <a:ext cx="134100" cy="186300"/>
          </a:xfrm>
          <a:prstGeom prst="foldedCorner">
            <a:avLst>
              <a:gd fmla="val 4707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3" name="Google Shape;1513;p77"/>
          <p:cNvSpPr/>
          <p:nvPr/>
        </p:nvSpPr>
        <p:spPr>
          <a:xfrm flipH="1" rot="10800000">
            <a:off x="2120272" y="5895997"/>
            <a:ext cx="134100" cy="186300"/>
          </a:xfrm>
          <a:prstGeom prst="foldedCorner">
            <a:avLst>
              <a:gd fmla="val 4707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19" name="Google Shape;1519;p78"/>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9. Sơ đồ triển khai hệ thống bán hàng</a:t>
            </a:r>
            <a:endParaRPr/>
          </a:p>
        </p:txBody>
      </p:sp>
      <p:sp>
        <p:nvSpPr>
          <p:cNvPr id="1520" name="Google Shape;1520;p78"/>
          <p:cNvSpPr/>
          <p:nvPr/>
        </p:nvSpPr>
        <p:spPr>
          <a:xfrm>
            <a:off x="276600" y="2748275"/>
            <a:ext cx="2422800" cy="20889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tính</a:t>
            </a:r>
            <a:endParaRPr b="1" sz="1600"/>
          </a:p>
        </p:txBody>
      </p:sp>
      <p:sp>
        <p:nvSpPr>
          <p:cNvPr id="1521" name="Google Shape;1521;p78"/>
          <p:cNvSpPr/>
          <p:nvPr/>
        </p:nvSpPr>
        <p:spPr>
          <a:xfrm>
            <a:off x="423325" y="3333425"/>
            <a:ext cx="2115600" cy="13620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Trình duyệt Web</a:t>
            </a:r>
            <a:endParaRPr/>
          </a:p>
        </p:txBody>
      </p:sp>
      <p:sp>
        <p:nvSpPr>
          <p:cNvPr id="1522" name="Google Shape;1522;p78"/>
          <p:cNvSpPr/>
          <p:nvPr/>
        </p:nvSpPr>
        <p:spPr>
          <a:xfrm>
            <a:off x="513025" y="3756725"/>
            <a:ext cx="1910700" cy="763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Giao diện </a:t>
            </a:r>
            <a:r>
              <a:rPr lang="en-GB"/>
              <a:t>khách hàng</a:t>
            </a:r>
            <a:endParaRPr/>
          </a:p>
        </p:txBody>
      </p:sp>
      <p:sp>
        <p:nvSpPr>
          <p:cNvPr id="1523" name="Google Shape;1523;p78"/>
          <p:cNvSpPr/>
          <p:nvPr/>
        </p:nvSpPr>
        <p:spPr>
          <a:xfrm flipH="1" rot="10800000">
            <a:off x="2167185" y="3867076"/>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4" name="Google Shape;1524;p78"/>
          <p:cNvSpPr/>
          <p:nvPr/>
        </p:nvSpPr>
        <p:spPr>
          <a:xfrm>
            <a:off x="3781800" y="1148075"/>
            <a:ext cx="2115600" cy="13146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a:t>
            </a:r>
            <a:r>
              <a:rPr b="1" lang="en-GB" sz="1600"/>
              <a:t>chủ API</a:t>
            </a:r>
            <a:endParaRPr b="1" sz="1600"/>
          </a:p>
        </p:txBody>
      </p:sp>
      <p:sp>
        <p:nvSpPr>
          <p:cNvPr id="1525" name="Google Shape;1525;p78"/>
          <p:cNvSpPr/>
          <p:nvPr/>
        </p:nvSpPr>
        <p:spPr>
          <a:xfrm>
            <a:off x="3865825" y="1623125"/>
            <a:ext cx="1910700" cy="655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Cổng API</a:t>
            </a:r>
            <a:endParaRPr/>
          </a:p>
        </p:txBody>
      </p:sp>
      <p:sp>
        <p:nvSpPr>
          <p:cNvPr id="1526" name="Google Shape;1526;p78"/>
          <p:cNvSpPr/>
          <p:nvPr/>
        </p:nvSpPr>
        <p:spPr>
          <a:xfrm flipH="1" rot="10800000">
            <a:off x="5611523" y="1678776"/>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7" name="Google Shape;1527;p78"/>
          <p:cNvSpPr/>
          <p:nvPr/>
        </p:nvSpPr>
        <p:spPr>
          <a:xfrm>
            <a:off x="6512075" y="1098131"/>
            <a:ext cx="2115600" cy="13146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a:t>
            </a:r>
            <a:r>
              <a:rPr b="1" lang="en-GB" sz="1600"/>
              <a:t>Sản phẩm</a:t>
            </a:r>
            <a:endParaRPr b="1" sz="1600"/>
          </a:p>
        </p:txBody>
      </p:sp>
      <p:sp>
        <p:nvSpPr>
          <p:cNvPr id="1528" name="Google Shape;1528;p78"/>
          <p:cNvSpPr/>
          <p:nvPr/>
        </p:nvSpPr>
        <p:spPr>
          <a:xfrm>
            <a:off x="3768875" y="3751400"/>
            <a:ext cx="2422800" cy="24534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a:t>
            </a:r>
            <a:r>
              <a:rPr b="1" lang="en-GB" sz="1600"/>
              <a:t>Dịch vụ</a:t>
            </a:r>
            <a:endParaRPr b="1" sz="1600"/>
          </a:p>
        </p:txBody>
      </p:sp>
      <p:sp>
        <p:nvSpPr>
          <p:cNvPr id="1529" name="Google Shape;1529;p78"/>
          <p:cNvSpPr/>
          <p:nvPr/>
        </p:nvSpPr>
        <p:spPr>
          <a:xfrm>
            <a:off x="276600" y="5034275"/>
            <a:ext cx="2422800" cy="15447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Điện thoại thông minh</a:t>
            </a:r>
            <a:endParaRPr b="1" sz="1600"/>
          </a:p>
        </p:txBody>
      </p:sp>
      <p:sp>
        <p:nvSpPr>
          <p:cNvPr id="1530" name="Google Shape;1530;p78"/>
          <p:cNvSpPr/>
          <p:nvPr/>
        </p:nvSpPr>
        <p:spPr>
          <a:xfrm>
            <a:off x="513025" y="5585525"/>
            <a:ext cx="1910700" cy="763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Ứng dụng mua hàng</a:t>
            </a:r>
            <a:endParaRPr/>
          </a:p>
        </p:txBody>
      </p:sp>
      <p:sp>
        <p:nvSpPr>
          <p:cNvPr id="1531" name="Google Shape;1531;p78"/>
          <p:cNvSpPr/>
          <p:nvPr/>
        </p:nvSpPr>
        <p:spPr>
          <a:xfrm flipH="1" rot="10800000">
            <a:off x="2167185" y="5695876"/>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2" name="Google Shape;1532;p78"/>
          <p:cNvSpPr/>
          <p:nvPr/>
        </p:nvSpPr>
        <p:spPr>
          <a:xfrm>
            <a:off x="6675491" y="3173275"/>
            <a:ext cx="2196300" cy="19893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Máy chủ </a:t>
            </a:r>
            <a:r>
              <a:rPr b="1" lang="en-GB" sz="1600"/>
              <a:t>dữ liệu</a:t>
            </a:r>
            <a:endParaRPr b="1" sz="1600"/>
          </a:p>
        </p:txBody>
      </p:sp>
      <p:sp>
        <p:nvSpPr>
          <p:cNvPr id="1533" name="Google Shape;1533;p78"/>
          <p:cNvSpPr/>
          <p:nvPr/>
        </p:nvSpPr>
        <p:spPr>
          <a:xfrm>
            <a:off x="6800425" y="3714425"/>
            <a:ext cx="1910700" cy="1314600"/>
          </a:xfrm>
          <a:prstGeom prst="cube">
            <a:avLst>
              <a:gd fmla="val 378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Hệ quản trị CSDL</a:t>
            </a:r>
            <a:endParaRPr/>
          </a:p>
        </p:txBody>
      </p:sp>
      <p:sp>
        <p:nvSpPr>
          <p:cNvPr id="1534" name="Google Shape;1534;p78"/>
          <p:cNvSpPr/>
          <p:nvPr/>
        </p:nvSpPr>
        <p:spPr>
          <a:xfrm>
            <a:off x="6923750" y="4137725"/>
            <a:ext cx="1672200" cy="763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CSDL Sản phẩm</a:t>
            </a:r>
            <a:endParaRPr/>
          </a:p>
        </p:txBody>
      </p:sp>
      <p:sp>
        <p:nvSpPr>
          <p:cNvPr id="1535" name="Google Shape;1535;p78"/>
          <p:cNvSpPr/>
          <p:nvPr/>
        </p:nvSpPr>
        <p:spPr>
          <a:xfrm>
            <a:off x="4018225" y="4328149"/>
            <a:ext cx="1910700" cy="8172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Mô-đun tương tác với ngân hàng</a:t>
            </a:r>
            <a:endParaRPr/>
          </a:p>
        </p:txBody>
      </p:sp>
      <p:sp>
        <p:nvSpPr>
          <p:cNvPr id="1536" name="Google Shape;1536;p78"/>
          <p:cNvSpPr/>
          <p:nvPr/>
        </p:nvSpPr>
        <p:spPr>
          <a:xfrm flipH="1" rot="10800000">
            <a:off x="8374873" y="4194844"/>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7" name="Google Shape;1537;p78"/>
          <p:cNvSpPr/>
          <p:nvPr/>
        </p:nvSpPr>
        <p:spPr>
          <a:xfrm>
            <a:off x="4018225" y="5242549"/>
            <a:ext cx="1910700" cy="8172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Mô-đun tương tác với </a:t>
            </a:r>
            <a:r>
              <a:rPr lang="en-GB"/>
              <a:t>đối tác giao hàng</a:t>
            </a:r>
            <a:endParaRPr/>
          </a:p>
        </p:txBody>
      </p:sp>
      <p:sp>
        <p:nvSpPr>
          <p:cNvPr id="1538" name="Google Shape;1538;p78"/>
          <p:cNvSpPr/>
          <p:nvPr/>
        </p:nvSpPr>
        <p:spPr>
          <a:xfrm flipH="1" rot="10800000">
            <a:off x="5707873" y="4387957"/>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9" name="Google Shape;1539;p78"/>
          <p:cNvSpPr/>
          <p:nvPr/>
        </p:nvSpPr>
        <p:spPr>
          <a:xfrm flipH="1" rot="10800000">
            <a:off x="5707873" y="5302357"/>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0" name="Google Shape;1540;p78"/>
          <p:cNvSpPr txBox="1"/>
          <p:nvPr/>
        </p:nvSpPr>
        <p:spPr>
          <a:xfrm>
            <a:off x="810000" y="2267500"/>
            <a:ext cx="7689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HTTPS</a:t>
            </a:r>
            <a:endParaRPr>
              <a:solidFill>
                <a:schemeClr val="dk2"/>
              </a:solidFill>
            </a:endParaRPr>
          </a:p>
        </p:txBody>
      </p:sp>
      <p:cxnSp>
        <p:nvCxnSpPr>
          <p:cNvPr id="1541" name="Google Shape;1541;p78"/>
          <p:cNvCxnSpPr>
            <a:endCxn id="1529" idx="5"/>
          </p:cNvCxnSpPr>
          <p:nvPr/>
        </p:nvCxnSpPr>
        <p:spPr>
          <a:xfrm rot="5400000">
            <a:off x="1073700" y="3887968"/>
            <a:ext cx="3515100" cy="263700"/>
          </a:xfrm>
          <a:prstGeom prst="bentConnector2">
            <a:avLst/>
          </a:prstGeom>
          <a:noFill/>
          <a:ln cap="flat" cmpd="sng" w="9525">
            <a:solidFill>
              <a:schemeClr val="dk2"/>
            </a:solidFill>
            <a:prstDash val="solid"/>
            <a:round/>
            <a:headEnd len="med" w="med" type="none"/>
            <a:tailEnd len="med" w="med" type="none"/>
          </a:ln>
        </p:spPr>
      </p:cxnSp>
      <p:sp>
        <p:nvSpPr>
          <p:cNvPr id="1542" name="Google Shape;1542;p78"/>
          <p:cNvSpPr txBox="1"/>
          <p:nvPr/>
        </p:nvSpPr>
        <p:spPr>
          <a:xfrm>
            <a:off x="3006200" y="2794750"/>
            <a:ext cx="10557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HTTPS</a:t>
            </a:r>
            <a:endParaRPr>
              <a:solidFill>
                <a:schemeClr val="dk2"/>
              </a:solidFill>
            </a:endParaRPr>
          </a:p>
        </p:txBody>
      </p:sp>
      <p:sp>
        <p:nvSpPr>
          <p:cNvPr id="1543" name="Google Shape;1543;p78"/>
          <p:cNvSpPr txBox="1"/>
          <p:nvPr/>
        </p:nvSpPr>
        <p:spPr>
          <a:xfrm>
            <a:off x="6507800" y="2489950"/>
            <a:ext cx="15123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TCP/IP + TLS</a:t>
            </a:r>
            <a:endParaRPr>
              <a:solidFill>
                <a:schemeClr val="dk2"/>
              </a:solidFill>
            </a:endParaRPr>
          </a:p>
        </p:txBody>
      </p:sp>
      <p:cxnSp>
        <p:nvCxnSpPr>
          <p:cNvPr id="1544" name="Google Shape;1544;p78"/>
          <p:cNvCxnSpPr>
            <a:stCxn id="1524" idx="5"/>
            <a:endCxn id="1527" idx="2"/>
          </p:cNvCxnSpPr>
          <p:nvPr/>
        </p:nvCxnSpPr>
        <p:spPr>
          <a:xfrm>
            <a:off x="5897400" y="1780476"/>
            <a:ext cx="614700" cy="600"/>
          </a:xfrm>
          <a:prstGeom prst="bentConnector3">
            <a:avLst>
              <a:gd fmla="val 49998" name="adj1"/>
            </a:avLst>
          </a:prstGeom>
          <a:noFill/>
          <a:ln cap="flat" cmpd="sng" w="9525">
            <a:solidFill>
              <a:schemeClr val="dk2"/>
            </a:solidFill>
            <a:prstDash val="solid"/>
            <a:round/>
            <a:headEnd len="med" w="med" type="none"/>
            <a:tailEnd len="med" w="med" type="none"/>
          </a:ln>
        </p:spPr>
      </p:cxnSp>
      <p:sp>
        <p:nvSpPr>
          <p:cNvPr id="1545" name="Google Shape;1545;p78"/>
          <p:cNvSpPr txBox="1"/>
          <p:nvPr/>
        </p:nvSpPr>
        <p:spPr>
          <a:xfrm>
            <a:off x="5884525" y="1443875"/>
            <a:ext cx="7689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a:t>
            </a:r>
            <a:endParaRPr>
              <a:solidFill>
                <a:schemeClr val="dk2"/>
              </a:solidFill>
            </a:endParaRPr>
          </a:p>
        </p:txBody>
      </p:sp>
      <p:sp>
        <p:nvSpPr>
          <p:cNvPr id="1546" name="Google Shape;1546;p78"/>
          <p:cNvSpPr txBox="1"/>
          <p:nvPr/>
        </p:nvSpPr>
        <p:spPr>
          <a:xfrm>
            <a:off x="4301600" y="2566150"/>
            <a:ext cx="7689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a:t>
            </a:r>
            <a:endParaRPr>
              <a:solidFill>
                <a:schemeClr val="dk2"/>
              </a:solidFill>
            </a:endParaRPr>
          </a:p>
        </p:txBody>
      </p:sp>
      <p:sp>
        <p:nvSpPr>
          <p:cNvPr id="1547" name="Google Shape;1547;p78"/>
          <p:cNvSpPr/>
          <p:nvPr/>
        </p:nvSpPr>
        <p:spPr>
          <a:xfrm>
            <a:off x="6609025" y="1526493"/>
            <a:ext cx="1910700" cy="8172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&lt;&lt;thành phẩm&gt;&gt;</a:t>
            </a:r>
            <a:endParaRPr/>
          </a:p>
          <a:p>
            <a:pPr indent="0" lvl="0" marL="0" rtl="0" algn="ctr">
              <a:spcBef>
                <a:spcPts val="0"/>
              </a:spcBef>
              <a:spcAft>
                <a:spcPts val="0"/>
              </a:spcAft>
              <a:buNone/>
            </a:pPr>
            <a:r>
              <a:rPr lang="en-GB"/>
              <a:t>Q</a:t>
            </a:r>
            <a:r>
              <a:rPr lang="en-GB"/>
              <a:t>uản lý bán hàng</a:t>
            </a:r>
            <a:endParaRPr/>
          </a:p>
        </p:txBody>
      </p:sp>
      <p:sp>
        <p:nvSpPr>
          <p:cNvPr id="1548" name="Google Shape;1548;p78"/>
          <p:cNvSpPr/>
          <p:nvPr/>
        </p:nvSpPr>
        <p:spPr>
          <a:xfrm flipH="1" rot="10800000">
            <a:off x="8298673" y="1586301"/>
            <a:ext cx="165000" cy="204000"/>
          </a:xfrm>
          <a:prstGeom prst="foldedCorner">
            <a:avLst>
              <a:gd fmla="val 2495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49" name="Google Shape;1549;p78"/>
          <p:cNvCxnSpPr>
            <a:stCxn id="1532" idx="0"/>
          </p:cNvCxnSpPr>
          <p:nvPr/>
        </p:nvCxnSpPr>
        <p:spPr>
          <a:xfrm rot="10800000">
            <a:off x="7798418" y="2413075"/>
            <a:ext cx="12900" cy="760200"/>
          </a:xfrm>
          <a:prstGeom prst="straightConnector1">
            <a:avLst/>
          </a:prstGeom>
          <a:noFill/>
          <a:ln cap="flat" cmpd="sng" w="9525">
            <a:solidFill>
              <a:schemeClr val="dk2"/>
            </a:solidFill>
            <a:prstDash val="solid"/>
            <a:round/>
            <a:headEnd len="med" w="med" type="none"/>
            <a:tailEnd len="med" w="med" type="none"/>
          </a:ln>
        </p:spPr>
      </p:cxnSp>
      <p:cxnSp>
        <p:nvCxnSpPr>
          <p:cNvPr id="1550" name="Google Shape;1550;p78"/>
          <p:cNvCxnSpPr>
            <a:stCxn id="1528" idx="0"/>
          </p:cNvCxnSpPr>
          <p:nvPr/>
        </p:nvCxnSpPr>
        <p:spPr>
          <a:xfrm rot="10800000">
            <a:off x="5026163" y="2466500"/>
            <a:ext cx="0" cy="1284900"/>
          </a:xfrm>
          <a:prstGeom prst="straightConnector1">
            <a:avLst/>
          </a:prstGeom>
          <a:noFill/>
          <a:ln cap="flat" cmpd="sng" w="9525">
            <a:solidFill>
              <a:schemeClr val="dk2"/>
            </a:solidFill>
            <a:prstDash val="solid"/>
            <a:round/>
            <a:headEnd len="med" w="med" type="none"/>
            <a:tailEnd len="med" w="med" type="none"/>
          </a:ln>
        </p:spPr>
      </p:cxnSp>
      <p:sp>
        <p:nvSpPr>
          <p:cNvPr id="1551" name="Google Shape;1551;p78"/>
          <p:cNvSpPr/>
          <p:nvPr/>
        </p:nvSpPr>
        <p:spPr>
          <a:xfrm>
            <a:off x="1020856" y="1300475"/>
            <a:ext cx="2115600" cy="978300"/>
          </a:xfrm>
          <a:prstGeom prst="cube">
            <a:avLst>
              <a:gd fmla="val 7511"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Tường lửa</a:t>
            </a:r>
            <a:endParaRPr b="1" sz="1600"/>
          </a:p>
        </p:txBody>
      </p:sp>
      <p:cxnSp>
        <p:nvCxnSpPr>
          <p:cNvPr id="1552" name="Google Shape;1552;p78"/>
          <p:cNvCxnSpPr/>
          <p:nvPr/>
        </p:nvCxnSpPr>
        <p:spPr>
          <a:xfrm rot="10800000">
            <a:off x="3140700" y="1830274"/>
            <a:ext cx="641100" cy="0"/>
          </a:xfrm>
          <a:prstGeom prst="straightConnector1">
            <a:avLst/>
          </a:prstGeom>
          <a:noFill/>
          <a:ln cap="flat" cmpd="sng" w="9525">
            <a:solidFill>
              <a:schemeClr val="dk2"/>
            </a:solidFill>
            <a:prstDash val="solid"/>
            <a:round/>
            <a:headEnd len="med" w="med" type="none"/>
            <a:tailEnd len="med" w="med" type="none"/>
          </a:ln>
        </p:spPr>
      </p:cxnSp>
      <p:sp>
        <p:nvSpPr>
          <p:cNvPr id="1553" name="Google Shape;1553;p78"/>
          <p:cNvSpPr txBox="1"/>
          <p:nvPr/>
        </p:nvSpPr>
        <p:spPr>
          <a:xfrm>
            <a:off x="3087128" y="1411556"/>
            <a:ext cx="7689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HTTPS</a:t>
            </a:r>
            <a:endParaRPr>
              <a:solidFill>
                <a:schemeClr val="dk2"/>
              </a:solidFill>
            </a:endParaRPr>
          </a:p>
        </p:txBody>
      </p:sp>
      <p:cxnSp>
        <p:nvCxnSpPr>
          <p:cNvPr id="1554" name="Google Shape;1554;p78"/>
          <p:cNvCxnSpPr>
            <a:stCxn id="1520" idx="0"/>
          </p:cNvCxnSpPr>
          <p:nvPr/>
        </p:nvCxnSpPr>
        <p:spPr>
          <a:xfrm rot="10800000">
            <a:off x="1527564" y="2279975"/>
            <a:ext cx="0" cy="468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sp>
        <p:nvSpPr>
          <p:cNvPr id="1559" name="Google Shape;1559;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60" name="Google Shape;1560;p7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a:t>
            </a:r>
            <a:endParaRPr/>
          </a:p>
        </p:txBody>
      </p:sp>
      <p:sp>
        <p:nvSpPr>
          <p:cNvPr id="1561" name="Google Shape;1561;p79"/>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tích các vấn đề với kết cấu sau và phác thảo giải pháp hướng tới liên kết lỏng giữa các phần tử: Vẽ </a:t>
            </a:r>
            <a:r>
              <a:rPr lang="en-GB"/>
              <a:t>sơ đồ</a:t>
            </a:r>
            <a:r>
              <a:rPr lang="en-GB"/>
              <a:t> lớp và </a:t>
            </a:r>
            <a:r>
              <a:rPr lang="en-GB"/>
              <a:t>sơ đồ</a:t>
            </a:r>
            <a:r>
              <a:rPr lang="en-GB"/>
              <a:t> tuần tự.</a:t>
            </a:r>
            <a:endParaRPr/>
          </a:p>
        </p:txBody>
      </p:sp>
      <p:sp>
        <p:nvSpPr>
          <p:cNvPr id="1562" name="Google Shape;1562;p79"/>
          <p:cNvSpPr/>
          <p:nvPr/>
        </p:nvSpPr>
        <p:spPr>
          <a:xfrm>
            <a:off x="7011350" y="2928000"/>
            <a:ext cx="1039500" cy="603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a:t>
            </a:r>
            <a:r>
              <a:rPr lang="en-GB" sz="1600" u="sng"/>
              <a:t>Cảm biến</a:t>
            </a:r>
            <a:endParaRPr sz="1600" u="sng"/>
          </a:p>
        </p:txBody>
      </p:sp>
      <p:sp>
        <p:nvSpPr>
          <p:cNvPr id="1563" name="Google Shape;1563;p79"/>
          <p:cNvSpPr/>
          <p:nvPr/>
        </p:nvSpPr>
        <p:spPr>
          <a:xfrm>
            <a:off x="2961925" y="2775600"/>
            <a:ext cx="1601400" cy="897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a:t>
            </a:r>
            <a:r>
              <a:rPr lang="en-GB" sz="1600" u="sng"/>
              <a:t>Trung tâm tiếp nhận</a:t>
            </a:r>
            <a:endParaRPr sz="1600" u="sng"/>
          </a:p>
        </p:txBody>
      </p:sp>
      <p:cxnSp>
        <p:nvCxnSpPr>
          <p:cNvPr id="1564" name="Google Shape;1564;p79"/>
          <p:cNvCxnSpPr>
            <a:stCxn id="1563" idx="3"/>
            <a:endCxn id="1562" idx="1"/>
          </p:cNvCxnSpPr>
          <p:nvPr/>
        </p:nvCxnSpPr>
        <p:spPr>
          <a:xfrm>
            <a:off x="4563325" y="3224100"/>
            <a:ext cx="2448000" cy="5700"/>
          </a:xfrm>
          <a:prstGeom prst="straightConnector1">
            <a:avLst/>
          </a:prstGeom>
          <a:noFill/>
          <a:ln cap="flat" cmpd="sng" w="9525">
            <a:solidFill>
              <a:schemeClr val="dk2"/>
            </a:solidFill>
            <a:prstDash val="solid"/>
            <a:round/>
            <a:headEnd len="med" w="med" type="none"/>
            <a:tailEnd len="med" w="med" type="none"/>
          </a:ln>
        </p:spPr>
      </p:cxnSp>
      <p:cxnSp>
        <p:nvCxnSpPr>
          <p:cNvPr id="1565" name="Google Shape;1565;p79"/>
          <p:cNvCxnSpPr/>
          <p:nvPr/>
        </p:nvCxnSpPr>
        <p:spPr>
          <a:xfrm>
            <a:off x="5326175" y="3020250"/>
            <a:ext cx="737700" cy="0"/>
          </a:xfrm>
          <a:prstGeom prst="straightConnector1">
            <a:avLst/>
          </a:prstGeom>
          <a:noFill/>
          <a:ln cap="flat" cmpd="sng" w="9525">
            <a:solidFill>
              <a:schemeClr val="dk2"/>
            </a:solidFill>
            <a:prstDash val="solid"/>
            <a:round/>
            <a:headEnd len="med" w="med" type="none"/>
            <a:tailEnd len="med" w="med" type="triangle"/>
          </a:ln>
        </p:spPr>
      </p:cxnSp>
      <p:sp>
        <p:nvSpPr>
          <p:cNvPr id="1566" name="Google Shape;1566;p79"/>
          <p:cNvSpPr txBox="1"/>
          <p:nvPr/>
        </p:nvSpPr>
        <p:spPr>
          <a:xfrm>
            <a:off x="5192025" y="2584275"/>
            <a:ext cx="12114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Đọc nhiệt độ</a:t>
            </a:r>
            <a:endParaRPr/>
          </a:p>
        </p:txBody>
      </p:sp>
      <p:sp>
        <p:nvSpPr>
          <p:cNvPr id="1567" name="Google Shape;1567;p79"/>
          <p:cNvSpPr/>
          <p:nvPr/>
        </p:nvSpPr>
        <p:spPr>
          <a:xfrm>
            <a:off x="1795075" y="4430975"/>
            <a:ext cx="1601400" cy="821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a:t>
            </a:r>
            <a:r>
              <a:rPr lang="en-GB" sz="1600" u="sng"/>
              <a:t>Giao diện hiển thị nhiệt độ thời gian thực</a:t>
            </a:r>
            <a:endParaRPr sz="1600" u="sng"/>
          </a:p>
        </p:txBody>
      </p:sp>
      <p:sp>
        <p:nvSpPr>
          <p:cNvPr id="1568" name="Google Shape;1568;p79"/>
          <p:cNvSpPr/>
          <p:nvPr/>
        </p:nvSpPr>
        <p:spPr>
          <a:xfrm>
            <a:off x="4385875" y="4430975"/>
            <a:ext cx="1601400" cy="821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u="sng"/>
              <a:t>:</a:t>
            </a:r>
            <a:r>
              <a:rPr lang="en-GB" sz="1600" u="sng"/>
              <a:t>Mô-đung thống kê</a:t>
            </a:r>
            <a:endParaRPr sz="1600" u="sng"/>
          </a:p>
        </p:txBody>
      </p:sp>
      <p:cxnSp>
        <p:nvCxnSpPr>
          <p:cNvPr id="1569" name="Google Shape;1569;p79"/>
          <p:cNvCxnSpPr>
            <a:stCxn id="1563" idx="2"/>
            <a:endCxn id="1567" idx="0"/>
          </p:cNvCxnSpPr>
          <p:nvPr/>
        </p:nvCxnSpPr>
        <p:spPr>
          <a:xfrm flipH="1">
            <a:off x="2595925" y="3672600"/>
            <a:ext cx="1166700" cy="758400"/>
          </a:xfrm>
          <a:prstGeom prst="straightConnector1">
            <a:avLst/>
          </a:prstGeom>
          <a:noFill/>
          <a:ln cap="flat" cmpd="sng" w="9525">
            <a:solidFill>
              <a:schemeClr val="dk2"/>
            </a:solidFill>
            <a:prstDash val="solid"/>
            <a:round/>
            <a:headEnd len="med" w="med" type="none"/>
            <a:tailEnd len="med" w="med" type="none"/>
          </a:ln>
        </p:spPr>
      </p:cxnSp>
      <p:cxnSp>
        <p:nvCxnSpPr>
          <p:cNvPr id="1570" name="Google Shape;1570;p79"/>
          <p:cNvCxnSpPr>
            <a:endCxn id="1568" idx="0"/>
          </p:cNvCxnSpPr>
          <p:nvPr/>
        </p:nvCxnSpPr>
        <p:spPr>
          <a:xfrm>
            <a:off x="4487875" y="3674075"/>
            <a:ext cx="698700" cy="756900"/>
          </a:xfrm>
          <a:prstGeom prst="straightConnector1">
            <a:avLst/>
          </a:prstGeom>
          <a:noFill/>
          <a:ln cap="flat" cmpd="sng" w="9525">
            <a:solidFill>
              <a:schemeClr val="dk2"/>
            </a:solidFill>
            <a:prstDash val="solid"/>
            <a:round/>
            <a:headEnd len="med" w="med" type="none"/>
            <a:tailEnd len="med" w="med" type="none"/>
          </a:ln>
        </p:spPr>
      </p:cxnSp>
      <p:cxnSp>
        <p:nvCxnSpPr>
          <p:cNvPr id="1571" name="Google Shape;1571;p79"/>
          <p:cNvCxnSpPr/>
          <p:nvPr/>
        </p:nvCxnSpPr>
        <p:spPr>
          <a:xfrm flipH="1">
            <a:off x="2551250" y="3850250"/>
            <a:ext cx="553200" cy="360600"/>
          </a:xfrm>
          <a:prstGeom prst="straightConnector1">
            <a:avLst/>
          </a:prstGeom>
          <a:noFill/>
          <a:ln cap="flat" cmpd="sng" w="9525">
            <a:solidFill>
              <a:schemeClr val="dk2"/>
            </a:solidFill>
            <a:prstDash val="solid"/>
            <a:round/>
            <a:headEnd len="med" w="med" type="none"/>
            <a:tailEnd len="med" w="med" type="triangle"/>
          </a:ln>
        </p:spPr>
      </p:cxnSp>
      <p:sp>
        <p:nvSpPr>
          <p:cNvPr id="1572" name="Google Shape;1572;p79"/>
          <p:cNvSpPr txBox="1"/>
          <p:nvPr/>
        </p:nvSpPr>
        <p:spPr>
          <a:xfrm rot="-1806868">
            <a:off x="2144038" y="3574907"/>
            <a:ext cx="1211410" cy="3437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Hiển thị</a:t>
            </a:r>
            <a:endParaRPr/>
          </a:p>
        </p:txBody>
      </p:sp>
      <p:sp>
        <p:nvSpPr>
          <p:cNvPr id="1573" name="Google Shape;1573;p79"/>
          <p:cNvSpPr txBox="1"/>
          <p:nvPr/>
        </p:nvSpPr>
        <p:spPr>
          <a:xfrm rot="2877667">
            <a:off x="4570715" y="3638065"/>
            <a:ext cx="1211406" cy="34369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Lưu giá trị</a:t>
            </a:r>
            <a:endParaRPr/>
          </a:p>
        </p:txBody>
      </p:sp>
      <p:cxnSp>
        <p:nvCxnSpPr>
          <p:cNvPr id="1574" name="Google Shape;1574;p79"/>
          <p:cNvCxnSpPr/>
          <p:nvPr/>
        </p:nvCxnSpPr>
        <p:spPr>
          <a:xfrm>
            <a:off x="4638700" y="3690950"/>
            <a:ext cx="477900" cy="511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580" name="Google Shape;1580;p80"/>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